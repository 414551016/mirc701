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398" r:id="rId3"/>
    <p:sldId id="375" r:id="rId4"/>
    <p:sldId id="296" r:id="rId5"/>
    <p:sldId id="368" r:id="rId6"/>
    <p:sldId id="367" r:id="rId7"/>
    <p:sldId id="259" r:id="rId8"/>
    <p:sldId id="369" r:id="rId9"/>
    <p:sldId id="264" r:id="rId10"/>
    <p:sldId id="263" r:id="rId11"/>
    <p:sldId id="336" r:id="rId12"/>
    <p:sldId id="370" r:id="rId13"/>
    <p:sldId id="300" r:id="rId14"/>
    <p:sldId id="266" r:id="rId15"/>
    <p:sldId id="380" r:id="rId16"/>
    <p:sldId id="382" r:id="rId17"/>
    <p:sldId id="294" r:id="rId18"/>
    <p:sldId id="270" r:id="rId19"/>
    <p:sldId id="303" r:id="rId20"/>
    <p:sldId id="286" r:id="rId21"/>
    <p:sldId id="396" r:id="rId22"/>
    <p:sldId id="351" r:id="rId23"/>
    <p:sldId id="324" r:id="rId24"/>
    <p:sldId id="332" r:id="rId25"/>
    <p:sldId id="327" r:id="rId26"/>
    <p:sldId id="374" r:id="rId27"/>
    <p:sldId id="291" r:id="rId28"/>
    <p:sldId id="397" r:id="rId29"/>
    <p:sldId id="355" r:id="rId30"/>
    <p:sldId id="293" r:id="rId31"/>
    <p:sldId id="393" r:id="rId32"/>
    <p:sldId id="297" r:id="rId33"/>
    <p:sldId id="365" r:id="rId34"/>
    <p:sldId id="364" r:id="rId35"/>
    <p:sldId id="399" r:id="rId36"/>
    <p:sldId id="400" r:id="rId37"/>
    <p:sldId id="402" r:id="rId38"/>
    <p:sldId id="401" r:id="rId39"/>
    <p:sldId id="272" r:id="rId40"/>
    <p:sldId id="273" r:id="rId4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敬堯 蘇" initials="敬堯" lastIdx="3" clrIdx="0">
    <p:extLst>
      <p:ext uri="{19B8F6BF-5375-455C-9EA6-DF929625EA0E}">
        <p15:presenceInfo xmlns:p15="http://schemas.microsoft.com/office/powerpoint/2012/main" userId="42b9d06145a330b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4B5AE"/>
    <a:srgbClr val="F19C93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6353" autoAdjust="0"/>
  </p:normalViewPr>
  <p:slideViewPr>
    <p:cSldViewPr snapToGrid="0">
      <p:cViewPr varScale="1">
        <p:scale>
          <a:sx n="114" d="100"/>
          <a:sy n="114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EEF28E7-88AB-4D70-B55E-6E50A54BA8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CFF19F4-F489-47FE-934A-BBC64DA8C7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919F5-DCCE-4D67-9E58-7181DBE6D070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37EB4F5-8603-468A-A1E5-CF4C3F28EB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C9F61CC-A4DF-499A-B3CC-92C9B599B8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265E0-B53D-4DC9-B811-FB6E263D8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919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65C32-E6B5-4D22-BD05-B2F9E223A0F2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91256-8948-452D-917A-ED64F3BCB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556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B91256-8948-452D-917A-ED64F3BCBF40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0809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TW" dirty="0"/>
              <a:t>Precision: The fraction of predicted TTPs that are actually present in the ground-truth.</a:t>
            </a:r>
          </a:p>
          <a:p>
            <a:pPr lvl="0"/>
            <a:r>
              <a:rPr lang="en-US" altLang="zh-TW" dirty="0"/>
              <a:t>Recall:</a:t>
            </a:r>
            <a:r>
              <a:rPr lang="zh-TW" altLang="en-US" dirty="0"/>
              <a:t> </a:t>
            </a:r>
            <a:r>
              <a:rPr lang="en-US" altLang="zh-TW" dirty="0"/>
              <a:t>The fraction of ground-truth TTPs that the model successfully identified.</a:t>
            </a:r>
          </a:p>
          <a:p>
            <a:pPr lvl="0"/>
            <a:r>
              <a:rPr lang="en-US" altLang="zh-TW" dirty="0"/>
              <a:t>F1 score:</a:t>
            </a:r>
            <a:r>
              <a:rPr lang="zh-TW" altLang="en-US" dirty="0"/>
              <a:t> </a:t>
            </a:r>
            <a:r>
              <a:rPr lang="en-US" altLang="zh-TW" dirty="0"/>
              <a:t>The harmonic mean of Precision and Recall, providing a single score that balances the trade-off between them.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B91256-8948-452D-917A-ED64F3BCBF40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4635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118EF4-C167-4251-B945-12605B992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4D78C24-8FDD-42BB-8F40-FAC45ECEC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36ACE5-6655-4DB9-8492-ACEDEFC7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1FDF-BB62-4917-9133-2D61BC414277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832FAC-906A-41B4-8235-FB0564C7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754CCD-2C4D-4FC9-AD30-3AACF2A3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10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FC28D3-1799-4269-B0CE-03C4DE794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89B506-704E-44CF-BEE4-34C1304D7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FC7EDA-12C0-4569-B92D-11E03BE3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8A01-F0A4-4D62-BA4B-1E60BD08805C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4A4862-D25F-4082-B314-610E8179E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C9F18A-1505-4C11-BA03-84226EC8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126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BFB9EA-F745-4A8D-B6A2-18C967919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F68730-A9D0-45E0-9D14-4686B7693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6E50D1-735A-453C-9F9A-694039C4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5571-27A0-4F6D-A0D3-C9C70766D2E2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22C420-2D0D-4648-B3A9-ABC7024E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0AA563-A0CE-4158-92A8-CABC7062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76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B53546-CF12-40D4-B1DD-DC9D3F454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45D7F8-702E-449E-A7AC-891A1C6E4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7B86FA-18C5-4CFC-8EF3-F78861DD2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19ACEBB-9F8B-4CAA-9E51-30149DD8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2CF1-0F15-4390-9E35-E3FF4CE0A195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9C6A4A-6F9D-4E63-AD7C-7132E3213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DEA1D22-05EB-4877-A643-2B67C018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61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4AE6A5-656F-43BB-A754-A5A9AC36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C5FBB8-D16A-4811-9416-4AF5F26EC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53C552-876B-4C9D-BB60-9D2A54427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6DFBB9D-B9A1-4AE3-BB3F-06D78AE55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B403259-CF3A-48E9-87E4-28F23C47ED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1B3FB8D-1658-4CE7-A6E7-70E1B62D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EC23-26D3-44CC-9472-F3E39B3155DE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C50F2F1-820A-4D02-83B9-F547898D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1D45610-2F9B-476B-95C1-4FB4426C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298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5EE4C0-5D68-4AEF-8F57-B87BDA98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508A398-BFD4-48FC-ACE3-ACC61BEB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25784-D342-41C9-AC2C-72D7FAD9FBAF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4716CA-AE1B-4709-8534-B63338D3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DCF2004-909E-46FE-8245-DB2D433B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61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205EA50-C5AA-432B-AF5D-865E520F0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203B-1413-409A-B839-3ABC4415B798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497AEB9-AF95-4316-AD75-6AB1B315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A60214-3E1D-469C-8864-B785DB71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268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BF06B-4246-48CB-AB8B-89D4A7F87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5BA7F9-C2CC-4A84-AF51-D523F1026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224086-572D-4169-8F9A-F6C4AD525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B45D69-5003-47CE-A18C-C14FEBE27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892B-271D-40DB-99ED-1F85BFAB5766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B8E705-1F2F-4296-A6FF-1EBCD9EC3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88AE51-A284-429F-B648-D34E4370F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5506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266637-0356-413E-ABB3-32C7C2CF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49B60D2-D353-4E17-9BBB-3811F26E2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C60D00-8548-4260-ACD4-AA9A81FC0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B95F3F-A1AA-423F-836A-9B1D58A8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1C38-AEF0-4B7B-9280-E7C345E8F22E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70F5EC5-0596-4EFE-A3C7-5FB46C64D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BB1F466-2C06-4ECD-832B-C1AA22B9F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136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6A75F3-195B-4CD8-93B7-5B5A962B4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3303F3-7094-4C01-B9BF-3E4683DE3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83B38C-1B60-4E9E-A3D1-C842E064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9F4E-18D3-4AFF-9D28-25ED5054359F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8A39B6-BBD3-4040-8C3B-8913A2F7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C37A48-4B1B-4024-B66A-8F92FFFA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61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DA31837-6606-4899-AC10-EC7CB2B1E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75509C7-1764-420B-94C7-04768B1B8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36AC25-DA38-4346-BDF1-55BC72E97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62888-E6CF-4120-A5B5-7AE881CE17F4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54BD11-1A4A-449C-AB1E-1F3C23CB1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D06D65-09F7-49FD-8912-362D07FF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9444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7FF56B1-E20C-456F-950D-DF9031DAC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328353"/>
            <a:ext cx="10417233" cy="635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2B28D1-5BB0-4FDA-B1D3-B51CC0AC8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66246"/>
            <a:ext cx="10515600" cy="5137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B20CEE-5BE8-483F-9EAD-54173DC3F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32A31-0147-4349-B209-A1C5E9B30D0F}" type="datetime1">
              <a:rPr lang="zh-TW" altLang="en-US" smtClean="0"/>
              <a:t>2026/5/19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92C56E-560C-4B67-9753-70BDBB13D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C7EA9-ED6F-44E3-AA72-C23FBA18C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16622-5B10-461E-922A-16B3E132CD6E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B11F3BE-3422-42F4-B475-B5EAF06925E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3410" y="13753"/>
            <a:ext cx="1058589" cy="105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4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2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41C1FDF4-989B-48C9-89CC-65CB107D9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836" y="2310469"/>
            <a:ext cx="10876327" cy="1293705"/>
          </a:xfrm>
        </p:spPr>
        <p:txBody>
          <a:bodyPr>
            <a:normAutofit/>
          </a:bodyPr>
          <a:lstStyle/>
          <a:p>
            <a:r>
              <a:rPr lang="en-US" altLang="zh-TW" sz="3600" b="0" dirty="0"/>
              <a:t>LLM-driven Attack Lifecycle Completion using </a:t>
            </a:r>
            <a:br>
              <a:rPr lang="en-US" altLang="zh-TW" sz="3600" b="0" dirty="0"/>
            </a:br>
            <a:r>
              <a:rPr lang="en-US" altLang="zh-TW" sz="3600" b="0" dirty="0"/>
              <a:t>Causal Graph-based Correlation from Multi-source Logs</a:t>
            </a:r>
            <a:endParaRPr lang="zh-TW" altLang="en-US" sz="3600" b="0" dirty="0"/>
          </a:p>
        </p:txBody>
      </p:sp>
      <p:sp>
        <p:nvSpPr>
          <p:cNvPr id="15" name="副標題 14">
            <a:extLst>
              <a:ext uri="{FF2B5EF4-FFF2-40B4-BE49-F238E27FC236}">
                <a16:creationId xmlns:a16="http://schemas.microsoft.com/office/drawing/2014/main" id="{577C5484-79CB-41B3-91AC-652091C05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380" y="4709385"/>
            <a:ext cx="9432022" cy="2012090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zh-TW" sz="2000" b="1" dirty="0"/>
              <a:t>Student: </a:t>
            </a:r>
          </a:p>
          <a:p>
            <a:pPr lvl="1" algn="l"/>
            <a:r>
              <a:rPr lang="en-US" altLang="zh-TW" sz="1600" dirty="0"/>
              <a:t>Ching-Yao </a:t>
            </a:r>
            <a:r>
              <a:rPr lang="en-US" altLang="zh-TW" sz="1600" dirty="0" err="1"/>
              <a:t>Su</a:t>
            </a:r>
            <a:r>
              <a:rPr lang="en-US" altLang="zh-TW" sz="1600" dirty="0"/>
              <a:t> (Tom)</a:t>
            </a:r>
          </a:p>
          <a:p>
            <a:pPr algn="l"/>
            <a:r>
              <a:rPr lang="en-US" altLang="zh-TW" sz="2000" b="1" dirty="0"/>
              <a:t>Advisor:</a:t>
            </a:r>
          </a:p>
          <a:p>
            <a:pPr lvl="1" algn="l"/>
            <a:r>
              <a:rPr lang="en-US" altLang="zh-TW" sz="1600" dirty="0"/>
              <a:t>Ying-Dar Lin, Yuan-Cheng Lai, Ren-Hung Hwang</a:t>
            </a:r>
          </a:p>
          <a:p>
            <a:pPr algn="l"/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Speed Network Lab</a:t>
            </a:r>
          </a:p>
          <a:p>
            <a:pPr algn="l"/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Yang Ming Chiao</a:t>
            </a:r>
            <a:r>
              <a:rPr lang="en-US" altLang="zh-TW" sz="1600" b="1" dirty="0"/>
              <a:t> </a:t>
            </a: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Tung University, Taiwan</a:t>
            </a:r>
          </a:p>
          <a:p>
            <a:pPr lvl="1" algn="l"/>
            <a:endParaRPr lang="en-US" altLang="zh-TW" sz="1600" dirty="0"/>
          </a:p>
        </p:txBody>
      </p:sp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696A51C1-9418-4B47-A804-4764DE99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841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Issues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600"/>
              </a:spcBef>
            </a:pPr>
            <a:r>
              <a:rPr lang="en-US" altLang="zh-TW" sz="2400" dirty="0">
                <a:latin typeface="Times New Roman"/>
              </a:rPr>
              <a:t>Impact of Malicious Log Extraction: with vs. without</a:t>
            </a:r>
          </a:p>
          <a:p>
            <a:pPr lvl="1">
              <a:spcBef>
                <a:spcPts val="400"/>
              </a:spcBef>
            </a:pPr>
            <a:r>
              <a:rPr lang="en-US" altLang="zh-TW" sz="2000" dirty="0">
                <a:latin typeface="Times New Roman"/>
              </a:rPr>
              <a:t>How many logs we can reduce through Malicious Log Extraction?</a:t>
            </a:r>
          </a:p>
          <a:p>
            <a:pPr lvl="1">
              <a:spcBef>
                <a:spcPts val="400"/>
              </a:spcBef>
            </a:pPr>
            <a:r>
              <a:rPr lang="en-US" altLang="zh-TW" dirty="0">
                <a:latin typeface="Times New Roman"/>
              </a:rPr>
              <a:t>How precise is Malicious Log Extraction? Accuracy/Precision/Recall/F1 Score?</a:t>
            </a:r>
            <a:endParaRPr lang="en-US" altLang="zh-TW" sz="2000" dirty="0">
              <a:latin typeface="Times New Roman"/>
            </a:endParaRPr>
          </a:p>
          <a:p>
            <a:pPr lvl="1">
              <a:spcBef>
                <a:spcPts val="400"/>
              </a:spcBef>
            </a:pPr>
            <a:r>
              <a:rPr lang="en-US" altLang="zh-TW" sz="2000" dirty="0">
                <a:latin typeface="Times New Roman"/>
              </a:rPr>
              <a:t>Can LLM detect techniques more accurately on extracted logs?</a:t>
            </a:r>
          </a:p>
          <a:p>
            <a:pPr lvl="1">
              <a:spcBef>
                <a:spcPts val="400"/>
              </a:spcBef>
            </a:pPr>
            <a:endParaRPr lang="en-US" altLang="zh-TW" sz="2000" dirty="0">
              <a:latin typeface="Times New Roman"/>
            </a:endParaRPr>
          </a:p>
          <a:p>
            <a:pPr>
              <a:spcBef>
                <a:spcPts val="1600"/>
              </a:spcBef>
            </a:pPr>
            <a:r>
              <a:rPr lang="en-US" altLang="zh-TW" sz="2400" dirty="0">
                <a:latin typeface="Times New Roman"/>
              </a:rPr>
              <a:t>Lifecycle Completion: LLM vs. Others (ML, DL)</a:t>
            </a:r>
          </a:p>
          <a:p>
            <a:pPr lvl="1">
              <a:spcBef>
                <a:spcPts val="400"/>
              </a:spcBef>
            </a:pPr>
            <a:r>
              <a:rPr lang="en-US" altLang="zh-TW" sz="2000" dirty="0">
                <a:latin typeface="Times New Roman"/>
              </a:rPr>
              <a:t>How well can LLM do technique detection on extracted logs?</a:t>
            </a:r>
          </a:p>
          <a:p>
            <a:pPr lvl="1">
              <a:spcBef>
                <a:spcPts val="400"/>
              </a:spcBef>
            </a:pPr>
            <a:r>
              <a:rPr lang="en-US" altLang="zh-TW" sz="2000" dirty="0">
                <a:latin typeface="Times New Roman"/>
              </a:rPr>
              <a:t>How well can LLM do lifecycle completion on extracted logs?</a:t>
            </a:r>
          </a:p>
          <a:p>
            <a:pPr lvl="1">
              <a:spcBef>
                <a:spcPts val="400"/>
              </a:spcBef>
            </a:pPr>
            <a:r>
              <a:rPr lang="en-US" altLang="zh-TW" dirty="0">
                <a:latin typeface="Times New Roman"/>
              </a:rPr>
              <a:t>Does finetuned LLM outperform non-finetuned LLM?</a:t>
            </a:r>
            <a:endParaRPr lang="en-US" altLang="zh-TW" sz="2000" dirty="0">
              <a:latin typeface="Times New Roman"/>
            </a:endParaRPr>
          </a:p>
          <a:p>
            <a:pPr lvl="1">
              <a:spcBef>
                <a:spcPts val="400"/>
              </a:spcBef>
            </a:pPr>
            <a:r>
              <a:rPr lang="en-US" altLang="zh-TW" sz="2000" dirty="0">
                <a:latin typeface="Times New Roman"/>
              </a:rPr>
              <a:t>How much does LLM outperform other models?</a:t>
            </a:r>
          </a:p>
          <a:p>
            <a:pPr lvl="1">
              <a:spcBef>
                <a:spcPts val="400"/>
              </a:spcBef>
            </a:pPr>
            <a:endParaRPr lang="en-US" altLang="zh-TW" sz="2000" dirty="0">
              <a:latin typeface="Times New Roman"/>
            </a:endParaRPr>
          </a:p>
          <a:p>
            <a:pPr lvl="1">
              <a:spcBef>
                <a:spcPts val="400"/>
              </a:spcBef>
            </a:pPr>
            <a:endParaRPr lang="en-US" altLang="zh-TW" sz="2000" dirty="0">
              <a:latin typeface="Times New Roman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7D033D-8661-4692-8F5D-54D15F6E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0291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 dirty="0"/>
              <a:t>Progress (4/24)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DC7E38E-D4D7-46C1-8502-37CA37242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Completed:</a:t>
            </a:r>
          </a:p>
          <a:p>
            <a:pPr lvl="1"/>
            <a:r>
              <a:rPr lang="en-US" altLang="zh-TW" sz="1800" dirty="0"/>
              <a:t>Issue #1-1: How much can Malicious Log Extraction reduce log count and token count?</a:t>
            </a:r>
          </a:p>
          <a:p>
            <a:pPr lvl="1"/>
            <a:r>
              <a:rPr lang="en-US" altLang="zh-TW" sz="1800" dirty="0"/>
              <a:t>Issue #1-2: Can LLM detect techniques more accurately on extracted logs?</a:t>
            </a:r>
          </a:p>
          <a:p>
            <a:pPr lvl="1"/>
            <a:r>
              <a:rPr lang="en-US" altLang="zh-TW" sz="1800" dirty="0"/>
              <a:t>Issue #2-1: How well can LLM do single-technique detection from logs?</a:t>
            </a:r>
          </a:p>
          <a:p>
            <a:pPr lvl="1"/>
            <a:r>
              <a:rPr lang="en-US" altLang="zh-TW" sz="1800" dirty="0"/>
              <a:t>Issue #2-2: How well can LLM do lifecycle completion from logs?</a:t>
            </a:r>
          </a:p>
          <a:p>
            <a:pPr lvl="1"/>
            <a:endParaRPr lang="en-US" altLang="zh-TW" sz="1800" dirty="0"/>
          </a:p>
          <a:p>
            <a:pPr lvl="1"/>
            <a:endParaRPr lang="en-US" altLang="zh-TW" sz="1800" dirty="0"/>
          </a:p>
          <a:p>
            <a:pPr>
              <a:spcBef>
                <a:spcPts val="1000"/>
              </a:spcBef>
            </a:pPr>
            <a:r>
              <a:rPr lang="en-US" altLang="zh-TW" sz="2000" dirty="0"/>
              <a:t>In progress:</a:t>
            </a:r>
          </a:p>
          <a:p>
            <a:pPr lvl="1">
              <a:spcBef>
                <a:spcPts val="400"/>
              </a:spcBef>
            </a:pPr>
            <a:r>
              <a:rPr lang="en-US" altLang="zh-TW" sz="1800" dirty="0"/>
              <a:t>Issue #2-3: </a:t>
            </a:r>
            <a:r>
              <a:rPr lang="en-US" altLang="zh-TW" sz="1800" dirty="0">
                <a:latin typeface="Times New Roman"/>
              </a:rPr>
              <a:t>How much does LLM outperform other models?</a:t>
            </a:r>
          </a:p>
          <a:p>
            <a:pPr lvl="1">
              <a:spcBef>
                <a:spcPts val="400"/>
              </a:spcBef>
            </a:pPr>
            <a:r>
              <a:rPr lang="en-US" altLang="zh-TW" sz="1800" dirty="0"/>
              <a:t>Issue #2-3: </a:t>
            </a:r>
            <a:r>
              <a:rPr lang="en-US" altLang="zh-TW" sz="1800" dirty="0">
                <a:latin typeface="Times New Roman"/>
              </a:rPr>
              <a:t>How much does finetuned LLM outperforms non-finetuned commercial LLM?</a:t>
            </a:r>
          </a:p>
          <a:p>
            <a:pPr lvl="1">
              <a:spcBef>
                <a:spcPts val="400"/>
              </a:spcBef>
            </a:pPr>
            <a:endParaRPr lang="en-US" altLang="zh-TW" sz="1800" dirty="0">
              <a:latin typeface="Times New Roman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31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F75FBBF-BEEE-484C-A41D-E871B8B37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1" y="1580823"/>
            <a:ext cx="12106588" cy="460266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7CE606-BF36-4DEF-860A-9A5241F8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>
                <a:solidFill>
                  <a:schemeClr val="tx1"/>
                </a:solidFill>
              </a:rPr>
              <a:t>4</a:t>
            </a:fld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9343A15-2466-4E1A-AE0A-F584AD852C30}"/>
              </a:ext>
            </a:extLst>
          </p:cNvPr>
          <p:cNvSpPr txBox="1"/>
          <p:nvPr/>
        </p:nvSpPr>
        <p:spPr>
          <a:xfrm>
            <a:off x="4627239" y="4129999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(4) Find Anchor Node</a:t>
            </a:r>
            <a:endParaRPr lang="zh-TW" altLang="en-US" sz="12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9A804AA4-F2F3-4D6C-9CD5-4C9C1D75B3EA}"/>
              </a:ext>
            </a:extLst>
          </p:cNvPr>
          <p:cNvSpPr txBox="1"/>
          <p:nvPr/>
        </p:nvSpPr>
        <p:spPr>
          <a:xfrm>
            <a:off x="1182648" y="2426549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(1) Perform Attack</a:t>
            </a:r>
            <a:endParaRPr lang="zh-TW" altLang="en-US" sz="12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061C63-354F-4B94-B9B8-EE596D766740}"/>
              </a:ext>
            </a:extLst>
          </p:cNvPr>
          <p:cNvSpPr txBox="1"/>
          <p:nvPr/>
        </p:nvSpPr>
        <p:spPr>
          <a:xfrm>
            <a:off x="9149790" y="1940532"/>
            <a:ext cx="14596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(4) Detect Lifecycle</a:t>
            </a:r>
            <a:endParaRPr lang="zh-TW" altLang="en-US" sz="12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7E8A449-841E-4D79-A17F-CD4EE1B61CDA}"/>
              </a:ext>
            </a:extLst>
          </p:cNvPr>
          <p:cNvSpPr txBox="1"/>
          <p:nvPr/>
        </p:nvSpPr>
        <p:spPr>
          <a:xfrm>
            <a:off x="8304407" y="3687436"/>
            <a:ext cx="120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(6) Map to Log</a:t>
            </a:r>
            <a:endParaRPr lang="zh-TW" altLang="en-US" sz="1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0962CD9-3C12-44F1-99F3-F456EEF812F8}"/>
              </a:ext>
            </a:extLst>
          </p:cNvPr>
          <p:cNvSpPr txBox="1"/>
          <p:nvPr/>
        </p:nvSpPr>
        <p:spPr>
          <a:xfrm>
            <a:off x="5064464" y="5400204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(4) Find Anchor Node</a:t>
            </a:r>
            <a:endParaRPr lang="zh-TW" altLang="en-US" sz="12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D5C3C2D-FA9C-404C-B82C-1AA1C1427B8C}"/>
              </a:ext>
            </a:extLst>
          </p:cNvPr>
          <p:cNvSpPr txBox="1"/>
          <p:nvPr/>
        </p:nvSpPr>
        <p:spPr>
          <a:xfrm>
            <a:off x="6975795" y="2514440"/>
            <a:ext cx="120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(6) Map to Log</a:t>
            </a:r>
            <a:endParaRPr lang="zh-TW" altLang="en-US" sz="12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4E33BAB-FB05-4805-BE1A-402F548B5DF1}"/>
              </a:ext>
            </a:extLst>
          </p:cNvPr>
          <p:cNvSpPr txBox="1"/>
          <p:nvPr/>
        </p:nvSpPr>
        <p:spPr>
          <a:xfrm>
            <a:off x="9338548" y="3430611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(7) Complete Lifecycle</a:t>
            </a:r>
            <a:endParaRPr lang="zh-TW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337AA4-4E36-4DE6-88CF-7994D399889B}"/>
              </a:ext>
            </a:extLst>
          </p:cNvPr>
          <p:cNvSpPr/>
          <p:nvPr/>
        </p:nvSpPr>
        <p:spPr>
          <a:xfrm>
            <a:off x="7813045" y="4163879"/>
            <a:ext cx="1254853" cy="84999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9EC83A-6663-482F-8386-B7C7F65AE698}"/>
              </a:ext>
            </a:extLst>
          </p:cNvPr>
          <p:cNvSpPr/>
          <p:nvPr/>
        </p:nvSpPr>
        <p:spPr>
          <a:xfrm>
            <a:off x="198950" y="1750766"/>
            <a:ext cx="1939756" cy="386524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7170CB-BFB1-4D6C-A635-637E0B83F690}"/>
              </a:ext>
            </a:extLst>
          </p:cNvPr>
          <p:cNvSpPr/>
          <p:nvPr/>
        </p:nvSpPr>
        <p:spPr>
          <a:xfrm>
            <a:off x="5687032" y="2795882"/>
            <a:ext cx="1257609" cy="84999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2D3DDE-5C58-4E7A-B75C-40A63769B968}"/>
              </a:ext>
            </a:extLst>
          </p:cNvPr>
          <p:cNvSpPr/>
          <p:nvPr/>
        </p:nvSpPr>
        <p:spPr>
          <a:xfrm>
            <a:off x="7799715" y="2809348"/>
            <a:ext cx="1268183" cy="84999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89E42F-A3C1-40D3-98C0-14C39CCD2D59}"/>
              </a:ext>
            </a:extLst>
          </p:cNvPr>
          <p:cNvSpPr/>
          <p:nvPr/>
        </p:nvSpPr>
        <p:spPr>
          <a:xfrm>
            <a:off x="4111047" y="4160348"/>
            <a:ext cx="2846924" cy="182067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83BD100-BBEF-4569-B49D-84C7036EBAC8}"/>
              </a:ext>
            </a:extLst>
          </p:cNvPr>
          <p:cNvSpPr txBox="1"/>
          <p:nvPr/>
        </p:nvSpPr>
        <p:spPr>
          <a:xfrm>
            <a:off x="4963442" y="168354"/>
            <a:ext cx="643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Progress Percentage:</a:t>
            </a:r>
            <a:r>
              <a:rPr lang="zh-TW" altLang="en-US" b="1" dirty="0"/>
              <a:t> </a:t>
            </a:r>
            <a:r>
              <a:rPr lang="zh-TW" altLang="en-US" dirty="0">
                <a:solidFill>
                  <a:schemeClr val="accent6"/>
                </a:solidFill>
              </a:rPr>
              <a:t>● </a:t>
            </a:r>
            <a:r>
              <a:rPr lang="en-US" altLang="zh-TW" dirty="0">
                <a:solidFill>
                  <a:schemeClr val="accent6"/>
                </a:solidFill>
              </a:rPr>
              <a:t>100% </a:t>
            </a:r>
            <a:r>
              <a:rPr lang="zh-TW" altLang="en-US" dirty="0">
                <a:solidFill>
                  <a:schemeClr val="accent5"/>
                </a:solidFill>
              </a:rPr>
              <a:t>● </a:t>
            </a:r>
            <a:r>
              <a:rPr lang="en-US" altLang="zh-TW" dirty="0">
                <a:solidFill>
                  <a:schemeClr val="accent5"/>
                </a:solidFill>
              </a:rPr>
              <a:t>80% </a:t>
            </a:r>
            <a:r>
              <a:rPr lang="zh-TW" altLang="en-US" dirty="0">
                <a:solidFill>
                  <a:schemeClr val="accent4"/>
                </a:solidFill>
              </a:rPr>
              <a:t>● </a:t>
            </a:r>
            <a:r>
              <a:rPr lang="en-US" altLang="zh-TW" dirty="0">
                <a:solidFill>
                  <a:schemeClr val="accent4"/>
                </a:solidFill>
              </a:rPr>
              <a:t>60% </a:t>
            </a:r>
            <a:r>
              <a:rPr lang="zh-TW" altLang="en-US" dirty="0">
                <a:solidFill>
                  <a:schemeClr val="accent2"/>
                </a:solidFill>
              </a:rPr>
              <a:t>● </a:t>
            </a:r>
            <a:r>
              <a:rPr lang="en-US" altLang="zh-TW" dirty="0">
                <a:solidFill>
                  <a:schemeClr val="accent2"/>
                </a:solidFill>
              </a:rPr>
              <a:t>40% </a:t>
            </a:r>
            <a:r>
              <a:rPr lang="zh-TW" altLang="en-US" dirty="0">
                <a:solidFill>
                  <a:srgbClr val="FF0000"/>
                </a:solidFill>
              </a:rPr>
              <a:t>● </a:t>
            </a:r>
            <a:r>
              <a:rPr lang="en-US" altLang="zh-TW" dirty="0">
                <a:solidFill>
                  <a:srgbClr val="FF0000"/>
                </a:solidFill>
              </a:rPr>
              <a:t>20%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E828133-3396-4732-95B0-C95AFDD1C9BE}"/>
              </a:ext>
            </a:extLst>
          </p:cNvPr>
          <p:cNvSpPr/>
          <p:nvPr/>
        </p:nvSpPr>
        <p:spPr>
          <a:xfrm>
            <a:off x="10316461" y="3482153"/>
            <a:ext cx="1629461" cy="90744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D6154B5-AFD7-4DEF-97C6-3583738F54A5}"/>
              </a:ext>
            </a:extLst>
          </p:cNvPr>
          <p:cNvSpPr/>
          <p:nvPr/>
        </p:nvSpPr>
        <p:spPr>
          <a:xfrm>
            <a:off x="10730535" y="1863829"/>
            <a:ext cx="770772" cy="90744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35EA1DB-C9DD-45AC-A32B-7C8D178D8AEF}"/>
              </a:ext>
            </a:extLst>
          </p:cNvPr>
          <p:cNvSpPr txBox="1"/>
          <p:nvPr/>
        </p:nvSpPr>
        <p:spPr>
          <a:xfrm>
            <a:off x="9836161" y="4464655"/>
            <a:ext cx="2143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solidFill>
                  <a:schemeClr val="accent5"/>
                </a:solidFill>
              </a:rPr>
              <a:t>Achieve F1 score 0.766, keep improving</a:t>
            </a:r>
            <a:endParaRPr lang="zh-TW" altLang="en-US" sz="1200" b="1" dirty="0">
              <a:solidFill>
                <a:schemeClr val="accent5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4AB0421-4021-4430-B026-76F887D304D2}"/>
              </a:ext>
            </a:extLst>
          </p:cNvPr>
          <p:cNvSpPr txBox="1"/>
          <p:nvPr/>
        </p:nvSpPr>
        <p:spPr>
          <a:xfrm>
            <a:off x="8401901" y="2532348"/>
            <a:ext cx="96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solidFill>
                  <a:schemeClr val="accent6"/>
                </a:solidFill>
              </a:rPr>
              <a:t>Done</a:t>
            </a:r>
            <a:endParaRPr lang="zh-TW" altLang="en-US" sz="1200" b="1" dirty="0">
              <a:solidFill>
                <a:schemeClr val="accent6"/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1C72882-D8A2-4A58-86BC-978A6E24EEEB}"/>
              </a:ext>
            </a:extLst>
          </p:cNvPr>
          <p:cNvSpPr txBox="1"/>
          <p:nvPr/>
        </p:nvSpPr>
        <p:spPr>
          <a:xfrm>
            <a:off x="5672525" y="2514440"/>
            <a:ext cx="96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solidFill>
                  <a:schemeClr val="accent6"/>
                </a:solidFill>
              </a:rPr>
              <a:t>Done</a:t>
            </a:r>
            <a:endParaRPr lang="zh-TW" altLang="en-US" sz="1200" b="1" dirty="0">
              <a:solidFill>
                <a:schemeClr val="accent6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037BAB2-E18C-4AAD-BE27-56E3C68E5AC5}"/>
              </a:ext>
            </a:extLst>
          </p:cNvPr>
          <p:cNvSpPr txBox="1"/>
          <p:nvPr/>
        </p:nvSpPr>
        <p:spPr>
          <a:xfrm>
            <a:off x="1485564" y="1430644"/>
            <a:ext cx="96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solidFill>
                  <a:schemeClr val="accent6"/>
                </a:solidFill>
              </a:rPr>
              <a:t>Done</a:t>
            </a:r>
            <a:endParaRPr lang="zh-TW" altLang="en-US" sz="1200" b="1" dirty="0">
              <a:solidFill>
                <a:schemeClr val="accent6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C5E9E70-ED85-4469-B61E-8A9A7C946CBC}"/>
              </a:ext>
            </a:extLst>
          </p:cNvPr>
          <p:cNvSpPr txBox="1"/>
          <p:nvPr/>
        </p:nvSpPr>
        <p:spPr>
          <a:xfrm>
            <a:off x="4765313" y="2727823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(3) Construct Graph</a:t>
            </a:r>
            <a:endParaRPr lang="zh-TW" altLang="en-US" sz="12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E254BBE-65DC-4C56-BE68-F210F677117C}"/>
              </a:ext>
            </a:extLst>
          </p:cNvPr>
          <p:cNvSpPr txBox="1"/>
          <p:nvPr/>
        </p:nvSpPr>
        <p:spPr>
          <a:xfrm>
            <a:off x="1485564" y="4760719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(2) Collect Data</a:t>
            </a:r>
            <a:endParaRPr lang="zh-TW" altLang="en-US" sz="12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BF0CCB9-BD62-48C5-B444-339772CB7DC0}"/>
              </a:ext>
            </a:extLst>
          </p:cNvPr>
          <p:cNvSpPr txBox="1"/>
          <p:nvPr/>
        </p:nvSpPr>
        <p:spPr>
          <a:xfrm>
            <a:off x="6866043" y="4733347"/>
            <a:ext cx="1254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(5) Find Attack Subgraph</a:t>
            </a:r>
            <a:endParaRPr lang="zh-TW" altLang="en-US" sz="12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FDE16A8-247E-4573-9186-4246A69305A5}"/>
              </a:ext>
            </a:extLst>
          </p:cNvPr>
          <p:cNvSpPr txBox="1"/>
          <p:nvPr/>
        </p:nvSpPr>
        <p:spPr>
          <a:xfrm>
            <a:off x="6829347" y="4129998"/>
            <a:ext cx="1254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(5) Find Attack Subgraph</a:t>
            </a:r>
            <a:endParaRPr lang="zh-TW" altLang="en-US" sz="12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9AE7860A-B496-440F-8AD9-E6AC8D0E8173}"/>
              </a:ext>
            </a:extLst>
          </p:cNvPr>
          <p:cNvSpPr txBox="1"/>
          <p:nvPr/>
        </p:nvSpPr>
        <p:spPr>
          <a:xfrm>
            <a:off x="11040240" y="2938141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(7) Complete Lifecycle</a:t>
            </a:r>
            <a:endParaRPr lang="zh-TW" altLang="en-US" sz="12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D05704C0-2BDA-4E65-9EF8-3C867E7ED573}"/>
              </a:ext>
            </a:extLst>
          </p:cNvPr>
          <p:cNvSpPr txBox="1"/>
          <p:nvPr/>
        </p:nvSpPr>
        <p:spPr>
          <a:xfrm>
            <a:off x="8406665" y="3938077"/>
            <a:ext cx="96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solidFill>
                  <a:schemeClr val="accent6"/>
                </a:solidFill>
              </a:rPr>
              <a:t>Done</a:t>
            </a:r>
            <a:endParaRPr lang="zh-TW" altLang="en-US" sz="1200" b="1" dirty="0">
              <a:solidFill>
                <a:schemeClr val="accent6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A519643C-0A61-44C9-B550-FDB750712221}"/>
              </a:ext>
            </a:extLst>
          </p:cNvPr>
          <p:cNvSpPr txBox="1"/>
          <p:nvPr/>
        </p:nvSpPr>
        <p:spPr>
          <a:xfrm>
            <a:off x="2378031" y="1913589"/>
            <a:ext cx="2686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solidFill>
                  <a:schemeClr val="accent6"/>
                </a:solidFill>
              </a:rPr>
              <a:t>Already finished 250/250 lifecycles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0C384B9-C030-4759-88FC-237669017AC3}"/>
              </a:ext>
            </a:extLst>
          </p:cNvPr>
          <p:cNvSpPr/>
          <p:nvPr/>
        </p:nvSpPr>
        <p:spPr>
          <a:xfrm>
            <a:off x="2574311" y="2406927"/>
            <a:ext cx="1381363" cy="324476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6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91436C06-181D-41F1-8908-A46DB7FAAA99}"/>
              </a:ext>
            </a:extLst>
          </p:cNvPr>
          <p:cNvSpPr txBox="1"/>
          <p:nvPr/>
        </p:nvSpPr>
        <p:spPr>
          <a:xfrm>
            <a:off x="6237366" y="3764614"/>
            <a:ext cx="96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solidFill>
                  <a:schemeClr val="accent6"/>
                </a:solidFill>
              </a:rPr>
              <a:t>Done</a:t>
            </a:r>
            <a:endParaRPr lang="zh-TW" altLang="en-US" sz="1200" b="1" dirty="0">
              <a:solidFill>
                <a:schemeClr val="accent6"/>
              </a:solidFill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192EA3A-43F9-4BD1-9665-2076DE91E2DE}"/>
              </a:ext>
            </a:extLst>
          </p:cNvPr>
          <p:cNvCxnSpPr/>
          <p:nvPr/>
        </p:nvCxnSpPr>
        <p:spPr>
          <a:xfrm>
            <a:off x="608466" y="6566075"/>
            <a:ext cx="334720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4203830-EC32-4C13-869C-980AEAF76EB5}"/>
              </a:ext>
            </a:extLst>
          </p:cNvPr>
          <p:cNvSpPr txBox="1"/>
          <p:nvPr/>
        </p:nvSpPr>
        <p:spPr>
          <a:xfrm>
            <a:off x="1522706" y="6182191"/>
            <a:ext cx="2398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Data Collection</a:t>
            </a:r>
            <a:endParaRPr lang="zh-TW" altLang="en-US" dirty="0"/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0AC91869-142C-406B-8F59-9EE8D98F88BC}"/>
              </a:ext>
            </a:extLst>
          </p:cNvPr>
          <p:cNvCxnSpPr>
            <a:cxnSpLocks/>
          </p:cNvCxnSpPr>
          <p:nvPr/>
        </p:nvCxnSpPr>
        <p:spPr>
          <a:xfrm>
            <a:off x="4035804" y="6575697"/>
            <a:ext cx="58438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8CBE79CE-A3A3-4E0A-8632-573D807BFD28}"/>
              </a:ext>
            </a:extLst>
          </p:cNvPr>
          <p:cNvSpPr txBox="1"/>
          <p:nvPr/>
        </p:nvSpPr>
        <p:spPr>
          <a:xfrm>
            <a:off x="6041718" y="6182191"/>
            <a:ext cx="260309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Malicious Log Extraction</a:t>
            </a:r>
            <a:endParaRPr lang="zh-TW" altLang="en-US" dirty="0"/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A46C23A1-9DF4-4B99-9E9A-8BF3A91DC4A5}"/>
              </a:ext>
            </a:extLst>
          </p:cNvPr>
          <p:cNvCxnSpPr>
            <a:cxnSpLocks/>
          </p:cNvCxnSpPr>
          <p:nvPr/>
        </p:nvCxnSpPr>
        <p:spPr>
          <a:xfrm>
            <a:off x="9920568" y="6571765"/>
            <a:ext cx="2201841" cy="39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4ECF17F4-4739-467C-B108-6D86CEC3E4B4}"/>
              </a:ext>
            </a:extLst>
          </p:cNvPr>
          <p:cNvSpPr txBox="1"/>
          <p:nvPr/>
        </p:nvSpPr>
        <p:spPr>
          <a:xfrm>
            <a:off x="9947349" y="6161151"/>
            <a:ext cx="220184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Lifecycle Completion</a:t>
            </a: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E81C4C2B-30AF-4556-84AE-667160F0C6C7}"/>
              </a:ext>
            </a:extLst>
          </p:cNvPr>
          <p:cNvSpPr txBox="1"/>
          <p:nvPr/>
        </p:nvSpPr>
        <p:spPr>
          <a:xfrm>
            <a:off x="10682896" y="1586337"/>
            <a:ext cx="96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solidFill>
                  <a:schemeClr val="accent6"/>
                </a:solidFill>
              </a:rPr>
              <a:t>Done</a:t>
            </a:r>
            <a:endParaRPr lang="zh-TW" altLang="en-US" sz="12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030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246"/>
            <a:ext cx="10515600" cy="5137267"/>
          </a:xfrm>
        </p:spPr>
        <p:txBody>
          <a:bodyPr numCol="2">
            <a:normAutofit fontScale="92500" lnSpcReduction="20000"/>
          </a:bodyPr>
          <a:lstStyle/>
          <a:p>
            <a:r>
              <a:rPr lang="en-US" altLang="zh-TW" dirty="0"/>
              <a:t>Motivation</a:t>
            </a:r>
          </a:p>
          <a:p>
            <a:r>
              <a:rPr lang="en-US" altLang="zh-TW" dirty="0"/>
              <a:t>Background</a:t>
            </a:r>
          </a:p>
          <a:p>
            <a:pPr lvl="1"/>
            <a:r>
              <a:rPr lang="en-US" altLang="zh-TW" dirty="0"/>
              <a:t>MITRE ATT&amp;CK Framework</a:t>
            </a:r>
          </a:p>
          <a:p>
            <a:pPr lvl="1"/>
            <a:r>
              <a:rPr lang="en-US" altLang="zh-TW" dirty="0"/>
              <a:t>Attack Lifecycle</a:t>
            </a:r>
          </a:p>
          <a:p>
            <a:pPr lvl="1"/>
            <a:r>
              <a:rPr lang="en-US" altLang="zh-TW" dirty="0"/>
              <a:t>Endpoint Detection and Response Alert</a:t>
            </a:r>
          </a:p>
          <a:p>
            <a:pPr lvl="1"/>
            <a:r>
              <a:rPr lang="en-US" altLang="zh-TW" dirty="0"/>
              <a:t>Network Detection and Response Alert</a:t>
            </a:r>
          </a:p>
          <a:p>
            <a:pPr lvl="1"/>
            <a:r>
              <a:rPr lang="en-US" altLang="zh-TW" dirty="0"/>
              <a:t>Sysmon log</a:t>
            </a:r>
          </a:p>
          <a:p>
            <a:pPr lvl="1"/>
            <a:r>
              <a:rPr lang="en-US" altLang="zh-TW" dirty="0"/>
              <a:t>Suricata log</a:t>
            </a:r>
          </a:p>
          <a:p>
            <a:pPr lvl="1"/>
            <a:r>
              <a:rPr lang="en-US" altLang="zh-TW" dirty="0"/>
              <a:t>Causal Graph</a:t>
            </a:r>
          </a:p>
          <a:p>
            <a:pPr lvl="1"/>
            <a:r>
              <a:rPr lang="en-US" altLang="zh-TW" dirty="0"/>
              <a:t>Large Language Model (LLM)</a:t>
            </a:r>
          </a:p>
          <a:p>
            <a:r>
              <a:rPr lang="en-US" altLang="zh-TW" dirty="0"/>
              <a:t>Related Works</a:t>
            </a:r>
          </a:p>
          <a:p>
            <a:r>
              <a:rPr lang="en-US" altLang="zh-TW" dirty="0"/>
              <a:t>Issues</a:t>
            </a:r>
          </a:p>
          <a:p>
            <a:r>
              <a:rPr lang="en-US" altLang="zh-TW" dirty="0"/>
              <a:t>Notations</a:t>
            </a:r>
          </a:p>
          <a:p>
            <a:r>
              <a:rPr lang="en-US" altLang="zh-TW" dirty="0"/>
              <a:t>Problem Statements</a:t>
            </a:r>
          </a:p>
          <a:p>
            <a:pPr lvl="1"/>
            <a:r>
              <a:rPr lang="en-US" altLang="zh-TW" dirty="0">
                <a:latin typeface="+mj-lt"/>
              </a:rPr>
              <a:t>Attack-Relevant Log Extraction</a:t>
            </a:r>
          </a:p>
          <a:p>
            <a:pPr lvl="1"/>
            <a:r>
              <a:rPr lang="en-US" altLang="zh-TW" dirty="0"/>
              <a:t>Attack Lifecycle</a:t>
            </a:r>
            <a:r>
              <a:rPr lang="en-US" altLang="zh-TW" dirty="0">
                <a:latin typeface="+mj-lt"/>
              </a:rPr>
              <a:t> Completion </a:t>
            </a:r>
          </a:p>
          <a:p>
            <a:r>
              <a:rPr lang="fr-FR" altLang="zh-TW" dirty="0"/>
              <a:t>Solutions</a:t>
            </a:r>
          </a:p>
          <a:p>
            <a:pPr lvl="1"/>
            <a:r>
              <a:rPr lang="fr-FR" altLang="zh-TW" dirty="0"/>
              <a:t>Graph-based Log Extraction</a:t>
            </a:r>
          </a:p>
          <a:p>
            <a:pPr lvl="2"/>
            <a:r>
              <a:rPr lang="en-US" altLang="zh-TW" dirty="0"/>
              <a:t>Log2Graph</a:t>
            </a:r>
          </a:p>
          <a:p>
            <a:pPr lvl="2"/>
            <a:r>
              <a:rPr lang="en-US" altLang="zh-TW" dirty="0"/>
              <a:t>Attack Subgraph Search </a:t>
            </a:r>
          </a:p>
          <a:p>
            <a:pPr lvl="2"/>
            <a:r>
              <a:rPr lang="en-US" altLang="zh-TW" dirty="0"/>
              <a:t>Graph2Log</a:t>
            </a:r>
          </a:p>
          <a:p>
            <a:pPr lvl="1"/>
            <a:r>
              <a:rPr lang="fr-FR" altLang="zh-TW" dirty="0"/>
              <a:t>LLM-Driven Lifecycle Completion </a:t>
            </a:r>
          </a:p>
          <a:p>
            <a:pPr lvl="2"/>
            <a:r>
              <a:rPr lang="fr-FR" altLang="zh-TW" dirty="0"/>
              <a:t>Single-Technique Detection</a:t>
            </a:r>
          </a:p>
          <a:p>
            <a:pPr lvl="2"/>
            <a:r>
              <a:rPr lang="fr-FR" altLang="zh-TW" dirty="0"/>
              <a:t>Lifecycle Completion</a:t>
            </a:r>
          </a:p>
          <a:p>
            <a:r>
              <a:rPr lang="fr-FR" altLang="zh-TW" dirty="0"/>
              <a:t>Implementation</a:t>
            </a:r>
          </a:p>
          <a:p>
            <a:r>
              <a:rPr lang="fr-FR" altLang="zh-TW" dirty="0"/>
              <a:t>Evaluation</a:t>
            </a:r>
          </a:p>
          <a:p>
            <a:pPr lvl="1"/>
            <a:r>
              <a:rPr lang="en-US" altLang="zh-TW" dirty="0"/>
              <a:t>Set-based Evaluation</a:t>
            </a:r>
          </a:p>
          <a:p>
            <a:pPr lvl="1"/>
            <a:r>
              <a:rPr lang="en-US" altLang="zh-TW" dirty="0"/>
              <a:t>Sequence-based Evaluation</a:t>
            </a:r>
            <a:endParaRPr lang="fr-FR" altLang="zh-TW" dirty="0"/>
          </a:p>
          <a:p>
            <a:r>
              <a:rPr lang="fr-FR" altLang="zh-TW" dirty="0"/>
              <a:t>Schedule</a:t>
            </a:r>
          </a:p>
          <a:p>
            <a:r>
              <a:rPr lang="fr-FR" altLang="zh-TW" dirty="0"/>
              <a:t>References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81698D20-58D4-40E6-8D53-C852AF36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17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 dirty="0"/>
              <a:t>Motivation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DC7E38E-D4D7-46C1-8502-37CA37242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altLang="zh-TW" sz="2400" dirty="0">
                <a:latin typeface="Times New Roman"/>
              </a:rPr>
              <a:t>Attack Lifecycle Guides Defense Strategy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Reveals attacker TTPs, enabling security teams to address vulnerabilities</a:t>
            </a:r>
          </a:p>
          <a:p>
            <a:pPr>
              <a:spcBef>
                <a:spcPts val="1000"/>
              </a:spcBef>
            </a:pPr>
            <a:r>
              <a:rPr lang="en-US" altLang="zh-TW" sz="2400" dirty="0">
                <a:latin typeface="Times New Roman"/>
              </a:rPr>
              <a:t>Current Attack Lifecycle Detection is Incomplete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Experts or AI analyze alerts from security tools (e.g., EDR, NDR) to infer lifecycle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Security tools rely on rule-based alert generation</a:t>
            </a:r>
          </a:p>
          <a:p>
            <a:pPr lvl="2">
              <a:spcBef>
                <a:spcPts val="100"/>
              </a:spcBef>
            </a:pPr>
            <a:r>
              <a:rPr lang="en-US" altLang="zh-TW" sz="1800" dirty="0">
                <a:latin typeface="Times New Roman"/>
              </a:rPr>
              <a:t>Generated alerts are often inaccurate</a:t>
            </a:r>
          </a:p>
          <a:p>
            <a:pPr lvl="2">
              <a:spcBef>
                <a:spcPts val="100"/>
              </a:spcBef>
            </a:pPr>
            <a:r>
              <a:rPr lang="en-US" altLang="zh-TW" sz="1800" dirty="0">
                <a:latin typeface="Times New Roman"/>
              </a:rPr>
              <a:t>Poorly maintained rules lead to missing alerts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Resulting attack lifecycle is only partial</a:t>
            </a:r>
          </a:p>
          <a:p>
            <a:pPr>
              <a:spcBef>
                <a:spcPts val="1000"/>
              </a:spcBef>
            </a:pPr>
            <a:r>
              <a:rPr lang="en-US" altLang="zh-TW" sz="2400" dirty="0">
                <a:latin typeface="Times New Roman"/>
              </a:rPr>
              <a:t>Logs Are the Fundamental Basis for Security Analysis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Systems still record logs even when security tools fail to generate alerts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Logs can potentially fill gaps in partial attack lifecycles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Log volume is tens of thousands times larger than alerts, infeasible to analyze manually</a:t>
            </a:r>
          </a:p>
          <a:p>
            <a:pPr>
              <a:spcBef>
                <a:spcPts val="1000"/>
              </a:spcBef>
            </a:pPr>
            <a:r>
              <a:rPr lang="en-US" altLang="zh-TW" sz="2400" dirty="0">
                <a:latin typeface="Times New Roman"/>
              </a:rPr>
              <a:t>Need for Automated Analysis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Malicious Log Extraction isolates attack-relevant logs, removing benign noise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LLMs provide strong text comprehension for effective log analysis and lifecycle completion</a:t>
            </a:r>
            <a:endParaRPr lang="en-US" altLang="zh-TW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1163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 dirty="0"/>
              <a:t>Background - MITRE ATT&amp;CK Framework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246"/>
            <a:ext cx="10515600" cy="5137267"/>
          </a:xfrm>
        </p:spPr>
        <p:txBody>
          <a:bodyPr/>
          <a:lstStyle/>
          <a:p>
            <a:r>
              <a:rPr lang="en-US" altLang="zh-TW" dirty="0"/>
              <a:t>A knowledge base of adversary behavior based on real-world observations.</a:t>
            </a:r>
          </a:p>
          <a:p>
            <a:r>
              <a:rPr lang="en-US" altLang="zh-TW" dirty="0"/>
              <a:t>Key components:</a:t>
            </a:r>
          </a:p>
          <a:p>
            <a:pPr lvl="1"/>
            <a:r>
              <a:rPr lang="en-US" altLang="zh-TW" dirty="0"/>
              <a:t>Lifecyle:  A chain of tactics modeling the attack path.</a:t>
            </a:r>
          </a:p>
          <a:p>
            <a:pPr lvl="1"/>
            <a:r>
              <a:rPr lang="en-US" altLang="zh-TW" dirty="0"/>
              <a:t>Tactic: Define the objective of each stage.</a:t>
            </a:r>
          </a:p>
          <a:p>
            <a:pPr lvl="1"/>
            <a:r>
              <a:rPr lang="en-US" altLang="zh-TW" dirty="0"/>
              <a:t>Technique: Describe the specific methods used.</a:t>
            </a:r>
          </a:p>
          <a:p>
            <a:pPr lvl="1"/>
            <a:r>
              <a:rPr lang="en-US" altLang="zh-TW" dirty="0"/>
              <a:t>Procedure: The specific implementation of a technique.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8151752-D10A-4767-81ED-446557041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47" y="3835400"/>
            <a:ext cx="10586906" cy="2194847"/>
          </a:xfrm>
          <a:prstGeom prst="rect">
            <a:avLst/>
          </a:prstGeom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00CCEAB-463B-4598-9419-220715E6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67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 dirty="0"/>
              <a:t>Background – Attack Lifecycle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246"/>
            <a:ext cx="10515600" cy="5137267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en-US" altLang="zh-TW" sz="2400" dirty="0">
                <a:latin typeface="Times New Roman"/>
              </a:rPr>
              <a:t>What’s Attack </a:t>
            </a:r>
            <a:r>
              <a:rPr lang="en-US" altLang="zh-TW" dirty="0">
                <a:latin typeface="Times New Roman"/>
              </a:rPr>
              <a:t>L</a:t>
            </a:r>
            <a:r>
              <a:rPr lang="en-US" altLang="zh-TW" sz="2400" dirty="0">
                <a:latin typeface="Times New Roman"/>
              </a:rPr>
              <a:t>ifecycle?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An ordered sequence of techniques, which shows how hackers achieve a goal</a:t>
            </a:r>
          </a:p>
          <a:p>
            <a:pPr>
              <a:spcBef>
                <a:spcPts val="800"/>
              </a:spcBef>
            </a:pPr>
            <a:r>
              <a:rPr lang="en-US" altLang="zh-TW" sz="2400" dirty="0">
                <a:latin typeface="Times New Roman"/>
              </a:rPr>
              <a:t>An example of attack lifecycle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T1071.001 → T1566.002 → T1059.001 → T1620 → T1071.001 → T1018 → T1087.001 → T1040 → T1049 → T1071.001 → T1566.002 → T1059.001 → T1547.004 → T1113 → T1005 → T1106 → T1074.001 → T1134 → T1059.001 → T1562.001 → T1059.003 → T1112 → T1112 → T1112 → T1490 → T1112 → T1562.009</a:t>
            </a:r>
          </a:p>
          <a:p>
            <a:pPr>
              <a:spcBef>
                <a:spcPts val="800"/>
              </a:spcBef>
            </a:pPr>
            <a:r>
              <a:rPr lang="en-US" altLang="zh-TW" sz="2400" dirty="0">
                <a:latin typeface="Times New Roman"/>
              </a:rPr>
              <a:t>Importance for SOC Operations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Reveals attacker intent, not just isolated alerts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Provides full context for incident response and forensics</a:t>
            </a:r>
          </a:p>
          <a:p>
            <a:pPr>
              <a:spcBef>
                <a:spcPts val="800"/>
              </a:spcBef>
            </a:pPr>
            <a:r>
              <a:rPr lang="en-US" altLang="zh-TW" sz="2400" dirty="0">
                <a:latin typeface="Times New Roman"/>
              </a:rPr>
              <a:t>Challenges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Alert-based reconstruction misses ~60% of techniques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Partial lifecycles limit SOC visibility into attack scenarios</a:t>
            </a:r>
            <a:endParaRPr lang="zh-TW" altLang="en-US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00CCEAB-463B-4598-9419-220715E6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260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Background - Endpoint Detection and Response Alert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What is Endpoint Detection and Response (EDR)?</a:t>
            </a:r>
          </a:p>
          <a:p>
            <a:pPr lvl="1">
              <a:spcBef>
                <a:spcPts val="200"/>
              </a:spcBef>
            </a:pPr>
            <a:r>
              <a:rPr lang="en-US" altLang="zh-TW" sz="2000" b="0" dirty="0">
                <a:latin typeface="Times New Roman"/>
              </a:rPr>
              <a:t>Continuous monitoring and advanced threat response for endpoints</a:t>
            </a:r>
          </a:p>
          <a:p>
            <a:pPr lvl="1">
              <a:spcBef>
                <a:spcPts val="200"/>
              </a:spcBef>
            </a:pPr>
            <a:r>
              <a:rPr lang="en-US" altLang="zh-TW" sz="2000" b="0" dirty="0">
                <a:latin typeface="Times New Roman"/>
              </a:rPr>
              <a:t>Detects malicious behaviors via rules</a:t>
            </a:r>
          </a:p>
          <a:p>
            <a:pPr lvl="1">
              <a:spcBef>
                <a:spcPts val="200"/>
              </a:spcBef>
            </a:pPr>
            <a:r>
              <a:rPr lang="en-US" altLang="zh-TW" sz="2000" b="0" dirty="0">
                <a:latin typeface="Times New Roman"/>
              </a:rPr>
              <a:t>Generates alerts identify processes and execution responsible for attacks</a:t>
            </a:r>
          </a:p>
          <a:p>
            <a:r>
              <a:rPr lang="en-US" altLang="zh-TW" dirty="0"/>
              <a:t>What information does EDR Alerts provide?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65AD5E-E2E0-4E6B-9CE3-1330EE4B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18961CAA-5503-44D6-98B4-083A4310E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708317"/>
              </p:ext>
            </p:extLst>
          </p:nvPr>
        </p:nvGraphicFramePr>
        <p:xfrm>
          <a:off x="1327325" y="3065953"/>
          <a:ext cx="7430782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3201">
                  <a:extLst>
                    <a:ext uri="{9D8B030D-6E8A-4147-A177-3AD203B41FA5}">
                      <a16:colId xmlns:a16="http://schemas.microsoft.com/office/drawing/2014/main" val="3802897867"/>
                    </a:ext>
                  </a:extLst>
                </a:gridCol>
                <a:gridCol w="4967581">
                  <a:extLst>
                    <a:ext uri="{9D8B030D-6E8A-4147-A177-3AD203B41FA5}">
                      <a16:colId xmlns:a16="http://schemas.microsoft.com/office/drawing/2014/main" val="1590229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177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Time when the event occurred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37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technique_id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MITRE ATT&amp;CK Technique ID (e.g., T1059)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733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tactic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MITRE ATT&amp;CK Tactic (e.g., Execution)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614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host_ip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IP address of the host where the event occurred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25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Description of the detected 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processGuid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Unique GUID of the suspicious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645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Executable path of the suspicious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196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targetFilename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File path affected by the suspicious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710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078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Background - Network Detection and Response Alert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is Network Detection and Response (NDR)?</a:t>
            </a:r>
          </a:p>
          <a:p>
            <a:pPr lvl="1">
              <a:spcBef>
                <a:spcPts val="200"/>
              </a:spcBef>
            </a:pPr>
            <a:r>
              <a:rPr lang="en-US" altLang="zh-TW" sz="2000" b="0" dirty="0">
                <a:latin typeface="Times New Roman"/>
              </a:rPr>
              <a:t>Monitors all devices on the network, including those without EDR agents</a:t>
            </a:r>
          </a:p>
          <a:p>
            <a:pPr lvl="1">
              <a:spcBef>
                <a:spcPts val="200"/>
              </a:spcBef>
            </a:pPr>
            <a:r>
              <a:rPr lang="en-US" altLang="zh-TW" sz="2000" b="0" dirty="0">
                <a:latin typeface="Times New Roman"/>
              </a:rPr>
              <a:t>Detects lateral movement, C2 communication, and data exfiltration</a:t>
            </a:r>
          </a:p>
          <a:p>
            <a:pPr lvl="1">
              <a:spcBef>
                <a:spcPts val="200"/>
              </a:spcBef>
            </a:pPr>
            <a:r>
              <a:rPr lang="en-US" altLang="zh-TW" sz="2000" b="0" dirty="0">
                <a:latin typeface="Times New Roman"/>
              </a:rPr>
              <a:t>Generates alerts identify attack techniques involving network activities</a:t>
            </a:r>
          </a:p>
          <a:p>
            <a:r>
              <a:rPr lang="en-US" altLang="zh-TW" dirty="0"/>
              <a:t>What information does NDR Alerts provide?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F7CB37-C908-49C9-BDAB-5F4288F3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896AB9D-6BAB-455D-9F66-FA40591C6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209905"/>
              </p:ext>
            </p:extLst>
          </p:nvPr>
        </p:nvGraphicFramePr>
        <p:xfrm>
          <a:off x="1243435" y="3065953"/>
          <a:ext cx="7367165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2113">
                  <a:extLst>
                    <a:ext uri="{9D8B030D-6E8A-4147-A177-3AD203B41FA5}">
                      <a16:colId xmlns:a16="http://schemas.microsoft.com/office/drawing/2014/main" val="3802897867"/>
                    </a:ext>
                  </a:extLst>
                </a:gridCol>
                <a:gridCol w="4925052">
                  <a:extLst>
                    <a:ext uri="{9D8B030D-6E8A-4147-A177-3AD203B41FA5}">
                      <a16:colId xmlns:a16="http://schemas.microsoft.com/office/drawing/2014/main" val="1590229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177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Time when the event occurred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37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technique_id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MITRE ATT&amp;CK Technique ID (e.g., T1071)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733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tactic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MITRE ATT&amp;CK Tactic (e.g., Command and Control)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614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src_ip, src_port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Source IP address and port of the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25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dest_ip, dest_port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Destination IP address and port of the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proto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Transport protocol (e.g., TCP, UDP)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645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app_proto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Application protocol (e.g., HTTP, DNS, SSH)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196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Times New Roman"/>
                        </a:rPr>
                        <a:t>Description of the detected 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710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824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 dirty="0"/>
              <a:t>Background – Sysmon Log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DC7E38E-D4D7-46C1-8502-37CA37242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What is Sysmon?</a:t>
            </a:r>
          </a:p>
          <a:p>
            <a:pPr lvl="1">
              <a:spcBef>
                <a:spcPts val="200"/>
              </a:spcBef>
            </a:pPr>
            <a:r>
              <a:rPr lang="en-US" altLang="zh-TW" sz="2000" b="0" dirty="0">
                <a:latin typeface="Times New Roman"/>
              </a:rPr>
              <a:t>Windows system service capturing kernel-level endpoint activities</a:t>
            </a:r>
          </a:p>
          <a:p>
            <a:pPr lvl="1">
              <a:spcBef>
                <a:spcPts val="200"/>
              </a:spcBef>
            </a:pPr>
            <a:r>
              <a:rPr lang="en-US" altLang="zh-TW" sz="2000" b="0" dirty="0">
                <a:latin typeface="Times New Roman"/>
              </a:rPr>
              <a:t>Records process creation, file modifications, and network connections, providing detailed sighting for attack forensic and threat analysis</a:t>
            </a:r>
          </a:p>
          <a:p>
            <a:r>
              <a:rPr lang="en-US" altLang="zh-TW" dirty="0"/>
              <a:t>What information does Sysmon Logs provide?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2A8D4C57-E23F-4F3A-8A3A-EE251757B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572091"/>
              </p:ext>
            </p:extLst>
          </p:nvPr>
        </p:nvGraphicFramePr>
        <p:xfrm>
          <a:off x="1560353" y="3017520"/>
          <a:ext cx="7050247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5909">
                  <a:extLst>
                    <a:ext uri="{9D8B030D-6E8A-4147-A177-3AD203B41FA5}">
                      <a16:colId xmlns:a16="http://schemas.microsoft.com/office/drawing/2014/main" val="3311324832"/>
                    </a:ext>
                  </a:extLst>
                </a:gridCol>
                <a:gridCol w="4874338">
                  <a:extLst>
                    <a:ext uri="{9D8B030D-6E8A-4147-A177-3AD203B41FA5}">
                      <a16:colId xmlns:a16="http://schemas.microsoft.com/office/drawing/2014/main" val="1579371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EventID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Event Type.</a:t>
                      </a:r>
                      <a:r>
                        <a:rPr lang="en-US" sz="1100" dirty="0"/>
                        <a:t> Confirms Process Creation (Value 1).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868687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UtcTime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Event Time.</a:t>
                      </a:r>
                      <a:r>
                        <a:rPr lang="en-US" sz="1100"/>
                        <a:t> The precise UTC time of execution.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118502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Target Host.</a:t>
                      </a:r>
                      <a:r>
                        <a:rPr lang="en-US" sz="1100"/>
                        <a:t> Machine where the event occurred.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860310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User Context.</a:t>
                      </a:r>
                      <a:r>
                        <a:rPr lang="en-US" sz="1100"/>
                        <a:t> The account that initiated the process.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738915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User SID.</a:t>
                      </a:r>
                      <a:r>
                        <a:rPr lang="en-US" sz="1100"/>
                        <a:t> Security identifier for the executing user.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433091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ProcessId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Child PID.</a:t>
                      </a:r>
                      <a:r>
                        <a:rPr lang="en-US" sz="1100"/>
                        <a:t> Numeric ID of the newly created process.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600657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ProcessGuid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Child GUID.</a:t>
                      </a:r>
                      <a:r>
                        <a:rPr lang="en-US" sz="1100" dirty="0"/>
                        <a:t> Unique, non-recycled ID for the child process.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962801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CommandLine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Execution Command.</a:t>
                      </a:r>
                      <a:r>
                        <a:rPr lang="en-US" sz="1100"/>
                        <a:t> Full arguments used to launch the child process.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671406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ParentProcessId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Parent PID.</a:t>
                      </a:r>
                      <a:r>
                        <a:rPr lang="en-US" sz="1100" dirty="0"/>
                        <a:t> Numeric ID of the initiating process.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844266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ParentProcessGuid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Parent GUID.</a:t>
                      </a:r>
                      <a:r>
                        <a:rPr lang="en-US" sz="1100" dirty="0"/>
                        <a:t> Unique ID for the initiating parent process.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56245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ParentImage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Parent Path.</a:t>
                      </a:r>
                      <a:r>
                        <a:rPr lang="en-US" sz="1100" dirty="0"/>
                        <a:t> Full path to the parent executable.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27920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ParentCommandLine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Parent Arguments.</a:t>
                      </a:r>
                      <a:r>
                        <a:rPr lang="en-US" sz="1100"/>
                        <a:t> Full command line of the parent process.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996716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Child Path.</a:t>
                      </a:r>
                      <a:r>
                        <a:rPr lang="en-US" sz="1100"/>
                        <a:t> Full path to the child executable file.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823788"/>
                  </a:ext>
                </a:extLst>
              </a:tr>
              <a:tr h="272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File Checksums.</a:t>
                      </a:r>
                      <a:r>
                        <a:rPr lang="en-US" sz="1100" dirty="0"/>
                        <a:t> Cryptographic hashes for threat matching.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961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397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 dirty="0"/>
              <a:t>Background – Suricata Log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DC7E38E-D4D7-46C1-8502-37CA37242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What is Suricata?</a:t>
            </a:r>
          </a:p>
          <a:p>
            <a:pPr lvl="1"/>
            <a:r>
              <a:rPr lang="en-US" altLang="zh-TW" dirty="0"/>
              <a:t>Open-source network threat detection engine for real-time traffic analysis</a:t>
            </a:r>
          </a:p>
          <a:p>
            <a:pPr lvl="1"/>
            <a:r>
              <a:rPr lang="en-US" altLang="zh-TW" dirty="0"/>
              <a:t>Record network activities (logs) and also identify malicious network patterns via rule-based signatures</a:t>
            </a:r>
          </a:p>
          <a:p>
            <a:r>
              <a:rPr lang="en-US" altLang="zh-TW" dirty="0"/>
              <a:t>What information does Suricata Log provide?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12</a:t>
            </a:fld>
            <a:endParaRPr lang="zh-TW" altLang="en-US"/>
          </a:p>
        </p:txBody>
      </p:sp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CADFD75E-D65B-45A6-9C93-2A3853A41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64512"/>
              </p:ext>
            </p:extLst>
          </p:nvPr>
        </p:nvGraphicFramePr>
        <p:xfrm>
          <a:off x="1302158" y="3246150"/>
          <a:ext cx="7367165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2113">
                  <a:extLst>
                    <a:ext uri="{9D8B030D-6E8A-4147-A177-3AD203B41FA5}">
                      <a16:colId xmlns:a16="http://schemas.microsoft.com/office/drawing/2014/main" val="3802897867"/>
                    </a:ext>
                  </a:extLst>
                </a:gridCol>
                <a:gridCol w="4925052">
                  <a:extLst>
                    <a:ext uri="{9D8B030D-6E8A-4147-A177-3AD203B41FA5}">
                      <a16:colId xmlns:a16="http://schemas.microsoft.com/office/drawing/2014/main" val="1590229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/>
                        <a:t>Element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/>
                        <a:t>Description</a:t>
                      </a:r>
                      <a:endParaRPr lang="zh-TW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177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Time when the network event occurred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37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latin typeface="Times New Roman"/>
                        </a:rPr>
                        <a:t>event_type</a:t>
                      </a:r>
                      <a:endParaRPr sz="1400" b="0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Log category (e.g., alert, flow, </a:t>
                      </a:r>
                      <a:r>
                        <a:rPr sz="1400" b="0" dirty="0" err="1">
                          <a:latin typeface="Times New Roman"/>
                        </a:rPr>
                        <a:t>dns</a:t>
                      </a:r>
                      <a:r>
                        <a:rPr sz="1400" b="0" dirty="0">
                          <a:latin typeface="Times New Roman"/>
                        </a:rPr>
                        <a:t>, http)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036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latin typeface="Times New Roman"/>
                        </a:rPr>
                        <a:t>src_ip</a:t>
                      </a:r>
                      <a:r>
                        <a:rPr sz="1400" b="0" dirty="0">
                          <a:latin typeface="Times New Roman"/>
                        </a:rPr>
                        <a:t>, </a:t>
                      </a:r>
                      <a:r>
                        <a:rPr sz="1400" b="0" dirty="0" err="1">
                          <a:latin typeface="Times New Roman"/>
                        </a:rPr>
                        <a:t>src_port</a:t>
                      </a:r>
                      <a:endParaRPr sz="1400" b="0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Source IP address and port of the traffic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25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latin typeface="Times New Roman"/>
                        </a:rPr>
                        <a:t>dest_ip</a:t>
                      </a:r>
                      <a:r>
                        <a:rPr sz="1400" b="0" dirty="0">
                          <a:latin typeface="Times New Roman"/>
                        </a:rPr>
                        <a:t>, </a:t>
                      </a:r>
                      <a:r>
                        <a:rPr sz="1400" b="0" dirty="0" err="1">
                          <a:latin typeface="Times New Roman"/>
                        </a:rPr>
                        <a:t>dest_port</a:t>
                      </a:r>
                      <a:endParaRPr sz="1400" b="0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Destination IP address and port of the traffic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proto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Transport protocol (e.g., TCP, UDP)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645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app_proto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Application protocol (e.g., HTTP, DNS, SSH)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196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latin typeface="Times New Roman"/>
                        </a:rPr>
                        <a:t>flow.bytes_toserver</a:t>
                      </a:r>
                      <a:endParaRPr sz="1400" b="0" dirty="0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Bytes sent from source to destination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94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flow.bytes_toclient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Bytes sent from destination back to 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05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188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Background – Causal Graph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en-US" altLang="zh-TW" sz="1800" dirty="0">
                <a:latin typeface="Times New Roman"/>
              </a:rPr>
              <a:t>What is Causal Graph?</a:t>
            </a:r>
          </a:p>
          <a:p>
            <a:pPr lvl="1">
              <a:spcBef>
                <a:spcPts val="200"/>
              </a:spcBef>
            </a:pPr>
            <a:r>
              <a:rPr lang="en-US" altLang="zh-TW" sz="1600" dirty="0">
                <a:latin typeface="Times New Roman"/>
              </a:rPr>
              <a:t>Directed graph: nodes = entities (processes, files, sockets)</a:t>
            </a:r>
          </a:p>
          <a:p>
            <a:pPr lvl="1">
              <a:spcBef>
                <a:spcPts val="200"/>
              </a:spcBef>
            </a:pPr>
            <a:r>
              <a:rPr lang="en-US" altLang="zh-TW" sz="1600" dirty="0">
                <a:latin typeface="Times New Roman"/>
              </a:rPr>
              <a:t>Edges = causal events (read, execute, network connect)</a:t>
            </a:r>
            <a:endParaRPr lang="en-US" altLang="zh-TW" sz="1600" dirty="0"/>
          </a:p>
          <a:p>
            <a:pPr>
              <a:spcBef>
                <a:spcPts val="800"/>
              </a:spcBef>
            </a:pPr>
            <a:r>
              <a:rPr lang="en-US" altLang="zh-TW" sz="1800" dirty="0">
                <a:latin typeface="Times New Roman"/>
              </a:rPr>
              <a:t>Why Causal Graph?</a:t>
            </a:r>
          </a:p>
          <a:p>
            <a:pPr lvl="1">
              <a:spcBef>
                <a:spcPts val="300"/>
              </a:spcBef>
              <a:defRPr sz="2000" b="0">
                <a:latin typeface="Times New Roman"/>
              </a:defRPr>
            </a:pPr>
            <a:r>
              <a:rPr lang="en-US" altLang="zh-TW" sz="1600" dirty="0"/>
              <a:t>Constructs causality chains</a:t>
            </a:r>
          </a:p>
          <a:p>
            <a:pPr lvl="1">
              <a:spcBef>
                <a:spcPts val="300"/>
              </a:spcBef>
              <a:defRPr sz="2000" b="0">
                <a:latin typeface="Times New Roman"/>
              </a:defRPr>
            </a:pPr>
            <a:r>
              <a:rPr lang="en-US" altLang="zh-TW" sz="1600" dirty="0"/>
              <a:t>Preserves temporal ordering of multi-step attack events</a:t>
            </a:r>
          </a:p>
          <a:p>
            <a:pPr lvl="1">
              <a:spcBef>
                <a:spcPts val="300"/>
              </a:spcBef>
              <a:defRPr sz="2000" b="0">
                <a:latin typeface="Times New Roman"/>
              </a:defRPr>
            </a:pPr>
            <a:r>
              <a:rPr lang="en-US" altLang="zh-TW" sz="1600" dirty="0"/>
              <a:t>Enables attack</a:t>
            </a:r>
            <a:r>
              <a:rPr lang="zh-TW" altLang="en-US" sz="1600" dirty="0"/>
              <a:t> </a:t>
            </a:r>
            <a:r>
              <a:rPr lang="en-US" altLang="zh-TW" sz="1600" dirty="0"/>
              <a:t>graph reconstruction from logs</a:t>
            </a:r>
          </a:p>
          <a:p>
            <a:r>
              <a:rPr lang="en-US" altLang="zh-TW" sz="1800" dirty="0">
                <a:latin typeface="Times New Roman"/>
              </a:rPr>
              <a:t>Relevance to Our Approach</a:t>
            </a:r>
          </a:p>
          <a:p>
            <a:pPr lvl="1"/>
            <a:r>
              <a:rPr lang="en-US" altLang="zh-TW" sz="1600" dirty="0"/>
              <a:t>A good data structure that enables Malicious Log Extraction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FECAEF-A892-49EC-BC57-009C2E80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13</a:t>
            </a:fld>
            <a:endParaRPr lang="zh-TW" altLang="en-US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2301459D-87B1-4830-BA90-93FE78D62FC0}"/>
              </a:ext>
            </a:extLst>
          </p:cNvPr>
          <p:cNvGrpSpPr/>
          <p:nvPr/>
        </p:nvGrpSpPr>
        <p:grpSpPr>
          <a:xfrm>
            <a:off x="1238462" y="3969886"/>
            <a:ext cx="8993697" cy="2751589"/>
            <a:chOff x="676400" y="4083033"/>
            <a:chExt cx="8993697" cy="2751589"/>
          </a:xfrm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07A80001-427B-4653-9E20-1660D656C14F}"/>
                </a:ext>
              </a:extLst>
            </p:cNvPr>
            <p:cNvSpPr/>
            <p:nvPr/>
          </p:nvSpPr>
          <p:spPr>
            <a:xfrm>
              <a:off x="676400" y="4083033"/>
              <a:ext cx="8993697" cy="2751589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TextBox 3">
              <a:extLst>
                <a:ext uri="{FF2B5EF4-FFF2-40B4-BE49-F238E27FC236}">
                  <a16:creationId xmlns:a16="http://schemas.microsoft.com/office/drawing/2014/main" id="{9463AA3D-270F-4415-9CDE-139166392D7A}"/>
                </a:ext>
              </a:extLst>
            </p:cNvPr>
            <p:cNvSpPr txBox="1"/>
            <p:nvPr/>
          </p:nvSpPr>
          <p:spPr>
            <a:xfrm>
              <a:off x="3832128" y="4129972"/>
              <a:ext cx="292608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1400" b="1" i="1">
                  <a:solidFill>
                    <a:srgbClr val="CC5500"/>
                  </a:solidFill>
                  <a:latin typeface="Arial"/>
                </a:defRPr>
              </a:pPr>
              <a:r>
                <a:rPr lang="en-US" altLang="zh-TW" dirty="0"/>
                <a:t>Causal</a:t>
              </a:r>
              <a:r>
                <a:rPr dirty="0"/>
                <a:t>-based analysis</a:t>
              </a: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87225C79-EC48-4D4D-80AE-98EFB9BD7424}"/>
                </a:ext>
              </a:extLst>
            </p:cNvPr>
            <p:cNvSpPr/>
            <p:nvPr/>
          </p:nvSpPr>
          <p:spPr>
            <a:xfrm>
              <a:off x="4079778" y="5400504"/>
              <a:ext cx="3154680" cy="548640"/>
            </a:xfrm>
            <a:prstGeom prst="rect">
              <a:avLst/>
            </a:prstGeom>
            <a:noFill/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5491AFCB-8247-4F6B-B340-33BBE223D2C4}"/>
                </a:ext>
              </a:extLst>
            </p:cNvPr>
            <p:cNvSpPr/>
            <p:nvPr/>
          </p:nvSpPr>
          <p:spPr>
            <a:xfrm>
              <a:off x="3951506" y="6231974"/>
              <a:ext cx="1488441" cy="457200"/>
            </a:xfrm>
            <a:prstGeom prst="rect">
              <a:avLst/>
            </a:prstGeom>
            <a:noFill/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023035F5-A32D-4108-BB64-2C95AFF2CF57}"/>
                </a:ext>
              </a:extLst>
            </p:cNvPr>
            <p:cNvGrpSpPr/>
            <p:nvPr/>
          </p:nvGrpSpPr>
          <p:grpSpPr>
            <a:xfrm>
              <a:off x="5823486" y="4684734"/>
              <a:ext cx="525782" cy="369783"/>
              <a:chOff x="3886200" y="1920511"/>
              <a:chExt cx="525782" cy="369783"/>
            </a:xfrm>
          </p:grpSpPr>
          <p:sp>
            <p:nvSpPr>
              <p:cNvPr id="12" name="Rectangle 15">
                <a:extLst>
                  <a:ext uri="{FF2B5EF4-FFF2-40B4-BE49-F238E27FC236}">
                    <a16:creationId xmlns:a16="http://schemas.microsoft.com/office/drawing/2014/main" id="{2CBB88EE-46C5-4633-AB2E-AE3603D46F85}"/>
                  </a:ext>
                </a:extLst>
              </p:cNvPr>
              <p:cNvSpPr/>
              <p:nvPr/>
            </p:nvSpPr>
            <p:spPr>
              <a:xfrm rot="19077105">
                <a:off x="3926806" y="1920511"/>
                <a:ext cx="337890" cy="36978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18288" tIns="9144" rIns="18288" bIns="9144" rtlCol="0" anchor="ctr"/>
              <a:lstStyle/>
              <a:p>
                <a:pPr algn="ctr">
                  <a:defRPr sz="700" b="1">
                    <a:solidFill>
                      <a:srgbClr val="000000"/>
                    </a:solidFill>
                    <a:latin typeface="Arial"/>
                  </a:defRPr>
                </a:pPr>
                <a:endParaRPr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A6A7B3-E748-4F09-B9E9-812B65F1F978}"/>
                  </a:ext>
                </a:extLst>
              </p:cNvPr>
              <p:cNvSpPr txBox="1"/>
              <p:nvPr/>
            </p:nvSpPr>
            <p:spPr>
              <a:xfrm>
                <a:off x="3886200" y="2051822"/>
                <a:ext cx="525782" cy="9233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>
                  <a:defRPr sz="600" b="0" i="0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altLang="zh-TW" dirty="0">
                    <a:solidFill>
                      <a:srgbClr val="C00000"/>
                    </a:solidFill>
                  </a:rPr>
                  <a:t>10.0.0.5:443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9E3D9B7-9042-4CC5-9E2C-666B60AAC1CC}"/>
                </a:ext>
              </a:extLst>
            </p:cNvPr>
            <p:cNvSpPr/>
            <p:nvPr/>
          </p:nvSpPr>
          <p:spPr>
            <a:xfrm>
              <a:off x="2605308" y="4722464"/>
              <a:ext cx="822960" cy="3108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700" b="1">
                  <a:solidFill>
                    <a:srgbClr val="000000"/>
                  </a:solidFill>
                  <a:latin typeface="Arial"/>
                </a:defRPr>
              </a:pPr>
              <a:r>
                <a:t>Outlook.exe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B48228-65A2-47A0-AB70-2A650BD4296E}"/>
                </a:ext>
              </a:extLst>
            </p:cNvPr>
            <p:cNvSpPr/>
            <p:nvPr/>
          </p:nvSpPr>
          <p:spPr>
            <a:xfrm>
              <a:off x="2605308" y="5316824"/>
              <a:ext cx="960120" cy="3108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700" b="1">
                  <a:solidFill>
                    <a:srgbClr val="000000"/>
                  </a:solidFill>
                  <a:latin typeface="Arial"/>
                </a:defRPr>
              </a:pPr>
              <a:r>
                <a:t>WINWORD.EXE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35D4DC-B068-47F7-8182-82CC54F391F1}"/>
                </a:ext>
              </a:extLst>
            </p:cNvPr>
            <p:cNvSpPr/>
            <p:nvPr/>
          </p:nvSpPr>
          <p:spPr>
            <a:xfrm>
              <a:off x="4098828" y="4714704"/>
              <a:ext cx="1051560" cy="3108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700" b="1">
                  <a:solidFill>
                    <a:srgbClr val="000000"/>
                  </a:solidFill>
                  <a:latin typeface="Arial"/>
                </a:defRPr>
              </a:pPr>
              <a:r>
                <a:rPr>
                  <a:solidFill>
                    <a:srgbClr val="C00000"/>
                  </a:solidFill>
                </a:rPr>
                <a:t>powershell.exe</a:t>
              </a:r>
            </a:p>
          </p:txBody>
        </p:sp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5A857CAA-1AA9-457E-9C23-51F6F3190A09}"/>
                </a:ext>
              </a:extLst>
            </p:cNvPr>
            <p:cNvSpPr/>
            <p:nvPr/>
          </p:nvSpPr>
          <p:spPr>
            <a:xfrm>
              <a:off x="6228618" y="5537663"/>
              <a:ext cx="777240" cy="2743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700" b="0">
                  <a:solidFill>
                    <a:srgbClr val="000000"/>
                  </a:solidFill>
                  <a:latin typeface="Arial"/>
                </a:defRPr>
              </a:pPr>
              <a:r>
                <a:rPr dirty="0">
                  <a:solidFill>
                    <a:srgbClr val="C00000"/>
                  </a:solidFill>
                </a:rPr>
                <a:t>secret.zip</a:t>
              </a:r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21AED813-1557-46BA-9B75-6CA7C3E0CB57}"/>
                </a:ext>
              </a:extLst>
            </p:cNvPr>
            <p:cNvSpPr/>
            <p:nvPr/>
          </p:nvSpPr>
          <p:spPr>
            <a:xfrm>
              <a:off x="4079778" y="6360624"/>
              <a:ext cx="594360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700" b="0">
                  <a:solidFill>
                    <a:srgbClr val="000000"/>
                  </a:solidFill>
                  <a:latin typeface="Arial"/>
                </a:defRPr>
              </a:pPr>
              <a:r>
                <a:rPr>
                  <a:solidFill>
                    <a:srgbClr val="C00000"/>
                  </a:solidFill>
                </a:rPr>
                <a:t>whoami</a:t>
              </a:r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20352931-4A9E-479B-A703-E4BE14FEE143}"/>
                </a:ext>
              </a:extLst>
            </p:cNvPr>
            <p:cNvSpPr/>
            <p:nvPr/>
          </p:nvSpPr>
          <p:spPr>
            <a:xfrm>
              <a:off x="4811298" y="6360624"/>
              <a:ext cx="548640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700" b="0">
                  <a:solidFill>
                    <a:srgbClr val="000000"/>
                  </a:solidFill>
                  <a:latin typeface="Arial"/>
                </a:defRPr>
              </a:pPr>
              <a:r>
                <a:rPr>
                  <a:solidFill>
                    <a:srgbClr val="C00000"/>
                  </a:solidFill>
                </a:rPr>
                <a:t>net.exe</a:t>
              </a:r>
            </a:p>
          </p:txBody>
        </p:sp>
        <p:sp>
          <p:nvSpPr>
            <p:cNvPr id="20" name="Rectangle 21">
              <a:extLst>
                <a:ext uri="{FF2B5EF4-FFF2-40B4-BE49-F238E27FC236}">
                  <a16:creationId xmlns:a16="http://schemas.microsoft.com/office/drawing/2014/main" id="{27757A18-BCAB-4DE7-B3C0-019F9A71AF74}"/>
                </a:ext>
              </a:extLst>
            </p:cNvPr>
            <p:cNvSpPr/>
            <p:nvPr/>
          </p:nvSpPr>
          <p:spPr>
            <a:xfrm>
              <a:off x="5497098" y="6360624"/>
              <a:ext cx="1051560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600" b="0">
                  <a:solidFill>
                    <a:srgbClr val="000000"/>
                  </a:solidFill>
                  <a:latin typeface="Arial"/>
                </a:defRPr>
              </a:pPr>
              <a:r>
                <a:rPr>
                  <a:solidFill>
                    <a:srgbClr val="C00000"/>
                  </a:solidFill>
                </a:rPr>
                <a:t>HKLM\...\Run</a:t>
              </a:r>
            </a:p>
          </p:txBody>
        </p:sp>
        <p:cxnSp>
          <p:nvCxnSpPr>
            <p:cNvPr id="21" name="Connector 22">
              <a:extLst>
                <a:ext uri="{FF2B5EF4-FFF2-40B4-BE49-F238E27FC236}">
                  <a16:creationId xmlns:a16="http://schemas.microsoft.com/office/drawing/2014/main" id="{1703C57F-BCB9-4620-A6F4-79D05FB37DBC}"/>
                </a:ext>
              </a:extLst>
            </p:cNvPr>
            <p:cNvCxnSpPr/>
            <p:nvPr/>
          </p:nvCxnSpPr>
          <p:spPr>
            <a:xfrm>
              <a:off x="3016788" y="5033360"/>
              <a:ext cx="0" cy="283464"/>
            </a:xfrm>
            <a:prstGeom prst="line">
              <a:avLst/>
            </a:prstGeom>
            <a:ln w="9525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3">
              <a:extLst>
                <a:ext uri="{FF2B5EF4-FFF2-40B4-BE49-F238E27FC236}">
                  <a16:creationId xmlns:a16="http://schemas.microsoft.com/office/drawing/2014/main" id="{985927D5-ED2E-4BDE-A503-677098062AE7}"/>
                </a:ext>
              </a:extLst>
            </p:cNvPr>
            <p:cNvSpPr txBox="1"/>
            <p:nvPr/>
          </p:nvSpPr>
          <p:spPr>
            <a:xfrm>
              <a:off x="3108228" y="5088224"/>
              <a:ext cx="502920" cy="1077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500" b="0" i="0">
                  <a:solidFill>
                    <a:srgbClr val="000000"/>
                  </a:solidFill>
                  <a:latin typeface="Arial"/>
                </a:defRPr>
              </a:pPr>
              <a:r>
                <a:rPr sz="700"/>
                <a:t>execute</a:t>
              </a:r>
            </a:p>
          </p:txBody>
        </p:sp>
        <p:cxnSp>
          <p:nvCxnSpPr>
            <p:cNvPr id="26" name="Connector 24">
              <a:extLst>
                <a:ext uri="{FF2B5EF4-FFF2-40B4-BE49-F238E27FC236}">
                  <a16:creationId xmlns:a16="http://schemas.microsoft.com/office/drawing/2014/main" id="{78A5B2A6-C579-4D08-B629-DE035DAC0A7D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3565428" y="4870152"/>
              <a:ext cx="533400" cy="602120"/>
            </a:xfrm>
            <a:prstGeom prst="line">
              <a:avLst/>
            </a:prstGeom>
            <a:ln w="9525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5">
              <a:extLst>
                <a:ext uri="{FF2B5EF4-FFF2-40B4-BE49-F238E27FC236}">
                  <a16:creationId xmlns:a16="http://schemas.microsoft.com/office/drawing/2014/main" id="{ABB1B739-6294-4FB0-8E79-612E2C152C48}"/>
                </a:ext>
              </a:extLst>
            </p:cNvPr>
            <p:cNvSpPr txBox="1"/>
            <p:nvPr/>
          </p:nvSpPr>
          <p:spPr>
            <a:xfrm>
              <a:off x="3554001" y="5074508"/>
              <a:ext cx="502920" cy="1077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500" b="0" i="0">
                  <a:solidFill>
                    <a:srgbClr val="000000"/>
                  </a:solidFill>
                  <a:latin typeface="Arial"/>
                </a:defRPr>
              </a:pPr>
              <a:r>
                <a:rPr sz="700" dirty="0"/>
                <a:t>execute</a:t>
              </a:r>
            </a:p>
          </p:txBody>
        </p:sp>
        <p:cxnSp>
          <p:nvCxnSpPr>
            <p:cNvPr id="28" name="Connector 26">
              <a:extLst>
                <a:ext uri="{FF2B5EF4-FFF2-40B4-BE49-F238E27FC236}">
                  <a16:creationId xmlns:a16="http://schemas.microsoft.com/office/drawing/2014/main" id="{B5E2E934-75F5-46CE-BC6C-E3391359CA45}"/>
                </a:ext>
              </a:extLst>
            </p:cNvPr>
            <p:cNvCxnSpPr>
              <a:cxnSpLocks/>
            </p:cNvCxnSpPr>
            <p:nvPr/>
          </p:nvCxnSpPr>
          <p:spPr>
            <a:xfrm>
              <a:off x="5235476" y="4847293"/>
              <a:ext cx="508905" cy="22859"/>
            </a:xfrm>
            <a:prstGeom prst="line">
              <a:avLst/>
            </a:prstGeom>
            <a:ln w="952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7">
              <a:extLst>
                <a:ext uri="{FF2B5EF4-FFF2-40B4-BE49-F238E27FC236}">
                  <a16:creationId xmlns:a16="http://schemas.microsoft.com/office/drawing/2014/main" id="{F1CDD901-5769-4F8F-85E5-0101C48B50AC}"/>
                </a:ext>
              </a:extLst>
            </p:cNvPr>
            <p:cNvSpPr txBox="1"/>
            <p:nvPr/>
          </p:nvSpPr>
          <p:spPr>
            <a:xfrm>
              <a:off x="5354491" y="4700080"/>
              <a:ext cx="502920" cy="1077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500" b="0" i="0">
                  <a:solidFill>
                    <a:srgbClr val="000000"/>
                  </a:solidFill>
                  <a:latin typeface="Arial"/>
                </a:defRPr>
              </a:pPr>
              <a:r>
                <a:rPr sz="700"/>
                <a:t>connect</a:t>
              </a:r>
            </a:p>
          </p:txBody>
        </p:sp>
        <p:cxnSp>
          <p:nvCxnSpPr>
            <p:cNvPr id="30" name="Connector 28">
              <a:extLst>
                <a:ext uri="{FF2B5EF4-FFF2-40B4-BE49-F238E27FC236}">
                  <a16:creationId xmlns:a16="http://schemas.microsoft.com/office/drawing/2014/main" id="{AA403BC0-B31E-4759-BB5F-B09A79AB0CCB}"/>
                </a:ext>
              </a:extLst>
            </p:cNvPr>
            <p:cNvCxnSpPr>
              <a:cxnSpLocks/>
            </p:cNvCxnSpPr>
            <p:nvPr/>
          </p:nvCxnSpPr>
          <p:spPr>
            <a:xfrm>
              <a:off x="4536978" y="5103325"/>
              <a:ext cx="0" cy="434338"/>
            </a:xfrm>
            <a:prstGeom prst="line">
              <a:avLst/>
            </a:prstGeom>
            <a:ln w="952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29">
              <a:extLst>
                <a:ext uri="{FF2B5EF4-FFF2-40B4-BE49-F238E27FC236}">
                  <a16:creationId xmlns:a16="http://schemas.microsoft.com/office/drawing/2014/main" id="{5E5B1E50-DB76-445A-9DE1-9C724B3218D7}"/>
                </a:ext>
              </a:extLst>
            </p:cNvPr>
            <p:cNvSpPr txBox="1"/>
            <p:nvPr/>
          </p:nvSpPr>
          <p:spPr>
            <a:xfrm>
              <a:off x="4308378" y="5217624"/>
              <a:ext cx="365760" cy="1077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500" b="0" i="0">
                  <a:solidFill>
                    <a:srgbClr val="000000"/>
                  </a:solidFill>
                  <a:latin typeface="Arial"/>
                </a:defRPr>
              </a:pPr>
              <a:r>
                <a:rPr sz="700"/>
                <a:t>write</a:t>
              </a:r>
            </a:p>
          </p:txBody>
        </p:sp>
        <p:cxnSp>
          <p:nvCxnSpPr>
            <p:cNvPr id="32" name="Connector 30">
              <a:extLst>
                <a:ext uri="{FF2B5EF4-FFF2-40B4-BE49-F238E27FC236}">
                  <a16:creationId xmlns:a16="http://schemas.microsoft.com/office/drawing/2014/main" id="{FA11ECFF-D24D-456E-BC5F-F3E9830BB7EA}"/>
                </a:ext>
              </a:extLst>
            </p:cNvPr>
            <p:cNvCxnSpPr>
              <a:cxnSpLocks/>
            </p:cNvCxnSpPr>
            <p:nvPr/>
          </p:nvCxnSpPr>
          <p:spPr>
            <a:xfrm>
              <a:off x="4948458" y="5103325"/>
              <a:ext cx="594359" cy="434338"/>
            </a:xfrm>
            <a:prstGeom prst="line">
              <a:avLst/>
            </a:prstGeom>
            <a:ln w="952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1">
              <a:extLst>
                <a:ext uri="{FF2B5EF4-FFF2-40B4-BE49-F238E27FC236}">
                  <a16:creationId xmlns:a16="http://schemas.microsoft.com/office/drawing/2014/main" id="{C01D417E-19B7-4112-875C-9DD7F8CE31BF}"/>
                </a:ext>
              </a:extLst>
            </p:cNvPr>
            <p:cNvSpPr txBox="1"/>
            <p:nvPr/>
          </p:nvSpPr>
          <p:spPr>
            <a:xfrm>
              <a:off x="5405658" y="5190192"/>
              <a:ext cx="502920" cy="1077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500" b="0" i="0">
                  <a:solidFill>
                    <a:srgbClr val="000000"/>
                  </a:solidFill>
                  <a:latin typeface="Arial"/>
                </a:defRPr>
              </a:pPr>
              <a:r>
                <a:rPr sz="700"/>
                <a:t>execute</a:t>
              </a:r>
            </a:p>
          </p:txBody>
        </p:sp>
        <p:cxnSp>
          <p:nvCxnSpPr>
            <p:cNvPr id="34" name="Connector 32">
              <a:extLst>
                <a:ext uri="{FF2B5EF4-FFF2-40B4-BE49-F238E27FC236}">
                  <a16:creationId xmlns:a16="http://schemas.microsoft.com/office/drawing/2014/main" id="{2DF2E9F3-A76F-44C7-9991-8DB7BBA32A64}"/>
                </a:ext>
              </a:extLst>
            </p:cNvPr>
            <p:cNvCxnSpPr>
              <a:cxnSpLocks/>
            </p:cNvCxnSpPr>
            <p:nvPr/>
          </p:nvCxnSpPr>
          <p:spPr>
            <a:xfrm>
              <a:off x="5987318" y="5693873"/>
              <a:ext cx="228600" cy="1"/>
            </a:xfrm>
            <a:prstGeom prst="line">
              <a:avLst/>
            </a:prstGeom>
            <a:ln w="952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3">
              <a:extLst>
                <a:ext uri="{FF2B5EF4-FFF2-40B4-BE49-F238E27FC236}">
                  <a16:creationId xmlns:a16="http://schemas.microsoft.com/office/drawing/2014/main" id="{7EBED677-C326-4CC0-8F74-129EEC8E5590}"/>
                </a:ext>
              </a:extLst>
            </p:cNvPr>
            <p:cNvSpPr txBox="1"/>
            <p:nvPr/>
          </p:nvSpPr>
          <p:spPr>
            <a:xfrm>
              <a:off x="6029228" y="5546808"/>
              <a:ext cx="320040" cy="1077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algn="l">
                <a:defRPr sz="500" b="0" i="0">
                  <a:solidFill>
                    <a:srgbClr val="000000"/>
                  </a:solidFill>
                  <a:latin typeface="Arial"/>
                </a:defRPr>
              </a:pPr>
              <a:r>
                <a:rPr sz="700" dirty="0"/>
                <a:t>read</a:t>
              </a:r>
            </a:p>
          </p:txBody>
        </p:sp>
        <p:cxnSp>
          <p:nvCxnSpPr>
            <p:cNvPr id="36" name="Connector 34">
              <a:extLst>
                <a:ext uri="{FF2B5EF4-FFF2-40B4-BE49-F238E27FC236}">
                  <a16:creationId xmlns:a16="http://schemas.microsoft.com/office/drawing/2014/main" id="{BB01848C-C2FB-4AD4-912D-9A85F7AC8552}"/>
                </a:ext>
              </a:extLst>
            </p:cNvPr>
            <p:cNvCxnSpPr/>
            <p:nvPr/>
          </p:nvCxnSpPr>
          <p:spPr>
            <a:xfrm flipH="1">
              <a:off x="4399818" y="5811984"/>
              <a:ext cx="914400" cy="548640"/>
            </a:xfrm>
            <a:prstGeom prst="line">
              <a:avLst/>
            </a:prstGeom>
            <a:ln w="952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5">
              <a:extLst>
                <a:ext uri="{FF2B5EF4-FFF2-40B4-BE49-F238E27FC236}">
                  <a16:creationId xmlns:a16="http://schemas.microsoft.com/office/drawing/2014/main" id="{9DF91CED-418F-4C3B-AA4B-51307FB6A742}"/>
                </a:ext>
              </a:extLst>
            </p:cNvPr>
            <p:cNvSpPr txBox="1"/>
            <p:nvPr/>
          </p:nvSpPr>
          <p:spPr>
            <a:xfrm>
              <a:off x="4445538" y="6087573"/>
              <a:ext cx="502920" cy="1077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500" b="0" i="0">
                  <a:solidFill>
                    <a:srgbClr val="000000"/>
                  </a:solidFill>
                  <a:latin typeface="Arial"/>
                </a:defRPr>
              </a:pPr>
              <a:r>
                <a:rPr sz="700"/>
                <a:t>execute</a:t>
              </a:r>
            </a:p>
          </p:txBody>
        </p:sp>
        <p:cxnSp>
          <p:nvCxnSpPr>
            <p:cNvPr id="38" name="Connector 36">
              <a:extLst>
                <a:ext uri="{FF2B5EF4-FFF2-40B4-BE49-F238E27FC236}">
                  <a16:creationId xmlns:a16="http://schemas.microsoft.com/office/drawing/2014/main" id="{291987B8-8E4B-4650-A9D0-C6BC41636E24}"/>
                </a:ext>
              </a:extLst>
            </p:cNvPr>
            <p:cNvCxnSpPr/>
            <p:nvPr/>
          </p:nvCxnSpPr>
          <p:spPr>
            <a:xfrm flipH="1">
              <a:off x="5085618" y="5811984"/>
              <a:ext cx="457199" cy="548640"/>
            </a:xfrm>
            <a:prstGeom prst="line">
              <a:avLst/>
            </a:prstGeom>
            <a:ln w="952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7">
              <a:extLst>
                <a:ext uri="{FF2B5EF4-FFF2-40B4-BE49-F238E27FC236}">
                  <a16:creationId xmlns:a16="http://schemas.microsoft.com/office/drawing/2014/main" id="{5874BD23-F98D-4E2F-B1A5-0A3027544756}"/>
                </a:ext>
              </a:extLst>
            </p:cNvPr>
            <p:cNvSpPr txBox="1"/>
            <p:nvPr/>
          </p:nvSpPr>
          <p:spPr>
            <a:xfrm>
              <a:off x="4984017" y="6113736"/>
              <a:ext cx="502920" cy="1077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500" b="0" i="0">
                  <a:solidFill>
                    <a:srgbClr val="000000"/>
                  </a:solidFill>
                  <a:latin typeface="Arial"/>
                </a:defRPr>
              </a:pPr>
              <a:r>
                <a:rPr sz="700"/>
                <a:t>execute</a:t>
              </a:r>
            </a:p>
          </p:txBody>
        </p:sp>
        <p:cxnSp>
          <p:nvCxnSpPr>
            <p:cNvPr id="40" name="Connector 38">
              <a:extLst>
                <a:ext uri="{FF2B5EF4-FFF2-40B4-BE49-F238E27FC236}">
                  <a16:creationId xmlns:a16="http://schemas.microsoft.com/office/drawing/2014/main" id="{F0EB290D-BD3E-4B02-8B96-E4DDBDF971C2}"/>
                </a:ext>
              </a:extLst>
            </p:cNvPr>
            <p:cNvCxnSpPr/>
            <p:nvPr/>
          </p:nvCxnSpPr>
          <p:spPr>
            <a:xfrm>
              <a:off x="5817138" y="5811984"/>
              <a:ext cx="182880" cy="548640"/>
            </a:xfrm>
            <a:prstGeom prst="line">
              <a:avLst/>
            </a:prstGeom>
            <a:ln w="952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39">
              <a:extLst>
                <a:ext uri="{FF2B5EF4-FFF2-40B4-BE49-F238E27FC236}">
                  <a16:creationId xmlns:a16="http://schemas.microsoft.com/office/drawing/2014/main" id="{B83AFBB1-E369-4118-8790-E06BF3D10047}"/>
                </a:ext>
              </a:extLst>
            </p:cNvPr>
            <p:cNvSpPr txBox="1"/>
            <p:nvPr/>
          </p:nvSpPr>
          <p:spPr>
            <a:xfrm>
              <a:off x="5977158" y="6113736"/>
              <a:ext cx="320040" cy="1077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500" b="0" i="0">
                  <a:solidFill>
                    <a:srgbClr val="000000"/>
                  </a:solidFill>
                  <a:latin typeface="Arial"/>
                </a:defRPr>
              </a:pPr>
              <a:r>
                <a:rPr sz="700"/>
                <a:t>write</a:t>
              </a:r>
            </a:p>
          </p:txBody>
        </p:sp>
        <p:cxnSp>
          <p:nvCxnSpPr>
            <p:cNvPr id="42" name="Connector 43">
              <a:extLst>
                <a:ext uri="{FF2B5EF4-FFF2-40B4-BE49-F238E27FC236}">
                  <a16:creationId xmlns:a16="http://schemas.microsoft.com/office/drawing/2014/main" id="{94D437A6-5A81-40C3-9CD3-C67747063765}"/>
                </a:ext>
              </a:extLst>
            </p:cNvPr>
            <p:cNvCxnSpPr>
              <a:cxnSpLocks/>
            </p:cNvCxnSpPr>
            <p:nvPr/>
          </p:nvCxnSpPr>
          <p:spPr>
            <a:xfrm>
              <a:off x="7367806" y="4884543"/>
              <a:ext cx="337822" cy="8890"/>
            </a:xfrm>
            <a:prstGeom prst="line">
              <a:avLst/>
            </a:prstGeom>
            <a:ln w="12700">
              <a:solidFill>
                <a:srgbClr val="006B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4">
              <a:extLst>
                <a:ext uri="{FF2B5EF4-FFF2-40B4-BE49-F238E27FC236}">
                  <a16:creationId xmlns:a16="http://schemas.microsoft.com/office/drawing/2014/main" id="{A5821542-40B3-4268-89BD-2E36583E3D87}"/>
                </a:ext>
              </a:extLst>
            </p:cNvPr>
            <p:cNvSpPr txBox="1"/>
            <p:nvPr/>
          </p:nvSpPr>
          <p:spPr>
            <a:xfrm>
              <a:off x="7748805" y="4831877"/>
              <a:ext cx="132588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800" b="1" i="0">
                  <a:solidFill>
                    <a:srgbClr val="CC5500"/>
                  </a:solidFill>
                  <a:latin typeface="Arial"/>
                </a:defRPr>
              </a:pPr>
              <a:r>
                <a:rPr dirty="0"/>
                <a:t>T1059.001  PowerShell</a:t>
              </a:r>
            </a:p>
          </p:txBody>
        </p:sp>
        <p:cxnSp>
          <p:nvCxnSpPr>
            <p:cNvPr id="44" name="Connector 46">
              <a:extLst>
                <a:ext uri="{FF2B5EF4-FFF2-40B4-BE49-F238E27FC236}">
                  <a16:creationId xmlns:a16="http://schemas.microsoft.com/office/drawing/2014/main" id="{CB6298C7-6066-4FF0-A26F-A3059828BBB1}"/>
                </a:ext>
              </a:extLst>
            </p:cNvPr>
            <p:cNvCxnSpPr>
              <a:cxnSpLocks/>
            </p:cNvCxnSpPr>
            <p:nvPr/>
          </p:nvCxnSpPr>
          <p:spPr>
            <a:xfrm>
              <a:off x="7247156" y="5600587"/>
              <a:ext cx="398782" cy="1536"/>
            </a:xfrm>
            <a:prstGeom prst="line">
              <a:avLst/>
            </a:prstGeom>
            <a:ln w="12700">
              <a:solidFill>
                <a:srgbClr val="006B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7">
              <a:extLst>
                <a:ext uri="{FF2B5EF4-FFF2-40B4-BE49-F238E27FC236}">
                  <a16:creationId xmlns:a16="http://schemas.microsoft.com/office/drawing/2014/main" id="{36E6D781-ED54-4612-969E-00577FC28BBC}"/>
                </a:ext>
              </a:extLst>
            </p:cNvPr>
            <p:cNvSpPr txBox="1"/>
            <p:nvPr/>
          </p:nvSpPr>
          <p:spPr>
            <a:xfrm>
              <a:off x="7720868" y="5542658"/>
              <a:ext cx="146304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800" b="1" i="0">
                  <a:solidFill>
                    <a:srgbClr val="CC5500"/>
                  </a:solidFill>
                  <a:latin typeface="Arial"/>
                </a:defRPr>
              </a:pPr>
              <a:r>
                <a:rPr dirty="0"/>
                <a:t>T1105  Ingress Tool Transfer</a:t>
              </a:r>
            </a:p>
          </p:txBody>
        </p:sp>
        <p:cxnSp>
          <p:nvCxnSpPr>
            <p:cNvPr id="46" name="Connector 49">
              <a:extLst>
                <a:ext uri="{FF2B5EF4-FFF2-40B4-BE49-F238E27FC236}">
                  <a16:creationId xmlns:a16="http://schemas.microsoft.com/office/drawing/2014/main" id="{877DB601-4D13-4159-A5BD-37EA92B9D612}"/>
                </a:ext>
              </a:extLst>
            </p:cNvPr>
            <p:cNvCxnSpPr>
              <a:cxnSpLocks/>
            </p:cNvCxnSpPr>
            <p:nvPr/>
          </p:nvCxnSpPr>
          <p:spPr>
            <a:xfrm>
              <a:off x="6640098" y="6516072"/>
              <a:ext cx="896619" cy="0"/>
            </a:xfrm>
            <a:prstGeom prst="line">
              <a:avLst/>
            </a:prstGeom>
            <a:ln w="12700">
              <a:solidFill>
                <a:srgbClr val="006B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50">
              <a:extLst>
                <a:ext uri="{FF2B5EF4-FFF2-40B4-BE49-F238E27FC236}">
                  <a16:creationId xmlns:a16="http://schemas.microsoft.com/office/drawing/2014/main" id="{59D610AA-6661-45FF-BD7F-0B7C75C3304E}"/>
                </a:ext>
              </a:extLst>
            </p:cNvPr>
            <p:cNvSpPr txBox="1"/>
            <p:nvPr/>
          </p:nvSpPr>
          <p:spPr>
            <a:xfrm>
              <a:off x="7645938" y="6456213"/>
              <a:ext cx="159639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800" b="1" i="0">
                  <a:solidFill>
                    <a:srgbClr val="CC5500"/>
                  </a:solidFill>
                  <a:latin typeface="Arial"/>
                </a:defRPr>
              </a:pPr>
              <a:r>
                <a:rPr dirty="0"/>
                <a:t>T1547.001  Registry Run Keys</a:t>
              </a:r>
            </a:p>
          </p:txBody>
        </p:sp>
        <p:sp>
          <p:nvSpPr>
            <p:cNvPr id="48" name="Rectangle 18">
              <a:extLst>
                <a:ext uri="{FF2B5EF4-FFF2-40B4-BE49-F238E27FC236}">
                  <a16:creationId xmlns:a16="http://schemas.microsoft.com/office/drawing/2014/main" id="{D8925AEE-77BC-466D-94ED-DD93706002A9}"/>
                </a:ext>
              </a:extLst>
            </p:cNvPr>
            <p:cNvSpPr/>
            <p:nvPr/>
          </p:nvSpPr>
          <p:spPr>
            <a:xfrm>
              <a:off x="4171218" y="5557219"/>
              <a:ext cx="777240" cy="2743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700" b="0">
                  <a:solidFill>
                    <a:srgbClr val="000000"/>
                  </a:solidFill>
                  <a:latin typeface="Arial"/>
                </a:defRPr>
              </a:pPr>
              <a:r>
                <a:rPr lang="en-US" dirty="0">
                  <a:solidFill>
                    <a:srgbClr val="C00000"/>
                  </a:solidFill>
                </a:rPr>
                <a:t>Loader.dll</a:t>
              </a:r>
              <a:endParaRPr dirty="0">
                <a:solidFill>
                  <a:srgbClr val="C00000"/>
                </a:solidFill>
              </a:endParaRPr>
            </a:p>
          </p:txBody>
        </p:sp>
        <p:sp>
          <p:nvSpPr>
            <p:cNvPr id="49" name="Rectangle 18">
              <a:extLst>
                <a:ext uri="{FF2B5EF4-FFF2-40B4-BE49-F238E27FC236}">
                  <a16:creationId xmlns:a16="http://schemas.microsoft.com/office/drawing/2014/main" id="{FEF2700E-BE07-43E7-AE74-E38A50E813A5}"/>
                </a:ext>
              </a:extLst>
            </p:cNvPr>
            <p:cNvSpPr/>
            <p:nvPr/>
          </p:nvSpPr>
          <p:spPr>
            <a:xfrm>
              <a:off x="5173249" y="5559253"/>
              <a:ext cx="777240" cy="2743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700" b="0">
                  <a:solidFill>
                    <a:srgbClr val="000000"/>
                  </a:solidFill>
                  <a:latin typeface="Arial"/>
                </a:defRPr>
              </a:pPr>
              <a:r>
                <a:rPr lang="en-US" dirty="0">
                  <a:solidFill>
                    <a:srgbClr val="C00000"/>
                  </a:solidFill>
                </a:rPr>
                <a:t>Rundll32.exe</a:t>
              </a:r>
              <a:endParaRPr dirty="0">
                <a:solidFill>
                  <a:srgbClr val="C00000"/>
                </a:solidFill>
              </a:endParaRPr>
            </a:p>
          </p:txBody>
        </p:sp>
        <p:sp>
          <p:nvSpPr>
            <p:cNvPr id="50" name="Rectangle 6">
              <a:extLst>
                <a:ext uri="{FF2B5EF4-FFF2-40B4-BE49-F238E27FC236}">
                  <a16:creationId xmlns:a16="http://schemas.microsoft.com/office/drawing/2014/main" id="{8CF71A8C-35E1-466C-86ED-E5B7B36DD5D2}"/>
                </a:ext>
              </a:extLst>
            </p:cNvPr>
            <p:cNvSpPr/>
            <p:nvPr/>
          </p:nvSpPr>
          <p:spPr>
            <a:xfrm>
              <a:off x="3818156" y="4523314"/>
              <a:ext cx="3525521" cy="2267574"/>
            </a:xfrm>
            <a:prstGeom prst="rect">
              <a:avLst/>
            </a:prstGeom>
            <a:noFill/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" name="Connector 49">
              <a:extLst>
                <a:ext uri="{FF2B5EF4-FFF2-40B4-BE49-F238E27FC236}">
                  <a16:creationId xmlns:a16="http://schemas.microsoft.com/office/drawing/2014/main" id="{CC8EC0CB-FBB1-4F9F-ACF0-ABD7AF2AAC87}"/>
                </a:ext>
              </a:extLst>
            </p:cNvPr>
            <p:cNvCxnSpPr>
              <a:cxnSpLocks/>
            </p:cNvCxnSpPr>
            <p:nvPr/>
          </p:nvCxnSpPr>
          <p:spPr>
            <a:xfrm>
              <a:off x="5451378" y="6278328"/>
              <a:ext cx="2085339" cy="12443"/>
            </a:xfrm>
            <a:prstGeom prst="line">
              <a:avLst/>
            </a:prstGeom>
            <a:ln w="12700">
              <a:solidFill>
                <a:srgbClr val="006B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0">
              <a:extLst>
                <a:ext uri="{FF2B5EF4-FFF2-40B4-BE49-F238E27FC236}">
                  <a16:creationId xmlns:a16="http://schemas.microsoft.com/office/drawing/2014/main" id="{7787360D-AFEC-4EBC-A76E-2982A84C4496}"/>
                </a:ext>
              </a:extLst>
            </p:cNvPr>
            <p:cNvSpPr txBox="1"/>
            <p:nvPr/>
          </p:nvSpPr>
          <p:spPr>
            <a:xfrm>
              <a:off x="7645938" y="6230912"/>
              <a:ext cx="1894840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defRPr sz="800" b="1" i="0">
                  <a:solidFill>
                    <a:srgbClr val="CC5500"/>
                  </a:solidFill>
                  <a:latin typeface="Arial"/>
                </a:defRPr>
              </a:pPr>
              <a:r>
                <a:rPr dirty="0"/>
                <a:t>T</a:t>
              </a:r>
              <a:r>
                <a:rPr lang="en-US" dirty="0"/>
                <a:t>1033</a:t>
              </a:r>
              <a:r>
                <a:rPr dirty="0"/>
                <a:t>  </a:t>
              </a:r>
              <a:r>
                <a:rPr lang="en-US" dirty="0"/>
                <a:t>System Owner/User Discovery</a:t>
              </a:r>
              <a:endParaRPr dirty="0"/>
            </a:p>
          </p:txBody>
        </p:sp>
        <p:sp>
          <p:nvSpPr>
            <p:cNvPr id="53" name="箭號: 向右 52">
              <a:extLst>
                <a:ext uri="{FF2B5EF4-FFF2-40B4-BE49-F238E27FC236}">
                  <a16:creationId xmlns:a16="http://schemas.microsoft.com/office/drawing/2014/main" id="{27F3AFFE-B00F-45B8-93C7-7A9E6DC7FB9B}"/>
                </a:ext>
              </a:extLst>
            </p:cNvPr>
            <p:cNvSpPr/>
            <p:nvPr/>
          </p:nvSpPr>
          <p:spPr>
            <a:xfrm>
              <a:off x="1955703" y="5357729"/>
              <a:ext cx="367033" cy="219907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矩形: 圓角 53">
              <a:extLst>
                <a:ext uri="{FF2B5EF4-FFF2-40B4-BE49-F238E27FC236}">
                  <a16:creationId xmlns:a16="http://schemas.microsoft.com/office/drawing/2014/main" id="{1AD6B09C-AF02-4C25-BCBF-68F2FDF6CBAC}"/>
                </a:ext>
              </a:extLst>
            </p:cNvPr>
            <p:cNvSpPr/>
            <p:nvPr/>
          </p:nvSpPr>
          <p:spPr>
            <a:xfrm>
              <a:off x="1218907" y="5120075"/>
              <a:ext cx="508196" cy="2845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5" name="矩形: 圓角 54">
              <a:extLst>
                <a:ext uri="{FF2B5EF4-FFF2-40B4-BE49-F238E27FC236}">
                  <a16:creationId xmlns:a16="http://schemas.microsoft.com/office/drawing/2014/main" id="{3FA8C05D-8CD2-4834-A036-FAB4EE2BAB0F}"/>
                </a:ext>
              </a:extLst>
            </p:cNvPr>
            <p:cNvSpPr/>
            <p:nvPr/>
          </p:nvSpPr>
          <p:spPr>
            <a:xfrm>
              <a:off x="1078080" y="5211954"/>
              <a:ext cx="508196" cy="2845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6" name="矩形: 圓角 55">
              <a:extLst>
                <a:ext uri="{FF2B5EF4-FFF2-40B4-BE49-F238E27FC236}">
                  <a16:creationId xmlns:a16="http://schemas.microsoft.com/office/drawing/2014/main" id="{90FF0D66-3E99-4182-A68C-616B9E4A541D}"/>
                </a:ext>
              </a:extLst>
            </p:cNvPr>
            <p:cNvSpPr/>
            <p:nvPr/>
          </p:nvSpPr>
          <p:spPr>
            <a:xfrm>
              <a:off x="964808" y="5316569"/>
              <a:ext cx="508196" cy="2845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7" name="矩形: 圓角 56">
              <a:extLst>
                <a:ext uri="{FF2B5EF4-FFF2-40B4-BE49-F238E27FC236}">
                  <a16:creationId xmlns:a16="http://schemas.microsoft.com/office/drawing/2014/main" id="{6C6A8165-9F9C-4897-8155-D1C53C30D4C5}"/>
                </a:ext>
              </a:extLst>
            </p:cNvPr>
            <p:cNvSpPr/>
            <p:nvPr/>
          </p:nvSpPr>
          <p:spPr>
            <a:xfrm>
              <a:off x="857480" y="5404594"/>
              <a:ext cx="508196" cy="2845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14">
              <a:extLst>
                <a:ext uri="{FF2B5EF4-FFF2-40B4-BE49-F238E27FC236}">
                  <a16:creationId xmlns:a16="http://schemas.microsoft.com/office/drawing/2014/main" id="{3610232A-311E-4FC7-88A6-020A6472A2CA}"/>
                </a:ext>
              </a:extLst>
            </p:cNvPr>
            <p:cNvSpPr/>
            <p:nvPr/>
          </p:nvSpPr>
          <p:spPr>
            <a:xfrm>
              <a:off x="2478069" y="5941270"/>
              <a:ext cx="277851" cy="2461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700" b="1">
                  <a:solidFill>
                    <a:srgbClr val="000000"/>
                  </a:solidFill>
                  <a:latin typeface="Arial"/>
                </a:defRPr>
              </a:pPr>
              <a:r>
                <a:rPr lang="en-US" dirty="0"/>
                <a:t>…</a:t>
              </a:r>
              <a:endParaRPr dirty="0"/>
            </a:p>
          </p:txBody>
        </p:sp>
        <p:cxnSp>
          <p:nvCxnSpPr>
            <p:cNvPr id="59" name="Connector 22">
              <a:extLst>
                <a:ext uri="{FF2B5EF4-FFF2-40B4-BE49-F238E27FC236}">
                  <a16:creationId xmlns:a16="http://schemas.microsoft.com/office/drawing/2014/main" id="{D817799B-939E-48CE-83EC-8CB67233F2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2205" y="5673512"/>
              <a:ext cx="216257" cy="204288"/>
            </a:xfrm>
            <a:prstGeom prst="line">
              <a:avLst/>
            </a:prstGeom>
            <a:ln w="9525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14">
              <a:extLst>
                <a:ext uri="{FF2B5EF4-FFF2-40B4-BE49-F238E27FC236}">
                  <a16:creationId xmlns:a16="http://schemas.microsoft.com/office/drawing/2014/main" id="{EFC96D9B-84B3-48A3-AFEB-7FC2F304F095}"/>
                </a:ext>
              </a:extLst>
            </p:cNvPr>
            <p:cNvSpPr/>
            <p:nvPr/>
          </p:nvSpPr>
          <p:spPr>
            <a:xfrm>
              <a:off x="2899760" y="5952545"/>
              <a:ext cx="277851" cy="2461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700" b="1">
                  <a:solidFill>
                    <a:srgbClr val="000000"/>
                  </a:solidFill>
                  <a:latin typeface="Arial"/>
                </a:defRPr>
              </a:pPr>
              <a:r>
                <a:rPr lang="en-US" dirty="0"/>
                <a:t>…</a:t>
              </a:r>
              <a:endParaRPr dirty="0"/>
            </a:p>
          </p:txBody>
        </p:sp>
        <p:cxnSp>
          <p:nvCxnSpPr>
            <p:cNvPr id="62" name="Connector 22">
              <a:extLst>
                <a:ext uri="{FF2B5EF4-FFF2-40B4-BE49-F238E27FC236}">
                  <a16:creationId xmlns:a16="http://schemas.microsoft.com/office/drawing/2014/main" id="{E67A6D7F-B0F8-455B-BE27-B1510A1389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6999" y="5673512"/>
              <a:ext cx="20185" cy="234207"/>
            </a:xfrm>
            <a:prstGeom prst="line">
              <a:avLst/>
            </a:prstGeom>
            <a:ln w="9525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14">
              <a:extLst>
                <a:ext uri="{FF2B5EF4-FFF2-40B4-BE49-F238E27FC236}">
                  <a16:creationId xmlns:a16="http://schemas.microsoft.com/office/drawing/2014/main" id="{0FF8C5F8-C4C2-48AC-86BA-1281B31A1895}"/>
                </a:ext>
              </a:extLst>
            </p:cNvPr>
            <p:cNvSpPr/>
            <p:nvPr/>
          </p:nvSpPr>
          <p:spPr>
            <a:xfrm>
              <a:off x="3325300" y="5952546"/>
              <a:ext cx="277851" cy="2461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8288" tIns="9144" rIns="18288" bIns="9144" rtlCol="0" anchor="ctr"/>
            <a:lstStyle/>
            <a:p>
              <a:pPr algn="ctr">
                <a:defRPr sz="700" b="1">
                  <a:solidFill>
                    <a:srgbClr val="000000"/>
                  </a:solidFill>
                  <a:latin typeface="Arial"/>
                </a:defRPr>
              </a:pPr>
              <a:r>
                <a:rPr lang="en-US" dirty="0"/>
                <a:t>…</a:t>
              </a:r>
              <a:endParaRPr dirty="0"/>
            </a:p>
          </p:txBody>
        </p:sp>
        <p:cxnSp>
          <p:nvCxnSpPr>
            <p:cNvPr id="64" name="Connector 22">
              <a:extLst>
                <a:ext uri="{FF2B5EF4-FFF2-40B4-BE49-F238E27FC236}">
                  <a16:creationId xmlns:a16="http://schemas.microsoft.com/office/drawing/2014/main" id="{73DEAFF9-167F-4081-9167-033F4B8B0E9D}"/>
                </a:ext>
              </a:extLst>
            </p:cNvPr>
            <p:cNvCxnSpPr>
              <a:cxnSpLocks/>
            </p:cNvCxnSpPr>
            <p:nvPr/>
          </p:nvCxnSpPr>
          <p:spPr>
            <a:xfrm>
              <a:off x="3287905" y="5685644"/>
              <a:ext cx="164634" cy="192156"/>
            </a:xfrm>
            <a:prstGeom prst="line">
              <a:avLst/>
            </a:prstGeom>
            <a:ln w="9525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301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Background - Large Language Model (LLM)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lang="en-US" altLang="zh-TW" sz="2400" dirty="0">
                <a:latin typeface="Times New Roman"/>
              </a:rPr>
              <a:t>What is LLM?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AI model trained on vast text datasets for language understanding and generation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Built on Transformer architecture with long-range context modeling</a:t>
            </a:r>
          </a:p>
          <a:p>
            <a:pPr>
              <a:spcBef>
                <a:spcPts val="800"/>
              </a:spcBef>
            </a:pPr>
            <a:r>
              <a:rPr lang="en-US" altLang="zh-TW" sz="2400" dirty="0">
                <a:latin typeface="Times New Roman"/>
              </a:rPr>
              <a:t>Why LLM?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Understands complex intent without explicit pre-programmed rules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Acts as reasoning engine: decomposes tasks, makes decisions, uses tools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MITRE ATT&amp;CK knowledge embedded in training data</a:t>
            </a:r>
          </a:p>
          <a:p>
            <a:pPr>
              <a:spcBef>
                <a:spcPts val="800"/>
              </a:spcBef>
            </a:pPr>
            <a:r>
              <a:rPr lang="en-US" altLang="zh-TW" sz="2400" dirty="0">
                <a:latin typeface="Times New Roman"/>
              </a:rPr>
              <a:t>Relevance to Our Approach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Analyzes filtered logs to detect MITRE ATT&amp;CK techniques</a:t>
            </a:r>
          </a:p>
          <a:p>
            <a:pPr lvl="1">
              <a:spcBef>
                <a:spcPts val="200"/>
              </a:spcBef>
            </a:pPr>
            <a:r>
              <a:rPr lang="en-US" altLang="zh-TW" sz="2000" dirty="0">
                <a:latin typeface="Times New Roman"/>
              </a:rPr>
              <a:t>Completes partial attack lifecycles through iterative detection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277DB5-E425-4786-BEF6-E2F31441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942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+mj-lt"/>
              </a:rPr>
              <a:t>Related Works</a:t>
            </a:r>
            <a:endParaRPr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35AB10C-3A76-4D75-8BAC-E2C06C1937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6149284"/>
              </p:ext>
            </p:extLst>
          </p:nvPr>
        </p:nvGraphicFramePr>
        <p:xfrm>
          <a:off x="285225" y="1136001"/>
          <a:ext cx="11383867" cy="54328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092">
                  <a:extLst>
                    <a:ext uri="{9D8B030D-6E8A-4147-A177-3AD203B41FA5}">
                      <a16:colId xmlns:a16="http://schemas.microsoft.com/office/drawing/2014/main" val="958622541"/>
                    </a:ext>
                  </a:extLst>
                </a:gridCol>
                <a:gridCol w="626375">
                  <a:extLst>
                    <a:ext uri="{9D8B030D-6E8A-4147-A177-3AD203B41FA5}">
                      <a16:colId xmlns:a16="http://schemas.microsoft.com/office/drawing/2014/main" val="3474795354"/>
                    </a:ext>
                  </a:extLst>
                </a:gridCol>
                <a:gridCol w="800450">
                  <a:extLst>
                    <a:ext uri="{9D8B030D-6E8A-4147-A177-3AD203B41FA5}">
                      <a16:colId xmlns:a16="http://schemas.microsoft.com/office/drawing/2014/main" val="1311102610"/>
                    </a:ext>
                  </a:extLst>
                </a:gridCol>
                <a:gridCol w="800450">
                  <a:extLst>
                    <a:ext uri="{9D8B030D-6E8A-4147-A177-3AD203B41FA5}">
                      <a16:colId xmlns:a16="http://schemas.microsoft.com/office/drawing/2014/main" val="1155824012"/>
                    </a:ext>
                  </a:extLst>
                </a:gridCol>
                <a:gridCol w="800450">
                  <a:extLst>
                    <a:ext uri="{9D8B030D-6E8A-4147-A177-3AD203B41FA5}">
                      <a16:colId xmlns:a16="http://schemas.microsoft.com/office/drawing/2014/main" val="3033145034"/>
                    </a:ext>
                  </a:extLst>
                </a:gridCol>
                <a:gridCol w="741376">
                  <a:extLst>
                    <a:ext uri="{9D8B030D-6E8A-4147-A177-3AD203B41FA5}">
                      <a16:colId xmlns:a16="http://schemas.microsoft.com/office/drawing/2014/main" val="1397231704"/>
                    </a:ext>
                  </a:extLst>
                </a:gridCol>
                <a:gridCol w="741376">
                  <a:extLst>
                    <a:ext uri="{9D8B030D-6E8A-4147-A177-3AD203B41FA5}">
                      <a16:colId xmlns:a16="http://schemas.microsoft.com/office/drawing/2014/main" val="961440602"/>
                    </a:ext>
                  </a:extLst>
                </a:gridCol>
                <a:gridCol w="918598">
                  <a:extLst>
                    <a:ext uri="{9D8B030D-6E8A-4147-A177-3AD203B41FA5}">
                      <a16:colId xmlns:a16="http://schemas.microsoft.com/office/drawing/2014/main" val="1678203129"/>
                    </a:ext>
                  </a:extLst>
                </a:gridCol>
                <a:gridCol w="800450">
                  <a:extLst>
                    <a:ext uri="{9D8B030D-6E8A-4147-A177-3AD203B41FA5}">
                      <a16:colId xmlns:a16="http://schemas.microsoft.com/office/drawing/2014/main" val="1587646520"/>
                    </a:ext>
                  </a:extLst>
                </a:gridCol>
                <a:gridCol w="800450">
                  <a:extLst>
                    <a:ext uri="{9D8B030D-6E8A-4147-A177-3AD203B41FA5}">
                      <a16:colId xmlns:a16="http://schemas.microsoft.com/office/drawing/2014/main" val="1037382262"/>
                    </a:ext>
                  </a:extLst>
                </a:gridCol>
                <a:gridCol w="800450">
                  <a:extLst>
                    <a:ext uri="{9D8B030D-6E8A-4147-A177-3AD203B41FA5}">
                      <a16:colId xmlns:a16="http://schemas.microsoft.com/office/drawing/2014/main" val="3663287567"/>
                    </a:ext>
                  </a:extLst>
                </a:gridCol>
                <a:gridCol w="800450">
                  <a:extLst>
                    <a:ext uri="{9D8B030D-6E8A-4147-A177-3AD203B41FA5}">
                      <a16:colId xmlns:a16="http://schemas.microsoft.com/office/drawing/2014/main" val="2197001092"/>
                    </a:ext>
                  </a:extLst>
                </a:gridCol>
                <a:gridCol w="800450">
                  <a:extLst>
                    <a:ext uri="{9D8B030D-6E8A-4147-A177-3AD203B41FA5}">
                      <a16:colId xmlns:a16="http://schemas.microsoft.com/office/drawing/2014/main" val="3918489781"/>
                    </a:ext>
                  </a:extLst>
                </a:gridCol>
                <a:gridCol w="800450">
                  <a:extLst>
                    <a:ext uri="{9D8B030D-6E8A-4147-A177-3AD203B41FA5}">
                      <a16:colId xmlns:a16="http://schemas.microsoft.com/office/drawing/2014/main" val="1175341533"/>
                    </a:ext>
                  </a:extLst>
                </a:gridCol>
              </a:tblGrid>
              <a:tr h="327604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Paper</a:t>
                      </a:r>
                      <a:endParaRPr lang="zh-TW" altLang="en-US" sz="1200" b="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Year</a:t>
                      </a:r>
                      <a:endParaRPr lang="zh-TW" altLang="en-US" sz="1200" b="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Input</a:t>
                      </a:r>
                      <a:endParaRPr lang="zh-TW" altLang="en-US" sz="12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05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05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Output</a:t>
                      </a:r>
                      <a:endParaRPr lang="zh-TW" altLang="en-US" sz="12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dirty="0"/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Approach</a:t>
                      </a:r>
                      <a:endParaRPr lang="zh-TW" altLang="en-US" sz="12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667600"/>
                  </a:ext>
                </a:extLst>
              </a:tr>
              <a:tr h="49716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System Log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Network</a:t>
                      </a:r>
                    </a:p>
                    <a:p>
                      <a:pPr algn="ctr"/>
                      <a:r>
                        <a:rPr lang="en-US" altLang="zh-TW" sz="1200" b="0" dirty="0"/>
                        <a:t> Log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Alert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Alert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Tactic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Technique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Lifecycle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Causal</a:t>
                      </a:r>
                    </a:p>
                    <a:p>
                      <a:pPr algn="ctr"/>
                      <a:r>
                        <a:rPr lang="en-US" altLang="zh-TW" sz="1200" b="0" dirty="0"/>
                        <a:t>Graph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Rule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/>
                        <a:t>ML</a:t>
                      </a:r>
                      <a:endParaRPr lang="zh-TW" altLang="en-US" sz="12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/>
                        <a:t>DL</a:t>
                      </a:r>
                      <a:endParaRPr lang="zh-TW" altLang="en-US" sz="12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/>
                        <a:t>LLM</a:t>
                      </a:r>
                      <a:endParaRPr lang="zh-TW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669407"/>
                  </a:ext>
                </a:extLst>
              </a:tr>
              <a:tr h="512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POIROT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[12]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164560"/>
                  </a:ext>
                </a:extLst>
              </a:tr>
              <a:tr h="512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ANUBIS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[13]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261507"/>
                  </a:ext>
                </a:extLst>
              </a:tr>
              <a:tr h="512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Graph-Based APT [14]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172555"/>
                  </a:ext>
                </a:extLst>
              </a:tr>
              <a:tr h="512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SHIELD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[17]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8583661"/>
                  </a:ext>
                </a:extLst>
              </a:tr>
              <a:tr h="512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RADAR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[15]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634078"/>
                  </a:ext>
                </a:extLst>
              </a:tr>
              <a:tr h="512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Two-stage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[16]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8340"/>
                  </a:ext>
                </a:extLst>
              </a:tr>
              <a:tr h="512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SFM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[19]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086211"/>
                  </a:ext>
                </a:extLst>
              </a:tr>
              <a:tr h="512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LANCE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[18]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997255"/>
                  </a:ext>
                </a:extLst>
              </a:tr>
              <a:tr h="512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Ours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004744"/>
                  </a:ext>
                </a:extLst>
              </a:tr>
            </a:tbl>
          </a:graphicData>
        </a:graphic>
      </p:graphicFrame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39A3D35-448B-49A4-B889-B1D2699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1C16622-5B10-461E-922A-16B3E132CD6E}" type="slidenum">
              <a:rPr lang="zh-TW" altLang="en-US" smtClean="0"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3110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Issues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600"/>
              </a:spcBef>
            </a:pPr>
            <a:r>
              <a:rPr lang="en-US" altLang="zh-TW" sz="2400" dirty="0">
                <a:latin typeface="Times New Roman"/>
              </a:rPr>
              <a:t>Impact of Malicious Log Extraction: with vs. without</a:t>
            </a:r>
          </a:p>
          <a:p>
            <a:pPr lvl="1">
              <a:spcBef>
                <a:spcPts val="400"/>
              </a:spcBef>
            </a:pPr>
            <a:r>
              <a:rPr lang="en-US" altLang="zh-TW" sz="2000" dirty="0">
                <a:latin typeface="Times New Roman"/>
              </a:rPr>
              <a:t>How many logs we can reduce through Malicious Log Extraction?</a:t>
            </a:r>
          </a:p>
          <a:p>
            <a:pPr lvl="1">
              <a:spcBef>
                <a:spcPts val="400"/>
              </a:spcBef>
            </a:pPr>
            <a:r>
              <a:rPr lang="en-US" altLang="zh-TW" dirty="0">
                <a:latin typeface="Times New Roman"/>
              </a:rPr>
              <a:t>How precise is Malicious Log Extraction? Accuracy/Precision/Recall/F1 Score?</a:t>
            </a:r>
            <a:endParaRPr lang="en-US" altLang="zh-TW" sz="2000" dirty="0">
              <a:latin typeface="Times New Roman"/>
            </a:endParaRPr>
          </a:p>
          <a:p>
            <a:pPr lvl="1">
              <a:spcBef>
                <a:spcPts val="400"/>
              </a:spcBef>
            </a:pPr>
            <a:r>
              <a:rPr lang="en-US" altLang="zh-TW" sz="2000" dirty="0">
                <a:latin typeface="Times New Roman"/>
              </a:rPr>
              <a:t>Can LLM detect techniques more accurately on extracted logs?</a:t>
            </a:r>
          </a:p>
          <a:p>
            <a:pPr lvl="1">
              <a:spcBef>
                <a:spcPts val="400"/>
              </a:spcBef>
            </a:pPr>
            <a:endParaRPr lang="en-US" altLang="zh-TW" sz="2000" dirty="0">
              <a:latin typeface="Times New Roman"/>
            </a:endParaRPr>
          </a:p>
          <a:p>
            <a:pPr>
              <a:spcBef>
                <a:spcPts val="1600"/>
              </a:spcBef>
            </a:pPr>
            <a:r>
              <a:rPr lang="en-US" altLang="zh-TW" sz="2400" dirty="0">
                <a:latin typeface="Times New Roman"/>
              </a:rPr>
              <a:t>Lifecycle Completion: LLM vs. Others (ML, DL)</a:t>
            </a:r>
          </a:p>
          <a:p>
            <a:pPr lvl="1">
              <a:spcBef>
                <a:spcPts val="400"/>
              </a:spcBef>
            </a:pPr>
            <a:r>
              <a:rPr lang="en-US" altLang="zh-TW" sz="2000" dirty="0">
                <a:latin typeface="Times New Roman"/>
              </a:rPr>
              <a:t>How well can LLM do technique detection on extracted logs?</a:t>
            </a:r>
          </a:p>
          <a:p>
            <a:pPr lvl="1">
              <a:spcBef>
                <a:spcPts val="400"/>
              </a:spcBef>
            </a:pPr>
            <a:r>
              <a:rPr lang="en-US" altLang="zh-TW" sz="2000" dirty="0">
                <a:latin typeface="Times New Roman"/>
              </a:rPr>
              <a:t>How well can LLM do lifecycle completion on extracted logs?</a:t>
            </a:r>
          </a:p>
          <a:p>
            <a:pPr lvl="1">
              <a:spcBef>
                <a:spcPts val="400"/>
              </a:spcBef>
            </a:pPr>
            <a:r>
              <a:rPr lang="en-US" altLang="zh-TW" dirty="0">
                <a:latin typeface="Times New Roman"/>
              </a:rPr>
              <a:t>Does finetuned LLM outperform non-finetuned LLM?</a:t>
            </a:r>
            <a:endParaRPr lang="en-US" altLang="zh-TW" sz="2000" dirty="0">
              <a:latin typeface="Times New Roman"/>
            </a:endParaRPr>
          </a:p>
          <a:p>
            <a:pPr lvl="1">
              <a:spcBef>
                <a:spcPts val="400"/>
              </a:spcBef>
            </a:pPr>
            <a:r>
              <a:rPr lang="en-US" altLang="zh-TW" sz="2000" dirty="0">
                <a:latin typeface="Times New Roman"/>
              </a:rPr>
              <a:t>How much does LLM outperform other models?</a:t>
            </a:r>
          </a:p>
          <a:p>
            <a:pPr lvl="1">
              <a:spcBef>
                <a:spcPts val="400"/>
              </a:spcBef>
            </a:pPr>
            <a:endParaRPr lang="en-US" altLang="zh-TW" sz="2000" dirty="0">
              <a:latin typeface="Times New Roman"/>
            </a:endParaRPr>
          </a:p>
          <a:p>
            <a:pPr lvl="1">
              <a:spcBef>
                <a:spcPts val="400"/>
              </a:spcBef>
            </a:pPr>
            <a:endParaRPr lang="en-US" altLang="zh-TW" sz="2000" dirty="0">
              <a:latin typeface="Times New Roman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7D033D-8661-4692-8F5D-54D15F6E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7716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Notations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E51F21-DED2-423A-B244-FFC0A7BE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17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9">
                <a:extLst>
                  <a:ext uri="{FF2B5EF4-FFF2-40B4-BE49-F238E27FC236}">
                    <a16:creationId xmlns:a16="http://schemas.microsoft.com/office/drawing/2014/main" id="{3D1A2809-8AE8-44CE-A9C5-77DF0C30869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45975969"/>
                  </p:ext>
                </p:extLst>
              </p:nvPr>
            </p:nvGraphicFramePr>
            <p:xfrm>
              <a:off x="347749" y="1059339"/>
              <a:ext cx="10174841" cy="568447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63605">
                      <a:extLst>
                        <a:ext uri="{9D8B030D-6E8A-4147-A177-3AD203B41FA5}">
                          <a16:colId xmlns:a16="http://schemas.microsoft.com/office/drawing/2014/main" val="2969360968"/>
                        </a:ext>
                      </a:extLst>
                    </a:gridCol>
                    <a:gridCol w="3967629">
                      <a:extLst>
                        <a:ext uri="{9D8B030D-6E8A-4147-A177-3AD203B41FA5}">
                          <a16:colId xmlns:a16="http://schemas.microsoft.com/office/drawing/2014/main" val="1196944667"/>
                        </a:ext>
                      </a:extLst>
                    </a:gridCol>
                    <a:gridCol w="4843607">
                      <a:extLst>
                        <a:ext uri="{9D8B030D-6E8A-4147-A177-3AD203B41FA5}">
                          <a16:colId xmlns:a16="http://schemas.microsoft.com/office/drawing/2014/main" val="1278508766"/>
                        </a:ext>
                      </a:extLst>
                    </a:gridCol>
                  </a:tblGrid>
                  <a:tr h="263994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90000"/>
                            </a:lnSpc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Category</a:t>
                          </a:r>
                        </a:p>
                      </a:txBody>
                      <a:tcPr marL="90696" marR="90696" marT="45348" marB="4534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90000"/>
                            </a:lnSpc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Notation</a:t>
                          </a:r>
                        </a:p>
                      </a:txBody>
                      <a:tcPr marL="90696" marR="90696" marT="45348" marB="4534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90000"/>
                            </a:lnSpc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Description</a:t>
                          </a:r>
                        </a:p>
                      </a:txBody>
                      <a:tcPr marL="90696" marR="90696" marT="45348" marB="4534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50781333"/>
                      </a:ext>
                    </a:extLst>
                  </a:tr>
                  <a:tr h="263994">
                    <a:tc rowSpan="7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i="0" dirty="0">
                              <a:solidFill>
                                <a:schemeClr val="tx1"/>
                              </a:solidFill>
                            </a:rPr>
                            <a:t>Alerts &amp; Logs</a:t>
                          </a:r>
                          <a:endParaRPr lang="zh-TW" altLang="en-US" sz="1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 {</m:t>
                                </m:r>
                                <m:sSubSup>
                                  <m:sSub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400" dirty="0">
                                    <a:solidFill>
                                      <a:schemeClr val="tx1"/>
                                    </a:solidFill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Alert set from EDR (</a:t>
                          </a:r>
                          <a:r>
                            <a:rPr lang="en-US" altLang="zh-TW" sz="1400" b="0" i="0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Wazuh</a:t>
                          </a: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) / NDR (Suricata)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9735821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={</m:t>
                                </m:r>
                                <m:sSubSup>
                                  <m:sSub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400" dirty="0">
                                    <a:solidFill>
                                      <a:schemeClr val="tx1"/>
                                    </a:solidFill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Raw log set from all sources  (Sysmon, Suricata)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2905830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</m:acc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={</m:t>
                                </m:r>
                                <m:sSubSup>
                                  <m:sSub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1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400" dirty="0">
                                    <a:solidFill>
                                      <a:schemeClr val="tx1"/>
                                    </a:solidFill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Extracted malicious log set from all sources  (Sysmon, Suricata)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8246232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algn="l"/>
                          <a:endParaRPr sz="1400" b="0" i="1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/>
                                  <m:sup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TW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={</m:t>
                                </m:r>
                                <m:sSubSup>
                                  <m:sSub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400" dirty="0">
                                    <a:solidFill>
                                      <a:schemeClr val="tx1"/>
                                    </a:solidFill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Ground truth malicious log set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9732051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t-</a:t>
                          </a:r>
                          <a:r>
                            <a:rPr sz="1400" b="0" i="0" dirty="0" err="1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th</a:t>
                          </a:r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 time window  (t = 1, 2, …, T)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81232308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0" i="0" dirty="0" err="1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i-th</a:t>
                          </a:r>
                          <a:r>
                            <a:rPr lang="en-US"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 element in an alert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8412173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  <m:t>𝑠𝑒𝑣𝑒𝑟𝑖𝑡𝑦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/>
                            <a:t>Severity</a:t>
                          </a:r>
                          <a:r>
                            <a:rPr lang="en-US"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 level in an alert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6075018"/>
                      </a:ext>
                    </a:extLst>
                  </a:tr>
                  <a:tr h="263994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Attack Lifecycle &amp; Techniques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1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techᵢ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The </a:t>
                          </a:r>
                          <a:r>
                            <a:rPr sz="1400" b="0" i="0" dirty="0" err="1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i-th</a:t>
                          </a:r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 technique in the lifecycle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87237975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𝐿𝑖𝑓𝑒𝑐𝑦𝑐𝑙𝑒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𝑃𝑎𝑟𝑡𝑖𝑎𝑙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={</m:t>
                                </m:r>
                                <m:sSub>
                                  <m:sSub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𝑡𝑒𝑐h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𝑡𝑒𝑐h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𝑡𝑒𝑐h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Partial attack lifecycle from alerts </a:t>
                          </a:r>
                          <a:endParaRPr lang="zh-TW" altLang="en-US" sz="14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5090338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𝐿𝑖𝑓𝑒𝑐𝑦𝑐𝑙𝑒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𝐶𝑜𝑚𝑝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={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𝑡𝑒𝑐h</m:t>
                                        </m:r>
                                      </m:e>
                                      <m:sub>
                                        <m:r>
                                          <a:rPr lang="en-US" altLang="zh-TW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1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𝑡𝑒𝑐h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altLang="zh-TW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𝑡𝑒𝑐h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altLang="zh-TW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Completed attack lifecycle </a:t>
                          </a:r>
                          <a:endParaRPr lang="zh-TW" altLang="en-US" sz="14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09679010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𝐿𝑖𝑓𝑒𝑐𝑦𝑐𝑙𝑒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𝐺𝑇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={</m:t>
                                </m:r>
                                <m:sSubSup>
                                  <m:sSubSupPr>
                                    <m:ctrlP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𝑡𝑒𝑐h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𝑡𝑒𝑐h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Sup>
                                  <m:sSubSupPr>
                                    <m:ctrlP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𝑡𝑒𝑐h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altLang="zh-TW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Ground truth attack lifecycle </a:t>
                          </a:r>
                          <a:endParaRPr lang="zh-TW" altLang="en-US" sz="14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57077703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𝑀𝐼𝑇𝑅𝐸</m:t>
                                </m:r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MITRE ATT&amp;CK technique universe  (all known techniques)</a:t>
                          </a:r>
                          <a:endParaRPr lang="zh-TW" altLang="en-US" sz="14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86471736"/>
                      </a:ext>
                    </a:extLst>
                  </a:tr>
                  <a:tr h="263994">
                    <a:tc rowSpan="5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i="0" dirty="0">
                              <a:solidFill>
                                <a:schemeClr val="tx1"/>
                              </a:solidFill>
                            </a:rPr>
                            <a:t>Graph</a:t>
                          </a:r>
                          <a:endParaRPr lang="zh-TW" altLang="en-US" sz="1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Causal graph constructed from multi-source logs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0959270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algn="l"/>
                          <a:endParaRPr sz="1400" b="0" i="1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1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Node set  —  processes, files, IP sockets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6895614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algn="l"/>
                          <a:endParaRPr sz="1400" b="0" i="1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1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Directed edge set  —  causal events between nodes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2899075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/>
                                  <m:sup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altLang="zh-TW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/>
                                  <m:sup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Sup>
                                  <m:sSubSupPr>
                                    <m:ctrlP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/>
                                  <m:sup>
                                    <m:r>
                                      <a:rPr lang="en-US" altLang="zh-TW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altLang="zh-TW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Attack subgraph 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93718503"/>
                      </a:ext>
                    </a:extLst>
                  </a:tr>
                  <a:tr h="263994">
                    <a:tc vMerge="1">
                      <a:txBody>
                        <a:bodyPr/>
                        <a:lstStyle/>
                        <a:p>
                          <a:pPr algn="l"/>
                          <a:endParaRPr sz="1400" b="0" i="1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1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vₐ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Anchor node  —  IOC-matched entity from alerts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047510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9">
                <a:extLst>
                  <a:ext uri="{FF2B5EF4-FFF2-40B4-BE49-F238E27FC236}">
                    <a16:creationId xmlns:a16="http://schemas.microsoft.com/office/drawing/2014/main" id="{3D1A2809-8AE8-44CE-A9C5-77DF0C30869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45975969"/>
                  </p:ext>
                </p:extLst>
              </p:nvPr>
            </p:nvGraphicFramePr>
            <p:xfrm>
              <a:off x="347749" y="1059339"/>
              <a:ext cx="10174841" cy="568447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63605">
                      <a:extLst>
                        <a:ext uri="{9D8B030D-6E8A-4147-A177-3AD203B41FA5}">
                          <a16:colId xmlns:a16="http://schemas.microsoft.com/office/drawing/2014/main" val="2969360968"/>
                        </a:ext>
                      </a:extLst>
                    </a:gridCol>
                    <a:gridCol w="3967629">
                      <a:extLst>
                        <a:ext uri="{9D8B030D-6E8A-4147-A177-3AD203B41FA5}">
                          <a16:colId xmlns:a16="http://schemas.microsoft.com/office/drawing/2014/main" val="1196944667"/>
                        </a:ext>
                      </a:extLst>
                    </a:gridCol>
                    <a:gridCol w="4843607">
                      <a:extLst>
                        <a:ext uri="{9D8B030D-6E8A-4147-A177-3AD203B41FA5}">
                          <a16:colId xmlns:a16="http://schemas.microsoft.com/office/drawing/2014/main" val="1278508766"/>
                        </a:ext>
                      </a:extLst>
                    </a:gridCol>
                  </a:tblGrid>
                  <a:tr h="28272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90000"/>
                            </a:lnSpc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Category</a:t>
                          </a:r>
                        </a:p>
                      </a:txBody>
                      <a:tcPr marL="90696" marR="90696" marT="45348" marB="4534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90000"/>
                            </a:lnSpc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Notation</a:t>
                          </a:r>
                        </a:p>
                      </a:txBody>
                      <a:tcPr marL="90696" marR="90696" marT="45348" marB="4534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90000"/>
                            </a:lnSpc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Description</a:t>
                          </a:r>
                        </a:p>
                      </a:txBody>
                      <a:tcPr marL="90696" marR="90696" marT="45348" marB="4534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50781333"/>
                      </a:ext>
                    </a:extLst>
                  </a:tr>
                  <a:tr h="326644">
                    <a:tc rowSpan="7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i="0" dirty="0">
                              <a:solidFill>
                                <a:schemeClr val="tx1"/>
                              </a:solidFill>
                            </a:rPr>
                            <a:t>Alerts &amp; Logs</a:t>
                          </a:r>
                          <a:endParaRPr lang="zh-TW" altLang="en-US" sz="1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92593" r="-122427" b="-156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Alert set from EDR (</a:t>
                          </a:r>
                          <a:r>
                            <a:rPr lang="en-US" altLang="zh-TW" sz="1400" b="0" i="0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Wazuh</a:t>
                          </a: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) / NDR (Suricata)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9735821"/>
                      </a:ext>
                    </a:extLst>
                  </a:tr>
                  <a:tr h="326644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192593" r="-122427" b="-146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Raw log set from all sources  (Sysmon, Suricata)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2905830"/>
                      </a:ext>
                    </a:extLst>
                  </a:tr>
                  <a:tr h="326644">
                    <a:tc vMerge="1"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298113" r="-122427" b="-13905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Extracted malicious log set from all sources  (Sysmon, Suricata)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8246232"/>
                      </a:ext>
                    </a:extLst>
                  </a:tr>
                  <a:tr h="309499">
                    <a:tc vMerge="1">
                      <a:txBody>
                        <a:bodyPr/>
                        <a:lstStyle/>
                        <a:p>
                          <a:pPr algn="l"/>
                          <a:endParaRPr sz="1400" b="0" i="1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413725" r="-122427" b="-13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Ground truth malicious log set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9732051"/>
                      </a:ext>
                    </a:extLst>
                  </a:tr>
                  <a:tr h="325120">
                    <a:tc vMerge="1"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485185" r="-122427" b="-1170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t-</a:t>
                          </a:r>
                          <a:r>
                            <a:rPr sz="1400" b="0" i="0" dirty="0" err="1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th</a:t>
                          </a:r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 time window  (t = 1, 2, …, T)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81232308"/>
                      </a:ext>
                    </a:extLst>
                  </a:tr>
                  <a:tr h="305562"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632000" r="-122427" b="-116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0" i="0" dirty="0" err="1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i-th</a:t>
                          </a:r>
                          <a:r>
                            <a:rPr lang="en-US"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 element in an alert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8412173"/>
                      </a:ext>
                    </a:extLst>
                  </a:tr>
                  <a:tr h="323025"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690566" r="-122427" b="-998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/>
                            <a:t>Severity</a:t>
                          </a:r>
                          <a:r>
                            <a:rPr lang="en-US"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 level in an alert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6075018"/>
                      </a:ext>
                    </a:extLst>
                  </a:tr>
                  <a:tr h="304800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Attack Lifecycle &amp; Techniques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1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techᵢ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The </a:t>
                          </a:r>
                          <a:r>
                            <a:rPr sz="1400" b="0" i="0" dirty="0" err="1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i-th</a:t>
                          </a:r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 technique in the lifecycle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87237975"/>
                      </a:ext>
                    </a:extLst>
                  </a:tr>
                  <a:tr h="335217">
                    <a:tc vMerge="1"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852727" r="-122427" b="-77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Partial attack lifecycle from alerts </a:t>
                          </a:r>
                          <a:endParaRPr lang="zh-TW" altLang="en-US" sz="14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5090338"/>
                      </a:ext>
                    </a:extLst>
                  </a:tr>
                  <a:tr h="352425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903448" r="-122427" b="-6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Completed attack lifecycle </a:t>
                          </a:r>
                          <a:endParaRPr lang="zh-TW" altLang="en-US" sz="14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09679010"/>
                      </a:ext>
                    </a:extLst>
                  </a:tr>
                  <a:tr h="330518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1077778" r="-122427" b="-57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Ground truth attack lifecycle </a:t>
                          </a:r>
                          <a:endParaRPr lang="zh-TW" altLang="en-US" sz="14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57077703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1272000" r="-122427" b="-5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MITRE ATT&amp;CK technique universe  (all known techniques)</a:t>
                          </a:r>
                          <a:endParaRPr lang="zh-TW" altLang="en-US" sz="14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86471736"/>
                      </a:ext>
                    </a:extLst>
                  </a:tr>
                  <a:tr h="304800">
                    <a:tc rowSpan="5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i="0" dirty="0">
                              <a:solidFill>
                                <a:schemeClr val="tx1"/>
                              </a:solidFill>
                            </a:rPr>
                            <a:t>Graph</a:t>
                          </a:r>
                          <a:endParaRPr lang="zh-TW" altLang="en-US" sz="14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62" t="-1345098" r="-122427" b="-413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Causal graph constructed from multi-source logs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0959270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l"/>
                          <a:endParaRPr sz="1400" b="0" i="1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1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Node set  —  processes, files, IP sockets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6895614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l"/>
                          <a:endParaRPr sz="1400" b="0" i="1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1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Directed edge set  —  causal events between nodes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2899075"/>
                      </a:ext>
                    </a:extLst>
                  </a:tr>
                  <a:tr h="311658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562" t="-1641176" r="-122427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Attack subgraph 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93718503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l"/>
                          <a:endParaRPr sz="1400" b="0" i="1" dirty="0">
                            <a:solidFill>
                              <a:schemeClr val="tx1"/>
                            </a:solidFill>
                            <a:latin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1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vₐ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0" i="0" dirty="0">
                              <a:solidFill>
                                <a:schemeClr val="tx1"/>
                              </a:solidFill>
                              <a:latin typeface="Times New Roman"/>
                            </a:rPr>
                            <a:t>Anchor node  —  IOC-matched entity from alerts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047510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0958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lt"/>
              </a:rPr>
              <a:t>Problem Overview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Log Denoising:  </a:t>
            </a:r>
          </a:p>
          <a:p>
            <a:pPr lvl="1"/>
            <a:r>
              <a:rPr lang="en-US" altLang="zh-TW" dirty="0"/>
              <a:t>Task: Extracts malicious logs and filter out benign logs</a:t>
            </a:r>
          </a:p>
          <a:p>
            <a:pPr lvl="1"/>
            <a:r>
              <a:rPr lang="en-US" altLang="zh-TW" dirty="0"/>
              <a:t>Goal: Maximizes Recall Rate(RR), and also Minimize False Positive Rate(FPR)</a:t>
            </a:r>
          </a:p>
          <a:p>
            <a:r>
              <a:rPr lang="en-US" altLang="zh-TW" dirty="0"/>
              <a:t>Attack Lifecycle Completion:</a:t>
            </a:r>
          </a:p>
          <a:p>
            <a:pPr lvl="1"/>
            <a:r>
              <a:rPr lang="en-US" altLang="zh-TW" dirty="0"/>
              <a:t>Task: </a:t>
            </a:r>
            <a:r>
              <a:rPr lang="en-US" altLang="zh-TW" sz="2000" b="0" dirty="0">
                <a:latin typeface="Times New Roman"/>
              </a:rPr>
              <a:t>Detect missed techniques in partial lifecycle from correlated malicious logs </a:t>
            </a:r>
          </a:p>
          <a:p>
            <a:pPr lvl="1"/>
            <a:r>
              <a:rPr lang="en-US" altLang="zh-TW" dirty="0"/>
              <a:t>Goal: Maximize the F1-Score, and also Minimize the Edit Distance</a:t>
            </a:r>
          </a:p>
          <a:p>
            <a:endParaRPr lang="en-US" altLang="zh-TW" i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258466-626A-4A82-A6DD-309FC89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32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lt"/>
              </a:rPr>
              <a:t>Problem Statements – Log Denoising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69DD8B0-E60C-4CF0-8312-D6BAEBF7A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i="1" dirty="0"/>
                  <a:t>Input:</a:t>
                </a:r>
              </a:p>
              <a:p>
                <a:pPr lvl="1"/>
                <a:r>
                  <a:rPr lang="en-US" altLang="zh-TW" dirty="0"/>
                  <a:t>EDR/NDR alerts: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 {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</m:sSubSup>
                  </m:oMath>
                </a14:m>
                <a:r>
                  <a:rPr lang="en-US" altLang="zh-TW" dirty="0"/>
                  <a:t>} </a:t>
                </a:r>
              </a:p>
              <a:p>
                <a:pPr lvl="1"/>
                <a:r>
                  <a:rPr lang="en-US" altLang="zh-TW" dirty="0"/>
                  <a:t>Sysmon/Suricata logs: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={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</m:sSubSup>
                  </m:oMath>
                </a14:m>
                <a:r>
                  <a:rPr lang="en-US" altLang="zh-TW" dirty="0"/>
                  <a:t>} </a:t>
                </a:r>
              </a:p>
              <a:p>
                <a:r>
                  <a:rPr lang="en-US" altLang="zh-TW" i="1" dirty="0"/>
                  <a:t>Output:</a:t>
                </a:r>
              </a:p>
              <a:p>
                <a:pPr lvl="1"/>
                <a:r>
                  <a:rPr lang="en-US" altLang="zh-TW" dirty="0"/>
                  <a:t>Extracted malicious logs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US" altLang="zh-TW" i="1">
                        <a:latin typeface="Cambria Math" panose="02040503050406030204" pitchFamily="18" charset="0"/>
                      </a:rPr>
                      <m:t>={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</m:sSubSup>
                  </m:oMath>
                </a14:m>
                <a:r>
                  <a:rPr lang="en-US" altLang="zh-TW" dirty="0"/>
                  <a:t>} </a:t>
                </a:r>
              </a:p>
              <a:p>
                <a:r>
                  <a:rPr lang="en-US" altLang="zh-TW" i="1" dirty="0"/>
                  <a:t>Objective: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altLang="zh-TW" sz="2000" b="0" i="0" dirty="0">
                    <a:latin typeface="Times New Roman"/>
                  </a:rPr>
                  <a:t> Maximize recall rate: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𝑇𝑃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𝐹𝑁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acc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⋂</m:t>
                            </m:r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/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/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endParaRPr lang="en-US" altLang="zh-TW" sz="2000" b="0" i="0" dirty="0">
                  <a:latin typeface="Times New Roman"/>
                </a:endParaRPr>
              </a:p>
              <a:p>
                <a:pPr lvl="1">
                  <a:spcBef>
                    <a:spcPts val="400"/>
                  </a:spcBef>
                </a:pPr>
                <a:r>
                  <a:rPr lang="en-US" altLang="zh-TW" sz="2000" b="0" i="0" dirty="0">
                    <a:latin typeface="Times New Roman"/>
                  </a:rPr>
                  <a:t> Minimize false positive rate: FPR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acc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⋂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/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/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endParaRPr lang="en-US" altLang="zh-TW" sz="2000" b="0" i="0" dirty="0">
                  <a:latin typeface="Times New Roman"/>
                </a:endParaRPr>
              </a:p>
              <a:p>
                <a:r>
                  <a:rPr lang="en-US" altLang="zh-TW" i="1" dirty="0"/>
                  <a:t>Constraints: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TW" altLang="en-US" sz="2000" b="0" i="0" dirty="0">
                    <a:latin typeface="Times New Roman"/>
                  </a:rPr>
                  <a:t> </a:t>
                </a:r>
                <a:r>
                  <a:rPr lang="en-US" altLang="zh-TW" sz="2000" b="0" i="0" dirty="0">
                    <a:latin typeface="Times New Roman"/>
                  </a:rPr>
                  <a:t>(output must be a subset of raw logs)</a:t>
                </a:r>
              </a:p>
              <a:p>
                <a:pPr lvl="1"/>
                <a:endParaRPr lang="en-US" altLang="zh-TW" i="1" dirty="0"/>
              </a:p>
              <a:p>
                <a:pPr lvl="1"/>
                <a:endParaRPr lang="en-US" altLang="zh-TW" i="1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69DD8B0-E60C-4CF0-8312-D6BAEBF7A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258466-626A-4A82-A6DD-309FC89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1325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lt"/>
              </a:rPr>
              <a:t>Problem Statements – </a:t>
            </a:r>
            <a:r>
              <a:rPr lang="en-US" altLang="zh-TW" dirty="0"/>
              <a:t>Attack Lifecycle</a:t>
            </a:r>
            <a:r>
              <a:rPr lang="en-US" altLang="zh-TW" dirty="0">
                <a:latin typeface="+mj-lt"/>
              </a:rPr>
              <a:t> Completion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69DD8B0-E60C-4CF0-8312-D6BAEBF7A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i="1" dirty="0"/>
                  <a:t>Input:</a:t>
                </a:r>
              </a:p>
              <a:p>
                <a:pPr lvl="1"/>
                <a:r>
                  <a:rPr lang="en-US" altLang="zh-TW" dirty="0"/>
                  <a:t>Partial attack lifecycle: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𝐿𝑖𝑓𝑒𝑐𝑦𝑐𝑙𝑒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𝑃𝑎𝑟𝑡𝑖𝑎𝑙</m:t>
                        </m:r>
                      </m:sub>
                      <m:sup/>
                    </m:sSubSup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𝑡𝑒𝑐h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𝑡𝑒𝑐h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𝑡𝑒𝑐h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Extracted malicious logs: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={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</m:sSubSup>
                  </m:oMath>
                </a14:m>
                <a:r>
                  <a:rPr lang="en-US" altLang="zh-TW" dirty="0"/>
                  <a:t>} </a:t>
                </a:r>
              </a:p>
              <a:p>
                <a:r>
                  <a:rPr lang="en-US" altLang="zh-TW" i="1" dirty="0"/>
                  <a:t>Output:</a:t>
                </a:r>
              </a:p>
              <a:p>
                <a:pPr lvl="1"/>
                <a:r>
                  <a:rPr lang="en-US" altLang="zh-TW" dirty="0"/>
                  <a:t>Completed attack lifecycle: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𝐿𝑖𝑓𝑒𝑐𝑦𝑐𝑙𝑒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𝐶𝑜𝑚𝑝</m:t>
                        </m:r>
                      </m:sub>
                      <m:sup/>
                    </m:sSubSup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acc>
                      <m:accPr>
                        <m:chr m:val="̂"/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𝑡𝑒𝑐h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𝑡𝑒𝑐h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𝑡𝑒𝑐h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/>
              </a:p>
              <a:p>
                <a:r>
                  <a:rPr lang="en-US" altLang="zh-TW" i="1" dirty="0"/>
                  <a:t>Objective:</a:t>
                </a:r>
              </a:p>
              <a:p>
                <a:pPr lvl="1"/>
                <a:r>
                  <a:rPr lang="en-US" altLang="zh-TW" dirty="0"/>
                  <a:t>Maximize F1-Score: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𝑀𝑎𝑥𝑖𝑚𝑖𝑎𝑧𝑒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 </m:t>
                    </m:r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en-US" altLang="zh-TW" i="1" dirty="0"/>
              </a:p>
              <a:p>
                <a:pPr lvl="1"/>
                <a:r>
                  <a:rPr lang="en-US" altLang="zh-TW" dirty="0"/>
                  <a:t>Minimize Edit Distance: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𝑀𝑖𝑛𝑖𝑚𝑖𝑧𝑒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𝐸𝐷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𝐿𝑖𝑓𝑒𝑐𝑦𝑐𝑙𝑒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𝐶𝑜𝑚𝑝</m:t>
                        </m:r>
                      </m:sub>
                      <m:sup/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𝐿𝑖𝑓𝑒𝑐𝑦𝑐𝑙𝑒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𝐺𝑇</m:t>
                        </m:r>
                      </m:sub>
                      <m:sup/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i="1" dirty="0"/>
              </a:p>
              <a:p>
                <a:r>
                  <a:rPr lang="en-US" altLang="zh-TW" i="1" dirty="0"/>
                  <a:t>Constraints: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𝐿𝑖𝑓𝑒𝑐𝑦𝑐𝑙𝑒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𝑃𝑎𝑟𝑡𝑖𝑎𝑙</m:t>
                        </m:r>
                      </m:sub>
                      <m:sup/>
                    </m:sSub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𝑀𝐼𝑇𝑅𝐸</m:t>
                    </m:r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𝐿𝑖𝑓𝑒𝑐𝑦𝑐𝑙𝑒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𝐶𝑜𝑚𝑝</m:t>
                        </m:r>
                      </m:sub>
                      <m:sup/>
                    </m:sSub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𝑀𝐼𝑇𝑅𝐸</m:t>
                    </m:r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𝐿𝑖𝑓𝑒𝑐𝑦𝑐𝑙𝑒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𝑃𝑎𝑟𝑡𝑖𝑎𝑙</m:t>
                        </m:r>
                      </m:sub>
                      <m:sup/>
                    </m:sSub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𝐿𝑖𝑓𝑒𝑐𝑦𝑐𝑙𝑒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𝐶𝑜𝑚𝑝</m:t>
                        </m:r>
                      </m:sub>
                      <m:sup/>
                    </m:sSubSup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69DD8B0-E60C-4CF0-8312-D6BAEBF7A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258466-626A-4A82-A6DD-309FC89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854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246"/>
            <a:ext cx="10515600" cy="5137267"/>
          </a:xfrm>
        </p:spPr>
        <p:txBody>
          <a:bodyPr numCol="2">
            <a:normAutofit fontScale="92500" lnSpcReduction="20000"/>
          </a:bodyPr>
          <a:lstStyle/>
          <a:p>
            <a:r>
              <a:rPr lang="en-US" altLang="zh-TW" dirty="0"/>
              <a:t>Motivation</a:t>
            </a:r>
          </a:p>
          <a:p>
            <a:r>
              <a:rPr lang="en-US" altLang="zh-TW" dirty="0"/>
              <a:t>Background</a:t>
            </a:r>
          </a:p>
          <a:p>
            <a:pPr lvl="1"/>
            <a:r>
              <a:rPr lang="en-US" altLang="zh-TW" dirty="0"/>
              <a:t>MITRE ATT&amp;CK Framework</a:t>
            </a:r>
          </a:p>
          <a:p>
            <a:pPr lvl="1"/>
            <a:r>
              <a:rPr lang="en-US" altLang="zh-TW" dirty="0"/>
              <a:t>Attack Lifecycle</a:t>
            </a:r>
          </a:p>
          <a:p>
            <a:pPr lvl="1"/>
            <a:r>
              <a:rPr lang="en-US" altLang="zh-TW" dirty="0"/>
              <a:t>Endpoint Detection and Response Alert</a:t>
            </a:r>
          </a:p>
          <a:p>
            <a:pPr lvl="1"/>
            <a:r>
              <a:rPr lang="en-US" altLang="zh-TW" dirty="0"/>
              <a:t>Network Detection and Response Alert</a:t>
            </a:r>
          </a:p>
          <a:p>
            <a:pPr lvl="1"/>
            <a:r>
              <a:rPr lang="en-US" altLang="zh-TW" dirty="0"/>
              <a:t>Sysmon log</a:t>
            </a:r>
          </a:p>
          <a:p>
            <a:pPr lvl="1"/>
            <a:r>
              <a:rPr lang="en-US" altLang="zh-TW" dirty="0"/>
              <a:t>Suricata log</a:t>
            </a:r>
          </a:p>
          <a:p>
            <a:pPr lvl="1"/>
            <a:r>
              <a:rPr lang="en-US" altLang="zh-TW" dirty="0"/>
              <a:t>Causal Graph</a:t>
            </a:r>
          </a:p>
          <a:p>
            <a:pPr lvl="1"/>
            <a:r>
              <a:rPr lang="en-US" altLang="zh-TW" dirty="0"/>
              <a:t>Large Language Model (LLM)</a:t>
            </a:r>
          </a:p>
          <a:p>
            <a:r>
              <a:rPr lang="en-US" altLang="zh-TW" dirty="0"/>
              <a:t>Related Works</a:t>
            </a:r>
          </a:p>
          <a:p>
            <a:r>
              <a:rPr lang="en-US" altLang="zh-TW" dirty="0"/>
              <a:t>Issues</a:t>
            </a:r>
          </a:p>
          <a:p>
            <a:r>
              <a:rPr lang="en-US" altLang="zh-TW" dirty="0"/>
              <a:t>Notations</a:t>
            </a:r>
          </a:p>
          <a:p>
            <a:r>
              <a:rPr lang="en-US" altLang="zh-TW" dirty="0"/>
              <a:t>Problem Statements</a:t>
            </a:r>
          </a:p>
          <a:p>
            <a:pPr lvl="1"/>
            <a:r>
              <a:rPr lang="en-US" altLang="zh-TW" dirty="0">
                <a:latin typeface="+mj-lt"/>
              </a:rPr>
              <a:t>Log Denoising</a:t>
            </a:r>
          </a:p>
          <a:p>
            <a:pPr lvl="1"/>
            <a:r>
              <a:rPr lang="en-US" altLang="zh-TW" dirty="0"/>
              <a:t>Attack Lifecycle</a:t>
            </a:r>
            <a:r>
              <a:rPr lang="en-US" altLang="zh-TW" dirty="0">
                <a:latin typeface="+mj-lt"/>
              </a:rPr>
              <a:t> Completion </a:t>
            </a:r>
          </a:p>
          <a:p>
            <a:r>
              <a:rPr lang="fr-FR" altLang="zh-TW" dirty="0"/>
              <a:t>Solutions</a:t>
            </a:r>
          </a:p>
          <a:p>
            <a:pPr lvl="1"/>
            <a:r>
              <a:rPr lang="fr-FR" altLang="zh-TW" dirty="0"/>
              <a:t>Graph-based Malicious Log Extraction</a:t>
            </a:r>
          </a:p>
          <a:p>
            <a:pPr lvl="2"/>
            <a:r>
              <a:rPr lang="en-US" altLang="zh-TW" dirty="0"/>
              <a:t>Log2Graph</a:t>
            </a:r>
          </a:p>
          <a:p>
            <a:pPr lvl="2"/>
            <a:r>
              <a:rPr lang="en-US" altLang="zh-TW" dirty="0"/>
              <a:t>Attack Subgraph Search </a:t>
            </a:r>
          </a:p>
          <a:p>
            <a:pPr lvl="2"/>
            <a:r>
              <a:rPr lang="en-US" altLang="zh-TW" dirty="0"/>
              <a:t>Graph2Log</a:t>
            </a:r>
          </a:p>
          <a:p>
            <a:pPr lvl="1"/>
            <a:r>
              <a:rPr lang="fr-FR" altLang="zh-TW" dirty="0"/>
              <a:t>LLM-Driven Lifecycle Completion </a:t>
            </a:r>
          </a:p>
          <a:p>
            <a:pPr lvl="2"/>
            <a:r>
              <a:rPr lang="fr-FR" altLang="zh-TW" dirty="0"/>
              <a:t>Single-Technique Detection</a:t>
            </a:r>
          </a:p>
          <a:p>
            <a:pPr lvl="2"/>
            <a:r>
              <a:rPr lang="fr-FR" altLang="zh-TW" dirty="0"/>
              <a:t>Lifecycle Completion</a:t>
            </a:r>
          </a:p>
          <a:p>
            <a:r>
              <a:rPr lang="fr-FR" altLang="zh-TW" dirty="0"/>
              <a:t>Implementation</a:t>
            </a:r>
          </a:p>
          <a:p>
            <a:r>
              <a:rPr lang="fr-FR" altLang="zh-TW" dirty="0"/>
              <a:t>Evaluation</a:t>
            </a:r>
          </a:p>
          <a:p>
            <a:pPr lvl="1"/>
            <a:r>
              <a:rPr lang="en-US" altLang="zh-TW" dirty="0"/>
              <a:t>Set-based Evaluation</a:t>
            </a:r>
          </a:p>
          <a:p>
            <a:pPr lvl="1"/>
            <a:r>
              <a:rPr lang="en-US" altLang="zh-TW" dirty="0"/>
              <a:t>Sequence-based Evaluation</a:t>
            </a:r>
            <a:endParaRPr lang="fr-FR" altLang="zh-TW" dirty="0"/>
          </a:p>
          <a:p>
            <a:r>
              <a:rPr lang="fr-FR" altLang="zh-TW" dirty="0"/>
              <a:t>Schedule</a:t>
            </a:r>
          </a:p>
          <a:p>
            <a:r>
              <a:rPr lang="fr-FR" altLang="zh-TW" dirty="0"/>
              <a:t>References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81698D20-58D4-40E6-8D53-C852AF36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818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4725DFE6-B6F0-4BE5-BCAA-DCD34F58A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964426"/>
            <a:ext cx="7203229" cy="29727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/>
              <a:t>Solution Overview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825"/>
            <a:ext cx="10515600" cy="2789881"/>
          </a:xfrm>
        </p:spPr>
        <p:txBody>
          <a:bodyPr>
            <a:normAutofit/>
          </a:bodyPr>
          <a:lstStyle/>
          <a:p>
            <a:r>
              <a:rPr lang="fr-FR" altLang="zh-TW" sz="2000" dirty="0"/>
              <a:t>Graph-based Malicious Log Extraction</a:t>
            </a:r>
            <a:r>
              <a:rPr lang="en-US" altLang="zh-TW" sz="2000" dirty="0"/>
              <a:t>: </a:t>
            </a:r>
          </a:p>
          <a:p>
            <a:pPr lvl="1"/>
            <a:r>
              <a:rPr lang="en-US" altLang="zh-TW" sz="1800" dirty="0"/>
              <a:t>Log2Graph – Converts logs into a causal graph</a:t>
            </a:r>
          </a:p>
          <a:p>
            <a:pPr lvl="1"/>
            <a:r>
              <a:rPr lang="en-US" altLang="zh-TW" sz="1800" dirty="0"/>
              <a:t>Attack Subgraph Search – Identifies attack-related nodes and edges on the causal graph</a:t>
            </a:r>
          </a:p>
          <a:p>
            <a:pPr lvl="1"/>
            <a:r>
              <a:rPr lang="en-US" altLang="zh-TW" sz="1800" dirty="0"/>
              <a:t>Graph2Log – Maps attack subgraph back to extracted malicious logs</a:t>
            </a:r>
          </a:p>
          <a:p>
            <a:r>
              <a:rPr lang="en-US" altLang="zh-TW" sz="2000" dirty="0"/>
              <a:t>LLM-Driven Lifecycle Completion:</a:t>
            </a:r>
          </a:p>
          <a:p>
            <a:pPr lvl="1"/>
            <a:r>
              <a:rPr lang="fr-FR" altLang="zh-TW" sz="1800" dirty="0"/>
              <a:t>Single-Technique Detection</a:t>
            </a:r>
            <a:r>
              <a:rPr lang="en-US" altLang="zh-TW" sz="1800" dirty="0"/>
              <a:t> – Iteratively detects a single technique from each log segment partitioned by time windows</a:t>
            </a:r>
            <a:endParaRPr lang="fr-FR" altLang="zh-TW" sz="1800" dirty="0"/>
          </a:p>
          <a:p>
            <a:pPr lvl="1"/>
            <a:r>
              <a:rPr lang="fr-FR" altLang="zh-TW" sz="1800" dirty="0"/>
              <a:t>Lifecycle Completion</a:t>
            </a:r>
            <a:r>
              <a:rPr lang="en-US" altLang="zh-TW" sz="1800" dirty="0"/>
              <a:t> – Performs deduplication on the output results from the previous module</a:t>
            </a:r>
            <a:endParaRPr lang="fr-FR" altLang="zh-TW" sz="1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D154FB-AA4D-4B4F-9DC2-559825DD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1C16622-5B10-461E-922A-16B3E132CD6E}" type="slidenum">
              <a:rPr lang="zh-TW" altLang="en-US" smtClean="0"/>
              <a:pPr/>
              <a:t>22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309D0ED-A5E8-4F69-A519-C6E6D3741E5D}"/>
                  </a:ext>
                </a:extLst>
              </p:cNvPr>
              <p:cNvSpPr txBox="1"/>
              <p:nvPr/>
            </p:nvSpPr>
            <p:spPr>
              <a:xfrm>
                <a:off x="4389371" y="5287945"/>
                <a:ext cx="1340309" cy="259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dirty="0"/>
                  <a:t>(2) Causal Graph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/>
                    </m:sSup>
                  </m:oMath>
                </a14:m>
                <a:endParaRPr lang="zh-TW" altLang="en-US" sz="10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309D0ED-A5E8-4F69-A519-C6E6D3741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371" y="5287945"/>
                <a:ext cx="1340309" cy="259366"/>
              </a:xfrm>
              <a:prstGeom prst="rect">
                <a:avLst/>
              </a:prstGeom>
              <a:blipFill>
                <a:blip r:embed="rId3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1AD321E-D4B0-4987-BF8D-9D90C2BF12FD}"/>
                  </a:ext>
                </a:extLst>
              </p:cNvPr>
              <p:cNvSpPr txBox="1"/>
              <p:nvPr/>
            </p:nvSpPr>
            <p:spPr>
              <a:xfrm>
                <a:off x="7461744" y="4729779"/>
                <a:ext cx="895013" cy="558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dirty="0"/>
                  <a:t>(4) Extracted Malicious Logs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endParaRPr lang="zh-TW" altLang="en-US" sz="10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1AD321E-D4B0-4987-BF8D-9D90C2BF1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744" y="4729779"/>
                <a:ext cx="895013" cy="558166"/>
              </a:xfrm>
              <a:prstGeom prst="rect">
                <a:avLst/>
              </a:prstGeom>
              <a:blipFill>
                <a:blip r:embed="rId4"/>
                <a:stretch>
                  <a:fillRect b="-54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DACA478-AD40-483F-B757-06347A8138B5}"/>
                  </a:ext>
                </a:extLst>
              </p:cNvPr>
              <p:cNvSpPr txBox="1"/>
              <p:nvPr/>
            </p:nvSpPr>
            <p:spPr>
              <a:xfrm>
                <a:off x="3771546" y="4722670"/>
                <a:ext cx="79623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dirty="0"/>
                  <a:t>(1)</a:t>
                </a:r>
                <a:r>
                  <a:rPr lang="zh-TW" altLang="en-US" sz="1000" dirty="0"/>
                  <a:t>  </a:t>
                </a:r>
                <a:r>
                  <a:rPr lang="en-US" altLang="zh-TW" sz="1000" dirty="0"/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000" b="0" i="0" smtClean="0">
                        <a:latin typeface="Cambria Math" panose="02040503050406030204" pitchFamily="18" charset="0"/>
                      </a:rPr>
                      <m:t>ogs</m:t>
                    </m:r>
                    <m:r>
                      <a:rPr lang="en-US" altLang="zh-TW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00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zh-TW" altLang="en-US" sz="1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DACA478-AD40-483F-B757-06347A813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546" y="4722670"/>
                <a:ext cx="796230" cy="246221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流程圖: 接點 25">
            <a:extLst>
              <a:ext uri="{FF2B5EF4-FFF2-40B4-BE49-F238E27FC236}">
                <a16:creationId xmlns:a16="http://schemas.microsoft.com/office/drawing/2014/main" id="{A40E7254-CC22-4424-934E-D68614579295}"/>
              </a:ext>
            </a:extLst>
          </p:cNvPr>
          <p:cNvSpPr/>
          <p:nvPr/>
        </p:nvSpPr>
        <p:spPr>
          <a:xfrm>
            <a:off x="4006592" y="4057657"/>
            <a:ext cx="50719" cy="5123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7AC8499-E5BB-4228-B7AC-128AE5E609BC}"/>
                  </a:ext>
                </a:extLst>
              </p:cNvPr>
              <p:cNvSpPr txBox="1"/>
              <p:nvPr/>
            </p:nvSpPr>
            <p:spPr>
              <a:xfrm>
                <a:off x="4475750" y="5829928"/>
                <a:ext cx="8910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dirty="0"/>
                  <a:t>(2)</a:t>
                </a:r>
                <a:r>
                  <a:rPr lang="zh-TW" altLang="en-US" sz="1000" dirty="0"/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000" b="0" i="0" smtClean="0">
                        <a:latin typeface="Cambria Math" panose="02040503050406030204" pitchFamily="18" charset="0"/>
                      </a:rPr>
                      <m:t>Alerts</m:t>
                    </m:r>
                    <m:r>
                      <a:rPr lang="en-US" altLang="zh-TW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zh-TW" altLang="en-US" sz="10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7AC8499-E5BB-4228-B7AC-128AE5E60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750" y="5829928"/>
                <a:ext cx="891098" cy="246221"/>
              </a:xfrm>
              <a:prstGeom prst="rect">
                <a:avLst/>
              </a:prstGeom>
              <a:blipFill>
                <a:blip r:embed="rId6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12B1A5A4-369C-47F1-8C9B-0DF4291D1249}"/>
                  </a:ext>
                </a:extLst>
              </p:cNvPr>
              <p:cNvSpPr txBox="1"/>
              <p:nvPr/>
            </p:nvSpPr>
            <p:spPr>
              <a:xfrm>
                <a:off x="6542352" y="5450806"/>
                <a:ext cx="8910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dirty="0"/>
                  <a:t>(3) Attack </a:t>
                </a:r>
              </a:p>
              <a:p>
                <a:r>
                  <a:rPr lang="en-US" altLang="zh-TW" sz="1000" dirty="0"/>
                  <a:t>Subgraph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TW" sz="1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zh-TW" altLang="en-US" sz="1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12B1A5A4-369C-47F1-8C9B-0DF4291D1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352" y="5450806"/>
                <a:ext cx="891098" cy="400110"/>
              </a:xfrm>
              <a:prstGeom prst="rect">
                <a:avLst/>
              </a:prstGeom>
              <a:blipFill>
                <a:blip r:embed="rId9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C1320CF-95E1-4B5C-A220-B5D419B067AD}"/>
                  </a:ext>
                </a:extLst>
              </p:cNvPr>
              <p:cNvSpPr txBox="1"/>
              <p:nvPr/>
            </p:nvSpPr>
            <p:spPr>
              <a:xfrm>
                <a:off x="5655366" y="5035133"/>
                <a:ext cx="79623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dirty="0"/>
                  <a:t>(3)</a:t>
                </a:r>
                <a:r>
                  <a:rPr lang="zh-TW" altLang="en-US" sz="1000" dirty="0"/>
                  <a:t>  </a:t>
                </a:r>
                <a:r>
                  <a:rPr lang="en-US" altLang="zh-TW" sz="1000" dirty="0"/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000" b="0" i="0" smtClean="0">
                        <a:latin typeface="Cambria Math" panose="02040503050406030204" pitchFamily="18" charset="0"/>
                      </a:rPr>
                      <m:t>ogs</m:t>
                    </m:r>
                    <m:r>
                      <a:rPr lang="en-US" altLang="zh-TW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00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zh-TW" altLang="en-US" sz="10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C1320CF-95E1-4B5C-A220-B5D419B06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366" y="5035133"/>
                <a:ext cx="796230" cy="246221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5E05B272-9812-4258-A5A5-E8F08BF3573D}"/>
              </a:ext>
            </a:extLst>
          </p:cNvPr>
          <p:cNvSpPr/>
          <p:nvPr/>
        </p:nvSpPr>
        <p:spPr>
          <a:xfrm>
            <a:off x="7947747" y="4081873"/>
            <a:ext cx="1117304" cy="383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90FC83-E60D-4B1D-BF1F-1CCF90320617}"/>
              </a:ext>
            </a:extLst>
          </p:cNvPr>
          <p:cNvSpPr/>
          <p:nvPr/>
        </p:nvSpPr>
        <p:spPr>
          <a:xfrm>
            <a:off x="7772937" y="6354320"/>
            <a:ext cx="1475801" cy="189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B3BAD4A-EAE9-459C-832E-5CD08E661745}"/>
                  </a:ext>
                </a:extLst>
              </p:cNvPr>
              <p:cNvSpPr txBox="1"/>
              <p:nvPr/>
            </p:nvSpPr>
            <p:spPr>
              <a:xfrm>
                <a:off x="8169712" y="4187389"/>
                <a:ext cx="1475801" cy="26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dirty="0"/>
                  <a:t>(4)</a:t>
                </a:r>
                <a:r>
                  <a:rPr lang="zh-TW" altLang="en-US" sz="1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US" altLang="zh-TW" sz="10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TW" sz="1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  <m:sup/>
                    </m:sSubSup>
                  </m:oMath>
                </a14:m>
                <a:endParaRPr lang="zh-TW" altLang="en-US" sz="1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B3BAD4A-EAE9-459C-832E-5CD08E661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712" y="4187389"/>
                <a:ext cx="1475801" cy="268215"/>
              </a:xfrm>
              <a:prstGeom prst="rect">
                <a:avLst/>
              </a:prstGeom>
              <a:blipFill>
                <a:blip r:embed="rId11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CEF92A0-B1FB-4F7E-8AAF-3ED509268FE1}"/>
                  </a:ext>
                </a:extLst>
              </p:cNvPr>
              <p:cNvSpPr txBox="1"/>
              <p:nvPr/>
            </p:nvSpPr>
            <p:spPr>
              <a:xfrm>
                <a:off x="8173782" y="6259415"/>
                <a:ext cx="1475801" cy="263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dirty="0"/>
                  <a:t>(5)</a:t>
                </a:r>
                <a:r>
                  <a:rPr lang="zh-TW" altLang="en-US" sz="1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US" altLang="zh-TW" sz="10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TW" sz="1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/>
                    </m:sSubSup>
                  </m:oMath>
                </a14:m>
                <a:endParaRPr lang="zh-TW" altLang="en-US" sz="10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CEF92A0-B1FB-4F7E-8AAF-3ED509268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782" y="6259415"/>
                <a:ext cx="1475801" cy="263918"/>
              </a:xfrm>
              <a:prstGeom prst="rect">
                <a:avLst/>
              </a:prstGeom>
              <a:blipFill>
                <a:blip r:embed="rId12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393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 dirty="0"/>
              <a:t>Solution – Graph-based Malicious Log Extraction:  Log2Graph (1/2)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DC7E38E-D4D7-46C1-8502-37CA37242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Function: </a:t>
            </a:r>
          </a:p>
          <a:p>
            <a:pPr lvl="1"/>
            <a:r>
              <a:rPr lang="en-US" altLang="zh-TW" dirty="0"/>
              <a:t>Converts logs into a causal graph</a:t>
            </a:r>
          </a:p>
          <a:p>
            <a:pPr lvl="1"/>
            <a:r>
              <a:rPr lang="en-US" altLang="zh-TW" dirty="0"/>
              <a:t>Nodes: represent system entities recorded in logs (Process, File, IP)</a:t>
            </a:r>
          </a:p>
          <a:p>
            <a:pPr lvl="1"/>
            <a:r>
              <a:rPr lang="en-US" altLang="zh-TW" dirty="0"/>
              <a:t>Edges: represent causal interaction events between entities (</a:t>
            </a:r>
            <a:r>
              <a:rPr lang="en-US" altLang="zh-TW" dirty="0" err="1"/>
              <a:t>ProcessCreate</a:t>
            </a:r>
            <a:r>
              <a:rPr lang="en-US" altLang="zh-TW" dirty="0"/>
              <a:t>, </a:t>
            </a:r>
            <a:r>
              <a:rPr lang="en-US" altLang="zh-TW" dirty="0" err="1"/>
              <a:t>FileWrite</a:t>
            </a:r>
            <a:r>
              <a:rPr lang="en-US" altLang="zh-TW" dirty="0"/>
              <a:t>, etc.)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23</a:t>
            </a:fld>
            <a:endParaRPr lang="zh-TW" altLang="en-US" dirty="0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B85FCAB4-8DEB-46DF-A221-A254701133DE}"/>
              </a:ext>
            </a:extLst>
          </p:cNvPr>
          <p:cNvGrpSpPr/>
          <p:nvPr/>
        </p:nvGrpSpPr>
        <p:grpSpPr>
          <a:xfrm>
            <a:off x="523918" y="3561040"/>
            <a:ext cx="5802364" cy="2329063"/>
            <a:chOff x="523918" y="3561040"/>
            <a:chExt cx="5802364" cy="2329063"/>
          </a:xfrm>
        </p:grpSpPr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CEAE08C9-5031-4B0A-B006-84B4D9B4120B}"/>
                </a:ext>
              </a:extLst>
            </p:cNvPr>
            <p:cNvSpPr txBox="1"/>
            <p:nvPr/>
          </p:nvSpPr>
          <p:spPr>
            <a:xfrm>
              <a:off x="1755681" y="5643882"/>
              <a:ext cx="23819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/>
                <a:t>Fig. An example of Sysmon Log</a:t>
              </a:r>
              <a:endParaRPr lang="zh-TW" altLang="en-US" sz="1000" dirty="0"/>
            </a:p>
          </p:txBody>
        </p:sp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29DC1DCC-B3D2-4496-A5E7-EDD4FA6E1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918" y="3561040"/>
              <a:ext cx="4429488" cy="2126696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B7D28C4-E8A3-473A-AE24-E67569AE577E}"/>
                </a:ext>
              </a:extLst>
            </p:cNvPr>
            <p:cNvSpPr/>
            <p:nvPr/>
          </p:nvSpPr>
          <p:spPr>
            <a:xfrm>
              <a:off x="637563" y="4049078"/>
              <a:ext cx="4315843" cy="9144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4A1F585-0B41-4161-BEED-D112301910A8}"/>
                </a:ext>
              </a:extLst>
            </p:cNvPr>
            <p:cNvSpPr/>
            <p:nvPr/>
          </p:nvSpPr>
          <p:spPr>
            <a:xfrm>
              <a:off x="637562" y="4968599"/>
              <a:ext cx="4315843" cy="589239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E5610C5-5D42-4FA4-A3C1-C50D00B5E7A6}"/>
                </a:ext>
              </a:extLst>
            </p:cNvPr>
            <p:cNvSpPr/>
            <p:nvPr/>
          </p:nvSpPr>
          <p:spPr>
            <a:xfrm>
              <a:off x="637562" y="3649979"/>
              <a:ext cx="4315843" cy="389215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78887608-C80B-46EA-8A37-16F7CCE2473A}"/>
                </a:ext>
              </a:extLst>
            </p:cNvPr>
            <p:cNvSpPr txBox="1"/>
            <p:nvPr/>
          </p:nvSpPr>
          <p:spPr>
            <a:xfrm>
              <a:off x="4959987" y="4316638"/>
              <a:ext cx="9677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/>
                <a:t>→ Node</a:t>
              </a:r>
            </a:p>
            <a:p>
              <a:r>
                <a:rPr lang="en-US" altLang="zh-TW" sz="1400" dirty="0"/>
                <a:t>(Process B)</a:t>
              </a:r>
              <a:endParaRPr lang="zh-TW" altLang="en-US" sz="1400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885A7BFA-8D8A-45CB-A16F-4D8734F5A1CB}"/>
                </a:ext>
              </a:extLst>
            </p:cNvPr>
            <p:cNvSpPr txBox="1"/>
            <p:nvPr/>
          </p:nvSpPr>
          <p:spPr>
            <a:xfrm>
              <a:off x="4959987" y="3600861"/>
              <a:ext cx="13662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/>
                <a:t>→ Edge</a:t>
              </a:r>
            </a:p>
            <a:p>
              <a:r>
                <a:rPr lang="en-US" altLang="zh-TW" sz="1400" dirty="0"/>
                <a:t>(</a:t>
              </a:r>
              <a:r>
                <a:rPr lang="en-US" altLang="zh-TW" sz="1400" dirty="0" err="1"/>
                <a:t>ProcessCreate</a:t>
              </a:r>
              <a:r>
                <a:rPr lang="en-US" altLang="zh-TW" sz="1400" dirty="0"/>
                <a:t>)</a:t>
              </a:r>
              <a:endParaRPr lang="zh-TW" altLang="en-US" sz="1400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E4159414-B75C-4C71-A983-AA1AF2DF4869}"/>
                </a:ext>
              </a:extLst>
            </p:cNvPr>
            <p:cNvSpPr txBox="1"/>
            <p:nvPr/>
          </p:nvSpPr>
          <p:spPr>
            <a:xfrm>
              <a:off x="4977666" y="5002187"/>
              <a:ext cx="9677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/>
                <a:t>→ Node</a:t>
              </a:r>
            </a:p>
            <a:p>
              <a:r>
                <a:rPr lang="en-US" altLang="zh-TW" sz="1400" dirty="0"/>
                <a:t>(Process A)</a:t>
              </a:r>
              <a:endParaRPr lang="zh-TW" altLang="en-US" sz="1400" dirty="0"/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9033A6F9-454B-426B-BFD8-221E216BDFFE}"/>
              </a:ext>
            </a:extLst>
          </p:cNvPr>
          <p:cNvGrpSpPr/>
          <p:nvPr/>
        </p:nvGrpSpPr>
        <p:grpSpPr>
          <a:xfrm>
            <a:off x="6476957" y="3561040"/>
            <a:ext cx="5191125" cy="2209800"/>
            <a:chOff x="6476957" y="3561040"/>
            <a:chExt cx="5191125" cy="2209800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96D2C18D-E40F-4D27-8B34-D6EC8EA9A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6957" y="3561040"/>
              <a:ext cx="5191125" cy="2209800"/>
            </a:xfrm>
            <a:prstGeom prst="rect">
              <a:avLst/>
            </a:prstGeom>
          </p:spPr>
        </p:pic>
        <p:sp>
          <p:nvSpPr>
            <p:cNvPr id="14" name="左大括弧 13">
              <a:extLst>
                <a:ext uri="{FF2B5EF4-FFF2-40B4-BE49-F238E27FC236}">
                  <a16:creationId xmlns:a16="http://schemas.microsoft.com/office/drawing/2014/main" id="{3F2C1FE6-9552-4DB4-9AC2-E669DE21678C}"/>
                </a:ext>
              </a:extLst>
            </p:cNvPr>
            <p:cNvSpPr/>
            <p:nvPr/>
          </p:nvSpPr>
          <p:spPr>
            <a:xfrm>
              <a:off x="6572320" y="4640878"/>
              <a:ext cx="144780" cy="646686"/>
            </a:xfrm>
            <a:prstGeom prst="leftBrac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左大括弧 14">
              <a:extLst>
                <a:ext uri="{FF2B5EF4-FFF2-40B4-BE49-F238E27FC236}">
                  <a16:creationId xmlns:a16="http://schemas.microsoft.com/office/drawing/2014/main" id="{441E8F39-CE9A-4BFB-8256-1E5C6F38216A}"/>
                </a:ext>
              </a:extLst>
            </p:cNvPr>
            <p:cNvSpPr/>
            <p:nvPr/>
          </p:nvSpPr>
          <p:spPr>
            <a:xfrm>
              <a:off x="8233480" y="4665940"/>
              <a:ext cx="144780" cy="646686"/>
            </a:xfrm>
            <a:prstGeom prst="leftBrac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左大括弧 15">
              <a:extLst>
                <a:ext uri="{FF2B5EF4-FFF2-40B4-BE49-F238E27FC236}">
                  <a16:creationId xmlns:a16="http://schemas.microsoft.com/office/drawing/2014/main" id="{CA1B271E-DB68-411D-839F-07CEEACAEEAE}"/>
                </a:ext>
              </a:extLst>
            </p:cNvPr>
            <p:cNvSpPr/>
            <p:nvPr/>
          </p:nvSpPr>
          <p:spPr>
            <a:xfrm>
              <a:off x="9913803" y="4699636"/>
              <a:ext cx="144780" cy="646686"/>
            </a:xfrm>
            <a:prstGeom prst="leftBrac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0DB63E4F-2A3F-411B-90B7-0E39AB108D5F}"/>
                </a:ext>
              </a:extLst>
            </p:cNvPr>
            <p:cNvSpPr txBox="1"/>
            <p:nvPr/>
          </p:nvSpPr>
          <p:spPr>
            <a:xfrm>
              <a:off x="8077270" y="5482270"/>
              <a:ext cx="2194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/>
                <a:t>Fig. An example of Causal Graph</a:t>
              </a:r>
              <a:endParaRPr lang="zh-TW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88390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 dirty="0"/>
              <a:t>Solution – Graph-based Malicious Log Extraction: Log2Graph (2/2)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DC7E38E-D4D7-46C1-8502-37CA37242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Formal Definitions of Nodes and Edges in the Causal Graph:</a:t>
            </a:r>
          </a:p>
          <a:p>
            <a:endParaRPr lang="en-US" altLang="zh-TW" sz="2000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A092A7FF-0CBD-4FEB-A00D-A7714C96C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492967"/>
              </p:ext>
            </p:extLst>
          </p:nvPr>
        </p:nvGraphicFramePr>
        <p:xfrm>
          <a:off x="539693" y="2591809"/>
          <a:ext cx="5604546" cy="367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1268">
                  <a:extLst>
                    <a:ext uri="{9D8B030D-6E8A-4147-A177-3AD203B41FA5}">
                      <a16:colId xmlns:a16="http://schemas.microsoft.com/office/drawing/2014/main" val="882112061"/>
                    </a:ext>
                  </a:extLst>
                </a:gridCol>
                <a:gridCol w="1258349">
                  <a:extLst>
                    <a:ext uri="{9D8B030D-6E8A-4147-A177-3AD203B41FA5}">
                      <a16:colId xmlns:a16="http://schemas.microsoft.com/office/drawing/2014/main" val="306060297"/>
                    </a:ext>
                  </a:extLst>
                </a:gridCol>
                <a:gridCol w="3254929">
                  <a:extLst>
                    <a:ext uri="{9D8B030D-6E8A-4147-A177-3AD203B41FA5}">
                      <a16:colId xmlns:a16="http://schemas.microsoft.com/office/drawing/2014/main" val="3979633192"/>
                    </a:ext>
                  </a:extLst>
                </a:gridCol>
              </a:tblGrid>
              <a:tr h="3722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Node Type</a:t>
                      </a:r>
                      <a:endParaRPr lang="zh-TW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Feature</a:t>
                      </a:r>
                      <a:endParaRPr lang="zh-TW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Description</a:t>
                      </a:r>
                      <a:endParaRPr lang="zh-TW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177460"/>
                  </a:ext>
                </a:extLst>
              </a:tr>
              <a:tr h="275439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Process</a:t>
                      </a:r>
                      <a:endParaRPr lang="zh-TW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Host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The device that this process run on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663529"/>
                  </a:ext>
                </a:extLst>
              </a:tr>
              <a:tr h="27543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User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The user that has this process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50787"/>
                  </a:ext>
                </a:extLst>
              </a:tr>
              <a:tr h="27543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/>
                        <a:t>ProcessGuid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The unique id of process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41312"/>
                  </a:ext>
                </a:extLst>
              </a:tr>
              <a:tr h="27543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/>
                        <a:t>CommandLine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The command that creates this process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572063"/>
                  </a:ext>
                </a:extLst>
              </a:tr>
              <a:tr h="27543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Image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The image that this process loads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041186"/>
                  </a:ext>
                </a:extLst>
              </a:tr>
              <a:tr h="275439">
                <a:tc vMerge="1"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Timestamp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The moment when this process was created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161602"/>
                  </a:ext>
                </a:extLst>
              </a:tr>
              <a:tr h="275439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File</a:t>
                      </a:r>
                      <a:endParaRPr lang="zh-TW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Host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The device that this file belongs to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402760"/>
                  </a:ext>
                </a:extLst>
              </a:tr>
              <a:tr h="27543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Filename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The full path of this file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402338"/>
                  </a:ext>
                </a:extLst>
              </a:tr>
              <a:tr h="275439">
                <a:tc vMerge="1">
                  <a:txBody>
                    <a:bodyPr/>
                    <a:lstStyle/>
                    <a:p>
                      <a:pPr algn="ctr"/>
                      <a:endParaRPr lang="zh-TW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Timestamp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The moment when this file was created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455365"/>
                  </a:ext>
                </a:extLst>
              </a:tr>
              <a:tr h="275439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IP</a:t>
                      </a:r>
                      <a:endParaRPr lang="zh-TW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Host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The device that this IP address belongs to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763332"/>
                  </a:ext>
                </a:extLst>
              </a:tr>
              <a:tr h="27543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IP address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133855"/>
                  </a:ext>
                </a:extLst>
              </a:tr>
              <a:tr h="27543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Port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909914"/>
                  </a:ext>
                </a:extLst>
              </a:tr>
            </a:tbl>
          </a:graphicData>
        </a:graphic>
      </p:graphicFrame>
      <p:graphicFrame>
        <p:nvGraphicFramePr>
          <p:cNvPr id="12" name="表格 6">
            <a:extLst>
              <a:ext uri="{FF2B5EF4-FFF2-40B4-BE49-F238E27FC236}">
                <a16:creationId xmlns:a16="http://schemas.microsoft.com/office/drawing/2014/main" id="{9A843651-9F8D-4B48-A77B-FDFFC78D1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872901"/>
              </p:ext>
            </p:extLst>
          </p:nvPr>
        </p:nvGraphicFramePr>
        <p:xfrm>
          <a:off x="6382756" y="2602358"/>
          <a:ext cx="5269551" cy="368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6517">
                  <a:extLst>
                    <a:ext uri="{9D8B030D-6E8A-4147-A177-3AD203B41FA5}">
                      <a16:colId xmlns:a16="http://schemas.microsoft.com/office/drawing/2014/main" val="523304644"/>
                    </a:ext>
                  </a:extLst>
                </a:gridCol>
                <a:gridCol w="1756517">
                  <a:extLst>
                    <a:ext uri="{9D8B030D-6E8A-4147-A177-3AD203B41FA5}">
                      <a16:colId xmlns:a16="http://schemas.microsoft.com/office/drawing/2014/main" val="4137030118"/>
                    </a:ext>
                  </a:extLst>
                </a:gridCol>
                <a:gridCol w="1756517">
                  <a:extLst>
                    <a:ext uri="{9D8B030D-6E8A-4147-A177-3AD203B41FA5}">
                      <a16:colId xmlns:a16="http://schemas.microsoft.com/office/drawing/2014/main" val="790115400"/>
                    </a:ext>
                  </a:extLst>
                </a:gridCol>
              </a:tblGrid>
              <a:tr h="316333"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Source Node Type</a:t>
                      </a:r>
                    </a:p>
                  </a:txBody>
                  <a:tcPr marL="114300" marR="11430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Edge</a:t>
                      </a:r>
                    </a:p>
                  </a:txBody>
                  <a:tcPr marL="114300" marR="114300" marT="76200" marB="76200" anchor="ctr"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Target Node Type</a:t>
                      </a:r>
                    </a:p>
                  </a:txBody>
                  <a:tcPr marL="114300" marR="11430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09515"/>
                  </a:ext>
                </a:extLst>
              </a:tr>
              <a:tr h="316333"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Process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ProcessCreate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+mn-lt"/>
                          <a:ea typeface="標楷體"/>
                          <a:cs typeface="+mn-cs"/>
                        </a:rPr>
                        <a:t>Process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9582116"/>
                  </a:ext>
                </a:extLst>
              </a:tr>
              <a:tr h="316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+mn-lt"/>
                          <a:ea typeface="標楷體"/>
                          <a:cs typeface="+mn-cs"/>
                        </a:rPr>
                        <a:t>Process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Process</a:t>
                      </a:r>
                      <a:r>
                        <a:rPr lang="en-US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Inject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+mn-lt"/>
                          <a:ea typeface="標楷體"/>
                          <a:cs typeface="+mn-cs"/>
                        </a:rPr>
                        <a:t>Process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22609186"/>
                  </a:ext>
                </a:extLst>
              </a:tr>
              <a:tr h="316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+mn-lt"/>
                          <a:ea typeface="標楷體"/>
                          <a:cs typeface="+mn-cs"/>
                        </a:rPr>
                        <a:t>Process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File</a:t>
                      </a:r>
                      <a:r>
                        <a:rPr lang="en-US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File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24248708"/>
                  </a:ext>
                </a:extLst>
              </a:tr>
              <a:tr h="316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+mn-lt"/>
                          <a:ea typeface="標楷體"/>
                          <a:cs typeface="+mn-cs"/>
                        </a:rPr>
                        <a:t>Process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File</a:t>
                      </a:r>
                      <a:r>
                        <a:rPr lang="en-US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Write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File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04922219"/>
                  </a:ext>
                </a:extLst>
              </a:tr>
              <a:tr h="316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+mn-lt"/>
                          <a:ea typeface="標楷體"/>
                          <a:cs typeface="+mn-cs"/>
                        </a:rPr>
                        <a:t>Process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FileDelete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File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44418589"/>
                  </a:ext>
                </a:extLst>
              </a:tr>
              <a:tr h="316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+mn-lt"/>
                          <a:ea typeface="標楷體"/>
                          <a:cs typeface="+mn-cs"/>
                        </a:rPr>
                        <a:t>Process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FileLoad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File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52938727"/>
                  </a:ext>
                </a:extLst>
              </a:tr>
              <a:tr h="316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+mn-lt"/>
                          <a:ea typeface="標楷體"/>
                          <a:cs typeface="+mn-cs"/>
                        </a:rPr>
                        <a:t>Process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NetworkListen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Socket(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IP:Port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62575812"/>
                  </a:ext>
                </a:extLst>
              </a:tr>
              <a:tr h="316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Socket(</a:t>
                      </a:r>
                      <a:r>
                        <a:rPr lang="en-US" altLang="zh-TW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IP:Port</a:t>
                      </a:r>
                      <a:r>
                        <a:rPr lang="en-US" altLang="zh-TW" sz="12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NetworkConnect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Socket(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IP:Port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8443092"/>
                  </a:ext>
                </a:extLst>
              </a:tr>
              <a:tr h="316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Socket(IP:Port)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1F1F"/>
                        </a:solidFill>
                        <a:effectLst/>
                        <a:uLnTx/>
                        <a:uFillTx/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Network</a:t>
                      </a:r>
                      <a:r>
                        <a:rPr lang="en-US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Sent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Socket(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IP:Port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29878433"/>
                  </a:ext>
                </a:extLst>
              </a:tr>
              <a:tr h="316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Socket(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IP:Port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Network</a:t>
                      </a:r>
                      <a:r>
                        <a:rPr lang="en-US" sz="12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Receive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Socket(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IP:Port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uLnTx/>
                          <a:uFillTx/>
                          <a:latin typeface="Times New Roman"/>
                          <a:ea typeface="標楷體"/>
                          <a:cs typeface="+mn-cs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89392758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79568328-8851-40ED-A54F-040453F0AC8A}"/>
              </a:ext>
            </a:extLst>
          </p:cNvPr>
          <p:cNvSpPr txBox="1"/>
          <p:nvPr/>
        </p:nvSpPr>
        <p:spPr>
          <a:xfrm>
            <a:off x="6382756" y="2144019"/>
            <a:ext cx="432832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dirty="0"/>
              <a:t>Edge definition: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E8A50C4-EC5C-4E96-977B-7A6E500FC36F}"/>
              </a:ext>
            </a:extLst>
          </p:cNvPr>
          <p:cNvSpPr txBox="1"/>
          <p:nvPr/>
        </p:nvSpPr>
        <p:spPr>
          <a:xfrm>
            <a:off x="539693" y="2144019"/>
            <a:ext cx="432832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dirty="0"/>
              <a:t>Node definition:</a:t>
            </a:r>
          </a:p>
        </p:txBody>
      </p:sp>
    </p:spTree>
    <p:extLst>
      <p:ext uri="{BB962C8B-B14F-4D97-AF65-F5344CB8AC3E}">
        <p14:creationId xmlns:p14="http://schemas.microsoft.com/office/powerpoint/2010/main" val="609805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Solution – Graph-based Malicious Log Extraction: Attack Subgraph Search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8DC7E38E-D4D7-46C1-8502-37CA372421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66246"/>
                <a:ext cx="11006051" cy="509010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000" dirty="0"/>
                  <a:t>Function: Identifies attack-related nodes and edges on the causal graph</a:t>
                </a:r>
              </a:p>
              <a:p>
                <a:r>
                  <a:rPr lang="en-US" altLang="zh-TW" sz="2000" dirty="0"/>
                  <a:t>Malicious Node Identification: </a:t>
                </a:r>
              </a:p>
              <a:p>
                <a:pPr lvl="1"/>
                <a:r>
                  <a:rPr lang="en-US" altLang="zh-TW" sz="1600" dirty="0"/>
                  <a:t>Use alert elements (e.g., hash, IP) and CTI reports to identify candidate IOCs</a:t>
                </a:r>
              </a:p>
              <a:p>
                <a:pPr lvl="1"/>
                <a:r>
                  <a:rPr lang="en-US" altLang="zh-TW" sz="1600" dirty="0">
                    <a:latin typeface="Times New Roman"/>
                  </a:rPr>
                  <a:t>Compute Malicious Score for each </a:t>
                </a:r>
                <a:r>
                  <a:rPr lang="en-US" altLang="zh-TW" sz="1600" dirty="0"/>
                  <a:t>elements</a:t>
                </a:r>
                <a:r>
                  <a:rPr lang="en-US" altLang="zh-TW" sz="1600" dirty="0">
                    <a:latin typeface="Times New Roman"/>
                  </a:rPr>
                  <a:t> per alert </a:t>
                </a:r>
                <a:endParaRPr lang="en-US" altLang="zh-TW" sz="14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1200" b="0" i="1" smtClean="0">
                        <a:latin typeface="Cambria Math" panose="02040503050406030204" pitchFamily="18" charset="0"/>
                      </a:rPr>
                      <m:t>𝐿𝑜𝑜𝑘𝑢𝑝</m:t>
                    </m:r>
                    <m:d>
                      <m:dPr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e>
                    </m:d>
                    <m:r>
                      <a:rPr lang="en-US" altLang="zh-TW" sz="12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1,  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𝐶𝑇𝐼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h𝑖𝑡𝑠</m:t>
                            </m:r>
                          </m:e>
                          <m:e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𝐶𝑇𝐼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𝑚𝑖𝑠𝑠𝑒𝑠</m:t>
                            </m:r>
                          </m:e>
                        </m:eqArr>
                      </m:e>
                    </m:d>
                    <m:r>
                      <a:rPr lang="en-US" altLang="zh-TW" sz="1200" b="0" i="0" smtClean="0">
                        <a:latin typeface="Cambria Math" panose="02040503050406030204" pitchFamily="18" charset="0"/>
                      </a:rPr>
                      <m:t>  , </m:t>
                    </m:r>
                  </m:oMath>
                </a14:m>
                <a:r>
                  <a:rPr lang="en-US" altLang="zh-TW" sz="1200" dirty="0"/>
                  <a:t> </a:t>
                </a:r>
                <a14:m>
                  <m:oMath xmlns:m="http://schemas.openxmlformats.org/officeDocument/2006/math">
                    <m:r>
                      <a:rPr lang="en-US" altLang="zh-TW" sz="1200" b="0" i="1" dirty="0" smtClean="0">
                        <a:latin typeface="Cambria Math" panose="02040503050406030204" pitchFamily="18" charset="0"/>
                      </a:rPr>
                      <m:t>𝑀𝑎𝑙𝑖𝑐𝑖𝑜𝑢𝑠</m:t>
                    </m:r>
                    <m:r>
                      <a:rPr lang="en-US" altLang="zh-TW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200" b="0" i="1" dirty="0" smtClean="0">
                        <a:latin typeface="Cambria Math" panose="02040503050406030204" pitchFamily="18" charset="0"/>
                      </a:rPr>
                      <m:t>𝑆𝑐𝑜𝑟𝑒</m:t>
                    </m:r>
                    <m:d>
                      <m:dPr>
                        <m:ctrlPr>
                          <a:rPr lang="en-US" altLang="zh-TW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</m:e>
                    </m:d>
                    <m:r>
                      <a:rPr lang="en-US" altLang="zh-TW" sz="12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𝑠𝑒𝑣𝑒𝑟𝑖𝑡𝑦</m:t>
                            </m:r>
                          </m:e>
                          <m: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/>
                        </m:sSubSup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𝐿𝑜𝑜𝑘𝑢𝑝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bSup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</m:oMath>
                </a14:m>
                <a:r>
                  <a:rPr lang="en-US" altLang="zh-TW" sz="1200" dirty="0"/>
                  <a:t> </a:t>
                </a:r>
              </a:p>
              <a:p>
                <a:pPr lvl="1"/>
                <a:r>
                  <a:rPr lang="en-US" altLang="zh-TW" sz="1600" dirty="0">
                    <a:latin typeface="Times New Roman"/>
                  </a:rPr>
                  <a:t>Rank </a:t>
                </a:r>
                <a:r>
                  <a:rPr lang="en-US" altLang="zh-TW" sz="1600" dirty="0"/>
                  <a:t>elements</a:t>
                </a:r>
                <a:r>
                  <a:rPr lang="en-US" altLang="zh-TW" sz="1600" dirty="0">
                    <a:latin typeface="Times New Roman"/>
                  </a:rPr>
                  <a:t> by Malicious Score → maps highest-scored element to node in causal graph → </a:t>
                </a:r>
                <a:r>
                  <a:rPr lang="en-US" altLang="zh-TW" sz="1600" dirty="0"/>
                  <a:t>Malicious</a:t>
                </a:r>
                <a:r>
                  <a:rPr lang="en-US" altLang="zh-TW" sz="1600" dirty="0">
                    <a:latin typeface="Times New Roman"/>
                  </a:rPr>
                  <a:t> Node</a:t>
                </a:r>
                <a:endParaRPr lang="en-US" altLang="zh-TW" sz="1600" dirty="0"/>
              </a:p>
              <a:p>
                <a:r>
                  <a:rPr lang="en-US" altLang="zh-TW" sz="2000" dirty="0"/>
                  <a:t>Entry Node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Tracing:</a:t>
                </a:r>
              </a:p>
              <a:p>
                <a:pPr lvl="1"/>
                <a:r>
                  <a:rPr lang="en-US" altLang="zh-TW" sz="1600" dirty="0"/>
                  <a:t>Malicious</a:t>
                </a:r>
                <a:r>
                  <a:rPr lang="en-US" altLang="zh-TW" sz="1600" dirty="0">
                    <a:latin typeface="Times New Roman"/>
                  </a:rPr>
                  <a:t> Node is located within the attack subgraph</a:t>
                </a:r>
              </a:p>
              <a:p>
                <a:pPr lvl="1"/>
                <a:r>
                  <a:rPr lang="en-US" altLang="zh-TW" sz="1600" dirty="0">
                    <a:latin typeface="Times New Roman"/>
                  </a:rPr>
                  <a:t>Trace backward through causal graph from </a:t>
                </a:r>
                <a:r>
                  <a:rPr lang="en-US" altLang="zh-TW" sz="1600" dirty="0"/>
                  <a:t>Malicious</a:t>
                </a:r>
                <a:r>
                  <a:rPr lang="en-US" altLang="zh-TW" sz="1600" dirty="0">
                    <a:latin typeface="Times New Roman"/>
                  </a:rPr>
                  <a:t> Node → find attacker’s initial breach point → Entry Node</a:t>
                </a:r>
              </a:p>
              <a:p>
                <a:pPr lvl="1"/>
                <a:r>
                  <a:rPr lang="en-US" altLang="zh-TW" sz="1600" dirty="0">
                    <a:latin typeface="Times New Roman"/>
                  </a:rPr>
                  <a:t>Stop when parent process is a system subsystem (wininit.exe, winlogon.exe, csrss.exe, services.exe, etc.)</a:t>
                </a:r>
                <a:endParaRPr lang="en-US" altLang="zh-TW" sz="1600" dirty="0"/>
              </a:p>
              <a:p>
                <a:r>
                  <a:rPr lang="en-US" altLang="zh-TW" sz="2000" dirty="0"/>
                  <a:t>BFS from Entry Node</a:t>
                </a:r>
              </a:p>
              <a:p>
                <a:pPr lvl="1"/>
                <a:r>
                  <a:rPr lang="en-US" altLang="zh-TW" sz="1600" dirty="0">
                    <a:latin typeface="Times New Roman"/>
                  </a:rPr>
                  <a:t>Identify all successor nodes → track full scope of compromise and downstream malicious activities</a:t>
                </a:r>
              </a:p>
              <a:p>
                <a:pPr lvl="1"/>
                <a:r>
                  <a:rPr lang="en-US" altLang="zh-TW" sz="1600" dirty="0">
                    <a:latin typeface="Times New Roman"/>
                  </a:rPr>
                  <a:t>Reveal what attacker did to the system after initial compromise</a:t>
                </a:r>
              </a:p>
            </p:txBody>
          </p:sp>
        </mc:Choice>
        <mc:Fallback xmlns="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8DC7E38E-D4D7-46C1-8502-37CA372421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66246"/>
                <a:ext cx="11006051" cy="5090103"/>
              </a:xfrm>
              <a:blipFill>
                <a:blip r:embed="rId3"/>
                <a:stretch>
                  <a:fillRect l="-443" t="-13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25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7857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5"/>
            <a:ext cx="10515600" cy="1325563"/>
          </a:xfrm>
        </p:spPr>
        <p:txBody>
          <a:bodyPr/>
          <a:lstStyle/>
          <a:p>
            <a:r>
              <a:rPr lang="en-US" altLang="zh-TW" dirty="0"/>
              <a:t>Solution – Graph-based Malicious Log Extraction: Graph2Log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DC7E38E-D4D7-46C1-8502-37CA37242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Function: Maps attack subgraph back to extracted malicious logs</a:t>
            </a:r>
          </a:p>
          <a:p>
            <a:r>
              <a:rPr lang="en-US" altLang="zh-TW" dirty="0"/>
              <a:t>Back-Mapping Mechanism:</a:t>
            </a:r>
          </a:p>
          <a:p>
            <a:pPr lvl="1"/>
            <a:r>
              <a:rPr lang="en-US" altLang="zh-TW" dirty="0"/>
              <a:t>Each edge in Log2Graph stores both the event type and the originating log ID</a:t>
            </a:r>
          </a:p>
          <a:p>
            <a:pPr lvl="1"/>
            <a:r>
              <a:rPr lang="en-US" altLang="zh-TW" dirty="0"/>
              <a:t>Retrieve the corresponding raw log entry using the stored log ID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26</a:t>
            </a:fld>
            <a:endParaRPr lang="zh-TW" altLang="en-US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03E69807-82F8-41A7-A9C0-8583A86E3797}"/>
              </a:ext>
            </a:extLst>
          </p:cNvPr>
          <p:cNvGrpSpPr/>
          <p:nvPr/>
        </p:nvGrpSpPr>
        <p:grpSpPr>
          <a:xfrm>
            <a:off x="347749" y="3629620"/>
            <a:ext cx="5191125" cy="2209800"/>
            <a:chOff x="6476957" y="3561040"/>
            <a:chExt cx="5191125" cy="2209800"/>
          </a:xfrm>
        </p:grpSpPr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48A49AF3-545D-4F83-8089-DCA0214E1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6957" y="3561040"/>
              <a:ext cx="5191125" cy="2209800"/>
            </a:xfrm>
            <a:prstGeom prst="rect">
              <a:avLst/>
            </a:prstGeom>
          </p:spPr>
        </p:pic>
        <p:sp>
          <p:nvSpPr>
            <p:cNvPr id="17" name="左大括弧 16">
              <a:extLst>
                <a:ext uri="{FF2B5EF4-FFF2-40B4-BE49-F238E27FC236}">
                  <a16:creationId xmlns:a16="http://schemas.microsoft.com/office/drawing/2014/main" id="{12145EDE-00D0-402D-8ED6-B56B97D0BB82}"/>
                </a:ext>
              </a:extLst>
            </p:cNvPr>
            <p:cNvSpPr/>
            <p:nvPr/>
          </p:nvSpPr>
          <p:spPr>
            <a:xfrm>
              <a:off x="6572320" y="4640878"/>
              <a:ext cx="144780" cy="646686"/>
            </a:xfrm>
            <a:prstGeom prst="leftBrac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左大括弧 17">
              <a:extLst>
                <a:ext uri="{FF2B5EF4-FFF2-40B4-BE49-F238E27FC236}">
                  <a16:creationId xmlns:a16="http://schemas.microsoft.com/office/drawing/2014/main" id="{6C8E5C89-1663-4B72-8520-0FB9A95F9EE7}"/>
                </a:ext>
              </a:extLst>
            </p:cNvPr>
            <p:cNvSpPr/>
            <p:nvPr/>
          </p:nvSpPr>
          <p:spPr>
            <a:xfrm>
              <a:off x="8233480" y="4665940"/>
              <a:ext cx="144780" cy="646686"/>
            </a:xfrm>
            <a:prstGeom prst="leftBrac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左大括弧 18">
              <a:extLst>
                <a:ext uri="{FF2B5EF4-FFF2-40B4-BE49-F238E27FC236}">
                  <a16:creationId xmlns:a16="http://schemas.microsoft.com/office/drawing/2014/main" id="{F2582D62-3305-4F5A-A980-4156EE1C99A4}"/>
                </a:ext>
              </a:extLst>
            </p:cNvPr>
            <p:cNvSpPr/>
            <p:nvPr/>
          </p:nvSpPr>
          <p:spPr>
            <a:xfrm>
              <a:off x="9913803" y="4699636"/>
              <a:ext cx="144780" cy="646686"/>
            </a:xfrm>
            <a:prstGeom prst="leftBrac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A4583C2D-862B-4DAD-A013-23BB1C2F94BD}"/>
                </a:ext>
              </a:extLst>
            </p:cNvPr>
            <p:cNvSpPr txBox="1"/>
            <p:nvPr/>
          </p:nvSpPr>
          <p:spPr>
            <a:xfrm>
              <a:off x="7975274" y="5471562"/>
              <a:ext cx="21944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/>
                <a:t>Fig. An example of Causal Graph</a:t>
              </a:r>
              <a:endParaRPr lang="zh-TW" altLang="en-US" sz="1000" dirty="0"/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89459656-F0CC-46A7-8337-5A107F41B51D}"/>
              </a:ext>
            </a:extLst>
          </p:cNvPr>
          <p:cNvGrpSpPr/>
          <p:nvPr/>
        </p:nvGrpSpPr>
        <p:grpSpPr>
          <a:xfrm>
            <a:off x="6270525" y="3709325"/>
            <a:ext cx="4429488" cy="2329063"/>
            <a:chOff x="523918" y="3561040"/>
            <a:chExt cx="4429488" cy="2329063"/>
          </a:xfrm>
        </p:grpSpPr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BD115B9-7958-49E1-A2B8-17CA0CD05C8D}"/>
                </a:ext>
              </a:extLst>
            </p:cNvPr>
            <p:cNvSpPr txBox="1"/>
            <p:nvPr/>
          </p:nvSpPr>
          <p:spPr>
            <a:xfrm>
              <a:off x="1755681" y="5643882"/>
              <a:ext cx="23819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00" dirty="0"/>
                <a:t>Fig. An example of Sysmon Log</a:t>
              </a:r>
              <a:endParaRPr lang="zh-TW" altLang="en-US" sz="1000" dirty="0"/>
            </a:p>
          </p:txBody>
        </p:sp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89B6DD87-5BBE-4921-B896-24FADDF94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3918" y="3561040"/>
              <a:ext cx="4429488" cy="2126696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D4EE225-6449-43EE-88B7-FAD3DCC20C92}"/>
                </a:ext>
              </a:extLst>
            </p:cNvPr>
            <p:cNvSpPr/>
            <p:nvPr/>
          </p:nvSpPr>
          <p:spPr>
            <a:xfrm>
              <a:off x="685464" y="3648651"/>
              <a:ext cx="1472677" cy="18084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8AE7CB3F-08E7-4D33-8C1C-98C2A03AC3BB}"/>
              </a:ext>
            </a:extLst>
          </p:cNvPr>
          <p:cNvSpPr/>
          <p:nvPr/>
        </p:nvSpPr>
        <p:spPr>
          <a:xfrm>
            <a:off x="2261614" y="4704017"/>
            <a:ext cx="1472677" cy="1808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0518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600" dirty="0"/>
              <a:t>Function: Iteratively detects a single technique from each log segment partitioned by time windows</a:t>
            </a:r>
          </a:p>
          <a:p>
            <a:r>
              <a:rPr lang="en-US" altLang="zh-TW" sz="1600" dirty="0"/>
              <a:t>How Time-Window partition logs into segment:</a:t>
            </a:r>
          </a:p>
          <a:p>
            <a:pPr lvl="1"/>
            <a:r>
              <a:rPr lang="en-US" altLang="zh-TW" sz="1600" dirty="0"/>
              <a:t>Time-Window’s size is a hyperparameter</a:t>
            </a:r>
          </a:p>
          <a:p>
            <a:pPr lvl="1"/>
            <a:endParaRPr lang="en-US" altLang="zh-TW" sz="1600" dirty="0"/>
          </a:p>
          <a:p>
            <a:r>
              <a:rPr lang="en-US" altLang="zh-TW" sz="1600" dirty="0"/>
              <a:t>Output: detected techniques across all windows </a:t>
            </a:r>
            <a:endParaRPr lang="en-US" altLang="zh-TW" sz="1600" i="1" dirty="0"/>
          </a:p>
          <a:p>
            <a:endParaRPr lang="en-US" altLang="zh-TW" sz="1600" dirty="0"/>
          </a:p>
          <a:p>
            <a:endParaRPr lang="zh-TW" altLang="en-US" sz="16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8" y="136526"/>
            <a:ext cx="11237447" cy="1025286"/>
          </a:xfrm>
        </p:spPr>
        <p:txBody>
          <a:bodyPr>
            <a:normAutofit/>
          </a:bodyPr>
          <a:lstStyle/>
          <a:p>
            <a:r>
              <a:rPr lang="en-US" altLang="zh-TW" dirty="0"/>
              <a:t>Solution – </a:t>
            </a:r>
            <a:r>
              <a:rPr lang="fr-FR" altLang="zh-TW" dirty="0"/>
              <a:t>LLM-Driven Lifecycle Completion: </a:t>
            </a:r>
            <a:br>
              <a:rPr lang="fr-FR" altLang="zh-TW" dirty="0"/>
            </a:br>
            <a:r>
              <a:rPr lang="en-US" altLang="zh-TW" sz="3200" dirty="0"/>
              <a:t>Time-Window based </a:t>
            </a:r>
            <a:r>
              <a:rPr lang="fr-FR" altLang="zh-TW" dirty="0"/>
              <a:t>Single-Technique Detection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D154FB-AA4D-4B4F-9DC2-559825DD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27</a:t>
            </a:fld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354DB17A-83C0-4546-9A30-32AC5F8173EF}"/>
              </a:ext>
            </a:extLst>
          </p:cNvPr>
          <p:cNvGrpSpPr/>
          <p:nvPr/>
        </p:nvGrpSpPr>
        <p:grpSpPr>
          <a:xfrm>
            <a:off x="1277530" y="3617245"/>
            <a:ext cx="8704670" cy="2921667"/>
            <a:chOff x="1555066" y="3967079"/>
            <a:chExt cx="8704670" cy="2921667"/>
          </a:xfrm>
        </p:grpSpPr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F1801B9F-5A6C-4EE2-9CED-C1FF1FDCA25C}"/>
                </a:ext>
              </a:extLst>
            </p:cNvPr>
            <p:cNvCxnSpPr>
              <a:cxnSpLocks/>
            </p:cNvCxnSpPr>
            <p:nvPr/>
          </p:nvCxnSpPr>
          <p:spPr>
            <a:xfrm>
              <a:off x="2428075" y="4386688"/>
              <a:ext cx="7784261" cy="61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134EB61F-2BB9-4008-B1CA-60CA3B19E099}"/>
                </a:ext>
              </a:extLst>
            </p:cNvPr>
            <p:cNvSpPr/>
            <p:nvPr/>
          </p:nvSpPr>
          <p:spPr>
            <a:xfrm>
              <a:off x="2600298" y="4251643"/>
              <a:ext cx="625152" cy="28235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00" dirty="0">
                  <a:solidFill>
                    <a:schemeClr val="tx1"/>
                  </a:solidFill>
                </a:rPr>
                <a:t>T1071.001</a:t>
              </a:r>
              <a:endParaRPr lang="zh-TW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C9E86DC2-D98F-4225-A483-DC96385D2637}"/>
                </a:ext>
              </a:extLst>
            </p:cNvPr>
            <p:cNvSpPr/>
            <p:nvPr/>
          </p:nvSpPr>
          <p:spPr>
            <a:xfrm>
              <a:off x="3917601" y="4251643"/>
              <a:ext cx="625152" cy="28235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00" dirty="0">
                  <a:solidFill>
                    <a:schemeClr val="tx1"/>
                  </a:solidFill>
                </a:rPr>
                <a:t>T1566.002</a:t>
              </a:r>
              <a:endParaRPr lang="zh-TW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98C7A388-E483-4E95-9ADB-1D44DD521E6D}"/>
                </a:ext>
              </a:extLst>
            </p:cNvPr>
            <p:cNvSpPr/>
            <p:nvPr/>
          </p:nvSpPr>
          <p:spPr>
            <a:xfrm>
              <a:off x="5249178" y="4245859"/>
              <a:ext cx="625152" cy="28235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00" dirty="0">
                  <a:solidFill>
                    <a:schemeClr val="tx1"/>
                  </a:solidFill>
                </a:rPr>
                <a:t>T1059.001</a:t>
              </a:r>
              <a:endParaRPr lang="zh-TW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54F3761E-6365-44F3-8D76-DD5E82D39662}"/>
                </a:ext>
              </a:extLst>
            </p:cNvPr>
            <p:cNvSpPr/>
            <p:nvPr/>
          </p:nvSpPr>
          <p:spPr>
            <a:xfrm>
              <a:off x="2894756" y="5594667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AA3A6092-ED5E-43A2-BEF3-1AAA08E621D0}"/>
                </a:ext>
              </a:extLst>
            </p:cNvPr>
            <p:cNvSpPr/>
            <p:nvPr/>
          </p:nvSpPr>
          <p:spPr>
            <a:xfrm>
              <a:off x="2790850" y="5662458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: 圓角 26">
              <a:extLst>
                <a:ext uri="{FF2B5EF4-FFF2-40B4-BE49-F238E27FC236}">
                  <a16:creationId xmlns:a16="http://schemas.microsoft.com/office/drawing/2014/main" id="{4774E16F-B8D8-4A77-B81D-C5984930B131}"/>
                </a:ext>
              </a:extLst>
            </p:cNvPr>
            <p:cNvSpPr/>
            <p:nvPr/>
          </p:nvSpPr>
          <p:spPr>
            <a:xfrm>
              <a:off x="2707275" y="5739645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: 圓角 27">
              <a:extLst>
                <a:ext uri="{FF2B5EF4-FFF2-40B4-BE49-F238E27FC236}">
                  <a16:creationId xmlns:a16="http://schemas.microsoft.com/office/drawing/2014/main" id="{CDB6749A-5DC9-4EFF-BC68-84855770D3FE}"/>
                </a:ext>
              </a:extLst>
            </p:cNvPr>
            <p:cNvSpPr/>
            <p:nvPr/>
          </p:nvSpPr>
          <p:spPr>
            <a:xfrm>
              <a:off x="2628086" y="5804593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5A569EF4-7EA2-4F0B-9E4A-F17F51B31650}"/>
                </a:ext>
              </a:extLst>
            </p:cNvPr>
            <p:cNvSpPr/>
            <p:nvPr/>
          </p:nvSpPr>
          <p:spPr>
            <a:xfrm>
              <a:off x="4191499" y="5594667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2879A1BF-280F-4EFA-B40C-18B8B2AB2B4D}"/>
                </a:ext>
              </a:extLst>
            </p:cNvPr>
            <p:cNvSpPr/>
            <p:nvPr/>
          </p:nvSpPr>
          <p:spPr>
            <a:xfrm>
              <a:off x="4087593" y="5662458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DF70EF7D-6F3C-4E04-B81A-ABF74DDC1659}"/>
                </a:ext>
              </a:extLst>
            </p:cNvPr>
            <p:cNvSpPr/>
            <p:nvPr/>
          </p:nvSpPr>
          <p:spPr>
            <a:xfrm>
              <a:off x="4004018" y="5739645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FE3CFBCA-FCF9-4CF2-81F1-E5DA69BE772D}"/>
                </a:ext>
              </a:extLst>
            </p:cNvPr>
            <p:cNvSpPr/>
            <p:nvPr/>
          </p:nvSpPr>
          <p:spPr>
            <a:xfrm>
              <a:off x="3924829" y="5804593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704B03D4-C3A1-4A35-90BA-047913B90208}"/>
                </a:ext>
              </a:extLst>
            </p:cNvPr>
            <p:cNvSpPr/>
            <p:nvPr/>
          </p:nvSpPr>
          <p:spPr>
            <a:xfrm>
              <a:off x="5547980" y="5600600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17060488-BF9E-430E-8F95-3E34D940D361}"/>
                </a:ext>
              </a:extLst>
            </p:cNvPr>
            <p:cNvSpPr/>
            <p:nvPr/>
          </p:nvSpPr>
          <p:spPr>
            <a:xfrm>
              <a:off x="5444074" y="5668391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35" name="矩形: 圓角 34">
              <a:extLst>
                <a:ext uri="{FF2B5EF4-FFF2-40B4-BE49-F238E27FC236}">
                  <a16:creationId xmlns:a16="http://schemas.microsoft.com/office/drawing/2014/main" id="{BA7D7E50-776C-446F-B41D-2E23D35A50BD}"/>
                </a:ext>
              </a:extLst>
            </p:cNvPr>
            <p:cNvSpPr/>
            <p:nvPr/>
          </p:nvSpPr>
          <p:spPr>
            <a:xfrm>
              <a:off x="5360499" y="5745578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C1D8479-9332-4267-B27F-11223D9145BC}"/>
                </a:ext>
              </a:extLst>
            </p:cNvPr>
            <p:cNvSpPr/>
            <p:nvPr/>
          </p:nvSpPr>
          <p:spPr>
            <a:xfrm>
              <a:off x="5281309" y="5810525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386C9448-3B90-47CB-8604-65733C3CC7E8}"/>
                </a:ext>
              </a:extLst>
            </p:cNvPr>
            <p:cNvSpPr/>
            <p:nvPr/>
          </p:nvSpPr>
          <p:spPr>
            <a:xfrm>
              <a:off x="3513246" y="5594667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7BCE817F-62E6-41CD-8B5B-0EC9E29B28A2}"/>
                </a:ext>
              </a:extLst>
            </p:cNvPr>
            <p:cNvSpPr/>
            <p:nvPr/>
          </p:nvSpPr>
          <p:spPr>
            <a:xfrm>
              <a:off x="3409340" y="5662458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39" name="矩形: 圓角 38">
              <a:extLst>
                <a:ext uri="{FF2B5EF4-FFF2-40B4-BE49-F238E27FC236}">
                  <a16:creationId xmlns:a16="http://schemas.microsoft.com/office/drawing/2014/main" id="{D31D59D4-F8D1-4D5E-8825-F2C66BE67B48}"/>
                </a:ext>
              </a:extLst>
            </p:cNvPr>
            <p:cNvSpPr/>
            <p:nvPr/>
          </p:nvSpPr>
          <p:spPr>
            <a:xfrm>
              <a:off x="3325765" y="5739645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40" name="矩形: 圓角 39">
              <a:extLst>
                <a:ext uri="{FF2B5EF4-FFF2-40B4-BE49-F238E27FC236}">
                  <a16:creationId xmlns:a16="http://schemas.microsoft.com/office/drawing/2014/main" id="{50DD2582-C0B0-4D03-9E95-9D979C77C4D2}"/>
                </a:ext>
              </a:extLst>
            </p:cNvPr>
            <p:cNvSpPr/>
            <p:nvPr/>
          </p:nvSpPr>
          <p:spPr>
            <a:xfrm>
              <a:off x="3246576" y="5804593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BE37762F-E209-48EE-A19D-8BE00D5B9BD1}"/>
                </a:ext>
              </a:extLst>
            </p:cNvPr>
            <p:cNvSpPr/>
            <p:nvPr/>
          </p:nvSpPr>
          <p:spPr>
            <a:xfrm>
              <a:off x="4875942" y="5583048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42" name="矩形: 圓角 41">
              <a:extLst>
                <a:ext uri="{FF2B5EF4-FFF2-40B4-BE49-F238E27FC236}">
                  <a16:creationId xmlns:a16="http://schemas.microsoft.com/office/drawing/2014/main" id="{09510D3E-1F57-4331-B48E-C70BCA8B778D}"/>
                </a:ext>
              </a:extLst>
            </p:cNvPr>
            <p:cNvSpPr/>
            <p:nvPr/>
          </p:nvSpPr>
          <p:spPr>
            <a:xfrm>
              <a:off x="4772036" y="5650838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43" name="矩形: 圓角 42">
              <a:extLst>
                <a:ext uri="{FF2B5EF4-FFF2-40B4-BE49-F238E27FC236}">
                  <a16:creationId xmlns:a16="http://schemas.microsoft.com/office/drawing/2014/main" id="{9E02C4F8-501C-4BCB-BDAD-B318CB384606}"/>
                </a:ext>
              </a:extLst>
            </p:cNvPr>
            <p:cNvSpPr/>
            <p:nvPr/>
          </p:nvSpPr>
          <p:spPr>
            <a:xfrm>
              <a:off x="4688461" y="5728026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C8C27CA8-B02C-4D61-A2C6-6D5E30228907}"/>
                </a:ext>
              </a:extLst>
            </p:cNvPr>
            <p:cNvSpPr/>
            <p:nvPr/>
          </p:nvSpPr>
          <p:spPr>
            <a:xfrm>
              <a:off x="4609272" y="5792973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: 圓角 44">
              <a:extLst>
                <a:ext uri="{FF2B5EF4-FFF2-40B4-BE49-F238E27FC236}">
                  <a16:creationId xmlns:a16="http://schemas.microsoft.com/office/drawing/2014/main" id="{E8921650-1AED-4643-9B0B-55BC96EED517}"/>
                </a:ext>
              </a:extLst>
            </p:cNvPr>
            <p:cNvSpPr/>
            <p:nvPr/>
          </p:nvSpPr>
          <p:spPr>
            <a:xfrm>
              <a:off x="6580756" y="4245512"/>
              <a:ext cx="625152" cy="28235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00" dirty="0">
                  <a:solidFill>
                    <a:schemeClr val="tx1"/>
                  </a:solidFill>
                </a:rPr>
                <a:t>T1620</a:t>
              </a:r>
              <a:endParaRPr lang="zh-TW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: 圓角 45">
              <a:extLst>
                <a:ext uri="{FF2B5EF4-FFF2-40B4-BE49-F238E27FC236}">
                  <a16:creationId xmlns:a16="http://schemas.microsoft.com/office/drawing/2014/main" id="{A817038B-0A52-4F22-8BB7-16971F7E2D49}"/>
                </a:ext>
              </a:extLst>
            </p:cNvPr>
            <p:cNvSpPr/>
            <p:nvPr/>
          </p:nvSpPr>
          <p:spPr>
            <a:xfrm>
              <a:off x="7962762" y="4265795"/>
              <a:ext cx="625152" cy="28235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00" dirty="0">
                  <a:solidFill>
                    <a:schemeClr val="tx1"/>
                  </a:solidFill>
                </a:rPr>
                <a:t>T1134</a:t>
              </a:r>
              <a:endParaRPr lang="zh-TW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: 圓角 46">
              <a:extLst>
                <a:ext uri="{FF2B5EF4-FFF2-40B4-BE49-F238E27FC236}">
                  <a16:creationId xmlns:a16="http://schemas.microsoft.com/office/drawing/2014/main" id="{D0452EFE-78AD-4E2F-B77D-C0611FBDB44A}"/>
                </a:ext>
              </a:extLst>
            </p:cNvPr>
            <p:cNvSpPr/>
            <p:nvPr/>
          </p:nvSpPr>
          <p:spPr>
            <a:xfrm>
              <a:off x="9282068" y="4246207"/>
              <a:ext cx="625152" cy="28235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00" dirty="0">
                  <a:solidFill>
                    <a:schemeClr val="tx1"/>
                  </a:solidFill>
                </a:rPr>
                <a:t>T1059.001</a:t>
              </a:r>
              <a:endParaRPr lang="zh-TW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8" name="矩形: 圓角 47">
              <a:extLst>
                <a:ext uri="{FF2B5EF4-FFF2-40B4-BE49-F238E27FC236}">
                  <a16:creationId xmlns:a16="http://schemas.microsoft.com/office/drawing/2014/main" id="{BED7D62B-5B4C-42E6-AF12-9E696CF9F24A}"/>
                </a:ext>
              </a:extLst>
            </p:cNvPr>
            <p:cNvSpPr/>
            <p:nvPr/>
          </p:nvSpPr>
          <p:spPr>
            <a:xfrm>
              <a:off x="6853288" y="5600600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49" name="矩形: 圓角 48">
              <a:extLst>
                <a:ext uri="{FF2B5EF4-FFF2-40B4-BE49-F238E27FC236}">
                  <a16:creationId xmlns:a16="http://schemas.microsoft.com/office/drawing/2014/main" id="{743F069E-0B18-487D-86D2-0855C5718552}"/>
                </a:ext>
              </a:extLst>
            </p:cNvPr>
            <p:cNvSpPr/>
            <p:nvPr/>
          </p:nvSpPr>
          <p:spPr>
            <a:xfrm>
              <a:off x="6749382" y="5668391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50" name="矩形: 圓角 49">
              <a:extLst>
                <a:ext uri="{FF2B5EF4-FFF2-40B4-BE49-F238E27FC236}">
                  <a16:creationId xmlns:a16="http://schemas.microsoft.com/office/drawing/2014/main" id="{F2BB7907-87F6-4753-BC36-638AEE8D6D49}"/>
                </a:ext>
              </a:extLst>
            </p:cNvPr>
            <p:cNvSpPr/>
            <p:nvPr/>
          </p:nvSpPr>
          <p:spPr>
            <a:xfrm>
              <a:off x="6665807" y="5745578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51" name="矩形: 圓角 50">
              <a:extLst>
                <a:ext uri="{FF2B5EF4-FFF2-40B4-BE49-F238E27FC236}">
                  <a16:creationId xmlns:a16="http://schemas.microsoft.com/office/drawing/2014/main" id="{BA58DCC5-D0A2-48F1-A3D3-CE48690B97E0}"/>
                </a:ext>
              </a:extLst>
            </p:cNvPr>
            <p:cNvSpPr/>
            <p:nvPr/>
          </p:nvSpPr>
          <p:spPr>
            <a:xfrm>
              <a:off x="6586618" y="5810525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52" name="矩形: 圓角 51">
              <a:extLst>
                <a:ext uri="{FF2B5EF4-FFF2-40B4-BE49-F238E27FC236}">
                  <a16:creationId xmlns:a16="http://schemas.microsoft.com/office/drawing/2014/main" id="{80905595-6C9D-4585-857E-4D64EA28D439}"/>
                </a:ext>
              </a:extLst>
            </p:cNvPr>
            <p:cNvSpPr/>
            <p:nvPr/>
          </p:nvSpPr>
          <p:spPr>
            <a:xfrm>
              <a:off x="8260017" y="5600600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: 圓角 52">
              <a:extLst>
                <a:ext uri="{FF2B5EF4-FFF2-40B4-BE49-F238E27FC236}">
                  <a16:creationId xmlns:a16="http://schemas.microsoft.com/office/drawing/2014/main" id="{5514D6F9-5610-48FF-A353-C2838B80021B}"/>
                </a:ext>
              </a:extLst>
            </p:cNvPr>
            <p:cNvSpPr/>
            <p:nvPr/>
          </p:nvSpPr>
          <p:spPr>
            <a:xfrm>
              <a:off x="8156111" y="5668391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: 圓角 53">
              <a:extLst>
                <a:ext uri="{FF2B5EF4-FFF2-40B4-BE49-F238E27FC236}">
                  <a16:creationId xmlns:a16="http://schemas.microsoft.com/office/drawing/2014/main" id="{A1ECE082-0BB9-4377-9B4B-79A203559C06}"/>
                </a:ext>
              </a:extLst>
            </p:cNvPr>
            <p:cNvSpPr/>
            <p:nvPr/>
          </p:nvSpPr>
          <p:spPr>
            <a:xfrm>
              <a:off x="8072536" y="5745578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55" name="矩形: 圓角 54">
              <a:extLst>
                <a:ext uri="{FF2B5EF4-FFF2-40B4-BE49-F238E27FC236}">
                  <a16:creationId xmlns:a16="http://schemas.microsoft.com/office/drawing/2014/main" id="{F887E619-26DE-4A2E-8AC7-3C58553A2C0A}"/>
                </a:ext>
              </a:extLst>
            </p:cNvPr>
            <p:cNvSpPr/>
            <p:nvPr/>
          </p:nvSpPr>
          <p:spPr>
            <a:xfrm>
              <a:off x="7993346" y="5810525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56" name="矩形: 圓角 55">
              <a:extLst>
                <a:ext uri="{FF2B5EF4-FFF2-40B4-BE49-F238E27FC236}">
                  <a16:creationId xmlns:a16="http://schemas.microsoft.com/office/drawing/2014/main" id="{602A0F5A-1008-4CB1-8D9C-5D2362ABB52A}"/>
                </a:ext>
              </a:extLst>
            </p:cNvPr>
            <p:cNvSpPr/>
            <p:nvPr/>
          </p:nvSpPr>
          <p:spPr>
            <a:xfrm>
              <a:off x="9583955" y="5623081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57" name="矩形: 圓角 56">
              <a:extLst>
                <a:ext uri="{FF2B5EF4-FFF2-40B4-BE49-F238E27FC236}">
                  <a16:creationId xmlns:a16="http://schemas.microsoft.com/office/drawing/2014/main" id="{89388F3E-3CDD-4543-B9A2-3EFEB091BF01}"/>
                </a:ext>
              </a:extLst>
            </p:cNvPr>
            <p:cNvSpPr/>
            <p:nvPr/>
          </p:nvSpPr>
          <p:spPr>
            <a:xfrm>
              <a:off x="9480049" y="5690872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58" name="矩形: 圓角 57">
              <a:extLst>
                <a:ext uri="{FF2B5EF4-FFF2-40B4-BE49-F238E27FC236}">
                  <a16:creationId xmlns:a16="http://schemas.microsoft.com/office/drawing/2014/main" id="{863E39DE-9840-4839-9907-FF31D234AC5E}"/>
                </a:ext>
              </a:extLst>
            </p:cNvPr>
            <p:cNvSpPr/>
            <p:nvPr/>
          </p:nvSpPr>
          <p:spPr>
            <a:xfrm>
              <a:off x="9396474" y="5768060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59" name="矩形: 圓角 58">
              <a:extLst>
                <a:ext uri="{FF2B5EF4-FFF2-40B4-BE49-F238E27FC236}">
                  <a16:creationId xmlns:a16="http://schemas.microsoft.com/office/drawing/2014/main" id="{1B8631A2-4D6B-4F52-BF7F-DD09296597D9}"/>
                </a:ext>
              </a:extLst>
            </p:cNvPr>
            <p:cNvSpPr/>
            <p:nvPr/>
          </p:nvSpPr>
          <p:spPr>
            <a:xfrm>
              <a:off x="9317284" y="5833007"/>
              <a:ext cx="319581" cy="22747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60" name="矩形: 圓角 59">
              <a:extLst>
                <a:ext uri="{FF2B5EF4-FFF2-40B4-BE49-F238E27FC236}">
                  <a16:creationId xmlns:a16="http://schemas.microsoft.com/office/drawing/2014/main" id="{EE3A8643-FE72-44D2-B23D-00386A5F395F}"/>
                </a:ext>
              </a:extLst>
            </p:cNvPr>
            <p:cNvSpPr/>
            <p:nvPr/>
          </p:nvSpPr>
          <p:spPr>
            <a:xfrm>
              <a:off x="7545806" y="5600600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61" name="矩形: 圓角 60">
              <a:extLst>
                <a:ext uri="{FF2B5EF4-FFF2-40B4-BE49-F238E27FC236}">
                  <a16:creationId xmlns:a16="http://schemas.microsoft.com/office/drawing/2014/main" id="{6A938D74-7E32-4456-975E-E160DA8ECF8C}"/>
                </a:ext>
              </a:extLst>
            </p:cNvPr>
            <p:cNvSpPr/>
            <p:nvPr/>
          </p:nvSpPr>
          <p:spPr>
            <a:xfrm>
              <a:off x="7441901" y="5668391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62" name="矩形: 圓角 61">
              <a:extLst>
                <a:ext uri="{FF2B5EF4-FFF2-40B4-BE49-F238E27FC236}">
                  <a16:creationId xmlns:a16="http://schemas.microsoft.com/office/drawing/2014/main" id="{E8EDBA78-8C6D-4CE2-9477-6E2B3DA63208}"/>
                </a:ext>
              </a:extLst>
            </p:cNvPr>
            <p:cNvSpPr/>
            <p:nvPr/>
          </p:nvSpPr>
          <p:spPr>
            <a:xfrm>
              <a:off x="7358325" y="5745578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63" name="矩形: 圓角 62">
              <a:extLst>
                <a:ext uri="{FF2B5EF4-FFF2-40B4-BE49-F238E27FC236}">
                  <a16:creationId xmlns:a16="http://schemas.microsoft.com/office/drawing/2014/main" id="{E9B870B5-A259-471E-9C0A-6FBEEFC1C56C}"/>
                </a:ext>
              </a:extLst>
            </p:cNvPr>
            <p:cNvSpPr/>
            <p:nvPr/>
          </p:nvSpPr>
          <p:spPr>
            <a:xfrm>
              <a:off x="7279136" y="5810525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64" name="矩形: 圓角 63">
              <a:extLst>
                <a:ext uri="{FF2B5EF4-FFF2-40B4-BE49-F238E27FC236}">
                  <a16:creationId xmlns:a16="http://schemas.microsoft.com/office/drawing/2014/main" id="{5B648391-F018-436D-A651-19157FB01846}"/>
                </a:ext>
              </a:extLst>
            </p:cNvPr>
            <p:cNvSpPr/>
            <p:nvPr/>
          </p:nvSpPr>
          <p:spPr>
            <a:xfrm>
              <a:off x="8903432" y="5625906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65" name="矩形: 圓角 64">
              <a:extLst>
                <a:ext uri="{FF2B5EF4-FFF2-40B4-BE49-F238E27FC236}">
                  <a16:creationId xmlns:a16="http://schemas.microsoft.com/office/drawing/2014/main" id="{DA6633AD-EF6D-43F6-AF86-BCB9BA2D058A}"/>
                </a:ext>
              </a:extLst>
            </p:cNvPr>
            <p:cNvSpPr/>
            <p:nvPr/>
          </p:nvSpPr>
          <p:spPr>
            <a:xfrm>
              <a:off x="8799526" y="5693697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66" name="矩形: 圓角 65">
              <a:extLst>
                <a:ext uri="{FF2B5EF4-FFF2-40B4-BE49-F238E27FC236}">
                  <a16:creationId xmlns:a16="http://schemas.microsoft.com/office/drawing/2014/main" id="{971B3975-CE53-424B-A79D-26C494EFF053}"/>
                </a:ext>
              </a:extLst>
            </p:cNvPr>
            <p:cNvSpPr/>
            <p:nvPr/>
          </p:nvSpPr>
          <p:spPr>
            <a:xfrm>
              <a:off x="8715951" y="5770885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67" name="矩形: 圓角 66">
              <a:extLst>
                <a:ext uri="{FF2B5EF4-FFF2-40B4-BE49-F238E27FC236}">
                  <a16:creationId xmlns:a16="http://schemas.microsoft.com/office/drawing/2014/main" id="{A3C4801B-4590-47B4-95D7-173C422F5CB2}"/>
                </a:ext>
              </a:extLst>
            </p:cNvPr>
            <p:cNvSpPr/>
            <p:nvPr/>
          </p:nvSpPr>
          <p:spPr>
            <a:xfrm>
              <a:off x="8636761" y="5835832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68" name="矩形: 圓角 67">
              <a:extLst>
                <a:ext uri="{FF2B5EF4-FFF2-40B4-BE49-F238E27FC236}">
                  <a16:creationId xmlns:a16="http://schemas.microsoft.com/office/drawing/2014/main" id="{4105FB64-F13C-4697-8F16-0873E2F4BFEC}"/>
                </a:ext>
              </a:extLst>
            </p:cNvPr>
            <p:cNvSpPr/>
            <p:nvPr/>
          </p:nvSpPr>
          <p:spPr>
            <a:xfrm>
              <a:off x="6148474" y="5612758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69" name="矩形: 圓角 68">
              <a:extLst>
                <a:ext uri="{FF2B5EF4-FFF2-40B4-BE49-F238E27FC236}">
                  <a16:creationId xmlns:a16="http://schemas.microsoft.com/office/drawing/2014/main" id="{20440FC0-EA33-4B36-BD05-88FE82BEEA14}"/>
                </a:ext>
              </a:extLst>
            </p:cNvPr>
            <p:cNvSpPr/>
            <p:nvPr/>
          </p:nvSpPr>
          <p:spPr>
            <a:xfrm>
              <a:off x="6044568" y="5680548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70" name="矩形: 圓角 69">
              <a:extLst>
                <a:ext uri="{FF2B5EF4-FFF2-40B4-BE49-F238E27FC236}">
                  <a16:creationId xmlns:a16="http://schemas.microsoft.com/office/drawing/2014/main" id="{A43026F0-841A-4B94-891E-8A58E33B6EEB}"/>
                </a:ext>
              </a:extLst>
            </p:cNvPr>
            <p:cNvSpPr/>
            <p:nvPr/>
          </p:nvSpPr>
          <p:spPr>
            <a:xfrm>
              <a:off x="5960993" y="5757736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71" name="矩形: 圓角 70">
              <a:extLst>
                <a:ext uri="{FF2B5EF4-FFF2-40B4-BE49-F238E27FC236}">
                  <a16:creationId xmlns:a16="http://schemas.microsoft.com/office/drawing/2014/main" id="{00F06128-4D60-4424-BC2D-DE8CAE808B1B}"/>
                </a:ext>
              </a:extLst>
            </p:cNvPr>
            <p:cNvSpPr/>
            <p:nvPr/>
          </p:nvSpPr>
          <p:spPr>
            <a:xfrm>
              <a:off x="5881804" y="5822683"/>
              <a:ext cx="319581" cy="22747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dirty="0">
                  <a:solidFill>
                    <a:schemeClr val="tx1"/>
                  </a:solidFill>
                </a:rPr>
                <a:t>Log </a:t>
              </a:r>
              <a:endParaRPr lang="zh-TW" altLang="en-US" sz="500" dirty="0">
                <a:solidFill>
                  <a:schemeClr val="tx1"/>
                </a:solidFill>
              </a:endParaRPr>
            </a:p>
          </p:txBody>
        </p:sp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7C946A45-FFF9-4573-BA57-B150A2324E86}"/>
                </a:ext>
              </a:extLst>
            </p:cNvPr>
            <p:cNvSpPr txBox="1"/>
            <p:nvPr/>
          </p:nvSpPr>
          <p:spPr>
            <a:xfrm>
              <a:off x="1555338" y="4201330"/>
              <a:ext cx="8355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/>
                <a:t>Ground-Truth </a:t>
              </a:r>
            </a:p>
            <a:p>
              <a:pPr algn="ctr"/>
              <a:r>
                <a:rPr lang="en-US" altLang="zh-TW" sz="800" dirty="0"/>
                <a:t>Lifecycle</a:t>
              </a:r>
              <a:endParaRPr lang="zh-TW" altLang="en-US" sz="800" dirty="0"/>
            </a:p>
          </p:txBody>
        </p:sp>
        <p:sp>
          <p:nvSpPr>
            <p:cNvPr id="73" name="矩形: 圓角 72">
              <a:extLst>
                <a:ext uri="{FF2B5EF4-FFF2-40B4-BE49-F238E27FC236}">
                  <a16:creationId xmlns:a16="http://schemas.microsoft.com/office/drawing/2014/main" id="{86BB57EF-8295-4CFC-91A1-86766E206A72}"/>
                </a:ext>
              </a:extLst>
            </p:cNvPr>
            <p:cNvSpPr/>
            <p:nvPr/>
          </p:nvSpPr>
          <p:spPr>
            <a:xfrm>
              <a:off x="2600298" y="4864844"/>
              <a:ext cx="625152" cy="282354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00" dirty="0">
                  <a:solidFill>
                    <a:schemeClr val="tx1"/>
                  </a:solidFill>
                </a:rPr>
                <a:t>T1071.001</a:t>
              </a:r>
              <a:endParaRPr lang="zh-TW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74" name="矩形: 圓角 73">
              <a:extLst>
                <a:ext uri="{FF2B5EF4-FFF2-40B4-BE49-F238E27FC236}">
                  <a16:creationId xmlns:a16="http://schemas.microsoft.com/office/drawing/2014/main" id="{61A48B71-AAE4-4F40-A1C6-96B03FBFB54E}"/>
                </a:ext>
              </a:extLst>
            </p:cNvPr>
            <p:cNvSpPr/>
            <p:nvPr/>
          </p:nvSpPr>
          <p:spPr>
            <a:xfrm>
              <a:off x="9282068" y="4859407"/>
              <a:ext cx="625152" cy="282354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00" dirty="0">
                  <a:solidFill>
                    <a:schemeClr val="tx1"/>
                  </a:solidFill>
                </a:rPr>
                <a:t>T1059.001</a:t>
              </a:r>
              <a:endParaRPr lang="zh-TW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E1608E94-9C4D-46AD-998E-11A81C17A92D}"/>
                </a:ext>
              </a:extLst>
            </p:cNvPr>
            <p:cNvSpPr txBox="1"/>
            <p:nvPr/>
          </p:nvSpPr>
          <p:spPr>
            <a:xfrm>
              <a:off x="1559294" y="4806569"/>
              <a:ext cx="8355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/>
                <a:t>Alert-based </a:t>
              </a:r>
            </a:p>
            <a:p>
              <a:pPr algn="ctr"/>
              <a:r>
                <a:rPr lang="en-US" altLang="zh-TW" sz="800" dirty="0"/>
                <a:t>Reconstructed Lifecycle</a:t>
              </a:r>
              <a:endParaRPr lang="zh-TW" altLang="en-US" sz="800" dirty="0"/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64B333D4-2934-40BD-A4A8-665AFBBC38FB}"/>
                </a:ext>
              </a:extLst>
            </p:cNvPr>
            <p:cNvSpPr txBox="1"/>
            <p:nvPr/>
          </p:nvSpPr>
          <p:spPr>
            <a:xfrm>
              <a:off x="1555066" y="5719956"/>
              <a:ext cx="890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/>
                <a:t>Log Sighting</a:t>
              </a:r>
            </a:p>
            <a:p>
              <a:pPr algn="ctr"/>
              <a:r>
                <a:rPr lang="en-US" altLang="zh-TW" sz="800" dirty="0"/>
                <a:t>After Extraction</a:t>
              </a:r>
              <a:endParaRPr lang="zh-TW" altLang="en-US" sz="800" dirty="0"/>
            </a:p>
          </p:txBody>
        </p:sp>
        <p:cxnSp>
          <p:nvCxnSpPr>
            <p:cNvPr id="77" name="直線接點 76">
              <a:extLst>
                <a:ext uri="{FF2B5EF4-FFF2-40B4-BE49-F238E27FC236}">
                  <a16:creationId xmlns:a16="http://schemas.microsoft.com/office/drawing/2014/main" id="{857304E3-03AA-47F7-9A91-FEF4B961D52F}"/>
                </a:ext>
              </a:extLst>
            </p:cNvPr>
            <p:cNvCxnSpPr>
              <a:cxnSpLocks/>
            </p:cNvCxnSpPr>
            <p:nvPr/>
          </p:nvCxnSpPr>
          <p:spPr>
            <a:xfrm>
              <a:off x="2593022" y="4133282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98A39E45-BCB9-4770-8EC5-C1338A666FD8}"/>
                </a:ext>
              </a:extLst>
            </p:cNvPr>
            <p:cNvSpPr txBox="1"/>
            <p:nvPr/>
          </p:nvSpPr>
          <p:spPr>
            <a:xfrm>
              <a:off x="2348887" y="3967079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Start time</a:t>
              </a:r>
              <a:endParaRPr lang="zh-TW" altLang="en-US" sz="500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A4C4DAE2-93BD-4AA9-B19A-39E55B42C2FD}"/>
                </a:ext>
              </a:extLst>
            </p:cNvPr>
            <p:cNvSpPr txBox="1"/>
            <p:nvPr/>
          </p:nvSpPr>
          <p:spPr>
            <a:xfrm>
              <a:off x="3669113" y="3991021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Start time</a:t>
              </a:r>
              <a:endParaRPr lang="zh-TW" altLang="en-US" sz="500" dirty="0"/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FC874970-3B5C-4214-8D67-DB24D94B5E6E}"/>
                </a:ext>
              </a:extLst>
            </p:cNvPr>
            <p:cNvSpPr txBox="1"/>
            <p:nvPr/>
          </p:nvSpPr>
          <p:spPr>
            <a:xfrm>
              <a:off x="4989943" y="3999697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Start time</a:t>
              </a:r>
              <a:endParaRPr lang="zh-TW" altLang="en-US" sz="500" dirty="0"/>
            </a:p>
          </p:txBody>
        </p: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B6D60FFE-7962-4F64-940C-5EB37614AA97}"/>
                </a:ext>
              </a:extLst>
            </p:cNvPr>
            <p:cNvSpPr txBox="1"/>
            <p:nvPr/>
          </p:nvSpPr>
          <p:spPr>
            <a:xfrm>
              <a:off x="6329787" y="4010889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Start time</a:t>
              </a:r>
              <a:endParaRPr lang="zh-TW" altLang="en-US" sz="500" dirty="0"/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65DECABD-94DA-4065-83EB-99BA33BA0250}"/>
                </a:ext>
              </a:extLst>
            </p:cNvPr>
            <p:cNvSpPr txBox="1"/>
            <p:nvPr/>
          </p:nvSpPr>
          <p:spPr>
            <a:xfrm>
              <a:off x="7709608" y="4027594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Start time</a:t>
              </a:r>
              <a:endParaRPr lang="zh-TW" altLang="en-US" sz="500" dirty="0"/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87983B79-67A7-4808-BB05-61A2F3692270}"/>
                </a:ext>
              </a:extLst>
            </p:cNvPr>
            <p:cNvSpPr txBox="1"/>
            <p:nvPr/>
          </p:nvSpPr>
          <p:spPr>
            <a:xfrm>
              <a:off x="9017894" y="4022551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Start time</a:t>
              </a:r>
              <a:endParaRPr lang="zh-TW" altLang="en-US" sz="500" dirty="0"/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D6145E7A-BAF2-4ED2-ACF0-A89CD3ED3A61}"/>
                </a:ext>
              </a:extLst>
            </p:cNvPr>
            <p:cNvSpPr txBox="1"/>
            <p:nvPr/>
          </p:nvSpPr>
          <p:spPr>
            <a:xfrm>
              <a:off x="2977175" y="3967283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End time</a:t>
              </a:r>
              <a:endParaRPr lang="zh-TW" altLang="en-US" sz="500" dirty="0"/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14A92655-FE26-4EA4-8E19-88EBF05E7624}"/>
                </a:ext>
              </a:extLst>
            </p:cNvPr>
            <p:cNvSpPr txBox="1"/>
            <p:nvPr/>
          </p:nvSpPr>
          <p:spPr>
            <a:xfrm>
              <a:off x="4300349" y="3999191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End time</a:t>
              </a:r>
              <a:endParaRPr lang="zh-TW" altLang="en-US" sz="500" dirty="0"/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E74DE79B-7461-45CA-8C7C-387FD7371C3C}"/>
                </a:ext>
              </a:extLst>
            </p:cNvPr>
            <p:cNvSpPr txBox="1"/>
            <p:nvPr/>
          </p:nvSpPr>
          <p:spPr>
            <a:xfrm>
              <a:off x="5631558" y="3993602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End time</a:t>
              </a:r>
              <a:endParaRPr lang="zh-TW" altLang="en-US" sz="500" dirty="0"/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5F2AED77-F2A0-4729-863E-D059F206F957}"/>
                </a:ext>
              </a:extLst>
            </p:cNvPr>
            <p:cNvSpPr txBox="1"/>
            <p:nvPr/>
          </p:nvSpPr>
          <p:spPr>
            <a:xfrm>
              <a:off x="6964054" y="3999191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End time</a:t>
              </a:r>
              <a:endParaRPr lang="zh-TW" altLang="en-US" sz="500" dirty="0"/>
            </a:p>
          </p:txBody>
        </p: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5474D3C7-8978-4092-A08A-311D852ACBE7}"/>
                </a:ext>
              </a:extLst>
            </p:cNvPr>
            <p:cNvSpPr txBox="1"/>
            <p:nvPr/>
          </p:nvSpPr>
          <p:spPr>
            <a:xfrm>
              <a:off x="8338657" y="4027594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End time</a:t>
              </a:r>
              <a:endParaRPr lang="zh-TW" altLang="en-US" sz="500" dirty="0"/>
            </a:p>
          </p:txBody>
        </p: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5F7B23D5-51EB-42F6-844B-CDECCEC32945}"/>
                </a:ext>
              </a:extLst>
            </p:cNvPr>
            <p:cNvSpPr txBox="1"/>
            <p:nvPr/>
          </p:nvSpPr>
          <p:spPr>
            <a:xfrm>
              <a:off x="9660956" y="4029458"/>
              <a:ext cx="59878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/>
                <a:t>End time</a:t>
              </a:r>
              <a:endParaRPr lang="zh-TW" altLang="en-US" sz="500" dirty="0"/>
            </a:p>
          </p:txBody>
        </p:sp>
        <p:sp>
          <p:nvSpPr>
            <p:cNvPr id="90" name="右大括弧 89">
              <a:extLst>
                <a:ext uri="{FF2B5EF4-FFF2-40B4-BE49-F238E27FC236}">
                  <a16:creationId xmlns:a16="http://schemas.microsoft.com/office/drawing/2014/main" id="{36526AA0-2FFA-4D63-99F0-5F33629A45BE}"/>
                </a:ext>
              </a:extLst>
            </p:cNvPr>
            <p:cNvSpPr/>
            <p:nvPr/>
          </p:nvSpPr>
          <p:spPr>
            <a:xfrm rot="5400000">
              <a:off x="4061759" y="5806447"/>
              <a:ext cx="45719" cy="1303507"/>
            </a:xfrm>
            <a:prstGeom prst="rightBrace">
              <a:avLst>
                <a:gd name="adj1" fmla="val 103347"/>
                <a:gd name="adj2" fmla="val 5176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050"/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F7C012A7-9BB1-42F3-901D-EF633F44787B}"/>
                </a:ext>
              </a:extLst>
            </p:cNvPr>
            <p:cNvSpPr txBox="1"/>
            <p:nvPr/>
          </p:nvSpPr>
          <p:spPr>
            <a:xfrm>
              <a:off x="3485555" y="6588575"/>
              <a:ext cx="11653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/>
                <a:t>Input </a:t>
              </a:r>
              <a:endParaRPr lang="zh-TW" altLang="en-US" sz="800" dirty="0"/>
            </a:p>
          </p:txBody>
        </p:sp>
        <p:cxnSp>
          <p:nvCxnSpPr>
            <p:cNvPr id="92" name="直線接點 91">
              <a:extLst>
                <a:ext uri="{FF2B5EF4-FFF2-40B4-BE49-F238E27FC236}">
                  <a16:creationId xmlns:a16="http://schemas.microsoft.com/office/drawing/2014/main" id="{1065441A-7B65-4AE7-8FFF-0B0FBB0132C6}"/>
                </a:ext>
              </a:extLst>
            </p:cNvPr>
            <p:cNvCxnSpPr>
              <a:cxnSpLocks/>
            </p:cNvCxnSpPr>
            <p:nvPr/>
          </p:nvCxnSpPr>
          <p:spPr>
            <a:xfrm>
              <a:off x="3239245" y="4146478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>
              <a:extLst>
                <a:ext uri="{FF2B5EF4-FFF2-40B4-BE49-F238E27FC236}">
                  <a16:creationId xmlns:a16="http://schemas.microsoft.com/office/drawing/2014/main" id="{7F338F36-6827-4110-A595-FE30ECA4E396}"/>
                </a:ext>
              </a:extLst>
            </p:cNvPr>
            <p:cNvCxnSpPr>
              <a:cxnSpLocks/>
            </p:cNvCxnSpPr>
            <p:nvPr/>
          </p:nvCxnSpPr>
          <p:spPr>
            <a:xfrm>
              <a:off x="3916460" y="4172689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93">
              <a:extLst>
                <a:ext uri="{FF2B5EF4-FFF2-40B4-BE49-F238E27FC236}">
                  <a16:creationId xmlns:a16="http://schemas.microsoft.com/office/drawing/2014/main" id="{B6AB6F96-866A-4DA0-9B31-893519C650AE}"/>
                </a:ext>
              </a:extLst>
            </p:cNvPr>
            <p:cNvCxnSpPr>
              <a:cxnSpLocks/>
            </p:cNvCxnSpPr>
            <p:nvPr/>
          </p:nvCxnSpPr>
          <p:spPr>
            <a:xfrm>
              <a:off x="5242896" y="4180859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94">
              <a:extLst>
                <a:ext uri="{FF2B5EF4-FFF2-40B4-BE49-F238E27FC236}">
                  <a16:creationId xmlns:a16="http://schemas.microsoft.com/office/drawing/2014/main" id="{A9C6BFD1-619A-46C3-95A6-159DAFEA4CFB}"/>
                </a:ext>
              </a:extLst>
            </p:cNvPr>
            <p:cNvCxnSpPr>
              <a:cxnSpLocks/>
            </p:cNvCxnSpPr>
            <p:nvPr/>
          </p:nvCxnSpPr>
          <p:spPr>
            <a:xfrm>
              <a:off x="5881804" y="4201330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>
              <a:extLst>
                <a:ext uri="{FF2B5EF4-FFF2-40B4-BE49-F238E27FC236}">
                  <a16:creationId xmlns:a16="http://schemas.microsoft.com/office/drawing/2014/main" id="{FEEC73FE-65DE-4478-A6FD-7D041350295F}"/>
                </a:ext>
              </a:extLst>
            </p:cNvPr>
            <p:cNvCxnSpPr>
              <a:cxnSpLocks/>
            </p:cNvCxnSpPr>
            <p:nvPr/>
          </p:nvCxnSpPr>
          <p:spPr>
            <a:xfrm>
              <a:off x="6565953" y="4160388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接點 96">
              <a:extLst>
                <a:ext uri="{FF2B5EF4-FFF2-40B4-BE49-F238E27FC236}">
                  <a16:creationId xmlns:a16="http://schemas.microsoft.com/office/drawing/2014/main" id="{918ACC42-F048-4317-9F87-29A9C57AC392}"/>
                </a:ext>
              </a:extLst>
            </p:cNvPr>
            <p:cNvCxnSpPr>
              <a:cxnSpLocks/>
            </p:cNvCxnSpPr>
            <p:nvPr/>
          </p:nvCxnSpPr>
          <p:spPr>
            <a:xfrm>
              <a:off x="7204860" y="4180859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接點 97">
              <a:extLst>
                <a:ext uri="{FF2B5EF4-FFF2-40B4-BE49-F238E27FC236}">
                  <a16:creationId xmlns:a16="http://schemas.microsoft.com/office/drawing/2014/main" id="{FC6BF718-9FB5-4D83-8D73-6ABAD56EB980}"/>
                </a:ext>
              </a:extLst>
            </p:cNvPr>
            <p:cNvCxnSpPr>
              <a:cxnSpLocks/>
            </p:cNvCxnSpPr>
            <p:nvPr/>
          </p:nvCxnSpPr>
          <p:spPr>
            <a:xfrm>
              <a:off x="7959639" y="4204637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>
              <a:extLst>
                <a:ext uri="{FF2B5EF4-FFF2-40B4-BE49-F238E27FC236}">
                  <a16:creationId xmlns:a16="http://schemas.microsoft.com/office/drawing/2014/main" id="{385E145E-F8BA-42DD-BA3A-BEE9C58093B6}"/>
                </a:ext>
              </a:extLst>
            </p:cNvPr>
            <p:cNvCxnSpPr>
              <a:cxnSpLocks/>
            </p:cNvCxnSpPr>
            <p:nvPr/>
          </p:nvCxnSpPr>
          <p:spPr>
            <a:xfrm>
              <a:off x="8598546" y="4225108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接點 99">
              <a:extLst>
                <a:ext uri="{FF2B5EF4-FFF2-40B4-BE49-F238E27FC236}">
                  <a16:creationId xmlns:a16="http://schemas.microsoft.com/office/drawing/2014/main" id="{EB17DD17-9061-45DD-AFCE-11F1368748BD}"/>
                </a:ext>
              </a:extLst>
            </p:cNvPr>
            <p:cNvCxnSpPr>
              <a:cxnSpLocks/>
            </p:cNvCxnSpPr>
            <p:nvPr/>
          </p:nvCxnSpPr>
          <p:spPr>
            <a:xfrm>
              <a:off x="9264628" y="4180859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接點 100">
              <a:extLst>
                <a:ext uri="{FF2B5EF4-FFF2-40B4-BE49-F238E27FC236}">
                  <a16:creationId xmlns:a16="http://schemas.microsoft.com/office/drawing/2014/main" id="{3FAF3F7F-1515-4746-9DC1-14CBE7B09124}"/>
                </a:ext>
              </a:extLst>
            </p:cNvPr>
            <p:cNvCxnSpPr>
              <a:cxnSpLocks/>
            </p:cNvCxnSpPr>
            <p:nvPr/>
          </p:nvCxnSpPr>
          <p:spPr>
            <a:xfrm>
              <a:off x="9903535" y="4201330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接點 101">
              <a:extLst>
                <a:ext uri="{FF2B5EF4-FFF2-40B4-BE49-F238E27FC236}">
                  <a16:creationId xmlns:a16="http://schemas.microsoft.com/office/drawing/2014/main" id="{1B2E6F70-0ED3-48B8-A279-E26F8712BFE4}"/>
                </a:ext>
              </a:extLst>
            </p:cNvPr>
            <p:cNvCxnSpPr>
              <a:cxnSpLocks/>
            </p:cNvCxnSpPr>
            <p:nvPr/>
          </p:nvCxnSpPr>
          <p:spPr>
            <a:xfrm>
              <a:off x="4542753" y="4180859"/>
              <a:ext cx="0" cy="217729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BA0AD1E7-9150-4343-A231-B0EF5E86DBEA}"/>
                </a:ext>
              </a:extLst>
            </p:cNvPr>
            <p:cNvSpPr txBox="1"/>
            <p:nvPr/>
          </p:nvSpPr>
          <p:spPr>
            <a:xfrm>
              <a:off x="3913338" y="4913303"/>
              <a:ext cx="640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>
                  <a:solidFill>
                    <a:srgbClr val="FF0000"/>
                  </a:solidFill>
                </a:rPr>
                <a:t>Miss</a:t>
              </a:r>
              <a:endParaRPr lang="zh-TW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FCAC34B8-96C4-4465-BE05-58D04C18B412}"/>
                </a:ext>
              </a:extLst>
            </p:cNvPr>
            <p:cNvSpPr txBox="1"/>
            <p:nvPr/>
          </p:nvSpPr>
          <p:spPr>
            <a:xfrm>
              <a:off x="6575676" y="4902513"/>
              <a:ext cx="640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>
                  <a:solidFill>
                    <a:srgbClr val="FF0000"/>
                  </a:solidFill>
                </a:rPr>
                <a:t>Miss</a:t>
              </a:r>
              <a:endParaRPr lang="zh-TW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105" name="文字方塊 104">
              <a:extLst>
                <a:ext uri="{FF2B5EF4-FFF2-40B4-BE49-F238E27FC236}">
                  <a16:creationId xmlns:a16="http://schemas.microsoft.com/office/drawing/2014/main" id="{DB1C39B0-BC09-412E-B4BC-6BFC0E96B24E}"/>
                </a:ext>
              </a:extLst>
            </p:cNvPr>
            <p:cNvSpPr txBox="1"/>
            <p:nvPr/>
          </p:nvSpPr>
          <p:spPr>
            <a:xfrm>
              <a:off x="7962762" y="4920668"/>
              <a:ext cx="640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>
                  <a:solidFill>
                    <a:srgbClr val="FF0000"/>
                  </a:solidFill>
                </a:rPr>
                <a:t>Miss</a:t>
              </a:r>
              <a:endParaRPr lang="zh-TW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55394D9B-FBBC-4D69-822D-933FC6A6E830}"/>
                </a:ext>
              </a:extLst>
            </p:cNvPr>
            <p:cNvSpPr txBox="1"/>
            <p:nvPr/>
          </p:nvSpPr>
          <p:spPr>
            <a:xfrm>
              <a:off x="5243412" y="4932518"/>
              <a:ext cx="640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>
                  <a:solidFill>
                    <a:srgbClr val="FF0000"/>
                  </a:solidFill>
                </a:rPr>
                <a:t>Miss</a:t>
              </a:r>
              <a:endParaRPr lang="zh-TW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107" name="右大括弧 106">
              <a:extLst>
                <a:ext uri="{FF2B5EF4-FFF2-40B4-BE49-F238E27FC236}">
                  <a16:creationId xmlns:a16="http://schemas.microsoft.com/office/drawing/2014/main" id="{AB51709E-8943-4678-9DD9-0B2FA435C36D}"/>
                </a:ext>
              </a:extLst>
            </p:cNvPr>
            <p:cNvSpPr/>
            <p:nvPr/>
          </p:nvSpPr>
          <p:spPr>
            <a:xfrm rot="5400000">
              <a:off x="4892681" y="5874523"/>
              <a:ext cx="45719" cy="1303507"/>
            </a:xfrm>
            <a:prstGeom prst="rightBrace">
              <a:avLst>
                <a:gd name="adj1" fmla="val 103347"/>
                <a:gd name="adj2" fmla="val 5176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050"/>
            </a:p>
          </p:txBody>
        </p:sp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BE5128B6-F646-44B9-820A-BC7BFFC24972}"/>
                </a:ext>
              </a:extLst>
            </p:cNvPr>
            <p:cNvSpPr txBox="1"/>
            <p:nvPr/>
          </p:nvSpPr>
          <p:spPr>
            <a:xfrm>
              <a:off x="4316477" y="6656651"/>
              <a:ext cx="11653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/>
                <a:t>Input </a:t>
              </a:r>
              <a:endParaRPr lang="zh-TW" altLang="en-US" sz="800" dirty="0"/>
            </a:p>
          </p:txBody>
        </p:sp>
        <p:sp>
          <p:nvSpPr>
            <p:cNvPr id="109" name="右大括弧 108">
              <a:extLst>
                <a:ext uri="{FF2B5EF4-FFF2-40B4-BE49-F238E27FC236}">
                  <a16:creationId xmlns:a16="http://schemas.microsoft.com/office/drawing/2014/main" id="{E2980457-3A31-4352-9BD3-E46137302BD7}"/>
                </a:ext>
              </a:extLst>
            </p:cNvPr>
            <p:cNvSpPr/>
            <p:nvPr/>
          </p:nvSpPr>
          <p:spPr>
            <a:xfrm rot="5400000">
              <a:off x="5798308" y="5814211"/>
              <a:ext cx="45719" cy="1303507"/>
            </a:xfrm>
            <a:prstGeom prst="rightBrace">
              <a:avLst>
                <a:gd name="adj1" fmla="val 103347"/>
                <a:gd name="adj2" fmla="val 5176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050"/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7195851C-9B43-4352-BE76-7A1755F899C2}"/>
                </a:ext>
              </a:extLst>
            </p:cNvPr>
            <p:cNvSpPr txBox="1"/>
            <p:nvPr/>
          </p:nvSpPr>
          <p:spPr>
            <a:xfrm>
              <a:off x="5222104" y="6596339"/>
              <a:ext cx="11653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/>
                <a:t>Input </a:t>
              </a:r>
              <a:endParaRPr lang="zh-TW" altLang="en-US" sz="800" dirty="0"/>
            </a:p>
          </p:txBody>
        </p:sp>
        <p:sp>
          <p:nvSpPr>
            <p:cNvPr id="111" name="右大括弧 110">
              <a:extLst>
                <a:ext uri="{FF2B5EF4-FFF2-40B4-BE49-F238E27FC236}">
                  <a16:creationId xmlns:a16="http://schemas.microsoft.com/office/drawing/2014/main" id="{7048ADFE-1F21-4FE5-88CE-404CE4C42EC9}"/>
                </a:ext>
              </a:extLst>
            </p:cNvPr>
            <p:cNvSpPr/>
            <p:nvPr/>
          </p:nvSpPr>
          <p:spPr>
            <a:xfrm rot="5400000">
              <a:off x="6707174" y="5891174"/>
              <a:ext cx="45719" cy="1303507"/>
            </a:xfrm>
            <a:prstGeom prst="rightBrace">
              <a:avLst>
                <a:gd name="adj1" fmla="val 103347"/>
                <a:gd name="adj2" fmla="val 5176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050"/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AC17D595-CB7C-4AB5-8CFE-C40B2688AFF8}"/>
                </a:ext>
              </a:extLst>
            </p:cNvPr>
            <p:cNvSpPr txBox="1"/>
            <p:nvPr/>
          </p:nvSpPr>
          <p:spPr>
            <a:xfrm>
              <a:off x="6130970" y="6673302"/>
              <a:ext cx="11653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/>
                <a:t>Input </a:t>
              </a:r>
              <a:endParaRPr lang="zh-TW" altLang="en-US" sz="800" dirty="0"/>
            </a:p>
          </p:txBody>
        </p:sp>
        <p:sp>
          <p:nvSpPr>
            <p:cNvPr id="113" name="右大括弧 112">
              <a:extLst>
                <a:ext uri="{FF2B5EF4-FFF2-40B4-BE49-F238E27FC236}">
                  <a16:creationId xmlns:a16="http://schemas.microsoft.com/office/drawing/2014/main" id="{0D772DAF-9492-46A1-A771-44226CC1849C}"/>
                </a:ext>
              </a:extLst>
            </p:cNvPr>
            <p:cNvSpPr/>
            <p:nvPr/>
          </p:nvSpPr>
          <p:spPr>
            <a:xfrm rot="5400000">
              <a:off x="8573158" y="5874972"/>
              <a:ext cx="45719" cy="1303507"/>
            </a:xfrm>
            <a:prstGeom prst="rightBrace">
              <a:avLst>
                <a:gd name="adj1" fmla="val 103347"/>
                <a:gd name="adj2" fmla="val 5176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050"/>
            </a:p>
          </p:txBody>
        </p:sp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9F65FBD1-F5D7-4128-85CD-D006D21D9183}"/>
                </a:ext>
              </a:extLst>
            </p:cNvPr>
            <p:cNvSpPr txBox="1"/>
            <p:nvPr/>
          </p:nvSpPr>
          <p:spPr>
            <a:xfrm>
              <a:off x="7996954" y="6657100"/>
              <a:ext cx="11653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/>
                <a:t>Input </a:t>
              </a:r>
              <a:endParaRPr lang="zh-TW" altLang="en-US" sz="800" dirty="0"/>
            </a:p>
          </p:txBody>
        </p:sp>
        <p:sp>
          <p:nvSpPr>
            <p:cNvPr id="115" name="右大括弧 114">
              <a:extLst>
                <a:ext uri="{FF2B5EF4-FFF2-40B4-BE49-F238E27FC236}">
                  <a16:creationId xmlns:a16="http://schemas.microsoft.com/office/drawing/2014/main" id="{B5B41B16-5380-4FCF-84F8-A0487F14F47E}"/>
                </a:ext>
              </a:extLst>
            </p:cNvPr>
            <p:cNvSpPr/>
            <p:nvPr/>
          </p:nvSpPr>
          <p:spPr>
            <a:xfrm rot="5400000">
              <a:off x="7688269" y="5824176"/>
              <a:ext cx="45719" cy="1303507"/>
            </a:xfrm>
            <a:prstGeom prst="rightBrace">
              <a:avLst>
                <a:gd name="adj1" fmla="val 103347"/>
                <a:gd name="adj2" fmla="val 5176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050"/>
            </a:p>
          </p:txBody>
        </p:sp>
        <p:sp>
          <p:nvSpPr>
            <p:cNvPr id="116" name="文字方塊 115">
              <a:extLst>
                <a:ext uri="{FF2B5EF4-FFF2-40B4-BE49-F238E27FC236}">
                  <a16:creationId xmlns:a16="http://schemas.microsoft.com/office/drawing/2014/main" id="{1DF2AA36-9644-40F8-8660-36433D257C95}"/>
                </a:ext>
              </a:extLst>
            </p:cNvPr>
            <p:cNvSpPr txBox="1"/>
            <p:nvPr/>
          </p:nvSpPr>
          <p:spPr>
            <a:xfrm>
              <a:off x="7112065" y="6606304"/>
              <a:ext cx="11653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dirty="0"/>
                <a:t>Input </a:t>
              </a:r>
              <a:endParaRPr lang="zh-TW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942863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69DD8B0-E60C-4CF0-8312-D6BAEBF7AB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10515600" cy="5137267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000" dirty="0"/>
                  <a:t>Function: Complete missing techniques of the partial attack lifecycle detected by a LLM expert</a:t>
                </a:r>
              </a:p>
              <a:p>
                <a:r>
                  <a:rPr lang="en-US" altLang="zh-TW" sz="2000" dirty="0"/>
                  <a:t>How Partial Lifecycle Comes?</a:t>
                </a:r>
              </a:p>
              <a:p>
                <a:pPr lvl="1"/>
                <a:r>
                  <a:rPr lang="en-US" altLang="zh-TW" dirty="0"/>
                  <a:t>Use LLM expert to analyze alerts → detect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𝐿𝑖𝑓𝑒𝑐𝑦𝑐𝑙𝑒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𝑃𝑎𝑟𝑡𝑖𝑎𝑙</m:t>
                        </m:r>
                      </m:sub>
                      <m:sup/>
                    </m:sSubSup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𝑡𝑒𝑐h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𝑡𝑒𝑐h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𝑡𝑒𝑐h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Each detected technique carries a timestamp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</m:sSubSup>
                  </m:oMath>
                </a14:m>
                <a:r>
                  <a:rPr lang="en-US" altLang="zh-TW" dirty="0"/>
                  <a:t> indicating when it occurred</a:t>
                </a:r>
              </a:p>
              <a:p>
                <a:r>
                  <a:rPr lang="en-US" altLang="zh-TW" sz="2000" dirty="0"/>
                  <a:t>Time-Window Analysis:</a:t>
                </a:r>
              </a:p>
              <a:p>
                <a:pPr lvl="1"/>
                <a:r>
                  <a:rPr lang="en-US" altLang="zh-TW" dirty="0"/>
                  <a:t>For each time window between two consecutive techniques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𝑡𝑒𝑐h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</m:sSubSup>
                  </m:oMath>
                </a14:m>
                <a:r>
                  <a:rPr lang="en-US" altLang="zh-TW" dirty="0"/>
                  <a:t> </a:t>
                </a:r>
                <a:r>
                  <a:rPr lang="en-US" altLang="zh-TW" i="1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</m:sSubSup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i="1" dirty="0"/>
                  <a:t> →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𝑡𝑒𝑐h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/>
                    </m:sSubSup>
                  </m:oMath>
                </a14:m>
                <a:r>
                  <a:rPr lang="en-US" altLang="zh-TW" dirty="0"/>
                  <a:t> </a:t>
                </a:r>
                <a:r>
                  <a:rPr lang="en-US" altLang="zh-TW" i="1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/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i="1" dirty="0"/>
                  <a:t> </a:t>
                </a:r>
              </a:p>
              <a:p>
                <a:pPr lvl="1"/>
                <a:r>
                  <a:rPr lang="en-US" altLang="zh-TW" dirty="0"/>
                  <a:t>Analyze Extracted Malicious Logs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within the window → detect missed techniques</a:t>
                </a:r>
              </a:p>
              <a:p>
                <a:r>
                  <a:rPr lang="en-US" altLang="zh-TW" sz="2000" dirty="0"/>
                  <a:t>Output: aggregate detected techniques across all windows →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𝐿𝑖𝑓𝑒𝑐𝑦𝑐𝑙𝑒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𝐶𝑜𝑚𝑝</m:t>
                        </m:r>
                      </m:sub>
                      <m:sup/>
                    </m:sSubSup>
                  </m:oMath>
                </a14:m>
                <a:endParaRPr lang="en-US" altLang="zh-TW" sz="2000" i="1" dirty="0"/>
              </a:p>
              <a:p>
                <a:endParaRPr lang="en-US" altLang="zh-TW" sz="2000" dirty="0"/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69DD8B0-E60C-4CF0-8312-D6BAEBF7A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10515600" cy="5137267"/>
              </a:xfrm>
              <a:blipFill>
                <a:blip r:embed="rId2"/>
                <a:stretch>
                  <a:fillRect l="-522" t="-13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8" y="136525"/>
            <a:ext cx="11237447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Solution – </a:t>
            </a:r>
            <a:r>
              <a:rPr lang="fr-FR" altLang="zh-TW" dirty="0"/>
              <a:t>LLM-Driven Lifecycle Completion: </a:t>
            </a:r>
            <a:br>
              <a:rPr lang="fr-FR" altLang="zh-TW" dirty="0"/>
            </a:br>
            <a:r>
              <a:rPr lang="fr-FR" altLang="zh-TW" dirty="0"/>
              <a:t>Lifecycle Completion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D154FB-AA4D-4B4F-9DC2-559825DD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28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3729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6BE07FEE-F26A-43C0-9F0C-775C6EDAA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9936"/>
            <a:ext cx="12192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7CE606-BF36-4DEF-860A-9A5241F8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C5E9E70-ED85-4469-B61E-8A9A7C946CBC}"/>
              </a:ext>
            </a:extLst>
          </p:cNvPr>
          <p:cNvSpPr txBox="1"/>
          <p:nvPr/>
        </p:nvSpPr>
        <p:spPr>
          <a:xfrm>
            <a:off x="4790770" y="2737542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(3) Construct Graph</a:t>
            </a:r>
            <a:endParaRPr lang="zh-TW" altLang="en-US" sz="12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9343A15-2466-4E1A-AE0A-F584AD852C30}"/>
              </a:ext>
            </a:extLst>
          </p:cNvPr>
          <p:cNvSpPr txBox="1"/>
          <p:nvPr/>
        </p:nvSpPr>
        <p:spPr>
          <a:xfrm>
            <a:off x="4588640" y="4090700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(4) Find Anchor Node</a:t>
            </a:r>
            <a:endParaRPr lang="zh-TW" altLang="en-US" sz="12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9A804AA4-F2F3-4D6C-9CD5-4C9C1D75B3EA}"/>
              </a:ext>
            </a:extLst>
          </p:cNvPr>
          <p:cNvSpPr txBox="1"/>
          <p:nvPr/>
        </p:nvSpPr>
        <p:spPr>
          <a:xfrm>
            <a:off x="975239" y="2367218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(1) Perform Attack</a:t>
            </a:r>
            <a:endParaRPr lang="zh-TW" altLang="en-US" sz="12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E254BBE-65DC-4C56-BE68-F210F677117C}"/>
              </a:ext>
            </a:extLst>
          </p:cNvPr>
          <p:cNvSpPr txBox="1"/>
          <p:nvPr/>
        </p:nvSpPr>
        <p:spPr>
          <a:xfrm>
            <a:off x="1485564" y="4760719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(2) Collect Data</a:t>
            </a:r>
            <a:endParaRPr lang="zh-TW" altLang="en-US" sz="12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061C63-354F-4B94-B9B8-EE596D766740}"/>
              </a:ext>
            </a:extLst>
          </p:cNvPr>
          <p:cNvSpPr txBox="1"/>
          <p:nvPr/>
        </p:nvSpPr>
        <p:spPr>
          <a:xfrm>
            <a:off x="9056615" y="1806412"/>
            <a:ext cx="14596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(4) Detect Lifecycle</a:t>
            </a:r>
            <a:endParaRPr lang="zh-TW" altLang="en-US" sz="12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BF0CCB9-BD62-48C5-B444-339772CB7DC0}"/>
              </a:ext>
            </a:extLst>
          </p:cNvPr>
          <p:cNvSpPr txBox="1"/>
          <p:nvPr/>
        </p:nvSpPr>
        <p:spPr>
          <a:xfrm>
            <a:off x="6752440" y="4732425"/>
            <a:ext cx="1254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(5) Find Attack Subgraph</a:t>
            </a:r>
            <a:endParaRPr lang="zh-TW" altLang="en-US" sz="12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7E8A449-841E-4D79-A17F-CD4EE1B61CDA}"/>
              </a:ext>
            </a:extLst>
          </p:cNvPr>
          <p:cNvSpPr txBox="1"/>
          <p:nvPr/>
        </p:nvSpPr>
        <p:spPr>
          <a:xfrm>
            <a:off x="8304407" y="3687436"/>
            <a:ext cx="120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(6) Map to Log</a:t>
            </a:r>
            <a:endParaRPr lang="zh-TW" altLang="en-US" sz="1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0962CD9-3C12-44F1-99F3-F456EEF812F8}"/>
              </a:ext>
            </a:extLst>
          </p:cNvPr>
          <p:cNvSpPr txBox="1"/>
          <p:nvPr/>
        </p:nvSpPr>
        <p:spPr>
          <a:xfrm>
            <a:off x="5031254" y="5443858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(4) Find Anchor Node</a:t>
            </a:r>
            <a:endParaRPr lang="zh-TW" altLang="en-US" sz="12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CC8CDAA-9DA3-4D1A-A8DF-ADF3763EF91C}"/>
              </a:ext>
            </a:extLst>
          </p:cNvPr>
          <p:cNvSpPr txBox="1"/>
          <p:nvPr/>
        </p:nvSpPr>
        <p:spPr>
          <a:xfrm>
            <a:off x="7299123" y="4275366"/>
            <a:ext cx="502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(5)</a:t>
            </a:r>
            <a:endParaRPr lang="zh-TW" altLang="en-US" sz="12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D5C3C2D-FA9C-404C-B82C-1AA1C1427B8C}"/>
              </a:ext>
            </a:extLst>
          </p:cNvPr>
          <p:cNvSpPr txBox="1"/>
          <p:nvPr/>
        </p:nvSpPr>
        <p:spPr>
          <a:xfrm>
            <a:off x="7209991" y="2518883"/>
            <a:ext cx="120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(6) Map to Log</a:t>
            </a:r>
            <a:endParaRPr lang="zh-TW" altLang="en-US" sz="12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24D2CADD-6391-44BA-A426-7FAD8F4CBE94}"/>
              </a:ext>
            </a:extLst>
          </p:cNvPr>
          <p:cNvSpPr txBox="1"/>
          <p:nvPr/>
        </p:nvSpPr>
        <p:spPr>
          <a:xfrm>
            <a:off x="11109831" y="2958656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(7) Lifecycle</a:t>
            </a:r>
          </a:p>
          <a:p>
            <a:pPr algn="ctr"/>
            <a:r>
              <a:rPr lang="en-US" altLang="zh-TW" sz="1200" dirty="0"/>
              <a:t>Completion</a:t>
            </a:r>
            <a:endParaRPr lang="zh-TW" altLang="en-US" sz="12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4E33BAB-FB05-4805-BE1A-402F548B5DF1}"/>
              </a:ext>
            </a:extLst>
          </p:cNvPr>
          <p:cNvSpPr txBox="1"/>
          <p:nvPr/>
        </p:nvSpPr>
        <p:spPr>
          <a:xfrm>
            <a:off x="9332763" y="3952200"/>
            <a:ext cx="1082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(7) Lifecycle</a:t>
            </a:r>
          </a:p>
          <a:p>
            <a:pPr algn="ctr"/>
            <a:r>
              <a:rPr lang="en-US" altLang="zh-TW" sz="1200" dirty="0"/>
              <a:t>Completion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36769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Open-Source Tools and Libraries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7CE606-BF36-4DEF-860A-9A5241F8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30</a:t>
            </a:fld>
            <a:endParaRPr lang="zh-TW" altLang="en-US"/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8A0D8F49-1195-4F4D-B1D7-AFC42D0FE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958945"/>
              </p:ext>
            </p:extLst>
          </p:nvPr>
        </p:nvGraphicFramePr>
        <p:xfrm>
          <a:off x="838200" y="1433829"/>
          <a:ext cx="10144125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4525">
                  <a:extLst>
                    <a:ext uri="{9D8B030D-6E8A-4147-A177-3AD203B41FA5}">
                      <a16:colId xmlns:a16="http://schemas.microsoft.com/office/drawing/2014/main" val="1928101828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943840838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405587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&amp; Functionality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85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Virtualization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Virtualbox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isolated virtual environments for testing.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02228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server 2008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as a victim machine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91797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as a attacker machine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6775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Ubuntu 22.04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as a data central to collect logs and alerts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03039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Wazuh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endpoints, generates security alerts.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4545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Suricata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3394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Logs detailed system activity for analysis.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41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Attacking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Aurora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Replay </a:t>
                      </a:r>
                      <a:r>
                        <a:rPr lang="en-US" altLang="zh-TW" sz="1600" dirty="0"/>
                        <a:t>attacks based on MITRE ATT&amp;CK</a:t>
                      </a: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7624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platform for developing AI model.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70698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 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Provides pre-trained LLM models.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0192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/>
                        <a:t>Unsloth</a:t>
                      </a:r>
                      <a:r>
                        <a:rPr lang="en-US" altLang="zh-TW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597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9569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6"/>
            <a:ext cx="10851554" cy="735930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altLang="zh-TW" dirty="0"/>
              <a:t>: Single-Technique Detection Finetuning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6F65B953-F496-4F2B-82C1-AB9C7ACA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145" y="880751"/>
            <a:ext cx="5956183" cy="3876697"/>
          </a:xfrm>
        </p:spPr>
        <p:txBody>
          <a:bodyPr>
            <a:noAutofit/>
          </a:bodyPr>
          <a:lstStyle/>
          <a:p>
            <a:r>
              <a:rPr lang="en-US" altLang="zh-TW" sz="1800" dirty="0"/>
              <a:t>Description: </a:t>
            </a:r>
          </a:p>
          <a:p>
            <a:pPr lvl="1"/>
            <a:r>
              <a:rPr lang="en-US" altLang="zh-TW" sz="1400" dirty="0"/>
              <a:t>Comparing the accuracy of models with different sizes</a:t>
            </a:r>
          </a:p>
          <a:p>
            <a:r>
              <a:rPr lang="en-US" altLang="zh-TW" sz="1800" dirty="0"/>
              <a:t>Data source:</a:t>
            </a:r>
          </a:p>
          <a:p>
            <a:pPr lvl="1"/>
            <a:r>
              <a:rPr lang="en-US" altLang="zh-TW" sz="1400" dirty="0"/>
              <a:t>Sysmon logs and Suricata logs</a:t>
            </a:r>
          </a:p>
          <a:p>
            <a:pPr lvl="1"/>
            <a:r>
              <a:rPr lang="en-US" altLang="zh-TW" sz="1400" dirty="0"/>
              <a:t>Each log is labeled with {malicious, </a:t>
            </a:r>
            <a:r>
              <a:rPr lang="en-US" altLang="zh-TW" sz="1400" dirty="0" err="1"/>
              <a:t>technique_id</a:t>
            </a:r>
            <a:r>
              <a:rPr lang="en-US" altLang="zh-TW" sz="1400" dirty="0"/>
              <a:t>} or {benign, none}</a:t>
            </a:r>
          </a:p>
          <a:p>
            <a:pPr lvl="1"/>
            <a:r>
              <a:rPr lang="en-US" altLang="zh-TW" sz="1400" dirty="0"/>
              <a:t>Multiple consecutive logs may be labeled with the same technique</a:t>
            </a:r>
          </a:p>
          <a:p>
            <a:r>
              <a:rPr lang="en-US" altLang="zh-TW" sz="1800" dirty="0"/>
              <a:t>Dataset:</a:t>
            </a:r>
          </a:p>
          <a:p>
            <a:pPr lvl="1"/>
            <a:r>
              <a:rPr lang="en-US" altLang="zh-TW" sz="1400" dirty="0"/>
              <a:t>5112</a:t>
            </a:r>
            <a:r>
              <a:rPr lang="zh-TW" altLang="en-US" sz="1400" dirty="0"/>
              <a:t> </a:t>
            </a:r>
            <a:r>
              <a:rPr lang="en-US" altLang="zh-TW" sz="1400" dirty="0"/>
              <a:t>samples (Train/Valid/Test split: 80%/10%/10%)</a:t>
            </a:r>
          </a:p>
          <a:p>
            <a:pPr lvl="1"/>
            <a:r>
              <a:rPr lang="en-US" altLang="zh-TW" sz="1400" dirty="0"/>
              <a:t>Contains 200 lifecycles and 36 techniques</a:t>
            </a:r>
          </a:p>
          <a:p>
            <a:pPr lvl="1"/>
            <a:r>
              <a:rPr lang="en-US" altLang="zh-TW" sz="1400" dirty="0"/>
              <a:t>Average depth of lifecycles is 24.6 (techniques)</a:t>
            </a:r>
          </a:p>
          <a:p>
            <a:r>
              <a:rPr lang="en-US" altLang="zh-TW" sz="1800" dirty="0"/>
              <a:t>Each sample</a:t>
            </a:r>
            <a:r>
              <a:rPr lang="zh-TW" altLang="en-US" sz="1800" dirty="0"/>
              <a:t> </a:t>
            </a:r>
            <a:r>
              <a:rPr lang="en-US" altLang="zh-TW" sz="1800" dirty="0"/>
              <a:t>is represented by {instruction, input, output}</a:t>
            </a:r>
          </a:p>
          <a:p>
            <a:pPr lvl="1"/>
            <a:r>
              <a:rPr lang="en-US" altLang="zh-TW" sz="1400" dirty="0"/>
              <a:t>Instruction: system prompt</a:t>
            </a:r>
          </a:p>
          <a:p>
            <a:pPr lvl="1"/>
            <a:r>
              <a:rPr lang="en-US" altLang="zh-TW" sz="1400" dirty="0"/>
              <a:t>Input: logs</a:t>
            </a:r>
            <a:r>
              <a:rPr lang="zh-TW" altLang="en-US" sz="1400" dirty="0"/>
              <a:t> </a:t>
            </a:r>
            <a:r>
              <a:rPr lang="en-US" altLang="zh-TW" sz="1400" dirty="0"/>
              <a:t>(can be entirely malicious or entirely benign)</a:t>
            </a:r>
          </a:p>
          <a:p>
            <a:pPr lvl="1"/>
            <a:r>
              <a:rPr lang="en-US" altLang="zh-TW" sz="1400" dirty="0"/>
              <a:t>Output: {malicious, </a:t>
            </a:r>
            <a:r>
              <a:rPr lang="en-US" altLang="zh-TW" sz="1400" dirty="0" err="1"/>
              <a:t>technique_id</a:t>
            </a:r>
            <a:r>
              <a:rPr lang="en-US" altLang="zh-TW" sz="1400" dirty="0"/>
              <a:t>} or {benign, none} </a:t>
            </a:r>
            <a:endParaRPr lang="en-US" altLang="zh-TW" sz="1800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214AA834-EC65-4860-B752-EE87FEB6F170}"/>
              </a:ext>
            </a:extLst>
          </p:cNvPr>
          <p:cNvGrpSpPr/>
          <p:nvPr/>
        </p:nvGrpSpPr>
        <p:grpSpPr>
          <a:xfrm>
            <a:off x="5442502" y="4528698"/>
            <a:ext cx="6553607" cy="1722992"/>
            <a:chOff x="5266333" y="4486753"/>
            <a:chExt cx="6553607" cy="1722992"/>
          </a:xfrm>
        </p:grpSpPr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D2D322C8-2995-4CFE-B022-548A296D20FA}"/>
                </a:ext>
              </a:extLst>
            </p:cNvPr>
            <p:cNvCxnSpPr>
              <a:cxnSpLocks/>
            </p:cNvCxnSpPr>
            <p:nvPr/>
          </p:nvCxnSpPr>
          <p:spPr>
            <a:xfrm>
              <a:off x="6178817" y="4754009"/>
              <a:ext cx="564112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2451206D-2247-45D0-B542-BF406A0FFF0F}"/>
                </a:ext>
              </a:extLst>
            </p:cNvPr>
            <p:cNvSpPr/>
            <p:nvPr/>
          </p:nvSpPr>
          <p:spPr>
            <a:xfrm>
              <a:off x="6415370" y="4566106"/>
              <a:ext cx="847288" cy="38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T1071.001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02EE6D57-035A-4ED9-9D9F-1F653F8BB2BA}"/>
                </a:ext>
              </a:extLst>
            </p:cNvPr>
            <p:cNvSpPr/>
            <p:nvPr/>
          </p:nvSpPr>
          <p:spPr>
            <a:xfrm>
              <a:off x="8411695" y="4562668"/>
              <a:ext cx="847288" cy="38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T1566.002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3F4628F0-3AF6-4F8F-BBE7-E3A419158CAE}"/>
                </a:ext>
              </a:extLst>
            </p:cNvPr>
            <p:cNvSpPr/>
            <p:nvPr/>
          </p:nvSpPr>
          <p:spPr>
            <a:xfrm>
              <a:off x="10506512" y="4562668"/>
              <a:ext cx="847288" cy="3826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T1059.001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80958299-3431-4648-B244-5CC6A23B0061}"/>
                </a:ext>
              </a:extLst>
            </p:cNvPr>
            <p:cNvSpPr/>
            <p:nvPr/>
          </p:nvSpPr>
          <p:spPr>
            <a:xfrm>
              <a:off x="6667041" y="5076743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0276C486-83CD-4671-9F9D-A90C27A6841E}"/>
                </a:ext>
              </a:extLst>
            </p:cNvPr>
            <p:cNvSpPr/>
            <p:nvPr/>
          </p:nvSpPr>
          <p:spPr>
            <a:xfrm>
              <a:off x="6526214" y="5168622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5A6D71A6-398E-419A-8AB8-DBEC37247DCF}"/>
                </a:ext>
              </a:extLst>
            </p:cNvPr>
            <p:cNvSpPr/>
            <p:nvPr/>
          </p:nvSpPr>
          <p:spPr>
            <a:xfrm>
              <a:off x="6412942" y="5273237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ADFB3A36-F260-4131-829C-6082B55734ED}"/>
                </a:ext>
              </a:extLst>
            </p:cNvPr>
            <p:cNvSpPr/>
            <p:nvPr/>
          </p:nvSpPr>
          <p:spPr>
            <a:xfrm>
              <a:off x="6305614" y="5361262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8FC9299C-4C83-489A-9A81-2349E9F80737}"/>
                </a:ext>
              </a:extLst>
            </p:cNvPr>
            <p:cNvSpPr/>
            <p:nvPr/>
          </p:nvSpPr>
          <p:spPr>
            <a:xfrm>
              <a:off x="8598792" y="5076743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0E0D3F72-A891-404C-8734-F98B5C0E96B0}"/>
                </a:ext>
              </a:extLst>
            </p:cNvPr>
            <p:cNvSpPr/>
            <p:nvPr/>
          </p:nvSpPr>
          <p:spPr>
            <a:xfrm>
              <a:off x="8457965" y="5168622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C0958042-3350-45F2-8901-7FAC8B8C17A1}"/>
                </a:ext>
              </a:extLst>
            </p:cNvPr>
            <p:cNvSpPr/>
            <p:nvPr/>
          </p:nvSpPr>
          <p:spPr>
            <a:xfrm>
              <a:off x="8344693" y="5273237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1E470329-0628-4ECD-976B-6F7CB9BE2836}"/>
                </a:ext>
              </a:extLst>
            </p:cNvPr>
            <p:cNvSpPr/>
            <p:nvPr/>
          </p:nvSpPr>
          <p:spPr>
            <a:xfrm>
              <a:off x="8237365" y="5361262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: 圓角 22">
              <a:extLst>
                <a:ext uri="{FF2B5EF4-FFF2-40B4-BE49-F238E27FC236}">
                  <a16:creationId xmlns:a16="http://schemas.microsoft.com/office/drawing/2014/main" id="{CBBD32D5-66A0-4D38-98BC-F93DE4E1604A}"/>
                </a:ext>
              </a:extLst>
            </p:cNvPr>
            <p:cNvSpPr/>
            <p:nvPr/>
          </p:nvSpPr>
          <p:spPr>
            <a:xfrm>
              <a:off x="10758221" y="5076743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3C8A5D5D-8603-4E50-9E9D-F9EE4AC4B7DB}"/>
                </a:ext>
              </a:extLst>
            </p:cNvPr>
            <p:cNvSpPr/>
            <p:nvPr/>
          </p:nvSpPr>
          <p:spPr>
            <a:xfrm>
              <a:off x="10617394" y="5168622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60E1BBFB-0185-4E5D-B039-1E41AEE8E683}"/>
                </a:ext>
              </a:extLst>
            </p:cNvPr>
            <p:cNvSpPr/>
            <p:nvPr/>
          </p:nvSpPr>
          <p:spPr>
            <a:xfrm>
              <a:off x="10504122" y="5273237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AFB9C85B-599E-487E-AA00-B4D97E80A021}"/>
                </a:ext>
              </a:extLst>
            </p:cNvPr>
            <p:cNvSpPr/>
            <p:nvPr/>
          </p:nvSpPr>
          <p:spPr>
            <a:xfrm>
              <a:off x="10396794" y="5361262"/>
              <a:ext cx="508196" cy="284519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: 圓角 26">
              <a:extLst>
                <a:ext uri="{FF2B5EF4-FFF2-40B4-BE49-F238E27FC236}">
                  <a16:creationId xmlns:a16="http://schemas.microsoft.com/office/drawing/2014/main" id="{7E62F0DB-CAD0-47B4-8886-3B0715C7AB1F}"/>
                </a:ext>
              </a:extLst>
            </p:cNvPr>
            <p:cNvSpPr/>
            <p:nvPr/>
          </p:nvSpPr>
          <p:spPr>
            <a:xfrm>
              <a:off x="7605633" y="5076743"/>
              <a:ext cx="508196" cy="284519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: 圓角 27">
              <a:extLst>
                <a:ext uri="{FF2B5EF4-FFF2-40B4-BE49-F238E27FC236}">
                  <a16:creationId xmlns:a16="http://schemas.microsoft.com/office/drawing/2014/main" id="{4D6B57D7-CA5C-478E-B953-9CE821E2C51F}"/>
                </a:ext>
              </a:extLst>
            </p:cNvPr>
            <p:cNvSpPr/>
            <p:nvPr/>
          </p:nvSpPr>
          <p:spPr>
            <a:xfrm>
              <a:off x="7464806" y="5168622"/>
              <a:ext cx="508196" cy="284519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26A407FD-BA19-4BA4-81C4-85226ED457C1}"/>
                </a:ext>
              </a:extLst>
            </p:cNvPr>
            <p:cNvSpPr/>
            <p:nvPr/>
          </p:nvSpPr>
          <p:spPr>
            <a:xfrm>
              <a:off x="7351534" y="5273237"/>
              <a:ext cx="508196" cy="284519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92388920-02D3-4BFA-97AB-BF77A6A9BD94}"/>
                </a:ext>
              </a:extLst>
            </p:cNvPr>
            <p:cNvSpPr/>
            <p:nvPr/>
          </p:nvSpPr>
          <p:spPr>
            <a:xfrm>
              <a:off x="7244206" y="5361262"/>
              <a:ext cx="508196" cy="284519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B4924AC9-D9EC-4894-B3EA-F5F26EFBC13A}"/>
                </a:ext>
              </a:extLst>
            </p:cNvPr>
            <p:cNvSpPr/>
            <p:nvPr/>
          </p:nvSpPr>
          <p:spPr>
            <a:xfrm>
              <a:off x="9671339" y="5130977"/>
              <a:ext cx="508196" cy="284519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939C2620-321D-47FD-867E-A101376C9580}"/>
                </a:ext>
              </a:extLst>
            </p:cNvPr>
            <p:cNvSpPr/>
            <p:nvPr/>
          </p:nvSpPr>
          <p:spPr>
            <a:xfrm>
              <a:off x="9530512" y="5222856"/>
              <a:ext cx="508196" cy="284519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35132D4B-1DBC-474F-BFBC-29F6EF42FDB7}"/>
                </a:ext>
              </a:extLst>
            </p:cNvPr>
            <p:cNvSpPr/>
            <p:nvPr/>
          </p:nvSpPr>
          <p:spPr>
            <a:xfrm>
              <a:off x="9417240" y="5327471"/>
              <a:ext cx="508196" cy="284519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75C9EB04-E823-4B16-B576-3259570E8AC0}"/>
                </a:ext>
              </a:extLst>
            </p:cNvPr>
            <p:cNvSpPr/>
            <p:nvPr/>
          </p:nvSpPr>
          <p:spPr>
            <a:xfrm>
              <a:off x="9309912" y="5415496"/>
              <a:ext cx="508196" cy="284519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solidFill>
                    <a:schemeClr val="tx1"/>
                  </a:solidFill>
                </a:rPr>
                <a:t>Log </a:t>
              </a:r>
              <a:endParaRPr lang="zh-TW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9" name="右大括弧 38">
              <a:extLst>
                <a:ext uri="{FF2B5EF4-FFF2-40B4-BE49-F238E27FC236}">
                  <a16:creationId xmlns:a16="http://schemas.microsoft.com/office/drawing/2014/main" id="{3B750914-E9E7-42AF-B14E-7609215FEA97}"/>
                </a:ext>
              </a:extLst>
            </p:cNvPr>
            <p:cNvSpPr/>
            <p:nvPr/>
          </p:nvSpPr>
          <p:spPr>
            <a:xfrm rot="5400000">
              <a:off x="6645185" y="5406906"/>
              <a:ext cx="49653" cy="728796"/>
            </a:xfrm>
            <a:prstGeom prst="rightBrace">
              <a:avLst>
                <a:gd name="adj1" fmla="val 103347"/>
                <a:gd name="adj2" fmla="val 5176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7BF014A4-6117-4864-B0BA-E2445F80EDA0}"/>
                </a:ext>
              </a:extLst>
            </p:cNvPr>
            <p:cNvSpPr txBox="1"/>
            <p:nvPr/>
          </p:nvSpPr>
          <p:spPr>
            <a:xfrm>
              <a:off x="6178817" y="5888009"/>
              <a:ext cx="959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Sample</a:t>
              </a:r>
              <a:endParaRPr lang="zh-TW" altLang="en-US" sz="1200" dirty="0"/>
            </a:p>
          </p:txBody>
        </p:sp>
        <p:sp>
          <p:nvSpPr>
            <p:cNvPr id="41" name="右大括弧 40">
              <a:extLst>
                <a:ext uri="{FF2B5EF4-FFF2-40B4-BE49-F238E27FC236}">
                  <a16:creationId xmlns:a16="http://schemas.microsoft.com/office/drawing/2014/main" id="{17EECF94-9869-4328-A822-B5DB8F9B27D5}"/>
                </a:ext>
              </a:extLst>
            </p:cNvPr>
            <p:cNvSpPr/>
            <p:nvPr/>
          </p:nvSpPr>
          <p:spPr>
            <a:xfrm rot="5400000">
              <a:off x="8660999" y="5443254"/>
              <a:ext cx="49653" cy="728796"/>
            </a:xfrm>
            <a:prstGeom prst="rightBrace">
              <a:avLst>
                <a:gd name="adj1" fmla="val 103347"/>
                <a:gd name="adj2" fmla="val 5176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A916BDC3-3C25-4D35-BB37-B328E28D8BF2}"/>
                </a:ext>
              </a:extLst>
            </p:cNvPr>
            <p:cNvSpPr txBox="1"/>
            <p:nvPr/>
          </p:nvSpPr>
          <p:spPr>
            <a:xfrm>
              <a:off x="8194631" y="5924357"/>
              <a:ext cx="959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Sample</a:t>
              </a:r>
              <a:endParaRPr lang="zh-TW" altLang="en-US" sz="1200" dirty="0"/>
            </a:p>
          </p:txBody>
        </p:sp>
        <p:sp>
          <p:nvSpPr>
            <p:cNvPr id="43" name="右大括弧 42">
              <a:extLst>
                <a:ext uri="{FF2B5EF4-FFF2-40B4-BE49-F238E27FC236}">
                  <a16:creationId xmlns:a16="http://schemas.microsoft.com/office/drawing/2014/main" id="{56227D59-A772-48E2-9C5C-A61879B30D77}"/>
                </a:ext>
              </a:extLst>
            </p:cNvPr>
            <p:cNvSpPr/>
            <p:nvPr/>
          </p:nvSpPr>
          <p:spPr>
            <a:xfrm rot="5400000">
              <a:off x="10805523" y="5451643"/>
              <a:ext cx="49653" cy="728796"/>
            </a:xfrm>
            <a:prstGeom prst="rightBrace">
              <a:avLst>
                <a:gd name="adj1" fmla="val 103347"/>
                <a:gd name="adj2" fmla="val 5176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78C11609-572F-4BE2-BDC7-84DC710741E1}"/>
                </a:ext>
              </a:extLst>
            </p:cNvPr>
            <p:cNvSpPr txBox="1"/>
            <p:nvPr/>
          </p:nvSpPr>
          <p:spPr>
            <a:xfrm>
              <a:off x="10339155" y="5932746"/>
              <a:ext cx="959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Sample</a:t>
              </a:r>
              <a:endParaRPr lang="zh-TW" altLang="en-US" sz="1200" dirty="0"/>
            </a:p>
          </p:txBody>
        </p:sp>
        <p:sp>
          <p:nvSpPr>
            <p:cNvPr id="45" name="右大括弧 44">
              <a:extLst>
                <a:ext uri="{FF2B5EF4-FFF2-40B4-BE49-F238E27FC236}">
                  <a16:creationId xmlns:a16="http://schemas.microsoft.com/office/drawing/2014/main" id="{FD45A3AE-559D-4577-83E6-06CC44E792E3}"/>
                </a:ext>
              </a:extLst>
            </p:cNvPr>
            <p:cNvSpPr/>
            <p:nvPr/>
          </p:nvSpPr>
          <p:spPr>
            <a:xfrm rot="5400000">
              <a:off x="7636606" y="5429247"/>
              <a:ext cx="49653" cy="728796"/>
            </a:xfrm>
            <a:prstGeom prst="rightBrace">
              <a:avLst>
                <a:gd name="adj1" fmla="val 103347"/>
                <a:gd name="adj2" fmla="val 5176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72332635-DF6B-4F90-A808-9AE341184907}"/>
                </a:ext>
              </a:extLst>
            </p:cNvPr>
            <p:cNvSpPr txBox="1"/>
            <p:nvPr/>
          </p:nvSpPr>
          <p:spPr>
            <a:xfrm>
              <a:off x="7170238" y="5910350"/>
              <a:ext cx="959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Sample</a:t>
              </a:r>
              <a:endParaRPr lang="zh-TW" altLang="en-US" sz="1200" dirty="0"/>
            </a:p>
          </p:txBody>
        </p:sp>
        <p:sp>
          <p:nvSpPr>
            <p:cNvPr id="47" name="右大括弧 46">
              <a:extLst>
                <a:ext uri="{FF2B5EF4-FFF2-40B4-BE49-F238E27FC236}">
                  <a16:creationId xmlns:a16="http://schemas.microsoft.com/office/drawing/2014/main" id="{244F6BFD-3EBF-4B95-83CC-8D77EC125BC9}"/>
                </a:ext>
              </a:extLst>
            </p:cNvPr>
            <p:cNvSpPr/>
            <p:nvPr/>
          </p:nvSpPr>
          <p:spPr>
            <a:xfrm rot="5400000">
              <a:off x="9725351" y="5435604"/>
              <a:ext cx="49653" cy="728796"/>
            </a:xfrm>
            <a:prstGeom prst="rightBrace">
              <a:avLst>
                <a:gd name="adj1" fmla="val 103347"/>
                <a:gd name="adj2" fmla="val 5176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2A2847E0-7E50-465B-9B0F-C1ECD74AEEBC}"/>
                </a:ext>
              </a:extLst>
            </p:cNvPr>
            <p:cNvSpPr txBox="1"/>
            <p:nvPr/>
          </p:nvSpPr>
          <p:spPr>
            <a:xfrm>
              <a:off x="9258983" y="5916707"/>
              <a:ext cx="959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Sample</a:t>
              </a:r>
              <a:endParaRPr lang="zh-TW" altLang="en-US" sz="1200" dirty="0"/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E14EC257-3A0C-44A8-BD5E-E1BF0C06BCCC}"/>
                </a:ext>
              </a:extLst>
            </p:cNvPr>
            <p:cNvSpPr txBox="1"/>
            <p:nvPr/>
          </p:nvSpPr>
          <p:spPr>
            <a:xfrm>
              <a:off x="5318915" y="5252044"/>
              <a:ext cx="10126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Log Sighting</a:t>
              </a: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5D221FDE-F2B7-4C81-95AA-DBB5C7565E9D}"/>
                </a:ext>
              </a:extLst>
            </p:cNvPr>
            <p:cNvSpPr txBox="1"/>
            <p:nvPr/>
          </p:nvSpPr>
          <p:spPr>
            <a:xfrm>
              <a:off x="5266333" y="4486753"/>
              <a:ext cx="1132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Ground-Truth </a:t>
              </a:r>
            </a:p>
            <a:p>
              <a:pPr algn="ctr"/>
              <a:r>
                <a:rPr lang="en-US" altLang="zh-TW" sz="1200" dirty="0"/>
                <a:t>Lifecycle</a:t>
              </a:r>
              <a:endParaRPr lang="zh-TW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080640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lt"/>
              </a:rPr>
              <a:t>Evaluation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DD8B0-E60C-4CF0-8312-D6BAEBF7A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3024"/>
            <a:ext cx="10601131" cy="5591754"/>
          </a:xfrm>
        </p:spPr>
        <p:txBody>
          <a:bodyPr>
            <a:normAutofit/>
          </a:bodyPr>
          <a:lstStyle/>
          <a:p>
            <a:r>
              <a:rPr lang="en-US" altLang="zh-TW" dirty="0"/>
              <a:t>LLM vs. others (</a:t>
            </a:r>
            <a:r>
              <a:rPr lang="en-US" altLang="zh-TW" sz="2400" dirty="0">
                <a:latin typeface="Times New Roman"/>
              </a:rPr>
              <a:t>ML, DL</a:t>
            </a:r>
            <a:r>
              <a:rPr lang="en-US" altLang="zh-TW" dirty="0"/>
              <a:t>)</a:t>
            </a:r>
          </a:p>
          <a:p>
            <a:pPr lvl="1">
              <a:spcBef>
                <a:spcPts val="400"/>
              </a:spcBef>
            </a:pPr>
            <a:r>
              <a:rPr lang="en-US" altLang="zh-TW" dirty="0"/>
              <a:t>Metrics: </a:t>
            </a:r>
          </a:p>
          <a:p>
            <a:pPr lvl="2">
              <a:spcBef>
                <a:spcPts val="400"/>
              </a:spcBef>
            </a:pPr>
            <a:r>
              <a:rPr lang="en-US" altLang="zh-TW" dirty="0"/>
              <a:t>Technique</a:t>
            </a:r>
            <a:r>
              <a:rPr lang="en-US" altLang="zh-TW" dirty="0">
                <a:latin typeface="Times New Roman"/>
              </a:rPr>
              <a:t> detection </a:t>
            </a:r>
            <a:r>
              <a:rPr lang="en-US" altLang="zh-TW" dirty="0"/>
              <a:t>accuracy</a:t>
            </a:r>
          </a:p>
          <a:p>
            <a:r>
              <a:rPr lang="en-US" altLang="zh-TW" dirty="0"/>
              <a:t>Malicious Log Extraction vs. without Extraction</a:t>
            </a:r>
          </a:p>
          <a:p>
            <a:pPr lvl="1"/>
            <a:r>
              <a:rPr lang="en-US" altLang="zh-TW" dirty="0"/>
              <a:t>Metrics: </a:t>
            </a:r>
          </a:p>
          <a:p>
            <a:pPr lvl="2"/>
            <a:r>
              <a:rPr lang="en-US" altLang="zh-TW" dirty="0"/>
              <a:t>Log/Token count reduction </a:t>
            </a:r>
          </a:p>
          <a:p>
            <a:pPr lvl="2"/>
            <a:r>
              <a:rPr lang="en-US" altLang="zh-TW" dirty="0"/>
              <a:t>Technique</a:t>
            </a:r>
            <a:r>
              <a:rPr lang="en-US" altLang="zh-TW" dirty="0">
                <a:latin typeface="Times New Roman"/>
              </a:rPr>
              <a:t> detection </a:t>
            </a:r>
            <a:r>
              <a:rPr lang="en-US" altLang="zh-TW" dirty="0"/>
              <a:t>accuracy across ML, DL, and LLM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258466-626A-4A82-A6DD-309FC89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0812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6"/>
            <a:ext cx="10851554" cy="73593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Evaluation 1: Extraction Effectiveness - Reduction Rate?</a:t>
            </a:r>
            <a:br>
              <a:rPr lang="en-US" altLang="zh-TW" dirty="0"/>
            </a:br>
            <a:r>
              <a:rPr lang="en-US" altLang="zh-TW" sz="2200" dirty="0"/>
              <a:t>Our solution </a:t>
            </a:r>
            <a:r>
              <a:rPr lang="en-US" altLang="zh-TW" sz="2200" i="1" dirty="0"/>
              <a:t>Stage 1</a:t>
            </a:r>
            <a:r>
              <a:rPr lang="en-US" altLang="zh-TW" sz="2200" dirty="0"/>
              <a:t> achieved a two-order-of-magnitude reduction in log volume 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6F65B953-F496-4F2B-82C1-AB9C7ACA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260" y="1579164"/>
            <a:ext cx="5452739" cy="5142310"/>
          </a:xfrm>
        </p:spPr>
        <p:txBody>
          <a:bodyPr>
            <a:noAutofit/>
          </a:bodyPr>
          <a:lstStyle/>
          <a:p>
            <a:r>
              <a:rPr lang="en-US" altLang="zh-TW" sz="1600" dirty="0"/>
              <a:t>Description: </a:t>
            </a:r>
          </a:p>
          <a:p>
            <a:pPr lvl="1"/>
            <a:r>
              <a:rPr lang="en-US" altLang="zh-TW" sz="1600" dirty="0"/>
              <a:t>Average per-lifecycle log count and token count, before vs. after filtering (237 scenarios).</a:t>
            </a:r>
          </a:p>
          <a:p>
            <a:r>
              <a:rPr lang="en-US" altLang="zh-TW" sz="1600" dirty="0"/>
              <a:t>Results:</a:t>
            </a:r>
          </a:p>
          <a:p>
            <a:pPr lvl="1"/>
            <a:r>
              <a:rPr lang="en-US" altLang="zh-TW" sz="1600" dirty="0"/>
              <a:t>Logs: 58,284 → 124 (↓ two-order-of-magnitude reduction)</a:t>
            </a:r>
          </a:p>
          <a:p>
            <a:pPr lvl="1"/>
            <a:r>
              <a:rPr lang="en-US" altLang="zh-TW" sz="1600" dirty="0"/>
              <a:t>Tokens: 57,992,580 → 166,203 (↓ two-order-of-magnitude reduction)</a:t>
            </a:r>
          </a:p>
          <a:p>
            <a:r>
              <a:rPr lang="en-US" altLang="zh-TW" sz="1600" dirty="0"/>
              <a:t>Discussion: </a:t>
            </a:r>
          </a:p>
          <a:p>
            <a:pPr marL="742950" lvl="1" indent="-285750"/>
            <a:r>
              <a:rPr lang="en-US" altLang="zh-TW" sz="1600" dirty="0"/>
              <a:t>Why it matters:</a:t>
            </a:r>
          </a:p>
          <a:p>
            <a:pPr marL="1085850" lvl="2" indent="-171450"/>
            <a:r>
              <a:rPr lang="en-US" altLang="zh-TW" sz="1600" dirty="0"/>
              <a:t>Raw logs ≈ 57M tokens — exceeds most LLM context windows.</a:t>
            </a:r>
          </a:p>
          <a:p>
            <a:pPr marL="1085850" lvl="2" indent="-171450"/>
            <a:r>
              <a:rPr lang="en-US" altLang="zh-TW" sz="1600" dirty="0"/>
              <a:t>After filtering ≈ 166K tokens — fits in most LLM.</a:t>
            </a:r>
          </a:p>
          <a:p>
            <a:pPr lvl="1"/>
            <a:endParaRPr lang="en-US" altLang="zh-TW" sz="1200" dirty="0"/>
          </a:p>
          <a:p>
            <a:endParaRPr lang="en-US" altLang="zh-TW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E4ECC44-969A-48B4-B81A-B8B05BCEF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99" y="1579164"/>
            <a:ext cx="6590362" cy="40643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6855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9" y="136526"/>
            <a:ext cx="10515600" cy="73593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Evaluation 1: Extraction Correctness – FP/FN/TN?  </a:t>
            </a:r>
            <a:br>
              <a:rPr lang="en-US" altLang="zh-TW" dirty="0"/>
            </a:br>
            <a:r>
              <a:rPr lang="en-US" altLang="zh-TW" sz="2200" dirty="0"/>
              <a:t>Our solution </a:t>
            </a:r>
            <a:r>
              <a:rPr lang="en-US" altLang="zh-TW" sz="2200" i="1" dirty="0"/>
              <a:t>Stage 1</a:t>
            </a:r>
            <a:r>
              <a:rPr lang="en-US" altLang="zh-TW" sz="2200" dirty="0"/>
              <a:t> achieved 0.901 F1-score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34</a:t>
            </a:fld>
            <a:endParaRPr lang="zh-TW" altLang="en-US" dirty="0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D583357-70DF-4B4D-874E-10E2A2A27363}"/>
              </a:ext>
            </a:extLst>
          </p:cNvPr>
          <p:cNvSpPr txBox="1">
            <a:spLocks/>
          </p:cNvSpPr>
          <p:nvPr/>
        </p:nvSpPr>
        <p:spPr>
          <a:xfrm>
            <a:off x="486688" y="4489615"/>
            <a:ext cx="5397652" cy="2231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/>
              <a:t>Results:</a:t>
            </a:r>
          </a:p>
          <a:p>
            <a:pPr lvl="1"/>
            <a:r>
              <a:rPr lang="en-US" altLang="zh-TW" sz="1600" dirty="0"/>
              <a:t>TP rate: 92.23% — majority of malicious logs correctly identified</a:t>
            </a:r>
          </a:p>
          <a:p>
            <a:pPr lvl="1"/>
            <a:r>
              <a:rPr lang="en-US" altLang="zh-TW" sz="1600" dirty="0"/>
              <a:t>FN rate: 7.77% — some malicious logs missed</a:t>
            </a:r>
          </a:p>
          <a:p>
            <a:pPr lvl="1"/>
            <a:r>
              <a:rPr lang="en-US" altLang="zh-TW" sz="1600" dirty="0"/>
              <a:t>FP rate: 0.003% — negligible benign logs</a:t>
            </a:r>
          </a:p>
          <a:p>
            <a:pPr lvl="1"/>
            <a:r>
              <a:rPr lang="en-US" altLang="zh-TW" sz="1600" dirty="0"/>
              <a:t>TN rate: 99.97% — near-perfect benign log retention</a:t>
            </a:r>
          </a:p>
          <a:p>
            <a:pPr lvl="1"/>
            <a:r>
              <a:rPr lang="en-US" altLang="zh-TW" sz="1600" dirty="0"/>
              <a:t>Average F1-Score: 0.901</a:t>
            </a:r>
          </a:p>
          <a:p>
            <a:pPr lvl="1"/>
            <a:endParaRPr lang="en-US" altLang="zh-TW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326C46A-8DFD-48CD-86B6-5F60C94D3EC6}"/>
              </a:ext>
            </a:extLst>
          </p:cNvPr>
          <p:cNvSpPr txBox="1"/>
          <p:nvPr/>
        </p:nvSpPr>
        <p:spPr>
          <a:xfrm>
            <a:off x="5884340" y="5215473"/>
            <a:ext cx="596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Discussion: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Why it matters: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garbage in, garbage out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make sure that </a:t>
            </a:r>
            <a:r>
              <a:rPr lang="en-US" altLang="zh-TW" sz="1600" dirty="0"/>
              <a:t>inputs are high quality for LLM to detect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TW" sz="1600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3AC17957-3469-4F91-8EBB-349F6FE6D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016" y="886181"/>
            <a:ext cx="4540163" cy="42150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4122DB3-C6F9-4116-A291-EDF58FA10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002" y="1023739"/>
            <a:ext cx="3869468" cy="33145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98794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35</a:t>
            </a:fld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6F65B953-F496-4F2B-82C1-AB9C7ACA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3917" y="1839409"/>
            <a:ext cx="5238265" cy="4694740"/>
          </a:xfrm>
        </p:spPr>
        <p:txBody>
          <a:bodyPr>
            <a:noAutofit/>
          </a:bodyPr>
          <a:lstStyle/>
          <a:p>
            <a:r>
              <a:rPr lang="en-US" altLang="zh-TW" sz="2000" b="1" dirty="0"/>
              <a:t>Observation and Insight: </a:t>
            </a:r>
          </a:p>
          <a:p>
            <a:pPr lvl="1"/>
            <a:r>
              <a:rPr lang="en-US" altLang="zh-TW" sz="1800" b="1" dirty="0"/>
              <a:t>F1 score: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Technique, Multiple Implementation → Numerical features failed → </a:t>
            </a:r>
            <a:r>
              <a:rPr lang="en-US" altLang="zh-TW" sz="1800" dirty="0"/>
              <a:t>Finetuned LLM wins (90.9% vs. 76.1%~79.7)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 data does include logs data → </a:t>
            </a:r>
            <a:r>
              <a:rPr lang="en-US" altLang="zh-TW" sz="1800" dirty="0"/>
              <a:t>Finetuned LLM wins (90.9% vs. 33.4%~38.9 Non-Finetuned LLMs )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techniques in dataset are uniquely implemented → Traditional Models win </a:t>
            </a:r>
            <a:r>
              <a:rPr lang="en-US" altLang="zh-TW" sz="1800" dirty="0"/>
              <a:t>(76.1%~79.7 vs. 33.4%~38.9 Non-Finetuned LLMs )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TW" sz="1400" dirty="0"/>
          </a:p>
          <a:p>
            <a:pPr marL="914400" lvl="2" indent="0">
              <a:buNone/>
            </a:pPr>
            <a:endParaRPr lang="en-US" altLang="zh-TW" sz="1200" dirty="0"/>
          </a:p>
          <a:p>
            <a:pPr lvl="1"/>
            <a:endParaRPr lang="en-US" altLang="zh-TW" sz="1100" dirty="0"/>
          </a:p>
          <a:p>
            <a:endParaRPr lang="en-US" altLang="zh-TW" sz="1800" dirty="0"/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B9692170-D9E5-49BB-AC27-4AA43D7DDFA9}"/>
              </a:ext>
            </a:extLst>
          </p:cNvPr>
          <p:cNvSpPr txBox="1">
            <a:spLocks/>
          </p:cNvSpPr>
          <p:nvPr/>
        </p:nvSpPr>
        <p:spPr>
          <a:xfrm>
            <a:off x="347749" y="136526"/>
            <a:ext cx="10939376" cy="735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TW" sz="4000" dirty="0"/>
              <a:t>Evaluation 2: Multi-Technique Detection – How much Better are Finetuned LLM?  </a:t>
            </a:r>
            <a:br>
              <a:rPr lang="en-US" altLang="zh-TW" dirty="0"/>
            </a:br>
            <a:r>
              <a:rPr lang="en-US" altLang="zh-TW" sz="3000" dirty="0"/>
              <a:t>Finetuned LLM outperforms all traditional models and even Non-Finetuned LLMs</a:t>
            </a:r>
            <a:endParaRPr lang="zh-TW" altLang="en-US" sz="3000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E79775C4-CC9A-404A-A9B5-9F6C0AC896AD}"/>
              </a:ext>
            </a:extLst>
          </p:cNvPr>
          <p:cNvGrpSpPr/>
          <p:nvPr/>
        </p:nvGrpSpPr>
        <p:grpSpPr>
          <a:xfrm>
            <a:off x="139815" y="1652083"/>
            <a:ext cx="6674102" cy="4036432"/>
            <a:chOff x="139816" y="1110651"/>
            <a:chExt cx="6674102" cy="4036432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D389A0D-BF17-4B55-9ABA-F58176CE4BBE}"/>
                </a:ext>
              </a:extLst>
            </p:cNvPr>
            <p:cNvSpPr txBox="1"/>
            <p:nvPr/>
          </p:nvSpPr>
          <p:spPr>
            <a:xfrm>
              <a:off x="428867" y="4870084"/>
              <a:ext cx="60959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. </a:t>
              </a:r>
              <a:endParaRPr lang="zh-TW" altLang="en-US" sz="1200" dirty="0"/>
            </a:p>
          </p:txBody>
        </p:sp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E8E7FD4D-45AD-4E05-BA53-CE80A9428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816" y="1110651"/>
              <a:ext cx="6674102" cy="36597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657453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36</a:t>
            </a:fld>
            <a:endParaRPr lang="zh-TW" altLang="en-US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6F65B953-F496-4F2B-82C1-AB9C7ACA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799" y="1795152"/>
            <a:ext cx="5446384" cy="3876697"/>
          </a:xfrm>
        </p:spPr>
        <p:txBody>
          <a:bodyPr>
            <a:noAutofit/>
          </a:bodyPr>
          <a:lstStyle/>
          <a:p>
            <a:r>
              <a:rPr lang="en-US" altLang="zh-TW" sz="2000" b="1" dirty="0"/>
              <a:t>Observation and Insight: </a:t>
            </a:r>
          </a:p>
          <a:p>
            <a:pPr lvl="1"/>
            <a:r>
              <a:rPr lang="en-US" altLang="zh-TW" sz="1800" b="1" dirty="0"/>
              <a:t>F1 score: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Considering order → Traditional Models fail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W=5s → almost all samples contain up to one technique → Traditional Models still good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W=&gt;5s → some samples contain more than one technique → Traditional Models collapse</a:t>
            </a:r>
          </a:p>
          <a:p>
            <a:pPr lvl="1"/>
            <a:r>
              <a:rPr lang="en-US" altLang="zh-TW" sz="1800" dirty="0"/>
              <a:t>Finetuned LLM starts to decrease when W&gt;30s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Distribution Shift</a:t>
            </a:r>
          </a:p>
          <a:p>
            <a:pPr lvl="1"/>
            <a:r>
              <a:rPr lang="en-US" altLang="zh-TW" sz="1800" dirty="0"/>
              <a:t>Non-Finetuned LLMs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stable</a:t>
            </a:r>
          </a:p>
          <a:p>
            <a:pPr lvl="1"/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TW" sz="1200" dirty="0"/>
          </a:p>
          <a:p>
            <a:pPr lvl="1"/>
            <a:endParaRPr lang="en-US" altLang="zh-TW" sz="1100" dirty="0"/>
          </a:p>
          <a:p>
            <a:endParaRPr lang="en-US" altLang="zh-TW" sz="1800" dirty="0"/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B9692170-D9E5-49BB-AC27-4AA43D7DDFA9}"/>
              </a:ext>
            </a:extLst>
          </p:cNvPr>
          <p:cNvSpPr txBox="1">
            <a:spLocks/>
          </p:cNvSpPr>
          <p:nvPr/>
        </p:nvSpPr>
        <p:spPr>
          <a:xfrm>
            <a:off x="347749" y="136526"/>
            <a:ext cx="10796502" cy="735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TW" dirty="0"/>
              <a:t>Evaluation 2: Lifecycle Completion – </a:t>
            </a:r>
            <a:r>
              <a:rPr lang="en-US" altLang="zh-TW" sz="3200" dirty="0"/>
              <a:t>How much Better are Finetuned LLM</a:t>
            </a:r>
            <a:r>
              <a:rPr lang="en-US" altLang="zh-TW" dirty="0"/>
              <a:t>? </a:t>
            </a:r>
            <a:br>
              <a:rPr lang="en-US" altLang="zh-TW" dirty="0"/>
            </a:br>
            <a:r>
              <a:rPr lang="en-US" altLang="zh-TW" sz="2400" dirty="0"/>
              <a:t>Finetuned LLM outperforms all traditional models and even Non-Finetuned LLMs when W=5s</a:t>
            </a:r>
            <a:endParaRPr lang="zh-TW" altLang="en-US" sz="2400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E1036315-F442-434E-9938-02E0B842BAD0}"/>
              </a:ext>
            </a:extLst>
          </p:cNvPr>
          <p:cNvGrpSpPr/>
          <p:nvPr/>
        </p:nvGrpSpPr>
        <p:grpSpPr>
          <a:xfrm>
            <a:off x="139817" y="1490652"/>
            <a:ext cx="6465982" cy="4218946"/>
            <a:chOff x="139817" y="1490652"/>
            <a:chExt cx="6465982" cy="4218946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D389A0D-BF17-4B55-9ABA-F58176CE4BBE}"/>
                </a:ext>
              </a:extLst>
            </p:cNvPr>
            <p:cNvSpPr txBox="1"/>
            <p:nvPr/>
          </p:nvSpPr>
          <p:spPr>
            <a:xfrm>
              <a:off x="324808" y="5432599"/>
              <a:ext cx="60959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. </a:t>
              </a:r>
              <a:endParaRPr lang="zh-TW" altLang="en-US" sz="1200" dirty="0"/>
            </a:p>
          </p:txBody>
        </p:sp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E48F540A-B6D5-4860-BE80-44918673C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817" y="1490652"/>
              <a:ext cx="6465982" cy="387669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8326951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37</a:t>
            </a:fld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6F65B953-F496-4F2B-82C1-AB9C7ACA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9" y="1795152"/>
            <a:ext cx="5289433" cy="3876697"/>
          </a:xfrm>
        </p:spPr>
        <p:txBody>
          <a:bodyPr>
            <a:noAutofit/>
          </a:bodyPr>
          <a:lstStyle/>
          <a:p>
            <a:r>
              <a:rPr lang="en-US" altLang="zh-TW" sz="2000" b="1" dirty="0"/>
              <a:t>Observation and Insight: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can be tolerant of a certain amount of noise → Features still obvious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benign logs more than malicious logs → </a:t>
            </a:r>
            <a:r>
              <a:rPr lang="en-US" altLang="zh-TW" sz="1800" dirty="0"/>
              <a:t>Finetuned LLM drops dramatically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Distribution Shift</a:t>
            </a:r>
          </a:p>
          <a:p>
            <a:pPr lvl="2"/>
            <a:endParaRPr lang="en-US" altLang="zh-TW" sz="1200" dirty="0"/>
          </a:p>
          <a:p>
            <a:pPr lvl="1"/>
            <a:endParaRPr lang="en-US" altLang="zh-TW" sz="1100" dirty="0"/>
          </a:p>
          <a:p>
            <a:endParaRPr lang="en-US" altLang="zh-TW" sz="1800" dirty="0"/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B9692170-D9E5-49BB-AC27-4AA43D7DDFA9}"/>
              </a:ext>
            </a:extLst>
          </p:cNvPr>
          <p:cNvSpPr txBox="1">
            <a:spLocks/>
          </p:cNvSpPr>
          <p:nvPr/>
        </p:nvSpPr>
        <p:spPr>
          <a:xfrm>
            <a:off x="347749" y="136526"/>
            <a:ext cx="10515600" cy="735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Evaluation 3: Does Benign Logs Affect?   </a:t>
            </a:r>
            <a:br>
              <a:rPr lang="en-US" altLang="zh-TW" dirty="0"/>
            </a:br>
            <a:r>
              <a:rPr lang="en-US" altLang="zh-TW" sz="2200" dirty="0"/>
              <a:t>Yes, and no model can complete the lifecycles when noise ratio more than 99%</a:t>
            </a:r>
            <a:endParaRPr lang="zh-TW" alt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CC62BF6D-F40A-4494-AC00-76963FF2118C}"/>
              </a:ext>
            </a:extLst>
          </p:cNvPr>
          <p:cNvGrpSpPr/>
          <p:nvPr/>
        </p:nvGrpSpPr>
        <p:grpSpPr>
          <a:xfrm>
            <a:off x="139818" y="1492487"/>
            <a:ext cx="6622933" cy="4247795"/>
            <a:chOff x="139816" y="1244837"/>
            <a:chExt cx="6622933" cy="4247795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D389A0D-BF17-4B55-9ABA-F58176CE4BBE}"/>
                </a:ext>
              </a:extLst>
            </p:cNvPr>
            <p:cNvSpPr txBox="1"/>
            <p:nvPr/>
          </p:nvSpPr>
          <p:spPr>
            <a:xfrm>
              <a:off x="403282" y="5215633"/>
              <a:ext cx="60959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. </a:t>
              </a:r>
              <a:endParaRPr lang="zh-TW" altLang="en-US" sz="1200" dirty="0"/>
            </a:p>
          </p:txBody>
        </p:sp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7514C00B-61DD-45AF-A583-F620E0929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816" y="1244837"/>
              <a:ext cx="6622933" cy="39707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6089788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181A3-C8EC-4C80-AE7F-B5872369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38</a:t>
            </a:fld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6F65B953-F496-4F2B-82C1-AB9C7ACA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49" y="4911824"/>
            <a:ext cx="11636141" cy="1326624"/>
          </a:xfrm>
        </p:spPr>
        <p:txBody>
          <a:bodyPr>
            <a:noAutofit/>
          </a:bodyPr>
          <a:lstStyle/>
          <a:p>
            <a:r>
              <a:rPr lang="en-US" altLang="zh-TW" sz="2000" b="1" dirty="0"/>
              <a:t>Observation and Insight: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Intervals are not more difficult to detect → W=5s, whatever how long is the intervals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Lifecycle are not more difficult to detect → W=5s, whatever how long is the intervals</a:t>
            </a: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B9692170-D9E5-49BB-AC27-4AA43D7DDFA9}"/>
              </a:ext>
            </a:extLst>
          </p:cNvPr>
          <p:cNvSpPr txBox="1">
            <a:spLocks/>
          </p:cNvSpPr>
          <p:nvPr/>
        </p:nvSpPr>
        <p:spPr>
          <a:xfrm>
            <a:off x="347749" y="136526"/>
            <a:ext cx="10515600" cy="735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Evaluation 4: Does Length of Interval Affect? Does Length of lifecycle Affect? </a:t>
            </a:r>
            <a:br>
              <a:rPr lang="en-US" altLang="zh-TW" dirty="0"/>
            </a:br>
            <a:r>
              <a:rPr lang="en-US" altLang="zh-TW" dirty="0"/>
              <a:t>No, model detects on the same time window </a:t>
            </a:r>
            <a:endParaRPr lang="zh-TW" alt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AF1E3B29-9D7B-4CBD-A32D-137C1BB70F5F}"/>
              </a:ext>
            </a:extLst>
          </p:cNvPr>
          <p:cNvGrpSpPr/>
          <p:nvPr/>
        </p:nvGrpSpPr>
        <p:grpSpPr>
          <a:xfrm>
            <a:off x="179654" y="1056507"/>
            <a:ext cx="11918417" cy="3743365"/>
            <a:chOff x="179654" y="1056507"/>
            <a:chExt cx="11918417" cy="3743365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034B93DE-2F49-462F-A920-39B1BC341832}"/>
                </a:ext>
              </a:extLst>
            </p:cNvPr>
            <p:cNvSpPr txBox="1"/>
            <p:nvPr/>
          </p:nvSpPr>
          <p:spPr>
            <a:xfrm>
              <a:off x="179654" y="4522873"/>
              <a:ext cx="59006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Fig. Performance comparison across different models on Single-Technique Detection</a:t>
              </a:r>
              <a:endParaRPr lang="zh-TW" altLang="en-US" sz="1200" dirty="0"/>
            </a:p>
          </p:txBody>
        </p:sp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1BF67B40-ED78-46F5-BB44-114EDCF73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874" y="1058257"/>
              <a:ext cx="5875433" cy="346461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5E505A9A-0F40-487F-84B6-2263BE286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3145" y="1056507"/>
              <a:ext cx="5729201" cy="34663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32970A6E-211A-45C6-9EF9-D1A47E7D5D2C}"/>
                </a:ext>
              </a:extLst>
            </p:cNvPr>
            <p:cNvSpPr txBox="1"/>
            <p:nvPr/>
          </p:nvSpPr>
          <p:spPr>
            <a:xfrm>
              <a:off x="6197418" y="4516924"/>
              <a:ext cx="59006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/>
                <a:t>Fig. Performance comparison across different models on Single-Technique Detection</a:t>
              </a:r>
              <a:endParaRPr lang="zh-TW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48824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DEE0C-856F-45FC-AFC0-93E8D62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7CE606-BF36-4DEF-860A-9A5241F8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39</a:t>
            </a:fld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029A97C-FC69-4C7B-8295-65A2B04EF89B}"/>
              </a:ext>
            </a:extLst>
          </p:cNvPr>
          <p:cNvSpPr txBox="1"/>
          <p:nvPr/>
        </p:nvSpPr>
        <p:spPr>
          <a:xfrm>
            <a:off x="604007" y="1551963"/>
            <a:ext cx="114593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Anjum, Md </a:t>
            </a:r>
            <a:r>
              <a:rPr lang="en-US" altLang="zh-TW" dirty="0" err="1"/>
              <a:t>Monowar</a:t>
            </a:r>
            <a:r>
              <a:rPr lang="en-US" altLang="zh-TW" dirty="0"/>
              <a:t>, </a:t>
            </a:r>
            <a:r>
              <a:rPr lang="en-US" altLang="zh-TW" dirty="0" err="1"/>
              <a:t>Shahrear</a:t>
            </a:r>
            <a:r>
              <a:rPr lang="en-US" altLang="zh-TW" dirty="0"/>
              <a:t> Iqbal, and Benoit Hamelin. "ANUBIS: for advanced persistent threat detection." Proceedings of the 37th ACM/SIGAPP </a:t>
            </a:r>
            <a:r>
              <a:rPr lang="en-US" altLang="zh-TW" dirty="0" err="1"/>
              <a:t>Symposiuma</a:t>
            </a:r>
            <a:r>
              <a:rPr lang="en-US" altLang="zh-TW" dirty="0"/>
              <a:t> causal graph-based framework  on Applied Computing. 2022.</a:t>
            </a:r>
          </a:p>
          <a:p>
            <a:r>
              <a:rPr lang="en-US" altLang="zh-TW" dirty="0" err="1"/>
              <a:t>Benabderrahmane</a:t>
            </a:r>
            <a:r>
              <a:rPr lang="en-US" altLang="zh-TW" dirty="0"/>
              <a:t>, </a:t>
            </a:r>
            <a:r>
              <a:rPr lang="en-US" altLang="zh-TW" dirty="0" err="1"/>
              <a:t>Sidahmed</a:t>
            </a:r>
            <a:r>
              <a:rPr lang="en-US" altLang="zh-TW" dirty="0"/>
              <a:t>, et al. "APT-LLM: Embedding-Based Anomaly Detection of Cyber Advanced Persistent Threats Using Large Language Models." 2025 13th International Symposium on Digital Forensics and Security (ISDFS). IEEE, 2025.</a:t>
            </a:r>
          </a:p>
          <a:p>
            <a:r>
              <a:rPr lang="en-US" altLang="zh-TW" dirty="0" err="1"/>
              <a:t>Milajerdi</a:t>
            </a:r>
            <a:r>
              <a:rPr lang="en-US" altLang="zh-TW" dirty="0"/>
              <a:t>, Sadegh M., et al. "Holmes: real-time apt detection through correlation of suspicious information flows." 2019 IEEE symposium on security and privacy (SP). IEEE, 2019.</a:t>
            </a:r>
          </a:p>
          <a:p>
            <a:r>
              <a:rPr lang="en-US" altLang="zh-TW" dirty="0"/>
              <a:t>Gandhi, </a:t>
            </a:r>
            <a:r>
              <a:rPr lang="en-US" altLang="zh-TW" dirty="0" err="1"/>
              <a:t>Parth</a:t>
            </a:r>
            <a:r>
              <a:rPr lang="en-US" altLang="zh-TW" dirty="0"/>
              <a:t> </a:t>
            </a:r>
            <a:r>
              <a:rPr lang="en-US" altLang="zh-TW" dirty="0" err="1"/>
              <a:t>Atulbhai</a:t>
            </a:r>
            <a:r>
              <a:rPr lang="en-US" altLang="zh-TW" dirty="0"/>
              <a:t>, et al. "Shield: Apt detection and intelligent explanation using </a:t>
            </a:r>
            <a:r>
              <a:rPr lang="en-US" altLang="zh-TW" dirty="0" err="1"/>
              <a:t>llm</a:t>
            </a:r>
            <a:r>
              <a:rPr lang="en-US" altLang="zh-TW" dirty="0"/>
              <a:t>." </a:t>
            </a:r>
            <a:r>
              <a:rPr lang="en-US" altLang="zh-TW" dirty="0" err="1"/>
              <a:t>arXiv</a:t>
            </a:r>
            <a:r>
              <a:rPr lang="en-US" altLang="zh-TW" dirty="0"/>
              <a:t> preprint arXiv:2502.02342 (2025).</a:t>
            </a:r>
          </a:p>
          <a:p>
            <a:r>
              <a:rPr lang="en-US" altLang="zh-TW" dirty="0"/>
              <a:t>Lin, Ying-Dar, et al. "Two-stage multi-</a:t>
            </a:r>
            <a:r>
              <a:rPr lang="en-US" altLang="zh-TW" dirty="0" err="1"/>
              <a:t>datasource</a:t>
            </a:r>
            <a:r>
              <a:rPr lang="en-US" altLang="zh-TW" dirty="0"/>
              <a:t> machine learning for attack technique and lifecycle detection." Computers &amp; Security 142 (2024): 103859.</a:t>
            </a:r>
          </a:p>
          <a:p>
            <a:r>
              <a:rPr lang="en-US" altLang="zh-TW" dirty="0" err="1"/>
              <a:t>Milajerdi</a:t>
            </a:r>
            <a:r>
              <a:rPr lang="en-US" altLang="zh-TW" dirty="0"/>
              <a:t>, Sadegh M., et al. "Poirot: Aligning attack behavior with kernel audit records for cyber threat hunting." Proceedings of the 2019 ACM SIGSAC conference on computer and communications security. 2019.</a:t>
            </a:r>
          </a:p>
          <a:p>
            <a:r>
              <a:rPr lang="en-US" altLang="zh-TW" dirty="0"/>
              <a:t>Ying-Dar Lin, Chun-Yi Chang, </a:t>
            </a:r>
            <a:r>
              <a:rPr lang="en-US" altLang="zh-TW" dirty="0" err="1"/>
              <a:t>Didik</a:t>
            </a:r>
            <a:r>
              <a:rPr lang="en-US" altLang="zh-TW" dirty="0"/>
              <a:t> </a:t>
            </a:r>
            <a:r>
              <a:rPr lang="en-US" altLang="zh-TW" dirty="0" err="1"/>
              <a:t>Sudyana</a:t>
            </a:r>
            <a:r>
              <a:rPr lang="en-US" altLang="zh-TW" dirty="0"/>
              <a:t>, Yuan-Cheng Lai, Ren-Hung Hwang, Po-Ching Lin “ LLM-driven Alert Correlation and Lifecycle Prediction with Threat Intelligence for Attack Forensics”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67A6992-F396-40C4-8B28-22BBD5942CC6}"/>
              </a:ext>
            </a:extLst>
          </p:cNvPr>
          <p:cNvSpPr txBox="1"/>
          <p:nvPr/>
        </p:nvSpPr>
        <p:spPr>
          <a:xfrm>
            <a:off x="201335" y="1551963"/>
            <a:ext cx="41106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[1]</a:t>
            </a:r>
          </a:p>
          <a:p>
            <a:endParaRPr lang="en-US" altLang="zh-TW" dirty="0"/>
          </a:p>
          <a:p>
            <a:r>
              <a:rPr lang="en-US" altLang="zh-TW" dirty="0"/>
              <a:t>[2]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[3]</a:t>
            </a:r>
            <a:endParaRPr lang="zh-TW" altLang="en-US" dirty="0"/>
          </a:p>
          <a:p>
            <a:endParaRPr lang="en-US" altLang="zh-TW" dirty="0"/>
          </a:p>
          <a:p>
            <a:r>
              <a:rPr lang="en-US" altLang="zh-TW" dirty="0"/>
              <a:t>[4]</a:t>
            </a:r>
            <a:endParaRPr lang="zh-TW" altLang="en-US" dirty="0"/>
          </a:p>
          <a:p>
            <a:endParaRPr lang="en-US" altLang="zh-TW" dirty="0"/>
          </a:p>
          <a:p>
            <a:r>
              <a:rPr lang="en-US" altLang="zh-TW" dirty="0"/>
              <a:t>[5]</a:t>
            </a:r>
          </a:p>
          <a:p>
            <a:endParaRPr lang="en-US" altLang="zh-TW" dirty="0"/>
          </a:p>
          <a:p>
            <a:r>
              <a:rPr lang="en-US" altLang="zh-TW" dirty="0"/>
              <a:t>[6]</a:t>
            </a:r>
            <a:endParaRPr lang="zh-TW" altLang="en-US" dirty="0"/>
          </a:p>
          <a:p>
            <a:endParaRPr lang="en-US" altLang="zh-TW" dirty="0"/>
          </a:p>
          <a:p>
            <a:r>
              <a:rPr lang="en-US" altLang="zh-TW" dirty="0"/>
              <a:t>[7]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0129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DDA9236-22AD-46E2-815E-CEE033A5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2440" y="3111038"/>
            <a:ext cx="2647120" cy="635923"/>
          </a:xfrm>
        </p:spPr>
        <p:txBody>
          <a:bodyPr/>
          <a:lstStyle/>
          <a:p>
            <a:r>
              <a:rPr lang="en-US" altLang="zh-TW" dirty="0"/>
              <a:t>Thank you!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20A841-7A6F-43A8-962E-1B2063FC4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6622-5B10-461E-922A-16B3E132CD6E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685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31957</TotalTime>
  <Words>4328</Words>
  <Application>Microsoft Office PowerPoint</Application>
  <PresentationFormat>寬螢幕</PresentationFormat>
  <Paragraphs>903</Paragraphs>
  <Slides>40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 Math</vt:lpstr>
      <vt:lpstr>Times New Roman</vt:lpstr>
      <vt:lpstr>Office 佈景主題</vt:lpstr>
      <vt:lpstr>LLM-driven Attack Lifecycle Completion using  Causal Graph-based Correlation from Multi-source Logs</vt:lpstr>
      <vt:lpstr>Issues</vt:lpstr>
      <vt:lpstr>Progress (4/24)</vt:lpstr>
      <vt:lpstr>Implementation</vt:lpstr>
      <vt:lpstr>Outline</vt:lpstr>
      <vt:lpstr>Motivation</vt:lpstr>
      <vt:lpstr>Background - MITRE ATT&amp;CK Framework</vt:lpstr>
      <vt:lpstr>Background – Attack Lifecycle</vt:lpstr>
      <vt:lpstr>Background - Endpoint Detection and Response Alert</vt:lpstr>
      <vt:lpstr>Background - Network Detection and Response Alert</vt:lpstr>
      <vt:lpstr>Background – Sysmon Log</vt:lpstr>
      <vt:lpstr>Background – Suricata Log</vt:lpstr>
      <vt:lpstr>Background – Causal Graph</vt:lpstr>
      <vt:lpstr>Background - Large Language Model (LLM)</vt:lpstr>
      <vt:lpstr>Related Works</vt:lpstr>
      <vt:lpstr>Issues</vt:lpstr>
      <vt:lpstr>Notations</vt:lpstr>
      <vt:lpstr>Problem Overview</vt:lpstr>
      <vt:lpstr>Problem Statements – Log Denoising</vt:lpstr>
      <vt:lpstr>Problem Statements – Attack Lifecycle Completion</vt:lpstr>
      <vt:lpstr>Outline</vt:lpstr>
      <vt:lpstr>Solution Overview</vt:lpstr>
      <vt:lpstr>Solution – Graph-based Malicious Log Extraction:  Log2Graph (1/2)</vt:lpstr>
      <vt:lpstr>Solution – Graph-based Malicious Log Extraction: Log2Graph (2/2)</vt:lpstr>
      <vt:lpstr>Solution – Graph-based Malicious Log Extraction: Attack Subgraph Search</vt:lpstr>
      <vt:lpstr>Solution – Graph-based Malicious Log Extraction: Graph2Log</vt:lpstr>
      <vt:lpstr>Solution – LLM-Driven Lifecycle Completion:  Time-Window based Single-Technique Detection</vt:lpstr>
      <vt:lpstr>Solution – LLM-Driven Lifecycle Completion:  Lifecycle Completion</vt:lpstr>
      <vt:lpstr>Implementation</vt:lpstr>
      <vt:lpstr>Implementation – Open-Source Tools and Libraries</vt:lpstr>
      <vt:lpstr>Implementation: Single-Technique Detection Finetuning</vt:lpstr>
      <vt:lpstr>Evaluation</vt:lpstr>
      <vt:lpstr>Evaluation 1: Extraction Effectiveness - Reduction Rate? Our solution Stage 1 achieved a two-order-of-magnitude reduction in log volume </vt:lpstr>
      <vt:lpstr>Evaluation 1: Extraction Correctness – FP/FN/TN?   Our solution Stage 1 achieved 0.901 F1-score</vt:lpstr>
      <vt:lpstr>PowerPoint 簡報</vt:lpstr>
      <vt:lpstr>PowerPoint 簡報</vt:lpstr>
      <vt:lpstr>PowerPoint 簡報</vt:lpstr>
      <vt:lpstr>PowerPoint 簡報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TBD</dc:title>
  <dc:creator>敬堯 蘇</dc:creator>
  <cp:lastModifiedBy>敬堯 蘇</cp:lastModifiedBy>
  <cp:revision>641</cp:revision>
  <dcterms:created xsi:type="dcterms:W3CDTF">2025-09-24T16:36:33Z</dcterms:created>
  <dcterms:modified xsi:type="dcterms:W3CDTF">2026-05-20T14:45:59Z</dcterms:modified>
</cp:coreProperties>
</file>