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257" r:id="rId3"/>
    <p:sldId id="258" r:id="rId4"/>
    <p:sldId id="259" r:id="rId5"/>
    <p:sldId id="264" r:id="rId6"/>
    <p:sldId id="260" r:id="rId7"/>
    <p:sldId id="261" r:id="rId8"/>
    <p:sldId id="289" r:id="rId9"/>
    <p:sldId id="427" r:id="rId10"/>
    <p:sldId id="386" r:id="rId11"/>
    <p:sldId id="268" r:id="rId12"/>
    <p:sldId id="270" r:id="rId13"/>
    <p:sldId id="313" r:id="rId14"/>
    <p:sldId id="267" r:id="rId15"/>
    <p:sldId id="323" r:id="rId16"/>
    <p:sldId id="274" r:id="rId17"/>
    <p:sldId id="277" r:id="rId18"/>
    <p:sldId id="381" r:id="rId19"/>
    <p:sldId id="278" r:id="rId20"/>
    <p:sldId id="276" r:id="rId21"/>
    <p:sldId id="392" r:id="rId22"/>
    <p:sldId id="393" r:id="rId23"/>
    <p:sldId id="299" r:id="rId24"/>
    <p:sldId id="300" r:id="rId25"/>
    <p:sldId id="333" r:id="rId26"/>
    <p:sldId id="416" r:id="rId27"/>
    <p:sldId id="417" r:id="rId28"/>
    <p:sldId id="418" r:id="rId29"/>
    <p:sldId id="297" r:id="rId30"/>
    <p:sldId id="279" r:id="rId31"/>
    <p:sldId id="421" r:id="rId32"/>
    <p:sldId id="409" r:id="rId33"/>
    <p:sldId id="410" r:id="rId34"/>
    <p:sldId id="424" r:id="rId35"/>
    <p:sldId id="404" r:id="rId36"/>
    <p:sldId id="398" r:id="rId37"/>
    <p:sldId id="340" r:id="rId38"/>
    <p:sldId id="373" r:id="rId39"/>
    <p:sldId id="422" r:id="rId40"/>
    <p:sldId id="282" r:id="rId41"/>
    <p:sldId id="283" r:id="rId42"/>
    <p:sldId id="284" r:id="rId43"/>
    <p:sldId id="286" r:id="rId44"/>
    <p:sldId id="287" r:id="rId45"/>
    <p:sldId id="385" r:id="rId46"/>
    <p:sldId id="413" r:id="rId47"/>
    <p:sldId id="411" r:id="rId48"/>
    <p:sldId id="419" r:id="rId49"/>
    <p:sldId id="288" r:id="rId50"/>
    <p:sldId id="281" r:id="rId51"/>
    <p:sldId id="290" r:id="rId52"/>
    <p:sldId id="291" r:id="rId53"/>
    <p:sldId id="295" r:id="rId54"/>
    <p:sldId id="292" r:id="rId55"/>
    <p:sldId id="294" r:id="rId56"/>
    <p:sldId id="280" r:id="rId57"/>
    <p:sldId id="317" r:id="rId58"/>
    <p:sldId id="369" r:id="rId59"/>
    <p:sldId id="312" r:id="rId60"/>
    <p:sldId id="339" r:id="rId61"/>
    <p:sldId id="332" r:id="rId62"/>
    <p:sldId id="337" r:id="rId63"/>
    <p:sldId id="356" r:id="rId64"/>
    <p:sldId id="343" r:id="rId65"/>
    <p:sldId id="354" r:id="rId66"/>
    <p:sldId id="371" r:id="rId67"/>
    <p:sldId id="358" r:id="rId68"/>
    <p:sldId id="383" r:id="rId69"/>
    <p:sldId id="362" r:id="rId70"/>
    <p:sldId id="390" r:id="rId71"/>
    <p:sldId id="370" r:id="rId72"/>
    <p:sldId id="367" r:id="rId73"/>
    <p:sldId id="391" r:id="rId74"/>
    <p:sldId id="402" r:id="rId75"/>
    <p:sldId id="400" r:id="rId76"/>
    <p:sldId id="408" r:id="rId77"/>
    <p:sldId id="342" r:id="rId78"/>
    <p:sldId id="382" r:id="rId79"/>
    <p:sldId id="399" r:id="rId80"/>
    <p:sldId id="375" r:id="rId81"/>
  </p:sldIdLst>
  <p:sldSz cx="12192000" cy="6858000"/>
  <p:notesSz cx="6797675" cy="99266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28DAA26-F62A-4649-9C3D-C3D5D8A02748}">
          <p14:sldIdLst>
            <p14:sldId id="256"/>
            <p14:sldId id="257"/>
            <p14:sldId id="258"/>
          </p14:sldIdLst>
        </p14:section>
        <p14:section name="Background" id="{AFE8CB0C-6710-46B6-A6D8-FCC1CF787934}">
          <p14:sldIdLst>
            <p14:sldId id="259"/>
            <p14:sldId id="264"/>
            <p14:sldId id="260"/>
            <p14:sldId id="261"/>
            <p14:sldId id="289"/>
            <p14:sldId id="427"/>
            <p14:sldId id="386"/>
          </p14:sldIdLst>
        </p14:section>
        <p14:section name="Issues" id="{36C6847E-727E-475C-A119-C3AE0C76078C}">
          <p14:sldIdLst/>
        </p14:section>
        <p14:section name="Notations" id="{A7442D59-60FC-4D36-904E-0231B030D0F0}">
          <p14:sldIdLst>
            <p14:sldId id="268"/>
          </p14:sldIdLst>
        </p14:section>
        <p14:section name="Problem statement" id="{501C6F53-E9B1-42A7-985B-763D530B7230}">
          <p14:sldIdLst>
            <p14:sldId id="270"/>
            <p14:sldId id="313"/>
          </p14:sldIdLst>
        </p14:section>
        <p14:section name="Related works" id="{A3202624-522C-4F76-B002-3662BB02D667}">
          <p14:sldIdLst>
            <p14:sldId id="267"/>
          </p14:sldIdLst>
        </p14:section>
        <p14:section name="Solution" id="{0244E231-EC68-4433-A4EF-655A7D1F297C}">
          <p14:sldIdLst>
            <p14:sldId id="323"/>
            <p14:sldId id="274"/>
            <p14:sldId id="277"/>
            <p14:sldId id="381"/>
            <p14:sldId id="278"/>
            <p14:sldId id="276"/>
            <p14:sldId id="392"/>
            <p14:sldId id="393"/>
          </p14:sldIdLst>
        </p14:section>
        <p14:section name="Implementation" id="{2BC97C63-DF27-498D-9485-212641352784}">
          <p14:sldIdLst>
            <p14:sldId id="299"/>
            <p14:sldId id="300"/>
            <p14:sldId id="333"/>
            <p14:sldId id="416"/>
            <p14:sldId id="417"/>
            <p14:sldId id="418"/>
            <p14:sldId id="297"/>
          </p14:sldIdLst>
        </p14:section>
        <p14:section name="Important Result" id="{AAB9C6B2-18A5-4CED-8B5D-41684265004D}">
          <p14:sldIdLst>
            <p14:sldId id="279"/>
            <p14:sldId id="421"/>
            <p14:sldId id="409"/>
            <p14:sldId id="410"/>
            <p14:sldId id="424"/>
            <p14:sldId id="404"/>
            <p14:sldId id="398"/>
            <p14:sldId id="340"/>
          </p14:sldIdLst>
        </p14:section>
        <p14:section name="Verified only Reuslt" id="{D5361308-C902-45B8-BD58-88243FEC0FFC}">
          <p14:sldIdLst/>
        </p14:section>
        <p14:section name="Deployment Result" id="{B7AC8367-E172-402F-86AE-5574A000131E}">
          <p14:sldIdLst/>
        </p14:section>
        <p14:section name="Conclusion" id="{CDDE7A0E-58AD-42F4-B2A2-762DD55432C5}">
          <p14:sldIdLst>
            <p14:sldId id="373"/>
            <p14:sldId id="422"/>
          </p14:sldIdLst>
        </p14:section>
        <p14:section name="References" id="{172B7D98-0F70-4E7F-8EBD-32DA2DFDC69D}">
          <p14:sldIdLst>
            <p14:sldId id="282"/>
            <p14:sldId id="283"/>
            <p14:sldId id="284"/>
            <p14:sldId id="286"/>
            <p14:sldId id="287"/>
            <p14:sldId id="385"/>
          </p14:sldIdLst>
        </p14:section>
        <p14:section name="Appendix" id="{12F5B30E-A544-4FAE-B8DC-CA89576BA40B}">
          <p14:sldIdLst>
            <p14:sldId id="413"/>
            <p14:sldId id="411"/>
            <p14:sldId id="419"/>
          </p14:sldIdLst>
        </p14:section>
        <p14:section name="結尾頁面" id="{621269A8-3587-48D0-9D1E-4AA22DFB12A6}">
          <p14:sldIdLst>
            <p14:sldId id="288"/>
          </p14:sldIdLst>
        </p14:section>
        <p14:section name="Unused" id="{973F781A-FDB4-4C0C-BAFD-DBE909B00623}">
          <p14:sldIdLst>
            <p14:sldId id="281"/>
            <p14:sldId id="290"/>
            <p14:sldId id="291"/>
            <p14:sldId id="295"/>
            <p14:sldId id="292"/>
            <p14:sldId id="294"/>
            <p14:sldId id="280"/>
            <p14:sldId id="317"/>
            <p14:sldId id="369"/>
            <p14:sldId id="312"/>
            <p14:sldId id="339"/>
            <p14:sldId id="332"/>
            <p14:sldId id="337"/>
            <p14:sldId id="356"/>
            <p14:sldId id="343"/>
            <p14:sldId id="354"/>
            <p14:sldId id="371"/>
            <p14:sldId id="358"/>
            <p14:sldId id="383"/>
            <p14:sldId id="362"/>
            <p14:sldId id="390"/>
            <p14:sldId id="370"/>
            <p14:sldId id="367"/>
            <p14:sldId id="391"/>
            <p14:sldId id="402"/>
            <p14:sldId id="400"/>
            <p14:sldId id="408"/>
            <p14:sldId id="342"/>
            <p14:sldId id="382"/>
            <p14:sldId id="399"/>
            <p14:sldId id="3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57" autoAdjust="0"/>
    <p:restoredTop sz="96242" autoAdjust="0"/>
  </p:normalViewPr>
  <p:slideViewPr>
    <p:cSldViewPr snapToGrid="0">
      <p:cViewPr>
        <p:scale>
          <a:sx n="100" d="100"/>
          <a:sy n="100" d="100"/>
        </p:scale>
        <p:origin x="186" y="23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0"/>
            <a:ext cx="2945659" cy="498056"/>
          </a:xfrm>
          <a:prstGeom prst="rect">
            <a:avLst/>
          </a:prstGeom>
        </p:spPr>
        <p:txBody>
          <a:bodyPr vert="horz" lIns="91422" tIns="45711" rIns="91422" bIns="45711" rtlCol="0"/>
          <a:lstStyle>
            <a:lvl1pPr algn="l">
              <a:defRPr sz="1200"/>
            </a:lvl1pPr>
          </a:lstStyle>
          <a:p>
            <a:endParaRPr lang="zh-TW" altLang="en-US"/>
          </a:p>
        </p:txBody>
      </p:sp>
      <p:sp>
        <p:nvSpPr>
          <p:cNvPr id="3" name="日期版面配置區 2"/>
          <p:cNvSpPr>
            <a:spLocks noGrp="1"/>
          </p:cNvSpPr>
          <p:nvPr>
            <p:ph type="dt" idx="1"/>
          </p:nvPr>
        </p:nvSpPr>
        <p:spPr>
          <a:xfrm>
            <a:off x="3850445" y="0"/>
            <a:ext cx="2945659" cy="498056"/>
          </a:xfrm>
          <a:prstGeom prst="rect">
            <a:avLst/>
          </a:prstGeom>
        </p:spPr>
        <p:txBody>
          <a:bodyPr vert="horz" lIns="91422" tIns="45711" rIns="91422" bIns="45711" rtlCol="0"/>
          <a:lstStyle>
            <a:lvl1pPr algn="r">
              <a:defRPr sz="1200"/>
            </a:lvl1pPr>
          </a:lstStyle>
          <a:p>
            <a:fld id="{96B5732C-BF92-47B3-A9C3-4BDE98683025}" type="datetimeFigureOut">
              <a:rPr lang="zh-TW" altLang="en-US" smtClean="0"/>
              <a:t>2026/5/14</a:t>
            </a:fld>
            <a:endParaRPr lang="zh-TW" altLang="en-US"/>
          </a:p>
        </p:txBody>
      </p:sp>
      <p:sp>
        <p:nvSpPr>
          <p:cNvPr id="4" name="投影片影像版面配置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22" tIns="45711" rIns="91422" bIns="45711" rtlCol="0" anchor="ctr"/>
          <a:lstStyle/>
          <a:p>
            <a:endParaRPr lang="zh-TW" altLang="en-US"/>
          </a:p>
        </p:txBody>
      </p:sp>
      <p:sp>
        <p:nvSpPr>
          <p:cNvPr id="5" name="備忘稿版面配置區 4"/>
          <p:cNvSpPr>
            <a:spLocks noGrp="1"/>
          </p:cNvSpPr>
          <p:nvPr>
            <p:ph type="body" sz="quarter" idx="3"/>
          </p:nvPr>
        </p:nvSpPr>
        <p:spPr>
          <a:xfrm>
            <a:off x="679768" y="4777194"/>
            <a:ext cx="5438140" cy="3908614"/>
          </a:xfrm>
          <a:prstGeom prst="rect">
            <a:avLst/>
          </a:prstGeom>
        </p:spPr>
        <p:txBody>
          <a:bodyPr vert="horz" lIns="91422" tIns="45711" rIns="91422" bIns="45711"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 y="9428586"/>
            <a:ext cx="2945659" cy="498055"/>
          </a:xfrm>
          <a:prstGeom prst="rect">
            <a:avLst/>
          </a:prstGeom>
        </p:spPr>
        <p:txBody>
          <a:bodyPr vert="horz" lIns="91422" tIns="45711" rIns="91422" bIns="45711"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8586"/>
            <a:ext cx="2945659" cy="498055"/>
          </a:xfrm>
          <a:prstGeom prst="rect">
            <a:avLst/>
          </a:prstGeom>
        </p:spPr>
        <p:txBody>
          <a:bodyPr vert="horz" lIns="91422" tIns="45711" rIns="91422" bIns="45711" rtlCol="0" anchor="b"/>
          <a:lstStyle>
            <a:lvl1pPr algn="r">
              <a:defRPr sz="1200"/>
            </a:lvl1pPr>
          </a:lstStyle>
          <a:p>
            <a:fld id="{7158F2C8-1ADC-47B4-8041-A07664DB9A1F}" type="slidenum">
              <a:rPr lang="zh-TW" altLang="en-US" smtClean="0"/>
              <a:t>‹#›</a:t>
            </a:fld>
            <a:endParaRPr lang="zh-TW" altLang="en-US"/>
          </a:p>
        </p:txBody>
      </p:sp>
    </p:spTree>
    <p:extLst>
      <p:ext uri="{BB962C8B-B14F-4D97-AF65-F5344CB8AC3E}">
        <p14:creationId xmlns:p14="http://schemas.microsoft.com/office/powerpoint/2010/main" val="52541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707e8ba0de_0_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 name="Google Shape;63;g3707e8ba0de_0_0:notes"/>
          <p:cNvSpPr txBox="1">
            <a:spLocks noGrp="1"/>
          </p:cNvSpPr>
          <p:nvPr>
            <p:ph type="body" idx="1"/>
          </p:nvPr>
        </p:nvSpPr>
        <p:spPr>
          <a:xfrm>
            <a:off x="679768" y="4777196"/>
            <a:ext cx="5438140" cy="3908777"/>
          </a:xfrm>
          <a:prstGeom prst="rect">
            <a:avLst/>
          </a:prstGeom>
          <a:noFill/>
          <a:ln>
            <a:noFill/>
          </a:ln>
        </p:spPr>
        <p:txBody>
          <a:bodyPr spcFirstLastPara="1" wrap="square" lIns="91406" tIns="45690" rIns="91406" bIns="45690" anchor="t" anchorCtr="0">
            <a:noAutofit/>
          </a:bodyPr>
          <a:lstStyle/>
          <a:p>
            <a:pPr rtl="0"/>
            <a:r>
              <a:rPr lang="en-US" altLang="zh-TW" sz="1200" b="1" i="0" u="none" strike="noStrike" kern="1200" dirty="0">
                <a:solidFill>
                  <a:schemeClr val="tx1"/>
                </a:solidFill>
                <a:effectLst/>
                <a:latin typeface="+mn-lt"/>
                <a:ea typeface="+mn-ea"/>
                <a:cs typeface="+mn-cs"/>
              </a:rPr>
              <a:t>Background and Related Work and gaps (1 mins)</a:t>
            </a:r>
            <a:endParaRPr lang="zh-TW" altLang="en-US" b="1" dirty="0">
              <a:effectLst/>
            </a:endParaRPr>
          </a:p>
          <a:p>
            <a:pPr rtl="0"/>
            <a:r>
              <a:rPr lang="zh-TW" altLang="en-US" sz="1200" b="0" i="0" u="none" strike="noStrike" kern="1200" dirty="0">
                <a:solidFill>
                  <a:schemeClr val="tx1"/>
                </a:solidFill>
                <a:effectLst/>
                <a:latin typeface="+mn-lt"/>
                <a:ea typeface="+mn-ea"/>
                <a:cs typeface="+mn-cs"/>
              </a:rPr>
              <a:t>隨著自動化攻擊工具的演進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攻擊者能夠快速分析系統並產生攻擊樣本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而 </a:t>
            </a:r>
            <a:r>
              <a:rPr lang="en-US" altLang="zh-TW" sz="1200" b="0" i="0" u="none" strike="noStrike" kern="1200" dirty="0">
                <a:solidFill>
                  <a:schemeClr val="tx1"/>
                </a:solidFill>
                <a:effectLst/>
                <a:latin typeface="+mn-lt"/>
                <a:ea typeface="+mn-ea"/>
                <a:cs typeface="+mn-cs"/>
              </a:rPr>
              <a:t>Honeypot </a:t>
            </a:r>
            <a:r>
              <a:rPr lang="zh-TW" altLang="en-US" sz="1200" b="0" i="0" u="none" strike="noStrike" kern="1200" dirty="0">
                <a:solidFill>
                  <a:schemeClr val="tx1"/>
                </a:solidFill>
                <a:effectLst/>
                <a:latin typeface="+mn-lt"/>
                <a:ea typeface="+mn-ea"/>
                <a:cs typeface="+mn-cs"/>
              </a:rPr>
              <a:t>作為主動式防禦的工具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維持真實性與動態性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誘使駭客儘可能產生更多的攻擊樣本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近年研究嘗試使用 </a:t>
            </a:r>
            <a:r>
              <a:rPr lang="en-US" altLang="zh-TW" sz="1200" b="0" i="0" u="none" strike="noStrike" kern="1200" dirty="0">
                <a:solidFill>
                  <a:schemeClr val="tx1"/>
                </a:solidFill>
                <a:effectLst/>
                <a:latin typeface="+mn-lt"/>
                <a:ea typeface="+mn-ea"/>
                <a:cs typeface="+mn-cs"/>
              </a:rPr>
              <a:t>RL </a:t>
            </a:r>
            <a:r>
              <a:rPr lang="zh-TW" altLang="en-US" sz="1200" b="0" i="0" u="none" strike="noStrike" kern="1200" dirty="0">
                <a:solidFill>
                  <a:schemeClr val="tx1"/>
                </a:solidFill>
                <a:effectLst/>
                <a:latin typeface="+mn-lt"/>
                <a:ea typeface="+mn-ea"/>
                <a:cs typeface="+mn-cs"/>
              </a:rPr>
              <a:t>動態選擇回應來增強蜜罐的動態性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然而 </a:t>
            </a:r>
            <a:r>
              <a:rPr lang="en-US" altLang="zh-TW" sz="1200" b="0" i="0" u="none" strike="noStrike" kern="1200" dirty="0">
                <a:solidFill>
                  <a:schemeClr val="tx1"/>
                </a:solidFill>
                <a:effectLst/>
                <a:latin typeface="+mn-lt"/>
                <a:ea typeface="+mn-ea"/>
                <a:cs typeface="+mn-cs"/>
              </a:rPr>
              <a:t>RL </a:t>
            </a:r>
            <a:r>
              <a:rPr lang="zh-TW" altLang="en-US" sz="1200" b="0" i="0" u="none" strike="noStrike" kern="1200" dirty="0">
                <a:solidFill>
                  <a:schemeClr val="tx1"/>
                </a:solidFill>
                <a:effectLst/>
                <a:latin typeface="+mn-lt"/>
                <a:ea typeface="+mn-ea"/>
                <a:cs typeface="+mn-cs"/>
              </a:rPr>
              <a:t>受限於模型的能力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僅能做到單個指令單次回應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且回應範圍相對侷限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無法依靠單一</a:t>
            </a:r>
            <a:r>
              <a:rPr lang="en-US" altLang="zh-TW" sz="1200" b="0" i="0" u="none" strike="noStrike" kern="1200" dirty="0">
                <a:solidFill>
                  <a:schemeClr val="tx1"/>
                </a:solidFill>
                <a:effectLst/>
                <a:latin typeface="+mn-lt"/>
                <a:ea typeface="+mn-ea"/>
                <a:cs typeface="+mn-cs"/>
              </a:rPr>
              <a:t>RL</a:t>
            </a:r>
            <a:r>
              <a:rPr lang="zh-TW" altLang="en-US" sz="1200" b="0" i="0" u="none" strike="noStrike" kern="1200" dirty="0">
                <a:solidFill>
                  <a:schemeClr val="tx1"/>
                </a:solidFill>
                <a:effectLst/>
                <a:latin typeface="+mn-lt"/>
                <a:ea typeface="+mn-ea"/>
                <a:cs typeface="+mn-cs"/>
              </a:rPr>
              <a:t>模型從複雜的指令序列中識別攻擊意圖並投其所好進行策略選擇</a:t>
            </a:r>
            <a:endParaRPr lang="zh-TW" altLang="en-US" b="0" dirty="0">
              <a:effectLst/>
            </a:endParaRPr>
          </a:p>
          <a:p>
            <a:pPr rtl="0"/>
            <a:endParaRPr lang="en-US" altLang="zh-TW" sz="1200" b="0" i="0" u="none" strike="noStrike" kern="1200" dirty="0">
              <a:solidFill>
                <a:schemeClr val="tx1"/>
              </a:solidFill>
              <a:effectLst/>
              <a:latin typeface="+mn-lt"/>
              <a:ea typeface="+mn-ea"/>
              <a:cs typeface="+mn-cs"/>
            </a:endParaRPr>
          </a:p>
          <a:p>
            <a:pPr rtl="0"/>
            <a:r>
              <a:rPr lang="en-US" altLang="zh-TW" sz="1200" b="1" i="0" u="none" strike="noStrike" kern="1200" dirty="0">
                <a:solidFill>
                  <a:schemeClr val="tx1"/>
                </a:solidFill>
                <a:effectLst/>
                <a:latin typeface="+mn-lt"/>
                <a:ea typeface="+mn-ea"/>
                <a:cs typeface="+mn-cs"/>
              </a:rPr>
              <a:t>Our proposed solution (2 mins)</a:t>
            </a:r>
            <a:endParaRPr lang="zh-TW" altLang="en-US" b="1" dirty="0">
              <a:effectLst/>
            </a:endParaRPr>
          </a:p>
          <a:p>
            <a:pPr rtl="0"/>
            <a:r>
              <a:rPr lang="zh-TW" altLang="en-US" sz="1200" b="0" i="0" u="none" strike="noStrike" kern="1200" dirty="0">
                <a:solidFill>
                  <a:schemeClr val="tx1"/>
                </a:solidFill>
                <a:effectLst/>
                <a:latin typeface="+mn-lt"/>
                <a:ea typeface="+mn-ea"/>
                <a:cs typeface="+mn-cs"/>
              </a:rPr>
              <a:t>為了解決上述問題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我們的解決方法利用當今的 </a:t>
            </a:r>
            <a:r>
              <a:rPr lang="en-US" altLang="zh-TW" sz="1200" b="0" i="0" u="none" strike="noStrike" kern="1200" dirty="0">
                <a:solidFill>
                  <a:schemeClr val="tx1"/>
                </a:solidFill>
                <a:effectLst/>
                <a:latin typeface="+mn-lt"/>
                <a:ea typeface="+mn-ea"/>
                <a:cs typeface="+mn-cs"/>
              </a:rPr>
              <a:t>LLM </a:t>
            </a:r>
            <a:r>
              <a:rPr lang="zh-TW" altLang="en-US" sz="1200" b="0" i="0" u="none" strike="noStrike" kern="1200" dirty="0">
                <a:solidFill>
                  <a:schemeClr val="tx1"/>
                </a:solidFill>
                <a:effectLst/>
                <a:latin typeface="+mn-lt"/>
                <a:ea typeface="+mn-ea"/>
                <a:cs typeface="+mn-cs"/>
              </a:rPr>
              <a:t>常見微調方法使 </a:t>
            </a:r>
            <a:r>
              <a:rPr lang="en-US" altLang="zh-TW" sz="1200" b="0" i="0" u="none" strike="noStrike" kern="1200" dirty="0">
                <a:solidFill>
                  <a:schemeClr val="tx1"/>
                </a:solidFill>
                <a:effectLst/>
                <a:latin typeface="+mn-lt"/>
                <a:ea typeface="+mn-ea"/>
                <a:cs typeface="+mn-cs"/>
              </a:rPr>
              <a:t>LLM </a:t>
            </a:r>
            <a:r>
              <a:rPr lang="zh-TW" altLang="en-US" sz="1200" b="0" i="0" u="none" strike="noStrike" kern="1200" dirty="0">
                <a:solidFill>
                  <a:schemeClr val="tx1"/>
                </a:solidFill>
                <a:effectLst/>
                <a:latin typeface="+mn-lt"/>
                <a:ea typeface="+mn-ea"/>
                <a:cs typeface="+mn-cs"/>
              </a:rPr>
              <a:t>具備更佳的意圖感知與交戰策略選擇的能力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在意圖感知方面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我們透過商用語言模型在交戰後對的攻擊者所在交戰時產生的 </a:t>
            </a:r>
            <a:r>
              <a:rPr lang="en-US" altLang="zh-TW" sz="1200" b="0" i="0" u="none" strike="noStrike" kern="1200" dirty="0">
                <a:solidFill>
                  <a:schemeClr val="tx1"/>
                </a:solidFill>
                <a:effectLst/>
                <a:latin typeface="+mn-lt"/>
                <a:ea typeface="+mn-ea"/>
                <a:cs typeface="+mn-cs"/>
              </a:rPr>
              <a:t>Tactic </a:t>
            </a:r>
            <a:r>
              <a:rPr lang="zh-TW" altLang="en-US" sz="1200" b="0" i="0" u="none" strike="noStrike" kern="1200" dirty="0">
                <a:solidFill>
                  <a:schemeClr val="tx1"/>
                </a:solidFill>
                <a:effectLst/>
                <a:latin typeface="+mn-lt"/>
                <a:ea typeface="+mn-ea"/>
                <a:cs typeface="+mn-cs"/>
              </a:rPr>
              <a:t>和意圖標註思考鍊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包含攻擊者使用指令、理由、</a:t>
            </a:r>
            <a:r>
              <a:rPr lang="en-US" altLang="zh-TW" sz="1200" b="0" i="0" u="none" strike="noStrike" kern="1200" dirty="0">
                <a:solidFill>
                  <a:schemeClr val="tx1"/>
                </a:solidFill>
                <a:effectLst/>
                <a:latin typeface="+mn-lt"/>
                <a:ea typeface="+mn-ea"/>
                <a:cs typeface="+mn-cs"/>
              </a:rPr>
              <a:t>tactic -&gt; </a:t>
            </a:r>
            <a:r>
              <a:rPr lang="zh-TW" altLang="en-US" sz="1200" b="0" i="0" u="none" strike="noStrike" kern="1200" dirty="0">
                <a:solidFill>
                  <a:schemeClr val="tx1"/>
                </a:solidFill>
                <a:effectLst/>
                <a:latin typeface="+mn-lt"/>
                <a:ea typeface="+mn-ea"/>
                <a:cs typeface="+mn-cs"/>
              </a:rPr>
              <a:t>並透過 </a:t>
            </a:r>
            <a:r>
              <a:rPr lang="en-US" altLang="zh-TW" sz="1200" b="0" i="0" u="none" strike="noStrike" kern="1200" dirty="0">
                <a:solidFill>
                  <a:schemeClr val="tx1"/>
                </a:solidFill>
                <a:effectLst/>
                <a:latin typeface="+mn-lt"/>
                <a:ea typeface="+mn-ea"/>
                <a:cs typeface="+mn-cs"/>
              </a:rPr>
              <a:t>SFT </a:t>
            </a:r>
            <a:r>
              <a:rPr lang="zh-TW" altLang="en-US" sz="1200" b="0" i="0" u="none" strike="noStrike" kern="1200" dirty="0">
                <a:solidFill>
                  <a:schemeClr val="tx1"/>
                </a:solidFill>
                <a:effectLst/>
                <a:latin typeface="+mn-lt"/>
                <a:ea typeface="+mn-ea"/>
                <a:cs typeface="+mn-cs"/>
              </a:rPr>
              <a:t>將思考過程和 </a:t>
            </a:r>
            <a:r>
              <a:rPr lang="en-US" altLang="zh-TW" sz="1200" b="0" i="0" u="none" strike="noStrike" kern="1200" dirty="0">
                <a:solidFill>
                  <a:schemeClr val="tx1"/>
                </a:solidFill>
                <a:effectLst/>
                <a:latin typeface="+mn-lt"/>
                <a:ea typeface="+mn-ea"/>
                <a:cs typeface="+mn-cs"/>
              </a:rPr>
              <a:t>tactic </a:t>
            </a:r>
            <a:r>
              <a:rPr lang="zh-TW" altLang="en-US" sz="1200" b="0" i="0" u="none" strike="noStrike" kern="1200" dirty="0">
                <a:solidFill>
                  <a:schemeClr val="tx1"/>
                </a:solidFill>
                <a:effectLst/>
                <a:latin typeface="+mn-lt"/>
                <a:ea typeface="+mn-ea"/>
                <a:cs typeface="+mn-cs"/>
              </a:rPr>
              <a:t>對應學習到防守者 </a:t>
            </a:r>
            <a:r>
              <a:rPr lang="en-US" altLang="zh-TW" sz="1200" b="0" i="0" u="none" strike="noStrike" kern="1200" dirty="0">
                <a:solidFill>
                  <a:schemeClr val="tx1"/>
                </a:solidFill>
                <a:effectLst/>
                <a:latin typeface="+mn-lt"/>
                <a:ea typeface="+mn-ea"/>
                <a:cs typeface="+mn-cs"/>
              </a:rPr>
              <a:t>LLM </a:t>
            </a:r>
            <a:r>
              <a:rPr lang="zh-TW" altLang="en-US" sz="1200" b="0" i="0" u="none" strike="noStrike" kern="1200" dirty="0">
                <a:solidFill>
                  <a:schemeClr val="tx1"/>
                </a:solidFill>
                <a:effectLst/>
                <a:latin typeface="+mn-lt"/>
                <a:ea typeface="+mn-ea"/>
                <a:cs typeface="+mn-cs"/>
              </a:rPr>
              <a:t>當中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對於策略選擇 </a:t>
            </a:r>
            <a:r>
              <a:rPr lang="en-US" altLang="zh-TW" sz="1200" b="0" i="0" u="none" strike="noStrike" kern="1200" dirty="0">
                <a:solidFill>
                  <a:schemeClr val="tx1"/>
                </a:solidFill>
                <a:effectLst/>
                <a:latin typeface="+mn-lt"/>
                <a:ea typeface="+mn-ea"/>
                <a:cs typeface="+mn-cs"/>
              </a:rPr>
              <a:t>-&gt;</a:t>
            </a:r>
            <a:r>
              <a:rPr lang="zh-TW" altLang="en-US" sz="1200" b="0" i="0" u="none" strike="noStrike" kern="1200" dirty="0">
                <a:solidFill>
                  <a:schemeClr val="tx1"/>
                </a:solidFill>
                <a:effectLst/>
                <a:latin typeface="+mn-lt"/>
                <a:ea typeface="+mn-ea"/>
                <a:cs typeface="+mn-cs"/>
              </a:rPr>
              <a:t> 使用 </a:t>
            </a:r>
            <a:r>
              <a:rPr lang="en-US" altLang="zh-TW" sz="1200" b="0" i="0" u="none" strike="noStrike" kern="1200" dirty="0">
                <a:solidFill>
                  <a:schemeClr val="tx1"/>
                </a:solidFill>
                <a:effectLst/>
                <a:latin typeface="+mn-lt"/>
                <a:ea typeface="+mn-ea"/>
                <a:cs typeface="+mn-cs"/>
              </a:rPr>
              <a:t>GRPO </a:t>
            </a:r>
            <a:r>
              <a:rPr lang="zh-TW" altLang="en-US" sz="1200" b="0" i="0" u="none" strike="noStrike" kern="1200" dirty="0">
                <a:solidFill>
                  <a:schemeClr val="tx1"/>
                </a:solidFill>
                <a:effectLst/>
                <a:latin typeface="+mn-lt"/>
                <a:ea typeface="+mn-ea"/>
                <a:cs typeface="+mn-cs"/>
              </a:rPr>
              <a:t>改變預訓練 </a:t>
            </a:r>
            <a:r>
              <a:rPr lang="en-US" altLang="zh-TW" sz="1200" b="0" i="0" u="none" strike="noStrike" kern="1200" dirty="0">
                <a:solidFill>
                  <a:schemeClr val="tx1"/>
                </a:solidFill>
                <a:effectLst/>
                <a:latin typeface="+mn-lt"/>
                <a:ea typeface="+mn-ea"/>
                <a:cs typeface="+mn-cs"/>
              </a:rPr>
              <a:t>LLM </a:t>
            </a:r>
            <a:r>
              <a:rPr lang="zh-TW" altLang="en-US" sz="1200" b="0" i="0" u="none" strike="noStrike" kern="1200" dirty="0">
                <a:solidFill>
                  <a:schemeClr val="tx1"/>
                </a:solidFill>
                <a:effectLst/>
                <a:latin typeface="+mn-lt"/>
                <a:ea typeface="+mn-ea"/>
                <a:cs typeface="+mn-cs"/>
              </a:rPr>
              <a:t>的次佳交戰策略選擇 </a:t>
            </a:r>
            <a:r>
              <a:rPr lang="en-US" altLang="zh-TW" sz="1200" b="0" i="0" u="none" strike="noStrike" kern="1200" dirty="0">
                <a:solidFill>
                  <a:schemeClr val="tx1"/>
                </a:solidFill>
                <a:effectLst/>
                <a:latin typeface="+mn-lt"/>
                <a:ea typeface="+mn-ea"/>
                <a:cs typeface="+mn-cs"/>
              </a:rPr>
              <a:t>-&gt;</a:t>
            </a:r>
            <a:r>
              <a:rPr lang="zh-TW" altLang="en-US" sz="1200" b="0" i="0" u="none" strike="noStrike" kern="1200" dirty="0">
                <a:solidFill>
                  <a:schemeClr val="tx1"/>
                </a:solidFill>
                <a:effectLst/>
                <a:latin typeface="+mn-lt"/>
                <a:ea typeface="+mn-ea"/>
                <a:cs typeface="+mn-cs"/>
              </a:rPr>
              <a:t> 為了提供可靠的 </a:t>
            </a:r>
            <a:r>
              <a:rPr lang="en-US" altLang="zh-TW" sz="1200" b="0" i="0" u="none" strike="noStrike" kern="1200" dirty="0">
                <a:solidFill>
                  <a:schemeClr val="tx1"/>
                </a:solidFill>
                <a:effectLst/>
                <a:latin typeface="+mn-lt"/>
                <a:ea typeface="+mn-ea"/>
                <a:cs typeface="+mn-cs"/>
              </a:rPr>
              <a:t>Reward </a:t>
            </a:r>
            <a:r>
              <a:rPr lang="zh-TW" altLang="en-US" sz="1200" b="0" i="0" u="none" strike="noStrike" kern="1200" dirty="0">
                <a:solidFill>
                  <a:schemeClr val="tx1"/>
                </a:solidFill>
                <a:effectLst/>
                <a:latin typeface="+mn-lt"/>
                <a:ea typeface="+mn-ea"/>
                <a:cs typeface="+mn-cs"/>
              </a:rPr>
              <a:t>來源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參考 </a:t>
            </a:r>
            <a:r>
              <a:rPr lang="en-US" altLang="zh-TW" sz="1200" b="0" i="0" u="none" strike="noStrike" kern="1200" dirty="0">
                <a:solidFill>
                  <a:schemeClr val="tx1"/>
                </a:solidFill>
                <a:effectLst/>
                <a:latin typeface="+mn-lt"/>
                <a:ea typeface="+mn-ea"/>
                <a:cs typeface="+mn-cs"/>
              </a:rPr>
              <a:t>MITRE Engage </a:t>
            </a:r>
            <a:r>
              <a:rPr lang="zh-TW" altLang="en-US" sz="1200" b="0" i="0" u="none" strike="noStrike" kern="1200" dirty="0">
                <a:solidFill>
                  <a:schemeClr val="tx1"/>
                </a:solidFill>
                <a:effectLst/>
                <a:latin typeface="+mn-lt"/>
                <a:ea typeface="+mn-ea"/>
                <a:cs typeface="+mn-cs"/>
              </a:rPr>
              <a:t>設計策略選項和 </a:t>
            </a:r>
            <a:r>
              <a:rPr lang="en-US" altLang="zh-TW" sz="1200" b="0" i="0" u="none" strike="noStrike" kern="1200" dirty="0">
                <a:solidFill>
                  <a:schemeClr val="tx1"/>
                </a:solidFill>
                <a:effectLst/>
                <a:latin typeface="+mn-lt"/>
                <a:ea typeface="+mn-ea"/>
                <a:cs typeface="+mn-cs"/>
              </a:rPr>
              <a:t>ATT&amp;CK </a:t>
            </a:r>
            <a:r>
              <a:rPr lang="zh-TW" altLang="en-US" sz="1200" b="0" i="0" u="none" strike="noStrike" kern="1200" dirty="0">
                <a:solidFill>
                  <a:schemeClr val="tx1"/>
                </a:solidFill>
                <a:effectLst/>
                <a:latin typeface="+mn-lt"/>
                <a:ea typeface="+mn-ea"/>
                <a:cs typeface="+mn-cs"/>
              </a:rPr>
              <a:t>設計包含交戰深度和</a:t>
            </a:r>
            <a:r>
              <a:rPr lang="en-US" altLang="zh-TW" sz="1200" b="0" i="0" u="none" strike="noStrike" kern="1200" dirty="0">
                <a:solidFill>
                  <a:schemeClr val="tx1"/>
                </a:solidFill>
                <a:effectLst/>
                <a:latin typeface="+mn-lt"/>
                <a:ea typeface="+mn-ea"/>
                <a:cs typeface="+mn-cs"/>
              </a:rPr>
              <a:t>technique</a:t>
            </a:r>
            <a:r>
              <a:rPr lang="zh-TW" altLang="en-US" sz="1200" b="0" i="0" u="none" strike="noStrike" kern="1200" dirty="0">
                <a:solidFill>
                  <a:schemeClr val="tx1"/>
                </a:solidFill>
                <a:effectLst/>
                <a:latin typeface="+mn-lt"/>
                <a:ea typeface="+mn-ea"/>
                <a:cs typeface="+mn-cs"/>
              </a:rPr>
              <a:t>多樣性的獎勵函數作為交戰的最終結果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然而 </a:t>
            </a:r>
            <a:r>
              <a:rPr lang="en-US" altLang="zh-TW" sz="1200" b="0" i="0" u="none" strike="noStrike" kern="1200" dirty="0">
                <a:solidFill>
                  <a:schemeClr val="tx1"/>
                </a:solidFill>
                <a:effectLst/>
                <a:latin typeface="+mn-lt"/>
                <a:ea typeface="+mn-ea"/>
                <a:cs typeface="+mn-cs"/>
              </a:rPr>
              <a:t>-&gt; LLM </a:t>
            </a:r>
            <a:r>
              <a:rPr lang="zh-TW" altLang="en-US" sz="1200" b="0" i="0" u="none" strike="noStrike" kern="1200" dirty="0">
                <a:solidFill>
                  <a:schemeClr val="tx1"/>
                </a:solidFill>
                <a:effectLst/>
                <a:latin typeface="+mn-lt"/>
                <a:ea typeface="+mn-ea"/>
                <a:cs typeface="+mn-cs"/>
              </a:rPr>
              <a:t>在僅依靠最終結果時不易確認獎勵所帶來的優化目的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因此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也設計 </a:t>
            </a:r>
            <a:r>
              <a:rPr lang="en-US" altLang="zh-TW" sz="1200" b="0" i="0" u="none" strike="noStrike" kern="1200" dirty="0">
                <a:solidFill>
                  <a:schemeClr val="tx1"/>
                </a:solidFill>
                <a:effectLst/>
                <a:latin typeface="+mn-lt"/>
                <a:ea typeface="+mn-ea"/>
                <a:cs typeface="+mn-cs"/>
              </a:rPr>
              <a:t>Reward model </a:t>
            </a:r>
            <a:r>
              <a:rPr lang="zh-TW" altLang="en-US" sz="1200" b="0" i="0" u="none" strike="noStrike" kern="1200" dirty="0">
                <a:solidFill>
                  <a:schemeClr val="tx1"/>
                </a:solidFill>
                <a:effectLst/>
                <a:latin typeface="+mn-lt"/>
                <a:ea typeface="+mn-ea"/>
                <a:cs typeface="+mn-cs"/>
              </a:rPr>
              <a:t>從交戰結果中學習指令序列與策略選擇間的獎勵關係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獎勵模型在 </a:t>
            </a:r>
            <a:r>
              <a:rPr lang="en-US" altLang="zh-TW" sz="1200" b="0" i="0" u="none" strike="noStrike" kern="1200" dirty="0">
                <a:solidFill>
                  <a:schemeClr val="tx1"/>
                </a:solidFill>
                <a:effectLst/>
                <a:latin typeface="+mn-lt"/>
                <a:ea typeface="+mn-ea"/>
                <a:cs typeface="+mn-cs"/>
              </a:rPr>
              <a:t>GRPO </a:t>
            </a:r>
            <a:r>
              <a:rPr lang="zh-TW" altLang="en-US" sz="1200" b="0" i="0" u="none" strike="noStrike" kern="1200" dirty="0">
                <a:solidFill>
                  <a:schemeClr val="tx1"/>
                </a:solidFill>
                <a:effectLst/>
                <a:latin typeface="+mn-lt"/>
                <a:ea typeface="+mn-ea"/>
                <a:cs typeface="+mn-cs"/>
              </a:rPr>
              <a:t>訓練時產生的多個回應進行評分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讓 </a:t>
            </a:r>
            <a:r>
              <a:rPr lang="en-US" altLang="zh-TW" sz="1200" b="0" i="0" u="none" strike="noStrike" kern="1200" dirty="0">
                <a:solidFill>
                  <a:schemeClr val="tx1"/>
                </a:solidFill>
                <a:effectLst/>
                <a:latin typeface="+mn-lt"/>
                <a:ea typeface="+mn-ea"/>
                <a:cs typeface="+mn-cs"/>
              </a:rPr>
              <a:t>LLM </a:t>
            </a:r>
            <a:r>
              <a:rPr lang="zh-TW" altLang="en-US" sz="1200" b="0" i="0" u="none" strike="noStrike" kern="1200" dirty="0">
                <a:solidFill>
                  <a:schemeClr val="tx1"/>
                </a:solidFill>
                <a:effectLst/>
                <a:latin typeface="+mn-lt"/>
                <a:ea typeface="+mn-ea"/>
                <a:cs typeface="+mn-cs"/>
              </a:rPr>
              <a:t>從相對分數中去改變策略選擇偏好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適應於 </a:t>
            </a:r>
            <a:r>
              <a:rPr lang="en-US" altLang="zh-TW" sz="1200" b="0" i="0" u="none" strike="noStrike" kern="1200" dirty="0">
                <a:solidFill>
                  <a:schemeClr val="tx1"/>
                </a:solidFill>
                <a:effectLst/>
                <a:latin typeface="+mn-lt"/>
                <a:ea typeface="+mn-ea"/>
                <a:cs typeface="+mn-cs"/>
              </a:rPr>
              <a:t>Honeypot </a:t>
            </a:r>
            <a:r>
              <a:rPr lang="zh-TW" altLang="en-US" sz="1200" b="0" i="0" u="none" strike="noStrike" kern="1200" dirty="0">
                <a:solidFill>
                  <a:schemeClr val="tx1"/>
                </a:solidFill>
                <a:effectLst/>
                <a:latin typeface="+mn-lt"/>
                <a:ea typeface="+mn-ea"/>
                <a:cs typeface="+mn-cs"/>
              </a:rPr>
              <a:t>環境中</a:t>
            </a:r>
            <a:endParaRPr lang="zh-TW" altLang="en-US" b="0" dirty="0">
              <a:effectLst/>
            </a:endParaRPr>
          </a:p>
          <a:p>
            <a:pPr rtl="0"/>
            <a:endParaRPr lang="en-US" altLang="zh-TW" sz="1200" b="0" i="0" u="none" strike="noStrike" kern="1200" dirty="0">
              <a:solidFill>
                <a:schemeClr val="tx1"/>
              </a:solidFill>
              <a:effectLst/>
              <a:latin typeface="+mn-lt"/>
              <a:ea typeface="+mn-ea"/>
              <a:cs typeface="+mn-cs"/>
            </a:endParaRPr>
          </a:p>
          <a:p>
            <a:pPr rtl="0"/>
            <a:r>
              <a:rPr lang="en-US" altLang="zh-TW" sz="1200" b="1" i="0" u="none" strike="noStrike" kern="1200" dirty="0">
                <a:solidFill>
                  <a:schemeClr val="tx1"/>
                </a:solidFill>
                <a:effectLst/>
                <a:latin typeface="+mn-lt"/>
                <a:ea typeface="+mn-ea"/>
                <a:cs typeface="+mn-cs"/>
              </a:rPr>
              <a:t>Empirical result (3 mins)</a:t>
            </a:r>
            <a:endParaRPr lang="zh-TW" altLang="en-US" b="1" dirty="0">
              <a:effectLst/>
            </a:endParaRPr>
          </a:p>
          <a:p>
            <a:pPr rtl="0"/>
            <a:r>
              <a:rPr lang="zh-TW" altLang="en-US" sz="1200" b="0" i="0" u="none" strike="noStrike" kern="1200" dirty="0">
                <a:solidFill>
                  <a:schemeClr val="tx1"/>
                </a:solidFill>
                <a:effectLst/>
                <a:latin typeface="+mn-lt"/>
                <a:ea typeface="+mn-ea"/>
                <a:cs typeface="+mn-cs"/>
              </a:rPr>
              <a:t>實驗結果顯示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經過 </a:t>
            </a:r>
            <a:r>
              <a:rPr lang="en-US" altLang="zh-TW" sz="1200" b="0" i="0" u="none" strike="noStrike" kern="1200" dirty="0">
                <a:solidFill>
                  <a:schemeClr val="tx1"/>
                </a:solidFill>
                <a:effectLst/>
                <a:latin typeface="+mn-lt"/>
                <a:ea typeface="+mn-ea"/>
                <a:cs typeface="+mn-cs"/>
              </a:rPr>
              <a:t>SFT </a:t>
            </a:r>
            <a:r>
              <a:rPr lang="zh-TW" altLang="en-US" sz="1200" b="0" i="0" u="none" strike="noStrike" kern="1200" dirty="0">
                <a:solidFill>
                  <a:schemeClr val="tx1"/>
                </a:solidFill>
                <a:effectLst/>
                <a:latin typeface="+mn-lt"/>
                <a:ea typeface="+mn-ea"/>
                <a:cs typeface="+mn-cs"/>
              </a:rPr>
              <a:t>後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相較於 </a:t>
            </a:r>
            <a:r>
              <a:rPr lang="en-US" altLang="zh-TW" sz="1200" b="0" i="0" u="none" strike="noStrike" kern="1200" dirty="0">
                <a:solidFill>
                  <a:schemeClr val="tx1"/>
                </a:solidFill>
                <a:effectLst/>
                <a:latin typeface="+mn-lt"/>
                <a:ea typeface="+mn-ea"/>
                <a:cs typeface="+mn-cs"/>
              </a:rPr>
              <a:t>base model </a:t>
            </a:r>
            <a:r>
              <a:rPr lang="zh-TW" altLang="en-US" sz="1200" b="0" i="0" u="none" strike="noStrike" kern="1200" dirty="0">
                <a:solidFill>
                  <a:schemeClr val="tx1"/>
                </a:solidFill>
                <a:effectLst/>
                <a:latin typeface="+mn-lt"/>
                <a:ea typeface="+mn-ea"/>
                <a:cs typeface="+mn-cs"/>
              </a:rPr>
              <a:t>能夠將 </a:t>
            </a:r>
            <a:r>
              <a:rPr lang="en-US" altLang="zh-TW" sz="1200" b="0" i="0" u="none" strike="noStrike" kern="1200" dirty="0">
                <a:solidFill>
                  <a:schemeClr val="tx1"/>
                </a:solidFill>
                <a:effectLst/>
                <a:latin typeface="+mn-lt"/>
                <a:ea typeface="+mn-ea"/>
                <a:cs typeface="+mn-cs"/>
              </a:rPr>
              <a:t>f1 score </a:t>
            </a:r>
            <a:r>
              <a:rPr lang="zh-TW" altLang="en-US" sz="1200" b="0" i="0" u="none" strike="noStrike" kern="1200" dirty="0">
                <a:solidFill>
                  <a:schemeClr val="tx1"/>
                </a:solidFill>
                <a:effectLst/>
                <a:latin typeface="+mn-lt"/>
                <a:ea typeface="+mn-ea"/>
                <a:cs typeface="+mn-cs"/>
              </a:rPr>
              <a:t>從 </a:t>
            </a:r>
            <a:r>
              <a:rPr lang="en-US" altLang="zh-TW" sz="1200" b="0" i="0" u="none" strike="noStrike" kern="1200" dirty="0">
                <a:solidFill>
                  <a:schemeClr val="tx1"/>
                </a:solidFill>
                <a:effectLst/>
                <a:latin typeface="+mn-lt"/>
                <a:ea typeface="+mn-ea"/>
                <a:cs typeface="+mn-cs"/>
              </a:rPr>
              <a:t>0.29 </a:t>
            </a:r>
            <a:r>
              <a:rPr lang="zh-TW" altLang="en-US" sz="1200" b="0" i="0" u="none" strike="noStrike" kern="1200" dirty="0">
                <a:solidFill>
                  <a:schemeClr val="tx1"/>
                </a:solidFill>
                <a:effectLst/>
                <a:latin typeface="+mn-lt"/>
                <a:ea typeface="+mn-ea"/>
                <a:cs typeface="+mn-cs"/>
              </a:rPr>
              <a:t>提升到 </a:t>
            </a:r>
            <a:r>
              <a:rPr lang="en-US" altLang="zh-TW" sz="1200" b="0" i="0" u="none" strike="noStrike" kern="1200" dirty="0">
                <a:solidFill>
                  <a:schemeClr val="tx1"/>
                </a:solidFill>
                <a:effectLst/>
                <a:latin typeface="+mn-lt"/>
                <a:ea typeface="+mn-ea"/>
                <a:cs typeface="+mn-cs"/>
              </a:rPr>
              <a:t>0.84 -&gt; </a:t>
            </a:r>
            <a:r>
              <a:rPr lang="zh-TW" altLang="en-US" sz="1200" b="0" i="0" u="none" strike="noStrike" kern="1200" dirty="0">
                <a:solidFill>
                  <a:schemeClr val="tx1"/>
                </a:solidFill>
                <a:effectLst/>
                <a:latin typeface="+mn-lt"/>
                <a:ea typeface="+mn-ea"/>
                <a:cs typeface="+mn-cs"/>
              </a:rPr>
              <a:t>這是因為預訓練模型雖然已經有基礎的資安知識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但對於特定環境的標註慣例仍然需要微調才能取得更好的結果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而 </a:t>
            </a:r>
            <a:r>
              <a:rPr lang="en-US" altLang="zh-TW" sz="1200" b="0" i="0" u="none" strike="noStrike" kern="1200" dirty="0">
                <a:solidFill>
                  <a:schemeClr val="tx1"/>
                </a:solidFill>
                <a:effectLst/>
                <a:latin typeface="+mn-lt"/>
                <a:ea typeface="+mn-ea"/>
                <a:cs typeface="+mn-cs"/>
              </a:rPr>
              <a:t>SFT </a:t>
            </a:r>
            <a:r>
              <a:rPr lang="zh-TW" altLang="en-US" sz="1200" b="0" i="0" u="none" strike="noStrike" kern="1200" dirty="0">
                <a:solidFill>
                  <a:schemeClr val="tx1"/>
                </a:solidFill>
                <a:effectLst/>
                <a:latin typeface="+mn-lt"/>
                <a:ea typeface="+mn-ea"/>
                <a:cs typeface="+mn-cs"/>
              </a:rPr>
              <a:t>所帶來的另外一個好處是理解意圖和策略的因果關係 </a:t>
            </a:r>
            <a:r>
              <a:rPr lang="en-US" altLang="zh-TW" sz="1200" b="0" i="0" u="none" strike="noStrike" kern="1200" dirty="0">
                <a:solidFill>
                  <a:schemeClr val="tx1"/>
                </a:solidFill>
                <a:effectLst/>
                <a:latin typeface="+mn-lt"/>
                <a:ea typeface="+mn-ea"/>
                <a:cs typeface="+mn-cs"/>
              </a:rPr>
              <a:t>(0.54-&gt;0.78)  -&gt; </a:t>
            </a:r>
            <a:r>
              <a:rPr lang="zh-TW" altLang="en-US" sz="1200" b="0" i="0" u="none" strike="noStrike" kern="1200" dirty="0">
                <a:solidFill>
                  <a:schemeClr val="tx1"/>
                </a:solidFill>
                <a:effectLst/>
                <a:latin typeface="+mn-lt"/>
                <a:ea typeface="+mn-ea"/>
                <a:cs typeface="+mn-cs"/>
              </a:rPr>
              <a:t>在 </a:t>
            </a:r>
            <a:r>
              <a:rPr lang="en-US" altLang="zh-TW" sz="1200" b="0" i="0" u="none" strike="noStrike" kern="1200" dirty="0">
                <a:solidFill>
                  <a:schemeClr val="tx1"/>
                </a:solidFill>
                <a:effectLst/>
                <a:latin typeface="+mn-lt"/>
                <a:ea typeface="+mn-ea"/>
                <a:cs typeface="+mn-cs"/>
              </a:rPr>
              <a:t>SFT</a:t>
            </a:r>
            <a:r>
              <a:rPr lang="zh-TW" altLang="en-US" sz="1200" b="0" i="0" u="none" strike="noStrike" kern="1200" dirty="0">
                <a:solidFill>
                  <a:schemeClr val="tx1"/>
                </a:solidFill>
                <a:effectLst/>
                <a:latin typeface="+mn-lt"/>
                <a:ea typeface="+mn-ea"/>
                <a:cs typeface="+mn-cs"/>
              </a:rPr>
              <a:t> 前即使強迫模型進行推理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模型表現出意圖和策略是分開的兩件事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這會讓後續在進行 </a:t>
            </a:r>
            <a:r>
              <a:rPr lang="en-US" altLang="zh-TW" sz="1200" b="0" i="0" u="none" strike="noStrike" kern="1200" dirty="0">
                <a:solidFill>
                  <a:schemeClr val="tx1"/>
                </a:solidFill>
                <a:effectLst/>
                <a:latin typeface="+mn-lt"/>
                <a:ea typeface="+mn-ea"/>
                <a:cs typeface="+mn-cs"/>
              </a:rPr>
              <a:t>GRPO </a:t>
            </a:r>
            <a:r>
              <a:rPr lang="zh-TW" altLang="en-US" sz="1200" b="0" i="0" u="none" strike="noStrike" kern="1200" dirty="0">
                <a:solidFill>
                  <a:schemeClr val="tx1"/>
                </a:solidFill>
                <a:effectLst/>
                <a:latin typeface="+mn-lt"/>
                <a:ea typeface="+mn-ea"/>
                <a:cs typeface="+mn-cs"/>
              </a:rPr>
              <a:t>微調後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模型不關注攻擊者階段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坍縮到只會一種策略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導致失去多樣性。</a:t>
            </a:r>
            <a:endParaRPr lang="en-US" altLang="zh-TW" sz="1200" b="0" i="0" u="none" strike="noStrike" kern="1200" dirty="0">
              <a:solidFill>
                <a:schemeClr val="tx1"/>
              </a:solidFill>
              <a:effectLst/>
              <a:latin typeface="+mn-lt"/>
              <a:ea typeface="+mn-ea"/>
              <a:cs typeface="+mn-cs"/>
            </a:endParaRPr>
          </a:p>
          <a:p>
            <a:pPr rtl="0"/>
            <a:endParaRPr lang="en-US" altLang="zh-TW" sz="1200" b="0" i="0" u="none" strike="noStrike" kern="1200" dirty="0">
              <a:solidFill>
                <a:schemeClr val="tx1"/>
              </a:solidFill>
              <a:effectLst/>
              <a:latin typeface="+mn-lt"/>
              <a:ea typeface="+mn-ea"/>
              <a:cs typeface="+mn-cs"/>
            </a:endParaRPr>
          </a:p>
          <a:p>
            <a:pPr rtl="0"/>
            <a:r>
              <a:rPr lang="zh-TW" altLang="en-US" sz="1200" b="0" i="0" u="none" strike="noStrike" kern="1200" dirty="0">
                <a:solidFill>
                  <a:schemeClr val="tx1"/>
                </a:solidFill>
                <a:effectLst/>
                <a:latin typeface="+mn-lt"/>
                <a:ea typeface="+mn-ea"/>
                <a:cs typeface="+mn-cs"/>
              </a:rPr>
              <a:t>在交戰結果上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經過 </a:t>
            </a:r>
            <a:r>
              <a:rPr lang="en-US" altLang="zh-TW" sz="1200" b="0" i="0" u="none" strike="noStrike" kern="1200" dirty="0">
                <a:solidFill>
                  <a:schemeClr val="tx1"/>
                </a:solidFill>
                <a:effectLst/>
                <a:latin typeface="+mn-lt"/>
                <a:ea typeface="+mn-ea"/>
                <a:cs typeface="+mn-cs"/>
              </a:rPr>
              <a:t>SFT </a:t>
            </a:r>
            <a:r>
              <a:rPr lang="zh-TW" altLang="en-US" sz="1200" b="0" i="0" u="none" strike="noStrike" kern="1200" dirty="0">
                <a:solidFill>
                  <a:schemeClr val="tx1"/>
                </a:solidFill>
                <a:effectLst/>
                <a:latin typeface="+mn-lt"/>
                <a:ea typeface="+mn-ea"/>
                <a:cs typeface="+mn-cs"/>
              </a:rPr>
              <a:t>和 </a:t>
            </a:r>
            <a:r>
              <a:rPr lang="en-US" altLang="zh-TW" sz="1200" b="0" i="0" u="none" strike="noStrike" kern="1200" dirty="0">
                <a:solidFill>
                  <a:schemeClr val="tx1"/>
                </a:solidFill>
                <a:effectLst/>
                <a:latin typeface="+mn-lt"/>
                <a:ea typeface="+mn-ea"/>
                <a:cs typeface="+mn-cs"/>
              </a:rPr>
              <a:t>GRPO </a:t>
            </a:r>
            <a:r>
              <a:rPr lang="zh-TW" altLang="en-US" sz="1200" b="0" i="0" u="none" strike="noStrike" kern="1200" dirty="0">
                <a:solidFill>
                  <a:schemeClr val="tx1"/>
                </a:solidFill>
                <a:effectLst/>
                <a:latin typeface="+mn-lt"/>
                <a:ea typeface="+mn-ea"/>
                <a:cs typeface="+mn-cs"/>
              </a:rPr>
              <a:t>微調過的 </a:t>
            </a:r>
            <a:r>
              <a:rPr lang="en-US" altLang="zh-TW" sz="1200" b="0" i="0" u="none" strike="noStrike" kern="1200" dirty="0">
                <a:solidFill>
                  <a:schemeClr val="tx1"/>
                </a:solidFill>
                <a:effectLst/>
                <a:latin typeface="+mn-lt"/>
                <a:ea typeface="+mn-ea"/>
                <a:cs typeface="+mn-cs"/>
              </a:rPr>
              <a:t>LLM </a:t>
            </a:r>
            <a:r>
              <a:rPr lang="zh-TW" altLang="en-US" sz="1200" b="0" i="0" u="none" strike="noStrike" kern="1200" dirty="0">
                <a:solidFill>
                  <a:schemeClr val="tx1"/>
                </a:solidFill>
                <a:effectLst/>
                <a:latin typeface="+mn-lt"/>
                <a:ea typeface="+mn-ea"/>
                <a:cs typeface="+mn-cs"/>
              </a:rPr>
              <a:t>相對於 </a:t>
            </a:r>
            <a:r>
              <a:rPr lang="en-US" altLang="zh-TW" sz="1200" b="0" i="0" u="none" strike="noStrike" kern="1200" dirty="0">
                <a:solidFill>
                  <a:schemeClr val="tx1"/>
                </a:solidFill>
                <a:effectLst/>
                <a:latin typeface="+mn-lt"/>
                <a:ea typeface="+mn-ea"/>
                <a:cs typeface="+mn-cs"/>
              </a:rPr>
              <a:t>QRASSH </a:t>
            </a:r>
            <a:r>
              <a:rPr lang="zh-TW" altLang="en-US" sz="1200" b="0" i="0" u="none" strike="noStrike" kern="1200" dirty="0">
                <a:solidFill>
                  <a:schemeClr val="tx1"/>
                </a:solidFill>
                <a:effectLst/>
                <a:latin typeface="+mn-lt"/>
                <a:ea typeface="+mn-ea"/>
                <a:cs typeface="+mn-cs"/>
              </a:rPr>
              <a:t>能夠提升 </a:t>
            </a:r>
            <a:r>
              <a:rPr lang="en-US" altLang="zh-TW" sz="1200" b="0" i="0" u="none" strike="noStrike" kern="1200" dirty="0">
                <a:solidFill>
                  <a:schemeClr val="tx1"/>
                </a:solidFill>
                <a:effectLst/>
                <a:latin typeface="+mn-lt"/>
                <a:ea typeface="+mn-ea"/>
                <a:cs typeface="+mn-cs"/>
              </a:rPr>
              <a:t>348% -&gt; </a:t>
            </a:r>
            <a:r>
              <a:rPr lang="zh-TW" altLang="en-US" sz="1200" b="0" i="0" u="none" strike="noStrike" kern="1200" dirty="0">
                <a:solidFill>
                  <a:schemeClr val="tx1"/>
                </a:solidFill>
                <a:effectLst/>
                <a:latin typeface="+mn-lt"/>
                <a:ea typeface="+mn-ea"/>
                <a:cs typeface="+mn-cs"/>
              </a:rPr>
              <a:t>主要貢獻於系統擬真性上 </a:t>
            </a:r>
            <a:r>
              <a:rPr lang="en-US" altLang="zh-TW" sz="1200" b="0" i="0" u="none" strike="noStrike" kern="1200" dirty="0">
                <a:solidFill>
                  <a:schemeClr val="tx1"/>
                </a:solidFill>
                <a:effectLst/>
                <a:latin typeface="+mn-lt"/>
                <a:ea typeface="+mn-ea"/>
                <a:cs typeface="+mn-cs"/>
              </a:rPr>
              <a:t>-&gt; QRASSH </a:t>
            </a:r>
            <a:r>
              <a:rPr lang="zh-TW" altLang="en-US" sz="1200" b="0" i="0" u="none" strike="noStrike" kern="1200" dirty="0">
                <a:solidFill>
                  <a:schemeClr val="tx1"/>
                </a:solidFill>
                <a:effectLst/>
                <a:latin typeface="+mn-lt"/>
                <a:ea typeface="+mn-ea"/>
                <a:cs typeface="+mn-cs"/>
              </a:rPr>
              <a:t>經常產生出指令不存在等異常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迫使攻擊者懷疑並提早離開環境 </a:t>
            </a:r>
            <a:r>
              <a:rPr lang="en-US" altLang="zh-TW" sz="1200" b="0" i="0" u="none" strike="noStrike" kern="1200" dirty="0">
                <a:solidFill>
                  <a:schemeClr val="tx1"/>
                </a:solidFill>
                <a:effectLst/>
                <a:latin typeface="+mn-lt"/>
                <a:ea typeface="+mn-ea"/>
                <a:cs typeface="+mn-cs"/>
              </a:rPr>
              <a:t>-&gt;</a:t>
            </a:r>
            <a:r>
              <a:rPr lang="zh-TW" altLang="en-US" sz="1200" b="0" i="0" u="none" strike="noStrike" kern="1200" dirty="0">
                <a:solidFill>
                  <a:schemeClr val="tx1"/>
                </a:solidFill>
                <a:effectLst/>
                <a:latin typeface="+mn-lt"/>
                <a:ea typeface="+mn-ea"/>
                <a:cs typeface="+mn-cs"/>
              </a:rPr>
              <a:t> 相對於 </a:t>
            </a:r>
            <a:r>
              <a:rPr lang="en-US" altLang="zh-TW" sz="1200" b="0" i="0" u="none" strike="noStrike" kern="1200" dirty="0">
                <a:solidFill>
                  <a:schemeClr val="tx1"/>
                </a:solidFill>
                <a:effectLst/>
                <a:latin typeface="+mn-lt"/>
                <a:ea typeface="+mn-ea"/>
                <a:cs typeface="+mn-cs"/>
              </a:rPr>
              <a:t>LLM</a:t>
            </a:r>
            <a:r>
              <a:rPr lang="zh-TW" altLang="en-US" sz="1200" b="0" i="0" u="none" strike="noStrike" kern="1200" dirty="0">
                <a:solidFill>
                  <a:schemeClr val="tx1"/>
                </a:solidFill>
                <a:effectLst/>
                <a:latin typeface="+mn-lt"/>
                <a:ea typeface="+mn-ea"/>
                <a:cs typeface="+mn-cs"/>
              </a:rPr>
              <a:t> 模擬的 </a:t>
            </a:r>
            <a:r>
              <a:rPr lang="en-US" altLang="zh-TW" sz="1200" b="0" i="0" u="none" strike="noStrike" kern="1200" dirty="0">
                <a:solidFill>
                  <a:schemeClr val="tx1"/>
                </a:solidFill>
                <a:effectLst/>
                <a:latin typeface="+mn-lt"/>
                <a:ea typeface="+mn-ea"/>
                <a:cs typeface="+mn-cs"/>
              </a:rPr>
              <a:t>honeypot -&gt; </a:t>
            </a:r>
            <a:r>
              <a:rPr lang="zh-TW" altLang="en-US" sz="1200" b="0" i="0" u="none" strike="noStrike" kern="1200" dirty="0">
                <a:solidFill>
                  <a:schemeClr val="tx1"/>
                </a:solidFill>
                <a:effectLst/>
                <a:latin typeface="+mn-lt"/>
                <a:ea typeface="+mn-ea"/>
                <a:cs typeface="+mn-cs"/>
              </a:rPr>
              <a:t>能夠提升 </a:t>
            </a:r>
            <a:r>
              <a:rPr lang="en-US" altLang="zh-TW" sz="1200" b="0" i="0" u="none" strike="noStrike" kern="1200" dirty="0">
                <a:solidFill>
                  <a:schemeClr val="tx1"/>
                </a:solidFill>
                <a:effectLst/>
                <a:latin typeface="+mn-lt"/>
                <a:ea typeface="+mn-ea"/>
                <a:cs typeface="+mn-cs"/>
              </a:rPr>
              <a:t>97%</a:t>
            </a:r>
            <a:r>
              <a:rPr lang="zh-TW" altLang="en-US" sz="1200" b="0" i="0" u="none" strike="noStrike" kern="1200" dirty="0">
                <a:solidFill>
                  <a:schemeClr val="tx1"/>
                </a:solidFill>
                <a:effectLst/>
                <a:latin typeface="+mn-lt"/>
                <a:ea typeface="+mn-ea"/>
                <a:cs typeface="+mn-cs"/>
              </a:rPr>
              <a:t>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雖然能模擬更多的 </a:t>
            </a:r>
            <a:r>
              <a:rPr lang="en-US" altLang="zh-TW" sz="1200" b="0" i="0" u="none" strike="noStrike" kern="1200" dirty="0">
                <a:solidFill>
                  <a:schemeClr val="tx1"/>
                </a:solidFill>
                <a:effectLst/>
                <a:latin typeface="+mn-lt"/>
                <a:ea typeface="+mn-ea"/>
                <a:cs typeface="+mn-cs"/>
              </a:rPr>
              <a:t>library -&gt; </a:t>
            </a:r>
            <a:r>
              <a:rPr lang="zh-TW" altLang="en-US" sz="1200" b="0" i="0" u="none" strike="noStrike" kern="1200" dirty="0">
                <a:solidFill>
                  <a:schemeClr val="tx1"/>
                </a:solidFill>
                <a:effectLst/>
                <a:latin typeface="+mn-lt"/>
                <a:ea typeface="+mn-ea"/>
                <a:cs typeface="+mn-cs"/>
              </a:rPr>
              <a:t>但也經常出現大量權限不足導致攻擊者離開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而相對於 </a:t>
            </a:r>
            <a:r>
              <a:rPr lang="en-US" altLang="zh-TW" sz="1200" b="0" i="0" u="none" strike="noStrike" kern="1200" dirty="0">
                <a:solidFill>
                  <a:schemeClr val="tx1"/>
                </a:solidFill>
                <a:effectLst/>
                <a:latin typeface="+mn-lt"/>
                <a:ea typeface="+mn-ea"/>
                <a:cs typeface="+mn-cs"/>
              </a:rPr>
              <a:t>gpt-5o </a:t>
            </a:r>
            <a:r>
              <a:rPr lang="zh-TW" altLang="en-US" sz="1200" b="0" i="0" u="none" strike="noStrike" kern="1200" dirty="0">
                <a:solidFill>
                  <a:schemeClr val="tx1"/>
                </a:solidFill>
                <a:effectLst/>
                <a:latin typeface="+mn-lt"/>
                <a:ea typeface="+mn-ea"/>
                <a:cs typeface="+mn-cs"/>
              </a:rPr>
              <a:t>直接部署於系統能夠提升 </a:t>
            </a:r>
            <a:r>
              <a:rPr lang="en-US" altLang="zh-TW" sz="1200" b="0" i="0" u="none" strike="noStrike" kern="1200" dirty="0">
                <a:solidFill>
                  <a:schemeClr val="tx1"/>
                </a:solidFill>
                <a:effectLst/>
                <a:latin typeface="+mn-lt"/>
                <a:ea typeface="+mn-ea"/>
                <a:cs typeface="+mn-cs"/>
              </a:rPr>
              <a:t>28% -&gt; </a:t>
            </a:r>
            <a:r>
              <a:rPr lang="zh-TW" altLang="en-US" sz="1200" b="0" i="0" u="none" strike="noStrike" kern="1200" dirty="0">
                <a:solidFill>
                  <a:schemeClr val="tx1"/>
                </a:solidFill>
                <a:effectLst/>
                <a:latin typeface="+mn-lt"/>
                <a:ea typeface="+mn-ea"/>
                <a:cs typeface="+mn-cs"/>
              </a:rPr>
              <a:t>這是因為 </a:t>
            </a:r>
            <a:r>
              <a:rPr lang="en-US" altLang="zh-TW" sz="1200" b="0" i="0" u="none" strike="noStrike" kern="1200" dirty="0">
                <a:solidFill>
                  <a:schemeClr val="tx1"/>
                </a:solidFill>
                <a:effectLst/>
                <a:latin typeface="+mn-lt"/>
                <a:ea typeface="+mn-ea"/>
                <a:cs typeface="+mn-cs"/>
              </a:rPr>
              <a:t>gpt-5o </a:t>
            </a:r>
            <a:r>
              <a:rPr lang="zh-TW" altLang="en-US" sz="1200" b="0" i="0" u="none" strike="noStrike" kern="1200" dirty="0">
                <a:solidFill>
                  <a:schemeClr val="tx1"/>
                </a:solidFill>
                <a:effectLst/>
                <a:latin typeface="+mn-lt"/>
                <a:ea typeface="+mn-ea"/>
                <a:cs typeface="+mn-cs"/>
              </a:rPr>
              <a:t>僅能選擇相關、但不一定最吸引攻擊者的策略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而我們的模型能夠在識別攻擊意圖後同時提供攻擊者偏好的路徑 </a:t>
            </a:r>
            <a:endParaRPr lang="en-US" altLang="zh-TW" sz="1200" b="0" i="0" u="none" strike="noStrike" kern="1200" dirty="0">
              <a:solidFill>
                <a:schemeClr val="tx1"/>
              </a:solidFill>
              <a:effectLst/>
              <a:latin typeface="+mn-lt"/>
              <a:ea typeface="+mn-ea"/>
              <a:cs typeface="+mn-cs"/>
            </a:endParaRPr>
          </a:p>
          <a:p>
            <a:pPr rtl="0"/>
            <a:endParaRPr lang="en-US" altLang="zh-TW" sz="1200" b="0" i="0" u="none" strike="noStrike" kern="1200" dirty="0">
              <a:solidFill>
                <a:schemeClr val="tx1"/>
              </a:solidFill>
              <a:effectLst/>
              <a:latin typeface="+mn-lt"/>
              <a:ea typeface="+mn-ea"/>
              <a:cs typeface="+mn-cs"/>
            </a:endParaRPr>
          </a:p>
          <a:p>
            <a:pPr rtl="0"/>
            <a:r>
              <a:rPr lang="zh-TW" altLang="en-US" sz="1200" b="0" i="0" u="none" strike="noStrike" kern="1200" dirty="0">
                <a:solidFill>
                  <a:schemeClr val="tx1"/>
                </a:solidFill>
                <a:effectLst/>
                <a:latin typeface="+mn-lt"/>
                <a:ea typeface="+mn-ea"/>
                <a:cs typeface="+mn-cs"/>
              </a:rPr>
              <a:t>最後在交戰多樣性上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微調過的 </a:t>
            </a:r>
            <a:r>
              <a:rPr lang="en-US" altLang="zh-TW" sz="1200" b="0" i="0" u="none" strike="noStrike" kern="1200" dirty="0">
                <a:solidFill>
                  <a:schemeClr val="tx1"/>
                </a:solidFill>
                <a:effectLst/>
                <a:latin typeface="+mn-lt"/>
                <a:ea typeface="+mn-ea"/>
                <a:cs typeface="+mn-cs"/>
              </a:rPr>
              <a:t>LLM </a:t>
            </a:r>
            <a:r>
              <a:rPr lang="zh-TW" altLang="en-US" sz="1200" b="0" i="0" u="none" strike="noStrike" kern="1200" dirty="0">
                <a:solidFill>
                  <a:schemeClr val="tx1"/>
                </a:solidFill>
                <a:effectLst/>
                <a:latin typeface="+mn-lt"/>
                <a:ea typeface="+mn-ea"/>
                <a:cs typeface="+mn-cs"/>
              </a:rPr>
              <a:t>相對於 </a:t>
            </a:r>
            <a:r>
              <a:rPr lang="en-US" altLang="zh-TW" sz="1200" b="0" i="0" u="none" strike="noStrike" kern="1200" dirty="0">
                <a:solidFill>
                  <a:schemeClr val="tx1"/>
                </a:solidFill>
                <a:effectLst/>
                <a:latin typeface="+mn-lt"/>
                <a:ea typeface="+mn-ea"/>
                <a:cs typeface="+mn-cs"/>
              </a:rPr>
              <a:t>QRASSH </a:t>
            </a:r>
            <a:r>
              <a:rPr lang="zh-TW" altLang="en-US" sz="1200" b="0" i="0" u="none" strike="noStrike" kern="1200" dirty="0">
                <a:solidFill>
                  <a:schemeClr val="tx1"/>
                </a:solidFill>
                <a:effectLst/>
                <a:latin typeface="+mn-lt"/>
                <a:ea typeface="+mn-ea"/>
                <a:cs typeface="+mn-cs"/>
              </a:rPr>
              <a:t>能夠提升 </a:t>
            </a:r>
            <a:r>
              <a:rPr lang="en-US" altLang="zh-TW" sz="1200" b="0" i="0" u="none" strike="noStrike" kern="1200" dirty="0">
                <a:solidFill>
                  <a:schemeClr val="tx1"/>
                </a:solidFill>
                <a:effectLst/>
                <a:latin typeface="+mn-lt"/>
                <a:ea typeface="+mn-ea"/>
                <a:cs typeface="+mn-cs"/>
              </a:rPr>
              <a:t>144% -&gt; </a:t>
            </a:r>
            <a:r>
              <a:rPr lang="zh-TW" altLang="en-US" sz="1200" b="0" i="0" u="none" strike="noStrike" kern="1200" dirty="0">
                <a:solidFill>
                  <a:schemeClr val="tx1"/>
                </a:solidFill>
                <a:effectLst/>
                <a:latin typeface="+mn-lt"/>
                <a:ea typeface="+mn-ea"/>
                <a:cs typeface="+mn-cs"/>
              </a:rPr>
              <a:t>除了擬真性的問題外 </a:t>
            </a:r>
            <a:r>
              <a:rPr lang="en-US" altLang="zh-TW" sz="1200" b="0" i="0" u="none" strike="noStrike" kern="1200" dirty="0">
                <a:solidFill>
                  <a:schemeClr val="tx1"/>
                </a:solidFill>
                <a:effectLst/>
                <a:latin typeface="+mn-lt"/>
                <a:ea typeface="+mn-ea"/>
                <a:cs typeface="+mn-cs"/>
              </a:rPr>
              <a:t>-&gt; QRASSH </a:t>
            </a:r>
            <a:r>
              <a:rPr lang="zh-TW" altLang="en-US" sz="1200" b="0" i="0" u="none" strike="noStrike" kern="1200" dirty="0">
                <a:solidFill>
                  <a:schemeClr val="tx1"/>
                </a:solidFill>
                <a:effectLst/>
                <a:latin typeface="+mn-lt"/>
                <a:ea typeface="+mn-ea"/>
                <a:cs typeface="+mn-cs"/>
              </a:rPr>
              <a:t>上的 </a:t>
            </a:r>
            <a:r>
              <a:rPr lang="en-US" altLang="zh-TW" sz="1200" b="0" i="0" u="none" strike="noStrike" kern="1200" dirty="0">
                <a:solidFill>
                  <a:schemeClr val="tx1"/>
                </a:solidFill>
                <a:effectLst/>
                <a:latin typeface="+mn-lt"/>
                <a:ea typeface="+mn-ea"/>
                <a:cs typeface="+mn-cs"/>
              </a:rPr>
              <a:t>Agent </a:t>
            </a:r>
            <a:r>
              <a:rPr lang="zh-TW" altLang="en-US" sz="1200" b="0" i="0" u="none" strike="noStrike" kern="1200" dirty="0">
                <a:solidFill>
                  <a:schemeClr val="tx1"/>
                </a:solidFill>
                <a:effectLst/>
                <a:latin typeface="+mn-lt"/>
                <a:ea typeface="+mn-ea"/>
                <a:cs typeface="+mn-cs"/>
              </a:rPr>
              <a:t>也經常給出很不合理的回應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例如 </a:t>
            </a:r>
            <a:r>
              <a:rPr lang="en-US" altLang="zh-TW" sz="1200" b="0" i="0" u="none" strike="noStrike" kern="1200" dirty="0">
                <a:solidFill>
                  <a:schemeClr val="tx1"/>
                </a:solidFill>
                <a:effectLst/>
                <a:latin typeface="+mn-lt"/>
                <a:ea typeface="+mn-ea"/>
                <a:cs typeface="+mn-cs"/>
              </a:rPr>
              <a:t>block command </a:t>
            </a:r>
            <a:r>
              <a:rPr lang="zh-TW" altLang="en-US" sz="1200" b="0" i="0" u="none" strike="noStrike" kern="1200" dirty="0">
                <a:solidFill>
                  <a:schemeClr val="tx1"/>
                </a:solidFill>
                <a:effectLst/>
                <a:latin typeface="+mn-lt"/>
                <a:ea typeface="+mn-ea"/>
                <a:cs typeface="+mn-cs"/>
              </a:rPr>
              <a:t>但有正確運行的結果 </a:t>
            </a:r>
            <a:r>
              <a:rPr lang="en-US" altLang="zh-TW" sz="1200" b="0" i="0" u="none" strike="noStrike" kern="1200" dirty="0">
                <a:solidFill>
                  <a:schemeClr val="tx1"/>
                </a:solidFill>
                <a:effectLst/>
                <a:latin typeface="+mn-lt"/>
                <a:ea typeface="+mn-ea"/>
                <a:cs typeface="+mn-cs"/>
              </a:rPr>
              <a:t>-&gt;</a:t>
            </a:r>
            <a:r>
              <a:rPr lang="zh-TW" altLang="en-US" sz="1200" b="0" i="0" u="none" strike="noStrike" kern="1200" dirty="0">
                <a:solidFill>
                  <a:schemeClr val="tx1"/>
                </a:solidFill>
                <a:effectLst/>
                <a:latin typeface="+mn-lt"/>
                <a:ea typeface="+mn-ea"/>
                <a:cs typeface="+mn-cs"/>
              </a:rPr>
              <a:t> 相對於 </a:t>
            </a:r>
            <a:r>
              <a:rPr lang="en-US" altLang="zh-TW" sz="1200" b="0" i="0" u="none" strike="noStrike" kern="1200" dirty="0">
                <a:solidFill>
                  <a:schemeClr val="tx1"/>
                </a:solidFill>
                <a:effectLst/>
                <a:latin typeface="+mn-lt"/>
                <a:ea typeface="+mn-ea"/>
                <a:cs typeface="+mn-cs"/>
              </a:rPr>
              <a:t>LLM</a:t>
            </a:r>
            <a:r>
              <a:rPr lang="zh-TW" altLang="en-US" sz="1200" b="0" i="0" u="none" strike="noStrike" kern="1200" dirty="0">
                <a:solidFill>
                  <a:schemeClr val="tx1"/>
                </a:solidFill>
                <a:effectLst/>
                <a:latin typeface="+mn-lt"/>
                <a:ea typeface="+mn-ea"/>
                <a:cs typeface="+mn-cs"/>
              </a:rPr>
              <a:t> 模擬的 </a:t>
            </a:r>
            <a:r>
              <a:rPr lang="en-US" altLang="zh-TW" sz="1200" b="0" i="0" u="none" strike="noStrike" kern="1200" dirty="0">
                <a:solidFill>
                  <a:schemeClr val="tx1"/>
                </a:solidFill>
                <a:effectLst/>
                <a:latin typeface="+mn-lt"/>
                <a:ea typeface="+mn-ea"/>
                <a:cs typeface="+mn-cs"/>
              </a:rPr>
              <a:t>honeypot -&gt; </a:t>
            </a:r>
            <a:r>
              <a:rPr lang="zh-TW" altLang="en-US" sz="1200" b="0" i="0" u="none" strike="noStrike" kern="1200" dirty="0">
                <a:solidFill>
                  <a:schemeClr val="tx1"/>
                </a:solidFill>
                <a:effectLst/>
                <a:latin typeface="+mn-lt"/>
                <a:ea typeface="+mn-ea"/>
                <a:cs typeface="+mn-cs"/>
              </a:rPr>
              <a:t>能夠提升 </a:t>
            </a:r>
            <a:r>
              <a:rPr lang="en-US" altLang="zh-TW" sz="1200" b="0" i="0" u="none" strike="noStrike" kern="1200" dirty="0">
                <a:solidFill>
                  <a:schemeClr val="tx1"/>
                </a:solidFill>
                <a:effectLst/>
                <a:latin typeface="+mn-lt"/>
                <a:ea typeface="+mn-ea"/>
                <a:cs typeface="+mn-cs"/>
              </a:rPr>
              <a:t>75%</a:t>
            </a:r>
            <a:r>
              <a:rPr lang="zh-TW" altLang="en-US" sz="1200" b="0" i="0" u="none" strike="noStrike" kern="1200" dirty="0">
                <a:solidFill>
                  <a:schemeClr val="tx1"/>
                </a:solidFill>
                <a:effectLst/>
                <a:latin typeface="+mn-lt"/>
                <a:ea typeface="+mn-ea"/>
                <a:cs typeface="+mn-cs"/>
              </a:rPr>
              <a:t>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除了真實性問題外 </a:t>
            </a:r>
            <a:r>
              <a:rPr lang="en-US" altLang="zh-TW" sz="1200" b="0" i="0" u="none" strike="noStrike" kern="1200" dirty="0">
                <a:solidFill>
                  <a:schemeClr val="tx1"/>
                </a:solidFill>
                <a:effectLst/>
                <a:latin typeface="+mn-lt"/>
                <a:ea typeface="+mn-ea"/>
                <a:cs typeface="+mn-cs"/>
              </a:rPr>
              <a:t>-&gt; LLM </a:t>
            </a:r>
            <a:r>
              <a:rPr lang="zh-TW" altLang="en-US" sz="1200" b="0" i="0" u="none" strike="noStrike" kern="1200" dirty="0">
                <a:solidFill>
                  <a:schemeClr val="tx1"/>
                </a:solidFill>
                <a:effectLst/>
                <a:latin typeface="+mn-lt"/>
                <a:ea typeface="+mn-ea"/>
                <a:cs typeface="+mn-cs"/>
              </a:rPr>
              <a:t>經常允許快速提權</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導致攻擊者很快就達成目標並結束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而相對於 </a:t>
            </a:r>
            <a:r>
              <a:rPr lang="en-US" altLang="zh-TW" sz="1200" b="0" i="0" u="none" strike="noStrike" kern="1200" dirty="0">
                <a:solidFill>
                  <a:schemeClr val="tx1"/>
                </a:solidFill>
                <a:effectLst/>
                <a:latin typeface="+mn-lt"/>
                <a:ea typeface="+mn-ea"/>
                <a:cs typeface="+mn-cs"/>
              </a:rPr>
              <a:t>gpt-5o </a:t>
            </a:r>
            <a:r>
              <a:rPr lang="zh-TW" altLang="en-US" sz="1200" b="0" i="0" u="none" strike="noStrike" kern="1200" dirty="0">
                <a:solidFill>
                  <a:schemeClr val="tx1"/>
                </a:solidFill>
                <a:effectLst/>
                <a:latin typeface="+mn-lt"/>
                <a:ea typeface="+mn-ea"/>
                <a:cs typeface="+mn-cs"/>
              </a:rPr>
              <a:t>僅有 </a:t>
            </a:r>
            <a:r>
              <a:rPr lang="en-US" altLang="zh-TW" sz="1200" b="0" i="0" u="none" strike="noStrike" kern="1200" dirty="0">
                <a:solidFill>
                  <a:schemeClr val="tx1"/>
                </a:solidFill>
                <a:effectLst/>
                <a:latin typeface="+mn-lt"/>
                <a:ea typeface="+mn-ea"/>
                <a:cs typeface="+mn-cs"/>
              </a:rPr>
              <a:t>8% </a:t>
            </a:r>
            <a:r>
              <a:rPr lang="zh-TW" altLang="en-US" sz="1200" b="0" i="0" u="none" strike="noStrike" kern="1200" dirty="0">
                <a:solidFill>
                  <a:schemeClr val="tx1"/>
                </a:solidFill>
                <a:effectLst/>
                <a:latin typeface="+mn-lt"/>
                <a:ea typeface="+mn-ea"/>
                <a:cs typeface="+mn-cs"/>
              </a:rPr>
              <a:t>的提升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這是因為在我們的環境中攻擊者行為都集中在探索和蒐集上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而當成功透過憑證或漏洞獲取權限時 </a:t>
            </a:r>
            <a:r>
              <a:rPr lang="en-US" altLang="zh-TW" sz="1200" b="0" i="0" u="none" strike="noStrike" kern="1200" dirty="0">
                <a:solidFill>
                  <a:schemeClr val="tx1"/>
                </a:solidFill>
                <a:effectLst/>
                <a:latin typeface="+mn-lt"/>
                <a:ea typeface="+mn-ea"/>
                <a:cs typeface="+mn-cs"/>
              </a:rPr>
              <a:t>-&gt;</a:t>
            </a:r>
            <a:r>
              <a:rPr lang="zh-TW" altLang="en-US" sz="1200" b="0" i="0" u="none" strike="noStrike" kern="1200" dirty="0">
                <a:solidFill>
                  <a:schemeClr val="tx1"/>
                </a:solidFill>
                <a:effectLst/>
                <a:latin typeface="+mn-lt"/>
                <a:ea typeface="+mn-ea"/>
                <a:cs typeface="+mn-cs"/>
              </a:rPr>
              <a:t>會很快就完成目標並離開系統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不容易更多樣的攻擊手法</a:t>
            </a:r>
            <a:endParaRPr lang="en-US" altLang="zh-TW" sz="1200" b="0" i="0" u="none" strike="noStrike" kern="1200" dirty="0">
              <a:solidFill>
                <a:schemeClr val="tx1"/>
              </a:solidFill>
              <a:effectLst/>
              <a:latin typeface="+mn-lt"/>
              <a:ea typeface="+mn-ea"/>
              <a:cs typeface="+mn-cs"/>
            </a:endParaRPr>
          </a:p>
          <a:p>
            <a:pPr rtl="0"/>
            <a:endParaRPr lang="en-US" altLang="zh-TW" sz="1200" b="0" i="0" u="none" strike="noStrike" kern="1200" dirty="0">
              <a:solidFill>
                <a:schemeClr val="tx1"/>
              </a:solidFill>
              <a:effectLst/>
              <a:latin typeface="+mn-lt"/>
              <a:ea typeface="+mn-ea"/>
              <a:cs typeface="+mn-cs"/>
            </a:endParaRPr>
          </a:p>
          <a:p>
            <a:pPr rtl="0"/>
            <a:r>
              <a:rPr lang="zh-TW" altLang="en-US" sz="1200" b="0" i="0" u="none" strike="noStrike" kern="1200" dirty="0">
                <a:solidFill>
                  <a:schemeClr val="tx1"/>
                </a:solidFill>
                <a:effectLst/>
                <a:latin typeface="+mn-lt"/>
                <a:ea typeface="+mn-ea"/>
                <a:cs typeface="+mn-cs"/>
              </a:rPr>
              <a:t>整體來說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對於環境內有相同目標但行為模式不一樣的攻擊者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在同時具備真實性和引導性的</a:t>
            </a:r>
            <a:r>
              <a:rPr lang="en-US" altLang="zh-TW" sz="1200" b="0" i="0" u="none" strike="noStrike" kern="1200" dirty="0">
                <a:solidFill>
                  <a:schemeClr val="tx1"/>
                </a:solidFill>
                <a:effectLst/>
                <a:latin typeface="+mn-lt"/>
                <a:ea typeface="+mn-ea"/>
                <a:cs typeface="+mn-cs"/>
              </a:rPr>
              <a:t>LLM</a:t>
            </a:r>
            <a:r>
              <a:rPr lang="zh-TW" altLang="en-US" sz="1200" b="0" i="0" u="none" strike="noStrike" kern="1200" dirty="0">
                <a:solidFill>
                  <a:schemeClr val="tx1"/>
                </a:solidFill>
                <a:effectLst/>
                <a:latin typeface="+mn-lt"/>
                <a:ea typeface="+mn-ea"/>
                <a:cs typeface="+mn-cs"/>
              </a:rPr>
              <a:t>後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都能夠成功誘導攻擊者的階段前進 </a:t>
            </a:r>
            <a:r>
              <a:rPr lang="en-US" altLang="zh-TW" sz="1200" b="0" i="0" u="none" strike="noStrike" kern="1200" dirty="0">
                <a:solidFill>
                  <a:schemeClr val="tx1"/>
                </a:solidFill>
                <a:effectLst/>
                <a:latin typeface="+mn-lt"/>
                <a:ea typeface="+mn-ea"/>
                <a:cs typeface="+mn-cs"/>
              </a:rPr>
              <a:t>-&gt; </a:t>
            </a:r>
            <a:r>
              <a:rPr lang="zh-TW" altLang="en-US" sz="1200" b="0" i="0" u="none" strike="noStrike" kern="1200" dirty="0">
                <a:solidFill>
                  <a:schemeClr val="tx1"/>
                </a:solidFill>
                <a:effectLst/>
                <a:latin typeface="+mn-lt"/>
                <a:ea typeface="+mn-ea"/>
                <a:cs typeface="+mn-cs"/>
              </a:rPr>
              <a:t>且也能夠提升攻擊者嘗試更多樣的 </a:t>
            </a:r>
            <a:r>
              <a:rPr lang="en-US" altLang="zh-TW" sz="1200" b="0" i="0" u="none" strike="noStrike" kern="1200" dirty="0">
                <a:solidFill>
                  <a:schemeClr val="tx1"/>
                </a:solidFill>
                <a:effectLst/>
                <a:latin typeface="+mn-lt"/>
                <a:ea typeface="+mn-ea"/>
                <a:cs typeface="+mn-cs"/>
              </a:rPr>
              <a:t>technique </a:t>
            </a:r>
            <a:endParaRPr lang="zh-TW" altLang="en-US" b="0" dirty="0">
              <a:effectLst/>
            </a:endParaRPr>
          </a:p>
        </p:txBody>
      </p:sp>
      <p:sp>
        <p:nvSpPr>
          <p:cNvPr id="64" name="Google Shape;64;g3707e8ba0de_0_0:notes"/>
          <p:cNvSpPr txBox="1">
            <a:spLocks noGrp="1"/>
          </p:cNvSpPr>
          <p:nvPr>
            <p:ph type="sldNum" idx="12"/>
          </p:nvPr>
        </p:nvSpPr>
        <p:spPr>
          <a:xfrm>
            <a:off x="3850445" y="9428585"/>
            <a:ext cx="2945659" cy="497960"/>
          </a:xfrm>
          <a:prstGeom prst="rect">
            <a:avLst/>
          </a:prstGeom>
          <a:noFill/>
          <a:ln>
            <a:noFill/>
          </a:ln>
        </p:spPr>
        <p:txBody>
          <a:bodyPr spcFirstLastPara="1" wrap="square" lIns="91406" tIns="45690" rIns="91406" bIns="45690" anchor="b" anchorCtr="0">
            <a:noAutofit/>
          </a:bodyPr>
          <a:lstStyle/>
          <a:p>
            <a:fld id="{00000000-1234-1234-1234-123412341234}" type="slidenum">
              <a:rPr lang="en-US" altLang="zh-TW">
                <a:latin typeface="Abadi" panose="020B0604020104020204" pitchFamily="34" charset="0"/>
              </a:rPr>
              <a:pPr/>
              <a:t>1</a:t>
            </a:fld>
            <a:endParaRPr dirty="0">
              <a:latin typeface="Abadi" panose="020B0604020104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69b91ba693_0_2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69b91ba693_0_25: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880a5c0d19_0_1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880a5c0d19_0_16: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pPr>
              <a:lnSpc>
                <a:spcPct val="115000"/>
              </a:lnSpc>
              <a:buClr>
                <a:schemeClr val="dk1"/>
              </a:buClr>
              <a:buSzPts val="1100"/>
            </a:pPr>
            <a:endParaRPr sz="1300" dirty="0">
              <a:solidFill>
                <a:schemeClr val="dk1"/>
              </a:solidFill>
            </a:endParaRPr>
          </a:p>
          <a:p>
            <a:pPr>
              <a:lnSpc>
                <a:spcPct val="115000"/>
              </a:lnSpc>
              <a:buClr>
                <a:schemeClr val="dk1"/>
              </a:buClr>
              <a:buSzPts val="1100"/>
            </a:pPr>
            <a:endParaRPr sz="1300" dirty="0">
              <a:solidFill>
                <a:schemeClr val="dk1"/>
              </a:solidFill>
            </a:endParaRPr>
          </a:p>
          <a:p>
            <a:pPr>
              <a:lnSpc>
                <a:spcPct val="115000"/>
              </a:lnSpc>
              <a:buClr>
                <a:schemeClr val="dk1"/>
              </a:buClr>
              <a:buSzPts val="1100"/>
            </a:pPr>
            <a:endParaRPr sz="1300" dirty="0">
              <a:solidFill>
                <a:schemeClr val="dk1"/>
              </a:solidFill>
            </a:endParaRPr>
          </a:p>
          <a:p>
            <a:pPr>
              <a:lnSpc>
                <a:spcPct val="115000"/>
              </a:lnSpc>
              <a:buClr>
                <a:schemeClr val="dk1"/>
              </a:buClr>
              <a:buSzPts val="1100"/>
            </a:pPr>
            <a:endParaRPr sz="1300" dirty="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6f3eb0b51c_0_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f3eb0b51c_0_2: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pPr>
              <a:lnSpc>
                <a:spcPct val="115000"/>
              </a:lnSpc>
              <a:buClr>
                <a:schemeClr val="dk1"/>
              </a:buClr>
              <a:buSzPts val="1100"/>
            </a:pPr>
            <a:r>
              <a:rPr lang="zh-TW" dirty="0">
                <a:solidFill>
                  <a:schemeClr val="dk1"/>
                </a:solidFill>
              </a:rPr>
              <a:t>Shell 類的入口點一直都是經常被攻擊的目標</a:t>
            </a:r>
            <a:endParaRPr dirty="0">
              <a:solidFill>
                <a:schemeClr val="dk1"/>
              </a:solidFill>
            </a:endParaRPr>
          </a:p>
          <a:p>
            <a:pPr>
              <a:lnSpc>
                <a:spcPct val="115000"/>
              </a:lnSpc>
              <a:buClr>
                <a:schemeClr val="dk1"/>
              </a:buClr>
              <a:buSzPts val="1100"/>
            </a:pPr>
            <a:r>
              <a:rPr lang="zh-TW" dirty="0">
                <a:solidFill>
                  <a:schemeClr val="dk1"/>
                </a:solidFill>
              </a:rPr>
              <a:t>Adapative and realism：在不被識破的前提下影響攻擊者的行為。</a:t>
            </a:r>
            <a:endParaRPr dirty="0">
              <a:solidFill>
                <a:schemeClr val="dk1"/>
              </a:solidFill>
            </a:endParaRPr>
          </a:p>
          <a:p>
            <a:pPr>
              <a:lnSpc>
                <a:spcPct val="115000"/>
              </a:lnSpc>
              <a:buClr>
                <a:schemeClr val="dk1"/>
              </a:buClr>
              <a:buSzPts val="1100"/>
            </a:pPr>
            <a:endParaRPr dirty="0">
              <a:solidFill>
                <a:schemeClr val="dk1"/>
              </a:solidFill>
            </a:endParaRPr>
          </a:p>
          <a:p>
            <a:pPr>
              <a:lnSpc>
                <a:spcPct val="115000"/>
              </a:lnSpc>
              <a:buClr>
                <a:schemeClr val="dk1"/>
              </a:buClr>
              <a:buSzPts val="1100"/>
            </a:pPr>
            <a:endParaRPr dirty="0">
              <a:solidFill>
                <a:schemeClr val="dk1"/>
              </a:solidFill>
            </a:endParaRPr>
          </a:p>
          <a:p>
            <a:pPr>
              <a:lnSpc>
                <a:spcPct val="115000"/>
              </a:lnSpc>
              <a:buClr>
                <a:schemeClr val="dk1"/>
              </a:buClr>
              <a:buSzPts val="1100"/>
            </a:pPr>
            <a:r>
              <a:rPr lang="zh-TW" dirty="0">
                <a:solidFill>
                  <a:schemeClr val="dk1"/>
                </a:solidFill>
              </a:rPr>
              <a:t>===ＰＡＲＴ=================================</a:t>
            </a:r>
            <a:endParaRPr dirty="0">
              <a:solidFill>
                <a:schemeClr val="dk1"/>
              </a:solidFill>
            </a:endParaRPr>
          </a:p>
          <a:p>
            <a:pPr>
              <a:buClr>
                <a:schemeClr val="dk1"/>
              </a:buClr>
              <a:buSzPts val="1100"/>
            </a:pPr>
            <a:r>
              <a:rPr lang="zh-TW" dirty="0">
                <a:solidFill>
                  <a:schemeClr val="dk1"/>
                </a:solidFill>
              </a:rPr>
              <a:t>Honeypot 通常是一個被監控的沙盒環境，他允許駭客能夠在裡面自由展示自己的攻擊行為，研究者能透過攻擊後所產生的戰場紀錄去分析駭客的攻擊鏈。因此，最大化蒐集攻擊方法和揭露零日攻擊都是 Honeypot 重要的目標。在 Honeypot 上，管理者可以透過部署自己的Engagement Activity去誘導駭客的行為或拖延駭客攻擊進度，這也是 Honeypot 研究中比較重要的議題。</a:t>
            </a:r>
            <a:endParaRPr dirty="0">
              <a:solidFill>
                <a:schemeClr val="dk1"/>
              </a:solidFill>
            </a:endParaRPr>
          </a:p>
          <a:p>
            <a:pPr>
              <a:lnSpc>
                <a:spcPct val="115000"/>
              </a:lnSpc>
              <a:buClr>
                <a:schemeClr val="dk1"/>
              </a:buClr>
              <a:buSzPts val="1100"/>
            </a:pPr>
            <a:r>
              <a:rPr lang="zh-TW" dirty="0">
                <a:solidFill>
                  <a:schemeClr val="dk1"/>
                </a:solidFill>
              </a:rPr>
              <a:t>我會選擇 IT Honeypot 作為我們的研究場域，主要是因為第一 IT 場域中很容易因為人為疏失導致系統有資安漏洞，第二是 OT 場域中強調 Realtime，當前的 LLM 推論速度可能不適用於 OT，另外相對於 OT 場域中機器溝通協議的複雜性，IT 場域對於駭客來說或許是一個比較容易滲透的目標。去年右邊這張圖在 SSH Port 上的嘗試次數是 2000 萬，今年已經提升到 4000 萬了。</a:t>
            </a:r>
            <a:endParaRPr dirty="0">
              <a:solidFill>
                <a:schemeClr val="dk1"/>
              </a:solidFill>
            </a:endParaRPr>
          </a:p>
          <a:p>
            <a:pPr>
              <a:lnSpc>
                <a:spcPct val="115000"/>
              </a:lnSpc>
              <a:buClr>
                <a:schemeClr val="dk1"/>
              </a:buClr>
              <a:buSzPts val="1100"/>
            </a:pPr>
            <a:r>
              <a:rPr lang="zh-TW" dirty="0">
                <a:solidFill>
                  <a:schemeClr val="dk1"/>
                </a:solidFill>
              </a:rPr>
              <a:t>===================================ＥＮＤ===</a:t>
            </a:r>
            <a:endParaRPr dirty="0">
              <a:solidFill>
                <a:schemeClr val="dk1"/>
              </a:solidFill>
            </a:endParaRPr>
          </a:p>
          <a:p>
            <a:pPr>
              <a:lnSpc>
                <a:spcPct val="115000"/>
              </a:lnSpc>
              <a:buClr>
                <a:schemeClr val="dk1"/>
              </a:buClr>
              <a:buSzPts val="1100"/>
            </a:pPr>
            <a:r>
              <a:rPr lang="zh-TW" dirty="0">
                <a:solidFill>
                  <a:schemeClr val="dk1"/>
                </a:solidFill>
              </a:rPr>
              <a:t>CVE-2025-20309 : 內建保留於開發階段的 root 帳號靜態 SSH 憑證無法變更或移除，允許未經認證的遠端攻擊者以 root 權限登入並執行任意命令。</a:t>
            </a:r>
            <a:endParaRPr dirty="0">
              <a:solidFill>
                <a:schemeClr val="dk1"/>
              </a:solidFill>
            </a:endParaRPr>
          </a:p>
          <a:p>
            <a:pPr>
              <a:lnSpc>
                <a:spcPct val="115000"/>
              </a:lnSpc>
              <a:buClr>
                <a:schemeClr val="dk1"/>
              </a:buClr>
              <a:buSzPts val="1100"/>
            </a:pPr>
            <a:r>
              <a:rPr lang="zh-TW" dirty="0">
                <a:solidFill>
                  <a:schemeClr val="dk1"/>
                </a:solidFill>
              </a:rPr>
              <a:t>CVE-2025-26465 : 在 DNS 主機金鑰驗證過程中錯誤處理判斷失當，攻擊者可透過中間人伺服器偽裝合法主機並在客戶端記憶體被耗盡後成功攔截或篡改 SSH 流量。</a:t>
            </a:r>
            <a:endParaRPr dirty="0">
              <a:solidFill>
                <a:schemeClr val="dk1"/>
              </a:solidFill>
            </a:endParaRPr>
          </a:p>
          <a:p>
            <a:pPr>
              <a:lnSpc>
                <a:spcPct val="115000"/>
              </a:lnSpc>
              <a:buClr>
                <a:schemeClr val="dk1"/>
              </a:buClr>
              <a:buSzPts val="1100"/>
            </a:pPr>
            <a:r>
              <a:rPr lang="zh-TW" dirty="0">
                <a:solidFill>
                  <a:schemeClr val="dk1"/>
                </a:solidFill>
              </a:rPr>
              <a:t>CVE-2025-32728 : </a:t>
            </a:r>
            <a:r>
              <a:rPr lang="zh-TW" dirty="0">
                <a:solidFill>
                  <a:srgbClr val="188038"/>
                </a:solidFill>
                <a:latin typeface="Roboto Mono"/>
                <a:ea typeface="Roboto Mono"/>
                <a:cs typeface="Roboto Mono"/>
                <a:sym typeface="Roboto Mono"/>
              </a:rPr>
              <a:t>DisableForwarding</a:t>
            </a:r>
            <a:r>
              <a:rPr lang="zh-TW" dirty="0">
                <a:solidFill>
                  <a:schemeClr val="dk1"/>
                </a:solidFill>
              </a:rPr>
              <a:t> 指令未如文件所述完全禁用 X11 及 agent 轉發，造成使用者仍可透過 SSH 取得轉發管道。</a:t>
            </a:r>
            <a:endParaRPr dirty="0">
              <a:solidFill>
                <a:schemeClr val="dk1"/>
              </a:solidFill>
            </a:endParaRPr>
          </a:p>
          <a:p>
            <a:pPr>
              <a:lnSpc>
                <a:spcPct val="115000"/>
              </a:lnSpc>
              <a:buClr>
                <a:schemeClr val="dk1"/>
              </a:buClr>
              <a:buSzPts val="1100"/>
            </a:pPr>
            <a:r>
              <a:rPr lang="zh-TW" dirty="0">
                <a:solidFill>
                  <a:schemeClr val="dk1"/>
                </a:solidFill>
              </a:rPr>
              <a:t>CVE-2025-32754 : 在 </a:t>
            </a:r>
            <a:r>
              <a:rPr lang="zh-TW" dirty="0">
                <a:solidFill>
                  <a:srgbClr val="188038"/>
                </a:solidFill>
                <a:latin typeface="Roboto Mono"/>
                <a:ea typeface="Roboto Mono"/>
                <a:cs typeface="Roboto Mono"/>
                <a:sym typeface="Roboto Mono"/>
              </a:rPr>
              <a:t>jenkins/ssh-agent</a:t>
            </a:r>
            <a:r>
              <a:rPr lang="zh-TW" dirty="0">
                <a:solidFill>
                  <a:schemeClr val="dk1"/>
                </a:solidFill>
              </a:rPr>
              <a:t> Docker 映像版本 6.11.1 及更早版本（基於 Debian）中，SSH 主機金鑰會在映像構建階段即生成，使得所有從同一版本映像啟動的容器共用完全相同的主機金鑰。這意味著位於 Jenkins 控制端與 SSH 构建代理之間網路路徑上的攻擊者，可以利用這些可預測且重複的金鑰進行中間人攻擊，冒充真實代理機器，攔截或篡改 SSH 通信。</a:t>
            </a:r>
            <a:endParaRPr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7171307534_0_1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7171307534_0_17: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pPr>
              <a:lnSpc>
                <a:spcPct val="115000"/>
              </a:lnSpc>
              <a:buClr>
                <a:schemeClr val="dk1"/>
              </a:buClr>
              <a:buSzPts val="1100"/>
            </a:pPr>
            <a:r>
              <a:rPr lang="zh-TW" dirty="0">
                <a:solidFill>
                  <a:schemeClr val="dk1"/>
                </a:solidFill>
              </a:rPr>
              <a:t>===ＰＡＲＴ=================================</a:t>
            </a:r>
            <a:endParaRPr dirty="0">
              <a:solidFill>
                <a:schemeClr val="dk1"/>
              </a:solidFill>
            </a:endParaRPr>
          </a:p>
          <a:p>
            <a:pPr>
              <a:lnSpc>
                <a:spcPct val="115000"/>
              </a:lnSpc>
              <a:buClr>
                <a:schemeClr val="dk1"/>
              </a:buClr>
              <a:buSzPts val="1100"/>
            </a:pPr>
            <a:r>
              <a:rPr lang="zh-TW" dirty="0">
                <a:solidFill>
                  <a:schemeClr val="dk1"/>
                </a:solidFill>
              </a:rPr>
              <a:t>右邊這個系統架構是當前常見的 RL-LLM 系統架構，除了先前學長的工作之外，也有其他人做類似的架構設計，他們都是先透過一個 LLM 去根據過去駭客使用的指令和系統輸出判斷去判斷 TTPs，在將 Tactic 和系統輸出丟給  RL 模型去對應到各自設計的 actions 上面，並且他們的 Reward function 只有利用到 Tactic 深度，而單一維度的 reward 設計會導致 RL 為了去延長這個攻擊鏈，會偏向選擇 Allow 攻擊者行為。</a:t>
            </a:r>
            <a:endParaRPr dirty="0">
              <a:solidFill>
                <a:schemeClr val="dk1"/>
              </a:solidFill>
            </a:endParaRPr>
          </a:p>
          <a:p>
            <a:pPr>
              <a:lnSpc>
                <a:spcPct val="115000"/>
              </a:lnSpc>
              <a:buClr>
                <a:schemeClr val="dk1"/>
              </a:buClr>
              <a:buSzPts val="1100"/>
            </a:pPr>
            <a:r>
              <a:rPr lang="zh-TW" dirty="0">
                <a:solidFill>
                  <a:schemeClr val="dk1"/>
                </a:solidFill>
              </a:rPr>
              <a:t>===================================ＥＮＤ===</a:t>
            </a:r>
            <a:endParaRPr dirty="0">
              <a:solidFill>
                <a:schemeClr val="dk1"/>
              </a:solidFill>
            </a:endParaRPr>
          </a:p>
          <a:p>
            <a:endParaRPr dirty="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6f3eb0b51c_0_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6f3eb0b51c_0_13: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pPr>
              <a:lnSpc>
                <a:spcPct val="115000"/>
              </a:lnSpc>
              <a:buClr>
                <a:schemeClr val="dk1"/>
              </a:buClr>
              <a:buSzPts val="1100"/>
            </a:pPr>
            <a:r>
              <a:rPr lang="zh-TW" dirty="0">
                <a:solidFill>
                  <a:schemeClr val="dk1"/>
                </a:solidFill>
              </a:rPr>
              <a:t>為了增強 Honeypot 對抗的描述性，我們需要使用到是 MITRE ATT&amp;CK，這個框架清楚的定義攻擊者在什麼 Tactic 下使用什麼 Technique 來攻擊系統。因為 Honeypot 關注的是攻擊者進入系統後的所有行為，所以我們從 Execution 階段開始構建一個攻擊鏈當作例子。以攻擊現在的目標(tactic) 是什麼，所以他執行什麼戰術(Technique) 來講...</a:t>
            </a:r>
            <a:endParaRPr dirty="0">
              <a:solidFill>
                <a:schemeClr val="dk1"/>
              </a:solidFill>
            </a:endParaRPr>
          </a:p>
          <a:p>
            <a:pPr>
              <a:lnSpc>
                <a:spcPct val="115000"/>
              </a:lnSpc>
              <a:buClr>
                <a:schemeClr val="dk1"/>
              </a:buClr>
              <a:buSzPts val="1100"/>
            </a:pPr>
            <a:endParaRPr dirty="0">
              <a:solidFill>
                <a:schemeClr val="dk1"/>
              </a:solidFill>
            </a:endParaRPr>
          </a:p>
          <a:p>
            <a:pPr marL="152368">
              <a:lnSpc>
                <a:spcPct val="115000"/>
              </a:lnSpc>
              <a:buClr>
                <a:schemeClr val="dk1"/>
              </a:buClr>
              <a:buSzPts val="1100"/>
            </a:pPr>
            <a:endParaRPr dirty="0">
              <a:solidFill>
                <a:schemeClr val="dk1"/>
              </a:solidFill>
            </a:endParaRPr>
          </a:p>
          <a:p>
            <a:pPr marL="152368">
              <a:lnSpc>
                <a:spcPct val="115000"/>
              </a:lnSpc>
              <a:buClr>
                <a:schemeClr val="dk1"/>
              </a:buClr>
              <a:buSzPts val="1100"/>
            </a:pPr>
            <a:r>
              <a:rPr lang="zh-TW" dirty="0">
                <a:solidFill>
                  <a:schemeClr val="dk1"/>
                </a:solidFill>
              </a:rPr>
              <a:t>===ＰＡＲＴ=================================</a:t>
            </a:r>
            <a:endParaRPr dirty="0">
              <a:solidFill>
                <a:schemeClr val="dk1"/>
              </a:solidFill>
            </a:endParaRPr>
          </a:p>
          <a:p>
            <a:pPr marL="152368">
              <a:lnSpc>
                <a:spcPct val="115000"/>
              </a:lnSpc>
              <a:buClr>
                <a:schemeClr val="dk1"/>
              </a:buClr>
              <a:buSzPts val="1100"/>
            </a:pPr>
            <a:r>
              <a:rPr lang="zh-TW" dirty="0">
                <a:solidFill>
                  <a:schemeClr val="dk1"/>
                </a:solidFill>
              </a:rPr>
              <a:t>MITRE ATT&amp;CK 是 MITRE 組織的資安研究人員研究多年駭客攻擊行為的總結出來的一個 TTPs 矩陣，透過這個矩陣可以讓資安人員在更精準地定義攻擊鏈的行為，減少溝通上的成本。</a:t>
            </a:r>
            <a:endParaRPr dirty="0">
              <a:solidFill>
                <a:schemeClr val="dk1"/>
              </a:solidFill>
            </a:endParaRPr>
          </a:p>
          <a:p>
            <a:pPr marL="152368">
              <a:lnSpc>
                <a:spcPct val="115000"/>
              </a:lnSpc>
              <a:buClr>
                <a:schemeClr val="dk1"/>
              </a:buClr>
              <a:buSzPts val="1100"/>
            </a:pPr>
            <a:r>
              <a:rPr lang="zh-TW" dirty="0">
                <a:solidFill>
                  <a:schemeClr val="dk1"/>
                </a:solidFill>
              </a:rPr>
              <a:t>我的 Honeypot 的研究會著重於 Initial access 之後的 TTPs，主要觀察駭客在進入系統後的行為模式，而這張表會和下一頁的 MITRE Engagment 框架交互對應。</a:t>
            </a:r>
            <a:endParaRPr dirty="0">
              <a:solidFill>
                <a:schemeClr val="dk1"/>
              </a:solidFill>
            </a:endParaRPr>
          </a:p>
          <a:p>
            <a:pPr marL="152368">
              <a:lnSpc>
                <a:spcPct val="115000"/>
              </a:lnSpc>
              <a:buClr>
                <a:schemeClr val="dk1"/>
              </a:buClr>
              <a:buSzPts val="1100"/>
            </a:pPr>
            <a:r>
              <a:rPr lang="zh-TW" dirty="0">
                <a:solidFill>
                  <a:schemeClr val="dk1"/>
                </a:solidFill>
              </a:rPr>
              <a:t>===================================ＥＮＤ===</a:t>
            </a:r>
            <a:endParaRPr dirty="0">
              <a:solidFill>
                <a:schemeClr val="dk1"/>
              </a:solidFill>
            </a:endParaRPr>
          </a:p>
          <a:p>
            <a:endParaRPr dirty="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6da25c7e74_0_2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6da25c7e74_0_21: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pPr>
              <a:lnSpc>
                <a:spcPct val="115000"/>
              </a:lnSpc>
              <a:buClr>
                <a:schemeClr val="dk1"/>
              </a:buClr>
              <a:buSzPts val="1100"/>
            </a:pPr>
            <a:r>
              <a:rPr lang="zh-TW" dirty="0">
                <a:solidFill>
                  <a:schemeClr val="dk1"/>
                </a:solidFill>
              </a:rPr>
              <a:t>為了增強 Honeypot 中對抗的有效性，我們需要使用到 MITRE Engage 這個框架，這個框架是根據過去的攻防歸納出怎樣的交戰方式最能夠影響到攻擊者，身為防守者不應該是靠自身經驗去對抗攻擊者的行為。我的 Solution 會使用這個框架的作為交戰的指導，並使用 Engage Activity 的敘述去生成合理的交戰行為，進而影響攻擊者。</a:t>
            </a:r>
            <a:endParaRPr dirty="0">
              <a:solidFill>
                <a:schemeClr val="dk1"/>
              </a:solidFill>
            </a:endParaRPr>
          </a:p>
          <a:p>
            <a:pPr>
              <a:lnSpc>
                <a:spcPct val="115000"/>
              </a:lnSpc>
              <a:buClr>
                <a:schemeClr val="dk1"/>
              </a:buClr>
              <a:buSzPts val="1100"/>
            </a:pPr>
            <a:r>
              <a:rPr lang="zh-TW" dirty="0">
                <a:solidFill>
                  <a:schemeClr val="dk1"/>
                </a:solidFill>
              </a:rPr>
              <a:t>另外 MITRE Engage 是面相防守者的框架，我們可以說 Prevent Direct … 是防守者要影響駭客的戰術，而如何影響就需要再閱讀下面這些 Entity 的敘述，再整合到環境中。 </a:t>
            </a:r>
            <a:endParaRPr dirty="0">
              <a:solidFill>
                <a:schemeClr val="dk1"/>
              </a:solidFill>
            </a:endParaRPr>
          </a:p>
          <a:p>
            <a:pPr>
              <a:lnSpc>
                <a:spcPct val="115000"/>
              </a:lnSpc>
              <a:buClr>
                <a:schemeClr val="dk1"/>
              </a:buClr>
              <a:buSzPts val="1100"/>
            </a:pPr>
            <a:endParaRPr dirty="0">
              <a:solidFill>
                <a:schemeClr val="dk1"/>
              </a:solidFill>
            </a:endParaRPr>
          </a:p>
          <a:p>
            <a:pPr>
              <a:lnSpc>
                <a:spcPct val="115000"/>
              </a:lnSpc>
              <a:buClr>
                <a:schemeClr val="dk1"/>
              </a:buClr>
              <a:buSzPts val="1100"/>
            </a:pPr>
            <a:r>
              <a:rPr lang="zh-TW" dirty="0">
                <a:solidFill>
                  <a:schemeClr val="dk1"/>
                </a:solidFill>
              </a:rPr>
              <a:t>===ＰＡＲＴ=================================</a:t>
            </a:r>
            <a:endParaRPr dirty="0">
              <a:solidFill>
                <a:schemeClr val="dk1"/>
              </a:solidFill>
            </a:endParaRPr>
          </a:p>
          <a:p>
            <a:pPr>
              <a:lnSpc>
                <a:spcPct val="115000"/>
              </a:lnSpc>
              <a:buClr>
                <a:schemeClr val="dk1"/>
              </a:buClr>
              <a:buSzPts val="1100"/>
            </a:pPr>
            <a:r>
              <a:rPr lang="zh-TW" dirty="0">
                <a:solidFill>
                  <a:schemeClr val="dk1"/>
                </a:solidFill>
              </a:rPr>
              <a:t>MITRE Engagement 這個矩陣提供的是交戰時防守者該怎麼去應對攻擊者的 TTPs，透過這個框架可以避免在交戰過程中，防守者往往會忍不住去預判對手的下一步行為，然而這種想法會因為經驗差異或各種主觀因素而導致防守者做出錯誤或無效的決策，透過將 Engagement activity 對應到 ATT&amp;CK 矩陣中，能夠確保防守者所選用的每一個 Activity 都是基於已觀測、或是報告過的對手行為，而不是憑藉主觀期望。</a:t>
            </a:r>
            <a:endParaRPr dirty="0">
              <a:solidFill>
                <a:schemeClr val="dk1"/>
              </a:solidFill>
            </a:endParaRPr>
          </a:p>
          <a:p>
            <a:pPr>
              <a:lnSpc>
                <a:spcPct val="115000"/>
              </a:lnSpc>
              <a:buClr>
                <a:schemeClr val="dk1"/>
              </a:buClr>
              <a:buSzPts val="1100"/>
            </a:pPr>
            <a:r>
              <a:rPr lang="zh-TW" dirty="0">
                <a:solidFill>
                  <a:schemeClr val="dk1"/>
                </a:solidFill>
              </a:rPr>
              <a:t>我的 Honeypot 的研究會著重在 Affect(影響) 上，Affect 是指對攻擊者的操作產生負面影響，透過這邊定義的交戰活動，我們能讓拖延、誘導駭客的攻擊行徑，或是迫使駭客展示不一樣的攻擊手法。可以看到這裡的 Activity 定義都是概念性的，具體反應動作通常都要根據系統去做設計，這也導致研究者在設計 Activity 時的困難度。</a:t>
            </a:r>
            <a:endParaRPr dirty="0">
              <a:solidFill>
                <a:schemeClr val="dk1"/>
              </a:solidFill>
            </a:endParaRPr>
          </a:p>
          <a:p>
            <a:pPr>
              <a:lnSpc>
                <a:spcPct val="115000"/>
              </a:lnSpc>
              <a:buClr>
                <a:schemeClr val="dk1"/>
              </a:buClr>
              <a:buSzPts val="1100"/>
            </a:pPr>
            <a:r>
              <a:rPr lang="zh-TW" dirty="0">
                <a:solidFill>
                  <a:schemeClr val="dk1"/>
                </a:solidFill>
              </a:rPr>
              <a:t>===================================ＥＮＤ===</a:t>
            </a:r>
            <a:endParaRPr dirty="0">
              <a:solidFill>
                <a:schemeClr val="dk1"/>
              </a:solidFill>
            </a:endParaRPr>
          </a:p>
          <a:p>
            <a:endParaRPr dirty="0">
              <a:solidFill>
                <a:schemeClr val="dk1"/>
              </a:solidFill>
            </a:endParaRPr>
          </a:p>
          <a:p>
            <a:r>
              <a:rPr lang="zh-TW" dirty="0">
                <a:solidFill>
                  <a:schemeClr val="dk1"/>
                </a:solidFill>
              </a:rPr>
              <a:t>Reassure: 讓駭客相信這個環境是真實的</a:t>
            </a:r>
            <a:endParaRPr dirty="0">
              <a:solidFill>
                <a:schemeClr val="dk1"/>
              </a:solidFill>
            </a:endParaRPr>
          </a:p>
          <a:p>
            <a:r>
              <a:rPr lang="zh-TW" dirty="0">
                <a:solidFill>
                  <a:schemeClr val="dk1"/>
                </a:solidFill>
              </a:rPr>
              <a:t>Motivate : 讓駭客在這個環境下有目標</a:t>
            </a:r>
            <a:endParaRPr dirty="0">
              <a:solidFill>
                <a:schemeClr val="dk1"/>
              </a:solidFill>
            </a:endParaRPr>
          </a:p>
          <a:p>
            <a:r>
              <a:rPr lang="zh-TW" dirty="0">
                <a:solidFill>
                  <a:schemeClr val="dk1"/>
                </a:solidFill>
              </a:rPr>
              <a:t>Direct : 促使駭客在環境下使用不同的指令</a:t>
            </a:r>
            <a:endParaRPr dirty="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7171307534_0_90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7171307534_0_901: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r>
              <a:rPr lang="zh-TW" dirty="0">
                <a:solidFill>
                  <a:schemeClr val="dk1"/>
                </a:solidFill>
              </a:rPr>
              <a:t>捨棄 Value Model，改為使用多個觀察、多組回應的獎勵值的平均。在 LLM 的強化學習過程中，往往只有最後一個 Token 才會給予明確獎勵，而生成一段對話時很難估計從中間 token 到結尾 token 預期拿到多少獎勵，這會使 Value model 很難學習，因此。GRPO 會在整個互動完後根據獎勵平均去優化策略網路，GRPO 這種性質更符合於 RL 學習。</a:t>
            </a:r>
            <a:endParaRPr dirty="0">
              <a:solidFill>
                <a:schemeClr val="dk1"/>
              </a:solidFill>
            </a:endParaRPr>
          </a:p>
        </p:txBody>
      </p:sp>
    </p:spTree>
    <p:extLst>
      <p:ext uri="{BB962C8B-B14F-4D97-AF65-F5344CB8AC3E}">
        <p14:creationId xmlns:p14="http://schemas.microsoft.com/office/powerpoint/2010/main" val="4010523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518892DD-2572-FD01-6A0F-B3AC6DC631A6}"/>
            </a:ext>
          </a:extLst>
        </p:cNvPr>
        <p:cNvGrpSpPr/>
        <p:nvPr/>
      </p:nvGrpSpPr>
      <p:grpSpPr>
        <a:xfrm>
          <a:off x="0" y="0"/>
          <a:ext cx="0" cy="0"/>
          <a:chOff x="0" y="0"/>
          <a:chExt cx="0" cy="0"/>
        </a:xfrm>
      </p:grpSpPr>
      <p:sp>
        <p:nvSpPr>
          <p:cNvPr id="188" name="Google Shape;188;g372592c6c1b_0_1:notes">
            <a:extLst>
              <a:ext uri="{FF2B5EF4-FFF2-40B4-BE49-F238E27FC236}">
                <a16:creationId xmlns:a16="http://schemas.microsoft.com/office/drawing/2014/main" id="{2CB26716-5484-563A-D63E-698159F3682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72592c6c1b_0_1:notes">
            <a:extLst>
              <a:ext uri="{FF2B5EF4-FFF2-40B4-BE49-F238E27FC236}">
                <a16:creationId xmlns:a16="http://schemas.microsoft.com/office/drawing/2014/main" id="{05EB8337-F0B8-1B2C-5E7D-0C2AEACB6610}"/>
              </a:ext>
            </a:extLst>
          </p:cNvPr>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r>
              <a:rPr lang="en-US" altLang="zh-TW" sz="1300" dirty="0">
                <a:solidFill>
                  <a:schemeClr val="dk1"/>
                </a:solidFill>
              </a:rPr>
              <a:t>HoneyIoT </a:t>
            </a:r>
            <a:r>
              <a:rPr lang="zh-TW" altLang="en-US" sz="1300" dirty="0">
                <a:solidFill>
                  <a:schemeClr val="dk1"/>
                </a:solidFill>
              </a:rPr>
              <a:t>欺騙攻擊者提供他的利用漏洞的程式碼</a:t>
            </a:r>
            <a:endParaRPr sz="1300" dirty="0">
              <a:solidFill>
                <a:schemeClr val="dk1"/>
              </a:solidFill>
            </a:endParaRPr>
          </a:p>
          <a:p>
            <a:r>
              <a:rPr lang="en-US" altLang="zh-TW" sz="1300" dirty="0">
                <a:solidFill>
                  <a:schemeClr val="dk1"/>
                </a:solidFill>
              </a:rPr>
              <a:t>GTRL </a:t>
            </a:r>
            <a:r>
              <a:rPr lang="zh-TW" altLang="en-US" sz="1300" dirty="0">
                <a:solidFill>
                  <a:schemeClr val="dk1"/>
                </a:solidFill>
              </a:rPr>
              <a:t>判斷正確、判斷失敗機率</a:t>
            </a:r>
            <a:endParaRPr sz="1300" dirty="0">
              <a:solidFill>
                <a:schemeClr val="dk1"/>
              </a:solidFill>
            </a:endParaRPr>
          </a:p>
          <a:p>
            <a:r>
              <a:rPr lang="en-US" altLang="zh-TW" sz="1300" dirty="0">
                <a:solidFill>
                  <a:schemeClr val="dk1"/>
                </a:solidFill>
              </a:rPr>
              <a:t>GASH </a:t>
            </a:r>
            <a:r>
              <a:rPr lang="zh-TW" altLang="en-US" sz="1300" dirty="0">
                <a:solidFill>
                  <a:schemeClr val="dk1"/>
                </a:solidFill>
              </a:rPr>
              <a:t>使用駭客輸入的 </a:t>
            </a:r>
            <a:r>
              <a:rPr lang="en-US" altLang="zh-TW" sz="1300" dirty="0">
                <a:solidFill>
                  <a:schemeClr val="dk1"/>
                </a:solidFill>
              </a:rPr>
              <a:t>Command </a:t>
            </a:r>
            <a:r>
              <a:rPr lang="zh-TW" altLang="en-US" sz="1300" dirty="0">
                <a:solidFill>
                  <a:schemeClr val="dk1"/>
                </a:solidFill>
              </a:rPr>
              <a:t>嚴重性作為 </a:t>
            </a:r>
            <a:r>
              <a:rPr lang="en-US" altLang="zh-TW" sz="1300" dirty="0">
                <a:solidFill>
                  <a:schemeClr val="dk1"/>
                </a:solidFill>
              </a:rPr>
              <a:t>reward</a:t>
            </a:r>
          </a:p>
          <a:p>
            <a:endParaRPr lang="en-US" sz="1300" dirty="0">
              <a:solidFill>
                <a:schemeClr val="dk1"/>
              </a:solidFill>
            </a:endParaRPr>
          </a:p>
          <a:p>
            <a:endParaRPr lang="en-US" sz="1300" dirty="0">
              <a:solidFill>
                <a:schemeClr val="dk1"/>
              </a:solidFill>
            </a:endParaRPr>
          </a:p>
          <a:p>
            <a:r>
              <a:rPr lang="zh-TW" altLang="en-US" sz="1300" dirty="0">
                <a:solidFill>
                  <a:schemeClr val="dk1"/>
                </a:solidFill>
              </a:rPr>
              <a:t>行為沒有很明顯呈現，重新分類定義欄位</a:t>
            </a:r>
            <a:endParaRPr lang="en-US" altLang="zh-TW" sz="1300" dirty="0">
              <a:solidFill>
                <a:schemeClr val="dk1"/>
              </a:solidFill>
            </a:endParaRPr>
          </a:p>
        </p:txBody>
      </p:sp>
    </p:spTree>
    <p:extLst>
      <p:ext uri="{BB962C8B-B14F-4D97-AF65-F5344CB8AC3E}">
        <p14:creationId xmlns:p14="http://schemas.microsoft.com/office/powerpoint/2010/main" val="3329976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068F8530-9459-14F7-82AA-4A2D550B68E9}"/>
            </a:ext>
          </a:extLst>
        </p:cNvPr>
        <p:cNvGrpSpPr/>
        <p:nvPr/>
      </p:nvGrpSpPr>
      <p:grpSpPr>
        <a:xfrm>
          <a:off x="0" y="0"/>
          <a:ext cx="0" cy="0"/>
          <a:chOff x="0" y="0"/>
          <a:chExt cx="0" cy="0"/>
        </a:xfrm>
      </p:grpSpPr>
      <p:sp>
        <p:nvSpPr>
          <p:cNvPr id="188" name="Google Shape;188;g372592c6c1b_0_1:notes">
            <a:extLst>
              <a:ext uri="{FF2B5EF4-FFF2-40B4-BE49-F238E27FC236}">
                <a16:creationId xmlns:a16="http://schemas.microsoft.com/office/drawing/2014/main" id="{F400C343-ACB3-B27B-0580-5B1B3E2B911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72592c6c1b_0_1:notes">
            <a:extLst>
              <a:ext uri="{FF2B5EF4-FFF2-40B4-BE49-F238E27FC236}">
                <a16:creationId xmlns:a16="http://schemas.microsoft.com/office/drawing/2014/main" id="{5FD1E336-D409-6D08-B7E4-76E74AB4FAB6}"/>
              </a:ext>
            </a:extLst>
          </p:cNvPr>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r>
              <a:rPr lang="en-US" altLang="zh-TW" sz="1300" dirty="0">
                <a:solidFill>
                  <a:schemeClr val="dk1"/>
                </a:solidFill>
              </a:rPr>
              <a:t>HoneyIoT </a:t>
            </a:r>
            <a:r>
              <a:rPr lang="zh-TW" altLang="en-US" sz="1300" dirty="0">
                <a:solidFill>
                  <a:schemeClr val="dk1"/>
                </a:solidFill>
              </a:rPr>
              <a:t>欺騙攻擊者提供他的利用漏洞的程式碼</a:t>
            </a:r>
            <a:endParaRPr sz="1300" dirty="0">
              <a:solidFill>
                <a:schemeClr val="dk1"/>
              </a:solidFill>
            </a:endParaRPr>
          </a:p>
          <a:p>
            <a:r>
              <a:rPr lang="en-US" altLang="zh-TW" sz="1300" dirty="0">
                <a:solidFill>
                  <a:schemeClr val="dk1"/>
                </a:solidFill>
              </a:rPr>
              <a:t>GTRL </a:t>
            </a:r>
            <a:r>
              <a:rPr lang="zh-TW" altLang="en-US" sz="1300" dirty="0">
                <a:solidFill>
                  <a:schemeClr val="dk1"/>
                </a:solidFill>
              </a:rPr>
              <a:t>判斷正確、判斷失敗機率</a:t>
            </a:r>
            <a:endParaRPr sz="1300" dirty="0">
              <a:solidFill>
                <a:schemeClr val="dk1"/>
              </a:solidFill>
            </a:endParaRPr>
          </a:p>
          <a:p>
            <a:r>
              <a:rPr lang="en-US" altLang="zh-TW" sz="1300" dirty="0">
                <a:solidFill>
                  <a:schemeClr val="dk1"/>
                </a:solidFill>
              </a:rPr>
              <a:t>GASH </a:t>
            </a:r>
            <a:r>
              <a:rPr lang="zh-TW" altLang="en-US" sz="1300" dirty="0">
                <a:solidFill>
                  <a:schemeClr val="dk1"/>
                </a:solidFill>
              </a:rPr>
              <a:t>使用駭客輸入的 </a:t>
            </a:r>
            <a:r>
              <a:rPr lang="en-US" altLang="zh-TW" sz="1300" dirty="0">
                <a:solidFill>
                  <a:schemeClr val="dk1"/>
                </a:solidFill>
              </a:rPr>
              <a:t>Command </a:t>
            </a:r>
            <a:r>
              <a:rPr lang="zh-TW" altLang="en-US" sz="1300" dirty="0">
                <a:solidFill>
                  <a:schemeClr val="dk1"/>
                </a:solidFill>
              </a:rPr>
              <a:t>嚴重性作為 </a:t>
            </a:r>
            <a:r>
              <a:rPr lang="en-US" altLang="zh-TW" sz="1300" dirty="0">
                <a:solidFill>
                  <a:schemeClr val="dk1"/>
                </a:solidFill>
              </a:rPr>
              <a:t>reward</a:t>
            </a:r>
          </a:p>
          <a:p>
            <a:endParaRPr lang="en-US" sz="1300" dirty="0">
              <a:solidFill>
                <a:schemeClr val="dk1"/>
              </a:solidFill>
            </a:endParaRPr>
          </a:p>
          <a:p>
            <a:endParaRPr lang="en-US" sz="1300" dirty="0">
              <a:solidFill>
                <a:schemeClr val="dk1"/>
              </a:solidFill>
            </a:endParaRPr>
          </a:p>
          <a:p>
            <a:r>
              <a:rPr lang="zh-TW" altLang="en-US" sz="1300" dirty="0">
                <a:solidFill>
                  <a:schemeClr val="dk1"/>
                </a:solidFill>
              </a:rPr>
              <a:t>行為沒有很明顯呈現，重新分類定義欄位</a:t>
            </a:r>
            <a:endParaRPr lang="en-US" altLang="zh-TW" sz="1300" dirty="0">
              <a:solidFill>
                <a:schemeClr val="dk1"/>
              </a:solidFill>
            </a:endParaRPr>
          </a:p>
        </p:txBody>
      </p:sp>
    </p:spTree>
    <p:extLst>
      <p:ext uri="{BB962C8B-B14F-4D97-AF65-F5344CB8AC3E}">
        <p14:creationId xmlns:p14="http://schemas.microsoft.com/office/powerpoint/2010/main" val="3220587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830c300bbe_0_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830c300bbe_0_7: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75bde8a011_0_6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75bde8a011_0_61: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endParaRPr sz="1300" dirty="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9AEB5D27-1F17-A348-555F-F3C84A375AE9}"/>
            </a:ext>
          </a:extLst>
        </p:cNvPr>
        <p:cNvGrpSpPr/>
        <p:nvPr/>
      </p:nvGrpSpPr>
      <p:grpSpPr>
        <a:xfrm>
          <a:off x="0" y="0"/>
          <a:ext cx="0" cy="0"/>
          <a:chOff x="0" y="0"/>
          <a:chExt cx="0" cy="0"/>
        </a:xfrm>
      </p:grpSpPr>
      <p:sp>
        <p:nvSpPr>
          <p:cNvPr id="232" name="Google Shape;232;g375bde8a011_0_61:notes">
            <a:extLst>
              <a:ext uri="{FF2B5EF4-FFF2-40B4-BE49-F238E27FC236}">
                <a16:creationId xmlns:a16="http://schemas.microsoft.com/office/drawing/2014/main" id="{8B9ED107-7AB0-99C3-9A1B-CA1E8F306DD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75bde8a011_0_61:notes">
            <a:extLst>
              <a:ext uri="{FF2B5EF4-FFF2-40B4-BE49-F238E27FC236}">
                <a16:creationId xmlns:a16="http://schemas.microsoft.com/office/drawing/2014/main" id="{03E587EB-4E68-1289-7BE0-863E5F5EAB22}"/>
              </a:ext>
            </a:extLst>
          </p:cNvPr>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endParaRPr sz="1300" dirty="0">
              <a:solidFill>
                <a:schemeClr val="dk1"/>
              </a:solidFill>
            </a:endParaRPr>
          </a:p>
        </p:txBody>
      </p:sp>
    </p:spTree>
    <p:extLst>
      <p:ext uri="{BB962C8B-B14F-4D97-AF65-F5344CB8AC3E}">
        <p14:creationId xmlns:p14="http://schemas.microsoft.com/office/powerpoint/2010/main" val="2552519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75bde8a011_0_5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75bde8a011_0_55:notes"/>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pPr>
              <a:buClr>
                <a:schemeClr val="dk1"/>
              </a:buClr>
              <a:buSzPts val="1100"/>
            </a:pPr>
            <a:r>
              <a:rPr lang="zh-TW" altLang="en-US" sz="1400" dirty="0">
                <a:solidFill>
                  <a:schemeClr val="dk1"/>
                </a:solidFill>
                <a:latin typeface="Times New Roman"/>
                <a:cs typeface="Times New Roman"/>
                <a:sym typeface="Times New Roman"/>
              </a:rPr>
              <a:t>我的題目是 </a:t>
            </a:r>
            <a:r>
              <a:rPr lang="en-US" altLang="zh-TW" sz="1400" dirty="0">
                <a:solidFill>
                  <a:schemeClr val="dk1"/>
                </a:solidFill>
                <a:latin typeface="Times New Roman"/>
                <a:cs typeface="Times New Roman"/>
                <a:sym typeface="Times New Roman"/>
              </a:rPr>
              <a:t>Finetuned LLMs for intent-aware Engagement in Honeypots</a:t>
            </a:r>
            <a:r>
              <a:rPr lang="zh-TW" altLang="en-US" sz="1400" dirty="0">
                <a:solidFill>
                  <a:schemeClr val="dk1"/>
                </a:solidFill>
                <a:latin typeface="Times New Roman"/>
                <a:cs typeface="Times New Roman"/>
                <a:sym typeface="Times New Roman"/>
              </a:rPr>
              <a:t>，微調 </a:t>
            </a:r>
            <a:r>
              <a:rPr lang="en-US" altLang="zh-TW" sz="1400" dirty="0">
                <a:solidFill>
                  <a:schemeClr val="dk1"/>
                </a:solidFill>
                <a:latin typeface="Times New Roman"/>
                <a:cs typeface="Times New Roman"/>
                <a:sym typeface="Times New Roman"/>
              </a:rPr>
              <a:t>LLM</a:t>
            </a:r>
            <a:r>
              <a:rPr lang="zh-TW" altLang="en-US" sz="1400" dirty="0">
                <a:solidFill>
                  <a:schemeClr val="dk1"/>
                </a:solidFill>
                <a:latin typeface="Times New Roman"/>
                <a:cs typeface="Times New Roman"/>
                <a:sym typeface="Times New Roman"/>
              </a:rPr>
              <a:t> 在蜜罐中實現意圖感知的交戰策略</a:t>
            </a:r>
            <a:endParaRPr lang="en-US" altLang="zh-TW" sz="1400" dirty="0">
              <a:solidFill>
                <a:schemeClr val="dk1"/>
              </a:solidFill>
              <a:latin typeface="Times New Roman"/>
              <a:cs typeface="Times New Roman"/>
              <a:sym typeface="Times New Roman"/>
            </a:endParaRPr>
          </a:p>
          <a:p>
            <a:pPr>
              <a:buClr>
                <a:schemeClr val="dk1"/>
              </a:buClr>
              <a:buSzPts val="1100"/>
            </a:pPr>
            <a:endParaRPr lang="en-US" altLang="zh-TW" sz="1400" dirty="0">
              <a:solidFill>
                <a:schemeClr val="dk1"/>
              </a:solidFill>
              <a:latin typeface="Times New Roman"/>
              <a:cs typeface="Times New Roman"/>
              <a:sym typeface="Times New Roman"/>
            </a:endParaRPr>
          </a:p>
          <a:p>
            <a:pPr>
              <a:buClr>
                <a:schemeClr val="dk1"/>
              </a:buClr>
              <a:buSzPts val="1100"/>
            </a:pPr>
            <a:r>
              <a:rPr lang="zh-TW" altLang="en-US" sz="1400" dirty="0">
                <a:solidFill>
                  <a:schemeClr val="dk1"/>
                </a:solidFill>
              </a:rPr>
              <a:t>在我的題目中有三個 </a:t>
            </a:r>
            <a:r>
              <a:rPr lang="en-US" altLang="zh-TW" sz="1400" dirty="0">
                <a:solidFill>
                  <a:schemeClr val="dk1"/>
                </a:solidFill>
              </a:rPr>
              <a:t>Issue</a:t>
            </a:r>
            <a:r>
              <a:rPr lang="zh-TW" altLang="en-US" sz="1400" dirty="0">
                <a:solidFill>
                  <a:schemeClr val="dk1"/>
                </a:solidFill>
              </a:rPr>
              <a:t>，</a:t>
            </a:r>
            <a:endParaRPr lang="en-US" altLang="zh-TW" sz="1400" dirty="0">
              <a:solidFill>
                <a:schemeClr val="dk1"/>
              </a:solidFill>
            </a:endParaRPr>
          </a:p>
          <a:p>
            <a:pPr>
              <a:buClr>
                <a:schemeClr val="dk1"/>
              </a:buClr>
              <a:buSzPts val="1100"/>
            </a:pPr>
            <a:endParaRPr lang="en-US" altLang="zh-TW" sz="1400" dirty="0">
              <a:solidFill>
                <a:schemeClr val="dk1"/>
              </a:solidFill>
            </a:endParaRPr>
          </a:p>
          <a:p>
            <a:pPr>
              <a:buClr>
                <a:schemeClr val="dk1"/>
              </a:buClr>
              <a:buSzPts val="1100"/>
            </a:pPr>
            <a:r>
              <a:rPr lang="zh-TW" altLang="en-US" sz="1400" dirty="0">
                <a:solidFill>
                  <a:schemeClr val="dk1"/>
                </a:solidFill>
              </a:rPr>
              <a:t>第一個是關於意圖感知，目的是探討監督式微調 </a:t>
            </a:r>
            <a:r>
              <a:rPr lang="en-US" altLang="zh-TW" sz="1400" dirty="0">
                <a:solidFill>
                  <a:schemeClr val="dk1"/>
                </a:solidFill>
              </a:rPr>
              <a:t>LLM</a:t>
            </a:r>
            <a:r>
              <a:rPr lang="zh-TW" altLang="en-US" sz="1400" dirty="0">
                <a:solidFill>
                  <a:schemeClr val="dk1"/>
                </a:solidFill>
              </a:rPr>
              <a:t> 是否能增強意圖感知的準確度、其次是要知道 </a:t>
            </a:r>
            <a:r>
              <a:rPr lang="en-US" altLang="zh-TW" sz="1400" dirty="0">
                <a:solidFill>
                  <a:schemeClr val="dk1"/>
                </a:solidFill>
              </a:rPr>
              <a:t>Intent </a:t>
            </a:r>
            <a:r>
              <a:rPr lang="zh-TW" altLang="en-US" sz="1400" dirty="0">
                <a:solidFill>
                  <a:schemeClr val="dk1"/>
                </a:solidFill>
              </a:rPr>
              <a:t>對於 </a:t>
            </a:r>
            <a:r>
              <a:rPr lang="en-US" altLang="zh-TW" sz="1400" dirty="0">
                <a:solidFill>
                  <a:schemeClr val="dk1"/>
                </a:solidFill>
              </a:rPr>
              <a:t>LLM</a:t>
            </a:r>
            <a:r>
              <a:rPr lang="zh-TW" altLang="en-US" sz="1400" dirty="0">
                <a:solidFill>
                  <a:schemeClr val="dk1"/>
                </a:solidFill>
              </a:rPr>
              <a:t> 產生策略的影響占比程度。</a:t>
            </a:r>
            <a:endParaRPr lang="en-US" altLang="zh-TW" sz="1400" dirty="0">
              <a:solidFill>
                <a:schemeClr val="dk1"/>
              </a:solidFill>
            </a:endParaRPr>
          </a:p>
          <a:p>
            <a:pPr>
              <a:buClr>
                <a:schemeClr val="dk1"/>
              </a:buClr>
              <a:buSzPts val="1100"/>
            </a:pPr>
            <a:r>
              <a:rPr lang="zh-TW" altLang="en-US" sz="1400" dirty="0">
                <a:solidFill>
                  <a:schemeClr val="dk1"/>
                </a:solidFill>
              </a:rPr>
              <a:t>我們的實驗除了常規驗證的偵測的攻擊意圖和真實攻擊意圖的準確度之外，我們也做了消融實驗來探討 </a:t>
            </a:r>
            <a:r>
              <a:rPr lang="en-US" altLang="zh-TW" sz="1400" dirty="0">
                <a:solidFill>
                  <a:schemeClr val="dk1"/>
                </a:solidFill>
              </a:rPr>
              <a:t>Intent </a:t>
            </a:r>
            <a:r>
              <a:rPr lang="zh-TW" altLang="en-US" sz="1400" dirty="0">
                <a:solidFill>
                  <a:schemeClr val="dk1"/>
                </a:solidFill>
              </a:rPr>
              <a:t>作為產生策略的思考鏈中的一個環節，相比於指令的影響程度。經過實驗發現，</a:t>
            </a:r>
            <a:endParaRPr lang="en-US" altLang="zh-TW" sz="1400" dirty="0">
              <a:solidFill>
                <a:schemeClr val="dk1"/>
              </a:solidFill>
            </a:endParaRPr>
          </a:p>
          <a:p>
            <a:pPr>
              <a:buClr>
                <a:schemeClr val="dk1"/>
              </a:buClr>
              <a:buSzPts val="1100"/>
            </a:pPr>
            <a:r>
              <a:rPr lang="zh-TW" altLang="en-US" sz="1400" dirty="0">
                <a:solidFill>
                  <a:schemeClr val="dk1"/>
                </a:solidFill>
              </a:rPr>
              <a:t>微調後的模型確實在 </a:t>
            </a:r>
            <a:r>
              <a:rPr lang="en-US" altLang="zh-TW" sz="1400" dirty="0">
                <a:solidFill>
                  <a:schemeClr val="dk1"/>
                </a:solidFill>
              </a:rPr>
              <a:t>F1-score</a:t>
            </a:r>
            <a:r>
              <a:rPr lang="zh-TW" altLang="en-US" sz="1400" dirty="0">
                <a:solidFill>
                  <a:schemeClr val="dk1"/>
                </a:solidFill>
              </a:rPr>
              <a:t> 相較於 </a:t>
            </a:r>
            <a:r>
              <a:rPr lang="en-US" altLang="zh-TW" sz="1400" dirty="0">
                <a:solidFill>
                  <a:schemeClr val="dk1"/>
                </a:solidFill>
              </a:rPr>
              <a:t>base model </a:t>
            </a:r>
            <a:r>
              <a:rPr lang="zh-TW" altLang="en-US" sz="1400" dirty="0">
                <a:solidFill>
                  <a:schemeClr val="dk1"/>
                </a:solidFill>
              </a:rPr>
              <a:t>來說更高。且在推論策略時，缺少意圖相較於缺少指令序列，對於 </a:t>
            </a:r>
            <a:r>
              <a:rPr lang="en-US" altLang="zh-TW" sz="1400" dirty="0">
                <a:solidFill>
                  <a:schemeClr val="dk1"/>
                </a:solidFill>
              </a:rPr>
              <a:t>LLM</a:t>
            </a:r>
            <a:r>
              <a:rPr lang="zh-TW" altLang="en-US" sz="1400" dirty="0">
                <a:solidFill>
                  <a:schemeClr val="dk1"/>
                </a:solidFill>
              </a:rPr>
              <a:t> 所推論的出的策略和攻擊者意圖的相關性會更低，這證明了在讓 </a:t>
            </a:r>
            <a:r>
              <a:rPr lang="en-US" altLang="zh-TW" sz="1400" dirty="0">
                <a:solidFill>
                  <a:schemeClr val="dk1"/>
                </a:solidFill>
              </a:rPr>
              <a:t>LLM </a:t>
            </a:r>
            <a:r>
              <a:rPr lang="zh-TW" altLang="en-US" sz="1400" dirty="0">
                <a:solidFill>
                  <a:schemeClr val="dk1"/>
                </a:solidFill>
              </a:rPr>
              <a:t>推演策略時，</a:t>
            </a:r>
            <a:endParaRPr lang="en-US" altLang="zh-TW" sz="1400" dirty="0">
              <a:solidFill>
                <a:schemeClr val="dk1"/>
              </a:solidFill>
            </a:endParaRPr>
          </a:p>
          <a:p>
            <a:pPr>
              <a:buClr>
                <a:schemeClr val="dk1"/>
              </a:buClr>
              <a:buSzPts val="1100"/>
            </a:pPr>
            <a:r>
              <a:rPr lang="en-US" altLang="zh-TW" sz="1400" dirty="0">
                <a:solidFill>
                  <a:schemeClr val="dk1"/>
                </a:solidFill>
              </a:rPr>
              <a:t>Intent </a:t>
            </a:r>
            <a:r>
              <a:rPr lang="zh-TW" altLang="en-US" sz="1400" dirty="0">
                <a:solidFill>
                  <a:schemeClr val="dk1"/>
                </a:solidFill>
              </a:rPr>
              <a:t>是相對於 </a:t>
            </a:r>
            <a:r>
              <a:rPr lang="en-US" altLang="zh-TW" sz="1400" dirty="0">
                <a:solidFill>
                  <a:schemeClr val="dk1"/>
                </a:solidFill>
              </a:rPr>
              <a:t>Commands </a:t>
            </a:r>
            <a:r>
              <a:rPr lang="zh-TW" altLang="en-US" sz="1400" dirty="0">
                <a:solidFill>
                  <a:schemeClr val="dk1"/>
                </a:solidFill>
              </a:rPr>
              <a:t>更為重要的一個部分，但生成真正的意圖感知交戰仍然需要兩者互補。</a:t>
            </a:r>
            <a:endParaRPr lang="en-US" altLang="zh-TW" sz="1400" dirty="0">
              <a:solidFill>
                <a:schemeClr val="dk1"/>
              </a:solidFill>
            </a:endParaRPr>
          </a:p>
          <a:p>
            <a:pPr>
              <a:buClr>
                <a:schemeClr val="dk1"/>
              </a:buClr>
              <a:buSzPts val="1100"/>
            </a:pPr>
            <a:endParaRPr lang="en-US" altLang="zh-TW" sz="1400" dirty="0">
              <a:solidFill>
                <a:schemeClr val="dk1"/>
              </a:solidFill>
            </a:endParaRPr>
          </a:p>
          <a:p>
            <a:pPr>
              <a:buClr>
                <a:schemeClr val="dk1"/>
              </a:buClr>
              <a:buSzPts val="1100"/>
            </a:pPr>
            <a:r>
              <a:rPr lang="zh-TW" altLang="en-US" sz="1400" dirty="0">
                <a:solidFill>
                  <a:schemeClr val="dk1"/>
                </a:solidFill>
              </a:rPr>
              <a:t>第二和第三是 </a:t>
            </a:r>
            <a:r>
              <a:rPr lang="en-US" altLang="zh-TW" sz="1400" dirty="0">
                <a:solidFill>
                  <a:schemeClr val="dk1"/>
                </a:solidFill>
              </a:rPr>
              <a:t>Honeypot </a:t>
            </a:r>
            <a:r>
              <a:rPr lang="zh-TW" altLang="en-US" sz="1400" dirty="0">
                <a:solidFill>
                  <a:schemeClr val="dk1"/>
                </a:solidFill>
              </a:rPr>
              <a:t>的最終目的，最大攻擊深度和攻擊多樣性，需要去探討透過強化微調是否能夠使 </a:t>
            </a:r>
            <a:r>
              <a:rPr lang="en-US" altLang="zh-TW" sz="1400" dirty="0">
                <a:solidFill>
                  <a:schemeClr val="dk1"/>
                </a:solidFill>
              </a:rPr>
              <a:t>LLM</a:t>
            </a:r>
            <a:r>
              <a:rPr lang="zh-TW" altLang="en-US" sz="1400" dirty="0">
                <a:solidFill>
                  <a:schemeClr val="dk1"/>
                </a:solidFill>
              </a:rPr>
              <a:t> 獲取更多樣或嚴重性更高的交戰樣本。</a:t>
            </a:r>
            <a:endParaRPr lang="en-US" altLang="zh-TW" sz="1400" dirty="0">
              <a:solidFill>
                <a:schemeClr val="dk1"/>
              </a:solidFill>
            </a:endParaRPr>
          </a:p>
          <a:p>
            <a:pPr>
              <a:buClr>
                <a:schemeClr val="dk1"/>
              </a:buClr>
              <a:buSzPts val="1100"/>
            </a:pPr>
            <a:r>
              <a:rPr lang="zh-TW" altLang="en-US" sz="1400" dirty="0">
                <a:solidFill>
                  <a:schemeClr val="dk1"/>
                </a:solidFill>
              </a:rPr>
              <a:t>我們的實驗是透過和讓 紅隊 </a:t>
            </a:r>
            <a:r>
              <a:rPr lang="en-US" altLang="zh-TW" sz="1400" dirty="0">
                <a:solidFill>
                  <a:schemeClr val="dk1"/>
                </a:solidFill>
              </a:rPr>
              <a:t>LLM</a:t>
            </a:r>
            <a:r>
              <a:rPr lang="zh-TW" altLang="en-US" sz="1400" dirty="0">
                <a:solidFill>
                  <a:schemeClr val="dk1"/>
                </a:solidFill>
              </a:rPr>
              <a:t> 和 藍隊 </a:t>
            </a:r>
            <a:r>
              <a:rPr lang="en-US" altLang="zh-TW" sz="1400" dirty="0">
                <a:solidFill>
                  <a:schemeClr val="dk1"/>
                </a:solidFill>
              </a:rPr>
              <a:t>LLM </a:t>
            </a:r>
            <a:r>
              <a:rPr lang="zh-TW" altLang="en-US" sz="1400" dirty="0">
                <a:solidFill>
                  <a:schemeClr val="dk1"/>
                </a:solidFill>
              </a:rPr>
              <a:t>的交戰結果，來驗證我們的方法是能夠根據交戰結果來學習並偏轉藍隊 </a:t>
            </a:r>
            <a:r>
              <a:rPr lang="en-US" altLang="zh-TW" sz="1400" dirty="0">
                <a:solidFill>
                  <a:schemeClr val="dk1"/>
                </a:solidFill>
              </a:rPr>
              <a:t>LLM</a:t>
            </a:r>
            <a:r>
              <a:rPr lang="zh-TW" altLang="en-US" sz="1400" dirty="0">
                <a:solidFill>
                  <a:schemeClr val="dk1"/>
                </a:solidFill>
              </a:rPr>
              <a:t> 偏好，讓藍隊 </a:t>
            </a:r>
            <a:r>
              <a:rPr lang="en-US" altLang="zh-TW" sz="1400" dirty="0">
                <a:solidFill>
                  <a:schemeClr val="dk1"/>
                </a:solidFill>
              </a:rPr>
              <a:t>LLM</a:t>
            </a:r>
            <a:r>
              <a:rPr lang="zh-TW" altLang="en-US" sz="1400" dirty="0">
                <a:solidFill>
                  <a:schemeClr val="dk1"/>
                </a:solidFill>
              </a:rPr>
              <a:t> 能夠更適應於環境內的攻擊者，</a:t>
            </a:r>
            <a:endParaRPr lang="en-US" altLang="zh-TW" sz="1400" dirty="0">
              <a:solidFill>
                <a:schemeClr val="dk1"/>
              </a:solidFill>
            </a:endParaRPr>
          </a:p>
          <a:p>
            <a:pPr>
              <a:buClr>
                <a:schemeClr val="dk1"/>
              </a:buClr>
              <a:buSzPts val="1100"/>
            </a:pPr>
            <a:r>
              <a:rPr lang="zh-TW" altLang="en-US" sz="1400" dirty="0">
                <a:solidFill>
                  <a:schemeClr val="dk1"/>
                </a:solidFill>
              </a:rPr>
              <a:t>根據攻擊者行為投其所好，動態影響的攻擊者使其展現更多和更嚴重的攻擊樣本。經過實驗發現，在 </a:t>
            </a:r>
            <a:r>
              <a:rPr lang="en-US" altLang="zh-TW" sz="1400" dirty="0">
                <a:solidFill>
                  <a:schemeClr val="dk1"/>
                </a:solidFill>
              </a:rPr>
              <a:t>32 </a:t>
            </a:r>
            <a:r>
              <a:rPr lang="zh-TW" altLang="en-US" sz="1400" dirty="0">
                <a:solidFill>
                  <a:schemeClr val="dk1"/>
                </a:solidFill>
              </a:rPr>
              <a:t>步的交戰過程中，強化微調後的模型在交戰過程中產生的系統修改策略，相較於 </a:t>
            </a:r>
            <a:r>
              <a:rPr lang="en-US" altLang="zh-TW" sz="1400" dirty="0">
                <a:solidFill>
                  <a:schemeClr val="dk1"/>
                </a:solidFill>
              </a:rPr>
              <a:t>base model </a:t>
            </a:r>
            <a:r>
              <a:rPr lang="zh-TW" altLang="en-US" sz="1400" dirty="0">
                <a:solidFill>
                  <a:schemeClr val="dk1"/>
                </a:solidFill>
              </a:rPr>
              <a:t>來說能夠提升 </a:t>
            </a:r>
            <a:r>
              <a:rPr lang="en-US" altLang="zh-TW" sz="1400" dirty="0">
                <a:solidFill>
                  <a:schemeClr val="dk1"/>
                </a:solidFill>
              </a:rPr>
              <a:t>28%</a:t>
            </a:r>
            <a:r>
              <a:rPr lang="zh-TW" altLang="en-US" sz="1400" dirty="0">
                <a:solidFill>
                  <a:schemeClr val="dk1"/>
                </a:solidFill>
              </a:rPr>
              <a:t> 的攻擊深度 和 </a:t>
            </a:r>
            <a:r>
              <a:rPr lang="en-US" altLang="zh-TW" sz="1400" dirty="0">
                <a:solidFill>
                  <a:schemeClr val="dk1"/>
                </a:solidFill>
              </a:rPr>
              <a:t>18%</a:t>
            </a:r>
            <a:r>
              <a:rPr lang="zh-TW" altLang="en-US" sz="1400" dirty="0">
                <a:solidFill>
                  <a:schemeClr val="dk1"/>
                </a:solidFill>
              </a:rPr>
              <a:t> 的 </a:t>
            </a:r>
            <a:r>
              <a:rPr lang="en-US" altLang="zh-TW" sz="1400" dirty="0">
                <a:solidFill>
                  <a:schemeClr val="dk1"/>
                </a:solidFill>
              </a:rPr>
              <a:t>technique </a:t>
            </a:r>
            <a:r>
              <a:rPr lang="zh-TW" altLang="en-US" sz="1400" dirty="0">
                <a:solidFill>
                  <a:schemeClr val="dk1"/>
                </a:solidFill>
              </a:rPr>
              <a:t>多樣性</a:t>
            </a:r>
            <a:endParaRPr lang="en-US" altLang="zh-TW" sz="1400" b="1"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01CF3993-8F90-7888-FE60-7AF4CC264689}"/>
            </a:ext>
          </a:extLst>
        </p:cNvPr>
        <p:cNvGrpSpPr/>
        <p:nvPr/>
      </p:nvGrpSpPr>
      <p:grpSpPr>
        <a:xfrm>
          <a:off x="0" y="0"/>
          <a:ext cx="0" cy="0"/>
          <a:chOff x="0" y="0"/>
          <a:chExt cx="0" cy="0"/>
        </a:xfrm>
      </p:grpSpPr>
      <p:sp>
        <p:nvSpPr>
          <p:cNvPr id="243" name="Google Shape;243;g3830d6c6f52_0_231:notes">
            <a:extLst>
              <a:ext uri="{FF2B5EF4-FFF2-40B4-BE49-F238E27FC236}">
                <a16:creationId xmlns:a16="http://schemas.microsoft.com/office/drawing/2014/main" id="{BACB6342-F0E7-76C8-890D-2B7F6B61EB2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3830d6c6f52_0_231:notes">
            <a:extLst>
              <a:ext uri="{FF2B5EF4-FFF2-40B4-BE49-F238E27FC236}">
                <a16:creationId xmlns:a16="http://schemas.microsoft.com/office/drawing/2014/main" id="{C257B965-B319-8AFE-5FB4-55025E070A0A}"/>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r>
              <a:rPr lang="en-US" altLang="zh-TW" dirty="0">
                <a:solidFill>
                  <a:schemeClr val="dk1"/>
                </a:solidFill>
              </a:rPr>
              <a:t>https://app.diagrams.net/#G1D53KxnOLKKdAFFZY5aS4tDuEuIyvu32W#%7B%22pageId%22%3A%22gBxsqIgtuCujUQtQsf_O%22%7D</a:t>
            </a:r>
          </a:p>
          <a:p>
            <a:pPr>
              <a:buSzPts val="1100"/>
            </a:pPr>
            <a:endParaRPr lang="en-US" altLang="zh-TW" b="1" dirty="0">
              <a:solidFill>
                <a:schemeClr val="dk1"/>
              </a:solidFill>
            </a:endParaRPr>
          </a:p>
          <a:p>
            <a:pPr>
              <a:buSzPts val="1100"/>
            </a:pPr>
            <a:r>
              <a:rPr lang="zh-TW" altLang="en-US" b="1" dirty="0">
                <a:solidFill>
                  <a:schemeClr val="dk1"/>
                </a:solidFill>
              </a:rPr>
              <a:t>我們假設攻擊手是一個分佈 </a:t>
            </a:r>
            <a:r>
              <a:rPr lang="en-US" altLang="zh-TW" b="1" dirty="0">
                <a:solidFill>
                  <a:schemeClr val="dk1"/>
                </a:solidFill>
                <a:sym typeface="Wingdings" panose="05000000000000000000" pitchFamily="2" charset="2"/>
              </a:rPr>
              <a:t>-&gt; </a:t>
            </a:r>
            <a:r>
              <a:rPr lang="zh-TW" altLang="en-US" b="1" dirty="0">
                <a:solidFill>
                  <a:schemeClr val="dk1"/>
                </a:solidFill>
                <a:sym typeface="Wingdings" panose="05000000000000000000" pitchFamily="2" charset="2"/>
              </a:rPr>
              <a:t>我們的模型在訓練後應該要去擬合攻擊手的行為分佈來讓 </a:t>
            </a:r>
            <a:r>
              <a:rPr lang="en-US" altLang="zh-TW" b="1" dirty="0">
                <a:solidFill>
                  <a:schemeClr val="dk1"/>
                </a:solidFill>
                <a:sym typeface="Wingdings" panose="05000000000000000000" pitchFamily="2" charset="2"/>
              </a:rPr>
              <a:t>Reward function </a:t>
            </a:r>
            <a:r>
              <a:rPr lang="zh-TW" altLang="en-US" b="1" dirty="0">
                <a:solidFill>
                  <a:schemeClr val="dk1"/>
                </a:solidFill>
                <a:sym typeface="Wingdings" panose="05000000000000000000" pitchFamily="2" charset="2"/>
              </a:rPr>
              <a:t>更深入。</a:t>
            </a:r>
            <a:endParaRPr lang="en-US" altLang="zh-TW" b="1" dirty="0">
              <a:solidFill>
                <a:schemeClr val="dk1"/>
              </a:solidFill>
              <a:sym typeface="Wingdings" panose="05000000000000000000" pitchFamily="2" charset="2"/>
            </a:endParaRPr>
          </a:p>
          <a:p>
            <a:pPr>
              <a:buSzPts val="1100"/>
            </a:pPr>
            <a:r>
              <a:rPr lang="zh-TW" altLang="en-US" b="1" dirty="0">
                <a:solidFill>
                  <a:schemeClr val="dk1"/>
                </a:solidFill>
                <a:sym typeface="Wingdings" panose="05000000000000000000" pitchFamily="2" charset="2"/>
              </a:rPr>
              <a:t>注意要說明 </a:t>
            </a:r>
            <a:r>
              <a:rPr lang="en-US" altLang="zh-TW" b="1" dirty="0" err="1">
                <a:solidFill>
                  <a:schemeClr val="dk1"/>
                </a:solidFill>
                <a:sym typeface="Wingdings" panose="05000000000000000000" pitchFamily="2" charset="2"/>
              </a:rPr>
              <a:t>a_i</a:t>
            </a:r>
            <a:r>
              <a:rPr lang="en-US" altLang="zh-TW" b="1" dirty="0">
                <a:solidFill>
                  <a:schemeClr val="dk1"/>
                </a:solidFill>
                <a:sym typeface="Wingdings" panose="05000000000000000000" pitchFamily="2" charset="2"/>
              </a:rPr>
              <a:t> </a:t>
            </a:r>
            <a:r>
              <a:rPr lang="zh-TW" altLang="en-US" b="1" dirty="0">
                <a:solidFill>
                  <a:schemeClr val="dk1"/>
                </a:solidFill>
                <a:sym typeface="Wingdings" panose="05000000000000000000" pitchFamily="2" charset="2"/>
              </a:rPr>
              <a:t>是在每 </a:t>
            </a:r>
            <a:r>
              <a:rPr lang="en-US" altLang="zh-TW" b="1" dirty="0">
                <a:solidFill>
                  <a:schemeClr val="dk1"/>
                </a:solidFill>
                <a:sym typeface="Wingdings" panose="05000000000000000000" pitchFamily="2" charset="2"/>
              </a:rPr>
              <a:t>N</a:t>
            </a:r>
            <a:r>
              <a:rPr lang="zh-TW" altLang="en-US" b="1" dirty="0">
                <a:solidFill>
                  <a:schemeClr val="dk1"/>
                </a:solidFill>
                <a:sym typeface="Wingdings" panose="05000000000000000000" pitchFamily="2" charset="2"/>
              </a:rPr>
              <a:t> 步時觸發</a:t>
            </a:r>
            <a:endParaRPr lang="en-US" altLang="zh-TW" b="1" dirty="0">
              <a:solidFill>
                <a:schemeClr val="dk1"/>
              </a:solidFill>
            </a:endParaRPr>
          </a:p>
          <a:p>
            <a:pPr>
              <a:buSzPts val="1100"/>
            </a:pPr>
            <a:endParaRPr lang="en-US" altLang="zh-TW" b="1" dirty="0">
              <a:solidFill>
                <a:schemeClr val="dk1"/>
              </a:solidFill>
            </a:endParaRPr>
          </a:p>
        </p:txBody>
      </p:sp>
    </p:spTree>
    <p:extLst>
      <p:ext uri="{BB962C8B-B14F-4D97-AF65-F5344CB8AC3E}">
        <p14:creationId xmlns:p14="http://schemas.microsoft.com/office/powerpoint/2010/main" val="1857159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830d6c6f52_0_10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3830d6c6f52_0_102: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r>
              <a:rPr lang="en-US" altLang="zh-TW" dirty="0">
                <a:solidFill>
                  <a:schemeClr val="dk1"/>
                </a:solidFill>
              </a:rPr>
              <a:t>Rationale: </a:t>
            </a:r>
            <a:r>
              <a:rPr lang="zh-TW" altLang="en-US" dirty="0">
                <a:solidFill>
                  <a:schemeClr val="dk1"/>
                </a:solidFill>
              </a:rPr>
              <a:t>可以使用語意相似度</a:t>
            </a:r>
            <a:endParaRPr dirty="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880a5c0d19_0_2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g3880a5c0d19_0_24: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Partial Fail </a:t>
            </a:r>
            <a:r>
              <a:rPr lang="zh-TW" altLang="en-US" dirty="0"/>
              <a:t>可以阻斷攻擊者當前的意圖，讓他產生其他方向的嘗試。</a:t>
            </a:r>
            <a:endParaRPr lang="en-US" altLang="zh-TW" dirty="0"/>
          </a:p>
          <a:p>
            <a:r>
              <a:rPr lang="en-US" altLang="zh-TW" dirty="0"/>
              <a:t>Artificial Trail </a:t>
            </a:r>
            <a:r>
              <a:rPr lang="zh-TW" altLang="en-US" dirty="0"/>
              <a:t>可以透過製造一些假資訊讓攻擊者試圖利用</a:t>
            </a:r>
            <a:endParaRPr lang="en-US" altLang="zh-TW" dirty="0"/>
          </a:p>
          <a:p>
            <a:r>
              <a:rPr lang="en-US" altLang="zh-TW" dirty="0"/>
              <a:t>Inert Admin Service </a:t>
            </a:r>
            <a:r>
              <a:rPr lang="zh-TW" altLang="en-US" dirty="0"/>
              <a:t>是開啟一些假服務讓攻擊者嘗試從服務中獲取一些可利用的資訊</a:t>
            </a:r>
            <a:endParaRPr lang="en-US" altLang="zh-TW" dirty="0"/>
          </a:p>
          <a:p>
            <a:r>
              <a:rPr lang="en-US" altLang="zh-TW" dirty="0"/>
              <a:t>Credential Access </a:t>
            </a:r>
            <a:r>
              <a:rPr lang="zh-TW" altLang="en-US" dirty="0"/>
              <a:t>是暴露一些系統中真的可以使用真實資訊讓攻擊者能進行使用者變更或橫向移動</a:t>
            </a:r>
            <a:endParaRPr lang="en-US" altLang="zh-TW" dirty="0"/>
          </a:p>
          <a:p>
            <a:r>
              <a:rPr lang="en-US" altLang="zh-TW" dirty="0"/>
              <a:t>Access Control Trap </a:t>
            </a:r>
            <a:r>
              <a:rPr lang="zh-TW" altLang="en-US" dirty="0"/>
              <a:t>是故意暴露一些系統中的漏洞，讓攻擊者可以使用漏洞進行權限提升。</a:t>
            </a:r>
            <a:endParaRPr lang="en-US" altLang="zh-TW" dirty="0"/>
          </a:p>
          <a:p>
            <a:endParaRPr lang="en-US" altLang="zh-TW" dirty="0"/>
          </a:p>
        </p:txBody>
      </p:sp>
      <p:sp>
        <p:nvSpPr>
          <p:cNvPr id="4" name="投影片編號版面配置區 3"/>
          <p:cNvSpPr>
            <a:spLocks noGrp="1"/>
          </p:cNvSpPr>
          <p:nvPr>
            <p:ph type="sldNum" sz="quarter" idx="5"/>
          </p:nvPr>
        </p:nvSpPr>
        <p:spPr/>
        <p:txBody>
          <a:bodyPr/>
          <a:lstStyle/>
          <a:p>
            <a:fld id="{7158F2C8-1ADC-47B4-8041-A07664DB9A1F}" type="slidenum">
              <a:rPr lang="zh-TW" altLang="en-US" smtClean="0"/>
              <a:t>18</a:t>
            </a:fld>
            <a:endParaRPr lang="zh-TW" altLang="en-US"/>
          </a:p>
        </p:txBody>
      </p:sp>
    </p:spTree>
    <p:extLst>
      <p:ext uri="{BB962C8B-B14F-4D97-AF65-F5344CB8AC3E}">
        <p14:creationId xmlns:p14="http://schemas.microsoft.com/office/powerpoint/2010/main" val="436125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880a5c0d19_0_7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g3880a5c0d19_0_78: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8e7372da40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283" name="Google Shape;283;g38e7372da40_0_0: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endParaRPr lang="en-US" altLang="zh-TW" b="1" dirty="0"/>
              </a:p>
              <a:p>
                <a:endParaRPr lang="en-US" altLang="zh-TW" b="1" dirty="0"/>
              </a:p>
              <a:p>
                <a:r>
                  <a:rPr lang="zh-TW" altLang="en-US" b="1" dirty="0"/>
                  <a:t>投影片講稿（最終版）</a:t>
                </a:r>
              </a:p>
              <a:p>
                <a:r>
                  <a:rPr lang="zh-TW" altLang="en-US" b="1" dirty="0"/>
                  <a:t>開場（</a:t>
                </a:r>
                <a:r>
                  <a:rPr lang="en-US" altLang="zh-TW" b="1" dirty="0"/>
                  <a:t>10 </a:t>
                </a:r>
                <a:r>
                  <a:rPr lang="zh-TW" altLang="en-US" b="1" dirty="0"/>
                  <a:t>秒）</a:t>
                </a:r>
              </a:p>
              <a:p>
                <a:r>
                  <a:rPr lang="zh-TW" altLang="en-US" dirty="0"/>
                  <a:t>「在進入 </a:t>
                </a:r>
                <a:r>
                  <a:rPr lang="en-US" altLang="zh-TW" dirty="0"/>
                  <a:t>reward </a:t>
                </a:r>
                <a:r>
                  <a:rPr lang="zh-TW" altLang="en-US" dirty="0"/>
                  <a:t>函數之前，先說明我們怎麼把 </a:t>
                </a:r>
                <a:r>
                  <a:rPr lang="en-US" altLang="zh-TW" dirty="0"/>
                  <a:t>ATT&amp;CK </a:t>
                </a:r>
                <a:r>
                  <a:rPr lang="zh-TW" altLang="en-US" dirty="0"/>
                  <a:t>的七個 </a:t>
                </a:r>
                <a:r>
                  <a:rPr lang="en-US" altLang="zh-TW" dirty="0"/>
                  <a:t>tactics </a:t>
                </a:r>
                <a:r>
                  <a:rPr lang="zh-TW" altLang="en-US" dirty="0"/>
                  <a:t>重新組織。」</a:t>
                </a:r>
              </a:p>
              <a:p>
                <a:r>
                  <a:rPr lang="zh-TW" altLang="en-US" b="1" dirty="0"/>
                  <a:t>第一段：批判 </a:t>
                </a:r>
                <a:r>
                  <a:rPr lang="en-US" altLang="zh-TW" b="1" dirty="0"/>
                  <a:t>+ </a:t>
                </a:r>
                <a:r>
                  <a:rPr lang="zh-TW" altLang="en-US" b="1" dirty="0"/>
                  <a:t>三階段分組（</a:t>
                </a:r>
                <a:r>
                  <a:rPr lang="en-US" altLang="zh-TW" b="1" dirty="0"/>
                  <a:t>30 </a:t>
                </a:r>
                <a:r>
                  <a:rPr lang="zh-TW" altLang="en-US" b="1" dirty="0"/>
                  <a:t>秒）</a:t>
                </a:r>
              </a:p>
              <a:p>
                <a:r>
                  <a:rPr lang="zh-TW" altLang="en-US" dirty="0"/>
                  <a:t>「最直覺的做法是把 </a:t>
                </a:r>
                <a:r>
                  <a:rPr lang="en-US" altLang="zh-TW" dirty="0"/>
                  <a:t>Tactic ID </a:t>
                </a:r>
                <a:r>
                  <a:rPr lang="zh-TW" altLang="en-US" dirty="0"/>
                  <a:t>直接當權重，</a:t>
                </a:r>
                <a:r>
                  <a:rPr lang="en-US" altLang="zh-TW" dirty="0"/>
                  <a:t>Discovery </a:t>
                </a:r>
                <a:r>
                  <a:rPr lang="zh-TW" altLang="en-US" dirty="0"/>
                  <a:t>給 </a:t>
                </a:r>
                <a:r>
                  <a:rPr lang="en-US" altLang="zh-TW" dirty="0"/>
                  <a:t>1 </a:t>
                </a:r>
                <a:r>
                  <a:rPr lang="zh-TW" altLang="en-US" dirty="0"/>
                  <a:t>分、</a:t>
                </a:r>
                <a:r>
                  <a:rPr lang="en-US" altLang="zh-TW" dirty="0"/>
                  <a:t>Impact </a:t>
                </a:r>
                <a:r>
                  <a:rPr lang="zh-TW" altLang="en-US" dirty="0"/>
                  <a:t>給 </a:t>
                </a:r>
                <a:r>
                  <a:rPr lang="en-US" altLang="zh-TW" dirty="0"/>
                  <a:t>7 </a:t>
                </a:r>
                <a:r>
                  <a:rPr lang="zh-TW" altLang="en-US" dirty="0"/>
                  <a:t>分。但這有兩個問題：</a:t>
                </a:r>
              </a:p>
              <a:p>
                <a:r>
                  <a:rPr lang="zh-TW" altLang="en-US" b="1" dirty="0"/>
                  <a:t>第一</a:t>
                </a:r>
                <a:r>
                  <a:rPr lang="zh-TW" altLang="en-US" dirty="0"/>
                  <a:t>，</a:t>
                </a:r>
                <a:r>
                  <a:rPr lang="en-US" altLang="zh-TW" dirty="0"/>
                  <a:t>MITRE </a:t>
                </a:r>
                <a:r>
                  <a:rPr lang="zh-TW" altLang="en-US" dirty="0"/>
                  <a:t>官方 </a:t>
                </a:r>
                <a:r>
                  <a:rPr lang="en-US" altLang="zh-TW" dirty="0"/>
                  <a:t>FAQ </a:t>
                </a:r>
                <a:r>
                  <a:rPr lang="zh-TW" altLang="en-US" dirty="0"/>
                  <a:t>明確說 </a:t>
                </a:r>
                <a:r>
                  <a:rPr lang="en-US" altLang="zh-TW" dirty="0"/>
                  <a:t>ATT&amp;CK </a:t>
                </a:r>
                <a:r>
                  <a:rPr lang="zh-TW" altLang="en-US" dirty="0"/>
                  <a:t>的 </a:t>
                </a:r>
                <a:r>
                  <a:rPr lang="en-US" altLang="zh-TW" dirty="0"/>
                  <a:t>tactics </a:t>
                </a:r>
                <a:r>
                  <a:rPr lang="zh-TW" altLang="en-US" dirty="0"/>
                  <a:t>是 </a:t>
                </a:r>
                <a:r>
                  <a:rPr lang="en-US" altLang="zh-TW" b="1" dirty="0"/>
                  <a:t>unordered</a:t>
                </a:r>
                <a:r>
                  <a:rPr lang="zh-TW" altLang="en-US" dirty="0"/>
                  <a:t> 的，把它線性排序本身違反框架定義。</a:t>
                </a:r>
              </a:p>
              <a:p>
                <a:r>
                  <a:rPr lang="zh-TW" altLang="en-US" b="1" dirty="0"/>
                  <a:t>第二</a:t>
                </a:r>
                <a:r>
                  <a:rPr lang="zh-TW" altLang="en-US" dirty="0"/>
                  <a:t>，這樣設計可能會讓模型出現 </a:t>
                </a:r>
                <a:r>
                  <a:rPr lang="en-US" altLang="zh-TW" b="1" dirty="0"/>
                  <a:t>policy degeneration</a:t>
                </a:r>
                <a:r>
                  <a:rPr lang="zh-TW" altLang="en-US" dirty="0"/>
                  <a:t>，</a:t>
                </a:r>
                <a:r>
                  <a:rPr lang="en-US" altLang="zh-TW" dirty="0"/>
                  <a:t>agent </a:t>
                </a:r>
                <a:r>
                  <a:rPr lang="zh-TW" altLang="en-US" dirty="0"/>
                  <a:t>會學到只想衝高 </a:t>
                </a:r>
                <a:r>
                  <a:rPr lang="en-US" altLang="zh-TW" dirty="0"/>
                  <a:t>ID </a:t>
                </a:r>
                <a:r>
                  <a:rPr lang="zh-TW" altLang="en-US" dirty="0"/>
                  <a:t>的 </a:t>
                </a:r>
                <a:r>
                  <a:rPr lang="en-US" altLang="zh-TW" dirty="0"/>
                  <a:t>tactics</a:t>
                </a:r>
                <a:r>
                  <a:rPr lang="zh-TW" altLang="en-US" dirty="0"/>
                  <a:t>，反而忽略 </a:t>
                </a:r>
                <a:r>
                  <a:rPr lang="en-US" altLang="zh-TW" dirty="0"/>
                  <a:t>honeypot </a:t>
                </a:r>
                <a:r>
                  <a:rPr lang="zh-TW" altLang="en-US" dirty="0"/>
                  <a:t>真正想觀察的多樣化攻擊行為。</a:t>
                </a:r>
              </a:p>
              <a:p>
                <a:r>
                  <a:rPr lang="zh-TW" altLang="en-US" dirty="0"/>
                  <a:t>所以我們從</a:t>
                </a:r>
                <a:r>
                  <a:rPr lang="zh-TW" altLang="en-US" b="1" dirty="0"/>
                  <a:t>威脅情資的視角</a:t>
                </a:r>
                <a:r>
                  <a:rPr lang="zh-TW" altLang="en-US" dirty="0"/>
                  <a:t>，按攻擊者</a:t>
                </a:r>
                <a:r>
                  <a:rPr lang="zh-TW" altLang="en-US" b="1" dirty="0"/>
                  <a:t>對自身能力的改變程度</a:t>
                </a:r>
                <a:r>
                  <a:rPr lang="zh-TW" altLang="en-US" dirty="0"/>
                  <a:t>重新分組成三階段：</a:t>
                </a:r>
              </a:p>
              <a:p>
                <a:r>
                  <a:rPr lang="en-US" altLang="zh-TW" b="1" dirty="0"/>
                  <a:t>Data Collection</a:t>
                </a:r>
                <a:r>
                  <a:rPr lang="zh-TW" altLang="en-US" dirty="0"/>
                  <a:t> 是攻擊者</a:t>
                </a:r>
                <a:r>
                  <a:rPr lang="zh-TW" altLang="en-US" b="1" dirty="0"/>
                  <a:t>只是在看、在讀</a:t>
                </a:r>
                <a:r>
                  <a:rPr lang="en-US" altLang="zh-TW" dirty="0"/>
                  <a:t>——</a:t>
                </a:r>
                <a:r>
                  <a:rPr lang="zh-TW" altLang="en-US" dirty="0"/>
                  <a:t>做 </a:t>
                </a:r>
                <a:r>
                  <a:rPr lang="en-US" altLang="zh-TW" sz="1200" kern="1200" dirty="0" err="1">
                    <a:solidFill>
                      <a:schemeClr val="tx1"/>
                    </a:solidFill>
                    <a:latin typeface="+mn-lt"/>
                    <a:ea typeface="+mn-ea"/>
                    <a:cs typeface="+mn-cs"/>
                  </a:rPr>
                  <a:t>whoami</a:t>
                </a:r>
                <a:r>
                  <a:rPr lang="zh-TW" altLang="en-US" dirty="0"/>
                  <a:t>、列檔案、看系統設定，他自己的權限或位置都沒變</a:t>
                </a:r>
              </a:p>
              <a:p>
                <a:r>
                  <a:rPr lang="en-US" altLang="zh-TW" b="1" dirty="0"/>
                  <a:t>Expansion</a:t>
                </a:r>
                <a:r>
                  <a:rPr lang="zh-TW" altLang="en-US" dirty="0"/>
                  <a:t> 是攻擊者</a:t>
                </a:r>
                <a:r>
                  <a:rPr lang="zh-TW" altLang="en-US" b="1" dirty="0"/>
                  <a:t>帳號或權限真的有所改變</a:t>
                </a:r>
                <a:r>
                  <a:rPr lang="en-US" altLang="zh-TW" dirty="0"/>
                  <a:t>——</a:t>
                </a:r>
                <a:r>
                  <a:rPr lang="zh-TW" altLang="en-US" dirty="0"/>
                  <a:t>拿到憑證、提權成功、橫向移動到新的服務節點，這些動作每一步都讓他</a:t>
                </a:r>
                <a:r>
                  <a:rPr lang="zh-TW" altLang="en-US" b="1" dirty="0"/>
                  <a:t>能力升級</a:t>
                </a:r>
                <a:endParaRPr lang="zh-TW" altLang="en-US" dirty="0"/>
              </a:p>
              <a:p>
                <a:r>
                  <a:rPr lang="en-US" altLang="zh-TW" b="1" dirty="0"/>
                  <a:t>Goals Achieved</a:t>
                </a:r>
                <a:r>
                  <a:rPr lang="zh-TW" altLang="en-US" dirty="0"/>
                  <a:t> 則是</a:t>
                </a:r>
                <a:r>
                  <a:rPr lang="zh-TW" altLang="en-US" b="1" dirty="0"/>
                  <a:t>已經造成傷害</a:t>
                </a:r>
                <a:r>
                  <a:rPr lang="en-US" altLang="zh-TW" dirty="0"/>
                  <a:t>——</a:t>
                </a:r>
                <a:r>
                  <a:rPr lang="zh-TW" altLang="en-US" dirty="0"/>
                  <a:t>資料被外洩、檔案被刪除，這些是</a:t>
                </a:r>
                <a:r>
                  <a:rPr lang="zh-TW" altLang="en-US" b="1" dirty="0"/>
                  <a:t>做了就回不去的動作</a:t>
                </a:r>
                <a:r>
                  <a:rPr lang="zh-TW" altLang="en-US" dirty="0"/>
                  <a:t>」</a:t>
                </a:r>
              </a:p>
              <a:p>
                <a:r>
                  <a:rPr lang="zh-TW" altLang="en-US" b="1" dirty="0"/>
                  <a:t>第二段：</a:t>
                </a:r>
                <a:r>
                  <a:rPr lang="en-US" altLang="zh-TW" b="1" dirty="0"/>
                  <a:t>Reward </a:t>
                </a:r>
                <a:r>
                  <a:rPr lang="zh-TW" altLang="en-US" b="1" dirty="0"/>
                  <a:t>公式（</a:t>
                </a:r>
                <a:r>
                  <a:rPr lang="en-US" altLang="zh-TW" b="1" dirty="0"/>
                  <a:t>40 </a:t>
                </a:r>
                <a:r>
                  <a:rPr lang="zh-TW" altLang="en-US" b="1" dirty="0"/>
                  <a:t>秒）</a:t>
                </a:r>
              </a:p>
              <a:p>
                <a:r>
                  <a:rPr lang="zh-TW" altLang="en-US" dirty="0"/>
                  <a:t>「</a:t>
                </a:r>
                <a:r>
                  <a:rPr lang="en-US" altLang="zh-TW" dirty="0"/>
                  <a:t>Reward </a:t>
                </a:r>
                <a:r>
                  <a:rPr lang="zh-TW" altLang="en-US" dirty="0"/>
                  <a:t>由兩個訊號組成，都 </a:t>
                </a:r>
                <a:r>
                  <a:rPr lang="en-US" altLang="zh-TW" dirty="0"/>
                  <a:t>normalize </a:t>
                </a:r>
                <a:r>
                  <a:rPr lang="zh-TW" altLang="en-US" dirty="0"/>
                  <a:t>到 </a:t>
                </a:r>
                <a:r>
                  <a:rPr lang="en-US" altLang="zh-TW" dirty="0"/>
                  <a:t>0 </a:t>
                </a:r>
                <a:r>
                  <a:rPr lang="zh-TW" altLang="en-US" dirty="0"/>
                  <a:t>到 </a:t>
                </a:r>
                <a:r>
                  <a:rPr lang="en-US" altLang="zh-TW" dirty="0"/>
                  <a:t>1 </a:t>
                </a:r>
                <a:r>
                  <a:rPr lang="zh-TW" altLang="en-US" dirty="0"/>
                  <a:t>之間。</a:t>
                </a:r>
              </a:p>
              <a:p>
                <a:r>
                  <a:rPr lang="zh-TW" altLang="en-US" b="1" dirty="0"/>
                  <a:t>第一個是 </a:t>
                </a:r>
                <a:r>
                  <a:rPr lang="en-US" altLang="zh-TW" b="1" dirty="0"/>
                  <a:t>depth</a:t>
                </a:r>
                <a:r>
                  <a:rPr lang="zh-TW" altLang="en-US" dirty="0"/>
                  <a:t>，把攻擊者執行的 </a:t>
                </a:r>
                <a:r>
                  <a:rPr lang="en-US" altLang="zh-TW" dirty="0"/>
                  <a:t>tactic </a:t>
                </a:r>
                <a:r>
                  <a:rPr lang="zh-TW" altLang="en-US" dirty="0"/>
                  <a:t>用權重加總。我們的設計是</a:t>
                </a:r>
                <a:r>
                  <a:rPr lang="zh-TW" altLang="en-US" b="1" dirty="0"/>
                  <a:t>階段化的離散權重</a:t>
                </a:r>
                <a:r>
                  <a:rPr lang="zh-TW" altLang="en-US" dirty="0"/>
                  <a:t>：</a:t>
                </a:r>
                <a:r>
                  <a:rPr lang="en-US" altLang="zh-TW" dirty="0"/>
                  <a:t>Data Collection </a:t>
                </a:r>
                <a:r>
                  <a:rPr lang="zh-TW" altLang="en-US" dirty="0"/>
                  <a:t>給 </a:t>
                </a:r>
                <a:r>
                  <a:rPr lang="en-US" altLang="zh-TW" dirty="0"/>
                  <a:t>1 </a:t>
                </a:r>
                <a:r>
                  <a:rPr lang="zh-TW" altLang="en-US" dirty="0"/>
                  <a:t>分、</a:t>
                </a:r>
                <a:r>
                  <a:rPr lang="en-US" altLang="zh-TW" dirty="0"/>
                  <a:t>Expansion </a:t>
                </a:r>
                <a:r>
                  <a:rPr lang="zh-TW" altLang="en-US" dirty="0"/>
                  <a:t>給 </a:t>
                </a:r>
                <a:r>
                  <a:rPr lang="en-US" altLang="zh-TW" dirty="0"/>
                  <a:t>5 </a:t>
                </a:r>
                <a:r>
                  <a:rPr lang="zh-TW" altLang="en-US" dirty="0"/>
                  <a:t>分、</a:t>
                </a:r>
                <a:r>
                  <a:rPr lang="en-US" altLang="zh-TW" dirty="0"/>
                  <a:t>Goals Achieved </a:t>
                </a:r>
                <a:r>
                  <a:rPr lang="zh-TW" altLang="en-US" dirty="0"/>
                  <a:t>給 </a:t>
                </a:r>
                <a:r>
                  <a:rPr lang="en-US" altLang="zh-TW" dirty="0"/>
                  <a:t>15 </a:t>
                </a:r>
                <a:r>
                  <a:rPr lang="zh-TW" altLang="en-US" dirty="0"/>
                  <a:t>分。</a:t>
                </a:r>
              </a:p>
              <a:p>
                <a:r>
                  <a:rPr lang="zh-TW" altLang="en-US" b="1" dirty="0"/>
                  <a:t>重點是同階段內的 </a:t>
                </a:r>
                <a:r>
                  <a:rPr lang="en-US" altLang="zh-TW" b="1" dirty="0"/>
                  <a:t>tactic </a:t>
                </a:r>
                <a:r>
                  <a:rPr lang="zh-TW" altLang="en-US" b="1" dirty="0"/>
                  <a:t>給一樣的分數，跨階段才有明顯跳躍</a:t>
                </a:r>
                <a:r>
                  <a:rPr lang="en-US" altLang="zh-TW" dirty="0"/>
                  <a:t>——</a:t>
                </a:r>
                <a:r>
                  <a:rPr lang="zh-TW" altLang="en-US" dirty="0"/>
                  <a:t>這樣 </a:t>
                </a:r>
                <a:r>
                  <a:rPr lang="en-US" altLang="zh-TW" dirty="0"/>
                  <a:t>agent </a:t>
                </a:r>
                <a:r>
                  <a:rPr lang="zh-TW" altLang="en-US" dirty="0"/>
                  <a:t>看到的不是漸進的數字遞增，而是</a:t>
                </a:r>
                <a:r>
                  <a:rPr lang="zh-TW" altLang="en-US" b="1" dirty="0"/>
                  <a:t>有明確階段邊界的躍升</a:t>
                </a:r>
                <a:r>
                  <a:rPr lang="zh-TW" altLang="en-US" dirty="0"/>
                  <a:t>。這也直接解決了線性 </a:t>
                </a:r>
                <a:r>
                  <a:rPr lang="en-US" altLang="zh-TW" dirty="0"/>
                  <a:t>ID </a:t>
                </a:r>
                <a:r>
                  <a:rPr lang="zh-TW" altLang="en-US" dirty="0"/>
                  <a:t>那個問題：階段內的 </a:t>
                </a:r>
                <a:r>
                  <a:rPr lang="en-US" altLang="zh-TW" dirty="0"/>
                  <a:t>tactic </a:t>
                </a:r>
                <a:r>
                  <a:rPr lang="zh-TW" altLang="en-US" dirty="0"/>
                  <a:t>沒有 </a:t>
                </a:r>
                <a:r>
                  <a:rPr lang="en-US" altLang="zh-TW" dirty="0"/>
                  <a:t>ordinal </a:t>
                </a:r>
                <a:r>
                  <a:rPr lang="zh-TW" altLang="en-US" dirty="0"/>
                  <a:t>關係，分組才是設計重點。</a:t>
                </a:r>
              </a:p>
              <a:p>
                <a:r>
                  <a:rPr lang="zh-TW" altLang="en-US" b="1" dirty="0"/>
                  <a:t>第二個是 </a:t>
                </a:r>
                <a:r>
                  <a:rPr lang="en-US" altLang="zh-TW" b="1" dirty="0"/>
                  <a:t>diversity</a:t>
                </a:r>
                <a:r>
                  <a:rPr lang="zh-TW" altLang="en-US" dirty="0"/>
                  <a:t>，用 </a:t>
                </a:r>
                <a:r>
                  <a:rPr lang="en-US" altLang="zh-TW" dirty="0"/>
                  <a:t>set </a:t>
                </a:r>
                <a:r>
                  <a:rPr lang="zh-TW" altLang="en-US" dirty="0"/>
                  <a:t>計算攻擊者觸發過多少種</a:t>
                </a:r>
                <a:r>
                  <a:rPr lang="zh-TW" altLang="en-US" b="1" dirty="0"/>
                  <a:t>不同</a:t>
                </a:r>
                <a:r>
                  <a:rPr lang="zh-TW" altLang="en-US" dirty="0"/>
                  <a:t> </a:t>
                </a:r>
                <a:r>
                  <a:rPr lang="en-US" altLang="zh-TW" dirty="0"/>
                  <a:t>technique</a:t>
                </a:r>
                <a:r>
                  <a:rPr lang="zh-TW" altLang="en-US" dirty="0"/>
                  <a:t>，重複觸發同一招不會加分。</a:t>
                </a:r>
              </a:p>
              <a:p>
                <a:r>
                  <a:rPr lang="zh-TW" altLang="en-US" dirty="0"/>
                  <a:t>兩個分數都用 </a:t>
                </a:r>
                <a:r>
                  <a:rPr lang="en-US" altLang="zh-TW" dirty="0"/>
                  <a:t>min </a:t>
                </a:r>
                <a:r>
                  <a:rPr lang="zh-TW" altLang="en-US" dirty="0"/>
                  <a:t>函數壓在 </a:t>
                </a:r>
                <a:r>
                  <a:rPr lang="en-US" altLang="zh-TW" dirty="0"/>
                  <a:t>1 </a:t>
                </a:r>
                <a:r>
                  <a:rPr lang="zh-TW" altLang="en-US" dirty="0"/>
                  <a:t>以下，</a:t>
                </a:r>
                <a:r>
                  <a:rPr lang="zh-TW" altLang="en-US" b="1" dirty="0"/>
                  <a:t>這個上限有兩個重要作用</a:t>
                </a:r>
                <a:r>
                  <a:rPr lang="zh-TW" altLang="en-US" dirty="0"/>
                  <a:t>：</a:t>
                </a:r>
              </a:p>
              <a:p>
                <a:r>
                  <a:rPr lang="zh-TW" altLang="en-US" dirty="0"/>
                  <a:t>第一，讓 </a:t>
                </a:r>
                <a14:m>
                  <m:oMath xmlns:m="http://schemas.openxmlformats.org/officeDocument/2006/math">
                    <m:sSub>
                      <m:sSubPr>
                        <m:ctrlPr>
                          <a:rPr lang="zh-TW" altLang="en-US" sz="1200" i="1" kern="1200">
                            <a:solidFill>
                              <a:schemeClr val="tx1"/>
                            </a:solidFill>
                            <a:latin typeface="Cambria Math" panose="02040503050406030204" pitchFamily="18" charset="0"/>
                            <a:ea typeface="+mn-ea"/>
                            <a:cs typeface="+mn-cs"/>
                          </a:rPr>
                        </m:ctrlPr>
                      </m:sSubPr>
                      <m:e>
                        <m:r>
                          <a:rPr lang="zh-TW" altLang="en-US" sz="1200" i="1" kern="1200">
                            <a:solidFill>
                              <a:schemeClr val="tx1"/>
                            </a:solidFill>
                            <a:latin typeface="Cambria Math" panose="02040503050406030204" pitchFamily="18" charset="0"/>
                            <a:ea typeface="+mn-ea"/>
                            <a:cs typeface="+mn-cs"/>
                          </a:rPr>
                          <m:t>𝑤</m:t>
                        </m:r>
                      </m:e>
                      <m:sub>
                        <m:r>
                          <a:rPr lang="en-US" altLang="zh-TW" sz="1200" i="0" kern="1200">
                            <a:solidFill>
                              <a:schemeClr val="tx1"/>
                            </a:solidFill>
                            <a:latin typeface="Cambria Math" panose="02040503050406030204" pitchFamily="18" charset="0"/>
                            <a:ea typeface="+mn-ea"/>
                            <a:cs typeface="+mn-cs"/>
                          </a:rPr>
                          <m:t>1</m:t>
                        </m:r>
                      </m:sub>
                    </m:sSub>
                  </m:oMath>
                </a14:m>
                <a:r>
                  <a:rPr lang="zh-TW" altLang="en-US" dirty="0"/>
                  <a:t>跟 </a:t>
                </a:r>
                <a14:m>
                  <m:oMath xmlns:m="http://schemas.openxmlformats.org/officeDocument/2006/math">
                    <m:sSub>
                      <m:sSubPr>
                        <m:ctrlPr>
                          <a:rPr lang="zh-TW" altLang="en-US" sz="1200" i="1" kern="1200">
                            <a:solidFill>
                              <a:schemeClr val="tx1"/>
                            </a:solidFill>
                            <a:latin typeface="Cambria Math" panose="02040503050406030204" pitchFamily="18" charset="0"/>
                            <a:ea typeface="+mn-ea"/>
                            <a:cs typeface="+mn-cs"/>
                          </a:rPr>
                        </m:ctrlPr>
                      </m:sSubPr>
                      <m:e>
                        <m:r>
                          <a:rPr lang="zh-TW" altLang="en-US" sz="1200" i="1" kern="1200">
                            <a:solidFill>
                              <a:schemeClr val="tx1"/>
                            </a:solidFill>
                            <a:latin typeface="Cambria Math" panose="02040503050406030204" pitchFamily="18" charset="0"/>
                            <a:ea typeface="+mn-ea"/>
                            <a:cs typeface="+mn-cs"/>
                          </a:rPr>
                          <m:t>𝑤</m:t>
                        </m:r>
                      </m:e>
                      <m:sub>
                        <m:r>
                          <a:rPr lang="en-US" altLang="zh-TW" sz="1200" i="0" kern="1200">
                            <a:solidFill>
                              <a:schemeClr val="tx1"/>
                            </a:solidFill>
                            <a:latin typeface="Cambria Math" panose="02040503050406030204" pitchFamily="18" charset="0"/>
                            <a:ea typeface="+mn-ea"/>
                            <a:cs typeface="+mn-cs"/>
                          </a:rPr>
                          <m:t>2</m:t>
                        </m:r>
                      </m:sub>
                    </m:sSub>
                  </m:oMath>
                </a14:m>
                <a:r>
                  <a:rPr lang="zh-TW" altLang="en-US" dirty="0"/>
                  <a:t>真的成為</a:t>
                </a:r>
                <a:r>
                  <a:rPr lang="zh-TW" altLang="en-US" b="1" dirty="0"/>
                  <a:t>可解釋的權重比例</a:t>
                </a:r>
                <a:r>
                  <a:rPr lang="en-US" altLang="zh-TW" dirty="0"/>
                  <a:t>——</a:t>
                </a:r>
                <a:r>
                  <a:rPr lang="zh-TW" altLang="en-US" dirty="0"/>
                  <a:t>例如 </a:t>
                </a:r>
                <a:r>
                  <a:rPr lang="en-US" altLang="zh-TW" dirty="0"/>
                  <a:t>6:4 </a:t>
                </a:r>
                <a:r>
                  <a:rPr lang="zh-TW" altLang="en-US" dirty="0"/>
                  <a:t>就直接代表「我比較重視 </a:t>
                </a:r>
                <a:r>
                  <a:rPr lang="en-US" altLang="zh-TW" dirty="0"/>
                  <a:t>depth</a:t>
                </a:r>
                <a:r>
                  <a:rPr lang="zh-TW" altLang="en-US" dirty="0"/>
                  <a:t>」。</a:t>
                </a:r>
              </a:p>
              <a:p>
                <a:r>
                  <a:rPr lang="zh-TW" altLang="en-US" dirty="0"/>
                  <a:t>第二，</a:t>
                </a:r>
                <a14:m>
                  <m:oMath xmlns:m="http://schemas.openxmlformats.org/officeDocument/2006/math">
                    <m:sSub>
                      <m:sSubPr>
                        <m:ctrlPr>
                          <a:rPr lang="zh-TW" altLang="en-US" sz="1200" i="1" kern="1200">
                            <a:solidFill>
                              <a:schemeClr val="tx1"/>
                            </a:solidFill>
                            <a:latin typeface="Cambria Math" panose="02040503050406030204" pitchFamily="18" charset="0"/>
                            <a:ea typeface="+mn-ea"/>
                            <a:cs typeface="+mn-cs"/>
                          </a:rPr>
                        </m:ctrlPr>
                      </m:sSubPr>
                      <m:e>
                        <m:r>
                          <a:rPr lang="zh-TW" altLang="en-US" sz="1200" i="1" kern="1200">
                            <a:solidFill>
                              <a:schemeClr val="tx1"/>
                            </a:solidFill>
                            <a:latin typeface="Cambria Math" panose="02040503050406030204" pitchFamily="18" charset="0"/>
                            <a:ea typeface="+mn-ea"/>
                            <a:cs typeface="+mn-cs"/>
                          </a:rPr>
                          <m:t>𝑀</m:t>
                        </m:r>
                      </m:e>
                      <m:sub>
                        <m:r>
                          <a:rPr lang="zh-TW" altLang="en-US" sz="1200" i="1" kern="1200">
                            <a:solidFill>
                              <a:schemeClr val="tx1"/>
                            </a:solidFill>
                            <a:latin typeface="Cambria Math" panose="02040503050406030204" pitchFamily="18" charset="0"/>
                            <a:ea typeface="+mn-ea"/>
                            <a:cs typeface="+mn-cs"/>
                          </a:rPr>
                          <m:t>𝑑𝑒𝑝𝑡</m:t>
                        </m:r>
                        <m:r>
                          <a:rPr lang="en-US" altLang="zh-TW" sz="1200" i="1" kern="1200">
                            <a:solidFill>
                              <a:schemeClr val="tx1"/>
                            </a:solidFill>
                            <a:latin typeface="Cambria Math" panose="02040503050406030204" pitchFamily="18" charset="0"/>
                            <a:ea typeface="+mn-ea"/>
                            <a:cs typeface="+mn-cs"/>
                          </a:rPr>
                          <m:t>h</m:t>
                        </m:r>
                      </m:sub>
                    </m:sSub>
                  </m:oMath>
                </a14:m>
                <a:r>
                  <a:rPr lang="zh-TW" altLang="en-US" b="1" dirty="0"/>
                  <a:t> 設為 </a:t>
                </a:r>
                <a:r>
                  <a:rPr lang="en-US" altLang="zh-TW" b="1" dirty="0"/>
                  <a:t>47</a:t>
                </a:r>
                <a:r>
                  <a:rPr lang="zh-TW" altLang="en-US" dirty="0"/>
                  <a:t>，這個值對應</a:t>
                </a:r>
                <a:r>
                  <a:rPr lang="zh-TW" altLang="en-US" b="1" dirty="0"/>
                  <a:t>每個 </a:t>
                </a:r>
                <a:r>
                  <a:rPr lang="en-US" altLang="zh-TW" b="1" dirty="0"/>
                  <a:t>tactic </a:t>
                </a:r>
                <a:r>
                  <a:rPr lang="zh-TW" altLang="en-US" b="1" dirty="0"/>
                  <a:t>都至少觸發一次</a:t>
                </a:r>
                <a:r>
                  <a:rPr lang="zh-TW" altLang="en-US" dirty="0"/>
                  <a:t>的累積分數，也就是 </a:t>
                </a:r>
                <a:r>
                  <a:rPr lang="en-US" altLang="zh-TW" dirty="0"/>
                  <a:t>1+1+5+5+5+15+15</a:t>
                </a:r>
                <a:r>
                  <a:rPr lang="zh-TW" altLang="en-US" dirty="0"/>
                  <a:t>。意思是攻擊者必須完整展現所有七種戰術，</a:t>
                </a:r>
                <a:r>
                  <a:rPr lang="en-US" altLang="zh-TW" dirty="0"/>
                  <a:t>depth </a:t>
                </a:r>
                <a:r>
                  <a:rPr lang="zh-TW" altLang="en-US" dirty="0"/>
                  <a:t>才會飽和</a:t>
                </a:r>
                <a:r>
                  <a:rPr lang="en-US" altLang="zh-TW" dirty="0"/>
                  <a:t>——</a:t>
                </a:r>
                <a:r>
                  <a:rPr lang="zh-TW" altLang="en-US" dirty="0"/>
                  <a:t>這直接對應 </a:t>
                </a:r>
                <a:r>
                  <a:rPr lang="en-US" altLang="zh-TW" dirty="0"/>
                  <a:t>honeypot </a:t>
                </a:r>
                <a:r>
                  <a:rPr lang="zh-TW" altLang="en-US" dirty="0"/>
                  <a:t>想觀察的理想情境。</a:t>
                </a:r>
                <a14:m>
                  <m:oMath xmlns:m="http://schemas.openxmlformats.org/officeDocument/2006/math">
                    <m:sSub>
                      <m:sSubPr>
                        <m:ctrlPr>
                          <a:rPr lang="zh-TW" altLang="en-US" sz="1200" i="1" kern="1200">
                            <a:solidFill>
                              <a:schemeClr val="tx1"/>
                            </a:solidFill>
                            <a:latin typeface="Cambria Math" panose="02040503050406030204" pitchFamily="18" charset="0"/>
                            <a:ea typeface="+mn-ea"/>
                            <a:cs typeface="+mn-cs"/>
                          </a:rPr>
                        </m:ctrlPr>
                      </m:sSubPr>
                      <m:e>
                        <m:r>
                          <a:rPr lang="zh-TW" altLang="en-US" sz="1200" i="1" kern="1200">
                            <a:solidFill>
                              <a:schemeClr val="tx1"/>
                            </a:solidFill>
                            <a:latin typeface="Cambria Math" panose="02040503050406030204" pitchFamily="18" charset="0"/>
                            <a:ea typeface="+mn-ea"/>
                            <a:cs typeface="+mn-cs"/>
                          </a:rPr>
                          <m:t>𝑀</m:t>
                        </m:r>
                      </m:e>
                      <m:sub>
                        <m:r>
                          <a:rPr lang="zh-TW" altLang="en-US" sz="1200" i="1" kern="1200">
                            <a:solidFill>
                              <a:schemeClr val="tx1"/>
                            </a:solidFill>
                            <a:latin typeface="Cambria Math" panose="02040503050406030204" pitchFamily="18" charset="0"/>
                            <a:ea typeface="+mn-ea"/>
                            <a:cs typeface="+mn-cs"/>
                          </a:rPr>
                          <m:t>𝑑𝑖𝑣</m:t>
                        </m:r>
                      </m:sub>
                    </m:sSub>
                  </m:oMath>
                </a14:m>
                <a:r>
                  <a:rPr lang="zh-TW" altLang="en-US" b="1" dirty="0"/>
                  <a:t> 設為 </a:t>
                </a:r>
                <a:r>
                  <a:rPr lang="en-US" altLang="zh-TW" b="1" dirty="0"/>
                  <a:t>32</a:t>
                </a:r>
                <a:r>
                  <a:rPr lang="zh-TW" altLang="en-US" dirty="0"/>
                  <a:t>，等於系統允許的最大指令數，意思是只有當攻擊者每次嘗試都是不同 </a:t>
                </a:r>
                <a:r>
                  <a:rPr lang="en-US" altLang="zh-TW" dirty="0"/>
                  <a:t>technique </a:t>
                </a:r>
                <a:r>
                  <a:rPr lang="zh-TW" altLang="en-US" dirty="0"/>
                  <a:t>才能拿滿分。」</a:t>
                </a:r>
              </a:p>
              <a:p>
                <a:r>
                  <a:rPr lang="zh-TW" altLang="en-US" b="1" dirty="0"/>
                  <a:t>收尾（</a:t>
                </a:r>
                <a:r>
                  <a:rPr lang="en-US" altLang="zh-TW" b="1" dirty="0"/>
                  <a:t>10 </a:t>
                </a:r>
                <a:r>
                  <a:rPr lang="zh-TW" altLang="en-US" b="1" dirty="0"/>
                  <a:t>秒）</a:t>
                </a:r>
              </a:p>
              <a:p>
                <a:r>
                  <a:rPr lang="zh-TW" altLang="en-US" dirty="0"/>
                  <a:t>「這兩個飽和機制結合，就會迫使 </a:t>
                </a:r>
                <a:r>
                  <a:rPr lang="en-US" altLang="zh-TW" dirty="0"/>
                  <a:t>agent </a:t>
                </a:r>
                <a:r>
                  <a:rPr lang="zh-TW" altLang="en-US" dirty="0"/>
                  <a:t>學到我們真正想要的策略：</a:t>
                </a:r>
                <a:r>
                  <a:rPr lang="zh-TW" altLang="en-US" b="1" dirty="0"/>
                  <a:t>讓攻擊者深入、而且行為多樣</a:t>
                </a:r>
                <a:r>
                  <a:rPr lang="zh-TW" altLang="en-US" dirty="0"/>
                  <a:t>，而不是反覆刷同一招或直接衝終點。」</a:t>
                </a:r>
              </a:p>
              <a:p>
                <a:endParaRPr lang="en-US" altLang="zh-TW" b="1" dirty="0"/>
              </a:p>
              <a:p>
                <a:r>
                  <a:rPr lang="en-US" altLang="zh-TW" b="1" dirty="0"/>
                  <a:t>Q&amp;A </a:t>
                </a:r>
                <a:r>
                  <a:rPr lang="zh-TW" altLang="en-US" b="1" dirty="0"/>
                  <a:t>準備（最終版）</a:t>
                </a:r>
              </a:p>
              <a:p>
                <a:r>
                  <a:rPr lang="en-US" altLang="zh-TW" b="1" dirty="0"/>
                  <a:t>Q1</a:t>
                </a:r>
                <a:r>
                  <a:rPr lang="zh-TW" altLang="en-US" b="1" dirty="0"/>
                  <a:t>：「為什麼權重是 </a:t>
                </a:r>
                <a:r>
                  <a:rPr lang="en-US" altLang="zh-TW" b="1" dirty="0"/>
                  <a:t>1, 5, 15</a:t>
                </a:r>
                <a:r>
                  <a:rPr lang="zh-TW" altLang="en-US" b="1" dirty="0"/>
                  <a:t>？」</a:t>
                </a:r>
              </a:p>
              <a:p>
                <a:r>
                  <a:rPr lang="zh-TW" altLang="en-US" dirty="0"/>
                  <a:t>「我們的設計是</a:t>
                </a:r>
                <a:r>
                  <a:rPr lang="zh-TW" altLang="en-US" b="1" dirty="0"/>
                  <a:t>階段化的離散權重</a:t>
                </a:r>
                <a:r>
                  <a:rPr lang="zh-TW" altLang="en-US" dirty="0"/>
                  <a:t>，遵循兩個原則：</a:t>
                </a:r>
              </a:p>
              <a:p>
                <a:r>
                  <a:rPr lang="zh-TW" altLang="en-US" b="1" dirty="0"/>
                  <a:t>同階段內權重相同</a:t>
                </a:r>
                <a:r>
                  <a:rPr lang="en-US" altLang="zh-TW" dirty="0"/>
                  <a:t>——</a:t>
                </a:r>
                <a:r>
                  <a:rPr lang="zh-TW" altLang="en-US" dirty="0"/>
                  <a:t>避免讓階段內的 </a:t>
                </a:r>
                <a:r>
                  <a:rPr lang="en-US" altLang="zh-TW" dirty="0"/>
                  <a:t>tactic </a:t>
                </a:r>
                <a:r>
                  <a:rPr lang="zh-TW" altLang="en-US" dirty="0"/>
                  <a:t>排序變成另一個 </a:t>
                </a:r>
                <a:r>
                  <a:rPr lang="en-US" altLang="zh-TW" dirty="0"/>
                  <a:t>ordinal </a:t>
                </a:r>
                <a:r>
                  <a:rPr lang="zh-TW" altLang="en-US" dirty="0"/>
                  <a:t>假設</a:t>
                </a:r>
              </a:p>
              <a:p>
                <a:r>
                  <a:rPr lang="zh-TW" altLang="en-US" b="1" dirty="0"/>
                  <a:t>跨階段權重明顯跳躍</a:t>
                </a:r>
                <a:r>
                  <a:rPr lang="en-US" altLang="zh-TW" dirty="0"/>
                  <a:t>——</a:t>
                </a:r>
                <a:r>
                  <a:rPr lang="zh-TW" altLang="en-US" dirty="0"/>
                  <a:t>反映攻擊者能力的質變</a:t>
                </a:r>
              </a:p>
              <a:p>
                <a:r>
                  <a:rPr lang="zh-TW" altLang="en-US" dirty="0"/>
                  <a:t>具體用 </a:t>
                </a:r>
                <a:r>
                  <a:rPr lang="en-US" altLang="zh-TW" dirty="0"/>
                  <a:t>1, 5, 15 </a:t>
                </a:r>
                <a:r>
                  <a:rPr lang="zh-TW" altLang="en-US" dirty="0"/>
                  <a:t>是設計選擇</a:t>
                </a:r>
                <a:r>
                  <a:rPr lang="en-US" altLang="zh-TW" dirty="0"/>
                  <a:t>——</a:t>
                </a:r>
                <a:r>
                  <a:rPr lang="zh-TW" altLang="en-US" dirty="0"/>
                  <a:t>進入 </a:t>
                </a:r>
                <a:r>
                  <a:rPr lang="en-US" altLang="zh-TW" dirty="0"/>
                  <a:t>Expansion </a:t>
                </a:r>
                <a:r>
                  <a:rPr lang="zh-TW" altLang="en-US" dirty="0"/>
                  <a:t>比留在 </a:t>
                </a:r>
                <a:r>
                  <a:rPr lang="en-US" altLang="zh-TW" dirty="0"/>
                  <a:t>Data Collection </a:t>
                </a:r>
                <a:r>
                  <a:rPr lang="zh-TW" altLang="en-US" dirty="0"/>
                  <a:t>嚴重 </a:t>
                </a:r>
                <a:r>
                  <a:rPr lang="en-US" altLang="zh-TW" dirty="0"/>
                  <a:t>5 </a:t>
                </a:r>
                <a:r>
                  <a:rPr lang="zh-TW" altLang="en-US" dirty="0"/>
                  <a:t>倍，進入 </a:t>
                </a:r>
                <a:r>
                  <a:rPr lang="en-US" altLang="zh-TW" dirty="0"/>
                  <a:t>Goals Achieved </a:t>
                </a:r>
                <a:r>
                  <a:rPr lang="zh-TW" altLang="en-US" dirty="0"/>
                  <a:t>又再嚴重 </a:t>
                </a:r>
                <a:r>
                  <a:rPr lang="en-US" altLang="zh-TW" dirty="0"/>
                  <a:t>3 </a:t>
                </a:r>
                <a:r>
                  <a:rPr lang="zh-TW" altLang="en-US" dirty="0"/>
                  <a:t>倍。比例反映攻擊嚴重性的非線性放大。」</a:t>
                </a:r>
              </a:p>
              <a:p>
                <a:r>
                  <a:rPr lang="en-US" altLang="zh-TW" b="1" dirty="0"/>
                  <a:t>Q2</a:t>
                </a:r>
                <a:r>
                  <a:rPr lang="zh-TW" altLang="en-US" b="1" dirty="0"/>
                  <a:t>：「數值改變會影響 </a:t>
                </a:r>
                <a:r>
                  <a:rPr lang="en-US" altLang="zh-TW" b="1" dirty="0"/>
                  <a:t>agent </a:t>
                </a:r>
                <a:r>
                  <a:rPr lang="zh-TW" altLang="en-US" b="1" dirty="0"/>
                  <a:t>行為嗎？」</a:t>
                </a:r>
              </a:p>
              <a:p>
                <a:r>
                  <a:rPr lang="zh-TW" altLang="en-US" dirty="0"/>
                  <a:t>「會的。具體比例會影響 </a:t>
                </a:r>
                <a:r>
                  <a:rPr lang="en-US" altLang="zh-TW" dirty="0"/>
                  <a:t>agent </a:t>
                </a:r>
                <a:r>
                  <a:rPr lang="zh-TW" altLang="en-US" dirty="0"/>
                  <a:t>多重視階段邊界的躍升。但只要遵守</a:t>
                </a:r>
                <a:r>
                  <a:rPr lang="en-US" altLang="zh-TW" dirty="0"/>
                  <a:t>『</a:t>
                </a:r>
                <a:r>
                  <a:rPr lang="zh-TW" altLang="en-US" dirty="0"/>
                  <a:t>階段內相同、跨階段跳躍</a:t>
                </a:r>
                <a:r>
                  <a:rPr lang="en-US" altLang="zh-TW" dirty="0"/>
                  <a:t>』</a:t>
                </a:r>
                <a:r>
                  <a:rPr lang="zh-TW" altLang="en-US" dirty="0"/>
                  <a:t>這個結構原則，</a:t>
                </a:r>
                <a:r>
                  <a:rPr lang="en-US" altLang="zh-TW" dirty="0"/>
                  <a:t>agent </a:t>
                </a:r>
                <a:r>
                  <a:rPr lang="zh-TW" altLang="en-US" dirty="0"/>
                  <a:t>都會學到</a:t>
                </a:r>
                <a:r>
                  <a:rPr lang="en-US" altLang="zh-TW" dirty="0"/>
                  <a:t>『</a:t>
                </a:r>
                <a:r>
                  <a:rPr lang="zh-TW" altLang="en-US" dirty="0"/>
                  <a:t>階段化漸進 </a:t>
                </a:r>
                <a:r>
                  <a:rPr lang="en-US" altLang="zh-TW" dirty="0"/>
                  <a:t>+ </a:t>
                </a:r>
                <a:r>
                  <a:rPr lang="zh-TW" altLang="en-US" dirty="0"/>
                  <a:t>行為多樣化</a:t>
                </a:r>
                <a:r>
                  <a:rPr lang="en-US" altLang="zh-TW" dirty="0"/>
                  <a:t>』</a:t>
                </a:r>
                <a:r>
                  <a:rPr lang="zh-TW" altLang="en-US" dirty="0"/>
                  <a:t>這種</a:t>
                </a:r>
                <a:r>
                  <a:rPr lang="zh-TW" altLang="en-US" b="1" dirty="0"/>
                  <a:t>整體策略形態</a:t>
                </a:r>
                <a:r>
                  <a:rPr lang="zh-TW" altLang="en-US" dirty="0"/>
                  <a:t>。我們論文的 </a:t>
                </a:r>
                <a:r>
                  <a:rPr lang="en-US" altLang="zh-TW" dirty="0"/>
                  <a:t>contribution </a:t>
                </a:r>
                <a:r>
                  <a:rPr lang="zh-TW" altLang="en-US" dirty="0"/>
                  <a:t>是這個設計結構，不是宣稱 </a:t>
                </a:r>
                <a:r>
                  <a:rPr lang="en-US" altLang="zh-TW" dirty="0"/>
                  <a:t>1, 5, 15 </a:t>
                </a:r>
                <a:r>
                  <a:rPr lang="zh-TW" altLang="en-US" dirty="0"/>
                  <a:t>是最優比例。」</a:t>
                </a:r>
              </a:p>
              <a:p>
                <a:r>
                  <a:rPr lang="en-US" altLang="zh-TW" b="1" dirty="0"/>
                  <a:t>Q3</a:t>
                </a:r>
                <a:r>
                  <a:rPr lang="zh-TW" altLang="en-US" b="1" dirty="0"/>
                  <a:t>：「為什麼 </a:t>
                </a:r>
                <a14:m>
                  <m:oMath xmlns:m="http://schemas.openxmlformats.org/officeDocument/2006/math">
                    <m:sSub>
                      <m:sSubPr>
                        <m:ctrlPr>
                          <a:rPr lang="zh-TW" altLang="en-US" sz="1200" i="1" kern="1200">
                            <a:solidFill>
                              <a:schemeClr val="tx1"/>
                            </a:solidFill>
                            <a:latin typeface="Cambria Math" panose="02040503050406030204" pitchFamily="18" charset="0"/>
                            <a:ea typeface="+mn-ea"/>
                            <a:cs typeface="+mn-cs"/>
                          </a:rPr>
                        </m:ctrlPr>
                      </m:sSubPr>
                      <m:e>
                        <m:r>
                          <a:rPr lang="zh-TW" altLang="en-US" sz="1200" i="1" kern="1200">
                            <a:solidFill>
                              <a:schemeClr val="tx1"/>
                            </a:solidFill>
                            <a:latin typeface="Cambria Math" panose="02040503050406030204" pitchFamily="18" charset="0"/>
                            <a:ea typeface="+mn-ea"/>
                            <a:cs typeface="+mn-cs"/>
                          </a:rPr>
                          <m:t>𝑀</m:t>
                        </m:r>
                      </m:e>
                      <m:sub>
                        <m:r>
                          <a:rPr lang="zh-TW" altLang="en-US" sz="1200" i="1" kern="1200">
                            <a:solidFill>
                              <a:schemeClr val="tx1"/>
                            </a:solidFill>
                            <a:latin typeface="Cambria Math" panose="02040503050406030204" pitchFamily="18" charset="0"/>
                            <a:ea typeface="+mn-ea"/>
                            <a:cs typeface="+mn-cs"/>
                          </a:rPr>
                          <m:t>𝑑𝑒𝑝𝑡</m:t>
                        </m:r>
                        <m:r>
                          <a:rPr lang="en-US" altLang="zh-TW" sz="1200" i="1" kern="1200">
                            <a:solidFill>
                              <a:schemeClr val="tx1"/>
                            </a:solidFill>
                            <a:latin typeface="Cambria Math" panose="02040503050406030204" pitchFamily="18" charset="0"/>
                            <a:ea typeface="+mn-ea"/>
                            <a:cs typeface="+mn-cs"/>
                          </a:rPr>
                          <m:t>h</m:t>
                        </m:r>
                      </m:sub>
                    </m:sSub>
                  </m:oMath>
                </a14:m>
                <a:r>
                  <a:rPr lang="zh-TW" altLang="en-US" b="1" dirty="0"/>
                  <a:t>是 </a:t>
                </a:r>
                <a:r>
                  <a:rPr lang="en-US" altLang="zh-TW" b="1" dirty="0"/>
                  <a:t>47</a:t>
                </a:r>
                <a:r>
                  <a:rPr lang="zh-TW" altLang="en-US" b="1" dirty="0"/>
                  <a:t>？」</a:t>
                </a:r>
              </a:p>
              <a:p>
                <a:r>
                  <a:rPr lang="zh-TW" altLang="en-US" dirty="0"/>
                  <a:t>「</a:t>
                </a:r>
                <a:r>
                  <a:rPr lang="en-US" altLang="zh-TW" dirty="0"/>
                  <a:t>47 </a:t>
                </a:r>
                <a:r>
                  <a:rPr lang="zh-TW" altLang="en-US" dirty="0"/>
                  <a:t>對應</a:t>
                </a:r>
                <a:r>
                  <a:rPr lang="zh-TW" altLang="en-US" b="1" dirty="0"/>
                  <a:t>每個 </a:t>
                </a:r>
                <a:r>
                  <a:rPr lang="en-US" altLang="zh-TW" b="1" dirty="0"/>
                  <a:t>tactic </a:t>
                </a:r>
                <a:r>
                  <a:rPr lang="zh-TW" altLang="en-US" b="1" dirty="0"/>
                  <a:t>都觸發至少一次</a:t>
                </a:r>
                <a:r>
                  <a:rPr lang="zh-TW" altLang="en-US" dirty="0"/>
                  <a:t>的累積分數，也就是 </a:t>
                </a:r>
                <a:r>
                  <a:rPr lang="en-US" altLang="zh-TW" dirty="0"/>
                  <a:t>1+1+5+5+5+15+15</a:t>
                </a:r>
                <a:r>
                  <a:rPr lang="zh-TW" altLang="en-US" dirty="0"/>
                  <a:t>。這個設計動機很明確：要讓 </a:t>
                </a:r>
                <a:r>
                  <a:rPr lang="en-US" altLang="zh-TW" dirty="0"/>
                  <a:t>depth </a:t>
                </a:r>
                <a:r>
                  <a:rPr lang="zh-TW" altLang="en-US" dirty="0"/>
                  <a:t>飽和，攻擊者必須完整展現所有七種戰術。這直接對應 </a:t>
                </a:r>
                <a:r>
                  <a:rPr lang="en-US" altLang="zh-TW" dirty="0"/>
                  <a:t>honeypot </a:t>
                </a:r>
                <a:r>
                  <a:rPr lang="zh-TW" altLang="en-US" dirty="0"/>
                  <a:t>設計者想觀察的理想情境</a:t>
                </a:r>
                <a:r>
                  <a:rPr lang="en-US" altLang="zh-TW" dirty="0"/>
                  <a:t>——</a:t>
                </a:r>
                <a:r>
                  <a:rPr lang="zh-TW" altLang="en-US" dirty="0"/>
                  <a:t>一個展現完整 </a:t>
                </a:r>
                <a:r>
                  <a:rPr lang="en-US" altLang="zh-TW" dirty="0"/>
                  <a:t>kill chain </a:t>
                </a:r>
                <a:r>
                  <a:rPr lang="zh-TW" altLang="en-US" dirty="0"/>
                  <a:t>的攻擊。</a:t>
                </a:r>
              </a:p>
              <a:p>
                <a:r>
                  <a:rPr lang="zh-TW" altLang="en-US" dirty="0"/>
                  <a:t>而且這個飽和條件天然跟 </a:t>
                </a:r>
                <a:r>
                  <a:rPr lang="en-US" altLang="zh-TW" dirty="0"/>
                  <a:t>diversity </a:t>
                </a:r>
                <a:r>
                  <a:rPr lang="zh-TW" altLang="en-US" dirty="0"/>
                  <a:t>對齊：要拿滿 </a:t>
                </a:r>
                <a:r>
                  <a:rPr lang="en-US" altLang="zh-TW" dirty="0"/>
                  <a:t>depth</a:t>
                </a:r>
                <a:r>
                  <a:rPr lang="zh-TW" altLang="en-US" dirty="0"/>
                  <a:t>，攻擊者必須觸發七個</a:t>
                </a:r>
                <a:r>
                  <a:rPr lang="zh-TW" altLang="en-US" b="1" dirty="0"/>
                  <a:t>不同</a:t>
                </a:r>
                <a:r>
                  <a:rPr lang="zh-TW" altLang="en-US" dirty="0"/>
                  <a:t> </a:t>
                </a:r>
                <a:r>
                  <a:rPr lang="en-US" altLang="zh-TW" dirty="0"/>
                  <a:t>tactic</a:t>
                </a:r>
                <a:r>
                  <a:rPr lang="zh-TW" altLang="en-US" dirty="0"/>
                  <a:t>，這同時也提升了 </a:t>
                </a:r>
                <a:r>
                  <a:rPr lang="en-US" altLang="zh-TW" dirty="0"/>
                  <a:t>diversity</a:t>
                </a:r>
                <a:r>
                  <a:rPr lang="zh-TW" altLang="en-US" dirty="0"/>
                  <a:t>。」</a:t>
                </a:r>
              </a:p>
              <a:p>
                <a:r>
                  <a:rPr lang="en-US" altLang="zh-TW" b="1" dirty="0"/>
                  <a:t>Q4</a:t>
                </a:r>
                <a:r>
                  <a:rPr lang="zh-TW" altLang="en-US" b="1" dirty="0"/>
                  <a:t>：「為什麼 </a:t>
                </a:r>
                <a14:m>
                  <m:oMath xmlns:m="http://schemas.openxmlformats.org/officeDocument/2006/math">
                    <m:sSub>
                      <m:sSubPr>
                        <m:ctrlPr>
                          <a:rPr lang="zh-TW" altLang="en-US" sz="1200" i="1" kern="1200">
                            <a:solidFill>
                              <a:schemeClr val="tx1"/>
                            </a:solidFill>
                            <a:latin typeface="Cambria Math" panose="02040503050406030204" pitchFamily="18" charset="0"/>
                            <a:ea typeface="+mn-ea"/>
                            <a:cs typeface="+mn-cs"/>
                          </a:rPr>
                        </m:ctrlPr>
                      </m:sSubPr>
                      <m:e>
                        <m:r>
                          <a:rPr lang="zh-TW" altLang="en-US" sz="1200" i="1" kern="1200">
                            <a:solidFill>
                              <a:schemeClr val="tx1"/>
                            </a:solidFill>
                            <a:latin typeface="Cambria Math" panose="02040503050406030204" pitchFamily="18" charset="0"/>
                            <a:ea typeface="+mn-ea"/>
                            <a:cs typeface="+mn-cs"/>
                          </a:rPr>
                          <m:t>𝑀</m:t>
                        </m:r>
                      </m:e>
                      <m:sub>
                        <m:r>
                          <a:rPr lang="zh-TW" altLang="en-US" sz="1200" i="1" kern="1200">
                            <a:solidFill>
                              <a:schemeClr val="tx1"/>
                            </a:solidFill>
                            <a:latin typeface="Cambria Math" panose="02040503050406030204" pitchFamily="18" charset="0"/>
                            <a:ea typeface="+mn-ea"/>
                            <a:cs typeface="+mn-cs"/>
                          </a:rPr>
                          <m:t>𝑑𝑖𝑣</m:t>
                        </m:r>
                      </m:sub>
                    </m:sSub>
                  </m:oMath>
                </a14:m>
                <a:r>
                  <a:rPr lang="zh-TW" altLang="en-US" b="1" dirty="0"/>
                  <a:t>是 </a:t>
                </a:r>
                <a:r>
                  <a:rPr lang="en-US" altLang="zh-TW" b="1" dirty="0"/>
                  <a:t>32</a:t>
                </a:r>
                <a:r>
                  <a:rPr lang="zh-TW" altLang="en-US" b="1" dirty="0"/>
                  <a:t>？」</a:t>
                </a:r>
              </a:p>
              <a:p>
                <a:r>
                  <a:rPr lang="zh-TW" altLang="en-US" dirty="0"/>
                  <a:t>「</a:t>
                </a:r>
                <a:r>
                  <a:rPr lang="en-US" altLang="zh-TW" dirty="0"/>
                  <a:t>32 </a:t>
                </a:r>
                <a:r>
                  <a:rPr lang="zh-TW" altLang="en-US" dirty="0"/>
                  <a:t>是系統允許攻擊者執行的最大指令數，所以這個上限</a:t>
                </a:r>
                <a:r>
                  <a:rPr lang="zh-TW" altLang="en-US" b="1" dirty="0"/>
                  <a:t>內生於環境約束</a:t>
                </a:r>
                <a:r>
                  <a:rPr lang="zh-TW" altLang="en-US" dirty="0"/>
                  <a:t>，不是我們選的。當 </a:t>
                </a:r>
                <a14:m>
                  <m:oMath xmlns:m="http://schemas.openxmlformats.org/officeDocument/2006/math">
                    <m:sSub>
                      <m:sSubPr>
                        <m:ctrlPr>
                          <a:rPr lang="zh-TW" altLang="en-US" sz="1200" i="1" kern="1200">
                            <a:solidFill>
                              <a:schemeClr val="tx1"/>
                            </a:solidFill>
                            <a:latin typeface="Cambria Math" panose="02040503050406030204" pitchFamily="18" charset="0"/>
                            <a:ea typeface="+mn-ea"/>
                            <a:cs typeface="+mn-cs"/>
                          </a:rPr>
                        </m:ctrlPr>
                      </m:sSubPr>
                      <m:e>
                        <m:r>
                          <a:rPr lang="zh-TW" altLang="en-US" sz="1200" i="1" kern="1200">
                            <a:solidFill>
                              <a:schemeClr val="tx1"/>
                            </a:solidFill>
                            <a:latin typeface="Cambria Math" panose="02040503050406030204" pitchFamily="18" charset="0"/>
                            <a:ea typeface="+mn-ea"/>
                            <a:cs typeface="+mn-cs"/>
                          </a:rPr>
                          <m:t>𝑆</m:t>
                        </m:r>
                      </m:e>
                      <m:sub>
                        <m:r>
                          <a:rPr lang="zh-TW" altLang="en-US" sz="1200" i="1" kern="1200">
                            <a:solidFill>
                              <a:schemeClr val="tx1"/>
                            </a:solidFill>
                            <a:latin typeface="Cambria Math" panose="02040503050406030204" pitchFamily="18" charset="0"/>
                            <a:ea typeface="+mn-ea"/>
                            <a:cs typeface="+mn-cs"/>
                          </a:rPr>
                          <m:t>𝑑𝑖𝑣</m:t>
                        </m:r>
                      </m:sub>
                    </m:sSub>
                  </m:oMath>
                </a14:m>
                <a:r>
                  <a:rPr lang="zh-TW" altLang="en-US" dirty="0"/>
                  <a:t>達到 </a:t>
                </a:r>
                <a:r>
                  <a:rPr lang="en-US" altLang="zh-TW" dirty="0"/>
                  <a:t>32</a:t>
                </a:r>
                <a:r>
                  <a:rPr lang="zh-TW" altLang="en-US" dirty="0"/>
                  <a:t>，意味著攻擊者每次嘗試都是不同 </a:t>
                </a:r>
                <a:r>
                  <a:rPr lang="en-US" altLang="zh-TW" dirty="0"/>
                  <a:t>technique</a:t>
                </a:r>
                <a:r>
                  <a:rPr lang="zh-TW" altLang="en-US" dirty="0"/>
                  <a:t>，這是理論上的多樣性極限。」</a:t>
                </a:r>
              </a:p>
              <a:p>
                <a:r>
                  <a:rPr lang="en-US" altLang="zh-TW" b="1" dirty="0"/>
                  <a:t>Q5</a:t>
                </a:r>
                <a:r>
                  <a:rPr lang="zh-TW" altLang="en-US" b="1" dirty="0"/>
                  <a:t>：「為什麼要兩個維度？單一 </a:t>
                </a:r>
                <a:r>
                  <a:rPr lang="en-US" altLang="zh-TW" b="1" dirty="0"/>
                  <a:t>reward </a:t>
                </a:r>
                <a:r>
                  <a:rPr lang="zh-TW" altLang="en-US" b="1" dirty="0"/>
                  <a:t>不行嗎？」</a:t>
                </a:r>
              </a:p>
              <a:p>
                <a:r>
                  <a:rPr lang="zh-TW" altLang="en-US" dirty="0"/>
                  <a:t>「</a:t>
                </a:r>
                <a:r>
                  <a:rPr lang="en-US" altLang="zh-TW" dirty="0"/>
                  <a:t>Honeypot </a:t>
                </a:r>
                <a:r>
                  <a:rPr lang="zh-TW" altLang="en-US" dirty="0"/>
                  <a:t>有雙重目標：既要讓攻擊者深入接觸有價值的資產，也要觀察多樣化的 </a:t>
                </a:r>
                <a:r>
                  <a:rPr lang="en-US" altLang="zh-TW" dirty="0"/>
                  <a:t>TTP</a:t>
                </a:r>
                <a:r>
                  <a:rPr lang="zh-TW" altLang="en-US" dirty="0"/>
                  <a:t>。如果只用 </a:t>
                </a:r>
                <a:r>
                  <a:rPr lang="en-US" altLang="zh-TW" dirty="0"/>
                  <a:t>depth</a:t>
                </a:r>
                <a:r>
                  <a:rPr lang="zh-TW" altLang="en-US" dirty="0"/>
                  <a:t>，</a:t>
                </a:r>
                <a:r>
                  <a:rPr lang="en-US" altLang="zh-TW" dirty="0"/>
                  <a:t>agent </a:t>
                </a:r>
                <a:r>
                  <a:rPr lang="zh-TW" altLang="en-US" dirty="0"/>
                  <a:t>會學到把攻擊者快速送到後期但忽略多樣性；如果只用 </a:t>
                </a:r>
                <a:r>
                  <a:rPr lang="en-US" altLang="zh-TW" dirty="0"/>
                  <a:t>diversity</a:t>
                </a:r>
                <a:r>
                  <a:rPr lang="zh-TW" altLang="en-US" dirty="0"/>
                  <a:t>，</a:t>
                </a:r>
                <a:r>
                  <a:rPr lang="en-US" altLang="zh-TW" dirty="0"/>
                  <a:t>agent </a:t>
                </a:r>
                <a:r>
                  <a:rPr lang="zh-TW" altLang="en-US" dirty="0"/>
                  <a:t>不會在意攻擊者是否真的深入。兩個維度結合才能 </a:t>
                </a:r>
                <a:r>
                  <a:rPr lang="en-US" altLang="zh-TW" dirty="0"/>
                  <a:t>cover honeypot </a:t>
                </a:r>
                <a:r>
                  <a:rPr lang="zh-TW" altLang="en-US" dirty="0"/>
                  <a:t>的完整目標。」</a:t>
                </a:r>
              </a:p>
              <a:p>
                <a:r>
                  <a:rPr lang="en-US" altLang="zh-TW" b="1" dirty="0"/>
                  <a:t>Q6</a:t>
                </a:r>
                <a:r>
                  <a:rPr lang="zh-TW" altLang="en-US" b="1" dirty="0"/>
                  <a:t>：「這是 </a:t>
                </a:r>
                <a:r>
                  <a:rPr lang="en-US" altLang="zh-TW" b="1" dirty="0"/>
                  <a:t>sparse reward </a:t>
                </a:r>
                <a:r>
                  <a:rPr lang="zh-TW" altLang="en-US" b="1" dirty="0"/>
                  <a:t>還是 </a:t>
                </a:r>
                <a:r>
                  <a:rPr lang="en-US" altLang="zh-TW" b="1" dirty="0"/>
                  <a:t>dense reward</a:t>
                </a:r>
                <a:r>
                  <a:rPr lang="zh-TW" altLang="en-US" b="1" dirty="0"/>
                  <a:t>？」</a:t>
                </a:r>
              </a:p>
              <a:p>
                <a:r>
                  <a:rPr lang="zh-TW" altLang="en-US" dirty="0"/>
                  <a:t>「這是 </a:t>
                </a:r>
                <a:r>
                  <a:rPr lang="en-US" altLang="zh-TW" b="1" dirty="0"/>
                  <a:t>episode-level </a:t>
                </a:r>
                <a:r>
                  <a:rPr lang="zh-TW" altLang="en-US" b="1" dirty="0"/>
                  <a:t>的 </a:t>
                </a:r>
                <a:r>
                  <a:rPr lang="en-US" altLang="zh-TW" b="1" dirty="0"/>
                  <a:t>sparse reward</a:t>
                </a:r>
                <a:r>
                  <a:rPr lang="zh-TW" altLang="en-US" dirty="0"/>
                  <a:t>，只在 </a:t>
                </a:r>
                <a:r>
                  <a:rPr lang="en-US" altLang="zh-TW" dirty="0"/>
                  <a:t>episode </a:t>
                </a:r>
                <a:r>
                  <a:rPr lang="zh-TW" altLang="en-US" dirty="0"/>
                  <a:t>結束時根據整條 </a:t>
                </a:r>
                <a:r>
                  <a:rPr lang="en-US" altLang="zh-TW" dirty="0"/>
                  <a:t>trajectory </a:t>
                </a:r>
                <a:r>
                  <a:rPr lang="zh-TW" altLang="en-US" dirty="0"/>
                  <a:t>計算一次 </a:t>
                </a:r>
                <a14:m>
                  <m:oMath xmlns:m="http://schemas.openxmlformats.org/officeDocument/2006/math">
                    <m:sSub>
                      <m:sSubPr>
                        <m:ctrlPr>
                          <a:rPr lang="zh-TW" altLang="en-US" sz="1200" i="1" kern="1200">
                            <a:solidFill>
                              <a:schemeClr val="tx1"/>
                            </a:solidFill>
                            <a:latin typeface="Cambria Math" panose="02040503050406030204" pitchFamily="18" charset="0"/>
                            <a:ea typeface="+mn-ea"/>
                            <a:cs typeface="+mn-cs"/>
                          </a:rPr>
                        </m:ctrlPr>
                      </m:sSubPr>
                      <m:e>
                        <m:r>
                          <a:rPr lang="zh-TW" altLang="en-US" sz="1200" i="1" kern="1200">
                            <a:solidFill>
                              <a:schemeClr val="tx1"/>
                            </a:solidFill>
                            <a:latin typeface="Cambria Math" panose="02040503050406030204" pitchFamily="18" charset="0"/>
                            <a:ea typeface="+mn-ea"/>
                            <a:cs typeface="+mn-cs"/>
                          </a:rPr>
                          <m:t>𝑅</m:t>
                        </m:r>
                      </m:e>
                      <m:sub>
                        <m:r>
                          <a:rPr lang="zh-TW" altLang="en-US" sz="1200" i="1" kern="1200">
                            <a:solidFill>
                              <a:schemeClr val="tx1"/>
                            </a:solidFill>
                            <a:latin typeface="Cambria Math" panose="02040503050406030204" pitchFamily="18" charset="0"/>
                            <a:ea typeface="+mn-ea"/>
                            <a:cs typeface="+mn-cs"/>
                          </a:rPr>
                          <m:t>𝑒𝑛𝑣</m:t>
                        </m:r>
                      </m:sub>
                    </m:sSub>
                  </m:oMath>
                </a14:m>
                <a:r>
                  <a:rPr lang="zh-TW" altLang="en-US" dirty="0"/>
                  <a:t>。但跟典型 </a:t>
                </a:r>
                <a:r>
                  <a:rPr lang="en-US" altLang="zh-TW" dirty="0"/>
                  <a:t>binary sparse reward </a:t>
                </a:r>
                <a:r>
                  <a:rPr lang="zh-TW" altLang="en-US" dirty="0"/>
                  <a:t>不同，我們用 </a:t>
                </a:r>
                <a14:m>
                  <m:oMath xmlns:m="http://schemas.openxmlformats.org/officeDocument/2006/math">
                    <m:r>
                      <a:rPr lang="zh-TW" altLang="en-US" sz="1200" kern="1200">
                        <a:solidFill>
                          <a:schemeClr val="tx1"/>
                        </a:solidFill>
                        <a:latin typeface="Cambria Math" panose="02040503050406030204" pitchFamily="18" charset="0"/>
                        <a:ea typeface="+mn-ea"/>
                        <a:cs typeface="+mn-cs"/>
                      </a:rPr>
                      <m:t>𝒲</m:t>
                    </m:r>
                    <m:d>
                      <m:dPr>
                        <m:ctrlPr>
                          <a:rPr lang="zh-TW" altLang="en-US" sz="1200" i="1" kern="1200">
                            <a:solidFill>
                              <a:schemeClr val="tx1"/>
                            </a:solidFill>
                            <a:latin typeface="Cambria Math" panose="02040503050406030204" pitchFamily="18" charset="0"/>
                            <a:ea typeface="+mn-ea"/>
                            <a:cs typeface="+mn-cs"/>
                          </a:rPr>
                        </m:ctrlPr>
                      </m:dPr>
                      <m:e>
                        <m:r>
                          <a:rPr lang="zh-TW" altLang="en-US" sz="1200" i="1" kern="1200">
                            <a:solidFill>
                              <a:schemeClr val="tx1"/>
                            </a:solidFill>
                            <a:latin typeface="Cambria Math" panose="02040503050406030204" pitchFamily="18" charset="0"/>
                            <a:ea typeface="+mn-ea"/>
                            <a:cs typeface="+mn-cs"/>
                          </a:rPr>
                          <m:t>𝑥</m:t>
                        </m:r>
                      </m:e>
                    </m:d>
                  </m:oMath>
                </a14:m>
                <a:r>
                  <a:rPr lang="zh-TW" altLang="en-US" dirty="0"/>
                  <a:t>的階段化權重和 </a:t>
                </a:r>
                <a:r>
                  <a:rPr lang="en-US" altLang="zh-TW" dirty="0"/>
                  <a:t>set cardinality </a:t>
                </a:r>
                <a:r>
                  <a:rPr lang="zh-TW" altLang="en-US" dirty="0"/>
                  <a:t>編碼軌跡的整體性質，所以即使攻擊者只走到早期階段，</a:t>
                </a:r>
                <a:r>
                  <a:rPr lang="en-US" altLang="zh-TW" dirty="0"/>
                  <a:t>episode </a:t>
                </a:r>
                <a:r>
                  <a:rPr lang="zh-TW" altLang="en-US" dirty="0"/>
                  <a:t>結束時還是會拿到非零訊號。」</a:t>
                </a:r>
              </a:p>
              <a:p>
                <a:r>
                  <a:rPr lang="en-US" altLang="zh-TW" b="1" dirty="0"/>
                  <a:t>Q7</a:t>
                </a:r>
                <a:r>
                  <a:rPr lang="zh-TW" altLang="en-US" b="1" dirty="0"/>
                  <a:t>：「</a:t>
                </a:r>
                <a:r>
                  <a:rPr lang="en-US" altLang="zh-TW" b="1" dirty="0"/>
                  <a:t>Sparse reward </a:t>
                </a:r>
                <a:r>
                  <a:rPr lang="zh-TW" altLang="en-US" b="1" dirty="0"/>
                  <a:t>訓練起得來嗎？」</a:t>
                </a:r>
              </a:p>
              <a:p>
                <a:r>
                  <a:rPr lang="zh-TW" altLang="en-US" dirty="0"/>
                  <a:t>「</a:t>
                </a:r>
                <a:r>
                  <a:rPr lang="en-US" altLang="zh-TW" dirty="0"/>
                  <a:t>Sparse reward </a:t>
                </a:r>
                <a:r>
                  <a:rPr lang="zh-TW" altLang="en-US" dirty="0"/>
                  <a:t>直接訓練確實有挑戰，這是後續訓練架構處理的問題。我們在這個 </a:t>
                </a:r>
                <a:r>
                  <a:rPr lang="en-US" altLang="zh-TW" dirty="0"/>
                  <a:t>reward </a:t>
                </a:r>
                <a:r>
                  <a:rPr lang="zh-TW" altLang="en-US" dirty="0"/>
                  <a:t>設計之上有額外的訓練機制把 </a:t>
                </a:r>
                <a:r>
                  <a:rPr lang="en-US" altLang="zh-TW" dirty="0"/>
                  <a:t>trajectory-level </a:t>
                </a:r>
                <a:r>
                  <a:rPr lang="zh-TW" altLang="en-US" dirty="0"/>
                  <a:t>訊號轉換成 </a:t>
                </a:r>
                <a:r>
                  <a:rPr lang="en-US" altLang="zh-TW" dirty="0"/>
                  <a:t>step-level </a:t>
                </a:r>
                <a:r>
                  <a:rPr lang="zh-TW" altLang="en-US" dirty="0"/>
                  <a:t>的訓練訊號。具體細節在後面章節。」</a:t>
                </a:r>
              </a:p>
              <a:p>
                <a:r>
                  <a:rPr lang="en-US" altLang="zh-TW" b="1" dirty="0"/>
                  <a:t>Q8</a:t>
                </a:r>
                <a:r>
                  <a:rPr lang="zh-TW" altLang="en-US" b="1" dirty="0"/>
                  <a:t>：「為什麼 </a:t>
                </a:r>
                <a:r>
                  <a:rPr lang="en-US" altLang="zh-TW" b="1" dirty="0"/>
                  <a:t>Credential Access </a:t>
                </a:r>
                <a:r>
                  <a:rPr lang="zh-TW" altLang="en-US" b="1" dirty="0"/>
                  <a:t>屬於 </a:t>
                </a:r>
                <a:r>
                  <a:rPr lang="en-US" altLang="zh-TW" b="1" dirty="0"/>
                  <a:t>Expansion </a:t>
                </a:r>
                <a:r>
                  <a:rPr lang="zh-TW" altLang="en-US" b="1" dirty="0"/>
                  <a:t>而不是 </a:t>
                </a:r>
                <a:r>
                  <a:rPr lang="en-US" altLang="zh-TW" b="1" dirty="0"/>
                  <a:t>Data Collection</a:t>
                </a:r>
                <a:r>
                  <a:rPr lang="zh-TW" altLang="en-US" b="1" dirty="0"/>
                  <a:t>？」</a:t>
                </a:r>
              </a:p>
              <a:p>
                <a:r>
                  <a:rPr lang="zh-TW" altLang="en-US" dirty="0"/>
                  <a:t>「</a:t>
                </a:r>
                <a:r>
                  <a:rPr lang="en-US" altLang="zh-TW" dirty="0"/>
                  <a:t>Credential Access </a:t>
                </a:r>
                <a:r>
                  <a:rPr lang="zh-TW" altLang="en-US" dirty="0"/>
                  <a:t>雖然動作上看起來像</a:t>
                </a:r>
                <a:r>
                  <a:rPr lang="en-US" altLang="zh-TW" dirty="0"/>
                  <a:t>『</a:t>
                </a:r>
                <a:r>
                  <a:rPr lang="zh-TW" altLang="en-US" dirty="0"/>
                  <a:t>讀</a:t>
                </a:r>
                <a:r>
                  <a:rPr lang="en-US" altLang="zh-TW" dirty="0"/>
                  <a:t>』</a:t>
                </a:r>
                <a:r>
                  <a:rPr lang="zh-TW" altLang="en-US" dirty="0"/>
                  <a:t>憑證資料，但</a:t>
                </a:r>
                <a:r>
                  <a:rPr lang="zh-TW" altLang="en-US" b="1" dirty="0"/>
                  <a:t>取得憑證的本質意義是攻擊者獲得了原本沒有的 </a:t>
                </a:r>
                <a:r>
                  <a:rPr lang="en-US" altLang="zh-TW" b="1" dirty="0"/>
                  <a:t>access</a:t>
                </a:r>
                <a:r>
                  <a:rPr lang="en-US" altLang="zh-TW" dirty="0"/>
                  <a:t>——</a:t>
                </a:r>
                <a:r>
                  <a:rPr lang="zh-TW" altLang="en-US" dirty="0"/>
                  <a:t>他現在可以用這些憑證進行其他系統的存取。所以從</a:t>
                </a:r>
                <a:r>
                  <a:rPr lang="en-US" altLang="zh-TW" dirty="0"/>
                  <a:t>『</a:t>
                </a:r>
                <a:r>
                  <a:rPr lang="zh-TW" altLang="en-US" b="1" dirty="0"/>
                  <a:t>對攻擊者能力的改變</a:t>
                </a:r>
                <a:r>
                  <a:rPr lang="en-US" altLang="zh-TW" dirty="0"/>
                  <a:t>』</a:t>
                </a:r>
                <a:r>
                  <a:rPr lang="zh-TW" altLang="en-US" dirty="0"/>
                  <a:t>這個分組標準看，它跟 </a:t>
                </a:r>
                <a:r>
                  <a:rPr lang="en-US" altLang="zh-TW" dirty="0"/>
                  <a:t>Privilege Escalation</a:t>
                </a:r>
                <a:r>
                  <a:rPr lang="zh-TW" altLang="en-US" dirty="0"/>
                  <a:t>、</a:t>
                </a:r>
                <a:r>
                  <a:rPr lang="en-US" altLang="zh-TW" dirty="0"/>
                  <a:t>Lateral Movement </a:t>
                </a:r>
                <a:r>
                  <a:rPr lang="zh-TW" altLang="en-US" dirty="0"/>
                  <a:t>是同一群</a:t>
                </a:r>
                <a:r>
                  <a:rPr lang="en-US" altLang="zh-TW" dirty="0"/>
                  <a:t>——</a:t>
                </a:r>
                <a:r>
                  <a:rPr lang="zh-TW" altLang="en-US" dirty="0"/>
                  <a:t>都是讓攻擊者的</a:t>
                </a:r>
                <a:r>
                  <a:rPr lang="zh-TW" altLang="en-US" b="1" dirty="0"/>
                  <a:t>能力範圍擴大</a:t>
                </a:r>
                <a:r>
                  <a:rPr lang="zh-TW" altLang="en-US" dirty="0"/>
                  <a:t>。</a:t>
                </a:r>
                <a:r>
                  <a:rPr lang="en-US" altLang="zh-TW" dirty="0"/>
                  <a:t>Discovery </a:t>
                </a:r>
                <a:r>
                  <a:rPr lang="zh-TW" altLang="en-US" dirty="0"/>
                  <a:t>跟 </a:t>
                </a:r>
                <a:r>
                  <a:rPr lang="en-US" altLang="zh-TW" dirty="0"/>
                  <a:t>Collection </a:t>
                </a:r>
                <a:r>
                  <a:rPr lang="zh-TW" altLang="en-US" dirty="0"/>
                  <a:t>才是純粹的</a:t>
                </a:r>
                <a:r>
                  <a:rPr lang="en-US" altLang="zh-TW" dirty="0"/>
                  <a:t>『</a:t>
                </a:r>
                <a:r>
                  <a:rPr lang="zh-TW" altLang="en-US" dirty="0"/>
                  <a:t>讀取資訊</a:t>
                </a:r>
                <a:r>
                  <a:rPr lang="en-US" altLang="zh-TW" dirty="0"/>
                  <a:t>』</a:t>
                </a:r>
                <a:r>
                  <a:rPr lang="zh-TW" altLang="en-US" dirty="0"/>
                  <a:t>，不會改變攻擊者的能力。」</a:t>
                </a:r>
              </a:p>
              <a:p>
                <a:r>
                  <a:rPr lang="en-US" altLang="zh-TW" b="1" dirty="0"/>
                  <a:t>Q9</a:t>
                </a:r>
                <a:r>
                  <a:rPr lang="zh-TW" altLang="en-US" b="1" dirty="0"/>
                  <a:t>：「為什麼權重是離散的 </a:t>
                </a:r>
                <a:r>
                  <a:rPr lang="en-US" altLang="zh-TW" b="1" dirty="0"/>
                  <a:t>1, 5, 15 </a:t>
                </a:r>
                <a:r>
                  <a:rPr lang="zh-TW" altLang="en-US" b="1" dirty="0"/>
                  <a:t>而不是 </a:t>
                </a:r>
                <a:r>
                  <a:rPr lang="en-US" altLang="zh-TW" b="1" dirty="0"/>
                  <a:t>7 </a:t>
                </a:r>
                <a:r>
                  <a:rPr lang="zh-TW" altLang="en-US" b="1" dirty="0"/>
                  <a:t>個不同的數字？」</a:t>
                </a:r>
              </a:p>
              <a:p>
                <a:r>
                  <a:rPr lang="zh-TW" altLang="en-US" dirty="0"/>
                  <a:t>「我們刻意避免給 </a:t>
                </a:r>
                <a:r>
                  <a:rPr lang="en-US" altLang="zh-TW" dirty="0"/>
                  <a:t>7 </a:t>
                </a:r>
                <a:r>
                  <a:rPr lang="zh-TW" altLang="en-US" dirty="0"/>
                  <a:t>個不同的權重</a:t>
                </a:r>
                <a:r>
                  <a:rPr lang="en-US" altLang="zh-TW" dirty="0"/>
                  <a:t>——</a:t>
                </a:r>
                <a:r>
                  <a:rPr lang="zh-TW" altLang="en-US" dirty="0"/>
                  <a:t>那樣相當於在每個 </a:t>
                </a:r>
                <a:r>
                  <a:rPr lang="en-US" altLang="zh-TW" dirty="0"/>
                  <a:t>tactic </a:t>
                </a:r>
                <a:r>
                  <a:rPr lang="zh-TW" altLang="en-US" dirty="0"/>
                  <a:t>之間都建立一個 </a:t>
                </a:r>
                <a:r>
                  <a:rPr lang="en-US" altLang="zh-TW" dirty="0"/>
                  <a:t>ordinal </a:t>
                </a:r>
                <a:r>
                  <a:rPr lang="zh-TW" altLang="en-US" dirty="0"/>
                  <a:t>關係，跟我們批判的</a:t>
                </a:r>
                <a:r>
                  <a:rPr lang="en-US" altLang="zh-TW" dirty="0"/>
                  <a:t>『</a:t>
                </a:r>
                <a:r>
                  <a:rPr lang="zh-TW" altLang="en-US" dirty="0"/>
                  <a:t>線性 </a:t>
                </a:r>
                <a:r>
                  <a:rPr lang="en-US" altLang="zh-TW" dirty="0"/>
                  <a:t>Tactic ID』</a:t>
                </a:r>
                <a:r>
                  <a:rPr lang="zh-TW" altLang="en-US" dirty="0"/>
                  <a:t>本質上一樣。</a:t>
                </a:r>
                <a:r>
                  <a:rPr lang="en-US" altLang="zh-TW" dirty="0"/>
                  <a:t>3 </a:t>
                </a:r>
                <a:r>
                  <a:rPr lang="zh-TW" altLang="en-US" dirty="0"/>
                  <a:t>個離散權重對應 </a:t>
                </a:r>
                <a:r>
                  <a:rPr lang="en-US" altLang="zh-TW" dirty="0"/>
                  <a:t>3 </a:t>
                </a:r>
                <a:r>
                  <a:rPr lang="zh-TW" altLang="en-US" dirty="0"/>
                  <a:t>個階段，</a:t>
                </a:r>
                <a:r>
                  <a:rPr lang="zh-TW" altLang="en-US" b="1" dirty="0"/>
                  <a:t>分組跟計算完全一致</a:t>
                </a:r>
                <a:r>
                  <a:rPr lang="zh-TW" altLang="en-US" dirty="0"/>
                  <a:t>，沒有額外的設計層次，也避免在階段內製造不必要的順序假設。」</a:t>
                </a:r>
              </a:p>
            </p:txBody>
          </p:sp>
        </mc:Choice>
        <mc:Fallback xmlns="">
          <p:sp>
            <p:nvSpPr>
              <p:cNvPr id="283" name="Google Shape;283;g38e7372da40_0_0: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r>
                  <a:rPr lang="zh-TW" altLang="en-US" b="1" dirty="0"/>
                  <a:t>第一段：批判 </a:t>
                </a:r>
                <a:r>
                  <a:rPr lang="en-US" altLang="zh-TW" b="1" dirty="0"/>
                  <a:t>Linear ID</a:t>
                </a:r>
                <a:r>
                  <a:rPr lang="zh-TW" altLang="en-US" b="1" dirty="0"/>
                  <a:t>（指著三個 </a:t>
                </a:r>
                <a:r>
                  <a:rPr lang="en-US" altLang="zh-TW" b="1" dirty="0"/>
                  <a:t>bullet point</a:t>
                </a:r>
                <a:r>
                  <a:rPr lang="zh-TW" altLang="en-US" b="1" dirty="0"/>
                  <a:t>，</a:t>
                </a:r>
                <a:r>
                  <a:rPr lang="en-US" altLang="zh-TW" b="1" dirty="0"/>
                  <a:t>30 </a:t>
                </a:r>
                <a:r>
                  <a:rPr lang="zh-TW" altLang="en-US" b="1" dirty="0"/>
                  <a:t>秒）</a:t>
                </a:r>
              </a:p>
              <a:p>
                <a:r>
                  <a:rPr lang="zh-TW" altLang="en-US" dirty="0"/>
                  <a:t>「過去的做法，是直接拿 </a:t>
                </a:r>
                <a:r>
                  <a:rPr lang="en-US" altLang="zh-TW" dirty="0"/>
                  <a:t>Tactic ID </a:t>
                </a:r>
                <a:r>
                  <a:rPr lang="zh-TW" altLang="en-US" dirty="0"/>
                  <a:t>當權重</a:t>
                </a:r>
                <a:r>
                  <a:rPr lang="en-US" altLang="zh-TW" dirty="0"/>
                  <a:t>——Discovery </a:t>
                </a:r>
                <a:r>
                  <a:rPr lang="zh-TW" altLang="en-US" dirty="0"/>
                  <a:t>是 </a:t>
                </a:r>
                <a:r>
                  <a:rPr lang="en-US" altLang="zh-TW" dirty="0"/>
                  <a:t>1 </a:t>
                </a:r>
                <a:r>
                  <a:rPr lang="zh-TW" altLang="en-US" dirty="0"/>
                  <a:t>分、</a:t>
                </a:r>
                <a:r>
                  <a:rPr lang="en-US" altLang="zh-TW" dirty="0"/>
                  <a:t>Impact </a:t>
                </a:r>
                <a:r>
                  <a:rPr lang="zh-TW" altLang="en-US" dirty="0"/>
                  <a:t>是 </a:t>
                </a:r>
                <a:r>
                  <a:rPr lang="en-US" altLang="zh-TW" dirty="0"/>
                  <a:t>7 </a:t>
                </a:r>
                <a:r>
                  <a:rPr lang="zh-TW" altLang="en-US" dirty="0"/>
                  <a:t>分這樣。但這有兩個問題。</a:t>
                </a:r>
              </a:p>
              <a:p>
                <a:r>
                  <a:rPr lang="zh-TW" altLang="en-US" b="1" dirty="0"/>
                  <a:t>第一</a:t>
                </a:r>
                <a:r>
                  <a:rPr lang="zh-TW" altLang="en-US" dirty="0"/>
                  <a:t>，</a:t>
                </a:r>
                <a:r>
                  <a:rPr lang="en-US" altLang="zh-TW" dirty="0"/>
                  <a:t>MITRE </a:t>
                </a:r>
                <a:r>
                  <a:rPr lang="zh-TW" altLang="en-US" dirty="0"/>
                  <a:t>官方 </a:t>
                </a:r>
                <a:r>
                  <a:rPr lang="en-US" altLang="zh-TW" dirty="0"/>
                  <a:t>FAQ </a:t>
                </a:r>
                <a:r>
                  <a:rPr lang="zh-TW" altLang="en-US" dirty="0"/>
                  <a:t>明確說過，</a:t>
                </a:r>
                <a:r>
                  <a:rPr lang="en-US" altLang="zh-TW" dirty="0"/>
                  <a:t>ATT&amp;CK </a:t>
                </a:r>
                <a:r>
                  <a:rPr lang="zh-TW" altLang="en-US" dirty="0"/>
                  <a:t>的 </a:t>
                </a:r>
                <a:r>
                  <a:rPr lang="en-US" altLang="zh-TW" dirty="0"/>
                  <a:t>tactics </a:t>
                </a:r>
                <a:r>
                  <a:rPr lang="zh-TW" altLang="en-US" dirty="0"/>
                  <a:t>是 </a:t>
                </a:r>
                <a:r>
                  <a:rPr lang="en-US" altLang="zh-TW" dirty="0"/>
                  <a:t>unordered </a:t>
                </a:r>
                <a:r>
                  <a:rPr lang="zh-TW" altLang="en-US" dirty="0"/>
                  <a:t>的，不應該被當成有順序的階段。</a:t>
                </a:r>
              </a:p>
              <a:p>
                <a:r>
                  <a:rPr lang="zh-TW" altLang="en-US" b="1" dirty="0"/>
                  <a:t>第二</a:t>
                </a:r>
                <a:r>
                  <a:rPr lang="zh-TW" altLang="en-US" dirty="0"/>
                  <a:t>，這樣做會讓 </a:t>
                </a:r>
                <a:r>
                  <a:rPr lang="en-US" altLang="zh-TW" dirty="0"/>
                  <a:t>RL agent </a:t>
                </a:r>
                <a:r>
                  <a:rPr lang="zh-TW" altLang="en-US" dirty="0"/>
                  <a:t>出現 </a:t>
                </a:r>
                <a:r>
                  <a:rPr lang="en-US" altLang="zh-TW" dirty="0"/>
                  <a:t>policy degeneration——defender </a:t>
                </a:r>
                <a:r>
                  <a:rPr lang="zh-TW" altLang="en-US" dirty="0"/>
                  <a:t>會學到「衝高 </a:t>
                </a:r>
                <a:r>
                  <a:rPr lang="en-US" altLang="zh-TW" dirty="0"/>
                  <a:t>ID </a:t>
                </a:r>
                <a:r>
                  <a:rPr lang="zh-TW" altLang="en-US" dirty="0"/>
                  <a:t>就對了」，只想引誘攻擊者直接跳到 </a:t>
                </a:r>
                <a:r>
                  <a:rPr lang="en-US" altLang="zh-TW" dirty="0"/>
                  <a:t>Impact</a:t>
                </a:r>
                <a:r>
                  <a:rPr lang="zh-TW" altLang="en-US" dirty="0"/>
                  <a:t>，反而忽略了 </a:t>
                </a:r>
                <a:r>
                  <a:rPr lang="en-US" altLang="zh-TW" dirty="0"/>
                  <a:t>honeypot </a:t>
                </a:r>
                <a:r>
                  <a:rPr lang="zh-TW" altLang="en-US" dirty="0"/>
                  <a:t>真正想觀察的多樣化攻擊行為。</a:t>
                </a:r>
              </a:p>
              <a:p>
                <a:r>
                  <a:rPr lang="zh-TW" altLang="en-US" dirty="0"/>
                  <a:t>所以我們</a:t>
                </a:r>
                <a:r>
                  <a:rPr lang="zh-TW" altLang="en-US" b="1" dirty="0"/>
                  <a:t>從 </a:t>
                </a:r>
                <a:r>
                  <a:rPr lang="en-US" altLang="zh-TW" b="1" dirty="0"/>
                  <a:t>Cyber Threat Intelligence </a:t>
                </a:r>
                <a:r>
                  <a:rPr lang="zh-TW" altLang="en-US" b="1" dirty="0"/>
                  <a:t>的視角</a:t>
                </a:r>
                <a:r>
                  <a:rPr lang="zh-TW" altLang="en-US" dirty="0"/>
                  <a:t>重新分組，把七個 </a:t>
                </a:r>
                <a:r>
                  <a:rPr lang="en-US" altLang="zh-TW" dirty="0"/>
                  <a:t>tactics </a:t>
                </a:r>
                <a:r>
                  <a:rPr lang="zh-TW" altLang="en-US" dirty="0"/>
                  <a:t>歸成三個策略階段：</a:t>
                </a:r>
                <a:r>
                  <a:rPr lang="en-US" altLang="zh-TW" dirty="0"/>
                  <a:t>Data Collection</a:t>
                </a:r>
                <a:r>
                  <a:rPr lang="zh-TW" altLang="en-US" dirty="0"/>
                  <a:t>、</a:t>
                </a:r>
                <a:r>
                  <a:rPr lang="en-US" altLang="zh-TW" dirty="0"/>
                  <a:t>Expansion</a:t>
                </a:r>
                <a:r>
                  <a:rPr lang="zh-TW" altLang="en-US" dirty="0"/>
                  <a:t>、</a:t>
                </a:r>
                <a:r>
                  <a:rPr lang="en-US" altLang="zh-TW" dirty="0"/>
                  <a:t>Goals Achieved</a:t>
                </a:r>
                <a:r>
                  <a:rPr lang="zh-TW" altLang="en-US" dirty="0"/>
                  <a:t>。」</a:t>
                </a:r>
              </a:p>
              <a:p>
                <a:r>
                  <a:rPr lang="zh-TW" altLang="en-US" b="1" dirty="0"/>
                  <a:t>第二段：</a:t>
                </a:r>
                <a:r>
                  <a:rPr lang="en-US" altLang="zh-TW" b="1" dirty="0"/>
                  <a:t>Reward </a:t>
                </a:r>
                <a:r>
                  <a:rPr lang="zh-TW" altLang="en-US" b="1" dirty="0"/>
                  <a:t>公式（指著公式，</a:t>
                </a:r>
                <a:r>
                  <a:rPr lang="en-US" altLang="zh-TW" b="1" dirty="0"/>
                  <a:t>40 </a:t>
                </a:r>
                <a:r>
                  <a:rPr lang="zh-TW" altLang="en-US" b="1" dirty="0"/>
                  <a:t>秒）</a:t>
                </a:r>
              </a:p>
              <a:p>
                <a:r>
                  <a:rPr lang="zh-TW" altLang="en-US" dirty="0"/>
                  <a:t>「</a:t>
                </a:r>
                <a:r>
                  <a:rPr lang="en-US" altLang="zh-TW" dirty="0"/>
                  <a:t>Reward </a:t>
                </a:r>
                <a:r>
                  <a:rPr lang="zh-TW" altLang="en-US" dirty="0"/>
                  <a:t>由兩個部分組成，都 </a:t>
                </a:r>
                <a:r>
                  <a:rPr lang="en-US" altLang="zh-TW" dirty="0"/>
                  <a:t>normalize </a:t>
                </a:r>
                <a:r>
                  <a:rPr lang="zh-TW" altLang="en-US" dirty="0"/>
                  <a:t>到 </a:t>
                </a:r>
                <a:r>
                  <a:rPr lang="en-US" altLang="zh-TW" dirty="0"/>
                  <a:t>0 </a:t>
                </a:r>
                <a:r>
                  <a:rPr lang="zh-TW" altLang="en-US" dirty="0"/>
                  <a:t>到 </a:t>
                </a:r>
                <a:r>
                  <a:rPr lang="en-US" altLang="zh-TW" dirty="0"/>
                  <a:t>1 </a:t>
                </a:r>
                <a:r>
                  <a:rPr lang="zh-TW" altLang="en-US" dirty="0"/>
                  <a:t>之間。</a:t>
                </a:r>
              </a:p>
              <a:p>
                <a:r>
                  <a:rPr lang="zh-TW" altLang="en-US" b="1" dirty="0"/>
                  <a:t>第一個是 </a:t>
                </a:r>
                <a:r>
                  <a:rPr lang="en-US" altLang="zh-TW" b="1" dirty="0"/>
                  <a:t>depth</a:t>
                </a:r>
                <a:r>
                  <a:rPr lang="zh-TW" altLang="en-US" dirty="0"/>
                  <a:t>，把攻擊者執行過的每個 </a:t>
                </a:r>
                <a:r>
                  <a:rPr lang="en-US" altLang="zh-TW" dirty="0"/>
                  <a:t>tactic </a:t>
                </a:r>
                <a:r>
                  <a:rPr lang="zh-TW" altLang="en-US" dirty="0"/>
                  <a:t>用權重加總起來。注意這個權重是</a:t>
                </a:r>
                <a:r>
                  <a:rPr lang="zh-TW" altLang="en-US" b="1" dirty="0"/>
                  <a:t>非線性遞增</a:t>
                </a:r>
                <a:r>
                  <a:rPr lang="zh-TW" altLang="en-US" dirty="0"/>
                  <a:t>的</a:t>
                </a:r>
                <a:r>
                  <a:rPr lang="en-US" altLang="zh-TW" dirty="0"/>
                  <a:t>——</a:t>
                </a:r>
                <a:r>
                  <a:rPr lang="zh-TW" altLang="en-US" dirty="0"/>
                  <a:t>階段內的 </a:t>
                </a:r>
                <a:r>
                  <a:rPr lang="en-US" altLang="zh-TW" dirty="0"/>
                  <a:t>gap </a:t>
                </a:r>
                <a:r>
                  <a:rPr lang="zh-TW" altLang="en-US" dirty="0"/>
                  <a:t>比較小（比如 </a:t>
                </a:r>
                <a:r>
                  <a:rPr lang="en-US" altLang="zh-TW" dirty="0"/>
                  <a:t>2 </a:t>
                </a:r>
                <a:r>
                  <a:rPr lang="zh-TW" altLang="en-US" dirty="0"/>
                  <a:t>到 </a:t>
                </a:r>
                <a:r>
                  <a:rPr lang="en-US" altLang="zh-TW" dirty="0"/>
                  <a:t>5</a:t>
                </a:r>
                <a:r>
                  <a:rPr lang="zh-TW" altLang="en-US" dirty="0"/>
                  <a:t>），跨階段的 </a:t>
                </a:r>
                <a:r>
                  <a:rPr lang="en-US" altLang="zh-TW" dirty="0"/>
                  <a:t>gap </a:t>
                </a:r>
                <a:r>
                  <a:rPr lang="zh-TW" altLang="en-US" dirty="0"/>
                  <a:t>比較大（比如 </a:t>
                </a:r>
                <a:r>
                  <a:rPr lang="en-US" altLang="zh-TW" dirty="0"/>
                  <a:t>8 </a:t>
                </a:r>
                <a:r>
                  <a:rPr lang="zh-TW" altLang="en-US" dirty="0"/>
                  <a:t>跳到 </a:t>
                </a:r>
                <a:r>
                  <a:rPr lang="en-US" altLang="zh-TW" dirty="0"/>
                  <a:t>15</a:t>
                </a:r>
                <a:r>
                  <a:rPr lang="zh-TW" altLang="en-US" dirty="0"/>
                  <a:t>），讓階段邊界有質的差別。</a:t>
                </a:r>
              </a:p>
              <a:p>
                <a:r>
                  <a:rPr lang="zh-TW" altLang="en-US" b="1" dirty="0"/>
                  <a:t>第二個是 </a:t>
                </a:r>
                <a:r>
                  <a:rPr lang="en-US" altLang="zh-TW" b="1" dirty="0"/>
                  <a:t>diversity</a:t>
                </a:r>
                <a:r>
                  <a:rPr lang="zh-TW" altLang="en-US" dirty="0"/>
                  <a:t>，用 </a:t>
                </a:r>
                <a:r>
                  <a:rPr lang="en-US" altLang="zh-TW" dirty="0"/>
                  <a:t>set </a:t>
                </a:r>
                <a:r>
                  <a:rPr lang="zh-TW" altLang="en-US" dirty="0"/>
                  <a:t>去算攻擊者觸發了多少種</a:t>
                </a:r>
                <a:r>
                  <a:rPr lang="zh-TW" altLang="en-US" b="1" dirty="0"/>
                  <a:t>不同</a:t>
                </a:r>
                <a:r>
                  <a:rPr lang="zh-TW" altLang="en-US" dirty="0"/>
                  <a:t>的 </a:t>
                </a:r>
                <a:r>
                  <a:rPr lang="en-US" altLang="zh-TW" dirty="0"/>
                  <a:t>technique</a:t>
                </a:r>
                <a:r>
                  <a:rPr lang="zh-TW" altLang="en-US" dirty="0"/>
                  <a:t>。重複觸發同一招不會加分。</a:t>
                </a:r>
              </a:p>
              <a:p>
                <a:r>
                  <a:rPr lang="zh-TW" altLang="en-US" dirty="0"/>
                  <a:t>兩個分數都用 </a:t>
                </a:r>
                <a:r>
                  <a:rPr lang="en-US" altLang="zh-TW" dirty="0"/>
                  <a:t>min </a:t>
                </a:r>
                <a:r>
                  <a:rPr lang="zh-TW" altLang="en-US" dirty="0"/>
                  <a:t>函數壓在 </a:t>
                </a:r>
                <a:r>
                  <a:rPr lang="en-US" altLang="zh-TW" dirty="0"/>
                  <a:t>1 </a:t>
                </a:r>
                <a:r>
                  <a:rPr lang="zh-TW" altLang="en-US" dirty="0"/>
                  <a:t>以下，</a:t>
                </a:r>
                <a:r>
                  <a:rPr lang="zh-TW" altLang="en-US" b="1" dirty="0"/>
                  <a:t>這個上限有兩個重要作用</a:t>
                </a:r>
                <a:r>
                  <a:rPr lang="zh-TW" altLang="en-US" dirty="0"/>
                  <a:t>：</a:t>
                </a:r>
              </a:p>
              <a:p>
                <a:r>
                  <a:rPr lang="zh-TW" altLang="en-US" dirty="0"/>
                  <a:t>第一，讓 </a:t>
                </a:r>
                <a:r>
                  <a:rPr lang="zh-TW" altLang="ar-AE" sz="1200" i="0" kern="1200">
                    <a:solidFill>
                      <a:schemeClr val="tx1"/>
                    </a:solidFill>
                    <a:latin typeface="+mn-lt"/>
                    <a:ea typeface="+mn-ea"/>
                    <a:cs typeface="+mn-cs"/>
                  </a:rPr>
                  <a:t>𝑤</a:t>
                </a:r>
                <a:r>
                  <a:rPr lang="ar-AE" altLang="zh-TW" sz="1200" i="0" kern="1200">
                    <a:solidFill>
                      <a:schemeClr val="tx1"/>
                    </a:solidFill>
                    <a:latin typeface="+mn-lt"/>
                    <a:ea typeface="+mn-ea"/>
                    <a:cs typeface="+mn-cs"/>
                  </a:rPr>
                  <a:t>_1</a:t>
                </a:r>
                <a:r>
                  <a:rPr lang="zh-TW" altLang="en-US" dirty="0"/>
                  <a:t>跟 </a:t>
                </a:r>
                <a:r>
                  <a:rPr lang="zh-TW" altLang="ar-AE" sz="1200" i="0" kern="1200">
                    <a:solidFill>
                      <a:schemeClr val="tx1"/>
                    </a:solidFill>
                    <a:latin typeface="+mn-lt"/>
                    <a:ea typeface="+mn-ea"/>
                    <a:cs typeface="+mn-cs"/>
                  </a:rPr>
                  <a:t>𝑤</a:t>
                </a:r>
                <a:r>
                  <a:rPr lang="ar-AE" altLang="zh-TW" sz="1200" i="0" kern="1200">
                    <a:solidFill>
                      <a:schemeClr val="tx1"/>
                    </a:solidFill>
                    <a:latin typeface="+mn-lt"/>
                    <a:ea typeface="+mn-ea"/>
                    <a:cs typeface="+mn-cs"/>
                  </a:rPr>
                  <a:t>_2</a:t>
                </a:r>
                <a:r>
                  <a:rPr lang="zh-TW" altLang="en-US" dirty="0"/>
                  <a:t>真的變成可解釋的權重比例，比如 </a:t>
                </a:r>
                <a:r>
                  <a:rPr lang="en-US" altLang="zh-TW" dirty="0"/>
                  <a:t>6:4 </a:t>
                </a:r>
                <a:r>
                  <a:rPr lang="zh-TW" altLang="en-US" dirty="0"/>
                  <a:t>就是「我比較重視 </a:t>
                </a:r>
                <a:r>
                  <a:rPr lang="en-US" altLang="zh-TW" dirty="0"/>
                  <a:t>depth</a:t>
                </a:r>
                <a:r>
                  <a:rPr lang="zh-TW" altLang="en-US" dirty="0"/>
                  <a:t>」。</a:t>
                </a:r>
              </a:p>
              <a:p>
                <a:r>
                  <a:rPr lang="zh-TW" altLang="en-US" dirty="0"/>
                  <a:t>第二，</a:t>
                </a:r>
                <a:r>
                  <a:rPr lang="zh-TW" altLang="en-US" b="1" dirty="0"/>
                  <a:t>防止 </a:t>
                </a:r>
                <a:r>
                  <a:rPr lang="en-US" altLang="zh-TW" b="1" dirty="0"/>
                  <a:t>agent </a:t>
                </a:r>
                <a:r>
                  <a:rPr lang="zh-TW" altLang="en-US" b="1" dirty="0"/>
                  <a:t>刷分</a:t>
                </a:r>
                <a:r>
                  <a:rPr lang="zh-TW" altLang="en-US" dirty="0"/>
                  <a:t>。比如 </a:t>
                </a:r>
                <a:r>
                  <a:rPr lang="en-US" altLang="zh-TW" dirty="0"/>
                  <a:t>depth </a:t>
                </a:r>
                <a:r>
                  <a:rPr lang="zh-TW" altLang="en-US" dirty="0"/>
                  <a:t>我們設上限 </a:t>
                </a:r>
                <a:r>
                  <a:rPr lang="en-US" altLang="zh-TW" dirty="0"/>
                  <a:t>35</a:t>
                </a:r>
                <a:r>
                  <a:rPr lang="zh-TW" altLang="en-US" dirty="0"/>
                  <a:t>，這個值剛好對應攻擊者走完大部分攻擊鏈，飽和之後 </a:t>
                </a:r>
                <a:r>
                  <a:rPr lang="en-US" altLang="zh-TW" dirty="0"/>
                  <a:t>agent </a:t>
                </a:r>
                <a:r>
                  <a:rPr lang="zh-TW" altLang="en-US" dirty="0"/>
                  <a:t>想拿更多 </a:t>
                </a:r>
                <a:r>
                  <a:rPr lang="en-US" altLang="zh-TW" dirty="0"/>
                  <a:t>reward </a:t>
                </a:r>
                <a:r>
                  <a:rPr lang="zh-TW" altLang="en-US" dirty="0"/>
                  <a:t>就只能轉去衝 </a:t>
                </a:r>
                <a:r>
                  <a:rPr lang="en-US" altLang="zh-TW" dirty="0"/>
                  <a:t>diversity</a:t>
                </a:r>
                <a:r>
                  <a:rPr lang="zh-TW" altLang="en-US" dirty="0"/>
                  <a:t>；</a:t>
                </a:r>
                <a:r>
                  <a:rPr lang="en-US" altLang="zh-TW" dirty="0"/>
                  <a:t>diversity </a:t>
                </a:r>
                <a:r>
                  <a:rPr lang="zh-TW" altLang="en-US" dirty="0"/>
                  <a:t>上限 </a:t>
                </a:r>
                <a:r>
                  <a:rPr lang="en-US" altLang="zh-TW" dirty="0"/>
                  <a:t>32 </a:t>
                </a:r>
                <a:r>
                  <a:rPr lang="zh-TW" altLang="en-US" dirty="0"/>
                  <a:t>是系統允許的最大指令數，意思是只有當攻擊者每次嘗試都是不同 </a:t>
                </a:r>
                <a:r>
                  <a:rPr lang="en-US" altLang="zh-TW" dirty="0"/>
                  <a:t>technique </a:t>
                </a:r>
                <a:r>
                  <a:rPr lang="zh-TW" altLang="en-US" dirty="0"/>
                  <a:t>才能拿滿分。」</a:t>
                </a:r>
              </a:p>
              <a:p>
                <a:r>
                  <a:rPr lang="zh-TW" altLang="en-US" b="1" dirty="0"/>
                  <a:t>收尾（</a:t>
                </a:r>
                <a:r>
                  <a:rPr lang="en-US" altLang="zh-TW" b="1" dirty="0"/>
                  <a:t>10 </a:t>
                </a:r>
                <a:r>
                  <a:rPr lang="zh-TW" altLang="en-US" b="1" dirty="0"/>
                  <a:t>秒）</a:t>
                </a:r>
              </a:p>
              <a:p>
                <a:r>
                  <a:rPr lang="zh-TW" altLang="en-US" dirty="0"/>
                  <a:t>「這兩個機制結合起來，就會迫使 </a:t>
                </a:r>
                <a:r>
                  <a:rPr lang="en-US" altLang="zh-TW" dirty="0"/>
                  <a:t>agent </a:t>
                </a:r>
                <a:r>
                  <a:rPr lang="zh-TW" altLang="en-US" dirty="0"/>
                  <a:t>學到我們真正想要的策略：</a:t>
                </a:r>
                <a:r>
                  <a:rPr lang="zh-TW" altLang="en-US" b="1" dirty="0"/>
                  <a:t>讓攻擊者深入、而且行為多樣</a:t>
                </a:r>
                <a:r>
                  <a:rPr lang="zh-TW" altLang="en-US" dirty="0"/>
                  <a:t>，而不是反覆刷同一招或直接衝終點。」</a:t>
                </a:r>
              </a:p>
            </p:txBody>
          </p:sp>
        </mc:Fallback>
      </mc:AlternateContent>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a:extLst>
            <a:ext uri="{FF2B5EF4-FFF2-40B4-BE49-F238E27FC236}">
              <a16:creationId xmlns:a16="http://schemas.microsoft.com/office/drawing/2014/main" id="{B69A9295-9D23-FACA-5E12-E6571E92890B}"/>
            </a:ext>
          </a:extLst>
        </p:cNvPr>
        <p:cNvGrpSpPr/>
        <p:nvPr/>
      </p:nvGrpSpPr>
      <p:grpSpPr>
        <a:xfrm>
          <a:off x="0" y="0"/>
          <a:ext cx="0" cy="0"/>
          <a:chOff x="0" y="0"/>
          <a:chExt cx="0" cy="0"/>
        </a:xfrm>
      </p:grpSpPr>
      <p:sp>
        <p:nvSpPr>
          <p:cNvPr id="397" name="Google Shape;397;g3785c9c316b_0_10:notes">
            <a:extLst>
              <a:ext uri="{FF2B5EF4-FFF2-40B4-BE49-F238E27FC236}">
                <a16:creationId xmlns:a16="http://schemas.microsoft.com/office/drawing/2014/main" id="{0A6ED398-02F3-3F7A-F981-AFDA664F0C1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g3785c9c316b_0_10:notes">
            <a:extLst>
              <a:ext uri="{FF2B5EF4-FFF2-40B4-BE49-F238E27FC236}">
                <a16:creationId xmlns:a16="http://schemas.microsoft.com/office/drawing/2014/main" id="{8022C26D-A505-F396-5317-4AB82D7DCF0D}"/>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extLst>
      <p:ext uri="{BB962C8B-B14F-4D97-AF65-F5344CB8AC3E}">
        <p14:creationId xmlns:p14="http://schemas.microsoft.com/office/powerpoint/2010/main" val="10028634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a:extLst>
            <a:ext uri="{FF2B5EF4-FFF2-40B4-BE49-F238E27FC236}">
              <a16:creationId xmlns:a16="http://schemas.microsoft.com/office/drawing/2014/main" id="{F07643C6-091B-4CCD-62E5-0F8749397D2C}"/>
            </a:ext>
          </a:extLst>
        </p:cNvPr>
        <p:cNvGrpSpPr/>
        <p:nvPr/>
      </p:nvGrpSpPr>
      <p:grpSpPr>
        <a:xfrm>
          <a:off x="0" y="0"/>
          <a:ext cx="0" cy="0"/>
          <a:chOff x="0" y="0"/>
          <a:chExt cx="0" cy="0"/>
        </a:xfrm>
      </p:grpSpPr>
      <p:sp>
        <p:nvSpPr>
          <p:cNvPr id="460" name="Google Shape;460;g3733dc78bf5_0_117:notes">
            <a:extLst>
              <a:ext uri="{FF2B5EF4-FFF2-40B4-BE49-F238E27FC236}">
                <a16:creationId xmlns:a16="http://schemas.microsoft.com/office/drawing/2014/main" id="{AB29C819-8C7B-A8CF-00D6-E3857132CC3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g3733dc78bf5_0_117:notes">
            <a:extLst>
              <a:ext uri="{FF2B5EF4-FFF2-40B4-BE49-F238E27FC236}">
                <a16:creationId xmlns:a16="http://schemas.microsoft.com/office/drawing/2014/main" id="{41D8A571-A0DB-7074-EC4B-9B681E1733A7}"/>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extLst>
      <p:ext uri="{BB962C8B-B14F-4D97-AF65-F5344CB8AC3E}">
        <p14:creationId xmlns:p14="http://schemas.microsoft.com/office/powerpoint/2010/main" val="221493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a:extLst>
            <a:ext uri="{FF2B5EF4-FFF2-40B4-BE49-F238E27FC236}">
              <a16:creationId xmlns:a16="http://schemas.microsoft.com/office/drawing/2014/main" id="{BDDA4E0F-861F-522D-A8C5-003CB06D915B}"/>
            </a:ext>
          </a:extLst>
        </p:cNvPr>
        <p:cNvGrpSpPr/>
        <p:nvPr/>
      </p:nvGrpSpPr>
      <p:grpSpPr>
        <a:xfrm>
          <a:off x="0" y="0"/>
          <a:ext cx="0" cy="0"/>
          <a:chOff x="0" y="0"/>
          <a:chExt cx="0" cy="0"/>
        </a:xfrm>
      </p:grpSpPr>
      <p:sp>
        <p:nvSpPr>
          <p:cNvPr id="460" name="Google Shape;460;g3733dc78bf5_0_117:notes">
            <a:extLst>
              <a:ext uri="{FF2B5EF4-FFF2-40B4-BE49-F238E27FC236}">
                <a16:creationId xmlns:a16="http://schemas.microsoft.com/office/drawing/2014/main" id="{EDD64205-FC9A-8FD5-1419-D1A1360E095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g3733dc78bf5_0_117:notes">
            <a:extLst>
              <a:ext uri="{FF2B5EF4-FFF2-40B4-BE49-F238E27FC236}">
                <a16:creationId xmlns:a16="http://schemas.microsoft.com/office/drawing/2014/main" id="{F5520F5F-C4DC-7156-6A7D-64C0E39301B3}"/>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r>
              <a:rPr lang="en-US" altLang="zh-TW" dirty="0"/>
              <a:t>Toolkit </a:t>
            </a:r>
            <a:r>
              <a:rPr lang="zh-TW" altLang="en-US" dirty="0"/>
              <a:t>要再包裝一下，可以說繼承於 </a:t>
            </a:r>
            <a:r>
              <a:rPr lang="en-US" altLang="zh-TW" dirty="0"/>
              <a:t>Atomic Red Team (13</a:t>
            </a:r>
            <a:r>
              <a:rPr lang="zh-TW" altLang="en-US" dirty="0"/>
              <a:t>工具 </a:t>
            </a:r>
            <a:r>
              <a:rPr lang="en-US" altLang="zh-TW" dirty="0"/>
              <a:t>– </a:t>
            </a:r>
            <a:r>
              <a:rPr lang="zh-TW" altLang="en-US" dirty="0"/>
              <a:t>包含 </a:t>
            </a:r>
            <a:r>
              <a:rPr lang="en-US" altLang="zh-TW" dirty="0"/>
              <a:t>76 </a:t>
            </a:r>
            <a:r>
              <a:rPr lang="zh-TW" altLang="en-US" dirty="0"/>
              <a:t>個 </a:t>
            </a:r>
            <a:r>
              <a:rPr lang="en-US" altLang="zh-TW" dirty="0"/>
              <a:t>atomic red team </a:t>
            </a:r>
            <a:r>
              <a:rPr lang="zh-TW" altLang="en-US" dirty="0"/>
              <a:t>攻擊</a:t>
            </a:r>
            <a:r>
              <a:rPr lang="en-US" altLang="zh-TW"/>
              <a:t>)</a:t>
            </a:r>
            <a:endParaRPr lang="en-US" altLang="zh-TW" dirty="0"/>
          </a:p>
          <a:p>
            <a:pPr>
              <a:buSzPts val="1100"/>
            </a:pPr>
            <a:endParaRPr dirty="0">
              <a:solidFill>
                <a:schemeClr val="dk1"/>
              </a:solidFill>
            </a:endParaRPr>
          </a:p>
        </p:txBody>
      </p:sp>
    </p:spTree>
    <p:extLst>
      <p:ext uri="{BB962C8B-B14F-4D97-AF65-F5344CB8AC3E}">
        <p14:creationId xmlns:p14="http://schemas.microsoft.com/office/powerpoint/2010/main" val="2653920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a:extLst>
            <a:ext uri="{FF2B5EF4-FFF2-40B4-BE49-F238E27FC236}">
              <a16:creationId xmlns:a16="http://schemas.microsoft.com/office/drawing/2014/main" id="{3D372DAC-D26E-53C0-7712-2F0CB7E4B58D}"/>
            </a:ext>
          </a:extLst>
        </p:cNvPr>
        <p:cNvGrpSpPr/>
        <p:nvPr/>
      </p:nvGrpSpPr>
      <p:grpSpPr>
        <a:xfrm>
          <a:off x="0" y="0"/>
          <a:ext cx="0" cy="0"/>
          <a:chOff x="0" y="0"/>
          <a:chExt cx="0" cy="0"/>
        </a:xfrm>
      </p:grpSpPr>
      <p:sp>
        <p:nvSpPr>
          <p:cNvPr id="460" name="Google Shape;460;g3733dc78bf5_0_117:notes">
            <a:extLst>
              <a:ext uri="{FF2B5EF4-FFF2-40B4-BE49-F238E27FC236}">
                <a16:creationId xmlns:a16="http://schemas.microsoft.com/office/drawing/2014/main" id="{E9D9758C-6192-8BFE-B6FB-94319E9B8DE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g3733dc78bf5_0_117:notes">
            <a:extLst>
              <a:ext uri="{FF2B5EF4-FFF2-40B4-BE49-F238E27FC236}">
                <a16:creationId xmlns:a16="http://schemas.microsoft.com/office/drawing/2014/main" id="{7BA88B0D-AB4C-2958-2C40-24A174702413}"/>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r>
              <a:rPr lang="en-US" altLang="zh-TW" dirty="0"/>
              <a:t>Toolkit </a:t>
            </a:r>
            <a:r>
              <a:rPr lang="zh-TW" altLang="en-US" dirty="0"/>
              <a:t>要再包裝一下，可以說繼承於 </a:t>
            </a:r>
            <a:r>
              <a:rPr lang="en-US" altLang="zh-TW" dirty="0"/>
              <a:t>Atomic Red Team (13</a:t>
            </a:r>
            <a:r>
              <a:rPr lang="zh-TW" altLang="en-US" dirty="0"/>
              <a:t>工具 </a:t>
            </a:r>
            <a:r>
              <a:rPr lang="en-US" altLang="zh-TW" dirty="0"/>
              <a:t>– </a:t>
            </a:r>
            <a:r>
              <a:rPr lang="zh-TW" altLang="en-US" dirty="0"/>
              <a:t>包含 </a:t>
            </a:r>
            <a:r>
              <a:rPr lang="en-US" altLang="zh-TW" dirty="0"/>
              <a:t>76 </a:t>
            </a:r>
            <a:r>
              <a:rPr lang="zh-TW" altLang="en-US" dirty="0"/>
              <a:t>個 </a:t>
            </a:r>
            <a:r>
              <a:rPr lang="en-US" altLang="zh-TW" dirty="0"/>
              <a:t>atomic red team </a:t>
            </a:r>
            <a:r>
              <a:rPr lang="zh-TW" altLang="en-US" dirty="0"/>
              <a:t>攻擊</a:t>
            </a:r>
            <a:r>
              <a:rPr lang="en-US" altLang="zh-TW"/>
              <a:t>)</a:t>
            </a:r>
            <a:endParaRPr lang="en-US" altLang="zh-TW" dirty="0"/>
          </a:p>
          <a:p>
            <a:pPr>
              <a:buSzPts val="1100"/>
            </a:pPr>
            <a:endParaRPr dirty="0">
              <a:solidFill>
                <a:schemeClr val="dk1"/>
              </a:solidFill>
            </a:endParaRPr>
          </a:p>
        </p:txBody>
      </p:sp>
    </p:spTree>
    <p:extLst>
      <p:ext uri="{BB962C8B-B14F-4D97-AF65-F5344CB8AC3E}">
        <p14:creationId xmlns:p14="http://schemas.microsoft.com/office/powerpoint/2010/main" val="24583155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a:extLst>
            <a:ext uri="{FF2B5EF4-FFF2-40B4-BE49-F238E27FC236}">
              <a16:creationId xmlns:a16="http://schemas.microsoft.com/office/drawing/2014/main" id="{4AC6D8D0-A253-2CC3-ECC3-49BC5E0C0F90}"/>
            </a:ext>
          </a:extLst>
        </p:cNvPr>
        <p:cNvGrpSpPr/>
        <p:nvPr/>
      </p:nvGrpSpPr>
      <p:grpSpPr>
        <a:xfrm>
          <a:off x="0" y="0"/>
          <a:ext cx="0" cy="0"/>
          <a:chOff x="0" y="0"/>
          <a:chExt cx="0" cy="0"/>
        </a:xfrm>
      </p:grpSpPr>
      <p:sp>
        <p:nvSpPr>
          <p:cNvPr id="460" name="Google Shape;460;g3733dc78bf5_0_117:notes">
            <a:extLst>
              <a:ext uri="{FF2B5EF4-FFF2-40B4-BE49-F238E27FC236}">
                <a16:creationId xmlns:a16="http://schemas.microsoft.com/office/drawing/2014/main" id="{74F6C3EE-B901-9EB5-91E0-18FBC254552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g3733dc78bf5_0_117:notes">
            <a:extLst>
              <a:ext uri="{FF2B5EF4-FFF2-40B4-BE49-F238E27FC236}">
                <a16:creationId xmlns:a16="http://schemas.microsoft.com/office/drawing/2014/main" id="{27D2DA12-828A-0E91-A517-146396CFF955}"/>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r>
              <a:rPr lang="en-US" altLang="zh-TW" dirty="0"/>
              <a:t>Simulated Attacker</a:t>
            </a:r>
          </a:p>
          <a:p>
            <a:r>
              <a:rPr lang="en-US" altLang="zh-TW" dirty="0"/>
              <a:t>  Use qwen-3 to train our Strategist LLM</a:t>
            </a:r>
          </a:p>
          <a:p>
            <a:r>
              <a:rPr lang="en-US" altLang="zh-TW" dirty="0"/>
              <a:t>  Use another to evaluate our Strategist LLM</a:t>
            </a:r>
          </a:p>
        </p:txBody>
      </p:sp>
    </p:spTree>
    <p:extLst>
      <p:ext uri="{BB962C8B-B14F-4D97-AF65-F5344CB8AC3E}">
        <p14:creationId xmlns:p14="http://schemas.microsoft.com/office/powerpoint/2010/main" val="19014429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a:extLst>
            <a:ext uri="{FF2B5EF4-FFF2-40B4-BE49-F238E27FC236}">
              <a16:creationId xmlns:a16="http://schemas.microsoft.com/office/drawing/2014/main" id="{1FEA8B64-8145-1681-2CBD-9967CFE4EA14}"/>
            </a:ext>
          </a:extLst>
        </p:cNvPr>
        <p:cNvGrpSpPr/>
        <p:nvPr/>
      </p:nvGrpSpPr>
      <p:grpSpPr>
        <a:xfrm>
          <a:off x="0" y="0"/>
          <a:ext cx="0" cy="0"/>
          <a:chOff x="0" y="0"/>
          <a:chExt cx="0" cy="0"/>
        </a:xfrm>
      </p:grpSpPr>
      <p:sp>
        <p:nvSpPr>
          <p:cNvPr id="460" name="Google Shape;460;g3733dc78bf5_0_117:notes">
            <a:extLst>
              <a:ext uri="{FF2B5EF4-FFF2-40B4-BE49-F238E27FC236}">
                <a16:creationId xmlns:a16="http://schemas.microsoft.com/office/drawing/2014/main" id="{C9BC341F-4FCE-5047-E978-B11300E6995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g3733dc78bf5_0_117:notes">
            <a:extLst>
              <a:ext uri="{FF2B5EF4-FFF2-40B4-BE49-F238E27FC236}">
                <a16:creationId xmlns:a16="http://schemas.microsoft.com/office/drawing/2014/main" id="{6AFE16DA-81C5-7C33-DDAF-6D81650137EB}"/>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r>
              <a:rPr lang="en-US" altLang="zh-TW" dirty="0"/>
              <a:t>Simulated Attacker</a:t>
            </a:r>
          </a:p>
          <a:p>
            <a:r>
              <a:rPr lang="en-US" altLang="zh-TW" dirty="0"/>
              <a:t>  Use qwen-3 to train our Strategist LLM</a:t>
            </a:r>
          </a:p>
          <a:p>
            <a:r>
              <a:rPr lang="en-US" altLang="zh-TW" dirty="0"/>
              <a:t>  Use another to evaluate our Strategist LLM</a:t>
            </a:r>
          </a:p>
        </p:txBody>
      </p:sp>
    </p:spTree>
    <p:extLst>
      <p:ext uri="{BB962C8B-B14F-4D97-AF65-F5344CB8AC3E}">
        <p14:creationId xmlns:p14="http://schemas.microsoft.com/office/powerpoint/2010/main" val="1028359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a:extLst>
            <a:ext uri="{FF2B5EF4-FFF2-40B4-BE49-F238E27FC236}">
              <a16:creationId xmlns:a16="http://schemas.microsoft.com/office/drawing/2014/main" id="{AC2EC04A-F0B7-35AC-518D-BB1A4D13D32C}"/>
            </a:ext>
          </a:extLst>
        </p:cNvPr>
        <p:cNvGrpSpPr/>
        <p:nvPr/>
      </p:nvGrpSpPr>
      <p:grpSpPr>
        <a:xfrm>
          <a:off x="0" y="0"/>
          <a:ext cx="0" cy="0"/>
          <a:chOff x="0" y="0"/>
          <a:chExt cx="0" cy="0"/>
        </a:xfrm>
      </p:grpSpPr>
      <p:sp>
        <p:nvSpPr>
          <p:cNvPr id="397" name="Google Shape;397;g3785c9c316b_0_10:notes">
            <a:extLst>
              <a:ext uri="{FF2B5EF4-FFF2-40B4-BE49-F238E27FC236}">
                <a16:creationId xmlns:a16="http://schemas.microsoft.com/office/drawing/2014/main" id="{7842BAC2-526B-D29E-AA4E-F4CEB98974D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g3785c9c316b_0_10:notes">
            <a:extLst>
              <a:ext uri="{FF2B5EF4-FFF2-40B4-BE49-F238E27FC236}">
                <a16:creationId xmlns:a16="http://schemas.microsoft.com/office/drawing/2014/main" id="{6C5499D9-1D8E-3829-CF4B-86E7DA843C7E}"/>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extLst>
      <p:ext uri="{BB962C8B-B14F-4D97-AF65-F5344CB8AC3E}">
        <p14:creationId xmlns:p14="http://schemas.microsoft.com/office/powerpoint/2010/main" val="31993320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880a5c0d19_0_5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g3880a5c0d19_0_50: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r>
              <a:rPr lang="en-US" dirty="0">
                <a:solidFill>
                  <a:schemeClr val="dk1"/>
                </a:solidFill>
              </a:rPr>
              <a:t>Solution </a:t>
            </a:r>
            <a:r>
              <a:rPr lang="zh-TW" altLang="en-US" dirty="0">
                <a:solidFill>
                  <a:schemeClr val="dk1"/>
                </a:solidFill>
              </a:rPr>
              <a:t>參數變更</a:t>
            </a:r>
            <a:r>
              <a:rPr lang="en-US" altLang="zh-TW" dirty="0">
                <a:solidFill>
                  <a:schemeClr val="dk1"/>
                </a:solidFill>
              </a:rPr>
              <a:t>(</a:t>
            </a:r>
            <a:r>
              <a:rPr lang="zh-TW" altLang="en-US" dirty="0">
                <a:solidFill>
                  <a:schemeClr val="dk1"/>
                </a:solidFill>
              </a:rPr>
              <a:t>我可以控制的</a:t>
            </a:r>
            <a:r>
              <a:rPr lang="en-US" altLang="zh-TW" dirty="0">
                <a:solidFill>
                  <a:schemeClr val="dk1"/>
                </a:solidFill>
              </a:rPr>
              <a:t>)</a:t>
            </a:r>
            <a:r>
              <a:rPr lang="zh-TW" altLang="en-US" dirty="0">
                <a:solidFill>
                  <a:schemeClr val="dk1"/>
                </a:solidFill>
              </a:rPr>
              <a:t>、環境變因</a:t>
            </a:r>
            <a:r>
              <a:rPr lang="en-US" altLang="zh-TW" dirty="0">
                <a:solidFill>
                  <a:schemeClr val="dk1"/>
                </a:solidFill>
              </a:rPr>
              <a:t>(</a:t>
            </a:r>
            <a:r>
              <a:rPr lang="zh-TW" altLang="en-US" dirty="0">
                <a:solidFill>
                  <a:schemeClr val="dk1"/>
                </a:solidFill>
              </a:rPr>
              <a:t>不是我能控制</a:t>
            </a:r>
            <a:r>
              <a:rPr lang="en-US" altLang="zh-TW" dirty="0">
                <a:solidFill>
                  <a:schemeClr val="dk1"/>
                </a:solidFill>
              </a:rPr>
              <a:t>)</a:t>
            </a:r>
            <a:r>
              <a:rPr lang="zh-TW" altLang="en-US" dirty="0">
                <a:solidFill>
                  <a:schemeClr val="dk1"/>
                </a:solidFill>
              </a:rPr>
              <a:t>、考慮</a:t>
            </a:r>
            <a:r>
              <a:rPr lang="en-US" altLang="zh-TW" dirty="0">
                <a:solidFill>
                  <a:schemeClr val="dk1"/>
                </a:solidFill>
              </a:rPr>
              <a:t>LLM</a:t>
            </a:r>
            <a:r>
              <a:rPr lang="zh-TW" altLang="en-US" dirty="0">
                <a:solidFill>
                  <a:schemeClr val="dk1"/>
                </a:solidFill>
              </a:rPr>
              <a:t>變因、畫圖。</a:t>
            </a:r>
            <a:endParaRPr dirty="0">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7F9F5798-F71C-963B-B5DE-6090E06067FB}"/>
            </a:ext>
          </a:extLst>
        </p:cNvPr>
        <p:cNvGrpSpPr/>
        <p:nvPr/>
      </p:nvGrpSpPr>
      <p:grpSpPr>
        <a:xfrm>
          <a:off x="0" y="0"/>
          <a:ext cx="0" cy="0"/>
          <a:chOff x="0" y="0"/>
          <a:chExt cx="0" cy="0"/>
        </a:xfrm>
      </p:grpSpPr>
      <p:sp>
        <p:nvSpPr>
          <p:cNvPr id="79" name="Google Shape;79;g3880a5c0d19_0_16:notes">
            <a:extLst>
              <a:ext uri="{FF2B5EF4-FFF2-40B4-BE49-F238E27FC236}">
                <a16:creationId xmlns:a16="http://schemas.microsoft.com/office/drawing/2014/main" id="{04C5B5D1-2F65-AA03-F7C9-0F1820870CA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880a5c0d19_0_16:notes">
            <a:extLst>
              <a:ext uri="{FF2B5EF4-FFF2-40B4-BE49-F238E27FC236}">
                <a16:creationId xmlns:a16="http://schemas.microsoft.com/office/drawing/2014/main" id="{9196B1A2-32C9-4F35-A4B5-194163952C4F}"/>
              </a:ext>
            </a:extLst>
          </p:cNvPr>
          <p:cNvSpPr txBox="1">
            <a:spLocks noGrp="1"/>
          </p:cNvSpPr>
          <p:nvPr>
            <p:ph type="body" idx="1"/>
          </p:nvPr>
        </p:nvSpPr>
        <p:spPr>
          <a:xfrm>
            <a:off x="679768" y="4715155"/>
            <a:ext cx="5438140" cy="4466987"/>
          </a:xfrm>
          <a:prstGeom prst="rect">
            <a:avLst/>
          </a:prstGeom>
        </p:spPr>
        <p:txBody>
          <a:bodyPr spcFirstLastPara="1" wrap="square" lIns="91406" tIns="91406" rIns="91406" bIns="91406" anchor="t" anchorCtr="0">
            <a:noAutofit/>
          </a:bodyPr>
          <a:lstStyle/>
          <a:p>
            <a:pPr>
              <a:lnSpc>
                <a:spcPct val="115000"/>
              </a:lnSpc>
              <a:buClr>
                <a:schemeClr val="dk1"/>
              </a:buClr>
              <a:buSzPts val="1100"/>
            </a:pPr>
            <a:endParaRPr sz="1300" dirty="0">
              <a:solidFill>
                <a:schemeClr val="dk1"/>
              </a:solidFill>
            </a:endParaRPr>
          </a:p>
          <a:p>
            <a:pPr>
              <a:lnSpc>
                <a:spcPct val="115000"/>
              </a:lnSpc>
              <a:buClr>
                <a:schemeClr val="dk1"/>
              </a:buClr>
              <a:buSzPts val="1100"/>
            </a:pPr>
            <a:endParaRPr sz="1300" dirty="0">
              <a:solidFill>
                <a:schemeClr val="dk1"/>
              </a:solidFill>
            </a:endParaRPr>
          </a:p>
          <a:p>
            <a:pPr>
              <a:lnSpc>
                <a:spcPct val="115000"/>
              </a:lnSpc>
              <a:buClr>
                <a:schemeClr val="dk1"/>
              </a:buClr>
              <a:buSzPts val="1100"/>
            </a:pPr>
            <a:endParaRPr sz="1300" dirty="0">
              <a:solidFill>
                <a:schemeClr val="dk1"/>
              </a:solidFill>
            </a:endParaRPr>
          </a:p>
          <a:p>
            <a:pPr>
              <a:lnSpc>
                <a:spcPct val="115000"/>
              </a:lnSpc>
              <a:buClr>
                <a:schemeClr val="dk1"/>
              </a:buClr>
              <a:buSzPts val="1100"/>
            </a:pPr>
            <a:endParaRPr sz="1300" dirty="0">
              <a:solidFill>
                <a:schemeClr val="dk1"/>
              </a:solidFill>
            </a:endParaRPr>
          </a:p>
        </p:txBody>
      </p:sp>
    </p:spTree>
    <p:extLst>
      <p:ext uri="{BB962C8B-B14F-4D97-AF65-F5344CB8AC3E}">
        <p14:creationId xmlns:p14="http://schemas.microsoft.com/office/powerpoint/2010/main" val="38030625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C91A-8C29-B460-5878-E8C73D7C000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BBB8269-903D-D7C0-0033-8121700CFFD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01FEC16-1DB7-6C55-1BA6-CEC1830CE556}"/>
              </a:ext>
            </a:extLst>
          </p:cNvPr>
          <p:cNvSpPr>
            <a:spLocks noGrp="1"/>
          </p:cNvSpPr>
          <p:nvPr>
            <p:ph type="body" idx="1"/>
          </p:nvPr>
        </p:nvSpPr>
        <p:spPr/>
        <p:txBody>
          <a:bodyPr/>
          <a:lstStyle/>
          <a:p>
            <a:r>
              <a:rPr lang="zh-TW" altLang="en-US" dirty="0"/>
              <a:t>攻擊深度</a:t>
            </a:r>
            <a:endParaRPr lang="en-US" altLang="zh-TW" dirty="0"/>
          </a:p>
          <a:p>
            <a:endParaRPr lang="en-US" altLang="zh-TW" dirty="0"/>
          </a:p>
        </p:txBody>
      </p:sp>
      <p:sp>
        <p:nvSpPr>
          <p:cNvPr id="4" name="投影片編號版面配置區 3">
            <a:extLst>
              <a:ext uri="{FF2B5EF4-FFF2-40B4-BE49-F238E27FC236}">
                <a16:creationId xmlns:a16="http://schemas.microsoft.com/office/drawing/2014/main" id="{23056163-3D11-5FD4-6F76-76D2CCF368E3}"/>
              </a:ext>
            </a:extLst>
          </p:cNvPr>
          <p:cNvSpPr>
            <a:spLocks noGrp="1"/>
          </p:cNvSpPr>
          <p:nvPr>
            <p:ph type="sldNum" sz="quarter" idx="5"/>
          </p:nvPr>
        </p:nvSpPr>
        <p:spPr/>
        <p:txBody>
          <a:bodyPr/>
          <a:lstStyle/>
          <a:p>
            <a:fld id="{7158F2C8-1ADC-47B4-8041-A07664DB9A1F}" type="slidenum">
              <a:rPr lang="zh-TW" altLang="en-US" smtClean="0"/>
              <a:t>32</a:t>
            </a:fld>
            <a:endParaRPr lang="zh-TW" altLang="en-US"/>
          </a:p>
        </p:txBody>
      </p:sp>
    </p:spTree>
    <p:extLst>
      <p:ext uri="{BB962C8B-B14F-4D97-AF65-F5344CB8AC3E}">
        <p14:creationId xmlns:p14="http://schemas.microsoft.com/office/powerpoint/2010/main" val="22265652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907F-4CBC-816A-276B-29253FAD8E6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90D1717-664D-6882-9BAF-A0650ED58A7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BD951CA-3B83-32A8-5AD4-7D24B3AA95FF}"/>
              </a:ext>
            </a:extLst>
          </p:cNvPr>
          <p:cNvSpPr>
            <a:spLocks noGrp="1"/>
          </p:cNvSpPr>
          <p:nvPr>
            <p:ph type="body" idx="1"/>
          </p:nvPr>
        </p:nvSpPr>
        <p:spPr/>
        <p:txBody>
          <a:bodyPr/>
          <a:lstStyle/>
          <a:p>
            <a:endParaRPr lang="en-US" altLang="zh-TW" dirty="0"/>
          </a:p>
          <a:p>
            <a:endParaRPr lang="en-US" altLang="zh-TW" dirty="0"/>
          </a:p>
          <a:p>
            <a:r>
              <a:rPr lang="zh-TW" altLang="en-US" dirty="0"/>
              <a:t>為什麼 </a:t>
            </a:r>
            <a:r>
              <a:rPr lang="en-US" altLang="zh-TW" dirty="0"/>
              <a:t>GPT-5o </a:t>
            </a:r>
            <a:r>
              <a:rPr lang="zh-TW" altLang="en-US" dirty="0"/>
              <a:t>和 </a:t>
            </a:r>
            <a:r>
              <a:rPr lang="en-US" altLang="zh-TW" dirty="0"/>
              <a:t>Base Model </a:t>
            </a:r>
            <a:r>
              <a:rPr lang="zh-TW" altLang="en-US" dirty="0"/>
              <a:t>多樣性差不多 </a:t>
            </a:r>
            <a:r>
              <a:rPr lang="en-US" altLang="zh-TW" dirty="0"/>
              <a:t>?</a:t>
            </a:r>
            <a:r>
              <a:rPr lang="zh-TW" altLang="en-US" dirty="0"/>
              <a:t> </a:t>
            </a:r>
            <a:endParaRPr lang="en-US" altLang="zh-TW" dirty="0"/>
          </a:p>
          <a:p>
            <a:r>
              <a:rPr lang="zh-TW" altLang="en-US" dirty="0"/>
              <a:t>這是因為他們雖然預設策略偏好不同，但是基本上都是同一招。</a:t>
            </a:r>
            <a:endParaRPr lang="en-US" altLang="zh-TW" dirty="0"/>
          </a:p>
          <a:p>
            <a:endParaRPr lang="en-US" altLang="zh-TW" dirty="0"/>
          </a:p>
          <a:p>
            <a:r>
              <a:rPr lang="en-US" altLang="zh-TW" dirty="0"/>
              <a:t>Add intermediate results ?</a:t>
            </a:r>
          </a:p>
          <a:p>
            <a:endParaRPr lang="en-US" altLang="zh-TW" dirty="0"/>
          </a:p>
          <a:p>
            <a:r>
              <a:rPr lang="zh-TW" altLang="en-US" dirty="0"/>
              <a:t>比他好 </a:t>
            </a:r>
            <a:r>
              <a:rPr lang="en-US" altLang="zh-TW" dirty="0"/>
              <a:t>-&gt; </a:t>
            </a:r>
            <a:r>
              <a:rPr lang="zh-TW" altLang="en-US" dirty="0"/>
              <a:t>好多少 </a:t>
            </a:r>
            <a:r>
              <a:rPr lang="en-US" altLang="zh-TW" dirty="0"/>
              <a:t>-&gt; </a:t>
            </a:r>
            <a:r>
              <a:rPr lang="zh-TW" altLang="en-US" dirty="0"/>
              <a:t>貢獻在哪 </a:t>
            </a:r>
            <a:r>
              <a:rPr lang="en-US" altLang="zh-TW" dirty="0"/>
              <a:t>= insight -&gt;</a:t>
            </a:r>
            <a:r>
              <a:rPr lang="zh-TW" altLang="en-US" dirty="0"/>
              <a:t> </a:t>
            </a:r>
            <a:r>
              <a:rPr lang="en-US" altLang="zh-TW" dirty="0"/>
              <a:t>GPT-5o -&gt; </a:t>
            </a:r>
          </a:p>
        </p:txBody>
      </p:sp>
      <p:sp>
        <p:nvSpPr>
          <p:cNvPr id="4" name="投影片編號版面配置區 3">
            <a:extLst>
              <a:ext uri="{FF2B5EF4-FFF2-40B4-BE49-F238E27FC236}">
                <a16:creationId xmlns:a16="http://schemas.microsoft.com/office/drawing/2014/main" id="{0834918F-03E4-7D0C-F846-0E1D1FFC1C8D}"/>
              </a:ext>
            </a:extLst>
          </p:cNvPr>
          <p:cNvSpPr>
            <a:spLocks noGrp="1"/>
          </p:cNvSpPr>
          <p:nvPr>
            <p:ph type="sldNum" sz="quarter" idx="5"/>
          </p:nvPr>
        </p:nvSpPr>
        <p:spPr/>
        <p:txBody>
          <a:bodyPr/>
          <a:lstStyle/>
          <a:p>
            <a:fld id="{7158F2C8-1ADC-47B4-8041-A07664DB9A1F}" type="slidenum">
              <a:rPr lang="zh-TW" altLang="en-US" smtClean="0"/>
              <a:t>33</a:t>
            </a:fld>
            <a:endParaRPr lang="zh-TW" altLang="en-US"/>
          </a:p>
        </p:txBody>
      </p:sp>
    </p:spTree>
    <p:extLst>
      <p:ext uri="{BB962C8B-B14F-4D97-AF65-F5344CB8AC3E}">
        <p14:creationId xmlns:p14="http://schemas.microsoft.com/office/powerpoint/2010/main" val="30575459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EECE0-34AB-1CD3-D038-DD806442AE2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6C70B0F-FC88-E2DC-BDEB-8F19C21F33A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07B7DDB-5D7A-725F-C7BA-F3537BCB05FF}"/>
              </a:ext>
            </a:extLst>
          </p:cNvPr>
          <p:cNvSpPr>
            <a:spLocks noGrp="1"/>
          </p:cNvSpPr>
          <p:nvPr>
            <p:ph type="body" idx="1"/>
          </p:nvPr>
        </p:nvSpPr>
        <p:spPr/>
        <p:txBody>
          <a:bodyPr/>
          <a:lstStyle/>
          <a:p>
            <a:pPr marL="0" indent="0">
              <a:buNone/>
            </a:pPr>
            <a:r>
              <a:rPr lang="zh-TW" altLang="en-US" sz="1200" dirty="0">
                <a:latin typeface="Times New Roman" panose="02020603050405020304" pitchFamily="18" charset="0"/>
                <a:cs typeface="Times New Roman" panose="02020603050405020304" pitchFamily="18" charset="0"/>
              </a:rPr>
              <a:t>我們的實作中讓 </a:t>
            </a:r>
            <a:r>
              <a:rPr lang="en-US" altLang="zh-TW" sz="1200" dirty="0">
                <a:latin typeface="Times New Roman" panose="02020603050405020304" pitchFamily="18" charset="0"/>
                <a:cs typeface="Times New Roman" panose="02020603050405020304" pitchFamily="18" charset="0"/>
              </a:rPr>
              <a:t>LLM</a:t>
            </a:r>
            <a:r>
              <a:rPr lang="zh-TW" altLang="en-US" sz="1200" dirty="0">
                <a:latin typeface="Times New Roman" panose="02020603050405020304" pitchFamily="18" charset="0"/>
                <a:cs typeface="Times New Roman" panose="02020603050405020304" pitchFamily="18" charset="0"/>
              </a:rPr>
              <a:t> 輸出的 </a:t>
            </a:r>
            <a:r>
              <a:rPr lang="en-US" altLang="zh-TW" sz="1200" dirty="0">
                <a:latin typeface="Times New Roman" panose="02020603050405020304" pitchFamily="18" charset="0"/>
                <a:cs typeface="Times New Roman" panose="02020603050405020304" pitchFamily="18" charset="0"/>
              </a:rPr>
              <a:t>tactic</a:t>
            </a:r>
            <a:r>
              <a:rPr lang="zh-TW" altLang="en-US" sz="1200" dirty="0">
                <a:latin typeface="Times New Roman" panose="02020603050405020304" pitchFamily="18" charset="0"/>
                <a:cs typeface="Times New Roman" panose="02020603050405020304" pitchFamily="18" charset="0"/>
              </a:rPr>
              <a:t> </a:t>
            </a:r>
            <a:r>
              <a:rPr lang="en-US" altLang="zh-TW" sz="1200" dirty="0">
                <a:latin typeface="Times New Roman" panose="02020603050405020304" pitchFamily="18" charset="0"/>
                <a:cs typeface="Times New Roman" panose="02020603050405020304" pitchFamily="18" charset="0"/>
              </a:rPr>
              <a:t>list </a:t>
            </a:r>
            <a:r>
              <a:rPr lang="zh-TW" altLang="en-US" sz="1200" dirty="0">
                <a:latin typeface="Times New Roman" panose="02020603050405020304" pitchFamily="18" charset="0"/>
                <a:cs typeface="Times New Roman" panose="02020603050405020304" pitchFamily="18" charset="0"/>
              </a:rPr>
              <a:t>是一個 </a:t>
            </a:r>
            <a:r>
              <a:rPr lang="en-US" altLang="zh-TW" sz="1200" dirty="0">
                <a:latin typeface="Times New Roman" panose="02020603050405020304" pitchFamily="18" charset="0"/>
                <a:cs typeface="Times New Roman" panose="02020603050405020304" pitchFamily="18" charset="0"/>
              </a:rPr>
              <a:t>rarest 2 </a:t>
            </a:r>
            <a:r>
              <a:rPr lang="zh-TW" altLang="en-US" sz="1200" dirty="0">
                <a:latin typeface="Times New Roman" panose="02020603050405020304" pitchFamily="18" charset="0"/>
                <a:cs typeface="Times New Roman" panose="02020603050405020304" pitchFamily="18" charset="0"/>
              </a:rPr>
              <a:t>的陣列。</a:t>
            </a:r>
            <a:r>
              <a:rPr lang="en-US" altLang="zh-TW" sz="1200" dirty="0">
                <a:latin typeface="Times New Roman" panose="02020603050405020304" pitchFamily="18" charset="0"/>
                <a:cs typeface="Times New Roman" panose="02020603050405020304" pitchFamily="18" charset="0"/>
              </a:rPr>
              <a:t>(</a:t>
            </a:r>
            <a:r>
              <a:rPr lang="zh-TW" altLang="en-US" sz="1200" dirty="0">
                <a:latin typeface="Times New Roman" panose="02020603050405020304" pitchFamily="18" charset="0"/>
                <a:cs typeface="Times New Roman" panose="02020603050405020304" pitchFamily="18" charset="0"/>
              </a:rPr>
              <a:t>假設越少出現的越重要</a:t>
            </a:r>
            <a:r>
              <a:rPr lang="en-US" altLang="zh-TW" sz="1200" dirty="0">
                <a:latin typeface="Times New Roman" panose="02020603050405020304" pitchFamily="18" charset="0"/>
                <a:cs typeface="Times New Roman" panose="02020603050405020304" pitchFamily="18" charset="0"/>
              </a:rPr>
              <a:t>)</a:t>
            </a:r>
          </a:p>
          <a:p>
            <a:pPr marL="0" indent="0">
              <a:buNone/>
            </a:pPr>
            <a:endParaRPr lang="en-US" altLang="zh-TW" sz="1200" dirty="0">
              <a:latin typeface="Times New Roman" panose="02020603050405020304" pitchFamily="18" charset="0"/>
              <a:cs typeface="Times New Roman" panose="02020603050405020304" pitchFamily="18" charset="0"/>
            </a:endParaRPr>
          </a:p>
          <a:p>
            <a:pPr marL="0" indent="0">
              <a:buNone/>
            </a:pPr>
            <a:r>
              <a:rPr lang="en-US" altLang="zh-TW" sz="1200" dirty="0">
                <a:latin typeface="Times New Roman" panose="02020603050405020304" pitchFamily="18" charset="0"/>
                <a:cs typeface="Times New Roman" panose="02020603050405020304" pitchFamily="18" charset="0"/>
              </a:rPr>
              <a:t>Intent </a:t>
            </a:r>
            <a:r>
              <a:rPr lang="zh-TW" altLang="en-US" sz="1200" dirty="0">
                <a:latin typeface="Times New Roman" panose="02020603050405020304" pitchFamily="18" charset="0"/>
                <a:cs typeface="Times New Roman" panose="02020603050405020304" pitchFamily="18" charset="0"/>
              </a:rPr>
              <a:t>準不準</a:t>
            </a:r>
            <a:endParaRPr lang="en-US" altLang="zh-TW" sz="1200" dirty="0">
              <a:latin typeface="Times New Roman" panose="02020603050405020304" pitchFamily="18" charset="0"/>
              <a:cs typeface="Times New Roman" panose="02020603050405020304" pitchFamily="18" charset="0"/>
            </a:endParaRPr>
          </a:p>
          <a:p>
            <a:pPr marL="0" indent="0">
              <a:buNone/>
            </a:pPr>
            <a:endParaRPr lang="en-US" altLang="zh-TW" sz="1200" dirty="0">
              <a:latin typeface="Times New Roman" panose="02020603050405020304" pitchFamily="18" charset="0"/>
              <a:cs typeface="Times New Roman" panose="02020603050405020304" pitchFamily="18" charset="0"/>
            </a:endParaRPr>
          </a:p>
          <a:p>
            <a:pPr marL="0" indent="0">
              <a:buNone/>
            </a:pPr>
            <a:r>
              <a:rPr lang="en-US" altLang="zh-TW" sz="1200" dirty="0">
                <a:latin typeface="Times New Roman" panose="02020603050405020304" pitchFamily="18" charset="0"/>
                <a:cs typeface="Times New Roman" panose="02020603050405020304" pitchFamily="18" charset="0"/>
              </a:rPr>
              <a:t>603(463/59/81)</a:t>
            </a:r>
          </a:p>
        </p:txBody>
      </p:sp>
      <p:sp>
        <p:nvSpPr>
          <p:cNvPr id="4" name="投影片編號版面配置區 3">
            <a:extLst>
              <a:ext uri="{FF2B5EF4-FFF2-40B4-BE49-F238E27FC236}">
                <a16:creationId xmlns:a16="http://schemas.microsoft.com/office/drawing/2014/main" id="{329E1F74-202D-2D3E-4775-ED6B01A5C75C}"/>
              </a:ext>
            </a:extLst>
          </p:cNvPr>
          <p:cNvSpPr>
            <a:spLocks noGrp="1"/>
          </p:cNvSpPr>
          <p:nvPr>
            <p:ph type="sldNum" sz="quarter" idx="5"/>
          </p:nvPr>
        </p:nvSpPr>
        <p:spPr/>
        <p:txBody>
          <a:bodyPr/>
          <a:lstStyle/>
          <a:p>
            <a:fld id="{7158F2C8-1ADC-47B4-8041-A07664DB9A1F}" type="slidenum">
              <a:rPr lang="zh-TW" altLang="en-US" smtClean="0"/>
              <a:t>34</a:t>
            </a:fld>
            <a:endParaRPr lang="zh-TW" altLang="en-US"/>
          </a:p>
        </p:txBody>
      </p:sp>
    </p:spTree>
    <p:extLst>
      <p:ext uri="{BB962C8B-B14F-4D97-AF65-F5344CB8AC3E}">
        <p14:creationId xmlns:p14="http://schemas.microsoft.com/office/powerpoint/2010/main" val="42347012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168DC-081F-50D2-7C54-64492755E55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9A15108-034C-6747-7DE8-1D687B0279B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E8F5A7C-60DB-32A6-16D0-F719263B4C8B}"/>
              </a:ext>
            </a:extLst>
          </p:cNvPr>
          <p:cNvSpPr>
            <a:spLocks noGrp="1"/>
          </p:cNvSpPr>
          <p:nvPr>
            <p:ph type="body" idx="1"/>
          </p:nvPr>
        </p:nvSpPr>
        <p:spPr/>
        <p:txBody>
          <a:bodyPr/>
          <a:lstStyle/>
          <a:p>
            <a:pPr marL="0" indent="0">
              <a:buFontTx/>
              <a:buNone/>
            </a:pPr>
            <a:r>
              <a:rPr lang="zh-TW" altLang="en-US" dirty="0"/>
              <a:t>實驗 </a:t>
            </a:r>
            <a:r>
              <a:rPr lang="en-US" altLang="zh-TW" dirty="0"/>
              <a:t>metric</a:t>
            </a:r>
          </a:p>
          <a:p>
            <a:pPr marL="0" indent="0">
              <a:buFontTx/>
              <a:buNone/>
            </a:pPr>
            <a:endParaRPr lang="en-US" altLang="zh-TW" dirty="0"/>
          </a:p>
          <a:p>
            <a:pPr marL="0" indent="0">
              <a:buFontTx/>
              <a:buNone/>
            </a:pPr>
            <a:r>
              <a:rPr lang="zh-TW" altLang="en-US" dirty="0"/>
              <a:t>設計 </a:t>
            </a:r>
            <a:r>
              <a:rPr lang="en-US" altLang="zh-TW" dirty="0"/>
              <a:t>30</a:t>
            </a:r>
            <a:r>
              <a:rPr lang="zh-TW" altLang="en-US" dirty="0"/>
              <a:t> 組和資料集來源不一樣的指令序列，涵蓋前中後期。</a:t>
            </a:r>
            <a:endParaRPr lang="en-US" altLang="zh-TW" dirty="0"/>
          </a:p>
          <a:p>
            <a:pPr marL="0" indent="0">
              <a:buFontTx/>
              <a:buNone/>
            </a:pPr>
            <a:endParaRPr lang="en-US" altLang="zh-TW" dirty="0"/>
          </a:p>
          <a:p>
            <a:pPr marL="0" indent="0">
              <a:buFontTx/>
              <a:buNone/>
            </a:pPr>
            <a:r>
              <a:rPr lang="zh-TW" altLang="en-US" dirty="0"/>
              <a:t>每組都有 </a:t>
            </a:r>
            <a:r>
              <a:rPr lang="en-US" altLang="zh-TW" dirty="0"/>
              <a:t>Ground truth intent</a:t>
            </a:r>
            <a:r>
              <a:rPr lang="zh-TW" altLang="en-US" dirty="0"/>
              <a:t> </a:t>
            </a:r>
            <a:r>
              <a:rPr lang="en-US" altLang="zh-TW" dirty="0"/>
              <a:t>(</a:t>
            </a:r>
            <a:r>
              <a:rPr lang="zh-TW" altLang="en-US" dirty="0"/>
              <a:t>語意敘述</a:t>
            </a:r>
            <a:r>
              <a:rPr lang="en-US" altLang="zh-TW" dirty="0"/>
              <a:t>) </a:t>
            </a:r>
            <a:r>
              <a:rPr lang="zh-TW" altLang="en-US" dirty="0"/>
              <a:t>和 </a:t>
            </a:r>
            <a:r>
              <a:rPr lang="en-US" altLang="zh-TW" dirty="0"/>
              <a:t>Ground truth tactic (</a:t>
            </a:r>
            <a:r>
              <a:rPr lang="zh-TW" altLang="en-US" dirty="0"/>
              <a:t>階段</a:t>
            </a:r>
            <a:r>
              <a:rPr lang="en-US" altLang="zh-TW" dirty="0"/>
              <a:t>)</a:t>
            </a:r>
          </a:p>
          <a:p>
            <a:pPr marL="0" indent="0">
              <a:buFontTx/>
              <a:buNone/>
            </a:pPr>
            <a:endParaRPr lang="en-US" altLang="zh-TW" dirty="0"/>
          </a:p>
          <a:p>
            <a:pPr marL="0" indent="0">
              <a:buFontTx/>
              <a:buNone/>
            </a:pPr>
            <a:r>
              <a:rPr lang="zh-TW" altLang="en-US" dirty="0"/>
              <a:t>讓 </a:t>
            </a:r>
            <a:r>
              <a:rPr lang="en-US" altLang="zh-TW" dirty="0"/>
              <a:t>LLM</a:t>
            </a:r>
            <a:r>
              <a:rPr lang="zh-TW" altLang="en-US" dirty="0"/>
              <a:t> 根據以下指標來評分</a:t>
            </a:r>
            <a:endParaRPr lang="en-US" altLang="zh-TW" dirty="0"/>
          </a:p>
          <a:p>
            <a:pPr marL="228600" indent="-228600">
              <a:buFontTx/>
              <a:buAutoNum type="arabicPeriod"/>
            </a:pPr>
            <a:r>
              <a:rPr lang="zh-TW" altLang="en-US" dirty="0"/>
              <a:t>模型的策略敘述，是否和攻擊者的階段有關？例如攻擊在 </a:t>
            </a:r>
            <a:r>
              <a:rPr lang="en-US" altLang="zh-TW" dirty="0"/>
              <a:t>discovery </a:t>
            </a:r>
            <a:r>
              <a:rPr lang="zh-TW" altLang="en-US" dirty="0"/>
              <a:t>時 </a:t>
            </a:r>
            <a:r>
              <a:rPr lang="en-US" altLang="zh-TW" dirty="0"/>
              <a:t>-&gt; </a:t>
            </a:r>
            <a:r>
              <a:rPr lang="zh-TW" altLang="en-US" dirty="0"/>
              <a:t>策略敘述是否含有 </a:t>
            </a:r>
            <a:r>
              <a:rPr lang="en-US" altLang="zh-TW" dirty="0"/>
              <a:t>discovery </a:t>
            </a:r>
            <a:r>
              <a:rPr lang="zh-TW" altLang="en-US" dirty="0"/>
              <a:t>相關敘述 </a:t>
            </a:r>
            <a:r>
              <a:rPr lang="en-US" altLang="zh-TW" dirty="0"/>
              <a:t>?</a:t>
            </a:r>
          </a:p>
          <a:p>
            <a:pPr marL="228600" indent="-228600">
              <a:buFontTx/>
              <a:buAutoNum type="arabicPeriod"/>
            </a:pPr>
            <a:r>
              <a:rPr lang="zh-TW" altLang="en-US" dirty="0"/>
              <a:t>工具參數是否有對應到所在使用攻擊者指令 </a:t>
            </a:r>
            <a:r>
              <a:rPr lang="en-US" altLang="zh-TW" dirty="0"/>
              <a:t>?</a:t>
            </a:r>
            <a:r>
              <a:rPr lang="zh-TW" altLang="en-US" dirty="0"/>
              <a:t>  當模型選擇阻擋駭客工具 </a:t>
            </a:r>
            <a:r>
              <a:rPr lang="en-US" altLang="zh-TW" dirty="0"/>
              <a:t>-&gt; </a:t>
            </a:r>
            <a:r>
              <a:rPr lang="zh-TW" altLang="en-US" dirty="0"/>
              <a:t>但工具完全沒出現在指令序列中 </a:t>
            </a:r>
            <a:r>
              <a:rPr lang="en-US" altLang="zh-TW" dirty="0"/>
              <a:t>-&gt; </a:t>
            </a:r>
            <a:r>
              <a:rPr lang="zh-TW" altLang="en-US" dirty="0"/>
              <a:t>幻覺</a:t>
            </a:r>
            <a:endParaRPr lang="en-US" altLang="zh-TW" dirty="0"/>
          </a:p>
          <a:p>
            <a:pPr marL="228600" indent="-228600">
              <a:buFontTx/>
              <a:buAutoNum type="arabicPeriod"/>
            </a:pPr>
            <a:endParaRPr lang="en-US" altLang="zh-TW" dirty="0"/>
          </a:p>
        </p:txBody>
      </p:sp>
      <p:sp>
        <p:nvSpPr>
          <p:cNvPr id="4" name="投影片編號版面配置區 3">
            <a:extLst>
              <a:ext uri="{FF2B5EF4-FFF2-40B4-BE49-F238E27FC236}">
                <a16:creationId xmlns:a16="http://schemas.microsoft.com/office/drawing/2014/main" id="{35B942A1-7AD6-D4E8-4769-DAD68C3CB3D5}"/>
              </a:ext>
            </a:extLst>
          </p:cNvPr>
          <p:cNvSpPr>
            <a:spLocks noGrp="1"/>
          </p:cNvSpPr>
          <p:nvPr>
            <p:ph type="sldNum" sz="quarter" idx="5"/>
          </p:nvPr>
        </p:nvSpPr>
        <p:spPr/>
        <p:txBody>
          <a:bodyPr/>
          <a:lstStyle/>
          <a:p>
            <a:fld id="{7158F2C8-1ADC-47B4-8041-A07664DB9A1F}" type="slidenum">
              <a:rPr lang="zh-TW" altLang="en-US" smtClean="0"/>
              <a:t>35</a:t>
            </a:fld>
            <a:endParaRPr lang="zh-TW" altLang="en-US"/>
          </a:p>
        </p:txBody>
      </p:sp>
    </p:spTree>
    <p:extLst>
      <p:ext uri="{BB962C8B-B14F-4D97-AF65-F5344CB8AC3E}">
        <p14:creationId xmlns:p14="http://schemas.microsoft.com/office/powerpoint/2010/main" val="24000888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8231C-A189-7271-1DE9-602D1943AEF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BFFFEFA-C2C0-09C2-FCE8-2D14D2090AE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BCCC842-B4D6-F957-2064-F56198451038}"/>
              </a:ext>
            </a:extLst>
          </p:cNvPr>
          <p:cNvSpPr>
            <a:spLocks noGrp="1"/>
          </p:cNvSpPr>
          <p:nvPr>
            <p:ph type="body" idx="1"/>
          </p:nvPr>
        </p:nvSpPr>
        <p:spPr/>
        <p:txBody>
          <a:bodyPr/>
          <a:lstStyle/>
          <a:p>
            <a:pPr rtl="0" eaLnBrk="1" fontAlgn="ctr" latinLnBrk="0" hangingPunct="1"/>
            <a:r>
              <a:rPr lang="zh-TW" altLang="en-US" dirty="0"/>
              <a:t>這張圖要回答什麼 </a:t>
            </a:r>
            <a:r>
              <a:rPr lang="en-US" altLang="zh-TW" dirty="0"/>
              <a:t>?</a:t>
            </a:r>
            <a:r>
              <a:rPr lang="zh-TW" altLang="en-US" dirty="0"/>
              <a:t> </a:t>
            </a:r>
            <a:br>
              <a:rPr lang="en-US" altLang="zh-TW" dirty="0"/>
            </a:br>
            <a:br>
              <a:rPr lang="en-US" altLang="zh-TW" dirty="0"/>
            </a:br>
            <a:r>
              <a:rPr lang="en-US" altLang="zh-TW" dirty="0"/>
              <a:t>Reward model </a:t>
            </a:r>
            <a:r>
              <a:rPr lang="zh-TW" altLang="en-US" dirty="0"/>
              <a:t>能被用於後續的 </a:t>
            </a:r>
            <a:r>
              <a:rPr lang="en-US" altLang="zh-TW" dirty="0"/>
              <a:t>GRPO</a:t>
            </a:r>
            <a:r>
              <a:rPr lang="zh-TW" altLang="en-US" dirty="0"/>
              <a:t> 學習</a:t>
            </a:r>
            <a:endParaRPr lang="en-US" altLang="zh-TW" dirty="0"/>
          </a:p>
          <a:p>
            <a:pPr rtl="0" eaLnBrk="1" fontAlgn="ctr" latinLnBrk="0" hangingPunct="1"/>
            <a:endParaRPr lang="en-US" altLang="zh-TW" dirty="0"/>
          </a:p>
          <a:p>
            <a:pPr rtl="0" eaLnBrk="1" fontAlgn="ctr" latinLnBrk="0" hangingPunct="1"/>
            <a:r>
              <a:rPr lang="zh-TW" altLang="en-US" dirty="0"/>
              <a:t>實驗怎麼做的 </a:t>
            </a:r>
            <a:r>
              <a:rPr lang="en-US" altLang="zh-TW" dirty="0"/>
              <a:t>?</a:t>
            </a:r>
            <a:r>
              <a:rPr lang="zh-TW" altLang="en-US" dirty="0"/>
              <a:t> </a:t>
            </a:r>
            <a:endParaRPr lang="en-US" altLang="zh-TW" dirty="0"/>
          </a:p>
          <a:p>
            <a:pPr rtl="0" eaLnBrk="1" fontAlgn="ctr" latinLnBrk="0" hangingPunct="1"/>
            <a:endParaRPr lang="en-US" altLang="zh-TW" dirty="0"/>
          </a:p>
        </p:txBody>
      </p:sp>
      <p:sp>
        <p:nvSpPr>
          <p:cNvPr id="4" name="投影片編號版面配置區 3">
            <a:extLst>
              <a:ext uri="{FF2B5EF4-FFF2-40B4-BE49-F238E27FC236}">
                <a16:creationId xmlns:a16="http://schemas.microsoft.com/office/drawing/2014/main" id="{CDE0D481-B13F-2879-473C-2B6A67BF2E18}"/>
              </a:ext>
            </a:extLst>
          </p:cNvPr>
          <p:cNvSpPr>
            <a:spLocks noGrp="1"/>
          </p:cNvSpPr>
          <p:nvPr>
            <p:ph type="sldNum" sz="quarter" idx="5"/>
          </p:nvPr>
        </p:nvSpPr>
        <p:spPr/>
        <p:txBody>
          <a:bodyPr/>
          <a:lstStyle/>
          <a:p>
            <a:fld id="{7158F2C8-1ADC-47B4-8041-A07664DB9A1F}" type="slidenum">
              <a:rPr lang="zh-TW" altLang="en-US" smtClean="0"/>
              <a:t>36</a:t>
            </a:fld>
            <a:endParaRPr lang="zh-TW" altLang="en-US"/>
          </a:p>
        </p:txBody>
      </p:sp>
    </p:spTree>
    <p:extLst>
      <p:ext uri="{BB962C8B-B14F-4D97-AF65-F5344CB8AC3E}">
        <p14:creationId xmlns:p14="http://schemas.microsoft.com/office/powerpoint/2010/main" val="2071692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1. </a:t>
            </a:r>
            <a:r>
              <a:rPr lang="zh-TW" altLang="en-US" b="1" dirty="0"/>
              <a:t>折線圖展現的是「全域趨勢（整體邊際分佈）」</a:t>
            </a:r>
          </a:p>
          <a:p>
            <a:r>
              <a:rPr lang="zh-TW" altLang="en-US" b="1" dirty="0"/>
              <a:t>學理分析：</a:t>
            </a:r>
            <a:r>
              <a:rPr lang="zh-TW" altLang="en-US" dirty="0"/>
              <a:t> 左邊的折線圖展示了隨著訓練步數增加，模型整體的行為漂移（</a:t>
            </a:r>
            <a:r>
              <a:rPr lang="en-US" altLang="zh-TW" dirty="0"/>
              <a:t>Behavior Drift</a:t>
            </a:r>
            <a:r>
              <a:rPr lang="zh-TW" altLang="en-US" dirty="0"/>
              <a:t>）。模型成功學會了放棄 </a:t>
            </a:r>
            <a:r>
              <a:rPr lang="en-US" altLang="zh-TW" dirty="0"/>
              <a:t>Llama Base </a:t>
            </a:r>
            <a:r>
              <a:rPr lang="zh-TW" altLang="en-US" dirty="0"/>
              <a:t>預設的消極抵抗（</a:t>
            </a:r>
            <a:r>
              <a:rPr lang="en-US" altLang="zh-TW" sz="1200" kern="1200" dirty="0">
                <a:solidFill>
                  <a:schemeClr val="tx1"/>
                </a:solidFill>
                <a:latin typeface="+mn-lt"/>
                <a:ea typeface="+mn-ea"/>
                <a:cs typeface="+mn-cs"/>
              </a:rPr>
              <a:t>PARTIAL_FAIL</a:t>
            </a:r>
            <a:r>
              <a:rPr lang="en-US" altLang="zh-TW" dirty="0"/>
              <a:t>, </a:t>
            </a:r>
            <a:r>
              <a:rPr lang="en-US" altLang="zh-TW" sz="1200" kern="1200" dirty="0">
                <a:solidFill>
                  <a:schemeClr val="tx1"/>
                </a:solidFill>
                <a:latin typeface="+mn-lt"/>
                <a:ea typeface="+mn-ea"/>
                <a:cs typeface="+mn-cs"/>
              </a:rPr>
              <a:t>ARTIFACT_TRAIL</a:t>
            </a:r>
            <a:r>
              <a:rPr lang="en-US" altLang="zh-TW" dirty="0"/>
              <a:t> </a:t>
            </a:r>
            <a:r>
              <a:rPr lang="zh-TW" altLang="en-US" dirty="0"/>
              <a:t>呈現下降趨勢），並拉升了主動欺敵策略（</a:t>
            </a:r>
            <a:r>
              <a:rPr lang="en-US" altLang="zh-TW" sz="1200" kern="1200" dirty="0">
                <a:solidFill>
                  <a:schemeClr val="tx1"/>
                </a:solidFill>
                <a:latin typeface="+mn-lt"/>
                <a:ea typeface="+mn-ea"/>
                <a:cs typeface="+mn-cs"/>
              </a:rPr>
              <a:t>ACCESS_CONTROL_TRAP</a:t>
            </a:r>
            <a:r>
              <a:rPr lang="en-US" altLang="zh-TW" dirty="0"/>
              <a:t>, </a:t>
            </a:r>
            <a:r>
              <a:rPr lang="en-US" altLang="zh-TW" sz="1200" kern="1200" dirty="0">
                <a:solidFill>
                  <a:schemeClr val="tx1"/>
                </a:solidFill>
                <a:latin typeface="+mn-lt"/>
                <a:ea typeface="+mn-ea"/>
                <a:cs typeface="+mn-cs"/>
              </a:rPr>
              <a:t>CREDENTIAL_BREADCRUMBS</a:t>
            </a:r>
            <a:r>
              <a:rPr lang="en-US" altLang="zh-TW" dirty="0"/>
              <a:t>, </a:t>
            </a:r>
            <a:r>
              <a:rPr lang="en-US" altLang="zh-TW" sz="1200" kern="1200" dirty="0">
                <a:solidFill>
                  <a:schemeClr val="tx1"/>
                </a:solidFill>
                <a:latin typeface="+mn-lt"/>
                <a:ea typeface="+mn-ea"/>
                <a:cs typeface="+mn-cs"/>
              </a:rPr>
              <a:t>INERT_ADMIN_SURFACE</a:t>
            </a:r>
            <a:r>
              <a:rPr lang="en-US" altLang="zh-TW" dirty="0"/>
              <a:t> </a:t>
            </a:r>
            <a:r>
              <a:rPr lang="zh-TW" altLang="en-US" dirty="0"/>
              <a:t>呈現上升趨勢）。</a:t>
            </a:r>
          </a:p>
          <a:p>
            <a:r>
              <a:rPr lang="zh-TW" altLang="en-US" b="1" dirty="0"/>
              <a:t>拋出問題：</a:t>
            </a:r>
            <a:r>
              <a:rPr lang="zh-TW" altLang="en-US" dirty="0"/>
              <a:t> 但如果我們只看折線圖的最終狀態，</a:t>
            </a:r>
            <a:r>
              <a:rPr lang="en-US" altLang="zh-TW" sz="1200" kern="1200" dirty="0">
                <a:solidFill>
                  <a:schemeClr val="tx1"/>
                </a:solidFill>
                <a:latin typeface="+mn-lt"/>
                <a:ea typeface="+mn-ea"/>
                <a:cs typeface="+mn-cs"/>
              </a:rPr>
              <a:t>ACCESS_CONTROL_TRAP</a:t>
            </a:r>
            <a:r>
              <a:rPr lang="en-US" altLang="zh-TW" dirty="0"/>
              <a:t> </a:t>
            </a:r>
            <a:r>
              <a:rPr lang="zh-TW" altLang="en-US" dirty="0"/>
              <a:t>的整體使用率最高。如果 </a:t>
            </a:r>
            <a:r>
              <a:rPr lang="en-US" altLang="zh-TW" dirty="0"/>
              <a:t>LLM </a:t>
            </a:r>
            <a:r>
              <a:rPr lang="zh-TW" altLang="en-US" dirty="0"/>
              <a:t>只是發生了 </a:t>
            </a:r>
            <a:r>
              <a:rPr lang="en-US" altLang="zh-TW" dirty="0"/>
              <a:t>Mode Collapse</a:t>
            </a:r>
            <a:r>
              <a:rPr lang="zh-TW" altLang="en-US" dirty="0"/>
              <a:t>（即：發現某個動作的平均 </a:t>
            </a:r>
            <a:r>
              <a:rPr lang="en-US" altLang="zh-TW" dirty="0"/>
              <a:t>Reward </a:t>
            </a:r>
            <a:r>
              <a:rPr lang="zh-TW" altLang="en-US" dirty="0"/>
              <a:t>最高，就無腦狂用），那麼我們應該在任何攻擊階段都會看到 </a:t>
            </a:r>
            <a:r>
              <a:rPr lang="en-US" altLang="zh-TW" sz="1200" kern="1200" dirty="0">
                <a:solidFill>
                  <a:schemeClr val="tx1"/>
                </a:solidFill>
                <a:latin typeface="+mn-lt"/>
                <a:ea typeface="+mn-ea"/>
                <a:cs typeface="+mn-cs"/>
              </a:rPr>
              <a:t>ACCESS_CONTROL_TRAP</a:t>
            </a:r>
            <a:r>
              <a:rPr lang="en-US" altLang="zh-TW" dirty="0"/>
              <a:t> </a:t>
            </a:r>
            <a:r>
              <a:rPr lang="zh-TW" altLang="en-US" dirty="0"/>
              <a:t>佔據統治地位。</a:t>
            </a:r>
          </a:p>
          <a:p>
            <a:r>
              <a:rPr lang="en-US" altLang="zh-TW" b="1" dirty="0"/>
              <a:t>2. </a:t>
            </a:r>
            <a:r>
              <a:rPr lang="zh-TW" altLang="en-US" b="1" dirty="0"/>
              <a:t>長條圖反證了「模式崩潰 </a:t>
            </a:r>
            <a:r>
              <a:rPr lang="en-US" altLang="zh-TW" b="1" dirty="0"/>
              <a:t>(Mode Collapse)</a:t>
            </a:r>
            <a:r>
              <a:rPr lang="zh-TW" altLang="en-US" b="1" dirty="0"/>
              <a:t>」的發生</a:t>
            </a:r>
          </a:p>
          <a:p>
            <a:r>
              <a:rPr lang="zh-TW" altLang="en-US" b="1" dirty="0"/>
              <a:t>學理分析：</a:t>
            </a:r>
            <a:r>
              <a:rPr lang="zh-TW" altLang="en-US" dirty="0"/>
              <a:t> 長條圖（</a:t>
            </a:r>
            <a:r>
              <a:rPr lang="en-US" altLang="zh-TW" dirty="0"/>
              <a:t>Bar Chart</a:t>
            </a:r>
            <a:r>
              <a:rPr lang="zh-TW" altLang="en-US" dirty="0"/>
              <a:t>）完美粉碎了 </a:t>
            </a:r>
            <a:r>
              <a:rPr lang="en-US" altLang="zh-TW" dirty="0"/>
              <a:t>Mode Collapse </a:t>
            </a:r>
            <a:r>
              <a:rPr lang="zh-TW" altLang="en-US" dirty="0"/>
              <a:t>的假說。長條圖揭示了模型在特定階段下的</a:t>
            </a:r>
            <a:r>
              <a:rPr lang="zh-TW" altLang="en-US" b="1" dirty="0"/>
              <a:t>條件機率分佈 </a:t>
            </a:r>
            <a:r>
              <a:rPr lang="en-US" altLang="zh-TW" b="1" dirty="0">
                <a:effectLst/>
              </a:rPr>
              <a:t>P</a:t>
            </a:r>
            <a:r>
              <a:rPr lang="en-US" altLang="zh-TW" b="1" dirty="0"/>
              <a:t>(</a:t>
            </a:r>
            <a:r>
              <a:rPr lang="en-US" altLang="zh-TW" b="1" dirty="0" err="1"/>
              <a:t>Action∣Sta</a:t>
            </a:r>
            <a:r>
              <a:rPr lang="en-US" altLang="zh-TW" b="1" dirty="0" err="1">
                <a:effectLst/>
              </a:rPr>
              <a:t>g</a:t>
            </a:r>
            <a:r>
              <a:rPr lang="en-US" altLang="zh-TW" b="1" dirty="0" err="1"/>
              <a:t>e</a:t>
            </a:r>
            <a:r>
              <a:rPr lang="en-US" altLang="zh-TW" b="1" dirty="0"/>
              <a:t>)</a:t>
            </a:r>
            <a:r>
              <a:rPr lang="zh-TW" altLang="en-US" dirty="0"/>
              <a:t>。</a:t>
            </a:r>
          </a:p>
          <a:p>
            <a:r>
              <a:rPr lang="zh-TW" altLang="en-US" b="1" dirty="0"/>
              <a:t>論文亮點寫法：</a:t>
            </a:r>
            <a:r>
              <a:rPr lang="zh-TW" altLang="en-US" dirty="0"/>
              <a:t> 儘管折線圖顯示 </a:t>
            </a:r>
            <a:r>
              <a:rPr lang="en-US" altLang="zh-TW" sz="1200" kern="1200" dirty="0">
                <a:solidFill>
                  <a:schemeClr val="tx1"/>
                </a:solidFill>
                <a:latin typeface="+mn-lt"/>
                <a:ea typeface="+mn-ea"/>
                <a:cs typeface="+mn-cs"/>
              </a:rPr>
              <a:t>ACCESS_CONTROL_TRAP</a:t>
            </a:r>
            <a:r>
              <a:rPr lang="en-US" altLang="zh-TW" dirty="0"/>
              <a:t> </a:t>
            </a:r>
            <a:r>
              <a:rPr lang="zh-TW" altLang="en-US" dirty="0"/>
              <a:t>在全局 </a:t>
            </a:r>
            <a:r>
              <a:rPr lang="en-US" altLang="zh-TW" dirty="0"/>
              <a:t>Reward </a:t>
            </a:r>
            <a:r>
              <a:rPr lang="zh-TW" altLang="en-US" dirty="0"/>
              <a:t>的引導下成為最常被選用的 </a:t>
            </a:r>
            <a:r>
              <a:rPr lang="en-US" altLang="zh-TW" dirty="0"/>
              <a:t>Primitive</a:t>
            </a:r>
            <a:r>
              <a:rPr lang="zh-TW" altLang="en-US" dirty="0"/>
              <a:t>，但長條圖證明了 </a:t>
            </a:r>
            <a:r>
              <a:rPr lang="en-US" altLang="zh-TW" dirty="0"/>
              <a:t>LLM </a:t>
            </a:r>
            <a:r>
              <a:rPr lang="zh-TW" altLang="en-US" b="1" dirty="0"/>
              <a:t>並沒有將其盲目地套用到所有階段</a:t>
            </a:r>
            <a:r>
              <a:rPr lang="zh-TW" altLang="en-US" dirty="0"/>
              <a:t>。在 </a:t>
            </a:r>
            <a:r>
              <a:rPr lang="en-US" altLang="zh-TW" dirty="0"/>
              <a:t>EARLY </a:t>
            </a:r>
            <a:r>
              <a:rPr lang="zh-TW" altLang="en-US" dirty="0"/>
              <a:t>階段，</a:t>
            </a:r>
            <a:r>
              <a:rPr lang="en-US" altLang="zh-TW" dirty="0"/>
              <a:t>LLM </a:t>
            </a:r>
            <a:r>
              <a:rPr lang="zh-TW" altLang="en-US" dirty="0"/>
              <a:t>依然克制地選擇了 </a:t>
            </a:r>
            <a:r>
              <a:rPr lang="en-US" altLang="zh-TW" sz="1200" kern="1200" dirty="0">
                <a:solidFill>
                  <a:schemeClr val="tx1"/>
                </a:solidFill>
                <a:latin typeface="+mn-lt"/>
                <a:ea typeface="+mn-ea"/>
                <a:cs typeface="+mn-cs"/>
              </a:rPr>
              <a:t>INERT_ADMIN_SURFACE</a:t>
            </a:r>
            <a:r>
              <a:rPr lang="zh-TW" altLang="en-US" dirty="0"/>
              <a:t>（佔 </a:t>
            </a:r>
            <a:r>
              <a:rPr lang="en-US" altLang="zh-TW" dirty="0"/>
              <a:t>50%</a:t>
            </a:r>
            <a:r>
              <a:rPr lang="zh-TW" altLang="en-US" dirty="0"/>
              <a:t>）；只有到了 </a:t>
            </a:r>
            <a:r>
              <a:rPr lang="en-US" altLang="zh-TW" dirty="0"/>
              <a:t>MID </a:t>
            </a:r>
            <a:r>
              <a:rPr lang="zh-TW" altLang="en-US" dirty="0"/>
              <a:t>階段，</a:t>
            </a:r>
            <a:r>
              <a:rPr lang="en-US" altLang="zh-TW" sz="1200" kern="1200" dirty="0">
                <a:solidFill>
                  <a:schemeClr val="tx1"/>
                </a:solidFill>
                <a:latin typeface="+mn-lt"/>
                <a:ea typeface="+mn-ea"/>
                <a:cs typeface="+mn-cs"/>
              </a:rPr>
              <a:t>ACCESS_CONTROL_TRAP</a:t>
            </a:r>
            <a:r>
              <a:rPr lang="en-US" altLang="zh-TW" dirty="0"/>
              <a:t> </a:t>
            </a:r>
            <a:r>
              <a:rPr lang="zh-TW" altLang="en-US" dirty="0"/>
              <a:t>才成為主力（佔 </a:t>
            </a:r>
            <a:r>
              <a:rPr lang="en-US" altLang="zh-TW" dirty="0"/>
              <a:t>50%</a:t>
            </a:r>
            <a:r>
              <a:rPr lang="zh-TW" altLang="en-US" dirty="0"/>
              <a:t>）。</a:t>
            </a:r>
          </a:p>
          <a:p>
            <a:r>
              <a:rPr lang="zh-TW" altLang="en-US" b="1" dirty="0"/>
              <a:t>結論：</a:t>
            </a:r>
            <a:r>
              <a:rPr lang="zh-TW" altLang="en-US" dirty="0"/>
              <a:t> 這兩張圖的「不一致」恰恰是最好的證明！這代表 </a:t>
            </a:r>
            <a:r>
              <a:rPr lang="en-US" altLang="zh-TW" dirty="0"/>
              <a:t>Reward Model </a:t>
            </a:r>
            <a:r>
              <a:rPr lang="zh-TW" altLang="en-US" dirty="0"/>
              <a:t>雖然提升了某些動作的</a:t>
            </a:r>
            <a:r>
              <a:rPr lang="zh-TW" altLang="en-US" b="1" dirty="0"/>
              <a:t>總體價值期望（</a:t>
            </a:r>
            <a:r>
              <a:rPr lang="en-US" altLang="zh-TW" b="1" dirty="0"/>
              <a:t>Global Expected Value</a:t>
            </a:r>
            <a:r>
              <a:rPr lang="zh-TW" altLang="en-US" b="1" dirty="0"/>
              <a:t>）</a:t>
            </a:r>
            <a:r>
              <a:rPr lang="zh-TW" altLang="en-US" dirty="0"/>
              <a:t>，</a:t>
            </a:r>
            <a:r>
              <a:rPr lang="zh-TW" altLang="en-US" b="1" dirty="0"/>
              <a:t>但 </a:t>
            </a:r>
            <a:r>
              <a:rPr lang="en-US" altLang="zh-TW" b="1" dirty="0"/>
              <a:t>LLM </a:t>
            </a:r>
            <a:r>
              <a:rPr lang="zh-TW" altLang="en-US" b="1" dirty="0"/>
              <a:t>的 </a:t>
            </a:r>
            <a:r>
              <a:rPr lang="en-US" altLang="zh-TW" b="1" dirty="0"/>
              <a:t>Policy </a:t>
            </a:r>
            <a:r>
              <a:rPr lang="zh-TW" altLang="en-US" b="1" dirty="0"/>
              <a:t>網路成功學會了狀態感知（</a:t>
            </a:r>
            <a:r>
              <a:rPr lang="en-US" altLang="zh-TW" b="1" dirty="0"/>
              <a:t>State-awareness</a:t>
            </a:r>
            <a:r>
              <a:rPr lang="zh-TW" altLang="en-US" b="1" dirty="0"/>
              <a:t>）。它知道「在正確的時間，做高回報的事」，而不是「把高回報的事，做在所有的時間」。</a:t>
            </a:r>
          </a:p>
          <a:p>
            <a:r>
              <a:rPr lang="en-US" altLang="zh-TW" b="1" dirty="0"/>
              <a:t>3. </a:t>
            </a:r>
            <a:r>
              <a:rPr lang="zh-TW" altLang="en-US" b="1" dirty="0"/>
              <a:t>解釋折線圖的「權重錯覺」</a:t>
            </a:r>
          </a:p>
          <a:p>
            <a:r>
              <a:rPr lang="zh-TW" altLang="en-US" dirty="0"/>
              <a:t>你需要幫審稿人圓一個邏輯：既然 </a:t>
            </a:r>
            <a:r>
              <a:rPr lang="en-US" altLang="zh-TW" dirty="0"/>
              <a:t>EARLY </a:t>
            </a:r>
            <a:r>
              <a:rPr lang="zh-TW" altLang="en-US" dirty="0"/>
              <a:t>和 </a:t>
            </a:r>
            <a:r>
              <a:rPr lang="en-US" altLang="zh-TW" dirty="0"/>
              <a:t>LATE </a:t>
            </a:r>
            <a:r>
              <a:rPr lang="zh-TW" altLang="en-US" dirty="0"/>
              <a:t>沒有大量使用 </a:t>
            </a:r>
            <a:r>
              <a:rPr lang="en-US" altLang="zh-TW" sz="1200" kern="1200" dirty="0">
                <a:solidFill>
                  <a:schemeClr val="tx1"/>
                </a:solidFill>
                <a:latin typeface="+mn-lt"/>
                <a:ea typeface="+mn-ea"/>
                <a:cs typeface="+mn-cs"/>
              </a:rPr>
              <a:t>ACCESS_CONTROL_TRAP</a:t>
            </a:r>
            <a:r>
              <a:rPr lang="zh-TW" altLang="en-US" dirty="0"/>
              <a:t>，為什麼折線圖裡它的總體機率這麼高？</a:t>
            </a:r>
          </a:p>
          <a:p>
            <a:r>
              <a:rPr lang="zh-TW" altLang="en-US" b="1" dirty="0"/>
              <a:t>解釋策略：</a:t>
            </a:r>
            <a:r>
              <a:rPr lang="zh-TW" altLang="en-US" dirty="0"/>
              <a:t> 這通常代表在你的訓練環境（</a:t>
            </a:r>
            <a:r>
              <a:rPr lang="en-US" altLang="zh-TW" dirty="0"/>
              <a:t>Episode </a:t>
            </a:r>
            <a:r>
              <a:rPr lang="zh-TW" altLang="en-US" dirty="0"/>
              <a:t>軌跡）中，</a:t>
            </a:r>
            <a:r>
              <a:rPr lang="zh-TW" altLang="en-US" b="1" dirty="0"/>
              <a:t>模型在 </a:t>
            </a:r>
            <a:r>
              <a:rPr lang="en-US" altLang="zh-TW" b="1" dirty="0"/>
              <a:t>MID </a:t>
            </a:r>
            <a:r>
              <a:rPr lang="zh-TW" altLang="en-US" b="1" dirty="0"/>
              <a:t>階段（</a:t>
            </a:r>
            <a:r>
              <a:rPr lang="en-US" altLang="zh-TW" b="1" dirty="0"/>
              <a:t>Expansion</a:t>
            </a:r>
            <a:r>
              <a:rPr lang="zh-TW" altLang="en-US" b="1" dirty="0"/>
              <a:t>）交戰的次數或停留的 </a:t>
            </a:r>
            <a:r>
              <a:rPr lang="en-US" altLang="zh-TW" b="1" dirty="0"/>
              <a:t>Step </a:t>
            </a:r>
            <a:r>
              <a:rPr lang="zh-TW" altLang="en-US" b="1" dirty="0"/>
              <a:t>數最多</a:t>
            </a:r>
            <a:r>
              <a:rPr lang="zh-TW" altLang="en-US" dirty="0"/>
              <a:t>。折線圖是所有狀態交戰結果的「加權平均」。因為 </a:t>
            </a:r>
            <a:r>
              <a:rPr lang="en-US" altLang="zh-TW" dirty="0"/>
              <a:t>MID </a:t>
            </a:r>
            <a:r>
              <a:rPr lang="zh-TW" altLang="en-US" dirty="0"/>
              <a:t>階段佔據了主要的訓練分佈，所以 </a:t>
            </a:r>
            <a:r>
              <a:rPr lang="en-US" altLang="zh-TW" dirty="0"/>
              <a:t>MID </a:t>
            </a:r>
            <a:r>
              <a:rPr lang="zh-TW" altLang="en-US" dirty="0"/>
              <a:t>階段的主力武器（</a:t>
            </a:r>
            <a:r>
              <a:rPr lang="en-US" altLang="zh-TW" sz="1200" kern="1200" dirty="0">
                <a:solidFill>
                  <a:schemeClr val="tx1"/>
                </a:solidFill>
                <a:latin typeface="+mn-lt"/>
                <a:ea typeface="+mn-ea"/>
                <a:cs typeface="+mn-cs"/>
              </a:rPr>
              <a:t>ACCESS_CONTROL_TRAP</a:t>
            </a:r>
            <a:r>
              <a:rPr lang="zh-TW" altLang="en-US" dirty="0"/>
              <a:t>）在全局折線圖上就被拉高了。</a:t>
            </a:r>
            <a:endParaRPr lang="en-US" altLang="zh-TW" dirty="0"/>
          </a:p>
          <a:p>
            <a:endParaRPr lang="en-US" altLang="zh-TW" dirty="0"/>
          </a:p>
          <a:p>
            <a:r>
              <a:rPr lang="zh-TW" altLang="en-US" dirty="0"/>
              <a:t>我想回答什麼問題 </a:t>
            </a:r>
            <a:r>
              <a:rPr lang="en-US" altLang="zh-TW" dirty="0"/>
              <a:t>?</a:t>
            </a:r>
            <a:r>
              <a:rPr lang="zh-TW" altLang="en-US" dirty="0"/>
              <a:t> 模型確實能夠從 </a:t>
            </a:r>
            <a:r>
              <a:rPr lang="en-US" altLang="zh-TW" dirty="0"/>
              <a:t>Reward Model </a:t>
            </a:r>
            <a:r>
              <a:rPr lang="zh-TW" altLang="en-US" dirty="0"/>
              <a:t>上學習到偏好。</a:t>
            </a:r>
            <a:endParaRPr lang="en-US" altLang="zh-TW" dirty="0"/>
          </a:p>
        </p:txBody>
      </p:sp>
      <p:sp>
        <p:nvSpPr>
          <p:cNvPr id="4" name="投影片編號版面配置區 3"/>
          <p:cNvSpPr>
            <a:spLocks noGrp="1"/>
          </p:cNvSpPr>
          <p:nvPr>
            <p:ph type="sldNum" sz="quarter" idx="5"/>
          </p:nvPr>
        </p:nvSpPr>
        <p:spPr/>
        <p:txBody>
          <a:bodyPr/>
          <a:lstStyle/>
          <a:p>
            <a:fld id="{7158F2C8-1ADC-47B4-8041-A07664DB9A1F}" type="slidenum">
              <a:rPr lang="zh-TW" altLang="en-US" smtClean="0"/>
              <a:t>37</a:t>
            </a:fld>
            <a:endParaRPr lang="zh-TW" altLang="en-US"/>
          </a:p>
        </p:txBody>
      </p:sp>
    </p:spTree>
    <p:extLst>
      <p:ext uri="{BB962C8B-B14F-4D97-AF65-F5344CB8AC3E}">
        <p14:creationId xmlns:p14="http://schemas.microsoft.com/office/powerpoint/2010/main" val="16221833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7C423-4750-1E9A-AAE8-874C798A059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0A71A8A-002D-15AA-68A3-FD2C7277B3A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2B24420-8991-F87A-E101-D6607C486E87}"/>
              </a:ext>
            </a:extLst>
          </p:cNvPr>
          <p:cNvSpPr>
            <a:spLocks noGrp="1"/>
          </p:cNvSpPr>
          <p:nvPr>
            <p:ph type="body" idx="1"/>
          </p:nvPr>
        </p:nvSpPr>
        <p:spPr/>
        <p:txBody>
          <a:bodyPr/>
          <a:lstStyle/>
          <a:p>
            <a:endParaRPr lang="en-US" altLang="zh-TW" dirty="0"/>
          </a:p>
          <a:p>
            <a:endParaRPr lang="en-US" altLang="zh-TW" dirty="0"/>
          </a:p>
          <a:p>
            <a:r>
              <a:rPr lang="zh-TW" altLang="en-US" dirty="0"/>
              <a:t>為什麼 </a:t>
            </a:r>
            <a:r>
              <a:rPr lang="en-US" altLang="zh-TW" dirty="0"/>
              <a:t>GPT-5o </a:t>
            </a:r>
            <a:r>
              <a:rPr lang="zh-TW" altLang="en-US" dirty="0"/>
              <a:t>和 </a:t>
            </a:r>
            <a:r>
              <a:rPr lang="en-US" altLang="zh-TW" dirty="0"/>
              <a:t>Base Model </a:t>
            </a:r>
            <a:r>
              <a:rPr lang="zh-TW" altLang="en-US" dirty="0"/>
              <a:t>多樣性差不多 </a:t>
            </a:r>
            <a:r>
              <a:rPr lang="en-US" altLang="zh-TW" dirty="0"/>
              <a:t>?</a:t>
            </a:r>
            <a:r>
              <a:rPr lang="zh-TW" altLang="en-US" dirty="0"/>
              <a:t> </a:t>
            </a:r>
            <a:endParaRPr lang="en-US" altLang="zh-TW" dirty="0"/>
          </a:p>
          <a:p>
            <a:r>
              <a:rPr lang="zh-TW" altLang="en-US" dirty="0"/>
              <a:t>這是因為他們雖然預設策略偏好不同，但是基本上都是同一招。</a:t>
            </a:r>
            <a:endParaRPr lang="en-US" altLang="zh-TW" dirty="0"/>
          </a:p>
          <a:p>
            <a:endParaRPr lang="en-US" altLang="zh-TW" dirty="0"/>
          </a:p>
          <a:p>
            <a:r>
              <a:rPr lang="en-US" altLang="zh-TW" dirty="0"/>
              <a:t>Add intermediate results ?</a:t>
            </a:r>
          </a:p>
          <a:p>
            <a:endParaRPr lang="en-US" altLang="zh-TW" dirty="0"/>
          </a:p>
          <a:p>
            <a:r>
              <a:rPr lang="zh-TW" altLang="en-US" dirty="0"/>
              <a:t>比他好 </a:t>
            </a:r>
            <a:r>
              <a:rPr lang="en-US" altLang="zh-TW" dirty="0"/>
              <a:t>-&gt; </a:t>
            </a:r>
            <a:r>
              <a:rPr lang="zh-TW" altLang="en-US" dirty="0"/>
              <a:t>好多少 </a:t>
            </a:r>
            <a:r>
              <a:rPr lang="en-US" altLang="zh-TW" dirty="0"/>
              <a:t>-&gt; </a:t>
            </a:r>
            <a:r>
              <a:rPr lang="zh-TW" altLang="en-US" dirty="0"/>
              <a:t>貢獻在哪 </a:t>
            </a:r>
            <a:r>
              <a:rPr lang="en-US" altLang="zh-TW" dirty="0"/>
              <a:t>= insight -&gt;</a:t>
            </a:r>
            <a:r>
              <a:rPr lang="zh-TW" altLang="en-US" dirty="0"/>
              <a:t> </a:t>
            </a:r>
            <a:r>
              <a:rPr lang="en-US" altLang="zh-TW" dirty="0"/>
              <a:t>GPT-5o -&gt; </a:t>
            </a:r>
          </a:p>
        </p:txBody>
      </p:sp>
      <p:sp>
        <p:nvSpPr>
          <p:cNvPr id="4" name="投影片編號版面配置區 3">
            <a:extLst>
              <a:ext uri="{FF2B5EF4-FFF2-40B4-BE49-F238E27FC236}">
                <a16:creationId xmlns:a16="http://schemas.microsoft.com/office/drawing/2014/main" id="{4F4D28E7-A183-C92D-4A54-04BAD893EA5C}"/>
              </a:ext>
            </a:extLst>
          </p:cNvPr>
          <p:cNvSpPr>
            <a:spLocks noGrp="1"/>
          </p:cNvSpPr>
          <p:nvPr>
            <p:ph type="sldNum" sz="quarter" idx="5"/>
          </p:nvPr>
        </p:nvSpPr>
        <p:spPr/>
        <p:txBody>
          <a:bodyPr/>
          <a:lstStyle/>
          <a:p>
            <a:fld id="{7158F2C8-1ADC-47B4-8041-A07664DB9A1F}" type="slidenum">
              <a:rPr lang="zh-TW" altLang="en-US" smtClean="0"/>
              <a:t>39</a:t>
            </a:fld>
            <a:endParaRPr lang="zh-TW" altLang="en-US"/>
          </a:p>
        </p:txBody>
      </p:sp>
    </p:spTree>
    <p:extLst>
      <p:ext uri="{BB962C8B-B14F-4D97-AF65-F5344CB8AC3E}">
        <p14:creationId xmlns:p14="http://schemas.microsoft.com/office/powerpoint/2010/main" val="30696701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171307534_0_52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37171307534_0_525: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7171307534_0_53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g37171307534_0_530: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7171307534_0_53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3" name="Google Shape;353;g37171307534_0_535: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7171307534_0_54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g37171307534_0_545: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778c79e608_0_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g3778c79e608_0_6: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8e7372da40_0_1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1" name="Google Shape;381;g38e7372da40_0_12: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75bde8a011_0_2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75bde8a011_0_27: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785c9c316b_0_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g3785c9c316b_0_10: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r>
              <a:rPr lang="en-US" altLang="zh-TW" dirty="0">
                <a:solidFill>
                  <a:schemeClr val="dk1"/>
                </a:solidFill>
              </a:rPr>
              <a:t>Profiling Similarity </a:t>
            </a:r>
            <a:r>
              <a:rPr lang="zh-TW" altLang="en-US" dirty="0">
                <a:solidFill>
                  <a:schemeClr val="dk1"/>
                </a:solidFill>
              </a:rPr>
              <a:t>剛好可以拿來訓練這個東西，如果 </a:t>
            </a:r>
            <a:r>
              <a:rPr lang="en-US" altLang="zh-TW" dirty="0">
                <a:solidFill>
                  <a:schemeClr val="dk1"/>
                </a:solidFill>
              </a:rPr>
              <a:t>Attacker </a:t>
            </a:r>
            <a:r>
              <a:rPr lang="zh-TW" altLang="en-US" dirty="0">
                <a:solidFill>
                  <a:schemeClr val="dk1"/>
                </a:solidFill>
              </a:rPr>
              <a:t>使用出了 </a:t>
            </a:r>
            <a:r>
              <a:rPr lang="en-US" altLang="zh-TW" dirty="0">
                <a:solidFill>
                  <a:schemeClr val="dk1"/>
                </a:solidFill>
              </a:rPr>
              <a:t>technique</a:t>
            </a:r>
            <a:r>
              <a:rPr lang="zh-TW" altLang="en-US" dirty="0">
                <a:solidFill>
                  <a:schemeClr val="dk1"/>
                </a:solidFill>
              </a:rPr>
              <a:t>，但 </a:t>
            </a:r>
            <a:r>
              <a:rPr lang="en-US" altLang="zh-TW" dirty="0">
                <a:solidFill>
                  <a:schemeClr val="dk1"/>
                </a:solidFill>
              </a:rPr>
              <a:t>LLM </a:t>
            </a:r>
            <a:r>
              <a:rPr lang="zh-TW" altLang="en-US" dirty="0">
                <a:solidFill>
                  <a:schemeClr val="dk1"/>
                </a:solidFill>
              </a:rPr>
              <a:t>判斷不出來，則需給予懲罰。</a:t>
            </a:r>
            <a:endParaRPr dirty="0">
              <a:solidFill>
                <a:schemeClr val="dk1"/>
              </a:solidFill>
            </a:endParaRPr>
          </a:p>
        </p:txBody>
      </p:sp>
    </p:spTree>
    <p:extLst>
      <p:ext uri="{BB962C8B-B14F-4D97-AF65-F5344CB8AC3E}">
        <p14:creationId xmlns:p14="http://schemas.microsoft.com/office/powerpoint/2010/main" val="15106659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733dc78bf5_0_5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g3733dc78bf5_0_57: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r>
              <a:rPr lang="zh-TW" altLang="en-US" dirty="0">
                <a:solidFill>
                  <a:schemeClr val="dk1"/>
                </a:solidFill>
              </a:rPr>
              <a:t>防守者需要注入系統的工具：</a:t>
            </a:r>
            <a:r>
              <a:rPr lang="en-US" altLang="zh-TW" dirty="0">
                <a:solidFill>
                  <a:schemeClr val="dk1"/>
                </a:solidFill>
              </a:rPr>
              <a:t>Injector</a:t>
            </a:r>
            <a:r>
              <a:rPr lang="zh-TW" altLang="en-US" dirty="0">
                <a:solidFill>
                  <a:schemeClr val="dk1"/>
                </a:solidFill>
              </a:rPr>
              <a:t>，寫 </a:t>
            </a:r>
            <a:r>
              <a:rPr lang="en-US" altLang="zh-TW" dirty="0">
                <a:solidFill>
                  <a:schemeClr val="dk1"/>
                </a:solidFill>
              </a:rPr>
              <a:t>file </a:t>
            </a:r>
            <a:r>
              <a:rPr lang="zh-TW" altLang="en-US" dirty="0">
                <a:solidFill>
                  <a:schemeClr val="dk1"/>
                </a:solidFill>
              </a:rPr>
              <a:t>即可。</a:t>
            </a:r>
            <a:endParaRPr dirty="0">
              <a:solidFill>
                <a:schemeClr val="dk1"/>
              </a:solidFill>
            </a:endParaRPr>
          </a:p>
        </p:txBody>
      </p:sp>
    </p:spTree>
    <p:extLst>
      <p:ext uri="{BB962C8B-B14F-4D97-AF65-F5344CB8AC3E}">
        <p14:creationId xmlns:p14="http://schemas.microsoft.com/office/powerpoint/2010/main" val="37303434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733dc78bf5_0_9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0" name="Google Shape;480;g3733dc78bf5_0_90: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extLst>
      <p:ext uri="{BB962C8B-B14F-4D97-AF65-F5344CB8AC3E}">
        <p14:creationId xmlns:p14="http://schemas.microsoft.com/office/powerpoint/2010/main" val="26431560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75bde8a011_0_35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6" name="Google Shape;436;g375bde8a011_0_352: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extLst>
      <p:ext uri="{BB962C8B-B14F-4D97-AF65-F5344CB8AC3E}">
        <p14:creationId xmlns:p14="http://schemas.microsoft.com/office/powerpoint/2010/main" val="31685673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733dc78bf5_0_12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0" name="Google Shape;470;g3733dc78bf5_0_126: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extLst>
      <p:ext uri="{BB962C8B-B14F-4D97-AF65-F5344CB8AC3E}">
        <p14:creationId xmlns:p14="http://schemas.microsoft.com/office/powerpoint/2010/main" val="19803416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8e8b13ba39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38e8b13ba39_0_0:notes"/>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endParaRPr dirty="0">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0ACF328A-DB96-68AA-AFA0-BA517CF2CAD6}"/>
            </a:ext>
          </a:extLst>
        </p:cNvPr>
        <p:cNvGrpSpPr/>
        <p:nvPr/>
      </p:nvGrpSpPr>
      <p:grpSpPr>
        <a:xfrm>
          <a:off x="0" y="0"/>
          <a:ext cx="0" cy="0"/>
          <a:chOff x="0" y="0"/>
          <a:chExt cx="0" cy="0"/>
        </a:xfrm>
      </p:grpSpPr>
      <p:sp>
        <p:nvSpPr>
          <p:cNvPr id="243" name="Google Shape;243;g3830d6c6f52_0_231:notes">
            <a:extLst>
              <a:ext uri="{FF2B5EF4-FFF2-40B4-BE49-F238E27FC236}">
                <a16:creationId xmlns:a16="http://schemas.microsoft.com/office/drawing/2014/main" id="{55F74918-0BAA-A36A-67C6-3D18ADEDD22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3830d6c6f52_0_231:notes">
            <a:extLst>
              <a:ext uri="{FF2B5EF4-FFF2-40B4-BE49-F238E27FC236}">
                <a16:creationId xmlns:a16="http://schemas.microsoft.com/office/drawing/2014/main" id="{9252366F-7C10-2FCC-D483-7EA1B58B76F5}"/>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r>
              <a:rPr lang="en-US" altLang="zh-TW" dirty="0">
                <a:solidFill>
                  <a:schemeClr val="dk1"/>
                </a:solidFill>
              </a:rPr>
              <a:t>LLM</a:t>
            </a:r>
            <a:r>
              <a:rPr lang="zh-TW" altLang="en-US" dirty="0">
                <a:solidFill>
                  <a:schemeClr val="dk1"/>
                </a:solidFill>
              </a:rPr>
              <a:t> 和 </a:t>
            </a:r>
            <a:r>
              <a:rPr lang="en-US" altLang="zh-TW" dirty="0">
                <a:solidFill>
                  <a:schemeClr val="dk1"/>
                </a:solidFill>
              </a:rPr>
              <a:t>RL</a:t>
            </a:r>
            <a:r>
              <a:rPr lang="zh-TW" altLang="en-US" dirty="0">
                <a:solidFill>
                  <a:schemeClr val="dk1"/>
                </a:solidFill>
              </a:rPr>
              <a:t> 循序的問題、一般是兩種、整合並同時解決，他是必要的，因為做這個事情需要在哪裡考慮這個事情。</a:t>
            </a:r>
            <a:endParaRPr lang="en-US" altLang="zh-TW" dirty="0">
              <a:solidFill>
                <a:schemeClr val="dk1"/>
              </a:solidFill>
            </a:endParaRPr>
          </a:p>
          <a:p>
            <a:pPr>
              <a:buSzPts val="1100"/>
            </a:pPr>
            <a:endParaRPr lang="en-US" altLang="zh-TW" dirty="0">
              <a:solidFill>
                <a:schemeClr val="dk1"/>
              </a:solidFill>
            </a:endParaRPr>
          </a:p>
          <a:p>
            <a:pPr>
              <a:buSzPts val="1100"/>
            </a:pPr>
            <a:r>
              <a:rPr lang="zh-TW" altLang="en-US" dirty="0">
                <a:solidFill>
                  <a:schemeClr val="dk1"/>
                </a:solidFill>
              </a:rPr>
              <a:t>準備一或多個 </a:t>
            </a:r>
            <a:r>
              <a:rPr lang="en-US" altLang="zh-TW" dirty="0">
                <a:solidFill>
                  <a:schemeClr val="dk1"/>
                </a:solidFill>
              </a:rPr>
              <a:t>solution </a:t>
            </a:r>
            <a:r>
              <a:rPr lang="zh-TW" altLang="en-US" dirty="0">
                <a:solidFill>
                  <a:schemeClr val="dk1"/>
                </a:solidFill>
              </a:rPr>
              <a:t>並選擇最合適的那個，意圖</a:t>
            </a:r>
            <a:r>
              <a:rPr lang="en-US" altLang="zh-TW" dirty="0">
                <a:solidFill>
                  <a:schemeClr val="dk1"/>
                </a:solidFill>
              </a:rPr>
              <a:t>=Profile</a:t>
            </a:r>
            <a:r>
              <a:rPr lang="zh-TW" altLang="en-US" dirty="0">
                <a:solidFill>
                  <a:schemeClr val="dk1"/>
                </a:solidFill>
              </a:rPr>
              <a:t>。</a:t>
            </a:r>
            <a:endParaRPr lang="en-US" altLang="zh-TW" dirty="0">
              <a:solidFill>
                <a:schemeClr val="dk1"/>
              </a:solidFill>
            </a:endParaRPr>
          </a:p>
        </p:txBody>
      </p:sp>
    </p:spTree>
    <p:extLst>
      <p:ext uri="{BB962C8B-B14F-4D97-AF65-F5344CB8AC3E}">
        <p14:creationId xmlns:p14="http://schemas.microsoft.com/office/powerpoint/2010/main" val="15749121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2400" dirty="0">
                <a:latin typeface="Times New Roman" panose="02020603050405020304" pitchFamily="18" charset="0"/>
                <a:cs typeface="Times New Roman" panose="02020603050405020304" pitchFamily="18" charset="0"/>
              </a:rPr>
              <a:t>PARTIAL_FAIL - </a:t>
            </a:r>
            <a:r>
              <a:rPr lang="en-US" altLang="zh-TW" sz="2000" dirty="0">
                <a:latin typeface="Times New Roman" panose="02020603050405020304" pitchFamily="18" charset="0"/>
                <a:cs typeface="Times New Roman" panose="02020603050405020304" pitchFamily="18" charset="0"/>
              </a:rPr>
              <a:t>Introduces technical friction to consume adversary resources, disrupt automated scripts, and force tool switching.</a:t>
            </a:r>
          </a:p>
          <a:p>
            <a:pPr lvl="1"/>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ARTIFACT_TRAIL - </a:t>
            </a:r>
            <a:r>
              <a:rPr lang="en-US" altLang="zh-TW" sz="2000" dirty="0">
                <a:latin typeface="Times New Roman" panose="02020603050405020304" pitchFamily="18" charset="0"/>
                <a:cs typeface="Times New Roman" panose="02020603050405020304" pitchFamily="18" charset="0"/>
              </a:rPr>
              <a:t>Deploys simulated system traces to pollute the adversary's situational awareness and explicitly expose </a:t>
            </a:r>
            <a:r>
              <a:rPr lang="en-US" altLang="zh-TW" sz="2000" i="1" dirty="0">
                <a:latin typeface="Times New Roman" panose="02020603050405020304" pitchFamily="18" charset="0"/>
                <a:cs typeface="Times New Roman" panose="02020603050405020304" pitchFamily="18" charset="0"/>
              </a:rPr>
              <a:t>Discovery</a:t>
            </a:r>
            <a:r>
              <a:rPr lang="en-US" altLang="zh-TW" sz="2000" dirty="0">
                <a:latin typeface="Times New Roman" panose="02020603050405020304" pitchFamily="18" charset="0"/>
                <a:cs typeface="Times New Roman" panose="02020603050405020304" pitchFamily="18" charset="0"/>
              </a:rPr>
              <a:t> activities.</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INERT_ADMIN_SERFACE - </a:t>
            </a:r>
            <a:r>
              <a:rPr lang="en-US" altLang="zh-TW" sz="2000" dirty="0">
                <a:latin typeface="Times New Roman" panose="02020603050405020304" pitchFamily="18" charset="0"/>
                <a:cs typeface="Times New Roman" panose="02020603050405020304" pitchFamily="18" charset="0"/>
              </a:rPr>
              <a:t>Projects legitimate-looking operational endpoints to divert malicious attention away from genuine production assets.</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CREDENTIAL_BREADCRUMBS - </a:t>
            </a:r>
            <a:r>
              <a:rPr lang="en-US" altLang="zh-TW" sz="2000" dirty="0">
                <a:latin typeface="Times New Roman" panose="02020603050405020304" pitchFamily="18" charset="0"/>
                <a:cs typeface="Times New Roman" panose="02020603050405020304" pitchFamily="18" charset="0"/>
              </a:rPr>
              <a:t>Plants functional bait to safely induce, monitor, and track the adversary's </a:t>
            </a:r>
            <a:r>
              <a:rPr lang="en-US" altLang="zh-TW" sz="2000" i="1" dirty="0">
                <a:latin typeface="Times New Roman" panose="02020603050405020304" pitchFamily="18" charset="0"/>
                <a:cs typeface="Times New Roman" panose="02020603050405020304" pitchFamily="18" charset="0"/>
              </a:rPr>
              <a:t>Lateral Movement</a:t>
            </a:r>
            <a:r>
              <a:rPr lang="en-US" altLang="zh-TW" sz="2000" dirty="0">
                <a:latin typeface="Times New Roman" panose="02020603050405020304" pitchFamily="18" charset="0"/>
                <a:cs typeface="Times New Roman" panose="02020603050405020304" pitchFamily="18" charset="0"/>
              </a:rPr>
              <a:t> trajectory.</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ACCESS_CONTROL_TRAP - </a:t>
            </a:r>
            <a:r>
              <a:rPr lang="en-US" altLang="zh-TW" sz="2000" dirty="0">
                <a:latin typeface="Times New Roman" panose="02020603050405020304" pitchFamily="18" charset="0"/>
                <a:cs typeface="Times New Roman" panose="02020603050405020304" pitchFamily="18" charset="0"/>
              </a:rPr>
              <a:t>Fabricates operational misconfigurations specifically designed to draw out advanced </a:t>
            </a:r>
            <a:r>
              <a:rPr lang="en-US" altLang="zh-TW" sz="2000" i="1" dirty="0">
                <a:latin typeface="Times New Roman" panose="02020603050405020304" pitchFamily="18" charset="0"/>
                <a:cs typeface="Times New Roman" panose="02020603050405020304" pitchFamily="18" charset="0"/>
              </a:rPr>
              <a:t>Privilege Escalation</a:t>
            </a:r>
            <a:r>
              <a:rPr lang="en-US" altLang="zh-TW" sz="2000" dirty="0">
                <a:latin typeface="Times New Roman" panose="02020603050405020304" pitchFamily="18" charset="0"/>
                <a:cs typeface="Times New Roman" panose="02020603050405020304" pitchFamily="18" charset="0"/>
              </a:rPr>
              <a:t> TTPs</a:t>
            </a:r>
          </a:p>
          <a:p>
            <a:endParaRPr lang="zh-TW" altLang="en-US" dirty="0"/>
          </a:p>
        </p:txBody>
      </p:sp>
      <p:sp>
        <p:nvSpPr>
          <p:cNvPr id="4" name="投影片編號版面配置區 3"/>
          <p:cNvSpPr>
            <a:spLocks noGrp="1"/>
          </p:cNvSpPr>
          <p:nvPr>
            <p:ph type="sldNum" sz="quarter" idx="5"/>
          </p:nvPr>
        </p:nvSpPr>
        <p:spPr/>
        <p:txBody>
          <a:bodyPr/>
          <a:lstStyle/>
          <a:p>
            <a:fld id="{7158F2C8-1ADC-47B4-8041-A07664DB9A1F}" type="slidenum">
              <a:rPr lang="zh-TW" altLang="en-US" smtClean="0"/>
              <a:t>58</a:t>
            </a:fld>
            <a:endParaRPr lang="zh-TW" altLang="en-US"/>
          </a:p>
        </p:txBody>
      </p:sp>
    </p:spTree>
    <p:extLst>
      <p:ext uri="{BB962C8B-B14F-4D97-AF65-F5344CB8AC3E}">
        <p14:creationId xmlns:p14="http://schemas.microsoft.com/office/powerpoint/2010/main" val="14636376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DCECC-7E59-2F72-C261-5FE1F1BB974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9FCACCB-998D-B256-62AD-08143C1C299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2CD5F1C-291D-01A0-3D75-FA5D5FD42816}"/>
              </a:ext>
            </a:extLst>
          </p:cNvPr>
          <p:cNvSpPr>
            <a:spLocks noGrp="1"/>
          </p:cNvSpPr>
          <p:nvPr>
            <p:ph type="body" idx="1"/>
          </p:nvPr>
        </p:nvSpPr>
        <p:spPr/>
        <p:txBody>
          <a:bodyPr/>
          <a:lstStyle/>
          <a:p>
            <a:r>
              <a:rPr lang="en-US" altLang="zh-TW" b="1" dirty="0"/>
              <a:t>1. Reconnaissance Scanner</a:t>
            </a:r>
          </a:p>
          <a:p>
            <a:r>
              <a:rPr lang="zh-TW" altLang="en-US" dirty="0"/>
              <a:t>（</a:t>
            </a:r>
            <a:r>
              <a:rPr lang="en-US" altLang="zh-TW" dirty="0"/>
              <a:t>ATT&amp;CK</a:t>
            </a:r>
            <a:r>
              <a:rPr lang="zh-TW" altLang="en-US" dirty="0"/>
              <a:t>：</a:t>
            </a:r>
            <a:r>
              <a:rPr lang="en-US" altLang="zh-TW" dirty="0"/>
              <a:t>TA0043 → Active Scanning, T1595/T1046</a:t>
            </a:r>
            <a:r>
              <a:rPr lang="zh-TW" altLang="en-US" dirty="0"/>
              <a:t>）</a:t>
            </a:r>
          </a:p>
          <a:p>
            <a:r>
              <a:rPr lang="zh-TW" altLang="en-US" b="1" dirty="0"/>
              <a:t>特徵：</a:t>
            </a:r>
            <a:endParaRPr lang="zh-TW" altLang="en-US" dirty="0"/>
          </a:p>
          <a:p>
            <a:r>
              <a:rPr lang="zh-TW" altLang="en-US" dirty="0"/>
              <a:t>大量 </a:t>
            </a:r>
            <a:r>
              <a:rPr lang="en-US" altLang="zh-TW" dirty="0"/>
              <a:t>probe, </a:t>
            </a:r>
            <a:r>
              <a:rPr lang="en-US" altLang="zh-TW" dirty="0" err="1"/>
              <a:t>nmap</a:t>
            </a:r>
            <a:r>
              <a:rPr lang="en-US" altLang="zh-TW" dirty="0"/>
              <a:t>, </a:t>
            </a:r>
            <a:r>
              <a:rPr lang="en-US" altLang="zh-TW" dirty="0" err="1"/>
              <a:t>masscan</a:t>
            </a:r>
            <a:r>
              <a:rPr lang="en-US" altLang="zh-TW" dirty="0"/>
              <a:t>, banner-grab</a:t>
            </a:r>
          </a:p>
          <a:p>
            <a:r>
              <a:rPr lang="zh-TW" altLang="en-US" dirty="0"/>
              <a:t>尋找可利用服務</a:t>
            </a:r>
          </a:p>
          <a:p>
            <a:r>
              <a:rPr lang="zh-TW" altLang="en-US" dirty="0"/>
              <a:t>指令短、密度高、缺乏後續動作</a:t>
            </a:r>
          </a:p>
          <a:p>
            <a:r>
              <a:rPr lang="zh-TW" altLang="en-US" dirty="0"/>
              <a:t>多半是 </a:t>
            </a:r>
            <a:r>
              <a:rPr lang="en-US" altLang="zh-TW" dirty="0"/>
              <a:t>bot</a:t>
            </a:r>
            <a:r>
              <a:rPr lang="zh-TW" altLang="en-US" dirty="0"/>
              <a:t>、</a:t>
            </a:r>
            <a:r>
              <a:rPr lang="en-US" altLang="zh-TW" dirty="0"/>
              <a:t>worm</a:t>
            </a:r>
            <a:r>
              <a:rPr lang="zh-TW" altLang="en-US" dirty="0"/>
              <a:t>、初階腳本</a:t>
            </a:r>
          </a:p>
          <a:p>
            <a:r>
              <a:rPr lang="zh-TW" altLang="en-US" b="1" dirty="0"/>
              <a:t>你可以的策略：</a:t>
            </a:r>
            <a:endParaRPr lang="zh-TW" altLang="en-US" dirty="0"/>
          </a:p>
          <a:p>
            <a:r>
              <a:rPr lang="zh-TW" altLang="en-US" dirty="0"/>
              <a:t>淺層誘餌（錯誤版號、脆弱 </a:t>
            </a:r>
            <a:r>
              <a:rPr lang="en-US" altLang="zh-TW" dirty="0"/>
              <a:t>banner</a:t>
            </a:r>
            <a:r>
              <a:rPr lang="zh-TW" altLang="en-US" dirty="0"/>
              <a:t>）</a:t>
            </a:r>
          </a:p>
          <a:p>
            <a:r>
              <a:rPr lang="zh-TW" altLang="en-US" dirty="0"/>
              <a:t>提供“看起來可利用”的假弱點</a:t>
            </a:r>
          </a:p>
          <a:p>
            <a:r>
              <a:rPr lang="zh-TW" altLang="en-US" dirty="0"/>
              <a:t>不需要建完整 </a:t>
            </a:r>
            <a:r>
              <a:rPr lang="en-US" altLang="zh-TW" dirty="0"/>
              <a:t>fake system</a:t>
            </a:r>
          </a:p>
          <a:p>
            <a:br>
              <a:rPr lang="en-US" altLang="zh-TW" dirty="0"/>
            </a:br>
            <a:endParaRPr lang="en-US" altLang="zh-TW" dirty="0"/>
          </a:p>
          <a:p>
            <a:r>
              <a:rPr lang="en-US" altLang="zh-TW" b="1" dirty="0"/>
              <a:t>2. Initial Access / Exploit Attempt</a:t>
            </a:r>
          </a:p>
          <a:p>
            <a:r>
              <a:rPr lang="zh-TW" altLang="en-US" dirty="0"/>
              <a:t>（</a:t>
            </a:r>
            <a:r>
              <a:rPr lang="en-US" altLang="zh-TW" dirty="0"/>
              <a:t>ATT&amp;CK</a:t>
            </a:r>
            <a:r>
              <a:rPr lang="zh-TW" altLang="en-US" dirty="0"/>
              <a:t>：</a:t>
            </a:r>
            <a:r>
              <a:rPr lang="en-US" altLang="zh-TW" dirty="0"/>
              <a:t>TA0001/T1190</a:t>
            </a:r>
            <a:r>
              <a:rPr lang="zh-TW" altLang="en-US" dirty="0"/>
              <a:t>）</a:t>
            </a:r>
          </a:p>
          <a:p>
            <a:r>
              <a:rPr lang="zh-TW" altLang="en-US" b="1" dirty="0"/>
              <a:t>特徵：</a:t>
            </a:r>
            <a:endParaRPr lang="zh-TW" altLang="en-US" dirty="0"/>
          </a:p>
          <a:p>
            <a:r>
              <a:rPr lang="zh-TW" altLang="en-US" dirty="0"/>
              <a:t>對特定服務大量嘗試 </a:t>
            </a:r>
            <a:r>
              <a:rPr lang="en-US" altLang="zh-TW" dirty="0"/>
              <a:t>exploit</a:t>
            </a:r>
          </a:p>
          <a:p>
            <a:r>
              <a:rPr lang="zh-TW" altLang="en-US" dirty="0"/>
              <a:t>常出現公開漏洞 </a:t>
            </a:r>
            <a:r>
              <a:rPr lang="en-US" altLang="zh-TW" dirty="0"/>
              <a:t>payload</a:t>
            </a:r>
          </a:p>
          <a:p>
            <a:r>
              <a:rPr lang="zh-TW" altLang="en-US" dirty="0"/>
              <a:t>很少 </a:t>
            </a:r>
            <a:r>
              <a:rPr lang="en-US" altLang="zh-TW" dirty="0"/>
              <a:t>lateral movement</a:t>
            </a:r>
          </a:p>
          <a:p>
            <a:r>
              <a:rPr lang="zh-TW" altLang="en-US" b="1" dirty="0"/>
              <a:t>你可以的策略：</a:t>
            </a:r>
            <a:endParaRPr lang="zh-TW" altLang="en-US" dirty="0"/>
          </a:p>
          <a:p>
            <a:r>
              <a:rPr lang="zh-TW" altLang="en-US" dirty="0"/>
              <a:t>對 </a:t>
            </a:r>
            <a:r>
              <a:rPr lang="en-US" altLang="zh-TW" dirty="0"/>
              <a:t>exploit </a:t>
            </a:r>
            <a:r>
              <a:rPr lang="zh-TW" altLang="en-US" dirty="0"/>
              <a:t>返回 </a:t>
            </a:r>
            <a:r>
              <a:rPr lang="zh-TW" altLang="en-US" i="1" dirty="0"/>
              <a:t>部分成功</a:t>
            </a:r>
            <a:r>
              <a:rPr lang="zh-TW" altLang="en-US" dirty="0"/>
              <a:t> 信號</a:t>
            </a:r>
          </a:p>
          <a:p>
            <a:r>
              <a:rPr lang="zh-TW" altLang="en-US" dirty="0"/>
              <a:t>帶入 </a:t>
            </a:r>
            <a:r>
              <a:rPr lang="en-US" altLang="zh-TW" dirty="0"/>
              <a:t>fake web shell / fake foothold</a:t>
            </a:r>
          </a:p>
          <a:p>
            <a:r>
              <a:rPr lang="zh-TW" altLang="en-US" dirty="0"/>
              <a:t>引導進更深的 </a:t>
            </a:r>
            <a:r>
              <a:rPr lang="en-US" altLang="zh-TW" dirty="0"/>
              <a:t>deception environment</a:t>
            </a:r>
          </a:p>
          <a:p>
            <a:br>
              <a:rPr lang="en-US" altLang="zh-TW" dirty="0"/>
            </a:br>
            <a:endParaRPr lang="en-US" altLang="zh-TW" dirty="0"/>
          </a:p>
          <a:p>
            <a:r>
              <a:rPr lang="en-US" altLang="zh-TW" b="1" dirty="0"/>
              <a:t>3. Foothold / Execution-Oriented Attacker</a:t>
            </a:r>
          </a:p>
          <a:p>
            <a:r>
              <a:rPr lang="zh-TW" altLang="en-US" dirty="0"/>
              <a:t>（</a:t>
            </a:r>
            <a:r>
              <a:rPr lang="en-US" altLang="zh-TW" dirty="0"/>
              <a:t>ATT&amp;CK</a:t>
            </a:r>
            <a:r>
              <a:rPr lang="zh-TW" altLang="en-US" dirty="0"/>
              <a:t>：</a:t>
            </a:r>
            <a:r>
              <a:rPr lang="en-US" altLang="zh-TW" dirty="0"/>
              <a:t>TA0002/TA0003 → T1059, T1106</a:t>
            </a:r>
            <a:r>
              <a:rPr lang="zh-TW" altLang="en-US" dirty="0"/>
              <a:t>）</a:t>
            </a:r>
          </a:p>
          <a:p>
            <a:r>
              <a:rPr lang="zh-TW" altLang="en-US" b="1" dirty="0"/>
              <a:t>特徵：</a:t>
            </a:r>
            <a:endParaRPr lang="zh-TW" altLang="en-US" dirty="0"/>
          </a:p>
          <a:p>
            <a:r>
              <a:rPr lang="zh-TW" altLang="en-US" dirty="0"/>
              <a:t>已經進到系統：</a:t>
            </a:r>
          </a:p>
          <a:p>
            <a:pPr lvl="1"/>
            <a:r>
              <a:rPr lang="en-US" altLang="zh-TW" dirty="0"/>
              <a:t>exec /bin/</a:t>
            </a:r>
            <a:r>
              <a:rPr lang="en-US" altLang="zh-TW" dirty="0" err="1"/>
              <a:t>sh</a:t>
            </a:r>
            <a:endParaRPr lang="en-US" altLang="zh-TW" dirty="0"/>
          </a:p>
          <a:p>
            <a:pPr lvl="1"/>
            <a:r>
              <a:rPr lang="en-US" altLang="zh-TW" dirty="0"/>
              <a:t>dropper</a:t>
            </a:r>
          </a:p>
          <a:p>
            <a:pPr lvl="1"/>
            <a:r>
              <a:rPr lang="en-US" altLang="zh-TW" dirty="0"/>
              <a:t>download &amp; run</a:t>
            </a:r>
          </a:p>
          <a:p>
            <a:pPr lvl="1"/>
            <a:r>
              <a:rPr lang="en-US" altLang="zh-TW" dirty="0"/>
              <a:t>persistence </a:t>
            </a:r>
            <a:r>
              <a:rPr lang="zh-TW" altLang="en-US" dirty="0"/>
              <a:t>嘗試很少</a:t>
            </a:r>
          </a:p>
          <a:p>
            <a:r>
              <a:rPr lang="zh-TW" altLang="en-US" b="1" dirty="0"/>
              <a:t>你可以的策略：</a:t>
            </a:r>
            <a:endParaRPr lang="zh-TW" altLang="en-US" dirty="0"/>
          </a:p>
          <a:p>
            <a:r>
              <a:rPr lang="zh-TW" altLang="en-US" dirty="0"/>
              <a:t>提供假文件系統與 </a:t>
            </a:r>
            <a:r>
              <a:rPr lang="en-US" altLang="zh-TW" dirty="0"/>
              <a:t>fake internal signals</a:t>
            </a:r>
          </a:p>
          <a:p>
            <a:r>
              <a:rPr lang="zh-TW" altLang="en-US" dirty="0"/>
              <a:t>適度延遲 </a:t>
            </a:r>
            <a:r>
              <a:rPr lang="en-US" altLang="zh-TW" dirty="0"/>
              <a:t>exec → </a:t>
            </a:r>
            <a:r>
              <a:rPr lang="zh-TW" altLang="en-US" dirty="0"/>
              <a:t>增加 </a:t>
            </a:r>
            <a:r>
              <a:rPr lang="en-US" altLang="zh-TW" dirty="0"/>
              <a:t>session </a:t>
            </a:r>
            <a:r>
              <a:rPr lang="zh-TW" altLang="en-US" dirty="0"/>
              <a:t>時間</a:t>
            </a:r>
          </a:p>
          <a:p>
            <a:r>
              <a:rPr lang="zh-TW" altLang="en-US" dirty="0"/>
              <a:t>不要過早開 </a:t>
            </a:r>
            <a:r>
              <a:rPr lang="en-US" altLang="zh-TW" dirty="0"/>
              <a:t>lateral </a:t>
            </a:r>
            <a:r>
              <a:rPr lang="zh-TW" altLang="en-US" dirty="0"/>
              <a:t>路徑</a:t>
            </a:r>
          </a:p>
          <a:p>
            <a:br>
              <a:rPr lang="zh-TW" altLang="en-US" dirty="0"/>
            </a:br>
            <a:endParaRPr lang="zh-TW" altLang="en-US" dirty="0"/>
          </a:p>
          <a:p>
            <a:r>
              <a:rPr lang="en-US" altLang="zh-TW" b="1" dirty="0"/>
              <a:t>4. Privilege Escalation / Credential </a:t>
            </a:r>
            <a:r>
              <a:rPr lang="en-US" altLang="zh-TW" b="1" dirty="0" err="1"/>
              <a:t>Accesser</a:t>
            </a:r>
            <a:endParaRPr lang="en-US" altLang="zh-TW" b="1" dirty="0"/>
          </a:p>
          <a:p>
            <a:r>
              <a:rPr lang="zh-TW" altLang="en-US" dirty="0"/>
              <a:t>（</a:t>
            </a:r>
            <a:r>
              <a:rPr lang="en-US" altLang="zh-TW" dirty="0"/>
              <a:t>ATT&amp;CK</a:t>
            </a:r>
            <a:r>
              <a:rPr lang="zh-TW" altLang="en-US" dirty="0"/>
              <a:t>：</a:t>
            </a:r>
            <a:r>
              <a:rPr lang="en-US" altLang="zh-TW" dirty="0"/>
              <a:t>TA0004/TA0006 → T1134, T1003</a:t>
            </a:r>
            <a:r>
              <a:rPr lang="zh-TW" altLang="en-US" dirty="0"/>
              <a:t>）</a:t>
            </a:r>
          </a:p>
          <a:p>
            <a:r>
              <a:rPr lang="zh-TW" altLang="en-US" b="1" dirty="0"/>
              <a:t>特徵：</a:t>
            </a:r>
            <a:endParaRPr lang="zh-TW" altLang="en-US" dirty="0"/>
          </a:p>
          <a:p>
            <a:r>
              <a:rPr lang="en-US" altLang="zh-TW" dirty="0" err="1"/>
              <a:t>sudo</a:t>
            </a:r>
            <a:r>
              <a:rPr lang="en-US" altLang="zh-TW" dirty="0"/>
              <a:t> / </a:t>
            </a:r>
            <a:r>
              <a:rPr lang="en-US" altLang="zh-TW" dirty="0" err="1"/>
              <a:t>su</a:t>
            </a:r>
            <a:r>
              <a:rPr lang="en-US" altLang="zh-TW" dirty="0"/>
              <a:t> / cap sets</a:t>
            </a:r>
          </a:p>
          <a:p>
            <a:r>
              <a:rPr lang="zh-TW" altLang="en-US" dirty="0"/>
              <a:t>調查 </a:t>
            </a:r>
            <a:r>
              <a:rPr lang="en-US" altLang="zh-TW" dirty="0"/>
              <a:t>/</a:t>
            </a:r>
            <a:r>
              <a:rPr lang="en-US" altLang="zh-TW" dirty="0" err="1"/>
              <a:t>etc</a:t>
            </a:r>
            <a:r>
              <a:rPr lang="en-US" altLang="zh-TW" dirty="0"/>
              <a:t>/passwd, shadow</a:t>
            </a:r>
          </a:p>
          <a:p>
            <a:r>
              <a:rPr lang="en-US" altLang="zh-TW" dirty="0"/>
              <a:t>dump cred</a:t>
            </a:r>
          </a:p>
          <a:p>
            <a:r>
              <a:rPr lang="zh-TW" altLang="en-US" dirty="0"/>
              <a:t>尋找提權 </a:t>
            </a:r>
            <a:r>
              <a:rPr lang="en-US" altLang="zh-TW" dirty="0"/>
              <a:t>exploit</a:t>
            </a:r>
          </a:p>
          <a:p>
            <a:r>
              <a:rPr lang="zh-TW" altLang="en-US" b="1" dirty="0"/>
              <a:t>你可以的策略：</a:t>
            </a:r>
            <a:endParaRPr lang="zh-TW" altLang="en-US" dirty="0"/>
          </a:p>
          <a:p>
            <a:r>
              <a:rPr lang="zh-TW" altLang="en-US" dirty="0"/>
              <a:t>提供 </a:t>
            </a:r>
            <a:r>
              <a:rPr lang="en-US" altLang="zh-TW" dirty="0"/>
              <a:t>fake creds</a:t>
            </a:r>
            <a:r>
              <a:rPr lang="zh-TW" altLang="en-US" dirty="0"/>
              <a:t>（</a:t>
            </a:r>
            <a:r>
              <a:rPr lang="en-US" altLang="zh-TW" dirty="0"/>
              <a:t>MITRE Engage: disinformation</a:t>
            </a:r>
            <a:r>
              <a:rPr lang="zh-TW" altLang="en-US" dirty="0"/>
              <a:t>）</a:t>
            </a:r>
          </a:p>
          <a:p>
            <a:r>
              <a:rPr lang="zh-TW" altLang="en-US" dirty="0"/>
              <a:t>假 </a:t>
            </a:r>
            <a:r>
              <a:rPr lang="en-US" altLang="zh-TW" dirty="0" err="1"/>
              <a:t>capabillities</a:t>
            </a:r>
            <a:r>
              <a:rPr lang="en-US" altLang="zh-TW" dirty="0"/>
              <a:t> / </a:t>
            </a:r>
            <a:r>
              <a:rPr lang="zh-TW" altLang="en-US" dirty="0"/>
              <a:t>假 </a:t>
            </a:r>
            <a:r>
              <a:rPr lang="en-US" altLang="zh-TW" dirty="0" err="1"/>
              <a:t>misconfig</a:t>
            </a:r>
            <a:endParaRPr lang="en-US" altLang="zh-TW" dirty="0"/>
          </a:p>
          <a:p>
            <a:r>
              <a:rPr lang="zh-TW" altLang="en-US" dirty="0"/>
              <a:t>引導它嘗試更多 </a:t>
            </a:r>
            <a:r>
              <a:rPr lang="en-US" altLang="zh-TW" dirty="0"/>
              <a:t>escalation </a:t>
            </a:r>
            <a:r>
              <a:rPr lang="zh-TW" altLang="en-US" dirty="0"/>
              <a:t>行為（你想要收集的樣本）</a:t>
            </a:r>
          </a:p>
          <a:p>
            <a:br>
              <a:rPr lang="zh-TW" altLang="en-US" dirty="0"/>
            </a:br>
            <a:endParaRPr lang="zh-TW" altLang="en-US" dirty="0"/>
          </a:p>
          <a:p>
            <a:r>
              <a:rPr lang="en-US" altLang="zh-TW" b="1" dirty="0"/>
              <a:t>5. Lateral Movement-Oriented Attacker</a:t>
            </a:r>
          </a:p>
          <a:p>
            <a:r>
              <a:rPr lang="zh-TW" altLang="en-US" dirty="0"/>
              <a:t>（</a:t>
            </a:r>
            <a:r>
              <a:rPr lang="en-US" altLang="zh-TW" dirty="0"/>
              <a:t>ATT&amp;CK</a:t>
            </a:r>
            <a:r>
              <a:rPr lang="zh-TW" altLang="en-US" dirty="0"/>
              <a:t>：</a:t>
            </a:r>
            <a:r>
              <a:rPr lang="en-US" altLang="zh-TW" dirty="0"/>
              <a:t>TA0008 → T1021, T1041</a:t>
            </a:r>
            <a:r>
              <a:rPr lang="zh-TW" altLang="en-US" dirty="0"/>
              <a:t>）</a:t>
            </a:r>
          </a:p>
          <a:p>
            <a:r>
              <a:rPr lang="zh-TW" altLang="en-US" b="1" dirty="0"/>
              <a:t>特徵：</a:t>
            </a:r>
            <a:endParaRPr lang="zh-TW" altLang="en-US" dirty="0"/>
          </a:p>
          <a:p>
            <a:r>
              <a:rPr lang="zh-TW" altLang="en-US" dirty="0"/>
              <a:t>枚舉網路：</a:t>
            </a:r>
            <a:r>
              <a:rPr lang="en-US" altLang="zh-TW" dirty="0" err="1"/>
              <a:t>ifconfig</a:t>
            </a:r>
            <a:r>
              <a:rPr lang="en-US" altLang="zh-TW" dirty="0"/>
              <a:t>/</a:t>
            </a:r>
            <a:r>
              <a:rPr lang="en-US" altLang="zh-TW" dirty="0" err="1"/>
              <a:t>ip</a:t>
            </a:r>
            <a:r>
              <a:rPr lang="en-US" altLang="zh-TW" dirty="0"/>
              <a:t> </a:t>
            </a:r>
            <a:r>
              <a:rPr lang="en-US" altLang="zh-TW" dirty="0" err="1"/>
              <a:t>addr</a:t>
            </a:r>
            <a:endParaRPr lang="en-US" altLang="zh-TW" dirty="0"/>
          </a:p>
          <a:p>
            <a:r>
              <a:rPr lang="zh-TW" altLang="en-US" dirty="0"/>
              <a:t>掃描內部 </a:t>
            </a:r>
            <a:r>
              <a:rPr lang="en-US" altLang="zh-TW" dirty="0"/>
              <a:t>port</a:t>
            </a:r>
          </a:p>
          <a:p>
            <a:r>
              <a:rPr lang="zh-TW" altLang="en-US" dirty="0"/>
              <a:t>嘗試 </a:t>
            </a:r>
            <a:r>
              <a:rPr lang="en-US" altLang="zh-TW" dirty="0"/>
              <a:t>ssh/</a:t>
            </a:r>
            <a:r>
              <a:rPr lang="en-US" altLang="zh-TW" dirty="0" err="1"/>
              <a:t>smb</a:t>
            </a:r>
            <a:r>
              <a:rPr lang="en-US" altLang="zh-TW" dirty="0"/>
              <a:t>/</a:t>
            </a:r>
            <a:r>
              <a:rPr lang="en-US" altLang="zh-TW" dirty="0" err="1"/>
              <a:t>rdp</a:t>
            </a:r>
            <a:endParaRPr lang="en-US" altLang="zh-TW" dirty="0"/>
          </a:p>
          <a:p>
            <a:r>
              <a:rPr lang="zh-TW" altLang="en-US" dirty="0"/>
              <a:t>內部服務探查</a:t>
            </a:r>
          </a:p>
          <a:p>
            <a:r>
              <a:rPr lang="zh-TW" altLang="en-US" b="1" dirty="0"/>
              <a:t>你可以的策略：</a:t>
            </a:r>
            <a:endParaRPr lang="zh-TW" altLang="en-US" dirty="0"/>
          </a:p>
          <a:p>
            <a:r>
              <a:rPr lang="zh-TW" altLang="en-US" dirty="0"/>
              <a:t>開啟 </a:t>
            </a:r>
            <a:r>
              <a:rPr lang="en-US" altLang="zh-TW" dirty="0"/>
              <a:t>fake internal topology</a:t>
            </a:r>
          </a:p>
          <a:p>
            <a:r>
              <a:rPr lang="zh-TW" altLang="en-US" dirty="0"/>
              <a:t>提供一小段可以走得下去的 </a:t>
            </a:r>
            <a:r>
              <a:rPr lang="en-US" altLang="zh-TW" dirty="0"/>
              <a:t>lateral path</a:t>
            </a:r>
          </a:p>
          <a:p>
            <a:r>
              <a:rPr lang="zh-TW" altLang="en-US" dirty="0"/>
              <a:t>利用 </a:t>
            </a:r>
            <a:r>
              <a:rPr lang="en-US" altLang="zh-TW" dirty="0"/>
              <a:t>deception </a:t>
            </a:r>
            <a:r>
              <a:rPr lang="zh-TW" altLang="en-US" dirty="0"/>
              <a:t>讓 </a:t>
            </a:r>
            <a:r>
              <a:rPr lang="en-US" altLang="zh-TW" dirty="0"/>
              <a:t>attacker</a:t>
            </a:r>
            <a:r>
              <a:rPr lang="zh-TW" altLang="en-US" dirty="0"/>
              <a:t>「以為自己走對方向」</a:t>
            </a:r>
          </a:p>
          <a:p>
            <a:br>
              <a:rPr lang="zh-TW" altLang="en-US" dirty="0"/>
            </a:br>
            <a:endParaRPr lang="zh-TW" altLang="en-US" dirty="0"/>
          </a:p>
          <a:p>
            <a:r>
              <a:rPr lang="en-US" altLang="zh-TW" b="1" dirty="0"/>
              <a:t>6. Data Collector / Internal Recon</a:t>
            </a:r>
          </a:p>
          <a:p>
            <a:r>
              <a:rPr lang="zh-TW" altLang="en-US" dirty="0"/>
              <a:t>（</a:t>
            </a:r>
            <a:r>
              <a:rPr lang="en-US" altLang="zh-TW" dirty="0"/>
              <a:t>ATT&amp;CK</a:t>
            </a:r>
            <a:r>
              <a:rPr lang="zh-TW" altLang="en-US" dirty="0"/>
              <a:t>：</a:t>
            </a:r>
            <a:r>
              <a:rPr lang="en-US" altLang="zh-TW" dirty="0"/>
              <a:t>TA0007/TA0009 → T1083, T1082, T1005</a:t>
            </a:r>
            <a:r>
              <a:rPr lang="zh-TW" altLang="en-US" dirty="0"/>
              <a:t>）</a:t>
            </a:r>
          </a:p>
          <a:p>
            <a:r>
              <a:rPr lang="zh-TW" altLang="en-US" b="1" dirty="0"/>
              <a:t>特徵：</a:t>
            </a:r>
            <a:endParaRPr lang="zh-TW" altLang="en-US" dirty="0"/>
          </a:p>
          <a:p>
            <a:r>
              <a:rPr lang="zh-TW" altLang="en-US" dirty="0"/>
              <a:t>列目錄、讀取大量檔案</a:t>
            </a:r>
          </a:p>
          <a:p>
            <a:r>
              <a:rPr lang="zh-TW" altLang="en-US" dirty="0"/>
              <a:t>觀察 </a:t>
            </a:r>
            <a:r>
              <a:rPr lang="en-US" altLang="zh-TW" dirty="0"/>
              <a:t>config</a:t>
            </a:r>
            <a:r>
              <a:rPr lang="zh-TW" altLang="en-US" dirty="0"/>
              <a:t>、</a:t>
            </a:r>
            <a:r>
              <a:rPr lang="en-US" altLang="zh-TW" dirty="0"/>
              <a:t>log</a:t>
            </a:r>
            <a:r>
              <a:rPr lang="zh-TW" altLang="en-US" dirty="0"/>
              <a:t>、</a:t>
            </a:r>
            <a:r>
              <a:rPr lang="en-US" altLang="zh-TW" dirty="0"/>
              <a:t>key</a:t>
            </a:r>
          </a:p>
          <a:p>
            <a:r>
              <a:rPr lang="zh-TW" altLang="en-US" dirty="0"/>
              <a:t>尋找高價值資訊</a:t>
            </a:r>
          </a:p>
          <a:p>
            <a:r>
              <a:rPr lang="zh-TW" altLang="en-US" dirty="0"/>
              <a:t>未必立即 </a:t>
            </a:r>
            <a:r>
              <a:rPr lang="en-US" altLang="zh-TW" dirty="0"/>
              <a:t>exfil</a:t>
            </a:r>
          </a:p>
          <a:p>
            <a:r>
              <a:rPr lang="zh-TW" altLang="en-US" b="1" dirty="0"/>
              <a:t>你可以的策略：</a:t>
            </a:r>
            <a:endParaRPr lang="zh-TW" altLang="en-US" dirty="0"/>
          </a:p>
          <a:p>
            <a:r>
              <a:rPr lang="zh-TW" altLang="en-US" dirty="0"/>
              <a:t>提供高價值但虛假的檔案</a:t>
            </a:r>
          </a:p>
          <a:p>
            <a:r>
              <a:rPr lang="zh-TW" altLang="en-US" dirty="0"/>
              <a:t>隱藏一些造假的 </a:t>
            </a:r>
            <a:r>
              <a:rPr lang="en-US" altLang="zh-TW" dirty="0"/>
              <a:t>API key</a:t>
            </a:r>
            <a:r>
              <a:rPr lang="zh-TW" altLang="en-US" dirty="0"/>
              <a:t>、</a:t>
            </a:r>
            <a:r>
              <a:rPr lang="en-US" altLang="zh-TW" dirty="0"/>
              <a:t>DB credentials</a:t>
            </a:r>
          </a:p>
          <a:p>
            <a:r>
              <a:rPr lang="zh-TW" altLang="en-US" dirty="0"/>
              <a:t>引導它 </a:t>
            </a:r>
            <a:r>
              <a:rPr lang="en-US" altLang="zh-TW" dirty="0"/>
              <a:t>deeper exploration</a:t>
            </a:r>
          </a:p>
          <a:p>
            <a:br>
              <a:rPr lang="en-US" altLang="zh-TW" dirty="0"/>
            </a:br>
            <a:endParaRPr lang="en-US" altLang="zh-TW" dirty="0"/>
          </a:p>
          <a:p>
            <a:r>
              <a:rPr lang="en-US" altLang="zh-TW" b="1" dirty="0"/>
              <a:t>7. </a:t>
            </a:r>
            <a:r>
              <a:rPr lang="en-US" altLang="zh-TW" b="1" dirty="0" err="1"/>
              <a:t>Exfiltrator</a:t>
            </a:r>
            <a:r>
              <a:rPr lang="en-US" altLang="zh-TW" b="1" dirty="0"/>
              <a:t> / Collection &amp; Exfiltration</a:t>
            </a:r>
          </a:p>
          <a:p>
            <a:r>
              <a:rPr lang="zh-TW" altLang="en-US" dirty="0"/>
              <a:t>（</a:t>
            </a:r>
            <a:r>
              <a:rPr lang="en-US" altLang="zh-TW" dirty="0"/>
              <a:t>ATT&amp;CK</a:t>
            </a:r>
            <a:r>
              <a:rPr lang="zh-TW" altLang="en-US" dirty="0"/>
              <a:t>：</a:t>
            </a:r>
            <a:r>
              <a:rPr lang="en-US" altLang="zh-TW" dirty="0"/>
              <a:t>TA0010 → T1041/T1567</a:t>
            </a:r>
            <a:r>
              <a:rPr lang="zh-TW" altLang="en-US" dirty="0"/>
              <a:t>）</a:t>
            </a:r>
          </a:p>
          <a:p>
            <a:r>
              <a:rPr lang="zh-TW" altLang="en-US" b="1" dirty="0"/>
              <a:t>特徵：</a:t>
            </a:r>
            <a:endParaRPr lang="zh-TW" altLang="en-US" dirty="0"/>
          </a:p>
          <a:p>
            <a:r>
              <a:rPr lang="zh-TW" altLang="en-US" dirty="0"/>
              <a:t>壓縮、打包 </a:t>
            </a:r>
            <a:r>
              <a:rPr lang="en-US" altLang="zh-TW" dirty="0"/>
              <a:t>(tar/</a:t>
            </a:r>
            <a:r>
              <a:rPr lang="en-US" altLang="zh-TW" dirty="0" err="1"/>
              <a:t>gzip</a:t>
            </a:r>
            <a:r>
              <a:rPr lang="en-US" altLang="zh-TW" dirty="0"/>
              <a:t>/zip)</a:t>
            </a:r>
          </a:p>
          <a:p>
            <a:r>
              <a:rPr lang="en-US" altLang="zh-TW" dirty="0" err="1"/>
              <a:t>scp</a:t>
            </a:r>
            <a:r>
              <a:rPr lang="en-US" altLang="zh-TW" dirty="0"/>
              <a:t>/curl/</a:t>
            </a:r>
            <a:r>
              <a:rPr lang="en-US" altLang="zh-TW" dirty="0" err="1"/>
              <a:t>wget</a:t>
            </a:r>
            <a:r>
              <a:rPr lang="en-US" altLang="zh-TW" dirty="0"/>
              <a:t> post</a:t>
            </a:r>
          </a:p>
          <a:p>
            <a:r>
              <a:rPr lang="zh-TW" altLang="en-US" dirty="0"/>
              <a:t>傳出 </a:t>
            </a:r>
            <a:r>
              <a:rPr lang="en-US" altLang="zh-TW" dirty="0"/>
              <a:t>fake </a:t>
            </a:r>
            <a:r>
              <a:rPr lang="zh-TW" altLang="en-US" dirty="0"/>
              <a:t>資料</a:t>
            </a:r>
          </a:p>
          <a:p>
            <a:r>
              <a:rPr lang="zh-TW" altLang="en-US" b="1" dirty="0"/>
              <a:t>你可以的策略：</a:t>
            </a:r>
            <a:endParaRPr lang="zh-TW" altLang="en-US" dirty="0"/>
          </a:p>
          <a:p>
            <a:r>
              <a:rPr lang="zh-TW" altLang="en-US" dirty="0"/>
              <a:t>假資料包 </a:t>
            </a:r>
            <a:r>
              <a:rPr lang="en-US" altLang="zh-TW" dirty="0"/>
              <a:t>+ </a:t>
            </a:r>
            <a:r>
              <a:rPr lang="zh-TW" altLang="en-US" dirty="0"/>
              <a:t>延遲傳輸</a:t>
            </a:r>
          </a:p>
          <a:p>
            <a:r>
              <a:rPr lang="zh-TW" altLang="en-US" dirty="0"/>
              <a:t>多層轉移（</a:t>
            </a:r>
            <a:r>
              <a:rPr lang="en-US" altLang="zh-TW" dirty="0"/>
              <a:t>multi-hop exfil</a:t>
            </a:r>
            <a:r>
              <a:rPr lang="zh-TW" altLang="en-US" dirty="0"/>
              <a:t>）</a:t>
            </a:r>
          </a:p>
          <a:p>
            <a:r>
              <a:rPr lang="zh-TW" altLang="en-US" dirty="0"/>
              <a:t>記錄完整攻擊鏈（非常有研究價值）</a:t>
            </a:r>
          </a:p>
          <a:p>
            <a:br>
              <a:rPr lang="zh-TW" altLang="en-US" dirty="0"/>
            </a:br>
            <a:endParaRPr lang="zh-TW" altLang="en-US" dirty="0"/>
          </a:p>
        </p:txBody>
      </p:sp>
      <p:sp>
        <p:nvSpPr>
          <p:cNvPr id="4" name="投影片編號版面配置區 3">
            <a:extLst>
              <a:ext uri="{FF2B5EF4-FFF2-40B4-BE49-F238E27FC236}">
                <a16:creationId xmlns:a16="http://schemas.microsoft.com/office/drawing/2014/main" id="{63206885-9969-F19F-1F88-268C587F4139}"/>
              </a:ext>
            </a:extLst>
          </p:cNvPr>
          <p:cNvSpPr>
            <a:spLocks noGrp="1"/>
          </p:cNvSpPr>
          <p:nvPr>
            <p:ph type="sldNum" sz="quarter" idx="5"/>
          </p:nvPr>
        </p:nvSpPr>
        <p:spPr/>
        <p:txBody>
          <a:bodyPr/>
          <a:lstStyle/>
          <a:p>
            <a:fld id="{7158F2C8-1ADC-47B4-8041-A07664DB9A1F}" type="slidenum">
              <a:rPr lang="zh-TW" altLang="en-US" smtClean="0"/>
              <a:t>59</a:t>
            </a:fld>
            <a:endParaRPr lang="zh-TW" altLang="en-US"/>
          </a:p>
        </p:txBody>
      </p:sp>
    </p:spTree>
    <p:extLst>
      <p:ext uri="{BB962C8B-B14F-4D97-AF65-F5344CB8AC3E}">
        <p14:creationId xmlns:p14="http://schemas.microsoft.com/office/powerpoint/2010/main" val="21310565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a:extLst>
            <a:ext uri="{FF2B5EF4-FFF2-40B4-BE49-F238E27FC236}">
              <a16:creationId xmlns:a16="http://schemas.microsoft.com/office/drawing/2014/main" id="{D16E2362-267D-37CE-D1F5-E8E5F8128CEA}"/>
            </a:ext>
          </a:extLst>
        </p:cNvPr>
        <p:cNvGrpSpPr/>
        <p:nvPr/>
      </p:nvGrpSpPr>
      <p:grpSpPr>
        <a:xfrm>
          <a:off x="0" y="0"/>
          <a:ext cx="0" cy="0"/>
          <a:chOff x="0" y="0"/>
          <a:chExt cx="0" cy="0"/>
        </a:xfrm>
      </p:grpSpPr>
      <p:sp>
        <p:nvSpPr>
          <p:cNvPr id="460" name="Google Shape;460;g3733dc78bf5_0_117:notes">
            <a:extLst>
              <a:ext uri="{FF2B5EF4-FFF2-40B4-BE49-F238E27FC236}">
                <a16:creationId xmlns:a16="http://schemas.microsoft.com/office/drawing/2014/main" id="{A8EE3C08-85B5-4556-10A6-683CC930CC8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g3733dc78bf5_0_117:notes">
            <a:extLst>
              <a:ext uri="{FF2B5EF4-FFF2-40B4-BE49-F238E27FC236}">
                <a16:creationId xmlns:a16="http://schemas.microsoft.com/office/drawing/2014/main" id="{313F8644-C0B3-B660-6036-0645D584ED60}"/>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r>
              <a:rPr lang="en-US" altLang="zh-TW" dirty="0"/>
              <a:t>Simulated Attacker</a:t>
            </a:r>
          </a:p>
          <a:p>
            <a:r>
              <a:rPr lang="en-US" altLang="zh-TW" dirty="0"/>
              <a:t>  Use qwen-3 to train our Strategist LLM</a:t>
            </a:r>
          </a:p>
          <a:p>
            <a:r>
              <a:rPr lang="en-US" altLang="zh-TW" dirty="0"/>
              <a:t>  Use another to evaluate our Strategist LLM</a:t>
            </a:r>
          </a:p>
          <a:p>
            <a:pPr>
              <a:buSzPts val="1100"/>
            </a:pPr>
            <a:endParaRPr dirty="0">
              <a:solidFill>
                <a:schemeClr val="dk1"/>
              </a:solidFill>
            </a:endParaRPr>
          </a:p>
        </p:txBody>
      </p:sp>
    </p:spTree>
    <p:extLst>
      <p:ext uri="{BB962C8B-B14F-4D97-AF65-F5344CB8AC3E}">
        <p14:creationId xmlns:p14="http://schemas.microsoft.com/office/powerpoint/2010/main" val="12174365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158F2C8-1ADC-47B4-8041-A07664DB9A1F}" type="slidenum">
              <a:rPr lang="zh-TW" altLang="en-US" smtClean="0"/>
              <a:t>61</a:t>
            </a:fld>
            <a:endParaRPr lang="zh-TW" altLang="en-US"/>
          </a:p>
        </p:txBody>
      </p:sp>
    </p:spTree>
    <p:extLst>
      <p:ext uri="{BB962C8B-B14F-4D97-AF65-F5344CB8AC3E}">
        <p14:creationId xmlns:p14="http://schemas.microsoft.com/office/powerpoint/2010/main" val="37884370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ABBA2-391C-71BE-F1C5-024BF817B80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652A9E5-0FEA-1D44-CBB7-8DF1C34276B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A477882-0BD7-D4BD-3377-AE3FFF2E6C15}"/>
              </a:ext>
            </a:extLst>
          </p:cNvPr>
          <p:cNvSpPr>
            <a:spLocks noGrp="1"/>
          </p:cNvSpPr>
          <p:nvPr>
            <p:ph type="body" idx="1"/>
          </p:nvPr>
        </p:nvSpPr>
        <p:spPr/>
        <p:txBody>
          <a:bodyPr/>
          <a:lstStyle/>
          <a:p>
            <a:r>
              <a:rPr lang="zh-TW" altLang="en-US" dirty="0"/>
              <a:t>仍然有一些小問題，還在持續修復。</a:t>
            </a:r>
          </a:p>
        </p:txBody>
      </p:sp>
      <p:sp>
        <p:nvSpPr>
          <p:cNvPr id="4" name="投影片編號版面配置區 3">
            <a:extLst>
              <a:ext uri="{FF2B5EF4-FFF2-40B4-BE49-F238E27FC236}">
                <a16:creationId xmlns:a16="http://schemas.microsoft.com/office/drawing/2014/main" id="{E2A2AD45-58A6-E567-DBAF-0DDD9154F223}"/>
              </a:ext>
            </a:extLst>
          </p:cNvPr>
          <p:cNvSpPr>
            <a:spLocks noGrp="1"/>
          </p:cNvSpPr>
          <p:nvPr>
            <p:ph type="sldNum" sz="quarter" idx="5"/>
          </p:nvPr>
        </p:nvSpPr>
        <p:spPr/>
        <p:txBody>
          <a:bodyPr/>
          <a:lstStyle/>
          <a:p>
            <a:fld id="{7158F2C8-1ADC-47B4-8041-A07664DB9A1F}" type="slidenum">
              <a:rPr lang="zh-TW" altLang="en-US" smtClean="0"/>
              <a:t>62</a:t>
            </a:fld>
            <a:endParaRPr lang="zh-TW" altLang="en-US"/>
          </a:p>
        </p:txBody>
      </p:sp>
    </p:spTree>
    <p:extLst>
      <p:ext uri="{BB962C8B-B14F-4D97-AF65-F5344CB8AC3E}">
        <p14:creationId xmlns:p14="http://schemas.microsoft.com/office/powerpoint/2010/main" val="36463009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40B4C-CDFB-B538-0960-931E19E1D62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B6716F2-A760-9294-0E1B-F972F9BD3BD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5379B28-10B7-F7D9-2B9B-2F55F3BA4447}"/>
              </a:ext>
            </a:extLst>
          </p:cNvPr>
          <p:cNvSpPr>
            <a:spLocks noGrp="1"/>
          </p:cNvSpPr>
          <p:nvPr>
            <p:ph type="body" idx="1"/>
          </p:nvPr>
        </p:nvSpPr>
        <p:spPr/>
        <p:txBody>
          <a:bodyPr/>
          <a:lstStyle/>
          <a:p>
            <a:r>
              <a:rPr lang="zh-TW" altLang="en-US" dirty="0"/>
              <a:t>意圖判斷夠準確 </a:t>
            </a:r>
            <a:r>
              <a:rPr lang="en-US" altLang="zh-TW" dirty="0"/>
              <a:t>-&gt; </a:t>
            </a:r>
            <a:r>
              <a:rPr lang="zh-TW" altLang="en-US" dirty="0"/>
              <a:t>判斷 </a:t>
            </a:r>
            <a:r>
              <a:rPr lang="en-US" altLang="zh-TW" dirty="0"/>
              <a:t>intention </a:t>
            </a:r>
            <a:r>
              <a:rPr lang="zh-TW" altLang="en-US" dirty="0"/>
              <a:t>這件是滿準的，用這個來做是很可靠的一個 </a:t>
            </a:r>
            <a:r>
              <a:rPr lang="en-US" altLang="zh-TW" dirty="0"/>
              <a:t>approach -&gt; </a:t>
            </a:r>
            <a:r>
              <a:rPr lang="zh-TW" altLang="en-US" dirty="0"/>
              <a:t>有訓練根沒訓練都更準，這招有用已經很可靠。</a:t>
            </a:r>
            <a:endParaRPr lang="en-US" altLang="zh-TW" dirty="0"/>
          </a:p>
          <a:p>
            <a:endParaRPr lang="en-US" altLang="zh-TW" dirty="0"/>
          </a:p>
          <a:p>
            <a:endParaRPr lang="en-US" altLang="zh-TW" dirty="0"/>
          </a:p>
          <a:p>
            <a:r>
              <a:rPr lang="en-US" altLang="zh-TW" dirty="0"/>
              <a:t>1. </a:t>
            </a:r>
            <a:r>
              <a:rPr lang="zh-TW" altLang="en-US" dirty="0"/>
              <a:t>既然可靠 </a:t>
            </a:r>
            <a:r>
              <a:rPr lang="en-US" altLang="zh-TW" dirty="0"/>
              <a:t>-&gt; </a:t>
            </a:r>
            <a:endParaRPr lang="zh-TW" altLang="en-US" dirty="0"/>
          </a:p>
        </p:txBody>
      </p:sp>
      <p:sp>
        <p:nvSpPr>
          <p:cNvPr id="4" name="投影片編號版面配置區 3">
            <a:extLst>
              <a:ext uri="{FF2B5EF4-FFF2-40B4-BE49-F238E27FC236}">
                <a16:creationId xmlns:a16="http://schemas.microsoft.com/office/drawing/2014/main" id="{B6993E6E-AE40-22E8-0D7F-6AFBEEE62860}"/>
              </a:ext>
            </a:extLst>
          </p:cNvPr>
          <p:cNvSpPr>
            <a:spLocks noGrp="1"/>
          </p:cNvSpPr>
          <p:nvPr>
            <p:ph type="sldNum" sz="quarter" idx="5"/>
          </p:nvPr>
        </p:nvSpPr>
        <p:spPr/>
        <p:txBody>
          <a:bodyPr/>
          <a:lstStyle/>
          <a:p>
            <a:fld id="{7158F2C8-1ADC-47B4-8041-A07664DB9A1F}" type="slidenum">
              <a:rPr lang="zh-TW" altLang="en-US" smtClean="0"/>
              <a:t>63</a:t>
            </a:fld>
            <a:endParaRPr lang="zh-TW" altLang="en-US"/>
          </a:p>
        </p:txBody>
      </p:sp>
    </p:spTree>
    <p:extLst>
      <p:ext uri="{BB962C8B-B14F-4D97-AF65-F5344CB8AC3E}">
        <p14:creationId xmlns:p14="http://schemas.microsoft.com/office/powerpoint/2010/main" val="9872980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DAF4D-EDDD-A0FC-0DB8-265F061FF30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FEE0F27-CE87-333F-F098-7AE37C9A73F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3851B0D-366B-4E37-34D8-FEFAAD8CA8F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12D2CA4-31E9-94C4-2336-3D60B25F48B9}"/>
              </a:ext>
            </a:extLst>
          </p:cNvPr>
          <p:cNvSpPr>
            <a:spLocks noGrp="1"/>
          </p:cNvSpPr>
          <p:nvPr>
            <p:ph type="sldNum" sz="quarter" idx="5"/>
          </p:nvPr>
        </p:nvSpPr>
        <p:spPr/>
        <p:txBody>
          <a:bodyPr/>
          <a:lstStyle/>
          <a:p>
            <a:fld id="{7158F2C8-1ADC-47B4-8041-A07664DB9A1F}" type="slidenum">
              <a:rPr lang="zh-TW" altLang="en-US" smtClean="0"/>
              <a:t>65</a:t>
            </a:fld>
            <a:endParaRPr lang="zh-TW" altLang="en-US"/>
          </a:p>
        </p:txBody>
      </p:sp>
    </p:spTree>
    <p:extLst>
      <p:ext uri="{BB962C8B-B14F-4D97-AF65-F5344CB8AC3E}">
        <p14:creationId xmlns:p14="http://schemas.microsoft.com/office/powerpoint/2010/main" val="7241332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A3ADF-C557-FA80-9F2E-6106828D73C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F88701A-7847-71F5-1B96-891AE656F3A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AE019DD-F937-1759-CD18-E513D3BD06D0}"/>
              </a:ext>
            </a:extLst>
          </p:cNvPr>
          <p:cNvSpPr>
            <a:spLocks noGrp="1"/>
          </p:cNvSpPr>
          <p:nvPr>
            <p:ph type="body" idx="1"/>
          </p:nvPr>
        </p:nvSpPr>
        <p:spPr/>
        <p:txBody>
          <a:bodyPr/>
          <a:lstStyle/>
          <a:p>
            <a:r>
              <a:rPr lang="zh-TW" altLang="en-US" dirty="0"/>
              <a:t>意圖判斷夠準確 </a:t>
            </a:r>
            <a:r>
              <a:rPr lang="en-US" altLang="zh-TW" dirty="0"/>
              <a:t>-&gt; </a:t>
            </a:r>
            <a:r>
              <a:rPr lang="zh-TW" altLang="en-US" dirty="0"/>
              <a:t>判斷 </a:t>
            </a:r>
            <a:r>
              <a:rPr lang="en-US" altLang="zh-TW" dirty="0"/>
              <a:t>intention </a:t>
            </a:r>
            <a:r>
              <a:rPr lang="zh-TW" altLang="en-US" dirty="0"/>
              <a:t>這件是滿準的，用這個來做是很可靠的一個 </a:t>
            </a:r>
            <a:r>
              <a:rPr lang="en-US" altLang="zh-TW" dirty="0"/>
              <a:t>approach -&gt; </a:t>
            </a:r>
            <a:r>
              <a:rPr lang="zh-TW" altLang="en-US" dirty="0"/>
              <a:t>有訓練根沒訓練都更準，這招有用已經很可靠。</a:t>
            </a:r>
            <a:endParaRPr lang="en-US" altLang="zh-TW" dirty="0"/>
          </a:p>
          <a:p>
            <a:endParaRPr lang="en-US" altLang="zh-TW" dirty="0"/>
          </a:p>
          <a:p>
            <a:r>
              <a:rPr lang="en-US" altLang="zh-TW" dirty="0"/>
              <a:t>KL</a:t>
            </a:r>
            <a:r>
              <a:rPr lang="zh-TW" altLang="en-US" dirty="0"/>
              <a:t> 說明和原本模型行為差越來越多。</a:t>
            </a:r>
            <a:endParaRPr lang="en-US" altLang="zh-TW" dirty="0"/>
          </a:p>
        </p:txBody>
      </p:sp>
      <p:sp>
        <p:nvSpPr>
          <p:cNvPr id="4" name="投影片編號版面配置區 3">
            <a:extLst>
              <a:ext uri="{FF2B5EF4-FFF2-40B4-BE49-F238E27FC236}">
                <a16:creationId xmlns:a16="http://schemas.microsoft.com/office/drawing/2014/main" id="{2230D74F-431C-3BDF-AC84-5692916BE2E4}"/>
              </a:ext>
            </a:extLst>
          </p:cNvPr>
          <p:cNvSpPr>
            <a:spLocks noGrp="1"/>
          </p:cNvSpPr>
          <p:nvPr>
            <p:ph type="sldNum" sz="quarter" idx="5"/>
          </p:nvPr>
        </p:nvSpPr>
        <p:spPr/>
        <p:txBody>
          <a:bodyPr/>
          <a:lstStyle/>
          <a:p>
            <a:fld id="{7158F2C8-1ADC-47B4-8041-A07664DB9A1F}" type="slidenum">
              <a:rPr lang="zh-TW" altLang="en-US" smtClean="0"/>
              <a:t>66</a:t>
            </a:fld>
            <a:endParaRPr lang="zh-TW" altLang="en-US"/>
          </a:p>
        </p:txBody>
      </p:sp>
    </p:spTree>
    <p:extLst>
      <p:ext uri="{BB962C8B-B14F-4D97-AF65-F5344CB8AC3E}">
        <p14:creationId xmlns:p14="http://schemas.microsoft.com/office/powerpoint/2010/main" val="33440419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661BB-0906-AA28-8335-D6E6566E8FA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A5BF4CC-B639-194B-0807-93307E8E500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024743D-79B4-4E8D-F763-1B6BDE32E33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769D6FA-0D3D-4335-F1EF-D64F2A2193F6}"/>
              </a:ext>
            </a:extLst>
          </p:cNvPr>
          <p:cNvSpPr>
            <a:spLocks noGrp="1"/>
          </p:cNvSpPr>
          <p:nvPr>
            <p:ph type="sldNum" sz="quarter" idx="5"/>
          </p:nvPr>
        </p:nvSpPr>
        <p:spPr/>
        <p:txBody>
          <a:bodyPr/>
          <a:lstStyle/>
          <a:p>
            <a:fld id="{7158F2C8-1ADC-47B4-8041-A07664DB9A1F}" type="slidenum">
              <a:rPr lang="zh-TW" altLang="en-US" smtClean="0"/>
              <a:t>67</a:t>
            </a:fld>
            <a:endParaRPr lang="zh-TW" altLang="en-US"/>
          </a:p>
        </p:txBody>
      </p:sp>
    </p:spTree>
    <p:extLst>
      <p:ext uri="{BB962C8B-B14F-4D97-AF65-F5344CB8AC3E}">
        <p14:creationId xmlns:p14="http://schemas.microsoft.com/office/powerpoint/2010/main" val="27339531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C2 </a:t>
            </a:r>
            <a:r>
              <a:rPr lang="zh-TW" altLang="en-US" dirty="0"/>
              <a:t>為什麼不在裡面 </a:t>
            </a:r>
            <a:r>
              <a:rPr lang="en-US" altLang="zh-TW" dirty="0"/>
              <a:t>? </a:t>
            </a:r>
            <a:r>
              <a:rPr lang="zh-TW" altLang="en-US" dirty="0"/>
              <a:t>這是我們訓練的限制，因為 </a:t>
            </a:r>
            <a:r>
              <a:rPr lang="en-US" altLang="zh-TW" dirty="0"/>
              <a:t>C2 </a:t>
            </a:r>
            <a:r>
              <a:rPr lang="zh-TW" altLang="en-US" dirty="0"/>
              <a:t>一旦成功，攻擊者就不會在我們的中間人監控當中，這會造成我們的資訊落差，在這裡，我會放在未來工作，希望未來的論文對 </a:t>
            </a:r>
            <a:r>
              <a:rPr lang="en-US" altLang="zh-TW"/>
              <a:t>c2 </a:t>
            </a:r>
            <a:endParaRPr lang="zh-TW" altLang="en-US" dirty="0"/>
          </a:p>
        </p:txBody>
      </p:sp>
      <p:sp>
        <p:nvSpPr>
          <p:cNvPr id="4" name="投影片編號版面配置區 3"/>
          <p:cNvSpPr>
            <a:spLocks noGrp="1"/>
          </p:cNvSpPr>
          <p:nvPr>
            <p:ph type="sldNum" sz="quarter" idx="5"/>
          </p:nvPr>
        </p:nvSpPr>
        <p:spPr/>
        <p:txBody>
          <a:bodyPr/>
          <a:lstStyle/>
          <a:p>
            <a:fld id="{7158F2C8-1ADC-47B4-8041-A07664DB9A1F}" type="slidenum">
              <a:rPr lang="zh-TW" altLang="en-US" smtClean="0"/>
              <a:t>68</a:t>
            </a:fld>
            <a:endParaRPr lang="zh-TW" altLang="en-US"/>
          </a:p>
        </p:txBody>
      </p:sp>
    </p:spTree>
    <p:extLst>
      <p:ext uri="{BB962C8B-B14F-4D97-AF65-F5344CB8AC3E}">
        <p14:creationId xmlns:p14="http://schemas.microsoft.com/office/powerpoint/2010/main" val="14340680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a:extLst>
            <a:ext uri="{FF2B5EF4-FFF2-40B4-BE49-F238E27FC236}">
              <a16:creationId xmlns:a16="http://schemas.microsoft.com/office/drawing/2014/main" id="{FD6D2A41-6BBA-6E90-1519-C5657FCF2A3E}"/>
            </a:ext>
          </a:extLst>
        </p:cNvPr>
        <p:cNvGrpSpPr/>
        <p:nvPr/>
      </p:nvGrpSpPr>
      <p:grpSpPr>
        <a:xfrm>
          <a:off x="0" y="0"/>
          <a:ext cx="0" cy="0"/>
          <a:chOff x="0" y="0"/>
          <a:chExt cx="0" cy="0"/>
        </a:xfrm>
      </p:grpSpPr>
      <p:sp>
        <p:nvSpPr>
          <p:cNvPr id="460" name="Google Shape;460;g3733dc78bf5_0_117:notes">
            <a:extLst>
              <a:ext uri="{FF2B5EF4-FFF2-40B4-BE49-F238E27FC236}">
                <a16:creationId xmlns:a16="http://schemas.microsoft.com/office/drawing/2014/main" id="{D0ECF59F-B9E6-77F6-E19A-3467B036C69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g3733dc78bf5_0_117:notes">
            <a:extLst>
              <a:ext uri="{FF2B5EF4-FFF2-40B4-BE49-F238E27FC236}">
                <a16:creationId xmlns:a16="http://schemas.microsoft.com/office/drawing/2014/main" id="{CC142711-571F-8A19-D1E0-99B3325D4000}"/>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r>
              <a:rPr lang="en-US" altLang="zh-TW" dirty="0"/>
              <a:t>Simulated Attacker</a:t>
            </a:r>
          </a:p>
          <a:p>
            <a:r>
              <a:rPr lang="en-US" altLang="zh-TW" dirty="0"/>
              <a:t>  Use qwen-3 to train our Strategist LLM</a:t>
            </a:r>
          </a:p>
          <a:p>
            <a:r>
              <a:rPr lang="en-US" altLang="zh-TW" dirty="0"/>
              <a:t>  Use another to evaluate our Strategist LLM</a:t>
            </a:r>
          </a:p>
        </p:txBody>
      </p:sp>
    </p:spTree>
    <p:extLst>
      <p:ext uri="{BB962C8B-B14F-4D97-AF65-F5344CB8AC3E}">
        <p14:creationId xmlns:p14="http://schemas.microsoft.com/office/powerpoint/2010/main" val="24613921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99E0B-8C8B-0FD4-173E-C69A3D8B37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4266151-B33B-53ED-B398-3911966335B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1ECC98E-2C74-A0C8-714E-94823888C60D}"/>
              </a:ext>
            </a:extLst>
          </p:cNvPr>
          <p:cNvSpPr>
            <a:spLocks noGrp="1"/>
          </p:cNvSpPr>
          <p:nvPr>
            <p:ph type="body" idx="1"/>
          </p:nvPr>
        </p:nvSpPr>
        <p:spPr/>
        <p:txBody>
          <a:bodyPr/>
          <a:lstStyle/>
          <a:p>
            <a:r>
              <a:rPr lang="zh-TW" altLang="en-US" dirty="0"/>
              <a:t>資訊量太小 </a:t>
            </a:r>
            <a:r>
              <a:rPr lang="en-US" altLang="zh-TW" dirty="0"/>
              <a:t>– </a:t>
            </a:r>
            <a:r>
              <a:rPr lang="zh-TW" altLang="en-US" dirty="0"/>
              <a:t>改柱狀圖 </a:t>
            </a:r>
            <a:r>
              <a:rPr lang="en-US" altLang="zh-TW" dirty="0"/>
              <a:t>?</a:t>
            </a:r>
            <a:r>
              <a:rPr lang="zh-TW" altLang="en-US" dirty="0"/>
              <a:t> 怎麼改善 </a:t>
            </a:r>
            <a:r>
              <a:rPr lang="en-US" altLang="zh-TW" dirty="0"/>
              <a:t>?</a:t>
            </a:r>
          </a:p>
          <a:p>
            <a:endParaRPr lang="en-US" altLang="zh-TW" dirty="0"/>
          </a:p>
          <a:p>
            <a:r>
              <a:rPr lang="en-US" altLang="zh-TW" dirty="0"/>
              <a:t>Base model</a:t>
            </a:r>
            <a:r>
              <a:rPr lang="zh-TW" altLang="en-US" dirty="0"/>
              <a:t> </a:t>
            </a:r>
            <a:r>
              <a:rPr lang="en-US" altLang="zh-TW" dirty="0"/>
              <a:t>=</a:t>
            </a:r>
            <a:r>
              <a:rPr lang="zh-TW" altLang="en-US" dirty="0"/>
              <a:t> </a:t>
            </a:r>
            <a:r>
              <a:rPr lang="en-US" altLang="zh-TW" dirty="0"/>
              <a:t>baseline </a:t>
            </a:r>
            <a:r>
              <a:rPr lang="zh-TW" altLang="en-US" dirty="0"/>
              <a:t>應該是沒經過任何調整 </a:t>
            </a:r>
            <a:r>
              <a:rPr lang="en-US" altLang="zh-TW" dirty="0"/>
              <a:t>– no intent-awareness </a:t>
            </a:r>
            <a:r>
              <a:rPr lang="zh-TW" altLang="en-US" dirty="0"/>
              <a:t>更適合</a:t>
            </a:r>
            <a:endParaRPr lang="en-US" altLang="zh-TW" dirty="0"/>
          </a:p>
          <a:p>
            <a:endParaRPr lang="en-US" altLang="zh-TW" dirty="0"/>
          </a:p>
          <a:p>
            <a:r>
              <a:rPr lang="zh-TW" altLang="en-US" dirty="0"/>
              <a:t>其他的 </a:t>
            </a:r>
            <a:r>
              <a:rPr lang="en-US" altLang="zh-TW" dirty="0"/>
              <a:t>configuration, </a:t>
            </a:r>
            <a:r>
              <a:rPr lang="zh-TW" altLang="en-US" dirty="0"/>
              <a:t>要 </a:t>
            </a:r>
            <a:r>
              <a:rPr lang="en-US" altLang="zh-TW" dirty="0"/>
              <a:t>Align to 14 Tactics</a:t>
            </a:r>
          </a:p>
          <a:p>
            <a:endParaRPr lang="en-US" altLang="zh-TW" dirty="0"/>
          </a:p>
          <a:p>
            <a:r>
              <a:rPr lang="en-US" altLang="zh-TW" dirty="0"/>
              <a:t>2 </a:t>
            </a:r>
            <a:r>
              <a:rPr lang="zh-TW" altLang="en-US" dirty="0"/>
              <a:t>分鐘 </a:t>
            </a:r>
            <a:r>
              <a:rPr lang="en-US" altLang="zh-TW" dirty="0"/>
              <a:t>pitch for result.</a:t>
            </a:r>
          </a:p>
          <a:p>
            <a:endParaRPr lang="en-US" altLang="zh-TW" dirty="0"/>
          </a:p>
          <a:p>
            <a:r>
              <a:rPr lang="zh-TW" altLang="en-US" dirty="0"/>
              <a:t>理由：</a:t>
            </a:r>
            <a:endParaRPr lang="en-US" altLang="zh-TW" dirty="0"/>
          </a:p>
          <a:p>
            <a:r>
              <a:rPr lang="en-US" altLang="zh-TW" dirty="0"/>
              <a:t>Align </a:t>
            </a:r>
            <a:r>
              <a:rPr lang="zh-TW" altLang="en-US" dirty="0"/>
              <a:t>到 </a:t>
            </a:r>
            <a:r>
              <a:rPr lang="en-US" altLang="zh-TW" dirty="0"/>
              <a:t>14 Tactics </a:t>
            </a:r>
            <a:r>
              <a:rPr lang="zh-TW" altLang="en-US" dirty="0"/>
              <a:t>上後，發現到差距會變得更小，除了基數變大之外 </a:t>
            </a:r>
            <a:r>
              <a:rPr lang="en-US" altLang="zh-TW" dirty="0"/>
              <a:t>?</a:t>
            </a:r>
          </a:p>
          <a:p>
            <a:endParaRPr lang="en-US" altLang="zh-TW" dirty="0"/>
          </a:p>
          <a:p>
            <a:r>
              <a:rPr lang="zh-TW" altLang="en-US" dirty="0"/>
              <a:t>總結：</a:t>
            </a:r>
            <a:endParaRPr lang="en-US" altLang="zh-TW" dirty="0"/>
          </a:p>
          <a:p>
            <a:r>
              <a:rPr lang="zh-TW" altLang="en-US"/>
              <a:t>在想中間結果來證明。</a:t>
            </a:r>
            <a:endParaRPr lang="en-US" altLang="zh-TW" dirty="0"/>
          </a:p>
        </p:txBody>
      </p:sp>
      <p:sp>
        <p:nvSpPr>
          <p:cNvPr id="4" name="投影片編號版面配置區 3">
            <a:extLst>
              <a:ext uri="{FF2B5EF4-FFF2-40B4-BE49-F238E27FC236}">
                <a16:creationId xmlns:a16="http://schemas.microsoft.com/office/drawing/2014/main" id="{94A983F7-E590-D8D0-7F9E-D1085A14A3B9}"/>
              </a:ext>
            </a:extLst>
          </p:cNvPr>
          <p:cNvSpPr>
            <a:spLocks noGrp="1"/>
          </p:cNvSpPr>
          <p:nvPr>
            <p:ph type="sldNum" sz="quarter" idx="5"/>
          </p:nvPr>
        </p:nvSpPr>
        <p:spPr/>
        <p:txBody>
          <a:bodyPr/>
          <a:lstStyle/>
          <a:p>
            <a:fld id="{7158F2C8-1ADC-47B4-8041-A07664DB9A1F}" type="slidenum">
              <a:rPr lang="zh-TW" altLang="en-US" smtClean="0"/>
              <a:t>70</a:t>
            </a:fld>
            <a:endParaRPr lang="zh-TW" altLang="en-US"/>
          </a:p>
        </p:txBody>
      </p:sp>
    </p:spTree>
    <p:extLst>
      <p:ext uri="{BB962C8B-B14F-4D97-AF65-F5344CB8AC3E}">
        <p14:creationId xmlns:p14="http://schemas.microsoft.com/office/powerpoint/2010/main" val="26436865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24C54E8E-FDEB-2104-C2EE-D69E6A34899F}"/>
            </a:ext>
          </a:extLst>
        </p:cNvPr>
        <p:cNvGrpSpPr/>
        <p:nvPr/>
      </p:nvGrpSpPr>
      <p:grpSpPr>
        <a:xfrm>
          <a:off x="0" y="0"/>
          <a:ext cx="0" cy="0"/>
          <a:chOff x="0" y="0"/>
          <a:chExt cx="0" cy="0"/>
        </a:xfrm>
      </p:grpSpPr>
      <p:sp>
        <p:nvSpPr>
          <p:cNvPr id="265" name="Google Shape;265;g3830d6c6f52_0_102:notes">
            <a:extLst>
              <a:ext uri="{FF2B5EF4-FFF2-40B4-BE49-F238E27FC236}">
                <a16:creationId xmlns:a16="http://schemas.microsoft.com/office/drawing/2014/main" id="{DDD32F76-A406-F37D-C80C-B355DAA1C4C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3830d6c6f52_0_102:notes">
            <a:extLst>
              <a:ext uri="{FF2B5EF4-FFF2-40B4-BE49-F238E27FC236}">
                <a16:creationId xmlns:a16="http://schemas.microsoft.com/office/drawing/2014/main" id="{2C35B78A-1C7B-3FF0-7717-AAC8C1D78A84}"/>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defTabSz="881939">
              <a:buSzPts val="1100"/>
            </a:pPr>
            <a:r>
              <a:rPr lang="en-US" altLang="zh-TW" dirty="0">
                <a:solidFill>
                  <a:schemeClr val="dk1"/>
                </a:solidFill>
              </a:rPr>
              <a:t>0327 – </a:t>
            </a:r>
            <a:r>
              <a:rPr lang="zh-TW" altLang="en-US" dirty="0">
                <a:solidFill>
                  <a:schemeClr val="dk1"/>
                </a:solidFill>
              </a:rPr>
              <a:t>要改敘述</a:t>
            </a:r>
          </a:p>
          <a:p>
            <a:pPr>
              <a:buSzPts val="1100"/>
            </a:pPr>
            <a:endParaRPr dirty="0">
              <a:solidFill>
                <a:schemeClr val="dk1"/>
              </a:solidFill>
            </a:endParaRPr>
          </a:p>
        </p:txBody>
      </p:sp>
    </p:spTree>
    <p:extLst>
      <p:ext uri="{BB962C8B-B14F-4D97-AF65-F5344CB8AC3E}">
        <p14:creationId xmlns:p14="http://schemas.microsoft.com/office/powerpoint/2010/main" val="2439988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608F4065-7FF8-FAFD-62BC-8256DD5D278E}"/>
            </a:ext>
          </a:extLst>
        </p:cNvPr>
        <p:cNvGrpSpPr/>
        <p:nvPr/>
      </p:nvGrpSpPr>
      <p:grpSpPr>
        <a:xfrm>
          <a:off x="0" y="0"/>
          <a:ext cx="0" cy="0"/>
          <a:chOff x="0" y="0"/>
          <a:chExt cx="0" cy="0"/>
        </a:xfrm>
      </p:grpSpPr>
      <p:sp>
        <p:nvSpPr>
          <p:cNvPr id="265" name="Google Shape;265;g3830d6c6f52_0_102:notes">
            <a:extLst>
              <a:ext uri="{FF2B5EF4-FFF2-40B4-BE49-F238E27FC236}">
                <a16:creationId xmlns:a16="http://schemas.microsoft.com/office/drawing/2014/main" id="{8350D131-9D67-44F8-6D67-A4C438E83AA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3830d6c6f52_0_102:notes">
            <a:extLst>
              <a:ext uri="{FF2B5EF4-FFF2-40B4-BE49-F238E27FC236}">
                <a16:creationId xmlns:a16="http://schemas.microsoft.com/office/drawing/2014/main" id="{3CA6F5E8-AE62-D5AE-1D23-07179650B4A5}"/>
              </a:ext>
            </a:extLst>
          </p:cNvPr>
          <p:cNvSpPr txBox="1">
            <a:spLocks noGrp="1"/>
          </p:cNvSpPr>
          <p:nvPr>
            <p:ph type="body" idx="1"/>
          </p:nvPr>
        </p:nvSpPr>
        <p:spPr>
          <a:xfrm>
            <a:off x="679768" y="4715155"/>
            <a:ext cx="5438140" cy="4466987"/>
          </a:xfrm>
          <a:prstGeom prst="rect">
            <a:avLst/>
          </a:prstGeom>
          <a:noFill/>
          <a:ln>
            <a:noFill/>
          </a:ln>
        </p:spPr>
        <p:txBody>
          <a:bodyPr spcFirstLastPara="1" wrap="square" lIns="91406" tIns="91406" rIns="91406" bIns="91406" anchor="t" anchorCtr="0">
            <a:noAutofit/>
          </a:bodyPr>
          <a:lstStyle/>
          <a:p>
            <a:pPr>
              <a:buSzPts val="1100"/>
            </a:pPr>
            <a:r>
              <a:rPr lang="en-US" dirty="0">
                <a:solidFill>
                  <a:schemeClr val="dk1"/>
                </a:solidFill>
              </a:rPr>
              <a:t>0327 – </a:t>
            </a:r>
            <a:r>
              <a:rPr lang="zh-TW" altLang="en-US" dirty="0">
                <a:solidFill>
                  <a:schemeClr val="dk1"/>
                </a:solidFill>
              </a:rPr>
              <a:t>要改敘述</a:t>
            </a:r>
            <a:endParaRPr dirty="0">
              <a:solidFill>
                <a:schemeClr val="dk1"/>
              </a:solidFill>
            </a:endParaRPr>
          </a:p>
        </p:txBody>
      </p:sp>
    </p:spTree>
    <p:extLst>
      <p:ext uri="{BB962C8B-B14F-4D97-AF65-F5344CB8AC3E}">
        <p14:creationId xmlns:p14="http://schemas.microsoft.com/office/powerpoint/2010/main" val="10286488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54146-4D19-A424-B3BF-A8F93F5FAC9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79B0390-0EAE-097A-D6DE-133AC32C94E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57831CA-0017-7740-4EA1-42CEA9E5F5C0}"/>
              </a:ext>
            </a:extLst>
          </p:cNvPr>
          <p:cNvSpPr>
            <a:spLocks noGrp="1"/>
          </p:cNvSpPr>
          <p:nvPr>
            <p:ph type="body" idx="1"/>
          </p:nvPr>
        </p:nvSpPr>
        <p:spPr/>
        <p:txBody>
          <a:bodyPr/>
          <a:lstStyle/>
          <a:p>
            <a:r>
              <a:rPr lang="zh-TW" altLang="en-US" dirty="0"/>
              <a:t>意圖判斷夠準確 </a:t>
            </a:r>
            <a:r>
              <a:rPr lang="en-US" altLang="zh-TW" dirty="0"/>
              <a:t>-&gt; </a:t>
            </a:r>
            <a:r>
              <a:rPr lang="zh-TW" altLang="en-US" dirty="0"/>
              <a:t>判斷 </a:t>
            </a:r>
            <a:r>
              <a:rPr lang="en-US" altLang="zh-TW" dirty="0"/>
              <a:t>intention </a:t>
            </a:r>
            <a:r>
              <a:rPr lang="zh-TW" altLang="en-US" dirty="0"/>
              <a:t>這件是滿準的，用這個來做是很可靠的一個 </a:t>
            </a:r>
            <a:r>
              <a:rPr lang="en-US" altLang="zh-TW" dirty="0"/>
              <a:t>approach -&gt; </a:t>
            </a:r>
            <a:r>
              <a:rPr lang="zh-TW" altLang="en-US" dirty="0"/>
              <a:t>有訓練根沒訓練都更準，這招有用已經很可靠。</a:t>
            </a:r>
            <a:endParaRPr lang="en-US" altLang="zh-TW" dirty="0"/>
          </a:p>
          <a:p>
            <a:endParaRPr lang="en-US" altLang="zh-TW" dirty="0"/>
          </a:p>
          <a:p>
            <a:r>
              <a:rPr lang="en-US" altLang="zh-TW" dirty="0"/>
              <a:t>KL</a:t>
            </a:r>
            <a:r>
              <a:rPr lang="zh-TW" altLang="en-US" dirty="0"/>
              <a:t> 說明和原本模型行為差越來越多。</a:t>
            </a:r>
            <a:endParaRPr lang="en-US" altLang="zh-TW" dirty="0"/>
          </a:p>
        </p:txBody>
      </p:sp>
      <p:sp>
        <p:nvSpPr>
          <p:cNvPr id="4" name="投影片編號版面配置區 3">
            <a:extLst>
              <a:ext uri="{FF2B5EF4-FFF2-40B4-BE49-F238E27FC236}">
                <a16:creationId xmlns:a16="http://schemas.microsoft.com/office/drawing/2014/main" id="{3D9AE131-5B2B-8400-17A7-D28E6DA4A024}"/>
              </a:ext>
            </a:extLst>
          </p:cNvPr>
          <p:cNvSpPr>
            <a:spLocks noGrp="1"/>
          </p:cNvSpPr>
          <p:nvPr>
            <p:ph type="sldNum" sz="quarter" idx="5"/>
          </p:nvPr>
        </p:nvSpPr>
        <p:spPr/>
        <p:txBody>
          <a:bodyPr/>
          <a:lstStyle/>
          <a:p>
            <a:fld id="{7158F2C8-1ADC-47B4-8041-A07664DB9A1F}" type="slidenum">
              <a:rPr lang="zh-TW" altLang="en-US" smtClean="0"/>
              <a:t>74</a:t>
            </a:fld>
            <a:endParaRPr lang="zh-TW" altLang="en-US"/>
          </a:p>
        </p:txBody>
      </p:sp>
    </p:spTree>
    <p:extLst>
      <p:ext uri="{BB962C8B-B14F-4D97-AF65-F5344CB8AC3E}">
        <p14:creationId xmlns:p14="http://schemas.microsoft.com/office/powerpoint/2010/main" val="39533323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A46AD-7D46-6F2C-C459-CF968287186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4F2DD4C-F437-ECBB-7D22-7C8673F5AA4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252329D-13DA-FBA4-05E4-108F59CC9360}"/>
              </a:ext>
            </a:extLst>
          </p:cNvPr>
          <p:cNvSpPr>
            <a:spLocks noGrp="1"/>
          </p:cNvSpPr>
          <p:nvPr>
            <p:ph type="body" idx="1"/>
          </p:nvPr>
        </p:nvSpPr>
        <p:spPr/>
        <p:txBody>
          <a:bodyPr/>
          <a:lstStyle/>
          <a:p>
            <a:r>
              <a:rPr lang="zh-TW" altLang="en-US" dirty="0"/>
              <a:t>為了測量策略和攻擊者意圖的相關性，我們設計了以下消融實驗。</a:t>
            </a:r>
            <a:endParaRPr lang="en-US" altLang="zh-TW" dirty="0"/>
          </a:p>
          <a:p>
            <a:endParaRPr lang="en-US" altLang="zh-TW" dirty="0"/>
          </a:p>
          <a:p>
            <a:r>
              <a:rPr lang="en-US" altLang="zh-TW" dirty="0"/>
              <a:t>3</a:t>
            </a:r>
            <a:r>
              <a:rPr lang="zh-TW" altLang="en-US" dirty="0"/>
              <a:t> 個方法的共同評估指標是：所輸出的策略和攻擊者意圖的關聯性。</a:t>
            </a:r>
            <a:endParaRPr lang="en-US" altLang="zh-TW" dirty="0"/>
          </a:p>
          <a:p>
            <a:endParaRPr lang="en-US" altLang="zh-TW" dirty="0"/>
          </a:p>
          <a:p>
            <a:r>
              <a:rPr lang="en-US" altLang="zh-TW" dirty="0"/>
              <a:t>M0:  </a:t>
            </a:r>
            <a:r>
              <a:rPr lang="zh-TW" altLang="en-US" dirty="0"/>
              <a:t>在具有 </a:t>
            </a:r>
            <a:r>
              <a:rPr lang="en-US" altLang="zh-TW" dirty="0"/>
              <a:t>Chain of Thought </a:t>
            </a:r>
            <a:r>
              <a:rPr lang="zh-TW" altLang="en-US" dirty="0"/>
              <a:t>的情況下，模型輸出的相關性是最高的，為什麼不會到 </a:t>
            </a:r>
            <a:r>
              <a:rPr lang="en-US" altLang="zh-TW" dirty="0"/>
              <a:t>100% </a:t>
            </a:r>
            <a:r>
              <a:rPr lang="zh-TW" altLang="en-US" dirty="0"/>
              <a:t>是因為除了攻擊者意圖之外，</a:t>
            </a:r>
            <a:r>
              <a:rPr lang="en-US" altLang="zh-TW" dirty="0"/>
              <a:t>LLM</a:t>
            </a:r>
            <a:r>
              <a:rPr lang="zh-TW" altLang="en-US" dirty="0"/>
              <a:t> 還需要從有限的策略原語空間內選擇一個最合適的產生策略</a:t>
            </a:r>
            <a:endParaRPr lang="en-US" altLang="zh-TW" dirty="0"/>
          </a:p>
          <a:p>
            <a:r>
              <a:rPr lang="en-US" altLang="zh-TW" dirty="0"/>
              <a:t>M1: </a:t>
            </a:r>
            <a:r>
              <a:rPr lang="zh-TW" altLang="en-US" dirty="0"/>
              <a:t> 在去除 </a:t>
            </a:r>
            <a:r>
              <a:rPr lang="en-US" altLang="zh-TW" dirty="0"/>
              <a:t>Chain of Thought </a:t>
            </a:r>
            <a:r>
              <a:rPr lang="zh-TW" altLang="en-US" dirty="0"/>
              <a:t>的影響，模型僅依靠指令序列是否也能推論出和攻擊意圖相關的策略？</a:t>
            </a:r>
            <a:br>
              <a:rPr lang="en-US" altLang="zh-TW" dirty="0"/>
            </a:br>
            <a:r>
              <a:rPr lang="en-US" altLang="zh-TW" dirty="0"/>
              <a:t>M2: </a:t>
            </a:r>
            <a:r>
              <a:rPr lang="zh-TW" altLang="en-US" dirty="0"/>
              <a:t> 去除 </a:t>
            </a:r>
            <a:r>
              <a:rPr lang="en-US" altLang="zh-TW" dirty="0"/>
              <a:t>Command, </a:t>
            </a:r>
            <a:r>
              <a:rPr lang="zh-TW" altLang="en-US" dirty="0"/>
              <a:t>直接注入 </a:t>
            </a:r>
            <a:r>
              <a:rPr lang="en-US" altLang="zh-TW" dirty="0"/>
              <a:t>Baseline </a:t>
            </a:r>
            <a:r>
              <a:rPr lang="zh-TW" altLang="en-US" dirty="0"/>
              <a:t>的 </a:t>
            </a:r>
            <a:r>
              <a:rPr lang="en-US" altLang="zh-TW" dirty="0"/>
              <a:t>Intent </a:t>
            </a:r>
            <a:r>
              <a:rPr lang="zh-TW" altLang="en-US" dirty="0"/>
              <a:t>推論結果，模型是否能夠單純依靠指令序列推論出和攻擊意圖相關的策略 </a:t>
            </a:r>
            <a:r>
              <a:rPr lang="en-US" altLang="zh-TW" dirty="0"/>
              <a:t>?</a:t>
            </a:r>
          </a:p>
          <a:p>
            <a:endParaRPr lang="en-US" altLang="zh-TW" dirty="0"/>
          </a:p>
          <a:p>
            <a:r>
              <a:rPr lang="zh-TW" altLang="en-US" dirty="0"/>
              <a:t>從實驗結果來看，尚未訓練的模型在預設根據指令推論出來的意圖和策略相關性的分數本來就比較低，而且模型對於指令的依賴度會稍微大於 </a:t>
            </a:r>
            <a:r>
              <a:rPr lang="en-US" altLang="zh-TW" dirty="0"/>
              <a:t>intent</a:t>
            </a:r>
            <a:r>
              <a:rPr lang="zh-TW" altLang="en-US" dirty="0"/>
              <a:t>。</a:t>
            </a:r>
            <a:endParaRPr lang="en-US" altLang="zh-TW" dirty="0"/>
          </a:p>
          <a:p>
            <a:r>
              <a:rPr lang="zh-TW" altLang="en-US" dirty="0"/>
              <a:t>訓練之後這個依賴關係就翻轉了，且模型能夠推論出更具相關性的策略出來。</a:t>
            </a:r>
            <a:endParaRPr lang="en-US" altLang="zh-TW" dirty="0"/>
          </a:p>
          <a:p>
            <a:endParaRPr lang="en-US" altLang="zh-TW" dirty="0"/>
          </a:p>
          <a:p>
            <a:r>
              <a:rPr lang="zh-TW" altLang="en-US" dirty="0"/>
              <a:t>另外，這張圖說明的指是模型對於指令和</a:t>
            </a:r>
            <a:r>
              <a:rPr lang="en-US" altLang="zh-TW" dirty="0"/>
              <a:t>Chain-of-Thought </a:t>
            </a:r>
            <a:r>
              <a:rPr lang="zh-TW" altLang="en-US" dirty="0"/>
              <a:t>的依賴程度，實際情況仍然是要讓模型能夠進行完整推演才能達到最高的效益。</a:t>
            </a:r>
            <a:endParaRPr lang="en-US" altLang="zh-TW" dirty="0"/>
          </a:p>
        </p:txBody>
      </p:sp>
      <p:sp>
        <p:nvSpPr>
          <p:cNvPr id="4" name="投影片編號版面配置區 3">
            <a:extLst>
              <a:ext uri="{FF2B5EF4-FFF2-40B4-BE49-F238E27FC236}">
                <a16:creationId xmlns:a16="http://schemas.microsoft.com/office/drawing/2014/main" id="{945449B4-A1DF-B2F6-3053-37C42F86452F}"/>
              </a:ext>
            </a:extLst>
          </p:cNvPr>
          <p:cNvSpPr>
            <a:spLocks noGrp="1"/>
          </p:cNvSpPr>
          <p:nvPr>
            <p:ph type="sldNum" sz="quarter" idx="5"/>
          </p:nvPr>
        </p:nvSpPr>
        <p:spPr/>
        <p:txBody>
          <a:bodyPr/>
          <a:lstStyle/>
          <a:p>
            <a:fld id="{7158F2C8-1ADC-47B4-8041-A07664DB9A1F}" type="slidenum">
              <a:rPr lang="zh-TW" altLang="en-US" smtClean="0"/>
              <a:t>75</a:t>
            </a:fld>
            <a:endParaRPr lang="zh-TW" altLang="en-US"/>
          </a:p>
        </p:txBody>
      </p:sp>
    </p:spTree>
    <p:extLst>
      <p:ext uri="{BB962C8B-B14F-4D97-AF65-F5344CB8AC3E}">
        <p14:creationId xmlns:p14="http://schemas.microsoft.com/office/powerpoint/2010/main" val="223839193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EF73A-8375-513B-96A9-2A10327EA99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CFB043B-63DF-1427-271C-1969314E33B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4F50540-8F59-8A87-C9C1-A43237399A2A}"/>
              </a:ext>
            </a:extLst>
          </p:cNvPr>
          <p:cNvSpPr>
            <a:spLocks noGrp="1"/>
          </p:cNvSpPr>
          <p:nvPr>
            <p:ph type="body" idx="1"/>
          </p:nvPr>
        </p:nvSpPr>
        <p:spPr/>
        <p:txBody>
          <a:bodyPr/>
          <a:lstStyle/>
          <a:p>
            <a:r>
              <a:rPr lang="zh-TW" altLang="en-US" dirty="0"/>
              <a:t>我想回答的問題是 </a:t>
            </a:r>
            <a:r>
              <a:rPr lang="en-US" altLang="zh-TW" dirty="0"/>
              <a:t>?</a:t>
            </a:r>
            <a:r>
              <a:rPr lang="zh-TW" altLang="en-US" dirty="0"/>
              <a:t> 為什麼前面結果比較好 </a:t>
            </a:r>
            <a:r>
              <a:rPr lang="en-US" altLang="zh-TW" dirty="0"/>
              <a:t>?</a:t>
            </a:r>
            <a:r>
              <a:rPr lang="zh-TW" altLang="en-US" dirty="0"/>
              <a:t> 有 </a:t>
            </a:r>
            <a:r>
              <a:rPr lang="en-US" altLang="zh-TW" dirty="0"/>
              <a:t>intent </a:t>
            </a:r>
            <a:r>
              <a:rPr lang="zh-TW" altLang="en-US" dirty="0"/>
              <a:t>和沒 </a:t>
            </a:r>
            <a:r>
              <a:rPr lang="en-US" altLang="zh-TW" dirty="0"/>
              <a:t>intent </a:t>
            </a:r>
            <a:r>
              <a:rPr lang="zh-TW" altLang="en-US" dirty="0"/>
              <a:t>差在哪裡 </a:t>
            </a:r>
            <a:r>
              <a:rPr lang="en-US" altLang="zh-TW" dirty="0"/>
              <a:t>-&gt; </a:t>
            </a:r>
            <a:r>
              <a:rPr lang="zh-TW" altLang="en-US" dirty="0"/>
              <a:t>相關性變好，所以更能投其所好，讓結果上升。</a:t>
            </a:r>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zh-TW" altLang="en-US" dirty="0"/>
              <a:t>為了測量策略和攻擊者意圖的相關性，我們設計了以下消融實驗。</a:t>
            </a:r>
            <a:endParaRPr lang="en-US" altLang="zh-TW" dirty="0"/>
          </a:p>
          <a:p>
            <a:endParaRPr lang="en-US" altLang="zh-TW" dirty="0"/>
          </a:p>
          <a:p>
            <a:r>
              <a:rPr lang="en-US" altLang="zh-TW" dirty="0"/>
              <a:t>3</a:t>
            </a:r>
            <a:r>
              <a:rPr lang="zh-TW" altLang="en-US" dirty="0"/>
              <a:t> 個方法的共同評估指標是：所輸出的策略和攻擊者意圖的關聯性。</a:t>
            </a:r>
            <a:endParaRPr lang="en-US" altLang="zh-TW" dirty="0"/>
          </a:p>
          <a:p>
            <a:endParaRPr lang="en-US" altLang="zh-TW" dirty="0"/>
          </a:p>
          <a:p>
            <a:r>
              <a:rPr lang="en-US" altLang="zh-TW" dirty="0"/>
              <a:t>M0:  </a:t>
            </a:r>
            <a:r>
              <a:rPr lang="zh-TW" altLang="en-US" dirty="0"/>
              <a:t>在具有 </a:t>
            </a:r>
            <a:r>
              <a:rPr lang="en-US" altLang="zh-TW" dirty="0"/>
              <a:t>Chain of Thought </a:t>
            </a:r>
            <a:r>
              <a:rPr lang="zh-TW" altLang="en-US" dirty="0"/>
              <a:t>的情況下，模型輸出的相關性是最高的，為什麼不會到 </a:t>
            </a:r>
            <a:r>
              <a:rPr lang="en-US" altLang="zh-TW" dirty="0"/>
              <a:t>100% </a:t>
            </a:r>
            <a:r>
              <a:rPr lang="zh-TW" altLang="en-US" dirty="0"/>
              <a:t>是因為除了攻擊者意圖之外，</a:t>
            </a:r>
            <a:r>
              <a:rPr lang="en-US" altLang="zh-TW" dirty="0"/>
              <a:t>LLM</a:t>
            </a:r>
            <a:r>
              <a:rPr lang="zh-TW" altLang="en-US" dirty="0"/>
              <a:t> 還需要從有限的策略原語空間內選擇一個最合適的產生策略</a:t>
            </a:r>
            <a:endParaRPr lang="en-US" altLang="zh-TW" dirty="0"/>
          </a:p>
          <a:p>
            <a:r>
              <a:rPr lang="en-US" altLang="zh-TW" dirty="0"/>
              <a:t>M1: </a:t>
            </a:r>
            <a:r>
              <a:rPr lang="zh-TW" altLang="en-US" dirty="0"/>
              <a:t> 在去除 </a:t>
            </a:r>
            <a:r>
              <a:rPr lang="en-US" altLang="zh-TW" dirty="0"/>
              <a:t>Chain of Thought </a:t>
            </a:r>
            <a:r>
              <a:rPr lang="zh-TW" altLang="en-US" dirty="0"/>
              <a:t>的影響，模型僅依靠指令序列是否也能推論出和攻擊意圖相關的策略？</a:t>
            </a:r>
            <a:br>
              <a:rPr lang="en-US" altLang="zh-TW" dirty="0"/>
            </a:br>
            <a:r>
              <a:rPr lang="en-US" altLang="zh-TW" dirty="0"/>
              <a:t>M2: </a:t>
            </a:r>
            <a:r>
              <a:rPr lang="zh-TW" altLang="en-US" dirty="0"/>
              <a:t> 去除 </a:t>
            </a:r>
            <a:r>
              <a:rPr lang="en-US" altLang="zh-TW" dirty="0"/>
              <a:t>Command, </a:t>
            </a:r>
            <a:r>
              <a:rPr lang="zh-TW" altLang="en-US" dirty="0"/>
              <a:t>直接注入 </a:t>
            </a:r>
            <a:r>
              <a:rPr lang="en-US" altLang="zh-TW" dirty="0"/>
              <a:t>Baseline </a:t>
            </a:r>
            <a:r>
              <a:rPr lang="zh-TW" altLang="en-US" dirty="0"/>
              <a:t>的 </a:t>
            </a:r>
            <a:r>
              <a:rPr lang="en-US" altLang="zh-TW" dirty="0"/>
              <a:t>Intent </a:t>
            </a:r>
            <a:r>
              <a:rPr lang="zh-TW" altLang="en-US" dirty="0"/>
              <a:t>推論結果，模型是否能夠單純依靠指令序列推論出和攻擊意圖相關的策略 </a:t>
            </a:r>
            <a:r>
              <a:rPr lang="en-US" altLang="zh-TW" dirty="0"/>
              <a:t>?</a:t>
            </a:r>
          </a:p>
          <a:p>
            <a:endParaRPr lang="en-US" altLang="zh-TW" dirty="0"/>
          </a:p>
          <a:p>
            <a:r>
              <a:rPr lang="zh-TW" altLang="en-US" dirty="0"/>
              <a:t>從實驗結果來看，尚未訓練的模型在預設根據指令推論出來的意圖和策略相關性的分數本來就比較低，而且模型對於指令的依賴度會稍微大於 </a:t>
            </a:r>
            <a:r>
              <a:rPr lang="en-US" altLang="zh-TW" dirty="0"/>
              <a:t>intent</a:t>
            </a:r>
            <a:r>
              <a:rPr lang="zh-TW" altLang="en-US" dirty="0"/>
              <a:t>。</a:t>
            </a:r>
            <a:endParaRPr lang="en-US" altLang="zh-TW" dirty="0"/>
          </a:p>
          <a:p>
            <a:r>
              <a:rPr lang="zh-TW" altLang="en-US" dirty="0"/>
              <a:t>訓練之後這個依賴關係就翻轉了，且模型能夠推論出更具相關性的策略出來。</a:t>
            </a:r>
            <a:endParaRPr lang="en-US" altLang="zh-TW" dirty="0"/>
          </a:p>
          <a:p>
            <a:endParaRPr lang="en-US" altLang="zh-TW" dirty="0"/>
          </a:p>
          <a:p>
            <a:r>
              <a:rPr lang="zh-TW" altLang="en-US" dirty="0"/>
              <a:t>另外，這張圖說明的指是模型對於指令和</a:t>
            </a:r>
            <a:r>
              <a:rPr lang="en-US" altLang="zh-TW" dirty="0"/>
              <a:t>Chain-of-Thought </a:t>
            </a:r>
            <a:r>
              <a:rPr lang="zh-TW" altLang="en-US" dirty="0"/>
              <a:t>的依賴程度，實際情況仍然是要讓模型能夠進行完整推演才能達到最高的效益。</a:t>
            </a:r>
            <a:endParaRPr lang="en-US" altLang="zh-TW" dirty="0"/>
          </a:p>
          <a:p>
            <a:endParaRPr lang="en-US" altLang="zh-TW" dirty="0"/>
          </a:p>
          <a:p>
            <a:r>
              <a:rPr lang="en-US" altLang="zh-TW" b="1" dirty="0"/>
              <a:t>M2 </a:t>
            </a:r>
            <a:r>
              <a:rPr lang="zh-TW" altLang="en-US" b="1" dirty="0"/>
              <a:t>可以刪掉 </a:t>
            </a:r>
            <a:r>
              <a:rPr lang="en-US" altLang="zh-TW" b="1" dirty="0"/>
              <a:t>-&gt; </a:t>
            </a:r>
            <a:r>
              <a:rPr lang="zh-TW" altLang="en-US" b="1" dirty="0"/>
              <a:t>說明我們訓練完的模型確實在策略和攻擊者意圖相關性上會比較好，且訓練完後會更依賴 </a:t>
            </a:r>
            <a:r>
              <a:rPr lang="en-US" altLang="zh-TW" b="1" dirty="0"/>
              <a:t>intent</a:t>
            </a:r>
            <a:r>
              <a:rPr lang="zh-TW" altLang="en-US" b="1" dirty="0"/>
              <a:t>，這張圖是作為前面兩張圖的補充。</a:t>
            </a:r>
            <a:endParaRPr lang="en-US" altLang="zh-TW" b="1" dirty="0"/>
          </a:p>
          <a:p>
            <a:endParaRPr lang="en-US" altLang="zh-TW" dirty="0"/>
          </a:p>
          <a:p>
            <a:r>
              <a:rPr lang="en-US" altLang="zh-TW" dirty="0"/>
              <a:t>Observation:</a:t>
            </a:r>
          </a:p>
          <a:p>
            <a:endParaRPr lang="en-US" altLang="zh-TW" dirty="0"/>
          </a:p>
          <a:p>
            <a:r>
              <a:rPr lang="en-US" altLang="zh-TW" dirty="0"/>
              <a:t>Why(insight):</a:t>
            </a:r>
          </a:p>
          <a:p>
            <a:endParaRPr lang="en-US" altLang="zh-TW" dirty="0"/>
          </a:p>
          <a:p>
            <a:r>
              <a:rPr lang="en-US" altLang="zh-TW" dirty="0"/>
              <a:t>Implication:</a:t>
            </a:r>
          </a:p>
        </p:txBody>
      </p:sp>
      <p:sp>
        <p:nvSpPr>
          <p:cNvPr id="4" name="投影片編號版面配置區 3">
            <a:extLst>
              <a:ext uri="{FF2B5EF4-FFF2-40B4-BE49-F238E27FC236}">
                <a16:creationId xmlns:a16="http://schemas.microsoft.com/office/drawing/2014/main" id="{F4A801EC-6B4B-5D5F-D8EE-B2707CCD84A1}"/>
              </a:ext>
            </a:extLst>
          </p:cNvPr>
          <p:cNvSpPr>
            <a:spLocks noGrp="1"/>
          </p:cNvSpPr>
          <p:nvPr>
            <p:ph type="sldNum" sz="quarter" idx="5"/>
          </p:nvPr>
        </p:nvSpPr>
        <p:spPr/>
        <p:txBody>
          <a:bodyPr/>
          <a:lstStyle/>
          <a:p>
            <a:fld id="{7158F2C8-1ADC-47B4-8041-A07664DB9A1F}" type="slidenum">
              <a:rPr lang="zh-TW" altLang="en-US" smtClean="0"/>
              <a:t>76</a:t>
            </a:fld>
            <a:endParaRPr lang="zh-TW" altLang="en-US"/>
          </a:p>
        </p:txBody>
      </p:sp>
    </p:spTree>
    <p:extLst>
      <p:ext uri="{BB962C8B-B14F-4D97-AF65-F5344CB8AC3E}">
        <p14:creationId xmlns:p14="http://schemas.microsoft.com/office/powerpoint/2010/main" val="13114427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Title – subtitle(</a:t>
            </a:r>
            <a:r>
              <a:rPr lang="zh-TW" altLang="en-US" dirty="0"/>
              <a:t>答案</a:t>
            </a:r>
            <a:r>
              <a:rPr lang="en-US" altLang="zh-TW" dirty="0"/>
              <a:t>)</a:t>
            </a:r>
            <a:r>
              <a:rPr lang="zh-TW" altLang="en-US" dirty="0"/>
              <a:t> </a:t>
            </a:r>
            <a:r>
              <a:rPr lang="en-US" altLang="zh-TW" dirty="0"/>
              <a:t>- summarize</a:t>
            </a:r>
            <a:endParaRPr lang="zh-TW" altLang="en-US" dirty="0"/>
          </a:p>
        </p:txBody>
      </p:sp>
      <p:sp>
        <p:nvSpPr>
          <p:cNvPr id="4" name="投影片編號版面配置區 3"/>
          <p:cNvSpPr>
            <a:spLocks noGrp="1"/>
          </p:cNvSpPr>
          <p:nvPr>
            <p:ph type="sldNum" sz="quarter" idx="5"/>
          </p:nvPr>
        </p:nvSpPr>
        <p:spPr/>
        <p:txBody>
          <a:bodyPr/>
          <a:lstStyle/>
          <a:p>
            <a:fld id="{7158F2C8-1ADC-47B4-8041-A07664DB9A1F}" type="slidenum">
              <a:rPr lang="zh-TW" altLang="en-US" smtClean="0"/>
              <a:t>77</a:t>
            </a:fld>
            <a:endParaRPr lang="zh-TW" altLang="en-US"/>
          </a:p>
        </p:txBody>
      </p:sp>
    </p:spTree>
    <p:extLst>
      <p:ext uri="{BB962C8B-B14F-4D97-AF65-F5344CB8AC3E}">
        <p14:creationId xmlns:p14="http://schemas.microsoft.com/office/powerpoint/2010/main" val="136711957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資料擴增 </a:t>
            </a:r>
            <a:r>
              <a:rPr lang="en-US" altLang="zh-TW" dirty="0"/>
              <a:t>for SFT – Do not fully learn the teacher distribution.</a:t>
            </a:r>
          </a:p>
          <a:p>
            <a:pPr marL="171450" indent="-171450">
              <a:buFontTx/>
              <a:buChar char="-"/>
            </a:pPr>
            <a:r>
              <a:rPr lang="en-US" altLang="zh-TW" dirty="0"/>
              <a:t>Remove aware only</a:t>
            </a:r>
          </a:p>
          <a:p>
            <a:pPr marL="171450" indent="-171450">
              <a:buFontTx/>
              <a:buChar char="-"/>
            </a:pPr>
            <a:r>
              <a:rPr lang="en-US" altLang="zh-TW"/>
              <a:t>Remove Base Model</a:t>
            </a:r>
          </a:p>
          <a:p>
            <a:pPr marL="171450" indent="-171450">
              <a:buFontTx/>
              <a:buChar char="-"/>
            </a:pPr>
            <a:endParaRPr lang="en-US" altLang="zh-TW"/>
          </a:p>
        </p:txBody>
      </p:sp>
      <p:sp>
        <p:nvSpPr>
          <p:cNvPr id="4" name="投影片編號版面配置區 3"/>
          <p:cNvSpPr>
            <a:spLocks noGrp="1"/>
          </p:cNvSpPr>
          <p:nvPr>
            <p:ph type="sldNum" sz="quarter" idx="5"/>
          </p:nvPr>
        </p:nvSpPr>
        <p:spPr/>
        <p:txBody>
          <a:bodyPr/>
          <a:lstStyle/>
          <a:p>
            <a:fld id="{7158F2C8-1ADC-47B4-8041-A07664DB9A1F}" type="slidenum">
              <a:rPr lang="zh-TW" altLang="en-US" smtClean="0"/>
              <a:t>78</a:t>
            </a:fld>
            <a:endParaRPr lang="zh-TW" altLang="en-US"/>
          </a:p>
        </p:txBody>
      </p:sp>
    </p:spTree>
    <p:extLst>
      <p:ext uri="{BB962C8B-B14F-4D97-AF65-F5344CB8AC3E}">
        <p14:creationId xmlns:p14="http://schemas.microsoft.com/office/powerpoint/2010/main" val="2184366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2E66A-FB67-5B89-47F6-729803B331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788883B-8FEC-8110-05AC-5A7494E954C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A9189B7-B27E-89A9-F13F-61206F985788}"/>
              </a:ext>
            </a:extLst>
          </p:cNvPr>
          <p:cNvSpPr>
            <a:spLocks noGrp="1"/>
          </p:cNvSpPr>
          <p:nvPr>
            <p:ph type="body" idx="1"/>
          </p:nvPr>
        </p:nvSpPr>
        <p:spPr/>
        <p:txBody>
          <a:bodyPr/>
          <a:lstStyle/>
          <a:p>
            <a:r>
              <a:rPr lang="zh-TW" altLang="en-US" dirty="0"/>
              <a:t>為什麼 </a:t>
            </a:r>
            <a:r>
              <a:rPr lang="en-US" altLang="zh-TW" dirty="0"/>
              <a:t>GPT-5o </a:t>
            </a:r>
            <a:r>
              <a:rPr lang="zh-TW" altLang="en-US" dirty="0"/>
              <a:t>和 </a:t>
            </a:r>
            <a:r>
              <a:rPr lang="en-US" altLang="zh-TW" dirty="0"/>
              <a:t>Base Model </a:t>
            </a:r>
            <a:r>
              <a:rPr lang="zh-TW" altLang="en-US" dirty="0"/>
              <a:t>多樣性差不多 </a:t>
            </a:r>
            <a:r>
              <a:rPr lang="en-US" altLang="zh-TW" dirty="0"/>
              <a:t>?</a:t>
            </a:r>
            <a:r>
              <a:rPr lang="zh-TW" altLang="en-US" dirty="0"/>
              <a:t> </a:t>
            </a:r>
            <a:endParaRPr lang="en-US" altLang="zh-TW" dirty="0"/>
          </a:p>
          <a:p>
            <a:r>
              <a:rPr lang="zh-TW" altLang="en-US" dirty="0"/>
              <a:t>這是</a:t>
            </a:r>
            <a:r>
              <a:rPr lang="zh-TW" altLang="en-US"/>
              <a:t>因為他們雖然預設策略偏好不同，但是基本上都是同一招。</a:t>
            </a:r>
            <a:endParaRPr lang="en-US" altLang="zh-TW" dirty="0"/>
          </a:p>
          <a:p>
            <a:endParaRPr lang="en-US" altLang="zh-TW" dirty="0"/>
          </a:p>
          <a:p>
            <a:r>
              <a:rPr lang="en-US" altLang="zh-TW" dirty="0"/>
              <a:t>Add intermediate results ?</a:t>
            </a:r>
          </a:p>
          <a:p>
            <a:endParaRPr lang="en-US" altLang="zh-TW" dirty="0"/>
          </a:p>
          <a:p>
            <a:r>
              <a:rPr lang="zh-TW" altLang="en-US" dirty="0"/>
              <a:t>比他好 </a:t>
            </a:r>
            <a:r>
              <a:rPr lang="en-US" altLang="zh-TW" dirty="0"/>
              <a:t>-&gt; </a:t>
            </a:r>
            <a:r>
              <a:rPr lang="zh-TW" altLang="en-US" dirty="0"/>
              <a:t>好多少 </a:t>
            </a:r>
            <a:r>
              <a:rPr lang="en-US" altLang="zh-TW" dirty="0"/>
              <a:t>-&gt; </a:t>
            </a:r>
            <a:r>
              <a:rPr lang="zh-TW" altLang="en-US" dirty="0"/>
              <a:t>貢獻在哪 </a:t>
            </a:r>
            <a:r>
              <a:rPr lang="en-US" altLang="zh-TW" dirty="0"/>
              <a:t>= insight -&gt;</a:t>
            </a:r>
            <a:r>
              <a:rPr lang="zh-TW" altLang="en-US" dirty="0"/>
              <a:t> </a:t>
            </a:r>
            <a:r>
              <a:rPr lang="en-US" altLang="zh-TW" dirty="0"/>
              <a:t>GPT-5o -&gt; </a:t>
            </a:r>
          </a:p>
        </p:txBody>
      </p:sp>
      <p:sp>
        <p:nvSpPr>
          <p:cNvPr id="4" name="投影片編號版面配置區 3">
            <a:extLst>
              <a:ext uri="{FF2B5EF4-FFF2-40B4-BE49-F238E27FC236}">
                <a16:creationId xmlns:a16="http://schemas.microsoft.com/office/drawing/2014/main" id="{4699F192-3E0C-6E70-C559-983BC991F942}"/>
              </a:ext>
            </a:extLst>
          </p:cNvPr>
          <p:cNvSpPr>
            <a:spLocks noGrp="1"/>
          </p:cNvSpPr>
          <p:nvPr>
            <p:ph type="sldNum" sz="quarter" idx="5"/>
          </p:nvPr>
        </p:nvSpPr>
        <p:spPr/>
        <p:txBody>
          <a:bodyPr/>
          <a:lstStyle/>
          <a:p>
            <a:fld id="{7158F2C8-1ADC-47B4-8041-A07664DB9A1F}" type="slidenum">
              <a:rPr lang="zh-TW" altLang="en-US" smtClean="0"/>
              <a:t>79</a:t>
            </a:fld>
            <a:endParaRPr lang="zh-TW" altLang="en-US"/>
          </a:p>
        </p:txBody>
      </p:sp>
    </p:spTree>
    <p:extLst>
      <p:ext uri="{BB962C8B-B14F-4D97-AF65-F5344CB8AC3E}">
        <p14:creationId xmlns:p14="http://schemas.microsoft.com/office/powerpoint/2010/main" val="28274288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4099C-FFD8-9287-A1EB-28E3C989D18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F8FBFF9-53A1-1154-C0AD-60E78AE19D9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A05C356-23BC-BCAE-06E6-A8DDBEEA46CA}"/>
              </a:ext>
            </a:extLst>
          </p:cNvPr>
          <p:cNvSpPr>
            <a:spLocks noGrp="1"/>
          </p:cNvSpPr>
          <p:nvPr>
            <p:ph type="body" idx="1"/>
          </p:nvPr>
        </p:nvSpPr>
        <p:spPr/>
        <p:txBody>
          <a:bodyPr/>
          <a:lstStyle/>
          <a:p>
            <a:pPr marL="0" indent="0">
              <a:buNone/>
            </a:pPr>
            <a:r>
              <a:rPr lang="zh-TW" altLang="en-US" sz="1200" dirty="0">
                <a:latin typeface="Times New Roman" panose="02020603050405020304" pitchFamily="18" charset="0"/>
                <a:cs typeface="Times New Roman" panose="02020603050405020304" pitchFamily="18" charset="0"/>
              </a:rPr>
              <a:t>我們的實作中讓 </a:t>
            </a:r>
            <a:r>
              <a:rPr lang="en-US" altLang="zh-TW" sz="1200" dirty="0">
                <a:latin typeface="Times New Roman" panose="02020603050405020304" pitchFamily="18" charset="0"/>
                <a:cs typeface="Times New Roman" panose="02020603050405020304" pitchFamily="18" charset="0"/>
              </a:rPr>
              <a:t>LLM</a:t>
            </a:r>
            <a:r>
              <a:rPr lang="zh-TW" altLang="en-US" sz="1200" dirty="0">
                <a:latin typeface="Times New Roman" panose="02020603050405020304" pitchFamily="18" charset="0"/>
                <a:cs typeface="Times New Roman" panose="02020603050405020304" pitchFamily="18" charset="0"/>
              </a:rPr>
              <a:t> 輸出的 </a:t>
            </a:r>
            <a:r>
              <a:rPr lang="en-US" altLang="zh-TW" sz="1200" dirty="0">
                <a:latin typeface="Times New Roman" panose="02020603050405020304" pitchFamily="18" charset="0"/>
                <a:cs typeface="Times New Roman" panose="02020603050405020304" pitchFamily="18" charset="0"/>
              </a:rPr>
              <a:t>tactic</a:t>
            </a:r>
            <a:r>
              <a:rPr lang="zh-TW" altLang="en-US" sz="1200" dirty="0">
                <a:latin typeface="Times New Roman" panose="02020603050405020304" pitchFamily="18" charset="0"/>
                <a:cs typeface="Times New Roman" panose="02020603050405020304" pitchFamily="18" charset="0"/>
              </a:rPr>
              <a:t> </a:t>
            </a:r>
            <a:r>
              <a:rPr lang="en-US" altLang="zh-TW" sz="1200" dirty="0">
                <a:latin typeface="Times New Roman" panose="02020603050405020304" pitchFamily="18" charset="0"/>
                <a:cs typeface="Times New Roman" panose="02020603050405020304" pitchFamily="18" charset="0"/>
              </a:rPr>
              <a:t>list </a:t>
            </a:r>
            <a:r>
              <a:rPr lang="zh-TW" altLang="en-US" sz="1200" dirty="0">
                <a:latin typeface="Times New Roman" panose="02020603050405020304" pitchFamily="18" charset="0"/>
                <a:cs typeface="Times New Roman" panose="02020603050405020304" pitchFamily="18" charset="0"/>
              </a:rPr>
              <a:t>是一個 </a:t>
            </a:r>
            <a:r>
              <a:rPr lang="en-US" altLang="zh-TW" sz="1200" dirty="0">
                <a:latin typeface="Times New Roman" panose="02020603050405020304" pitchFamily="18" charset="0"/>
                <a:cs typeface="Times New Roman" panose="02020603050405020304" pitchFamily="18" charset="0"/>
              </a:rPr>
              <a:t>rarest 2 </a:t>
            </a:r>
            <a:r>
              <a:rPr lang="zh-TW" altLang="en-US" sz="1200" dirty="0">
                <a:latin typeface="Times New Roman" panose="02020603050405020304" pitchFamily="18" charset="0"/>
                <a:cs typeface="Times New Roman" panose="02020603050405020304" pitchFamily="18" charset="0"/>
              </a:rPr>
              <a:t>的陣列。</a:t>
            </a:r>
            <a:r>
              <a:rPr lang="en-US" altLang="zh-TW" sz="1200" dirty="0">
                <a:latin typeface="Times New Roman" panose="02020603050405020304" pitchFamily="18" charset="0"/>
                <a:cs typeface="Times New Roman" panose="02020603050405020304" pitchFamily="18" charset="0"/>
              </a:rPr>
              <a:t>(</a:t>
            </a:r>
            <a:r>
              <a:rPr lang="zh-TW" altLang="en-US" sz="1200" dirty="0">
                <a:latin typeface="Times New Roman" panose="02020603050405020304" pitchFamily="18" charset="0"/>
                <a:cs typeface="Times New Roman" panose="02020603050405020304" pitchFamily="18" charset="0"/>
              </a:rPr>
              <a:t>假設越少出現的越重要</a:t>
            </a:r>
            <a:r>
              <a:rPr lang="en-US" altLang="zh-TW" sz="1200" dirty="0">
                <a:latin typeface="Times New Roman" panose="02020603050405020304" pitchFamily="18" charset="0"/>
                <a:cs typeface="Times New Roman" panose="02020603050405020304" pitchFamily="18" charset="0"/>
              </a:rPr>
              <a:t>)</a:t>
            </a:r>
          </a:p>
          <a:p>
            <a:pPr marL="0" indent="0">
              <a:buNone/>
            </a:pPr>
            <a:endParaRPr lang="en-US" altLang="zh-TW" sz="1200" dirty="0">
              <a:latin typeface="Times New Roman" panose="02020603050405020304" pitchFamily="18" charset="0"/>
              <a:cs typeface="Times New Roman" panose="02020603050405020304" pitchFamily="18" charset="0"/>
            </a:endParaRPr>
          </a:p>
          <a:p>
            <a:pPr marL="0" indent="0">
              <a:buNone/>
            </a:pPr>
            <a:r>
              <a:rPr lang="en-US" altLang="zh-TW" sz="1200" dirty="0">
                <a:latin typeface="Times New Roman" panose="02020603050405020304" pitchFamily="18" charset="0"/>
                <a:cs typeface="Times New Roman" panose="02020603050405020304" pitchFamily="18" charset="0"/>
              </a:rPr>
              <a:t>603(463/59/81)</a:t>
            </a:r>
            <a:endParaRPr lang="zh-TW" altLang="en-US" sz="1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87A6C588-C9A9-514F-BF73-C8EE300DF506}"/>
              </a:ext>
            </a:extLst>
          </p:cNvPr>
          <p:cNvSpPr>
            <a:spLocks noGrp="1"/>
          </p:cNvSpPr>
          <p:nvPr>
            <p:ph type="sldNum" sz="quarter" idx="5"/>
          </p:nvPr>
        </p:nvSpPr>
        <p:spPr/>
        <p:txBody>
          <a:bodyPr/>
          <a:lstStyle/>
          <a:p>
            <a:fld id="{7158F2C8-1ADC-47B4-8041-A07664DB9A1F}" type="slidenum">
              <a:rPr lang="zh-TW" altLang="en-US" smtClean="0"/>
              <a:t>80</a:t>
            </a:fld>
            <a:endParaRPr lang="zh-TW" altLang="en-US"/>
          </a:p>
        </p:txBody>
      </p:sp>
    </p:spTree>
    <p:extLst>
      <p:ext uri="{BB962C8B-B14F-4D97-AF65-F5344CB8AC3E}">
        <p14:creationId xmlns:p14="http://schemas.microsoft.com/office/powerpoint/2010/main" val="3623619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086B07-82A8-A543-42CE-851D167FC57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CD85E02-D56F-E185-4451-EE66C41811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1059BDF-81F1-B091-CA5E-B8F6FB6CE3D5}"/>
              </a:ext>
            </a:extLst>
          </p:cNvPr>
          <p:cNvSpPr>
            <a:spLocks noGrp="1"/>
          </p:cNvSpPr>
          <p:nvPr>
            <p:ph type="dt" sz="half" idx="10"/>
          </p:nvPr>
        </p:nvSpPr>
        <p:spPr/>
        <p:txBody>
          <a:bodyPr/>
          <a:lstStyle/>
          <a:p>
            <a:endParaRPr lang="zh-TW" altLang="en-US"/>
          </a:p>
        </p:txBody>
      </p:sp>
      <p:sp>
        <p:nvSpPr>
          <p:cNvPr id="5" name="頁尾版面配置區 4">
            <a:extLst>
              <a:ext uri="{FF2B5EF4-FFF2-40B4-BE49-F238E27FC236}">
                <a16:creationId xmlns:a16="http://schemas.microsoft.com/office/drawing/2014/main" id="{35C5D4F4-4FB7-D653-C80A-14C3E47462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E6ADD62-CBB3-0394-9C83-77BF7D64FD22}"/>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61385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39A9EF-26DC-23FB-002C-FEC81DA3991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C5F26CA-709C-A840-6F5C-BFD6C543910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4AF90F9-78D7-1AA2-23C9-F31059BF9C03}"/>
              </a:ext>
            </a:extLst>
          </p:cNvPr>
          <p:cNvSpPr>
            <a:spLocks noGrp="1"/>
          </p:cNvSpPr>
          <p:nvPr>
            <p:ph type="dt" sz="half" idx="10"/>
          </p:nvPr>
        </p:nvSpPr>
        <p:spPr/>
        <p:txBody>
          <a:bodyPr/>
          <a:lstStyle/>
          <a:p>
            <a:endParaRPr lang="zh-TW" altLang="en-US"/>
          </a:p>
        </p:txBody>
      </p:sp>
      <p:sp>
        <p:nvSpPr>
          <p:cNvPr id="5" name="頁尾版面配置區 4">
            <a:extLst>
              <a:ext uri="{FF2B5EF4-FFF2-40B4-BE49-F238E27FC236}">
                <a16:creationId xmlns:a16="http://schemas.microsoft.com/office/drawing/2014/main" id="{3877C89B-2B6F-E1A7-DCFF-56495B6F453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649C96A-9A2A-BF85-B0A6-A6A8DEF3BAFE}"/>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269153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C25048-6946-FD9D-61A0-C6BB1710736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F0F9CC9-CDB4-6AEF-21A8-84144829C5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0DF394BF-72E2-30BB-0567-FC1E125861A5}"/>
              </a:ext>
            </a:extLst>
          </p:cNvPr>
          <p:cNvSpPr>
            <a:spLocks noGrp="1"/>
          </p:cNvSpPr>
          <p:nvPr>
            <p:ph type="dt" sz="half" idx="10"/>
          </p:nvPr>
        </p:nvSpPr>
        <p:spPr/>
        <p:txBody>
          <a:bodyPr/>
          <a:lstStyle/>
          <a:p>
            <a:endParaRPr lang="zh-TW" altLang="en-US"/>
          </a:p>
        </p:txBody>
      </p:sp>
      <p:sp>
        <p:nvSpPr>
          <p:cNvPr id="5" name="頁尾版面配置區 4">
            <a:extLst>
              <a:ext uri="{FF2B5EF4-FFF2-40B4-BE49-F238E27FC236}">
                <a16:creationId xmlns:a16="http://schemas.microsoft.com/office/drawing/2014/main" id="{03E5517C-DE82-0FF2-F8A3-CEA26B4E5FA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39CAEB8-56E0-E3D3-BB60-A66F282266F4}"/>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789700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7CAB5C-120D-BFF0-2E3D-B8B67E6B51A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7BC1B7B-F8BD-608A-F692-73FBA71422FA}"/>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4339FBD-9FF1-3FD9-ECA2-503216587550}"/>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B51ACA1B-DCFD-3DF7-B1A6-4C8E4CE39D15}"/>
              </a:ext>
            </a:extLst>
          </p:cNvPr>
          <p:cNvSpPr>
            <a:spLocks noGrp="1"/>
          </p:cNvSpPr>
          <p:nvPr>
            <p:ph type="dt" sz="half" idx="10"/>
          </p:nvPr>
        </p:nvSpPr>
        <p:spPr/>
        <p:txBody>
          <a:bodyPr/>
          <a:lstStyle/>
          <a:p>
            <a:endParaRPr lang="zh-TW" altLang="en-US"/>
          </a:p>
        </p:txBody>
      </p:sp>
      <p:sp>
        <p:nvSpPr>
          <p:cNvPr id="6" name="頁尾版面配置區 5">
            <a:extLst>
              <a:ext uri="{FF2B5EF4-FFF2-40B4-BE49-F238E27FC236}">
                <a16:creationId xmlns:a16="http://schemas.microsoft.com/office/drawing/2014/main" id="{17244875-F0C4-FD0F-AC34-DFBC0FB5ED7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B7F091B-1301-4753-DB6B-D453BF5F6403}"/>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4209460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AF156D-F50A-4D2E-E133-AB051E55831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104C0A-D585-B142-D154-E7FE6F5127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59F8779-DBC6-2EBE-662D-A05FF3BF09F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9255AF68-E045-9BD3-F713-B140221F9F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076DB42E-793F-85DB-6AAF-7590A55F2C3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B5EEE47-FAF1-5B3B-ADF0-D5218CF4950B}"/>
              </a:ext>
            </a:extLst>
          </p:cNvPr>
          <p:cNvSpPr>
            <a:spLocks noGrp="1"/>
          </p:cNvSpPr>
          <p:nvPr>
            <p:ph type="dt" sz="half" idx="10"/>
          </p:nvPr>
        </p:nvSpPr>
        <p:spPr/>
        <p:txBody>
          <a:bodyPr/>
          <a:lstStyle/>
          <a:p>
            <a:endParaRPr lang="zh-TW" altLang="en-US"/>
          </a:p>
        </p:txBody>
      </p:sp>
      <p:sp>
        <p:nvSpPr>
          <p:cNvPr id="8" name="頁尾版面配置區 7">
            <a:extLst>
              <a:ext uri="{FF2B5EF4-FFF2-40B4-BE49-F238E27FC236}">
                <a16:creationId xmlns:a16="http://schemas.microsoft.com/office/drawing/2014/main" id="{1E1018C8-0ADC-4AAD-290C-524730E4F44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3EC3E49-36F0-0A93-BC32-F530C7B2EF92}"/>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3983621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89BBA6-BD89-2588-440E-F067A4D50BD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85969425-B423-0D37-46DD-F407BDC43E1D}"/>
              </a:ext>
            </a:extLst>
          </p:cNvPr>
          <p:cNvSpPr>
            <a:spLocks noGrp="1"/>
          </p:cNvSpPr>
          <p:nvPr>
            <p:ph type="dt" sz="half" idx="10"/>
          </p:nvPr>
        </p:nvSpPr>
        <p:spPr/>
        <p:txBody>
          <a:bodyPr/>
          <a:lstStyle/>
          <a:p>
            <a:endParaRPr lang="zh-TW" altLang="en-US"/>
          </a:p>
        </p:txBody>
      </p:sp>
      <p:sp>
        <p:nvSpPr>
          <p:cNvPr id="4" name="頁尾版面配置區 3">
            <a:extLst>
              <a:ext uri="{FF2B5EF4-FFF2-40B4-BE49-F238E27FC236}">
                <a16:creationId xmlns:a16="http://schemas.microsoft.com/office/drawing/2014/main" id="{BCD13EDC-5EFB-EFCC-CB1C-5FB1DF371628}"/>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56B33B1-49AC-7006-30E2-1A9F5447595A}"/>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841505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6EDC587-6CEA-0C23-C997-4874F4A055D3}"/>
              </a:ext>
            </a:extLst>
          </p:cNvPr>
          <p:cNvSpPr>
            <a:spLocks noGrp="1"/>
          </p:cNvSpPr>
          <p:nvPr>
            <p:ph type="dt" sz="half" idx="10"/>
          </p:nvPr>
        </p:nvSpPr>
        <p:spPr/>
        <p:txBody>
          <a:bodyPr/>
          <a:lstStyle/>
          <a:p>
            <a:endParaRPr lang="zh-TW" altLang="en-US"/>
          </a:p>
        </p:txBody>
      </p:sp>
      <p:sp>
        <p:nvSpPr>
          <p:cNvPr id="3" name="頁尾版面配置區 2">
            <a:extLst>
              <a:ext uri="{FF2B5EF4-FFF2-40B4-BE49-F238E27FC236}">
                <a16:creationId xmlns:a16="http://schemas.microsoft.com/office/drawing/2014/main" id="{939CD4ED-CA23-42AE-A840-E6C92BAEDA5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7A24C6B9-FB45-394A-B1A3-1183727E06A9}"/>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3362480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5A07E9-264B-63A9-73E1-8000AE6DF1E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156377D-1D34-EB14-EF8C-06612C5BE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F58D0A4-6A50-557B-B75F-82FC0DCC4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2B8882C-67DB-8119-035E-2DB5E744FD3B}"/>
              </a:ext>
            </a:extLst>
          </p:cNvPr>
          <p:cNvSpPr>
            <a:spLocks noGrp="1"/>
          </p:cNvSpPr>
          <p:nvPr>
            <p:ph type="dt" sz="half" idx="10"/>
          </p:nvPr>
        </p:nvSpPr>
        <p:spPr/>
        <p:txBody>
          <a:bodyPr/>
          <a:lstStyle/>
          <a:p>
            <a:endParaRPr lang="zh-TW" altLang="en-US"/>
          </a:p>
        </p:txBody>
      </p:sp>
      <p:sp>
        <p:nvSpPr>
          <p:cNvPr id="6" name="頁尾版面配置區 5">
            <a:extLst>
              <a:ext uri="{FF2B5EF4-FFF2-40B4-BE49-F238E27FC236}">
                <a16:creationId xmlns:a16="http://schemas.microsoft.com/office/drawing/2014/main" id="{17811022-DE25-B532-32A3-0BA36378667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6BA0B8-04A2-234A-D3A9-84B4F9EAE215}"/>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1467627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6C676E-A6CB-FEDC-896B-F0C1E5F5AD8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DF5BE83-63C9-4155-AE23-77D71DEE8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FBE6774-ACEF-D67A-DC1D-6D9BA5990A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B39776E-0881-E26E-D911-3C46BD482522}"/>
              </a:ext>
            </a:extLst>
          </p:cNvPr>
          <p:cNvSpPr>
            <a:spLocks noGrp="1"/>
          </p:cNvSpPr>
          <p:nvPr>
            <p:ph type="dt" sz="half" idx="10"/>
          </p:nvPr>
        </p:nvSpPr>
        <p:spPr/>
        <p:txBody>
          <a:bodyPr/>
          <a:lstStyle/>
          <a:p>
            <a:endParaRPr lang="zh-TW" altLang="en-US"/>
          </a:p>
        </p:txBody>
      </p:sp>
      <p:sp>
        <p:nvSpPr>
          <p:cNvPr id="6" name="頁尾版面配置區 5">
            <a:extLst>
              <a:ext uri="{FF2B5EF4-FFF2-40B4-BE49-F238E27FC236}">
                <a16:creationId xmlns:a16="http://schemas.microsoft.com/office/drawing/2014/main" id="{73294A33-4F73-539F-76A5-F3D409231A2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326E517-546B-3FB1-1B3B-4872EF3ADD8E}"/>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305213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714414-9706-12FB-1548-155646D0790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45C71ED-0EB8-FDE7-BC6C-D5DA13DD96C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4AD313-4D48-571C-FCE2-AFD82E2E6FDD}"/>
              </a:ext>
            </a:extLst>
          </p:cNvPr>
          <p:cNvSpPr>
            <a:spLocks noGrp="1"/>
          </p:cNvSpPr>
          <p:nvPr>
            <p:ph type="dt" sz="half" idx="10"/>
          </p:nvPr>
        </p:nvSpPr>
        <p:spPr/>
        <p:txBody>
          <a:bodyPr/>
          <a:lstStyle/>
          <a:p>
            <a:endParaRPr lang="zh-TW" altLang="en-US"/>
          </a:p>
        </p:txBody>
      </p:sp>
      <p:sp>
        <p:nvSpPr>
          <p:cNvPr id="5" name="頁尾版面配置區 4">
            <a:extLst>
              <a:ext uri="{FF2B5EF4-FFF2-40B4-BE49-F238E27FC236}">
                <a16:creationId xmlns:a16="http://schemas.microsoft.com/office/drawing/2014/main" id="{22BFB78A-557F-BE69-D876-7F9963823DC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84C26D2-FABD-9C1F-AA45-AA4D158D9D6B}"/>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1325105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56DA141-EEB4-2176-DBC0-83DDCC42757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D7566EF1-6C63-07E5-CADF-C6CAA93D512B}"/>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1E5A319-6988-7DF7-D078-B37E40E510A2}"/>
              </a:ext>
            </a:extLst>
          </p:cNvPr>
          <p:cNvSpPr>
            <a:spLocks noGrp="1"/>
          </p:cNvSpPr>
          <p:nvPr>
            <p:ph type="dt" sz="half" idx="10"/>
          </p:nvPr>
        </p:nvSpPr>
        <p:spPr/>
        <p:txBody>
          <a:bodyPr/>
          <a:lstStyle/>
          <a:p>
            <a:endParaRPr lang="zh-TW" altLang="en-US"/>
          </a:p>
        </p:txBody>
      </p:sp>
      <p:sp>
        <p:nvSpPr>
          <p:cNvPr id="5" name="頁尾版面配置區 4">
            <a:extLst>
              <a:ext uri="{FF2B5EF4-FFF2-40B4-BE49-F238E27FC236}">
                <a16:creationId xmlns:a16="http://schemas.microsoft.com/office/drawing/2014/main" id="{AB6E7A36-546F-C4F9-3397-D43C0242A4E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473FA73-8428-EAE3-87D1-9F7AB3D734B4}"/>
              </a:ext>
            </a:extLst>
          </p:cNvPr>
          <p:cNvSpPr>
            <a:spLocks noGrp="1"/>
          </p:cNvSpPr>
          <p:nvPr>
            <p:ph type="sldNum" sz="quarter" idx="12"/>
          </p:nvPr>
        </p:nvSpPr>
        <p:spPr/>
        <p:txBody>
          <a:body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3689210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ullscreen image and text 1">
  <p:cSld name="Fullscreen image and text 1">
    <p:spTree>
      <p:nvGrpSpPr>
        <p:cNvPr id="1" name="Shape 50"/>
        <p:cNvGrpSpPr/>
        <p:nvPr/>
      </p:nvGrpSpPr>
      <p:grpSpPr>
        <a:xfrm>
          <a:off x="0" y="0"/>
          <a:ext cx="0" cy="0"/>
          <a:chOff x="0" y="0"/>
          <a:chExt cx="0" cy="0"/>
        </a:xfrm>
      </p:grpSpPr>
      <p:sp>
        <p:nvSpPr>
          <p:cNvPr id="51" name="Google Shape;51;p13"/>
          <p:cNvSpPr>
            <a:spLocks noGrp="1"/>
          </p:cNvSpPr>
          <p:nvPr>
            <p:ph type="pic" idx="2"/>
          </p:nvPr>
        </p:nvSpPr>
        <p:spPr>
          <a:xfrm>
            <a:off x="0" y="0"/>
            <a:ext cx="12192000" cy="6858000"/>
          </a:xfrm>
          <a:prstGeom prst="rect">
            <a:avLst/>
          </a:prstGeom>
          <a:solidFill>
            <a:srgbClr val="DFE8EA"/>
          </a:solidFill>
          <a:ln>
            <a:noFill/>
          </a:ln>
        </p:spPr>
        <p:txBody>
          <a:bodyPr/>
          <a:lstStyle>
            <a:lvl1pPr>
              <a:defRPr/>
            </a:lvl1pPr>
          </a:lstStyle>
          <a:p>
            <a:endParaRPr lang="zh-TW" altLang="en-US" dirty="0"/>
          </a:p>
        </p:txBody>
      </p:sp>
      <p:sp>
        <p:nvSpPr>
          <p:cNvPr id="52" name="Google Shape;52;p13"/>
          <p:cNvSpPr txBox="1">
            <a:spLocks noGrp="1"/>
          </p:cNvSpPr>
          <p:nvPr>
            <p:ph type="title"/>
          </p:nvPr>
        </p:nvSpPr>
        <p:spPr>
          <a:xfrm>
            <a:off x="935567" y="2561904"/>
            <a:ext cx="3806000" cy="1733200"/>
          </a:xfrm>
          <a:prstGeom prst="rect">
            <a:avLst/>
          </a:prstGeom>
          <a:noFill/>
          <a:ln>
            <a:noFill/>
          </a:ln>
        </p:spPr>
        <p:txBody>
          <a:bodyPr spcFirstLastPara="1" wrap="square" lIns="45725" tIns="22850" rIns="45725" bIns="22850" anchor="ctr" anchorCtr="0">
            <a:normAutofit/>
          </a:bodyPr>
          <a:lstStyle>
            <a:lvl1pPr lvl="0" algn="ctr">
              <a:lnSpc>
                <a:spcPct val="90000"/>
              </a:lnSpc>
              <a:spcBef>
                <a:spcPts val="0"/>
              </a:spcBef>
              <a:spcAft>
                <a:spcPts val="0"/>
              </a:spcAft>
              <a:buClr>
                <a:schemeClr val="dk1"/>
              </a:buClr>
              <a:buSzPts val="2700"/>
              <a:buFont typeface="Arial"/>
              <a:buNone/>
              <a:defRPr>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53" name="Google Shape;53;p13"/>
          <p:cNvSpPr txBox="1">
            <a:spLocks noGrp="1"/>
          </p:cNvSpPr>
          <p:nvPr>
            <p:ph type="body" idx="1"/>
          </p:nvPr>
        </p:nvSpPr>
        <p:spPr>
          <a:xfrm>
            <a:off x="7450665" y="2305063"/>
            <a:ext cx="3806000" cy="2248000"/>
          </a:xfrm>
          <a:prstGeom prst="rect">
            <a:avLst/>
          </a:prstGeom>
          <a:noFill/>
          <a:ln>
            <a:noFill/>
          </a:ln>
        </p:spPr>
        <p:txBody>
          <a:bodyPr spcFirstLastPara="1" wrap="square" lIns="45725" tIns="22850" rIns="45725" bIns="22850" anchor="ctr" anchorCtr="0">
            <a:normAutofit/>
          </a:bodyPr>
          <a:lstStyle>
            <a:lvl1pPr marL="609585" lvl="0" indent="-304792" algn="just">
              <a:lnSpc>
                <a:spcPct val="160000"/>
              </a:lnSpc>
              <a:spcBef>
                <a:spcPts val="0"/>
              </a:spcBef>
              <a:spcAft>
                <a:spcPts val="0"/>
              </a:spcAft>
              <a:buClr>
                <a:schemeClr val="dk2"/>
              </a:buClr>
              <a:buSzPts val="800"/>
              <a:buFont typeface="Gidole"/>
              <a:buNone/>
              <a:defRPr>
                <a:solidFill>
                  <a:schemeClr val="dk2"/>
                </a:solidFill>
              </a:defRPr>
            </a:lvl1pPr>
            <a:lvl2pPr marL="1219170" lvl="1" indent="-304792" algn="l">
              <a:lnSpc>
                <a:spcPct val="90000"/>
              </a:lnSpc>
              <a:spcBef>
                <a:spcPts val="1600"/>
              </a:spcBef>
              <a:spcAft>
                <a:spcPts val="0"/>
              </a:spcAft>
              <a:buClr>
                <a:schemeClr val="dk1"/>
              </a:buClr>
              <a:buSzPts val="900"/>
              <a:buNone/>
              <a:defRPr sz="1200"/>
            </a:lvl2pPr>
            <a:lvl3pPr marL="1828754" lvl="2" indent="-304792" algn="l">
              <a:lnSpc>
                <a:spcPct val="90000"/>
              </a:lnSpc>
              <a:spcBef>
                <a:spcPts val="1600"/>
              </a:spcBef>
              <a:spcAft>
                <a:spcPts val="0"/>
              </a:spcAft>
              <a:buClr>
                <a:schemeClr val="dk1"/>
              </a:buClr>
              <a:buSzPts val="900"/>
              <a:buNone/>
              <a:defRPr sz="1200"/>
            </a:lvl3pPr>
            <a:lvl4pPr marL="2438339" lvl="3" indent="-304792" algn="l">
              <a:lnSpc>
                <a:spcPct val="90000"/>
              </a:lnSpc>
              <a:spcBef>
                <a:spcPts val="1600"/>
              </a:spcBef>
              <a:spcAft>
                <a:spcPts val="0"/>
              </a:spcAft>
              <a:buClr>
                <a:schemeClr val="dk1"/>
              </a:buClr>
              <a:buSzPts val="900"/>
              <a:buNone/>
              <a:defRPr sz="1200"/>
            </a:lvl4pPr>
            <a:lvl5pPr marL="3047924" lvl="4" indent="-304792" algn="l">
              <a:lnSpc>
                <a:spcPct val="90000"/>
              </a:lnSpc>
              <a:spcBef>
                <a:spcPts val="1600"/>
              </a:spcBef>
              <a:spcAft>
                <a:spcPts val="0"/>
              </a:spcAft>
              <a:buClr>
                <a:schemeClr val="dk1"/>
              </a:buClr>
              <a:buSzPts val="900"/>
              <a:buNone/>
              <a:defRPr sz="1200"/>
            </a:lvl5pPr>
            <a:lvl6pPr marL="3657509" lvl="5" indent="-380990" algn="l">
              <a:lnSpc>
                <a:spcPct val="90000"/>
              </a:lnSpc>
              <a:spcBef>
                <a:spcPts val="1600"/>
              </a:spcBef>
              <a:spcAft>
                <a:spcPts val="0"/>
              </a:spcAft>
              <a:buClr>
                <a:schemeClr val="dk1"/>
              </a:buClr>
              <a:buSzPts val="900"/>
              <a:buChar char="■"/>
              <a:defRPr/>
            </a:lvl6pPr>
            <a:lvl7pPr marL="4267093" lvl="6" indent="-380990" algn="l">
              <a:lnSpc>
                <a:spcPct val="90000"/>
              </a:lnSpc>
              <a:spcBef>
                <a:spcPts val="1600"/>
              </a:spcBef>
              <a:spcAft>
                <a:spcPts val="0"/>
              </a:spcAft>
              <a:buClr>
                <a:schemeClr val="dk1"/>
              </a:buClr>
              <a:buSzPts val="900"/>
              <a:buChar char="●"/>
              <a:defRPr/>
            </a:lvl7pPr>
            <a:lvl8pPr marL="4876678" lvl="7" indent="-380990" algn="l">
              <a:lnSpc>
                <a:spcPct val="90000"/>
              </a:lnSpc>
              <a:spcBef>
                <a:spcPts val="1600"/>
              </a:spcBef>
              <a:spcAft>
                <a:spcPts val="0"/>
              </a:spcAft>
              <a:buClr>
                <a:schemeClr val="dk1"/>
              </a:buClr>
              <a:buSzPts val="900"/>
              <a:buChar char="○"/>
              <a:defRPr/>
            </a:lvl8pPr>
            <a:lvl9pPr marL="5486263" lvl="8" indent="-380990" algn="l">
              <a:lnSpc>
                <a:spcPct val="90000"/>
              </a:lnSpc>
              <a:spcBef>
                <a:spcPts val="1600"/>
              </a:spcBef>
              <a:spcAft>
                <a:spcPts val="1600"/>
              </a:spcAft>
              <a:buClr>
                <a:schemeClr val="dk1"/>
              </a:buClr>
              <a:buSzPts val="900"/>
              <a:buChar char="■"/>
              <a:defRPr/>
            </a:lvl9pPr>
          </a:lstStyle>
          <a:p>
            <a:endParaRPr dirty="0"/>
          </a:p>
        </p:txBody>
      </p:sp>
      <p:sp>
        <p:nvSpPr>
          <p:cNvPr id="54" name="Google Shape;54;p13"/>
          <p:cNvSpPr txBox="1">
            <a:spLocks noGrp="1"/>
          </p:cNvSpPr>
          <p:nvPr>
            <p:ph type="sldNum" idx="12"/>
          </p:nvPr>
        </p:nvSpPr>
        <p:spPr>
          <a:xfrm>
            <a:off x="11409045" y="6333135"/>
            <a:ext cx="731600" cy="524800"/>
          </a:xfrm>
          <a:prstGeom prst="rect">
            <a:avLst/>
          </a:prstGeom>
        </p:spPr>
        <p:txBody>
          <a:bodyPr spcFirstLastPara="1" wrap="square" lIns="91425" tIns="91425" rIns="91425" bIns="91425" anchor="t" anchorCtr="0">
            <a:normAutofit/>
          </a:bodyPr>
          <a:lstStyle>
            <a:lvl1pPr lvl="0">
              <a:buNone/>
              <a:defRPr sz="1733"/>
            </a:lvl1pPr>
            <a:lvl2pPr lvl="1">
              <a:buNone/>
              <a:defRPr sz="1733"/>
            </a:lvl2pPr>
            <a:lvl3pPr lvl="2">
              <a:buNone/>
              <a:defRPr sz="1733"/>
            </a:lvl3pPr>
            <a:lvl4pPr lvl="3">
              <a:buNone/>
              <a:defRPr sz="1733"/>
            </a:lvl4pPr>
            <a:lvl5pPr lvl="4">
              <a:buNone/>
              <a:defRPr sz="1733"/>
            </a:lvl5pPr>
            <a:lvl6pPr lvl="5">
              <a:buNone/>
              <a:defRPr sz="1733"/>
            </a:lvl6pPr>
            <a:lvl7pPr lvl="6">
              <a:buNone/>
              <a:defRPr sz="1733"/>
            </a:lvl7pPr>
            <a:lvl8pPr lvl="7">
              <a:buNone/>
              <a:defRPr sz="1733"/>
            </a:lvl8pPr>
            <a:lvl9pPr lvl="8">
              <a:buNone/>
              <a:defRPr sz="1733"/>
            </a:lvl9pPr>
          </a:lstStyle>
          <a:p>
            <a:fld id="{00000000-1234-1234-1234-123412341234}" type="slidenum">
              <a:rPr lang="en-US" altLang="zh-TW" smtClean="0"/>
              <a:pPr/>
              <a:t>‹#›</a:t>
            </a:fld>
            <a:endParaRPr lang="zh-TW" altLang="en-US" dirty="0"/>
          </a:p>
        </p:txBody>
      </p:sp>
    </p:spTree>
    <p:extLst>
      <p:ext uri="{BB962C8B-B14F-4D97-AF65-F5344CB8AC3E}">
        <p14:creationId xmlns:p14="http://schemas.microsoft.com/office/powerpoint/2010/main" val="499586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altLang="zh-TW" smtClean="0"/>
              <a:pPr/>
              <a:t>‹#›</a:t>
            </a:fld>
            <a:endParaRPr lang="zh-TW" altLang="en-US" dirty="0"/>
          </a:p>
        </p:txBody>
      </p:sp>
    </p:spTree>
    <p:extLst>
      <p:ext uri="{BB962C8B-B14F-4D97-AF65-F5344CB8AC3E}">
        <p14:creationId xmlns:p14="http://schemas.microsoft.com/office/powerpoint/2010/main" val="3120035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dirty="0"/>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altLang="zh-TW" smtClean="0"/>
              <a:pPr/>
              <a:t>‹#›</a:t>
            </a:fld>
            <a:endParaRPr lang="zh-TW" altLang="en-US" dirty="0"/>
          </a:p>
        </p:txBody>
      </p:sp>
    </p:spTree>
    <p:extLst>
      <p:ext uri="{BB962C8B-B14F-4D97-AF65-F5344CB8AC3E}">
        <p14:creationId xmlns:p14="http://schemas.microsoft.com/office/powerpoint/2010/main" val="3067596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5ED77E0-F65F-2E6D-7119-42632046E6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F6A3CE4-8293-18AA-E60A-9607964285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094B460-8A8B-0B08-840A-DCA14EF098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zh-TW" altLang="en-US"/>
          </a:p>
        </p:txBody>
      </p:sp>
      <p:sp>
        <p:nvSpPr>
          <p:cNvPr id="5" name="頁尾版面配置區 4">
            <a:extLst>
              <a:ext uri="{FF2B5EF4-FFF2-40B4-BE49-F238E27FC236}">
                <a16:creationId xmlns:a16="http://schemas.microsoft.com/office/drawing/2014/main" id="{3639A255-FE64-2173-4C67-4BE7CA2940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AD9F4E4-7115-496C-7334-0E43EB11AD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7C0D7D-0012-4121-A723-8C8932C81B39}" type="slidenum">
              <a:rPr lang="zh-TW" altLang="en-US" smtClean="0"/>
              <a:t>‹#›</a:t>
            </a:fld>
            <a:endParaRPr lang="zh-TW" altLang="en-US"/>
          </a:p>
        </p:txBody>
      </p:sp>
    </p:spTree>
    <p:extLst>
      <p:ext uri="{BB962C8B-B14F-4D97-AF65-F5344CB8AC3E}">
        <p14:creationId xmlns:p14="http://schemas.microsoft.com/office/powerpoint/2010/main" val="164566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hyperlink" Target="https://arxiv.org/pdf/2402.03300" TargetMode="External"/><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7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0.png"/><Relationship Id="rId7"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image" Target="../media/image251.png"/><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30.png"/><Relationship Id="rId4" Type="http://schemas.openxmlformats.org/officeDocument/2006/relationships/image" Target="../media/image270.png"/></Relationships>
</file>

<file path=ppt/slides/_rels/slide2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0.png"/><Relationship Id="rId1" Type="http://schemas.openxmlformats.org/officeDocument/2006/relationships/slideLayout" Target="../slideLayouts/slideLayout13.xml"/><Relationship Id="rId4" Type="http://schemas.openxmlformats.org/officeDocument/2006/relationships/image" Target="../media/image261.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0.png"/><Relationship Id="rId7" Type="http://schemas.openxmlformats.org/officeDocument/2006/relationships/image" Target="../media/image360.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350.png"/><Relationship Id="rId11" Type="http://schemas.openxmlformats.org/officeDocument/2006/relationships/image" Target="../media/image40.png"/><Relationship Id="rId5" Type="http://schemas.openxmlformats.org/officeDocument/2006/relationships/image" Target="../media/image340.png"/><Relationship Id="rId10" Type="http://schemas.openxmlformats.org/officeDocument/2006/relationships/image" Target="../media/image39.png"/><Relationship Id="rId4" Type="http://schemas.openxmlformats.org/officeDocument/2006/relationships/image" Target="../media/image330.png"/><Relationship Id="rId9" Type="http://schemas.openxmlformats.org/officeDocument/2006/relationships/image" Target="../media/image3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hyperlink" Target="https://platform.openai.com/docs/guides/reinforcement-fine-tuning" TargetMode="External"/><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hyperlink" Target="https://attack.mitre.org/" TargetMode="External"/><Relationship Id="rId4" Type="http://schemas.openxmlformats.org/officeDocument/2006/relationships/hyperlink" Target="http://github.com/unslothai/unsloth"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engage.mitre.org/" TargetMode="External"/><Relationship Id="rId2" Type="http://schemas.openxmlformats.org/officeDocument/2006/relationships/notesSlide" Target="../notesSlides/notesSlide40.xml"/><Relationship Id="rId1" Type="http://schemas.openxmlformats.org/officeDocument/2006/relationships/slideLayout" Target="../slideLayouts/slideLayout13.xml"/><Relationship Id="rId5" Type="http://schemas.openxmlformats.org/officeDocument/2006/relationships/hyperlink" Target="https://doi.org/10.9790/0661-2704010109" TargetMode="External"/><Relationship Id="rId4" Type="http://schemas.openxmlformats.org/officeDocument/2006/relationships/hyperlink" Target="https://www.cybersecuritytribe.com/articles/ai-generated-honeypots-that-learn-and-adapt"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hyperlink" Target="https://www.cowrie.org/" TargetMode="Externa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280.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61.png"/></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63.xml"/><Relationship Id="rId1" Type="http://schemas.openxmlformats.org/officeDocument/2006/relationships/slideLayout" Target="../slideLayouts/slideLayout13.xml"/><Relationship Id="rId4" Type="http://schemas.openxmlformats.org/officeDocument/2006/relationships/image" Target="../media/image64.png"/></Relationships>
</file>

<file path=ppt/slides/_rels/slide7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40.png"/><Relationship Id="rId1" Type="http://schemas.openxmlformats.org/officeDocument/2006/relationships/slideLayout" Target="../slideLayouts/slideLayout2.xml"/><Relationship Id="rId4" Type="http://schemas.openxmlformats.org/officeDocument/2006/relationships/image" Target="../media/image560.png"/></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6.xml"/><Relationship Id="rId1" Type="http://schemas.openxmlformats.org/officeDocument/2006/relationships/slideLayout" Target="../slideLayouts/slideLayout13.xml"/><Relationship Id="rId4" Type="http://schemas.openxmlformats.org/officeDocument/2006/relationships/image" Target="../media/image69.png"/></Relationships>
</file>

<file path=ppt/slides/_rels/slide7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80416" y="1481035"/>
            <a:ext cx="11326400" cy="1491600"/>
          </a:xfrm>
          <a:prstGeom prst="rect">
            <a:avLst/>
          </a:prstGeom>
          <a:noFill/>
          <a:ln>
            <a:noFill/>
          </a:ln>
        </p:spPr>
        <p:txBody>
          <a:bodyPr spcFirstLastPara="1" vert="horz" wrap="square" lIns="60967" tIns="30467" rIns="60967" bIns="30467" rtlCol="0" anchor="ctr" anchorCtr="0">
            <a:noAutofit/>
          </a:bodyPr>
          <a:lstStyle/>
          <a:p>
            <a:pPr>
              <a:lnSpc>
                <a:spcPct val="100000"/>
              </a:lnSpc>
              <a:buClr>
                <a:schemeClr val="lt1"/>
              </a:buClr>
              <a:buSzPts val="720"/>
            </a:pPr>
            <a:r>
              <a:rPr lang="en-US" altLang="zh-TW" sz="4000" dirty="0">
                <a:latin typeface="Times New Roman"/>
                <a:ea typeface="Times New Roman"/>
                <a:cs typeface="Times New Roman"/>
                <a:sym typeface="Times New Roman"/>
              </a:rPr>
              <a:t> </a:t>
            </a:r>
            <a:r>
              <a:rPr lang="en-US" altLang="zh-TW" sz="4000" dirty="0" err="1">
                <a:latin typeface="Times New Roman"/>
                <a:ea typeface="Times New Roman"/>
                <a:cs typeface="Times New Roman"/>
                <a:sym typeface="Times New Roman"/>
              </a:rPr>
              <a:t>IntenSensePot</a:t>
            </a:r>
            <a:r>
              <a:rPr lang="en-US" altLang="zh-TW" sz="4000" dirty="0">
                <a:latin typeface="Times New Roman"/>
                <a:ea typeface="Times New Roman"/>
                <a:cs typeface="Times New Roman"/>
                <a:sym typeface="Times New Roman"/>
              </a:rPr>
              <a:t>: Finetuned LLMs for Intent-aware Engagement in Honeypots</a:t>
            </a:r>
            <a:endParaRPr sz="4000" dirty="0">
              <a:solidFill>
                <a:srgbClr val="000000"/>
              </a:solidFill>
              <a:latin typeface="Times New Roman"/>
              <a:ea typeface="Times New Roman"/>
              <a:cs typeface="Times New Roman"/>
              <a:sym typeface="Times New Roman"/>
            </a:endParaRPr>
          </a:p>
        </p:txBody>
      </p:sp>
      <p:sp>
        <p:nvSpPr>
          <p:cNvPr id="67" name="Google Shape;67;p15"/>
          <p:cNvSpPr txBox="1"/>
          <p:nvPr/>
        </p:nvSpPr>
        <p:spPr>
          <a:xfrm>
            <a:off x="280400" y="3796034"/>
            <a:ext cx="9034400" cy="2944370"/>
          </a:xfrm>
          <a:prstGeom prst="rect">
            <a:avLst/>
          </a:prstGeom>
          <a:noFill/>
          <a:ln>
            <a:noFill/>
          </a:ln>
        </p:spPr>
        <p:txBody>
          <a:bodyPr spcFirstLastPara="1" wrap="square" lIns="60967" tIns="30467" rIns="60967" bIns="30467" anchor="t" anchorCtr="0">
            <a:spAutoFit/>
          </a:bodyPr>
          <a:lstStyle/>
          <a:p>
            <a:pPr>
              <a:spcBef>
                <a:spcPts val="1333"/>
              </a:spcBef>
              <a:buClr>
                <a:schemeClr val="dk1"/>
              </a:buClr>
              <a:buSzPts val="1100"/>
            </a:pPr>
            <a:r>
              <a:rPr lang="en-US" altLang="zh-TW" sz="2400" b="1" dirty="0">
                <a:solidFill>
                  <a:schemeClr val="dk1"/>
                </a:solidFill>
                <a:latin typeface="Times New Roman"/>
                <a:ea typeface="Times New Roman"/>
                <a:cs typeface="Times New Roman"/>
                <a:sym typeface="Times New Roman"/>
              </a:rPr>
              <a:t>Student:</a:t>
            </a:r>
            <a:br>
              <a:rPr lang="en-US" altLang="zh-TW" sz="2400" b="1" dirty="0">
                <a:solidFill>
                  <a:schemeClr val="dk1"/>
                </a:solidFill>
                <a:latin typeface="Times New Roman"/>
                <a:ea typeface="Times New Roman"/>
                <a:cs typeface="Times New Roman"/>
                <a:sym typeface="Times New Roman"/>
              </a:rPr>
            </a:br>
            <a:r>
              <a:rPr lang="en-US" altLang="zh-TW" sz="2400" dirty="0">
                <a:solidFill>
                  <a:schemeClr val="dk1"/>
                </a:solidFill>
                <a:latin typeface="Times New Roman"/>
                <a:ea typeface="Times New Roman"/>
                <a:cs typeface="Times New Roman"/>
                <a:sym typeface="Times New Roman"/>
              </a:rPr>
              <a:t>Ru-Hung Shih (Louis)</a:t>
            </a:r>
            <a:endParaRPr sz="2400" dirty="0">
              <a:solidFill>
                <a:schemeClr val="dk1"/>
              </a:solidFill>
              <a:latin typeface="Times New Roman"/>
              <a:ea typeface="Times New Roman"/>
              <a:cs typeface="Times New Roman"/>
              <a:sym typeface="Times New Roman"/>
            </a:endParaRPr>
          </a:p>
          <a:p>
            <a:pPr>
              <a:spcBef>
                <a:spcPts val="1333"/>
              </a:spcBef>
              <a:buClr>
                <a:schemeClr val="dk1"/>
              </a:buClr>
              <a:buSzPts val="1100"/>
            </a:pPr>
            <a:r>
              <a:rPr lang="en-US" altLang="zh-TW" sz="2400" b="1" dirty="0">
                <a:solidFill>
                  <a:schemeClr val="dk1"/>
                </a:solidFill>
                <a:latin typeface="Times New Roman"/>
                <a:ea typeface="Times New Roman"/>
                <a:cs typeface="Times New Roman"/>
                <a:sym typeface="Times New Roman"/>
              </a:rPr>
              <a:t>Advisor:</a:t>
            </a:r>
            <a:br>
              <a:rPr lang="en-US" altLang="zh-TW" sz="2400" b="1" dirty="0">
                <a:solidFill>
                  <a:schemeClr val="dk1"/>
                </a:solidFill>
                <a:latin typeface="Times New Roman"/>
                <a:ea typeface="Times New Roman"/>
                <a:cs typeface="Times New Roman"/>
                <a:sym typeface="Times New Roman"/>
              </a:rPr>
            </a:br>
            <a:r>
              <a:rPr lang="en-US" altLang="zh-TW" sz="2400" dirty="0">
                <a:solidFill>
                  <a:schemeClr val="dk1"/>
                </a:solidFill>
                <a:latin typeface="Times New Roman"/>
                <a:ea typeface="Times New Roman"/>
                <a:cs typeface="Times New Roman"/>
                <a:sym typeface="Times New Roman"/>
              </a:rPr>
              <a:t>Professor Ying-Dar Lin, Ren-Hung Hwang, Yuan-Cheng Lai</a:t>
            </a:r>
            <a:endParaRPr sz="2400" dirty="0">
              <a:solidFill>
                <a:schemeClr val="dk1"/>
              </a:solidFill>
              <a:latin typeface="Times New Roman"/>
              <a:ea typeface="Times New Roman"/>
              <a:cs typeface="Times New Roman"/>
              <a:sym typeface="Times New Roman"/>
            </a:endParaRPr>
          </a:p>
          <a:p>
            <a:pPr>
              <a:spcBef>
                <a:spcPts val="1333"/>
              </a:spcBef>
              <a:buClr>
                <a:schemeClr val="dk1"/>
              </a:buClr>
              <a:buSzPts val="1100"/>
            </a:pPr>
            <a:r>
              <a:rPr lang="en-US" altLang="zh-TW" sz="2400" b="1" dirty="0">
                <a:solidFill>
                  <a:schemeClr val="dk1"/>
                </a:solidFill>
                <a:latin typeface="Times New Roman"/>
                <a:ea typeface="Times New Roman"/>
                <a:cs typeface="Times New Roman"/>
                <a:sym typeface="Times New Roman"/>
              </a:rPr>
              <a:t>High Speed Network Lab</a:t>
            </a:r>
            <a:endParaRPr sz="2400" b="1" dirty="0">
              <a:solidFill>
                <a:schemeClr val="dk1"/>
              </a:solidFill>
              <a:latin typeface="Times New Roman"/>
              <a:ea typeface="Times New Roman"/>
              <a:cs typeface="Times New Roman"/>
              <a:sym typeface="Times New Roman"/>
            </a:endParaRPr>
          </a:p>
          <a:p>
            <a:pPr>
              <a:spcBef>
                <a:spcPts val="1333"/>
              </a:spcBef>
              <a:buSzPts val="1100"/>
            </a:pPr>
            <a:r>
              <a:rPr lang="en-US" altLang="zh-TW" sz="2400" b="1" dirty="0">
                <a:solidFill>
                  <a:schemeClr val="dk1"/>
                </a:solidFill>
                <a:latin typeface="Times New Roman"/>
                <a:ea typeface="Times New Roman"/>
                <a:cs typeface="Times New Roman"/>
                <a:sym typeface="Times New Roman"/>
              </a:rPr>
              <a:t>National Yang Ming Chiao Tung University, Taiwan</a:t>
            </a:r>
            <a:endParaRPr sz="2400" b="1" dirty="0">
              <a:latin typeface="Times New Roman"/>
              <a:ea typeface="Times New Roman"/>
              <a:cs typeface="Times New Roman"/>
              <a:sym typeface="Times New Roman"/>
            </a:endParaRPr>
          </a:p>
        </p:txBody>
      </p:sp>
      <p:pic>
        <p:nvPicPr>
          <p:cNvPr id="68" name="Google Shape;68;p15" descr="一張含有 標誌, 符號, 圖形, 字型 的圖片&#10;&#10;AI 產生的內容可能不正確。"/>
          <p:cNvPicPr preferRelativeResize="0"/>
          <p:nvPr/>
        </p:nvPicPr>
        <p:blipFill rotWithShape="1">
          <a:blip r:embed="rId3">
            <a:alphaModFix/>
          </a:blip>
          <a:srcRect l="17803" t="18627" r="16206" b="19137"/>
          <a:stretch/>
        </p:blipFill>
        <p:spPr>
          <a:xfrm>
            <a:off x="10768304" y="104793"/>
            <a:ext cx="1257301" cy="1185984"/>
          </a:xfrm>
          <a:prstGeom prst="rect">
            <a:avLst/>
          </a:prstGeom>
          <a:noFill/>
          <a:ln>
            <a:noFill/>
          </a:ln>
        </p:spPr>
      </p:pic>
      <p:sp>
        <p:nvSpPr>
          <p:cNvPr id="69" name="Google Shape;69;p15"/>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t" anchorCtr="0">
            <a:normAutofit/>
          </a:bodyPr>
          <a:lstStyle/>
          <a:p>
            <a:fld id="{00000000-1234-1234-1234-123412341234}" type="slidenum">
              <a:rPr lang="en-US" altLang="zh-TW"/>
              <a:pPr/>
              <a:t>1</a:t>
            </a:fld>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ctrTitle"/>
          </p:nvPr>
        </p:nvSpPr>
        <p:spPr>
          <a:xfrm>
            <a:off x="515933" y="377567"/>
            <a:ext cx="11260400" cy="1056800"/>
          </a:xfrm>
          <a:prstGeom prst="rect">
            <a:avLst/>
          </a:prstGeom>
        </p:spPr>
        <p:txBody>
          <a:bodyPr spcFirstLastPara="1" vert="horz" wrap="square" lIns="121900" tIns="121900" rIns="121900" bIns="121900" rtlCol="0" anchor="t" anchorCtr="0">
            <a:noAutofit/>
          </a:bodyPr>
          <a:lstStyle/>
          <a:p>
            <a:pPr algn="l">
              <a:spcBef>
                <a:spcPts val="0"/>
              </a:spcBef>
              <a:buSzPts val="990"/>
            </a:pPr>
            <a:r>
              <a:rPr lang="en-US" altLang="zh-TW" sz="4000" dirty="0">
                <a:latin typeface="Times New Roman"/>
                <a:ea typeface="Times New Roman"/>
                <a:cs typeface="Times New Roman"/>
                <a:sym typeface="Times New Roman"/>
              </a:rPr>
              <a:t>Outline</a:t>
            </a:r>
            <a:endParaRPr sz="4000" dirty="0">
              <a:latin typeface="Times New Roman"/>
              <a:ea typeface="Times New Roman"/>
              <a:cs typeface="Times New Roman"/>
              <a:sym typeface="Times New Roman"/>
            </a:endParaRPr>
          </a:p>
        </p:txBody>
      </p:sp>
      <p:sp>
        <p:nvSpPr>
          <p:cNvPr id="75" name="Google Shape;75;p16"/>
          <p:cNvSpPr txBox="1">
            <a:spLocks noGrp="1"/>
          </p:cNvSpPr>
          <p:nvPr>
            <p:ph type="subTitle" idx="1"/>
          </p:nvPr>
        </p:nvSpPr>
        <p:spPr>
          <a:xfrm>
            <a:off x="816999" y="1011000"/>
            <a:ext cx="10959333" cy="5546749"/>
          </a:xfrm>
          <a:prstGeom prst="rect">
            <a:avLst/>
          </a:prstGeom>
        </p:spPr>
        <p:txBody>
          <a:bodyPr spcFirstLastPara="1" vert="horz" wrap="square" lIns="121900" tIns="121900" rIns="121900" bIns="121900" numCol="2" rtlCol="0" anchor="t" anchorCtr="0">
            <a:normAutofit/>
          </a:bodyPr>
          <a:lstStyle/>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Motivation</a:t>
            </a:r>
            <a:endParaRPr sz="1600" dirty="0">
              <a:solidFill>
                <a:schemeClr val="dk1"/>
              </a:solidFill>
              <a:latin typeface="Times New Roman"/>
              <a:ea typeface="Times New Roman"/>
              <a:cs typeface="Times New Roman"/>
              <a:sym typeface="Times New Roman"/>
            </a:endParaRP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Background</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IT Honeypot</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MITRE ATT&amp;CK</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MITRE Engage</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Large Language Model</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RL-LLM Honeypot</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Reinforcement Fine-Tuning </a:t>
            </a:r>
            <a:endParaRPr sz="1600" dirty="0">
              <a:solidFill>
                <a:schemeClr val="dk1"/>
              </a:solidFill>
              <a:latin typeface="Times New Roman"/>
              <a:ea typeface="Times New Roman"/>
              <a:cs typeface="Times New Roman"/>
              <a:sym typeface="Times New Roman"/>
            </a:endParaRPr>
          </a:p>
          <a:p>
            <a:pPr marL="592664" indent="-457200" algn="l">
              <a:lnSpc>
                <a:spcPct val="100000"/>
              </a:lnSpc>
              <a:spcBef>
                <a:spcPts val="0"/>
              </a:spcBef>
              <a:buClr>
                <a:schemeClr val="dk1"/>
              </a:buClr>
              <a:buSzPts val="2000"/>
              <a:buFont typeface="Arial" panose="020B0604020202020204" pitchFamily="34" charset="0"/>
              <a:buChar char="•"/>
            </a:pPr>
            <a:r>
              <a:rPr lang="en-US" sz="1600" dirty="0">
                <a:solidFill>
                  <a:schemeClr val="dk1"/>
                </a:solidFill>
                <a:latin typeface="Times New Roman"/>
                <a:ea typeface="Times New Roman"/>
                <a:cs typeface="Times New Roman"/>
                <a:sym typeface="Times New Roman"/>
              </a:rPr>
              <a:t>Issues</a:t>
            </a:r>
          </a:p>
          <a:p>
            <a:pPr marL="592664" indent="-457200" algn="l">
              <a:lnSpc>
                <a:spcPct val="100000"/>
              </a:lnSpc>
              <a:spcBef>
                <a:spcPts val="0"/>
              </a:spcBef>
              <a:buClr>
                <a:schemeClr val="dk1"/>
              </a:buClr>
              <a:buSzPts val="2000"/>
              <a:buFont typeface="Arial" panose="020B0604020202020204" pitchFamily="34" charset="0"/>
              <a:buChar char="•"/>
            </a:pPr>
            <a:r>
              <a:rPr lang="en-US" sz="1600" dirty="0">
                <a:solidFill>
                  <a:schemeClr val="dk1"/>
                </a:solidFill>
                <a:latin typeface="Times New Roman"/>
                <a:ea typeface="Times New Roman"/>
                <a:cs typeface="Times New Roman"/>
                <a:sym typeface="Times New Roman"/>
              </a:rPr>
              <a:t>Notations</a:t>
            </a:r>
            <a:endParaRPr lang="en-US" altLang="zh-TW" sz="1600" dirty="0">
              <a:solidFill>
                <a:schemeClr val="dk1"/>
              </a:solidFill>
              <a:latin typeface="Times New Roman"/>
              <a:ea typeface="Times New Roman"/>
              <a:cs typeface="Times New Roman"/>
              <a:sym typeface="Times New Roman"/>
            </a:endParaRP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Problem statement - </a:t>
            </a:r>
            <a:r>
              <a:rPr lang="en-US" altLang="zh-TW" sz="1600" dirty="0">
                <a:latin typeface="Times New Roman" panose="02020603050405020304" pitchFamily="18" charset="0"/>
                <a:cs typeface="Times New Roman" panose="02020603050405020304" pitchFamily="18" charset="0"/>
              </a:rPr>
              <a:t>Best Honeypot Response</a:t>
            </a:r>
            <a:endParaRPr lang="en-US" altLang="zh-TW"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Related Works on Dynamic </a:t>
            </a:r>
            <a:br>
              <a:rPr lang="en-US" altLang="zh-TW" sz="1600" dirty="0">
                <a:solidFill>
                  <a:schemeClr val="dk1"/>
                </a:solidFill>
                <a:latin typeface="Times New Roman"/>
                <a:ea typeface="Times New Roman"/>
                <a:cs typeface="Times New Roman"/>
                <a:sym typeface="Times New Roman"/>
              </a:rPr>
            </a:br>
            <a:r>
              <a:rPr lang="en-US" altLang="zh-TW" sz="1600" dirty="0">
                <a:solidFill>
                  <a:schemeClr val="dk1"/>
                </a:solidFill>
                <a:latin typeface="Times New Roman"/>
                <a:ea typeface="Times New Roman"/>
                <a:cs typeface="Times New Roman"/>
                <a:sym typeface="Times New Roman"/>
              </a:rPr>
              <a:t>Honeypots</a:t>
            </a: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Solution </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Solution Overview</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latin typeface="Times New Roman"/>
                <a:ea typeface="Times New Roman"/>
                <a:cs typeface="Times New Roman"/>
                <a:sym typeface="Times New Roman"/>
              </a:rPr>
              <a:t>Intent-awareness as </a:t>
            </a:r>
            <a:r>
              <a:rPr lang="en-US" altLang="zh-TW" sz="1600" dirty="0" err="1">
                <a:latin typeface="Times New Roman"/>
                <a:ea typeface="Times New Roman"/>
                <a:cs typeface="Times New Roman"/>
                <a:sym typeface="Times New Roman"/>
              </a:rPr>
              <a:t>CoT</a:t>
            </a:r>
            <a:endParaRPr lang="en-US" altLang="zh-TW" sz="1600" dirty="0">
              <a:solidFill>
                <a:schemeClr val="dk1"/>
              </a:solidFill>
              <a:latin typeface="Times New Roman"/>
              <a:ea typeface="Times New Roman"/>
              <a:cs typeface="Times New Roman"/>
              <a:sym typeface="Times New Roman"/>
            </a:endParaRP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latin typeface="Times New Roman"/>
                <a:ea typeface="Times New Roman"/>
                <a:cs typeface="Times New Roman"/>
                <a:sym typeface="Times New Roman"/>
              </a:rPr>
              <a:t>Action Space </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Reward Design</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RFT for Engagement </a:t>
            </a:r>
            <a:r>
              <a:rPr lang="en-US" altLang="zh-TW" sz="1600" dirty="0">
                <a:latin typeface="Times New Roman"/>
                <a:ea typeface="Times New Roman"/>
                <a:cs typeface="Times New Roman"/>
                <a:sym typeface="Times New Roman"/>
              </a:rPr>
              <a:t>Intuition</a:t>
            </a:r>
            <a:endParaRPr lang="en-US" altLang="zh-TW" sz="1600" dirty="0">
              <a:solidFill>
                <a:schemeClr val="dk1"/>
              </a:solidFill>
              <a:latin typeface="Times New Roman"/>
              <a:ea typeface="Times New Roman"/>
              <a:cs typeface="Times New Roman"/>
              <a:sym typeface="Times New Roman"/>
            </a:endParaRPr>
          </a:p>
          <a:p>
            <a:pPr marL="135464" algn="l">
              <a:lnSpc>
                <a:spcPct val="100000"/>
              </a:lnSpc>
              <a:spcBef>
                <a:spcPts val="0"/>
              </a:spcBef>
              <a:buClr>
                <a:schemeClr val="dk1"/>
              </a:buClr>
              <a:buSzPts val="2000"/>
            </a:pPr>
            <a:endParaRPr lang="en-US" altLang="zh-TW" sz="1600" dirty="0">
              <a:solidFill>
                <a:schemeClr val="dk1"/>
              </a:solidFill>
              <a:latin typeface="Times New Roman"/>
              <a:ea typeface="Times New Roman"/>
              <a:cs typeface="Times New Roman"/>
              <a:sym typeface="Times New Roman"/>
            </a:endParaRP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Implementation</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Open-source Tools and Library</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System Architecture</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Simulated IT Systems</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Simulated Attacker</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Optimize LLM from offline data</a:t>
            </a: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Evaluation</a:t>
            </a:r>
            <a:endParaRPr lang="en-US" altLang="zh-TW" sz="1200" dirty="0">
              <a:solidFill>
                <a:schemeClr val="dk1"/>
              </a:solidFill>
              <a:latin typeface="Times New Roman"/>
              <a:ea typeface="Times New Roman"/>
              <a:cs typeface="Times New Roman"/>
              <a:sym typeface="Times New Roman"/>
            </a:endParaRP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Experiment Results</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Intent detection </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Intent-strategy Relevance</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Attack Depth</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Attack Diversity</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Reward Model</a:t>
            </a:r>
            <a:r>
              <a:rPr lang="zh-TW" altLang="en-US" sz="1600" dirty="0">
                <a:solidFill>
                  <a:schemeClr val="dk1"/>
                </a:solidFill>
                <a:latin typeface="Times New Roman"/>
                <a:ea typeface="Times New Roman"/>
                <a:cs typeface="Times New Roman"/>
                <a:sym typeface="Times New Roman"/>
              </a:rPr>
              <a:t> </a:t>
            </a:r>
            <a:r>
              <a:rPr lang="en-US" altLang="zh-TW" sz="1600" dirty="0">
                <a:solidFill>
                  <a:schemeClr val="dk1"/>
                </a:solidFill>
                <a:latin typeface="Times New Roman"/>
                <a:ea typeface="Times New Roman"/>
                <a:cs typeface="Times New Roman"/>
                <a:sym typeface="Times New Roman"/>
              </a:rPr>
              <a:t>Evaluation</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Training analysis</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Reward-based Evaluation</a:t>
            </a:r>
          </a:p>
          <a:p>
            <a:pPr marL="1049864" lvl="1" indent="-457200" algn="l">
              <a:lnSpc>
                <a:spcPct val="100000"/>
              </a:lnSpc>
              <a:spcBef>
                <a:spcPts val="0"/>
              </a:spcBef>
              <a:buClr>
                <a:schemeClr val="dk1"/>
              </a:buClr>
              <a:buSzPts val="2000"/>
              <a:buFont typeface="Arial" panose="020B0604020202020204" pitchFamily="34" charset="0"/>
              <a:buChar char="•"/>
            </a:pPr>
            <a:r>
              <a:rPr lang="en-US" altLang="zh-TW" sz="1600" dirty="0">
                <a:latin typeface="Times New Roman"/>
                <a:ea typeface="Times New Roman"/>
                <a:cs typeface="Times New Roman"/>
                <a:sym typeface="Times New Roman"/>
              </a:rPr>
              <a:t>Deployment Results</a:t>
            </a: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Conclusion</a:t>
            </a:r>
          </a:p>
          <a:p>
            <a:pPr marL="592664" indent="-457200" algn="l">
              <a:lnSpc>
                <a:spcPct val="100000"/>
              </a:lnSpc>
              <a:spcBef>
                <a:spcPts val="0"/>
              </a:spcBef>
              <a:buClr>
                <a:schemeClr val="dk1"/>
              </a:buClr>
              <a:buSzPts val="2000"/>
              <a:buFont typeface="Arial" panose="020B0604020202020204" pitchFamily="34" charset="0"/>
              <a:buChar char="•"/>
            </a:pPr>
            <a:r>
              <a:rPr lang="en-US" altLang="zh-TW" sz="1600" dirty="0">
                <a:solidFill>
                  <a:schemeClr val="dk1"/>
                </a:solidFill>
                <a:latin typeface="Times New Roman"/>
                <a:ea typeface="Times New Roman"/>
                <a:cs typeface="Times New Roman"/>
                <a:sym typeface="Times New Roman"/>
              </a:rPr>
              <a:t>References</a:t>
            </a:r>
          </a:p>
          <a:p>
            <a:pPr marL="1138747" lvl="1" indent="-342900" algn="l">
              <a:lnSpc>
                <a:spcPct val="100000"/>
              </a:lnSpc>
              <a:spcBef>
                <a:spcPts val="0"/>
              </a:spcBef>
              <a:buClr>
                <a:schemeClr val="dk1"/>
              </a:buClr>
              <a:buSzPts val="1400"/>
              <a:buFont typeface="Arial" panose="020B0604020202020204" pitchFamily="34" charset="0"/>
              <a:buChar char="•"/>
            </a:pPr>
            <a:endParaRPr lang="en-US" altLang="zh-TW" sz="1600" dirty="0">
              <a:solidFill>
                <a:schemeClr val="dk1"/>
              </a:solidFill>
              <a:latin typeface="Times New Roman"/>
              <a:ea typeface="Times New Roman"/>
              <a:cs typeface="Times New Roman"/>
              <a:sym typeface="Times New Roman"/>
            </a:endParaRPr>
          </a:p>
        </p:txBody>
      </p:sp>
      <p:sp>
        <p:nvSpPr>
          <p:cNvPr id="76" name="Google Shape;76;p1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ctrTitle"/>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lgn="l">
              <a:spcBef>
                <a:spcPts val="0"/>
              </a:spcBef>
              <a:buClr>
                <a:schemeClr val="dk1"/>
              </a:buClr>
              <a:buSzPts val="2700"/>
            </a:pPr>
            <a:r>
              <a:rPr lang="en-US" altLang="zh-TW" sz="4000" dirty="0">
                <a:latin typeface="Times New Roman"/>
                <a:ea typeface="Times New Roman"/>
                <a:cs typeface="Times New Roman"/>
                <a:sym typeface="Times New Roman"/>
              </a:rPr>
              <a:t>Motivation</a:t>
            </a:r>
            <a:endParaRPr sz="4000" dirty="0">
              <a:latin typeface="Arial" panose="020B0604020202020204" pitchFamily="34" charset="0"/>
              <a:ea typeface="Georgia"/>
              <a:cs typeface="Arial" panose="020B0604020202020204" pitchFamily="34" charset="0"/>
              <a:sym typeface="Georgia"/>
            </a:endParaRPr>
          </a:p>
        </p:txBody>
      </p:sp>
      <p:sp>
        <p:nvSpPr>
          <p:cNvPr id="83" name="Google Shape;83;p17"/>
          <p:cNvSpPr txBox="1">
            <a:spLocks noGrp="1"/>
          </p:cNvSpPr>
          <p:nvPr>
            <p:ph type="subTitle" idx="1"/>
          </p:nvPr>
        </p:nvSpPr>
        <p:spPr>
          <a:xfrm>
            <a:off x="256933" y="1038498"/>
            <a:ext cx="11126000" cy="5506400"/>
          </a:xfrm>
          <a:prstGeom prst="rect">
            <a:avLst/>
          </a:prstGeom>
        </p:spPr>
        <p:txBody>
          <a:bodyPr spcFirstLastPara="1" vert="horz" wrap="square" lIns="121900" tIns="121900" rIns="121900" bIns="121900" rtlCol="0" anchor="t" anchorCtr="0">
            <a:noAutofit/>
          </a:bodyPr>
          <a:lstStyle/>
          <a:p>
            <a:pPr marL="609585" indent="-423323" algn="l">
              <a:lnSpc>
                <a:spcPct val="115000"/>
              </a:lnSpc>
              <a:spcBef>
                <a:spcPts val="0"/>
              </a:spcBef>
              <a:buClr>
                <a:schemeClr val="dk1"/>
              </a:buClr>
              <a:buSzPts val="1400"/>
              <a:buFont typeface="Times New Roman"/>
              <a:buChar char="●"/>
            </a:pPr>
            <a:r>
              <a:rPr lang="en-US" altLang="zh-TW" dirty="0">
                <a:solidFill>
                  <a:schemeClr val="dk1"/>
                </a:solidFill>
                <a:latin typeface="Times New Roman"/>
                <a:ea typeface="Times New Roman"/>
                <a:cs typeface="Times New Roman"/>
                <a:sym typeface="Times New Roman"/>
              </a:rPr>
              <a:t>Existing LLM-as-Honeypot (e.g. Nectar</a:t>
            </a:r>
            <a:r>
              <a:rPr lang="en-US" altLang="zh-TW" baseline="30000" dirty="0">
                <a:solidFill>
                  <a:schemeClr val="dk1"/>
                </a:solidFill>
                <a:latin typeface="Times New Roman"/>
                <a:ea typeface="Times New Roman"/>
                <a:cs typeface="Times New Roman"/>
                <a:sym typeface="Times New Roman"/>
              </a:rPr>
              <a:t>[6]</a:t>
            </a:r>
            <a:r>
              <a:rPr lang="en-US" altLang="zh-TW" dirty="0">
                <a:solidFill>
                  <a:schemeClr val="dk1"/>
                </a:solidFill>
                <a:latin typeface="Times New Roman"/>
                <a:ea typeface="Times New Roman"/>
                <a:cs typeface="Times New Roman"/>
                <a:sym typeface="Times New Roman"/>
              </a:rPr>
              <a:t>, </a:t>
            </a:r>
            <a:r>
              <a:rPr lang="en-US" altLang="zh-TW" dirty="0" err="1">
                <a:solidFill>
                  <a:schemeClr val="dk1"/>
                </a:solidFill>
                <a:latin typeface="Times New Roman"/>
                <a:ea typeface="Times New Roman"/>
                <a:cs typeface="Times New Roman"/>
                <a:sym typeface="Times New Roman"/>
              </a:rPr>
              <a:t>ShelLM</a:t>
            </a:r>
            <a:r>
              <a:rPr lang="en-US" altLang="zh-TW" baseline="30000" dirty="0">
                <a:solidFill>
                  <a:schemeClr val="dk1"/>
                </a:solidFill>
                <a:latin typeface="Times New Roman"/>
                <a:ea typeface="Times New Roman"/>
                <a:cs typeface="Times New Roman"/>
                <a:sym typeface="Times New Roman"/>
              </a:rPr>
              <a:t>[7]</a:t>
            </a:r>
            <a:r>
              <a:rPr lang="en-US" altLang="zh-TW" dirty="0">
                <a:solidFill>
                  <a:schemeClr val="dk1"/>
                </a:solidFill>
                <a:latin typeface="Times New Roman"/>
                <a:ea typeface="Times New Roman"/>
                <a:cs typeface="Times New Roman"/>
                <a:sym typeface="Times New Roman"/>
              </a:rPr>
              <a:t>, Chris Huang’s</a:t>
            </a:r>
            <a:r>
              <a:rPr lang="en-US" altLang="zh-TW" baseline="30000" dirty="0">
                <a:solidFill>
                  <a:schemeClr val="dk1"/>
                </a:solidFill>
                <a:latin typeface="Times New Roman"/>
                <a:ea typeface="Times New Roman"/>
                <a:cs typeface="Times New Roman"/>
                <a:sym typeface="Times New Roman"/>
              </a:rPr>
              <a:t>[10]</a:t>
            </a:r>
            <a:r>
              <a:rPr lang="en-US" altLang="zh-TW" dirty="0">
                <a:solidFill>
                  <a:schemeClr val="dk1"/>
                </a:solidFill>
                <a:latin typeface="Times New Roman"/>
                <a:ea typeface="Times New Roman"/>
                <a:cs typeface="Times New Roman"/>
                <a:sym typeface="Times New Roman"/>
              </a:rPr>
              <a:t>, ) </a:t>
            </a:r>
            <a:endParaRPr dirty="0">
              <a:solidFill>
                <a:schemeClr val="dk1"/>
              </a:solidFill>
              <a:latin typeface="Times New Roman"/>
              <a:ea typeface="Times New Roman"/>
              <a:cs typeface="Times New Roman"/>
              <a:sym typeface="Times New Roman"/>
            </a:endParaRPr>
          </a:p>
          <a:p>
            <a:pPr marL="1219170" lvl="1" indent="-423323" algn="l">
              <a:lnSpc>
                <a:spcPct val="115000"/>
              </a:lnSpc>
              <a:spcBef>
                <a:spcPts val="0"/>
              </a:spcBef>
              <a:buClr>
                <a:schemeClr val="dk1"/>
              </a:buClr>
              <a:buSzPts val="1400"/>
              <a:buFont typeface="Times New Roman"/>
              <a:buChar char="○"/>
            </a:pPr>
            <a:r>
              <a:rPr lang="en-US" altLang="zh-TW" sz="2400" dirty="0">
                <a:solidFill>
                  <a:schemeClr val="dk1"/>
                </a:solidFill>
                <a:latin typeface="Times New Roman"/>
                <a:ea typeface="Times New Roman"/>
                <a:cs typeface="Times New Roman"/>
                <a:sym typeface="Times New Roman"/>
              </a:rPr>
              <a:t>Stateless </a:t>
            </a:r>
            <a:endParaRPr sz="2400" dirty="0">
              <a:solidFill>
                <a:schemeClr val="dk1"/>
              </a:solidFill>
              <a:latin typeface="Times New Roman"/>
              <a:ea typeface="Times New Roman"/>
              <a:cs typeface="Times New Roman"/>
              <a:sym typeface="Times New Roman"/>
            </a:endParaRPr>
          </a:p>
          <a:p>
            <a:pPr marL="1219170" algn="l">
              <a:lnSpc>
                <a:spcPct val="115000"/>
              </a:lnSpc>
              <a:spcBef>
                <a:spcPts val="0"/>
              </a:spcBef>
            </a:pPr>
            <a:r>
              <a:rPr lang="en-US" altLang="zh-TW" dirty="0">
                <a:solidFill>
                  <a:schemeClr val="dk1"/>
                </a:solidFill>
                <a:latin typeface="Times New Roman"/>
                <a:ea typeface="Times New Roman"/>
                <a:cs typeface="Times New Roman"/>
                <a:sym typeface="Wingdings" panose="05000000000000000000" pitchFamily="2" charset="2"/>
              </a:rPr>
              <a:t></a:t>
            </a:r>
            <a:r>
              <a:rPr lang="zh-TW" altLang="en-US" dirty="0">
                <a:solidFill>
                  <a:schemeClr val="dk1"/>
                </a:solidFill>
                <a:latin typeface="Times New Roman"/>
                <a:ea typeface="Times New Roman"/>
                <a:cs typeface="Times New Roman"/>
                <a:sym typeface="Times New Roman"/>
              </a:rPr>
              <a:t> </a:t>
            </a:r>
            <a:r>
              <a:rPr lang="en-US" altLang="zh-TW" dirty="0">
                <a:solidFill>
                  <a:schemeClr val="dk1"/>
                </a:solidFill>
                <a:latin typeface="Times New Roman"/>
                <a:ea typeface="Times New Roman"/>
                <a:cs typeface="Times New Roman"/>
                <a:sym typeface="Times New Roman"/>
              </a:rPr>
              <a:t>leading to hallucinations</a:t>
            </a:r>
            <a:endParaRPr dirty="0">
              <a:solidFill>
                <a:schemeClr val="dk1"/>
              </a:solidFill>
              <a:latin typeface="Times New Roman"/>
              <a:ea typeface="Times New Roman"/>
              <a:cs typeface="Times New Roman"/>
              <a:sym typeface="Times New Roman"/>
            </a:endParaRPr>
          </a:p>
          <a:p>
            <a:pPr marL="1219170" algn="l">
              <a:lnSpc>
                <a:spcPct val="115000"/>
              </a:lnSpc>
              <a:spcBef>
                <a:spcPts val="0"/>
              </a:spcBef>
            </a:pPr>
            <a:r>
              <a:rPr lang="en-US" altLang="zh-TW" dirty="0">
                <a:solidFill>
                  <a:schemeClr val="dk1"/>
                </a:solidFill>
                <a:latin typeface="Times New Roman"/>
                <a:ea typeface="Times New Roman"/>
                <a:cs typeface="Times New Roman"/>
                <a:sym typeface="Wingdings" panose="05000000000000000000" pitchFamily="2" charset="2"/>
              </a:rPr>
              <a:t></a:t>
            </a:r>
            <a:r>
              <a:rPr lang="zh-TW" altLang="en-US" dirty="0">
                <a:solidFill>
                  <a:schemeClr val="dk1"/>
                </a:solidFill>
                <a:latin typeface="Times New Roman"/>
                <a:ea typeface="Times New Roman"/>
                <a:cs typeface="Times New Roman"/>
                <a:sym typeface="Times New Roman"/>
              </a:rPr>
              <a:t> </a:t>
            </a:r>
            <a:r>
              <a:rPr lang="en-US" altLang="zh-TW" dirty="0">
                <a:solidFill>
                  <a:schemeClr val="dk1"/>
                </a:solidFill>
                <a:latin typeface="Times New Roman"/>
                <a:ea typeface="Times New Roman"/>
                <a:cs typeface="Times New Roman"/>
                <a:sym typeface="Times New Roman"/>
              </a:rPr>
              <a:t>could be detected by simple probing techniques (e.g., loop commands)</a:t>
            </a:r>
            <a:r>
              <a:rPr lang="en-US" altLang="zh-TW" sz="2400" dirty="0">
                <a:solidFill>
                  <a:schemeClr val="dk1"/>
                </a:solidFill>
                <a:latin typeface="Times New Roman"/>
                <a:ea typeface="Times New Roman"/>
                <a:cs typeface="Times New Roman"/>
                <a:sym typeface="Times New Roman"/>
              </a:rPr>
              <a:t> </a:t>
            </a:r>
          </a:p>
          <a:p>
            <a:pPr marL="1253047" lvl="2" algn="l">
              <a:lnSpc>
                <a:spcPct val="115000"/>
              </a:lnSpc>
              <a:spcBef>
                <a:spcPts val="0"/>
              </a:spcBef>
              <a:buClr>
                <a:schemeClr val="dk1"/>
              </a:buClr>
              <a:buSzPts val="1400"/>
            </a:pPr>
            <a:endParaRPr dirty="0">
              <a:solidFill>
                <a:schemeClr val="dk1"/>
              </a:solidFill>
              <a:latin typeface="Times New Roman"/>
              <a:ea typeface="Times New Roman"/>
              <a:cs typeface="Times New Roman"/>
              <a:sym typeface="Times New Roman"/>
            </a:endParaRPr>
          </a:p>
          <a:p>
            <a:pPr marL="609585" indent="-423323" algn="l">
              <a:lnSpc>
                <a:spcPct val="85000"/>
              </a:lnSpc>
              <a:spcBef>
                <a:spcPts val="0"/>
              </a:spcBef>
              <a:buClr>
                <a:schemeClr val="dk1"/>
              </a:buClr>
              <a:buSzPts val="1400"/>
              <a:buFont typeface="Times New Roman"/>
              <a:buChar char="●"/>
            </a:pPr>
            <a:r>
              <a:rPr lang="en-US" altLang="zh-TW" dirty="0">
                <a:solidFill>
                  <a:schemeClr val="dk1"/>
                </a:solidFill>
                <a:latin typeface="Times New Roman"/>
                <a:ea typeface="Times New Roman"/>
                <a:cs typeface="Times New Roman"/>
                <a:sym typeface="Times New Roman"/>
              </a:rPr>
              <a:t>Existing Decoupled RL-LLM Honeypot (e.g. Seniors’</a:t>
            </a:r>
            <a:r>
              <a:rPr lang="en-US" altLang="zh-TW" baseline="30000" dirty="0">
                <a:solidFill>
                  <a:schemeClr val="dk1"/>
                </a:solidFill>
                <a:latin typeface="Times New Roman"/>
                <a:ea typeface="Times New Roman"/>
                <a:cs typeface="Times New Roman"/>
                <a:sym typeface="Times New Roman"/>
              </a:rPr>
              <a:t>[10][11][12]</a:t>
            </a:r>
            <a:r>
              <a:rPr lang="en-US" altLang="zh-TW" dirty="0">
                <a:solidFill>
                  <a:schemeClr val="dk1"/>
                </a:solidFill>
                <a:latin typeface="Times New Roman"/>
                <a:ea typeface="Times New Roman"/>
                <a:cs typeface="Times New Roman"/>
                <a:sym typeface="Times New Roman"/>
              </a:rPr>
              <a:t>, GASH</a:t>
            </a:r>
            <a:r>
              <a:rPr lang="en-US" altLang="zh-TW" baseline="30000" dirty="0">
                <a:solidFill>
                  <a:schemeClr val="dk1"/>
                </a:solidFill>
                <a:latin typeface="Times New Roman"/>
                <a:ea typeface="Times New Roman"/>
                <a:cs typeface="Times New Roman"/>
                <a:sym typeface="Times New Roman"/>
              </a:rPr>
              <a:t>[4] </a:t>
            </a:r>
            <a:r>
              <a:rPr lang="en-US" altLang="zh-TW" dirty="0">
                <a:solidFill>
                  <a:schemeClr val="dk1"/>
                </a:solidFill>
                <a:latin typeface="Times New Roman"/>
                <a:ea typeface="Times New Roman"/>
                <a:cs typeface="Times New Roman"/>
                <a:sym typeface="Times New Roman"/>
              </a:rPr>
              <a:t>)</a:t>
            </a:r>
          </a:p>
          <a:p>
            <a:pPr marL="1219170" lvl="1" indent="-423323" algn="l">
              <a:lnSpc>
                <a:spcPct val="115000"/>
              </a:lnSpc>
              <a:spcBef>
                <a:spcPts val="0"/>
              </a:spcBef>
              <a:buClr>
                <a:schemeClr val="dk1"/>
              </a:buClr>
              <a:buSzPts val="1400"/>
              <a:buFont typeface="Times New Roman"/>
              <a:buChar char="○"/>
            </a:pPr>
            <a:r>
              <a:rPr lang="en-US" sz="2400" dirty="0">
                <a:solidFill>
                  <a:schemeClr val="dk1"/>
                </a:solidFill>
                <a:latin typeface="Times New Roman"/>
                <a:ea typeface="Times New Roman"/>
                <a:cs typeface="Times New Roman"/>
                <a:sym typeface="Times New Roman"/>
              </a:rPr>
              <a:t>Limited and Fixed Action space</a:t>
            </a:r>
          </a:p>
          <a:p>
            <a:pPr marL="1253047" lvl="2" algn="l">
              <a:lnSpc>
                <a:spcPct val="115000"/>
              </a:lnSpc>
              <a:spcBef>
                <a:spcPts val="0"/>
              </a:spcBef>
              <a:buClr>
                <a:schemeClr val="dk1"/>
              </a:buClr>
              <a:buSzPts val="1400"/>
            </a:pPr>
            <a:r>
              <a:rPr lang="en-US" sz="2200" dirty="0">
                <a:solidFill>
                  <a:schemeClr val="dk1"/>
                </a:solidFill>
                <a:latin typeface="Times New Roman"/>
                <a:ea typeface="Times New Roman"/>
                <a:cs typeface="Times New Roman"/>
                <a:sym typeface="Wingdings" panose="05000000000000000000" pitchFamily="2" charset="2"/>
              </a:rPr>
              <a:t> System dependent</a:t>
            </a:r>
          </a:p>
          <a:p>
            <a:pPr marL="1253047" lvl="2" algn="l">
              <a:lnSpc>
                <a:spcPct val="115000"/>
              </a:lnSpc>
              <a:spcBef>
                <a:spcPts val="0"/>
              </a:spcBef>
              <a:buClr>
                <a:schemeClr val="dk1"/>
              </a:buClr>
              <a:buSzPts val="1400"/>
            </a:pPr>
            <a:r>
              <a:rPr lang="en-US" sz="2200" dirty="0">
                <a:solidFill>
                  <a:schemeClr val="dk1"/>
                </a:solidFill>
                <a:latin typeface="Times New Roman"/>
                <a:ea typeface="Times New Roman"/>
                <a:cs typeface="Times New Roman"/>
                <a:sym typeface="Wingdings" panose="05000000000000000000" pitchFamily="2" charset="2"/>
              </a:rPr>
              <a:t> Hard to generalize</a:t>
            </a:r>
            <a:endParaRPr lang="en-US" sz="2200" dirty="0">
              <a:solidFill>
                <a:schemeClr val="dk1"/>
              </a:solidFill>
              <a:latin typeface="Times New Roman"/>
              <a:ea typeface="Times New Roman"/>
              <a:cs typeface="Times New Roman"/>
              <a:sym typeface="Times New Roman"/>
            </a:endParaRPr>
          </a:p>
          <a:p>
            <a:pPr marL="1219170" lvl="1" indent="-423323" algn="l">
              <a:lnSpc>
                <a:spcPct val="115000"/>
              </a:lnSpc>
              <a:spcBef>
                <a:spcPts val="0"/>
              </a:spcBef>
              <a:buClr>
                <a:schemeClr val="dk1"/>
              </a:buClr>
              <a:buSzPts val="1400"/>
              <a:buFont typeface="Times New Roman"/>
              <a:buChar char="○"/>
            </a:pPr>
            <a:r>
              <a:rPr lang="en-US" sz="2400" dirty="0">
                <a:solidFill>
                  <a:schemeClr val="dk1"/>
                </a:solidFill>
                <a:latin typeface="Times New Roman"/>
                <a:ea typeface="Times New Roman"/>
                <a:cs typeface="Times New Roman"/>
                <a:sym typeface="Times New Roman"/>
              </a:rPr>
              <a:t>Lack of intent-awareness</a:t>
            </a:r>
          </a:p>
          <a:p>
            <a:pPr marL="1253047" lvl="2" algn="l">
              <a:lnSpc>
                <a:spcPct val="115000"/>
              </a:lnSpc>
              <a:spcBef>
                <a:spcPts val="0"/>
              </a:spcBef>
              <a:buClr>
                <a:schemeClr val="dk1"/>
              </a:buClr>
              <a:buSzPts val="1400"/>
            </a:pPr>
            <a:r>
              <a:rPr lang="en-US" sz="2200" dirty="0">
                <a:solidFill>
                  <a:schemeClr val="dk1"/>
                </a:solidFill>
                <a:latin typeface="Times New Roman"/>
                <a:ea typeface="Times New Roman"/>
                <a:cs typeface="Times New Roman"/>
                <a:sym typeface="Wingdings" panose="05000000000000000000" pitchFamily="2" charset="2"/>
              </a:rPr>
              <a:t> Tactic is usually command sequences</a:t>
            </a:r>
          </a:p>
          <a:p>
            <a:pPr marL="1253047" lvl="2" algn="l">
              <a:lnSpc>
                <a:spcPct val="115000"/>
              </a:lnSpc>
              <a:spcBef>
                <a:spcPts val="0"/>
              </a:spcBef>
              <a:buClr>
                <a:schemeClr val="dk1"/>
              </a:buClr>
              <a:buSzPts val="1400"/>
            </a:pPr>
            <a:r>
              <a:rPr lang="en-US" sz="2200" dirty="0">
                <a:solidFill>
                  <a:schemeClr val="dk1"/>
                </a:solidFill>
                <a:latin typeface="Times New Roman"/>
                <a:ea typeface="Times New Roman"/>
                <a:cs typeface="Times New Roman"/>
                <a:sym typeface="Wingdings" panose="05000000000000000000" pitchFamily="2" charset="2"/>
              </a:rPr>
              <a:t> Too complex for RL Model</a:t>
            </a:r>
          </a:p>
          <a:p>
            <a:pPr marL="1253047" lvl="2" algn="l">
              <a:lnSpc>
                <a:spcPct val="115000"/>
              </a:lnSpc>
              <a:spcBef>
                <a:spcPts val="0"/>
              </a:spcBef>
              <a:buClr>
                <a:schemeClr val="dk1"/>
              </a:buClr>
              <a:buSzPts val="1400"/>
            </a:pPr>
            <a:r>
              <a:rPr lang="en-US" sz="2200" dirty="0">
                <a:solidFill>
                  <a:schemeClr val="dk1"/>
                </a:solidFill>
                <a:latin typeface="Times New Roman"/>
                <a:ea typeface="Times New Roman"/>
                <a:cs typeface="Times New Roman"/>
                <a:sym typeface="Wingdings" panose="05000000000000000000" pitchFamily="2" charset="2"/>
              </a:rPr>
              <a:t> Lead to illogical response</a:t>
            </a:r>
            <a:endParaRPr lang="en-US" sz="2200" dirty="0">
              <a:solidFill>
                <a:schemeClr val="dk1"/>
              </a:solidFill>
              <a:latin typeface="Times New Roman"/>
              <a:ea typeface="Times New Roman"/>
              <a:cs typeface="Times New Roman"/>
              <a:sym typeface="Times New Roman"/>
            </a:endParaRPr>
          </a:p>
          <a:p>
            <a:pPr marL="1676370" lvl="2" indent="-423323" algn="l">
              <a:lnSpc>
                <a:spcPct val="115000"/>
              </a:lnSpc>
              <a:spcBef>
                <a:spcPts val="0"/>
              </a:spcBef>
              <a:buClr>
                <a:schemeClr val="dk1"/>
              </a:buClr>
              <a:buSzPts val="1400"/>
              <a:buFont typeface="Times New Roman"/>
              <a:buChar char="○"/>
            </a:pPr>
            <a:endParaRPr lang="en-US" sz="2200" dirty="0">
              <a:solidFill>
                <a:schemeClr val="dk1"/>
              </a:solidFill>
              <a:latin typeface="Times New Roman"/>
              <a:ea typeface="Times New Roman"/>
              <a:cs typeface="Times New Roman"/>
              <a:sym typeface="Times New Roman"/>
            </a:endParaRPr>
          </a:p>
          <a:p>
            <a:pPr marL="1219170" lvl="1" indent="-423323" algn="l">
              <a:lnSpc>
                <a:spcPct val="115000"/>
              </a:lnSpc>
              <a:spcBef>
                <a:spcPts val="0"/>
              </a:spcBef>
              <a:buClr>
                <a:schemeClr val="dk1"/>
              </a:buClr>
              <a:buSzPts val="1400"/>
              <a:buFont typeface="Times New Roman"/>
              <a:buChar char="○"/>
            </a:pPr>
            <a:endParaRPr lang="en-US" sz="2400" dirty="0">
              <a:solidFill>
                <a:schemeClr val="dk1"/>
              </a:solidFill>
              <a:latin typeface="Times New Roman"/>
              <a:ea typeface="Times New Roman"/>
              <a:cs typeface="Times New Roman"/>
              <a:sym typeface="Times New Roman"/>
            </a:endParaRPr>
          </a:p>
        </p:txBody>
      </p:sp>
      <p:sp>
        <p:nvSpPr>
          <p:cNvPr id="84" name="Google Shape;84;p17"/>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3</a:t>
            </a:fld>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ctrTitle"/>
          </p:nvPr>
        </p:nvSpPr>
        <p:spPr>
          <a:xfrm>
            <a:off x="365400" y="344133"/>
            <a:ext cx="11565400" cy="1056800"/>
          </a:xfrm>
          <a:prstGeom prst="rect">
            <a:avLst/>
          </a:prstGeom>
        </p:spPr>
        <p:txBody>
          <a:bodyPr spcFirstLastPara="1" vert="horz" wrap="square" lIns="121900" tIns="121900" rIns="121900" bIns="121900" rtlCol="0" anchor="t" anchorCtr="0">
            <a:noAutofit/>
          </a:bodyPr>
          <a:lstStyle/>
          <a:p>
            <a:pPr algn="l">
              <a:spcBef>
                <a:spcPts val="0"/>
              </a:spcBef>
              <a:buClr>
                <a:schemeClr val="dk1"/>
              </a:buClr>
              <a:buSzPts val="2700"/>
            </a:pPr>
            <a:r>
              <a:rPr lang="en-US" altLang="zh-TW" sz="4000" dirty="0">
                <a:latin typeface="Times New Roman"/>
                <a:ea typeface="Times New Roman"/>
                <a:cs typeface="Times New Roman"/>
                <a:sym typeface="Times New Roman"/>
              </a:rPr>
              <a:t>Background – Honeypots</a:t>
            </a:r>
            <a:endParaRPr sz="4000" baseline="30000" dirty="0">
              <a:latin typeface="Times New Roman"/>
              <a:ea typeface="Times New Roman"/>
              <a:cs typeface="Times New Roman"/>
              <a:sym typeface="Times New Roman"/>
            </a:endParaRPr>
          </a:p>
          <a:p>
            <a:pPr algn="l">
              <a:spcBef>
                <a:spcPts val="0"/>
              </a:spcBef>
              <a:buSzPts val="990"/>
            </a:pPr>
            <a:endParaRPr sz="4000" dirty="0">
              <a:latin typeface="Times New Roman"/>
              <a:ea typeface="Times New Roman"/>
              <a:cs typeface="Times New Roman"/>
              <a:sym typeface="Times New Roman"/>
            </a:endParaRPr>
          </a:p>
        </p:txBody>
      </p:sp>
      <p:sp>
        <p:nvSpPr>
          <p:cNvPr id="90" name="Google Shape;90;p1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4</a:t>
            </a:fld>
            <a:endParaRPr dirty="0"/>
          </a:p>
        </p:txBody>
      </p:sp>
      <p:sp>
        <p:nvSpPr>
          <p:cNvPr id="91" name="Google Shape;91;p18"/>
          <p:cNvSpPr txBox="1">
            <a:spLocks noGrp="1"/>
          </p:cNvSpPr>
          <p:nvPr>
            <p:ph type="subTitle" idx="1"/>
          </p:nvPr>
        </p:nvSpPr>
        <p:spPr>
          <a:xfrm>
            <a:off x="90800" y="1400933"/>
            <a:ext cx="11840000" cy="5115200"/>
          </a:xfrm>
          <a:prstGeom prst="rect">
            <a:avLst/>
          </a:prstGeom>
        </p:spPr>
        <p:txBody>
          <a:bodyPr spcFirstLastPara="1" vert="horz" wrap="square" lIns="121900" tIns="121900" rIns="121900" bIns="121900" rtlCol="0" anchor="t" anchorCtr="0">
            <a:noAutofit/>
          </a:bodyPr>
          <a:lstStyle/>
          <a:p>
            <a:pPr marL="609585" indent="-406390" algn="l">
              <a:lnSpc>
                <a:spcPct val="150000"/>
              </a:lnSpc>
              <a:spcBef>
                <a:spcPts val="0"/>
              </a:spcBef>
              <a:buClr>
                <a:schemeClr val="dk1"/>
              </a:buClr>
              <a:buSzPts val="1200"/>
              <a:buFont typeface="Times New Roman"/>
              <a:buChar char="●"/>
            </a:pPr>
            <a:r>
              <a:rPr lang="en-US" altLang="zh-TW" sz="2800" dirty="0">
                <a:solidFill>
                  <a:schemeClr val="dk1"/>
                </a:solidFill>
                <a:latin typeface="Times New Roman"/>
                <a:ea typeface="Times New Roman"/>
                <a:cs typeface="Times New Roman"/>
                <a:sym typeface="Times New Roman"/>
              </a:rPr>
              <a:t>Shell entry points are frequent targets.</a:t>
            </a:r>
            <a:endParaRPr dirty="0">
              <a:solidFill>
                <a:schemeClr val="dk1"/>
              </a:solidFill>
              <a:latin typeface="Times New Roman"/>
              <a:ea typeface="Times New Roman"/>
              <a:cs typeface="Times New Roman"/>
              <a:sym typeface="Times New Roman"/>
            </a:endParaRPr>
          </a:p>
          <a:p>
            <a:pPr marL="1219170" lvl="1" indent="-406390" algn="l">
              <a:lnSpc>
                <a:spcPct val="115000"/>
              </a:lnSpc>
              <a:spcBef>
                <a:spcPts val="0"/>
              </a:spcBef>
              <a:buClr>
                <a:schemeClr val="dk1"/>
              </a:buClr>
              <a:buSzPts val="1200"/>
              <a:buFont typeface="Times New Roman"/>
              <a:buChar char="○"/>
            </a:pPr>
            <a:r>
              <a:rPr lang="en-US" altLang="zh-TW" sz="2267" dirty="0">
                <a:solidFill>
                  <a:schemeClr val="dk1"/>
                </a:solidFill>
                <a:latin typeface="Times New Roman"/>
                <a:ea typeface="Times New Roman"/>
                <a:cs typeface="Times New Roman"/>
                <a:sym typeface="Times New Roman"/>
              </a:rPr>
              <a:t>CVE-2025-20309</a:t>
            </a:r>
            <a:endParaRPr sz="2267" dirty="0">
              <a:solidFill>
                <a:schemeClr val="dk1"/>
              </a:solidFill>
              <a:latin typeface="Times New Roman"/>
              <a:ea typeface="Times New Roman"/>
              <a:cs typeface="Times New Roman"/>
              <a:sym typeface="Times New Roman"/>
            </a:endParaRPr>
          </a:p>
          <a:p>
            <a:pPr marL="1219170" lvl="1" indent="-406390" algn="l">
              <a:lnSpc>
                <a:spcPct val="115000"/>
              </a:lnSpc>
              <a:spcBef>
                <a:spcPts val="0"/>
              </a:spcBef>
              <a:buClr>
                <a:schemeClr val="dk1"/>
              </a:buClr>
              <a:buSzPts val="1200"/>
              <a:buFont typeface="Times New Roman"/>
              <a:buChar char="○"/>
            </a:pPr>
            <a:r>
              <a:rPr lang="en-US" altLang="zh-TW" sz="2267" dirty="0">
                <a:solidFill>
                  <a:schemeClr val="dk1"/>
                </a:solidFill>
                <a:latin typeface="Times New Roman"/>
                <a:ea typeface="Times New Roman"/>
                <a:cs typeface="Times New Roman"/>
                <a:sym typeface="Times New Roman"/>
              </a:rPr>
              <a:t>CVE-2025-26465</a:t>
            </a:r>
            <a:endParaRPr sz="2267" dirty="0">
              <a:solidFill>
                <a:schemeClr val="dk1"/>
              </a:solidFill>
              <a:latin typeface="Times New Roman"/>
              <a:ea typeface="Times New Roman"/>
              <a:cs typeface="Times New Roman"/>
              <a:sym typeface="Times New Roman"/>
            </a:endParaRPr>
          </a:p>
          <a:p>
            <a:pPr marL="1219170" lvl="1" indent="-406390" algn="l">
              <a:lnSpc>
                <a:spcPct val="115000"/>
              </a:lnSpc>
              <a:spcBef>
                <a:spcPts val="0"/>
              </a:spcBef>
              <a:buClr>
                <a:schemeClr val="dk1"/>
              </a:buClr>
              <a:buSzPts val="1200"/>
              <a:buFont typeface="Times New Roman"/>
              <a:buChar char="○"/>
            </a:pPr>
            <a:r>
              <a:rPr lang="en-US" altLang="zh-TW" sz="2267" dirty="0">
                <a:solidFill>
                  <a:schemeClr val="dk1"/>
                </a:solidFill>
                <a:latin typeface="Times New Roman"/>
                <a:ea typeface="Times New Roman"/>
                <a:cs typeface="Times New Roman"/>
                <a:sym typeface="Times New Roman"/>
              </a:rPr>
              <a:t>CVE-2025-32728</a:t>
            </a:r>
            <a:endParaRPr sz="2267" dirty="0">
              <a:solidFill>
                <a:schemeClr val="dk1"/>
              </a:solidFill>
              <a:latin typeface="Times New Roman"/>
              <a:ea typeface="Times New Roman"/>
              <a:cs typeface="Times New Roman"/>
              <a:sym typeface="Times New Roman"/>
            </a:endParaRPr>
          </a:p>
          <a:p>
            <a:pPr marL="1219170" lvl="1" indent="-406390" algn="l">
              <a:lnSpc>
                <a:spcPct val="115000"/>
              </a:lnSpc>
              <a:spcBef>
                <a:spcPts val="0"/>
              </a:spcBef>
              <a:buClr>
                <a:schemeClr val="dk1"/>
              </a:buClr>
              <a:buSzPts val="1200"/>
              <a:buFont typeface="Times New Roman"/>
              <a:buChar char="○"/>
            </a:pPr>
            <a:r>
              <a:rPr lang="en-US" altLang="zh-TW" sz="2267" dirty="0">
                <a:solidFill>
                  <a:schemeClr val="dk1"/>
                </a:solidFill>
                <a:latin typeface="Times New Roman"/>
                <a:ea typeface="Times New Roman"/>
                <a:cs typeface="Times New Roman"/>
                <a:sym typeface="Times New Roman"/>
              </a:rPr>
              <a:t>CVE-2025-32754</a:t>
            </a:r>
            <a:endParaRPr sz="2267" dirty="0">
              <a:solidFill>
                <a:schemeClr val="dk1"/>
              </a:solidFill>
              <a:latin typeface="Times New Roman"/>
              <a:ea typeface="Times New Roman"/>
              <a:cs typeface="Times New Roman"/>
              <a:sym typeface="Times New Roman"/>
            </a:endParaRPr>
          </a:p>
          <a:p>
            <a:pPr marL="1219170" lvl="1" indent="-406390" algn="l">
              <a:lnSpc>
                <a:spcPct val="115000"/>
              </a:lnSpc>
              <a:spcBef>
                <a:spcPts val="0"/>
              </a:spcBef>
              <a:buClr>
                <a:schemeClr val="dk1"/>
              </a:buClr>
              <a:buSzPts val="1200"/>
              <a:buFont typeface="Times New Roman"/>
              <a:buChar char="○"/>
            </a:pPr>
            <a:r>
              <a:rPr lang="en-US" altLang="zh-TW" sz="2267" dirty="0" err="1">
                <a:solidFill>
                  <a:schemeClr val="dk1"/>
                </a:solidFill>
                <a:latin typeface="Times New Roman"/>
                <a:ea typeface="Times New Roman"/>
                <a:cs typeface="Times New Roman"/>
                <a:sym typeface="Times New Roman"/>
              </a:rPr>
              <a:t>etc</a:t>
            </a:r>
            <a:r>
              <a:rPr lang="en-US" altLang="zh-TW" sz="2267" dirty="0">
                <a:solidFill>
                  <a:schemeClr val="dk1"/>
                </a:solidFill>
                <a:latin typeface="Times New Roman"/>
                <a:ea typeface="Times New Roman"/>
                <a:cs typeface="Times New Roman"/>
                <a:sym typeface="Times New Roman"/>
              </a:rPr>
              <a:t> …</a:t>
            </a:r>
            <a:br>
              <a:rPr lang="en-US" altLang="zh-TW" sz="2267" dirty="0">
                <a:solidFill>
                  <a:schemeClr val="dk1"/>
                </a:solidFill>
                <a:latin typeface="Times New Roman"/>
                <a:ea typeface="Times New Roman"/>
                <a:cs typeface="Times New Roman"/>
                <a:sym typeface="Times New Roman"/>
              </a:rPr>
            </a:br>
            <a:endParaRPr sz="2267" dirty="0">
              <a:solidFill>
                <a:schemeClr val="dk1"/>
              </a:solidFill>
              <a:latin typeface="Times New Roman"/>
              <a:ea typeface="Times New Roman"/>
              <a:cs typeface="Times New Roman"/>
              <a:sym typeface="Times New Roman"/>
            </a:endParaRPr>
          </a:p>
          <a:p>
            <a:pPr marL="609585" indent="-406390" algn="l">
              <a:lnSpc>
                <a:spcPct val="150000"/>
              </a:lnSpc>
              <a:spcBef>
                <a:spcPts val="0"/>
              </a:spcBef>
              <a:buClr>
                <a:schemeClr val="dk1"/>
              </a:buClr>
              <a:buSzPts val="1200"/>
              <a:buFont typeface="Times New Roman"/>
              <a:buChar char="●"/>
            </a:pPr>
            <a:r>
              <a:rPr lang="en-US" altLang="zh-TW" sz="2800" dirty="0">
                <a:solidFill>
                  <a:schemeClr val="dk1"/>
                </a:solidFill>
                <a:latin typeface="Times New Roman"/>
                <a:ea typeface="Times New Roman"/>
                <a:cs typeface="Times New Roman"/>
                <a:sym typeface="Times New Roman"/>
              </a:rPr>
              <a:t>Goal: Maximize capture of attack kill-chains</a:t>
            </a:r>
            <a:endParaRPr sz="2800" dirty="0">
              <a:solidFill>
                <a:schemeClr val="dk1"/>
              </a:solidFill>
              <a:latin typeface="Times New Roman"/>
              <a:ea typeface="Times New Roman"/>
              <a:cs typeface="Times New Roman"/>
              <a:sym typeface="Times New Roman"/>
            </a:endParaRPr>
          </a:p>
          <a:p>
            <a:pPr marL="609585" indent="-406390" algn="l">
              <a:lnSpc>
                <a:spcPct val="150000"/>
              </a:lnSpc>
              <a:spcBef>
                <a:spcPts val="0"/>
              </a:spcBef>
              <a:buClr>
                <a:schemeClr val="dk1"/>
              </a:buClr>
              <a:buSzPts val="1200"/>
              <a:buFont typeface="Times New Roman"/>
              <a:buChar char="●"/>
            </a:pPr>
            <a:r>
              <a:rPr lang="en-US" altLang="zh-TW" sz="2800" dirty="0">
                <a:solidFill>
                  <a:schemeClr val="dk1"/>
                </a:solidFill>
                <a:latin typeface="Times New Roman"/>
                <a:ea typeface="Times New Roman"/>
                <a:cs typeface="Times New Roman"/>
                <a:sym typeface="Times New Roman"/>
              </a:rPr>
              <a:t>Capabilities: Realistic, adaptive engagement</a:t>
            </a:r>
            <a:endParaRPr sz="2800" dirty="0">
              <a:solidFill>
                <a:schemeClr val="dk1"/>
              </a:solidFill>
              <a:latin typeface="Times New Roman"/>
              <a:ea typeface="Times New Roman"/>
              <a:cs typeface="Times New Roman"/>
              <a:sym typeface="Times New Roman"/>
            </a:endParaRPr>
          </a:p>
          <a:p>
            <a:pPr algn="l">
              <a:lnSpc>
                <a:spcPct val="150000"/>
              </a:lnSpc>
              <a:spcBef>
                <a:spcPts val="0"/>
              </a:spcBef>
            </a:pPr>
            <a:endParaRPr dirty="0">
              <a:solidFill>
                <a:schemeClr val="dk1"/>
              </a:solidFill>
              <a:latin typeface="Times New Roman"/>
              <a:ea typeface="Times New Roman"/>
              <a:cs typeface="Times New Roman"/>
              <a:sym typeface="Times New Roman"/>
            </a:endParaRPr>
          </a:p>
        </p:txBody>
      </p:sp>
      <p:pic>
        <p:nvPicPr>
          <p:cNvPr id="92" name="Google Shape;92;p18"/>
          <p:cNvPicPr preferRelativeResize="0"/>
          <p:nvPr/>
        </p:nvPicPr>
        <p:blipFill rotWithShape="1">
          <a:blip r:embed="rId3">
            <a:alphaModFix/>
          </a:blip>
          <a:srcRect/>
          <a:stretch/>
        </p:blipFill>
        <p:spPr>
          <a:xfrm>
            <a:off x="7317769" y="1329200"/>
            <a:ext cx="4134812" cy="4816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p:nvPr/>
        </p:nvSpPr>
        <p:spPr>
          <a:xfrm>
            <a:off x="5217200" y="1762833"/>
            <a:ext cx="5890000" cy="3576800"/>
          </a:xfrm>
          <a:prstGeom prst="rect">
            <a:avLst/>
          </a:prstGeom>
          <a:noFill/>
          <a:ln w="19050" cap="flat" cmpd="sng">
            <a:solidFill>
              <a:srgbClr val="2C4845"/>
            </a:solidFill>
            <a:prstDash val="dash"/>
            <a:round/>
            <a:headEnd type="none" w="sm" len="sm"/>
            <a:tailEnd type="none" w="sm" len="sm"/>
          </a:ln>
        </p:spPr>
        <p:txBody>
          <a:bodyPr spcFirstLastPara="1" wrap="square" lIns="91433" tIns="45700" rIns="91433" bIns="45700" anchor="ctr" anchorCtr="0">
            <a:noAutofit/>
          </a:bodyPr>
          <a:lstStyle/>
          <a:p>
            <a:pPr algn="ctr"/>
            <a:endParaRPr sz="1867" dirty="0">
              <a:solidFill>
                <a:srgbClr val="FFFFFF"/>
              </a:solidFill>
              <a:latin typeface="Abadi" panose="020B0604020104020204" pitchFamily="34" charset="0"/>
              <a:sym typeface="Arial"/>
            </a:endParaRPr>
          </a:p>
        </p:txBody>
      </p:sp>
      <p:sp>
        <p:nvSpPr>
          <p:cNvPr id="159" name="Google Shape;159;p23"/>
          <p:cNvSpPr txBox="1">
            <a:spLocks noGrp="1"/>
          </p:cNvSpPr>
          <p:nvPr>
            <p:ph type="ctrTitle"/>
          </p:nvPr>
        </p:nvSpPr>
        <p:spPr>
          <a:xfrm>
            <a:off x="365400" y="344133"/>
            <a:ext cx="11443200" cy="1056800"/>
          </a:xfrm>
          <a:prstGeom prst="rect">
            <a:avLst/>
          </a:prstGeom>
        </p:spPr>
        <p:txBody>
          <a:bodyPr spcFirstLastPara="1" vert="horz" wrap="square" lIns="121900" tIns="121900" rIns="121900" bIns="121900" rtlCol="0" anchor="t" anchorCtr="0">
            <a:noAutofit/>
          </a:bodyPr>
          <a:lstStyle/>
          <a:p>
            <a:pPr algn="l">
              <a:spcBef>
                <a:spcPts val="0"/>
              </a:spcBef>
              <a:buSzPts val="2700"/>
            </a:pPr>
            <a:r>
              <a:rPr lang="en-US" altLang="zh-TW" sz="4000" dirty="0">
                <a:latin typeface="Times New Roman"/>
                <a:ea typeface="Times New Roman"/>
                <a:cs typeface="Times New Roman"/>
                <a:sym typeface="Times New Roman"/>
              </a:rPr>
              <a:t>Background – Decoupled RL-LLM Honeypot</a:t>
            </a:r>
            <a:r>
              <a:rPr lang="zh-TW" altLang="en-US" sz="4000" baseline="30000" dirty="0">
                <a:latin typeface="Times New Roman"/>
                <a:ea typeface="Times New Roman"/>
                <a:cs typeface="Times New Roman"/>
                <a:sym typeface="Times New Roman"/>
              </a:rPr>
              <a:t> </a:t>
            </a:r>
            <a:endParaRPr sz="4000" dirty="0">
              <a:latin typeface="Times New Roman"/>
              <a:ea typeface="Times New Roman"/>
              <a:cs typeface="Times New Roman"/>
              <a:sym typeface="Times New Roman"/>
            </a:endParaRPr>
          </a:p>
        </p:txBody>
      </p:sp>
      <p:sp>
        <p:nvSpPr>
          <p:cNvPr id="160" name="Google Shape;160;p2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5</a:t>
            </a:fld>
            <a:endParaRPr dirty="0"/>
          </a:p>
        </p:txBody>
      </p:sp>
      <p:sp>
        <p:nvSpPr>
          <p:cNvPr id="161" name="Google Shape;161;p23"/>
          <p:cNvSpPr txBox="1">
            <a:spLocks noGrp="1"/>
          </p:cNvSpPr>
          <p:nvPr>
            <p:ph type="subTitle" idx="1"/>
          </p:nvPr>
        </p:nvSpPr>
        <p:spPr>
          <a:xfrm>
            <a:off x="294000" y="1830433"/>
            <a:ext cx="4923200" cy="5115200"/>
          </a:xfrm>
          <a:prstGeom prst="rect">
            <a:avLst/>
          </a:prstGeom>
        </p:spPr>
        <p:txBody>
          <a:bodyPr spcFirstLastPara="1" vert="horz" wrap="square" lIns="121900" tIns="121900" rIns="121900" bIns="121900" rtlCol="0" anchor="t" anchorCtr="0">
            <a:noAutofit/>
          </a:bodyPr>
          <a:lstStyle/>
          <a:p>
            <a:pPr marL="609585" indent="-406390" algn="l">
              <a:lnSpc>
                <a:spcPct val="115000"/>
              </a:lnSpc>
              <a:spcBef>
                <a:spcPts val="0"/>
              </a:spcBef>
              <a:buClr>
                <a:schemeClr val="dk1"/>
              </a:buClr>
              <a:buSzPts val="1200"/>
              <a:buFont typeface="Times New Roman"/>
              <a:buChar char="●"/>
            </a:pPr>
            <a:r>
              <a:rPr lang="en-US" altLang="zh-TW" dirty="0">
                <a:solidFill>
                  <a:schemeClr val="dk1"/>
                </a:solidFill>
                <a:latin typeface="Times New Roman"/>
                <a:ea typeface="Times New Roman"/>
                <a:cs typeface="Times New Roman"/>
                <a:sym typeface="Times New Roman"/>
              </a:rPr>
              <a:t>Used in Seniors</a:t>
            </a:r>
            <a:r>
              <a:rPr lang="en-US" altLang="zh-TW" baseline="30000" dirty="0">
                <a:solidFill>
                  <a:schemeClr val="dk1"/>
                </a:solidFill>
                <a:latin typeface="Times New Roman"/>
                <a:ea typeface="Times New Roman"/>
                <a:cs typeface="Times New Roman"/>
                <a:sym typeface="Times New Roman"/>
              </a:rPr>
              <a:t>[1][2][3]</a:t>
            </a:r>
            <a:r>
              <a:rPr lang="en-US" altLang="zh-TW" dirty="0">
                <a:solidFill>
                  <a:schemeClr val="dk1"/>
                </a:solidFill>
                <a:latin typeface="Times New Roman"/>
                <a:ea typeface="Times New Roman"/>
                <a:cs typeface="Times New Roman"/>
                <a:sym typeface="Times New Roman"/>
              </a:rPr>
              <a:t>,</a:t>
            </a:r>
            <a:r>
              <a:rPr lang="zh-TW" altLang="en-US" baseline="30000" dirty="0">
                <a:solidFill>
                  <a:schemeClr val="dk1"/>
                </a:solidFill>
                <a:latin typeface="Times New Roman"/>
                <a:ea typeface="Times New Roman"/>
                <a:cs typeface="Times New Roman"/>
                <a:sym typeface="Times New Roman"/>
              </a:rPr>
              <a:t> </a:t>
            </a:r>
            <a:r>
              <a:rPr lang="en-US" altLang="zh-TW" dirty="0">
                <a:solidFill>
                  <a:schemeClr val="dk1"/>
                </a:solidFill>
                <a:latin typeface="Times New Roman"/>
                <a:ea typeface="Times New Roman"/>
                <a:cs typeface="Times New Roman"/>
                <a:sym typeface="Times New Roman"/>
              </a:rPr>
              <a:t>GASH</a:t>
            </a:r>
            <a:r>
              <a:rPr lang="en-US" altLang="zh-TW" baseline="30000" dirty="0">
                <a:solidFill>
                  <a:schemeClr val="dk1"/>
                </a:solidFill>
                <a:latin typeface="Times New Roman"/>
                <a:ea typeface="Times New Roman"/>
                <a:cs typeface="Times New Roman"/>
                <a:sym typeface="Times New Roman"/>
              </a:rPr>
              <a:t>[4]</a:t>
            </a:r>
            <a:endParaRPr dirty="0">
              <a:solidFill>
                <a:schemeClr val="dk1"/>
              </a:solidFill>
              <a:latin typeface="Times New Roman"/>
              <a:ea typeface="Times New Roman"/>
              <a:cs typeface="Times New Roman"/>
              <a:sym typeface="Times New Roman"/>
            </a:endParaRPr>
          </a:p>
          <a:p>
            <a:pPr marL="609585" indent="-406390" algn="l">
              <a:lnSpc>
                <a:spcPct val="115000"/>
              </a:lnSpc>
              <a:spcBef>
                <a:spcPts val="0"/>
              </a:spcBef>
              <a:buClr>
                <a:schemeClr val="dk1"/>
              </a:buClr>
              <a:buSzPts val="1200"/>
              <a:buFont typeface="Times New Roman"/>
              <a:buChar char="●"/>
            </a:pPr>
            <a:r>
              <a:rPr lang="en-US" altLang="zh-TW" dirty="0">
                <a:solidFill>
                  <a:schemeClr val="dk1"/>
                </a:solidFill>
                <a:latin typeface="Times New Roman"/>
                <a:ea typeface="Times New Roman"/>
                <a:cs typeface="Times New Roman"/>
                <a:sym typeface="Times New Roman"/>
              </a:rPr>
              <a:t>State</a:t>
            </a:r>
            <a:endParaRPr dirty="0">
              <a:solidFill>
                <a:schemeClr val="dk1"/>
              </a:solidFill>
              <a:latin typeface="Times New Roman"/>
              <a:ea typeface="Times New Roman"/>
              <a:cs typeface="Times New Roman"/>
              <a:sym typeface="Times New Roman"/>
            </a:endParaRPr>
          </a:p>
          <a:p>
            <a:pPr marL="1219170" lvl="1" indent="-406390" algn="l">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Tactics of commands</a:t>
            </a:r>
            <a:endParaRPr sz="1867" dirty="0">
              <a:solidFill>
                <a:schemeClr val="dk1"/>
              </a:solidFill>
              <a:latin typeface="Times New Roman"/>
              <a:ea typeface="Times New Roman"/>
              <a:cs typeface="Times New Roman"/>
              <a:sym typeface="Times New Roman"/>
            </a:endParaRPr>
          </a:p>
          <a:p>
            <a:pPr marL="609585" indent="-406390" algn="l">
              <a:lnSpc>
                <a:spcPct val="115000"/>
              </a:lnSpc>
              <a:spcBef>
                <a:spcPts val="0"/>
              </a:spcBef>
              <a:buClr>
                <a:schemeClr val="dk1"/>
              </a:buClr>
              <a:buSzPts val="1200"/>
              <a:buFont typeface="Times New Roman"/>
              <a:buChar char="●"/>
            </a:pPr>
            <a:r>
              <a:rPr lang="en-US" altLang="zh-TW" dirty="0">
                <a:solidFill>
                  <a:schemeClr val="dk1"/>
                </a:solidFill>
                <a:latin typeface="Times New Roman"/>
                <a:ea typeface="Times New Roman"/>
                <a:cs typeface="Times New Roman"/>
                <a:sym typeface="Times New Roman"/>
              </a:rPr>
              <a:t>Action</a:t>
            </a:r>
            <a:endParaRPr dirty="0">
              <a:solidFill>
                <a:schemeClr val="dk1"/>
              </a:solidFill>
              <a:latin typeface="Times New Roman"/>
              <a:ea typeface="Times New Roman"/>
              <a:cs typeface="Times New Roman"/>
              <a:sym typeface="Times New Roman"/>
            </a:endParaRPr>
          </a:p>
          <a:p>
            <a:pPr marL="1219170" lvl="1" indent="-406390" algn="l">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Engagement suggestion</a:t>
            </a:r>
          </a:p>
          <a:p>
            <a:pPr marL="1219170" lvl="1" indent="-406390" algn="l">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Specific command set</a:t>
            </a:r>
            <a:endParaRPr sz="2400" dirty="0">
              <a:solidFill>
                <a:schemeClr val="dk1"/>
              </a:solidFill>
              <a:latin typeface="Times New Roman"/>
              <a:ea typeface="Times New Roman"/>
              <a:cs typeface="Times New Roman"/>
              <a:sym typeface="Times New Roman"/>
            </a:endParaRPr>
          </a:p>
          <a:p>
            <a:pPr marL="609585" indent="-406390" algn="l">
              <a:lnSpc>
                <a:spcPct val="115000"/>
              </a:lnSpc>
              <a:spcBef>
                <a:spcPts val="0"/>
              </a:spcBef>
              <a:buClr>
                <a:schemeClr val="dk1"/>
              </a:buClr>
              <a:buSzPts val="1200"/>
              <a:buFont typeface="Times New Roman"/>
              <a:buChar char="●"/>
            </a:pPr>
            <a:r>
              <a:rPr lang="en-US" altLang="zh-TW" dirty="0">
                <a:solidFill>
                  <a:schemeClr val="dk1"/>
                </a:solidFill>
                <a:latin typeface="Times New Roman"/>
                <a:ea typeface="Times New Roman"/>
                <a:cs typeface="Times New Roman"/>
                <a:sym typeface="Times New Roman"/>
              </a:rPr>
              <a:t>Reward</a:t>
            </a:r>
            <a:endParaRPr dirty="0">
              <a:solidFill>
                <a:schemeClr val="dk1"/>
              </a:solidFill>
              <a:latin typeface="Times New Roman"/>
              <a:ea typeface="Times New Roman"/>
              <a:cs typeface="Times New Roman"/>
              <a:sym typeface="Times New Roman"/>
            </a:endParaRPr>
          </a:p>
          <a:p>
            <a:pPr marL="1219170" lvl="1" indent="-406390" algn="l">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Tactic of command</a:t>
            </a:r>
            <a:endParaRPr sz="1867" dirty="0">
              <a:solidFill>
                <a:schemeClr val="dk1"/>
              </a:solidFill>
              <a:latin typeface="Times New Roman"/>
              <a:ea typeface="Times New Roman"/>
              <a:cs typeface="Times New Roman"/>
              <a:sym typeface="Times New Roman"/>
            </a:endParaRPr>
          </a:p>
          <a:p>
            <a:pPr algn="l">
              <a:lnSpc>
                <a:spcPct val="150000"/>
              </a:lnSpc>
              <a:spcBef>
                <a:spcPts val="0"/>
              </a:spcBef>
            </a:pPr>
            <a:endParaRPr sz="2800" dirty="0">
              <a:solidFill>
                <a:schemeClr val="dk1"/>
              </a:solidFill>
              <a:latin typeface="Times New Roman"/>
              <a:ea typeface="Times New Roman"/>
              <a:cs typeface="Times New Roman"/>
              <a:sym typeface="Times New Roman"/>
            </a:endParaRPr>
          </a:p>
        </p:txBody>
      </p:sp>
      <p:sp>
        <p:nvSpPr>
          <p:cNvPr id="162" name="Google Shape;162;p23"/>
          <p:cNvSpPr/>
          <p:nvPr/>
        </p:nvSpPr>
        <p:spPr>
          <a:xfrm>
            <a:off x="5833705" y="3468417"/>
            <a:ext cx="1540000" cy="625600"/>
          </a:xfrm>
          <a:prstGeom prst="roundRect">
            <a:avLst>
              <a:gd name="adj" fmla="val 16667"/>
            </a:avLst>
          </a:prstGeom>
          <a:noFill/>
          <a:ln w="19050" cap="flat" cmpd="sng">
            <a:solidFill>
              <a:srgbClr val="000000"/>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1733" dirty="0">
                <a:solidFill>
                  <a:srgbClr val="000000"/>
                </a:solidFill>
                <a:latin typeface="Times New Roman"/>
                <a:ea typeface="Times New Roman"/>
                <a:cs typeface="Times New Roman"/>
                <a:sym typeface="Times New Roman"/>
              </a:rPr>
              <a:t>RL </a:t>
            </a:r>
            <a:r>
              <a:rPr lang="en-US" altLang="zh-TW" sz="1733" dirty="0">
                <a:latin typeface="Times New Roman"/>
                <a:ea typeface="Times New Roman"/>
                <a:cs typeface="Times New Roman"/>
                <a:sym typeface="Times New Roman"/>
              </a:rPr>
              <a:t>m</a:t>
            </a:r>
            <a:r>
              <a:rPr lang="en-US" altLang="zh-TW" sz="1733" dirty="0">
                <a:solidFill>
                  <a:srgbClr val="000000"/>
                </a:solidFill>
                <a:latin typeface="Times New Roman"/>
                <a:ea typeface="Times New Roman"/>
                <a:cs typeface="Times New Roman"/>
                <a:sym typeface="Times New Roman"/>
              </a:rPr>
              <a:t>odel</a:t>
            </a:r>
            <a:endParaRPr sz="1733" dirty="0">
              <a:solidFill>
                <a:srgbClr val="000000"/>
              </a:solidFill>
              <a:latin typeface="Times New Roman"/>
              <a:ea typeface="Times New Roman"/>
              <a:cs typeface="Times New Roman"/>
              <a:sym typeface="Times New Roman"/>
            </a:endParaRPr>
          </a:p>
        </p:txBody>
      </p:sp>
      <p:sp>
        <p:nvSpPr>
          <p:cNvPr id="163" name="Google Shape;163;p23"/>
          <p:cNvSpPr/>
          <p:nvPr/>
        </p:nvSpPr>
        <p:spPr>
          <a:xfrm>
            <a:off x="5833705" y="2360661"/>
            <a:ext cx="1540000" cy="625600"/>
          </a:xfrm>
          <a:prstGeom prst="roundRect">
            <a:avLst>
              <a:gd name="adj" fmla="val 16667"/>
            </a:avLst>
          </a:prstGeom>
          <a:noFill/>
          <a:ln w="19050" cap="flat" cmpd="sng">
            <a:solidFill>
              <a:srgbClr val="000000"/>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1733" dirty="0">
                <a:solidFill>
                  <a:srgbClr val="000000"/>
                </a:solidFill>
                <a:latin typeface="Times New Roman"/>
                <a:ea typeface="Times New Roman"/>
                <a:cs typeface="Times New Roman"/>
                <a:sym typeface="Times New Roman"/>
              </a:rPr>
              <a:t>LLM</a:t>
            </a:r>
            <a:endParaRPr sz="1733" dirty="0">
              <a:solidFill>
                <a:srgbClr val="000000"/>
              </a:solidFill>
              <a:latin typeface="Times New Roman"/>
              <a:ea typeface="Times New Roman"/>
              <a:cs typeface="Times New Roman"/>
              <a:sym typeface="Times New Roman"/>
            </a:endParaRPr>
          </a:p>
        </p:txBody>
      </p:sp>
      <p:sp>
        <p:nvSpPr>
          <p:cNvPr id="164" name="Google Shape;164;p23"/>
          <p:cNvSpPr/>
          <p:nvPr/>
        </p:nvSpPr>
        <p:spPr>
          <a:xfrm>
            <a:off x="5833705" y="4576164"/>
            <a:ext cx="1540000" cy="625600"/>
          </a:xfrm>
          <a:prstGeom prst="roundRect">
            <a:avLst>
              <a:gd name="adj" fmla="val 16667"/>
            </a:avLst>
          </a:prstGeom>
          <a:noFill/>
          <a:ln w="19050" cap="flat" cmpd="sng">
            <a:solidFill>
              <a:srgbClr val="000000"/>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1733" dirty="0">
                <a:solidFill>
                  <a:srgbClr val="000000"/>
                </a:solidFill>
                <a:latin typeface="Times New Roman"/>
                <a:ea typeface="Times New Roman"/>
                <a:cs typeface="Times New Roman"/>
                <a:sym typeface="Times New Roman"/>
              </a:rPr>
              <a:t>Interface</a:t>
            </a:r>
            <a:endParaRPr sz="1733" dirty="0">
              <a:solidFill>
                <a:srgbClr val="000000"/>
              </a:solidFill>
              <a:latin typeface="Abadi" panose="020B0604020104020204" pitchFamily="34" charset="0"/>
            </a:endParaRPr>
          </a:p>
        </p:txBody>
      </p:sp>
      <p:sp>
        <p:nvSpPr>
          <p:cNvPr id="165" name="Google Shape;165;p23"/>
          <p:cNvSpPr txBox="1"/>
          <p:nvPr/>
        </p:nvSpPr>
        <p:spPr>
          <a:xfrm>
            <a:off x="6663877" y="3087399"/>
            <a:ext cx="2310000" cy="379615"/>
          </a:xfrm>
          <a:prstGeom prst="rect">
            <a:avLst/>
          </a:prstGeom>
          <a:noFill/>
          <a:ln>
            <a:noFill/>
          </a:ln>
        </p:spPr>
        <p:txBody>
          <a:bodyPr spcFirstLastPara="1" wrap="square" lIns="91433" tIns="45700" rIns="91433" bIns="45700" anchor="t" anchorCtr="0">
            <a:spAutoFit/>
          </a:bodyPr>
          <a:lstStyle/>
          <a:p>
            <a:r>
              <a:rPr lang="en-US" altLang="zh-TW" sz="1867" dirty="0">
                <a:solidFill>
                  <a:srgbClr val="000000"/>
                </a:solidFill>
                <a:latin typeface="Times New Roman"/>
                <a:ea typeface="Times New Roman"/>
                <a:cs typeface="Times New Roman"/>
                <a:sym typeface="Times New Roman"/>
              </a:rPr>
              <a:t>2. ATT&amp;CK TTPs</a:t>
            </a:r>
            <a:endParaRPr sz="1867" dirty="0">
              <a:solidFill>
                <a:srgbClr val="000000"/>
              </a:solidFill>
              <a:latin typeface="Times New Roman"/>
              <a:ea typeface="Times New Roman"/>
              <a:cs typeface="Times New Roman"/>
              <a:sym typeface="Times New Roman"/>
            </a:endParaRPr>
          </a:p>
        </p:txBody>
      </p:sp>
      <p:sp>
        <p:nvSpPr>
          <p:cNvPr id="166" name="Google Shape;166;p23"/>
          <p:cNvSpPr txBox="1"/>
          <p:nvPr/>
        </p:nvSpPr>
        <p:spPr>
          <a:xfrm>
            <a:off x="6630010" y="4214536"/>
            <a:ext cx="4128185" cy="379615"/>
          </a:xfrm>
          <a:prstGeom prst="rect">
            <a:avLst/>
          </a:prstGeom>
          <a:noFill/>
          <a:ln>
            <a:noFill/>
          </a:ln>
        </p:spPr>
        <p:txBody>
          <a:bodyPr spcFirstLastPara="1" wrap="square" lIns="91433" tIns="45700" rIns="91433" bIns="45700" anchor="t" anchorCtr="0">
            <a:spAutoFit/>
          </a:bodyPr>
          <a:lstStyle/>
          <a:p>
            <a:r>
              <a:rPr lang="en-US" altLang="zh-TW" sz="1867" dirty="0">
                <a:solidFill>
                  <a:srgbClr val="000000"/>
                </a:solidFill>
                <a:latin typeface="Times New Roman"/>
                <a:ea typeface="Times New Roman"/>
                <a:cs typeface="Times New Roman"/>
                <a:sym typeface="Times New Roman"/>
              </a:rPr>
              <a:t>3. Actions (ABSI, or specific)</a:t>
            </a:r>
            <a:endParaRPr sz="1867" dirty="0">
              <a:solidFill>
                <a:srgbClr val="000000"/>
              </a:solidFill>
              <a:latin typeface="Times New Roman"/>
              <a:ea typeface="Times New Roman"/>
              <a:cs typeface="Times New Roman"/>
              <a:sym typeface="Times New Roman"/>
            </a:endParaRPr>
          </a:p>
        </p:txBody>
      </p:sp>
      <p:sp>
        <p:nvSpPr>
          <p:cNvPr id="167" name="Google Shape;167;p23"/>
          <p:cNvSpPr txBox="1"/>
          <p:nvPr/>
        </p:nvSpPr>
        <p:spPr>
          <a:xfrm>
            <a:off x="6630000" y="1960267"/>
            <a:ext cx="1948800" cy="338514"/>
          </a:xfrm>
          <a:prstGeom prst="rect">
            <a:avLst/>
          </a:prstGeom>
          <a:noFill/>
          <a:ln>
            <a:noFill/>
          </a:ln>
        </p:spPr>
        <p:txBody>
          <a:bodyPr spcFirstLastPara="1" wrap="square" lIns="91433" tIns="45700" rIns="91433" bIns="45700" anchor="t" anchorCtr="0">
            <a:spAutoFit/>
          </a:bodyPr>
          <a:lstStyle/>
          <a:p>
            <a:r>
              <a:rPr lang="en-US" altLang="zh-TW" sz="1600" dirty="0">
                <a:solidFill>
                  <a:srgbClr val="000000"/>
                </a:solidFill>
                <a:latin typeface="Times New Roman"/>
                <a:ea typeface="Times New Roman"/>
                <a:cs typeface="Times New Roman"/>
                <a:sym typeface="Times New Roman"/>
              </a:rPr>
              <a:t>1. History of </a:t>
            </a:r>
            <a:r>
              <a:rPr lang="en-US" altLang="zh-TW" sz="1600" dirty="0">
                <a:latin typeface="Times New Roman"/>
                <a:ea typeface="Times New Roman"/>
                <a:cs typeface="Times New Roman"/>
                <a:sym typeface="Times New Roman"/>
              </a:rPr>
              <a:t>C&amp;R</a:t>
            </a:r>
            <a:endParaRPr sz="1600" dirty="0">
              <a:solidFill>
                <a:srgbClr val="000000"/>
              </a:solidFill>
              <a:latin typeface="Times New Roman"/>
              <a:ea typeface="Times New Roman"/>
              <a:cs typeface="Times New Roman"/>
              <a:sym typeface="Times New Roman"/>
            </a:endParaRPr>
          </a:p>
        </p:txBody>
      </p:sp>
      <p:sp>
        <p:nvSpPr>
          <p:cNvPr id="168" name="Google Shape;168;p23"/>
          <p:cNvSpPr txBox="1"/>
          <p:nvPr/>
        </p:nvSpPr>
        <p:spPr>
          <a:xfrm>
            <a:off x="9647267" y="1814601"/>
            <a:ext cx="1540000" cy="318060"/>
          </a:xfrm>
          <a:prstGeom prst="rect">
            <a:avLst/>
          </a:prstGeom>
          <a:noFill/>
          <a:ln>
            <a:noFill/>
          </a:ln>
        </p:spPr>
        <p:txBody>
          <a:bodyPr spcFirstLastPara="1" wrap="square" lIns="91433" tIns="45700" rIns="91433" bIns="45700" anchor="t" anchorCtr="0">
            <a:spAutoFit/>
          </a:bodyPr>
          <a:lstStyle/>
          <a:p>
            <a:r>
              <a:rPr lang="en-US" altLang="zh-TW" sz="1467" i="1" dirty="0">
                <a:solidFill>
                  <a:srgbClr val="000000"/>
                </a:solidFill>
                <a:latin typeface="Abadi" panose="020B0604020104020204" pitchFamily="34" charset="0"/>
                <a:sym typeface="Arial"/>
              </a:rPr>
              <a:t>Part of work</a:t>
            </a:r>
            <a:endParaRPr sz="1467" i="1" dirty="0">
              <a:solidFill>
                <a:srgbClr val="000000"/>
              </a:solidFill>
              <a:latin typeface="Abadi" panose="020B0604020104020204" pitchFamily="34" charset="0"/>
              <a:sym typeface="Arial"/>
            </a:endParaRPr>
          </a:p>
        </p:txBody>
      </p:sp>
      <p:cxnSp>
        <p:nvCxnSpPr>
          <p:cNvPr id="169" name="Google Shape;169;p23"/>
          <p:cNvCxnSpPr>
            <a:stCxn id="162" idx="2"/>
            <a:endCxn id="164" idx="0"/>
          </p:cNvCxnSpPr>
          <p:nvPr/>
        </p:nvCxnSpPr>
        <p:spPr>
          <a:xfrm>
            <a:off x="6603705" y="4094017"/>
            <a:ext cx="0" cy="482000"/>
          </a:xfrm>
          <a:prstGeom prst="straightConnector1">
            <a:avLst/>
          </a:prstGeom>
          <a:noFill/>
          <a:ln w="19050" cap="flat" cmpd="sng">
            <a:solidFill>
              <a:schemeClr val="dk1"/>
            </a:solidFill>
            <a:prstDash val="solid"/>
            <a:round/>
            <a:headEnd type="none" w="med" len="med"/>
            <a:tailEnd type="triangle" w="med" len="med"/>
          </a:ln>
        </p:spPr>
      </p:cxnSp>
      <p:cxnSp>
        <p:nvCxnSpPr>
          <p:cNvPr id="170" name="Google Shape;170;p23"/>
          <p:cNvCxnSpPr>
            <a:endCxn id="163" idx="0"/>
          </p:cNvCxnSpPr>
          <p:nvPr/>
        </p:nvCxnSpPr>
        <p:spPr>
          <a:xfrm flipH="1">
            <a:off x="6603705" y="1865061"/>
            <a:ext cx="800" cy="495600"/>
          </a:xfrm>
          <a:prstGeom prst="straightConnector1">
            <a:avLst/>
          </a:prstGeom>
          <a:noFill/>
          <a:ln w="19050" cap="flat" cmpd="sng">
            <a:solidFill>
              <a:schemeClr val="dk1"/>
            </a:solidFill>
            <a:prstDash val="solid"/>
            <a:round/>
            <a:headEnd type="none" w="med" len="med"/>
            <a:tailEnd type="triangle" w="med" len="med"/>
          </a:ln>
        </p:spPr>
      </p:cxnSp>
      <p:sp>
        <p:nvSpPr>
          <p:cNvPr id="171" name="Google Shape;171;p23"/>
          <p:cNvSpPr txBox="1"/>
          <p:nvPr/>
        </p:nvSpPr>
        <p:spPr>
          <a:xfrm>
            <a:off x="9004800" y="1"/>
            <a:ext cx="3239200" cy="523180"/>
          </a:xfrm>
          <a:prstGeom prst="rect">
            <a:avLst/>
          </a:prstGeom>
          <a:noFill/>
          <a:ln>
            <a:noFill/>
          </a:ln>
        </p:spPr>
        <p:txBody>
          <a:bodyPr spcFirstLastPara="1" wrap="square" lIns="121900" tIns="121900" rIns="121900" bIns="121900" anchor="t" anchorCtr="0">
            <a:spAutoFit/>
          </a:bodyPr>
          <a:lstStyle/>
          <a:p>
            <a:r>
              <a:rPr lang="en-US" altLang="zh-TW" i="1" dirty="0">
                <a:solidFill>
                  <a:srgbClr val="434343"/>
                </a:solidFill>
                <a:latin typeface="Times New Roman"/>
                <a:ea typeface="Times New Roman"/>
                <a:cs typeface="Times New Roman"/>
                <a:sym typeface="Times New Roman"/>
              </a:rPr>
              <a:t>C&amp;R : </a:t>
            </a:r>
            <a:r>
              <a:rPr lang="en-US" altLang="zh-TW" b="1" i="1" dirty="0">
                <a:solidFill>
                  <a:srgbClr val="434343"/>
                </a:solidFill>
                <a:latin typeface="Times New Roman"/>
                <a:ea typeface="Times New Roman"/>
                <a:cs typeface="Times New Roman"/>
                <a:sym typeface="Times New Roman"/>
              </a:rPr>
              <a:t>C</a:t>
            </a:r>
            <a:r>
              <a:rPr lang="en-US" altLang="zh-TW" i="1" dirty="0">
                <a:solidFill>
                  <a:srgbClr val="434343"/>
                </a:solidFill>
                <a:latin typeface="Times New Roman"/>
                <a:ea typeface="Times New Roman"/>
                <a:cs typeface="Times New Roman"/>
                <a:sym typeface="Times New Roman"/>
              </a:rPr>
              <a:t>ommands &amp; </a:t>
            </a:r>
            <a:r>
              <a:rPr lang="en-US" altLang="zh-TW" b="1" i="1" dirty="0">
                <a:solidFill>
                  <a:srgbClr val="434343"/>
                </a:solidFill>
                <a:latin typeface="Times New Roman"/>
                <a:ea typeface="Times New Roman"/>
                <a:cs typeface="Times New Roman"/>
                <a:sym typeface="Times New Roman"/>
              </a:rPr>
              <a:t>R</a:t>
            </a:r>
            <a:r>
              <a:rPr lang="en-US" altLang="zh-TW" i="1" dirty="0">
                <a:solidFill>
                  <a:srgbClr val="434343"/>
                </a:solidFill>
                <a:latin typeface="Times New Roman"/>
                <a:ea typeface="Times New Roman"/>
                <a:cs typeface="Times New Roman"/>
                <a:sym typeface="Times New Roman"/>
              </a:rPr>
              <a:t>esponse</a:t>
            </a:r>
            <a:endParaRPr i="1" dirty="0">
              <a:solidFill>
                <a:srgbClr val="434343"/>
              </a:solidFill>
              <a:latin typeface="Times New Roman"/>
              <a:ea typeface="Times New Roman"/>
              <a:cs typeface="Times New Roman"/>
              <a:sym typeface="Times New Roman"/>
            </a:endParaRPr>
          </a:p>
        </p:txBody>
      </p:sp>
      <p:cxnSp>
        <p:nvCxnSpPr>
          <p:cNvPr id="172" name="Google Shape;172;p23"/>
          <p:cNvCxnSpPr>
            <a:stCxn id="163" idx="3"/>
            <a:endCxn id="173" idx="1"/>
          </p:cNvCxnSpPr>
          <p:nvPr/>
        </p:nvCxnSpPr>
        <p:spPr>
          <a:xfrm rot="10800000" flipH="1">
            <a:off x="7373705" y="2670661"/>
            <a:ext cx="1020800" cy="2800"/>
          </a:xfrm>
          <a:prstGeom prst="straightConnector1">
            <a:avLst/>
          </a:prstGeom>
          <a:noFill/>
          <a:ln w="19050" cap="flat" cmpd="sng">
            <a:solidFill>
              <a:schemeClr val="dk1"/>
            </a:solidFill>
            <a:prstDash val="dash"/>
            <a:round/>
            <a:headEnd type="none" w="med" len="med"/>
            <a:tailEnd type="diamond" w="med" len="med"/>
          </a:ln>
        </p:spPr>
      </p:cxnSp>
      <p:sp>
        <p:nvSpPr>
          <p:cNvPr id="173" name="Google Shape;173;p23"/>
          <p:cNvSpPr/>
          <p:nvPr/>
        </p:nvSpPr>
        <p:spPr>
          <a:xfrm>
            <a:off x="8394363" y="2357851"/>
            <a:ext cx="2590000" cy="625600"/>
          </a:xfrm>
          <a:prstGeom prst="roundRect">
            <a:avLst>
              <a:gd name="adj" fmla="val 16667"/>
            </a:avLst>
          </a:prstGeom>
          <a:noFill/>
          <a:ln w="19050" cap="flat" cmpd="sng">
            <a:solidFill>
              <a:srgbClr val="000000"/>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1733" dirty="0">
                <a:latin typeface="Times New Roman"/>
                <a:ea typeface="Times New Roman"/>
                <a:cs typeface="Times New Roman"/>
                <a:sym typeface="Times New Roman"/>
              </a:rPr>
              <a:t>Pretrained knowledge</a:t>
            </a:r>
            <a:endParaRPr sz="1733" dirty="0">
              <a:latin typeface="Times New Roman"/>
              <a:ea typeface="Times New Roman"/>
              <a:cs typeface="Times New Roman"/>
              <a:sym typeface="Times New Roman"/>
            </a:endParaRPr>
          </a:p>
          <a:p>
            <a:pPr algn="ctr"/>
            <a:r>
              <a:rPr lang="en-US" altLang="zh-TW" sz="1733" dirty="0">
                <a:latin typeface="Times New Roman"/>
                <a:ea typeface="Times New Roman"/>
                <a:cs typeface="Times New Roman"/>
                <a:sym typeface="Times New Roman"/>
              </a:rPr>
              <a:t>of MITRE Framework</a:t>
            </a:r>
            <a:endParaRPr sz="1733" dirty="0">
              <a:latin typeface="Times New Roman"/>
              <a:ea typeface="Times New Roman"/>
              <a:cs typeface="Times New Roman"/>
              <a:sym typeface="Times New Roman"/>
            </a:endParaRPr>
          </a:p>
        </p:txBody>
      </p:sp>
      <p:cxnSp>
        <p:nvCxnSpPr>
          <p:cNvPr id="174" name="Google Shape;174;p23"/>
          <p:cNvCxnSpPr>
            <a:stCxn id="163" idx="2"/>
            <a:endCxn id="162" idx="0"/>
          </p:cNvCxnSpPr>
          <p:nvPr/>
        </p:nvCxnSpPr>
        <p:spPr>
          <a:xfrm>
            <a:off x="6603705" y="2986261"/>
            <a:ext cx="0" cy="482000"/>
          </a:xfrm>
          <a:prstGeom prst="straightConnector1">
            <a:avLst/>
          </a:prstGeom>
          <a:noFill/>
          <a:ln w="19050" cap="flat" cmpd="sng">
            <a:solidFill>
              <a:schemeClr val="dk1"/>
            </a:solidFill>
            <a:prstDash val="solid"/>
            <a:round/>
            <a:headEnd type="none" w="med" len="med"/>
            <a:tailEnd type="triangle" w="med" len="med"/>
          </a:ln>
        </p:spPr>
      </p:cxnSp>
      <p:cxnSp>
        <p:nvCxnSpPr>
          <p:cNvPr id="175" name="Google Shape;175;p23"/>
          <p:cNvCxnSpPr/>
          <p:nvPr/>
        </p:nvCxnSpPr>
        <p:spPr>
          <a:xfrm rot="10800000">
            <a:off x="5555700" y="2102375"/>
            <a:ext cx="1048800" cy="0"/>
          </a:xfrm>
          <a:prstGeom prst="straightConnector1">
            <a:avLst/>
          </a:prstGeom>
          <a:noFill/>
          <a:ln w="19050" cap="flat" cmpd="sng">
            <a:solidFill>
              <a:schemeClr val="dk1"/>
            </a:solidFill>
            <a:prstDash val="solid"/>
            <a:round/>
            <a:headEnd type="none" w="med" len="med"/>
            <a:tailEnd type="none" w="med" len="med"/>
          </a:ln>
        </p:spPr>
      </p:cxnSp>
      <p:cxnSp>
        <p:nvCxnSpPr>
          <p:cNvPr id="176" name="Google Shape;176;p23"/>
          <p:cNvCxnSpPr/>
          <p:nvPr/>
        </p:nvCxnSpPr>
        <p:spPr>
          <a:xfrm rot="10800000">
            <a:off x="5561200" y="2102100"/>
            <a:ext cx="0" cy="1087200"/>
          </a:xfrm>
          <a:prstGeom prst="straightConnector1">
            <a:avLst/>
          </a:prstGeom>
          <a:noFill/>
          <a:ln w="19050" cap="flat" cmpd="sng">
            <a:solidFill>
              <a:schemeClr val="dk1"/>
            </a:solidFill>
            <a:prstDash val="solid"/>
            <a:round/>
            <a:headEnd type="none" w="med" len="med"/>
            <a:tailEnd type="none" w="med" len="med"/>
          </a:ln>
        </p:spPr>
      </p:cxnSp>
      <p:cxnSp>
        <p:nvCxnSpPr>
          <p:cNvPr id="177" name="Google Shape;177;p23"/>
          <p:cNvCxnSpPr/>
          <p:nvPr/>
        </p:nvCxnSpPr>
        <p:spPr>
          <a:xfrm rot="10800000">
            <a:off x="5555700" y="3187964"/>
            <a:ext cx="10488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ctrTitle"/>
          </p:nvPr>
        </p:nvSpPr>
        <p:spPr>
          <a:xfrm>
            <a:off x="365400" y="344133"/>
            <a:ext cx="12702800" cy="1056800"/>
          </a:xfrm>
          <a:prstGeom prst="rect">
            <a:avLst/>
          </a:prstGeom>
        </p:spPr>
        <p:txBody>
          <a:bodyPr spcFirstLastPara="1" vert="horz" wrap="square" lIns="121900" tIns="121900" rIns="121900" bIns="121900" rtlCol="0" anchor="t" anchorCtr="0">
            <a:noAutofit/>
          </a:bodyPr>
          <a:lstStyle/>
          <a:p>
            <a:pPr algn="l">
              <a:spcBef>
                <a:spcPts val="0"/>
              </a:spcBef>
              <a:buClr>
                <a:schemeClr val="dk1"/>
              </a:buClr>
              <a:buSzPts val="2700"/>
            </a:pPr>
            <a:r>
              <a:rPr lang="en-US" altLang="zh-TW" sz="4000" dirty="0">
                <a:latin typeface="Times New Roman"/>
                <a:ea typeface="Times New Roman"/>
                <a:cs typeface="Times New Roman"/>
                <a:sym typeface="Times New Roman"/>
              </a:rPr>
              <a:t>Background – MITRE ATT&amp;CK</a:t>
            </a:r>
            <a:endParaRPr sz="4000" dirty="0">
              <a:latin typeface="Times New Roman"/>
              <a:ea typeface="Times New Roman"/>
              <a:cs typeface="Times New Roman"/>
              <a:sym typeface="Times New Roman"/>
            </a:endParaRPr>
          </a:p>
        </p:txBody>
      </p:sp>
      <p:sp>
        <p:nvSpPr>
          <p:cNvPr id="98" name="Google Shape;98;p19"/>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6</a:t>
            </a:fld>
            <a:endParaRPr dirty="0"/>
          </a:p>
        </p:txBody>
      </p:sp>
      <p:pic>
        <p:nvPicPr>
          <p:cNvPr id="99" name="Google Shape;99;p19"/>
          <p:cNvPicPr preferRelativeResize="0"/>
          <p:nvPr/>
        </p:nvPicPr>
        <p:blipFill rotWithShape="1">
          <a:blip r:embed="rId3">
            <a:alphaModFix/>
          </a:blip>
          <a:srcRect/>
          <a:stretch/>
        </p:blipFill>
        <p:spPr>
          <a:xfrm>
            <a:off x="203589" y="1429544"/>
            <a:ext cx="11784828" cy="4759499"/>
          </a:xfrm>
          <a:prstGeom prst="rect">
            <a:avLst/>
          </a:prstGeom>
          <a:noFill/>
          <a:ln>
            <a:noFill/>
          </a:ln>
        </p:spPr>
      </p:pic>
      <p:sp>
        <p:nvSpPr>
          <p:cNvPr id="100" name="Google Shape;100;p19"/>
          <p:cNvSpPr txBox="1"/>
          <p:nvPr/>
        </p:nvSpPr>
        <p:spPr>
          <a:xfrm>
            <a:off x="7963773" y="76404"/>
            <a:ext cx="4560800" cy="379615"/>
          </a:xfrm>
          <a:prstGeom prst="rect">
            <a:avLst/>
          </a:prstGeom>
          <a:noFill/>
          <a:ln>
            <a:noFill/>
          </a:ln>
        </p:spPr>
        <p:txBody>
          <a:bodyPr spcFirstLastPara="1" wrap="square" lIns="91433" tIns="45700" rIns="91433" bIns="45700" anchor="t" anchorCtr="0">
            <a:spAutoFit/>
          </a:bodyPr>
          <a:lstStyle/>
          <a:p>
            <a:r>
              <a:rPr lang="en-US" altLang="zh-TW" sz="1867">
                <a:solidFill>
                  <a:srgbClr val="434343"/>
                </a:solidFill>
                <a:latin typeface="Times New Roman"/>
                <a:ea typeface="Times New Roman"/>
                <a:cs typeface="Times New Roman"/>
                <a:sym typeface="Times New Roman"/>
              </a:rPr>
              <a:t>TTPs : Tactics, Techniques, Procedures</a:t>
            </a:r>
            <a:endParaRPr sz="1867">
              <a:solidFill>
                <a:srgbClr val="434343"/>
              </a:solidFill>
              <a:latin typeface="Times New Roman"/>
              <a:ea typeface="Times New Roman"/>
              <a:cs typeface="Times New Roman"/>
              <a:sym typeface="Times New Roman"/>
            </a:endParaRPr>
          </a:p>
        </p:txBody>
      </p:sp>
      <p:cxnSp>
        <p:nvCxnSpPr>
          <p:cNvPr id="101" name="Google Shape;101;p19"/>
          <p:cNvCxnSpPr/>
          <p:nvPr/>
        </p:nvCxnSpPr>
        <p:spPr>
          <a:xfrm>
            <a:off x="2116667" y="2207700"/>
            <a:ext cx="605200" cy="552400"/>
          </a:xfrm>
          <a:prstGeom prst="straightConnector1">
            <a:avLst/>
          </a:prstGeom>
          <a:noFill/>
          <a:ln w="19050" cap="flat" cmpd="sng">
            <a:solidFill>
              <a:srgbClr val="FF0000"/>
            </a:solidFill>
            <a:prstDash val="solid"/>
            <a:round/>
            <a:headEnd type="none" w="med" len="med"/>
            <a:tailEnd type="triangle" w="med" len="med"/>
          </a:ln>
        </p:spPr>
      </p:cxnSp>
      <p:cxnSp>
        <p:nvCxnSpPr>
          <p:cNvPr id="102" name="Google Shape;102;p19"/>
          <p:cNvCxnSpPr/>
          <p:nvPr/>
        </p:nvCxnSpPr>
        <p:spPr>
          <a:xfrm>
            <a:off x="3134767" y="2992967"/>
            <a:ext cx="1471200" cy="1545200"/>
          </a:xfrm>
          <a:prstGeom prst="straightConnector1">
            <a:avLst/>
          </a:prstGeom>
          <a:noFill/>
          <a:ln w="19050" cap="flat" cmpd="sng">
            <a:solidFill>
              <a:srgbClr val="FF0000"/>
            </a:solidFill>
            <a:prstDash val="solid"/>
            <a:round/>
            <a:headEnd type="none" w="med" len="med"/>
            <a:tailEnd type="triangle" w="med" len="med"/>
          </a:ln>
        </p:spPr>
      </p:cxnSp>
      <p:cxnSp>
        <p:nvCxnSpPr>
          <p:cNvPr id="103" name="Google Shape;103;p19"/>
          <p:cNvCxnSpPr/>
          <p:nvPr/>
        </p:nvCxnSpPr>
        <p:spPr>
          <a:xfrm>
            <a:off x="5179467" y="4718067"/>
            <a:ext cx="624800" cy="476000"/>
          </a:xfrm>
          <a:prstGeom prst="straightConnector1">
            <a:avLst/>
          </a:prstGeom>
          <a:noFill/>
          <a:ln w="19050" cap="flat" cmpd="sng">
            <a:solidFill>
              <a:srgbClr val="FF0000"/>
            </a:solidFill>
            <a:prstDash val="solid"/>
            <a:round/>
            <a:headEnd type="none" w="med" len="med"/>
            <a:tailEnd type="triangle" w="med" len="med"/>
          </a:ln>
        </p:spPr>
      </p:cxnSp>
      <p:cxnSp>
        <p:nvCxnSpPr>
          <p:cNvPr id="104" name="Google Shape;104;p19"/>
          <p:cNvCxnSpPr/>
          <p:nvPr/>
        </p:nvCxnSpPr>
        <p:spPr>
          <a:xfrm rot="10800000" flipH="1">
            <a:off x="6290733" y="2516633"/>
            <a:ext cx="1090000" cy="2720000"/>
          </a:xfrm>
          <a:prstGeom prst="straightConnector1">
            <a:avLst/>
          </a:prstGeom>
          <a:noFill/>
          <a:ln w="19050" cap="flat" cmpd="sng">
            <a:solidFill>
              <a:srgbClr val="FF0000"/>
            </a:solidFill>
            <a:prstDash val="solid"/>
            <a:round/>
            <a:headEnd type="none" w="med" len="med"/>
            <a:tailEnd type="triangle" w="med" len="med"/>
          </a:ln>
        </p:spPr>
      </p:cxnSp>
      <p:cxnSp>
        <p:nvCxnSpPr>
          <p:cNvPr id="105" name="Google Shape;105;p19"/>
          <p:cNvCxnSpPr/>
          <p:nvPr/>
        </p:nvCxnSpPr>
        <p:spPr>
          <a:xfrm rot="10800000">
            <a:off x="3189933" y="2061167"/>
            <a:ext cx="4878800" cy="296800"/>
          </a:xfrm>
          <a:prstGeom prst="straightConnector1">
            <a:avLst/>
          </a:prstGeom>
          <a:noFill/>
          <a:ln w="19050" cap="flat" cmpd="sng">
            <a:solidFill>
              <a:srgbClr val="FF0000"/>
            </a:solidFill>
            <a:prstDash val="solid"/>
            <a:round/>
            <a:headEnd type="none" w="med" len="med"/>
            <a:tailEnd type="triangle" w="med" len="med"/>
          </a:ln>
        </p:spPr>
      </p:cxnSp>
      <p:cxnSp>
        <p:nvCxnSpPr>
          <p:cNvPr id="106" name="Google Shape;106;p19"/>
          <p:cNvCxnSpPr/>
          <p:nvPr/>
        </p:nvCxnSpPr>
        <p:spPr>
          <a:xfrm>
            <a:off x="3168633" y="2178067"/>
            <a:ext cx="7704800" cy="2053200"/>
          </a:xfrm>
          <a:prstGeom prst="straightConnector1">
            <a:avLst/>
          </a:prstGeom>
          <a:noFill/>
          <a:ln w="19050" cap="flat" cmpd="sng">
            <a:solidFill>
              <a:srgbClr val="FF0000"/>
            </a:solidFill>
            <a:prstDash val="solid"/>
            <a:round/>
            <a:headEnd type="none" w="med" len="med"/>
            <a:tailEnd type="triangle" w="med" len="med"/>
          </a:ln>
        </p:spPr>
      </p:cxnSp>
      <p:cxnSp>
        <p:nvCxnSpPr>
          <p:cNvPr id="107" name="Google Shape;107;p19"/>
          <p:cNvCxnSpPr/>
          <p:nvPr/>
        </p:nvCxnSpPr>
        <p:spPr>
          <a:xfrm rot="10800000" flipH="1">
            <a:off x="877900" y="2211967"/>
            <a:ext cx="542400" cy="198520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4" name="Google Shape;114;p20"/>
          <p:cNvPicPr preferRelativeResize="0"/>
          <p:nvPr/>
        </p:nvPicPr>
        <p:blipFill rotWithShape="1">
          <a:blip r:embed="rId3">
            <a:alphaModFix/>
          </a:blip>
          <a:srcRect/>
          <a:stretch/>
        </p:blipFill>
        <p:spPr>
          <a:xfrm>
            <a:off x="3211164" y="5819723"/>
            <a:ext cx="5431034" cy="1061486"/>
          </a:xfrm>
          <a:prstGeom prst="rect">
            <a:avLst/>
          </a:prstGeom>
          <a:noFill/>
          <a:ln>
            <a:noFill/>
          </a:ln>
        </p:spPr>
      </p:pic>
      <p:sp>
        <p:nvSpPr>
          <p:cNvPr id="112" name="Google Shape;112;p20"/>
          <p:cNvSpPr txBox="1">
            <a:spLocks noGrp="1"/>
          </p:cNvSpPr>
          <p:nvPr>
            <p:ph type="ctrTitle"/>
          </p:nvPr>
        </p:nvSpPr>
        <p:spPr>
          <a:xfrm>
            <a:off x="365400" y="275893"/>
            <a:ext cx="12702800" cy="1056800"/>
          </a:xfrm>
          <a:prstGeom prst="rect">
            <a:avLst/>
          </a:prstGeom>
        </p:spPr>
        <p:txBody>
          <a:bodyPr spcFirstLastPara="1" vert="horz" wrap="square" lIns="121900" tIns="121900" rIns="121900" bIns="121900" rtlCol="0" anchor="t" anchorCtr="0">
            <a:noAutofit/>
          </a:bodyPr>
          <a:lstStyle/>
          <a:p>
            <a:pPr algn="l">
              <a:spcBef>
                <a:spcPts val="0"/>
              </a:spcBef>
              <a:buClr>
                <a:schemeClr val="dk1"/>
              </a:buClr>
              <a:buSzPts val="2700"/>
            </a:pPr>
            <a:r>
              <a:rPr lang="en-US" altLang="zh-TW" sz="4000" dirty="0">
                <a:latin typeface="Times New Roman"/>
                <a:ea typeface="Times New Roman"/>
                <a:cs typeface="Times New Roman"/>
                <a:sym typeface="Times New Roman"/>
              </a:rPr>
              <a:t>Background – MITRE Engage</a:t>
            </a:r>
            <a:endParaRPr sz="4000" dirty="0">
              <a:latin typeface="Times New Roman"/>
              <a:ea typeface="Times New Roman"/>
              <a:cs typeface="Times New Roman"/>
              <a:sym typeface="Times New Roman"/>
            </a:endParaRPr>
          </a:p>
        </p:txBody>
      </p:sp>
      <p:sp>
        <p:nvSpPr>
          <p:cNvPr id="113" name="Google Shape;113;p20"/>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7</a:t>
            </a:fld>
            <a:endParaRPr dirty="0"/>
          </a:p>
        </p:txBody>
      </p:sp>
      <p:pic>
        <p:nvPicPr>
          <p:cNvPr id="2" name="圖片 1">
            <a:extLst>
              <a:ext uri="{FF2B5EF4-FFF2-40B4-BE49-F238E27FC236}">
                <a16:creationId xmlns:a16="http://schemas.microsoft.com/office/drawing/2014/main" id="{5279E9D8-0EFA-4191-E920-E6AE1AC5AA86}"/>
              </a:ext>
            </a:extLst>
          </p:cNvPr>
          <p:cNvPicPr>
            <a:picLocks noChangeAspect="1"/>
          </p:cNvPicPr>
          <p:nvPr/>
        </p:nvPicPr>
        <p:blipFill>
          <a:blip r:embed="rId4"/>
          <a:stretch>
            <a:fillRect/>
          </a:stretch>
        </p:blipFill>
        <p:spPr>
          <a:xfrm>
            <a:off x="2112168" y="971749"/>
            <a:ext cx="8435330" cy="4939796"/>
          </a:xfrm>
          <a:prstGeom prst="rect">
            <a:avLst/>
          </a:prstGeom>
        </p:spPr>
      </p:pic>
      <p:sp>
        <p:nvSpPr>
          <p:cNvPr id="3" name="矩形 2">
            <a:extLst>
              <a:ext uri="{FF2B5EF4-FFF2-40B4-BE49-F238E27FC236}">
                <a16:creationId xmlns:a16="http://schemas.microsoft.com/office/drawing/2014/main" id="{B7295828-3A40-69F0-AC86-A6940F652A7C}"/>
              </a:ext>
            </a:extLst>
          </p:cNvPr>
          <p:cNvSpPr/>
          <p:nvPr/>
        </p:nvSpPr>
        <p:spPr>
          <a:xfrm>
            <a:off x="4602788" y="971749"/>
            <a:ext cx="5944710" cy="4954130"/>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
        <p:nvSpPr>
          <p:cNvPr id="4" name="文字方塊 3">
            <a:extLst>
              <a:ext uri="{FF2B5EF4-FFF2-40B4-BE49-F238E27FC236}">
                <a16:creationId xmlns:a16="http://schemas.microsoft.com/office/drawing/2014/main" id="{09383577-D13D-5D0D-CB4D-0748D0B967E4}"/>
              </a:ext>
            </a:extLst>
          </p:cNvPr>
          <p:cNvSpPr txBox="1"/>
          <p:nvPr/>
        </p:nvSpPr>
        <p:spPr>
          <a:xfrm>
            <a:off x="754761" y="965104"/>
            <a:ext cx="1425332" cy="369332"/>
          </a:xfrm>
          <a:prstGeom prst="rect">
            <a:avLst/>
          </a:prstGeom>
          <a:noFill/>
        </p:spPr>
        <p:txBody>
          <a:bodyPr wrap="square" rtlCol="0">
            <a:spAutoFit/>
          </a:bodyPr>
          <a:lstStyle/>
          <a:p>
            <a:pPr algn="r"/>
            <a:r>
              <a:rPr lang="en-US" altLang="zh-TW" dirty="0">
                <a:solidFill>
                  <a:srgbClr val="FF0000"/>
                </a:solidFill>
                <a:latin typeface="Cambria" panose="02040503050406030204" pitchFamily="18" charset="0"/>
                <a:ea typeface="Cambria" panose="02040503050406030204" pitchFamily="18" charset="0"/>
              </a:rPr>
              <a:t>Goals</a:t>
            </a:r>
            <a:endParaRPr lang="zh-TW" altLang="en-US" dirty="0">
              <a:solidFill>
                <a:srgbClr val="FF0000"/>
              </a:solidFill>
              <a:latin typeface="Cambria" panose="02040503050406030204" pitchFamily="18" charset="0"/>
            </a:endParaRPr>
          </a:p>
        </p:txBody>
      </p:sp>
      <p:sp>
        <p:nvSpPr>
          <p:cNvPr id="5" name="文字方塊 4">
            <a:extLst>
              <a:ext uri="{FF2B5EF4-FFF2-40B4-BE49-F238E27FC236}">
                <a16:creationId xmlns:a16="http://schemas.microsoft.com/office/drawing/2014/main" id="{C09B8656-5789-7584-C087-E48BC7DD7BDD}"/>
              </a:ext>
            </a:extLst>
          </p:cNvPr>
          <p:cNvSpPr txBox="1"/>
          <p:nvPr/>
        </p:nvSpPr>
        <p:spPr>
          <a:xfrm>
            <a:off x="692568" y="1255971"/>
            <a:ext cx="1494088" cy="369332"/>
          </a:xfrm>
          <a:prstGeom prst="rect">
            <a:avLst/>
          </a:prstGeom>
          <a:noFill/>
        </p:spPr>
        <p:txBody>
          <a:bodyPr wrap="square" rtlCol="0">
            <a:spAutoFit/>
          </a:bodyPr>
          <a:lstStyle/>
          <a:p>
            <a:pPr algn="r"/>
            <a:r>
              <a:rPr lang="en-US" altLang="zh-TW" dirty="0">
                <a:solidFill>
                  <a:srgbClr val="FF0000"/>
                </a:solidFill>
                <a:latin typeface="Cambria" panose="02040503050406030204" pitchFamily="18" charset="0"/>
                <a:ea typeface="Cambria" panose="02040503050406030204" pitchFamily="18" charset="0"/>
              </a:rPr>
              <a:t>Approaches</a:t>
            </a:r>
            <a:endParaRPr lang="zh-TW" altLang="en-US" dirty="0">
              <a:solidFill>
                <a:srgbClr val="FF0000"/>
              </a:solidFill>
              <a:latin typeface="Cambria" panose="02040503050406030204" pitchFamily="18" charset="0"/>
            </a:endParaRPr>
          </a:p>
        </p:txBody>
      </p:sp>
      <p:sp>
        <p:nvSpPr>
          <p:cNvPr id="6" name="文字方塊 5">
            <a:extLst>
              <a:ext uri="{FF2B5EF4-FFF2-40B4-BE49-F238E27FC236}">
                <a16:creationId xmlns:a16="http://schemas.microsoft.com/office/drawing/2014/main" id="{E928B10A-7713-EA90-324F-7A1A031A2091}"/>
              </a:ext>
            </a:extLst>
          </p:cNvPr>
          <p:cNvSpPr txBox="1"/>
          <p:nvPr/>
        </p:nvSpPr>
        <p:spPr>
          <a:xfrm>
            <a:off x="962146" y="1657690"/>
            <a:ext cx="1217841" cy="369332"/>
          </a:xfrm>
          <a:prstGeom prst="rect">
            <a:avLst/>
          </a:prstGeom>
          <a:noFill/>
        </p:spPr>
        <p:txBody>
          <a:bodyPr wrap="square" rtlCol="0">
            <a:spAutoFit/>
          </a:bodyPr>
          <a:lstStyle/>
          <a:p>
            <a:pPr algn="r"/>
            <a:r>
              <a:rPr lang="en-US" altLang="zh-TW" dirty="0">
                <a:solidFill>
                  <a:srgbClr val="FF0000"/>
                </a:solidFill>
                <a:latin typeface="Cambria" panose="02040503050406030204" pitchFamily="18" charset="0"/>
                <a:ea typeface="Cambria" panose="02040503050406030204" pitchFamily="18" charset="0"/>
              </a:rPr>
              <a:t>Activities</a:t>
            </a:r>
            <a:endParaRPr lang="zh-TW" altLang="en-US" dirty="0">
              <a:solidFill>
                <a:srgbClr val="FF0000"/>
              </a:solidFill>
              <a:latin typeface="Cambria" panose="02040503050406030204" pitchFamily="18" charset="0"/>
            </a:endParaRPr>
          </a:p>
        </p:txBody>
      </p:sp>
      <p:sp>
        <p:nvSpPr>
          <p:cNvPr id="7" name="文字方塊 6">
            <a:extLst>
              <a:ext uri="{FF2B5EF4-FFF2-40B4-BE49-F238E27FC236}">
                <a16:creationId xmlns:a16="http://schemas.microsoft.com/office/drawing/2014/main" id="{8E46379F-2B86-AB03-8003-CD600D325B38}"/>
              </a:ext>
            </a:extLst>
          </p:cNvPr>
          <p:cNvSpPr txBox="1"/>
          <p:nvPr/>
        </p:nvSpPr>
        <p:spPr>
          <a:xfrm>
            <a:off x="8642197" y="5516919"/>
            <a:ext cx="1898996" cy="369332"/>
          </a:xfrm>
          <a:prstGeom prst="rect">
            <a:avLst/>
          </a:prstGeom>
          <a:noFill/>
        </p:spPr>
        <p:txBody>
          <a:bodyPr wrap="square" rtlCol="0">
            <a:spAutoFit/>
          </a:bodyPr>
          <a:lstStyle/>
          <a:p>
            <a:pPr algn="r"/>
            <a:r>
              <a:rPr lang="en-US" altLang="zh-TW" dirty="0">
                <a:solidFill>
                  <a:srgbClr val="FF0000"/>
                </a:solidFill>
                <a:latin typeface="Cambria" panose="02040503050406030204" pitchFamily="18" charset="0"/>
                <a:ea typeface="Cambria" panose="02040503050406030204" pitchFamily="18" charset="0"/>
              </a:rPr>
              <a:t>Focus Activities</a:t>
            </a:r>
            <a:endParaRPr lang="zh-TW" altLang="en-US" dirty="0">
              <a:solidFill>
                <a:srgbClr val="FF0000"/>
              </a:solidFill>
              <a:latin typeface="Cambria" panose="02040503050406030204" pitchFamily="18" charset="0"/>
            </a:endParaRPr>
          </a:p>
        </p:txBody>
      </p:sp>
      <p:sp>
        <p:nvSpPr>
          <p:cNvPr id="8" name="矩形: 圓角 7">
            <a:extLst>
              <a:ext uri="{FF2B5EF4-FFF2-40B4-BE49-F238E27FC236}">
                <a16:creationId xmlns:a16="http://schemas.microsoft.com/office/drawing/2014/main" id="{248ACA13-4B9C-DAF5-9C29-3B0E625CDCF3}"/>
              </a:ext>
            </a:extLst>
          </p:cNvPr>
          <p:cNvSpPr/>
          <p:nvPr/>
        </p:nvSpPr>
        <p:spPr>
          <a:xfrm>
            <a:off x="5779826" y="3137051"/>
            <a:ext cx="495393" cy="282867"/>
          </a:xfrm>
          <a:prstGeom prst="roundRect">
            <a:avLst/>
          </a:prstGeom>
          <a:noFill/>
          <a:ln w="254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
        <p:nvSpPr>
          <p:cNvPr id="9" name="矩形: 圓角 8">
            <a:extLst>
              <a:ext uri="{FF2B5EF4-FFF2-40B4-BE49-F238E27FC236}">
                <a16:creationId xmlns:a16="http://schemas.microsoft.com/office/drawing/2014/main" id="{14EF445E-4208-E464-E739-96DA907C300C}"/>
              </a:ext>
            </a:extLst>
          </p:cNvPr>
          <p:cNvSpPr/>
          <p:nvPr/>
        </p:nvSpPr>
        <p:spPr>
          <a:xfrm>
            <a:off x="5779826" y="2637723"/>
            <a:ext cx="917860" cy="389035"/>
          </a:xfrm>
          <a:prstGeom prst="roundRect">
            <a:avLst/>
          </a:prstGeom>
          <a:noFill/>
          <a:ln w="254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
        <p:nvSpPr>
          <p:cNvPr id="10" name="矩形: 圓角 9">
            <a:extLst>
              <a:ext uri="{FF2B5EF4-FFF2-40B4-BE49-F238E27FC236}">
                <a16:creationId xmlns:a16="http://schemas.microsoft.com/office/drawing/2014/main" id="{E2B63676-47C3-E60A-9C4F-A11D2236DA3D}"/>
              </a:ext>
            </a:extLst>
          </p:cNvPr>
          <p:cNvSpPr/>
          <p:nvPr/>
        </p:nvSpPr>
        <p:spPr>
          <a:xfrm>
            <a:off x="8124542" y="1632884"/>
            <a:ext cx="1176874" cy="352323"/>
          </a:xfrm>
          <a:prstGeom prst="roundRect">
            <a:avLst/>
          </a:prstGeom>
          <a:noFill/>
          <a:ln w="254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
        <p:nvSpPr>
          <p:cNvPr id="11" name="矩形: 圓角 10">
            <a:extLst>
              <a:ext uri="{FF2B5EF4-FFF2-40B4-BE49-F238E27FC236}">
                <a16:creationId xmlns:a16="http://schemas.microsoft.com/office/drawing/2014/main" id="{889B642A-2C7A-F1D4-A0F5-46A59AA3A4D8}"/>
              </a:ext>
            </a:extLst>
          </p:cNvPr>
          <p:cNvSpPr/>
          <p:nvPr/>
        </p:nvSpPr>
        <p:spPr>
          <a:xfrm>
            <a:off x="6937241" y="3172235"/>
            <a:ext cx="1116520" cy="352323"/>
          </a:xfrm>
          <a:prstGeom prst="roundRect">
            <a:avLst/>
          </a:prstGeom>
          <a:noFill/>
          <a:ln w="254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ADDD00BC-86B9-98C0-7DB4-607A66EC043A}"/>
              </a:ext>
            </a:extLst>
          </p:cNvPr>
          <p:cNvSpPr/>
          <p:nvPr/>
        </p:nvSpPr>
        <p:spPr>
          <a:xfrm>
            <a:off x="9301416" y="2644588"/>
            <a:ext cx="846349" cy="389035"/>
          </a:xfrm>
          <a:prstGeom prst="roundRect">
            <a:avLst/>
          </a:prstGeom>
          <a:noFill/>
          <a:ln w="254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
        <p:nvSpPr>
          <p:cNvPr id="13" name="矩形: 圓角 12">
            <a:extLst>
              <a:ext uri="{FF2B5EF4-FFF2-40B4-BE49-F238E27FC236}">
                <a16:creationId xmlns:a16="http://schemas.microsoft.com/office/drawing/2014/main" id="{285793F5-C9BC-0551-F7FC-70B5B97AE90E}"/>
              </a:ext>
            </a:extLst>
          </p:cNvPr>
          <p:cNvSpPr/>
          <p:nvPr/>
        </p:nvSpPr>
        <p:spPr>
          <a:xfrm>
            <a:off x="8125430" y="2142099"/>
            <a:ext cx="1033535" cy="286598"/>
          </a:xfrm>
          <a:prstGeom prst="roundRect">
            <a:avLst/>
          </a:prstGeom>
          <a:noFill/>
          <a:ln w="254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8"/>
          <p:cNvSpPr txBox="1">
            <a:spLocks noGrp="1"/>
          </p:cNvSpPr>
          <p:nvPr>
            <p:ph type="ctrTitle"/>
          </p:nvPr>
        </p:nvSpPr>
        <p:spPr>
          <a:xfrm>
            <a:off x="365400" y="344133"/>
            <a:ext cx="12702800" cy="1260000"/>
          </a:xfrm>
          <a:prstGeom prst="rect">
            <a:avLst/>
          </a:prstGeom>
        </p:spPr>
        <p:txBody>
          <a:bodyPr spcFirstLastPara="1" vert="horz" wrap="square" lIns="121900" tIns="121900" rIns="121900" bIns="121900" rtlCol="0" anchor="t" anchorCtr="0">
            <a:noAutofit/>
          </a:bodyPr>
          <a:lstStyle/>
          <a:p>
            <a:pPr algn="l">
              <a:spcBef>
                <a:spcPts val="0"/>
              </a:spcBef>
              <a:buSzPts val="2700"/>
            </a:pPr>
            <a:r>
              <a:rPr lang="en-US" altLang="zh-TW" sz="4000" dirty="0">
                <a:latin typeface="Times New Roman"/>
                <a:ea typeface="Times New Roman"/>
                <a:cs typeface="Times New Roman"/>
                <a:sym typeface="Times New Roman"/>
              </a:rPr>
              <a:t>Background – Reinforcement fine-tuning - GRPO</a:t>
            </a:r>
            <a:endParaRPr sz="4000" baseline="-25000" dirty="0">
              <a:latin typeface="Times New Roman"/>
              <a:ea typeface="Times New Roman"/>
              <a:cs typeface="Times New Roman"/>
              <a:sym typeface="Times New Roman"/>
            </a:endParaRPr>
          </a:p>
        </p:txBody>
      </p:sp>
      <p:sp>
        <p:nvSpPr>
          <p:cNvPr id="390" name="Google Shape;390;p4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8</a:t>
            </a:fld>
            <a:endParaRPr dirty="0"/>
          </a:p>
        </p:txBody>
      </p:sp>
      <p:pic>
        <p:nvPicPr>
          <p:cNvPr id="394" name="Google Shape;394;p48"/>
          <p:cNvPicPr preferRelativeResize="0"/>
          <p:nvPr/>
        </p:nvPicPr>
        <p:blipFill>
          <a:blip r:embed="rId3">
            <a:alphaModFix/>
          </a:blip>
          <a:stretch>
            <a:fillRect/>
          </a:stretch>
        </p:blipFill>
        <p:spPr>
          <a:xfrm>
            <a:off x="1808011" y="5225421"/>
            <a:ext cx="8669567" cy="981600"/>
          </a:xfrm>
          <a:prstGeom prst="rect">
            <a:avLst/>
          </a:prstGeom>
          <a:noFill/>
          <a:ln>
            <a:noFill/>
          </a:ln>
        </p:spPr>
      </p:pic>
      <p:sp>
        <p:nvSpPr>
          <p:cNvPr id="395" name="Google Shape;395;p48"/>
          <p:cNvSpPr txBox="1"/>
          <p:nvPr/>
        </p:nvSpPr>
        <p:spPr>
          <a:xfrm>
            <a:off x="1761200" y="1245601"/>
            <a:ext cx="8669600" cy="512857"/>
          </a:xfrm>
          <a:prstGeom prst="rect">
            <a:avLst/>
          </a:prstGeom>
          <a:noFill/>
          <a:ln>
            <a:noFill/>
          </a:ln>
        </p:spPr>
        <p:txBody>
          <a:bodyPr spcFirstLastPara="1" wrap="square" lIns="121900" tIns="121900" rIns="121900" bIns="121900" anchor="t" anchorCtr="0">
            <a:spAutoFit/>
          </a:bodyPr>
          <a:lstStyle/>
          <a:p>
            <a:r>
              <a:rPr lang="en-US" altLang="zh-TW" sz="1733" u="sng" dirty="0">
                <a:solidFill>
                  <a:srgbClr val="3C78D8"/>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DeepSeekMath: Pushing the Limits of Mathematical Reasoning in Open Language Models</a:t>
            </a:r>
            <a:endParaRPr sz="2400" dirty="0">
              <a:latin typeface="Abadi" panose="020B0604020104020204" pitchFamily="34" charset="0"/>
            </a:endParaRPr>
          </a:p>
        </p:txBody>
      </p:sp>
      <p:sp>
        <p:nvSpPr>
          <p:cNvPr id="2" name="矩形: 圓角 1">
            <a:extLst>
              <a:ext uri="{FF2B5EF4-FFF2-40B4-BE49-F238E27FC236}">
                <a16:creationId xmlns:a16="http://schemas.microsoft.com/office/drawing/2014/main" id="{2ED0A1ED-6CF4-7FE6-205E-F5A4F4542F24}"/>
              </a:ext>
            </a:extLst>
          </p:cNvPr>
          <p:cNvSpPr/>
          <p:nvPr/>
        </p:nvSpPr>
        <p:spPr>
          <a:xfrm>
            <a:off x="1165503" y="3495889"/>
            <a:ext cx="1285017" cy="917284"/>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dirty="0">
                <a:solidFill>
                  <a:schemeClr val="tx1"/>
                </a:solidFill>
                <a:latin typeface="Cambria" panose="02040503050406030204" pitchFamily="18" charset="0"/>
                <a:ea typeface="Cambria" panose="02040503050406030204" pitchFamily="18" charset="0"/>
              </a:rPr>
              <a:t>Prompt</a:t>
            </a:r>
            <a:endParaRPr lang="zh-TW" altLang="en-US" sz="1600" dirty="0">
              <a:solidFill>
                <a:schemeClr val="tx1"/>
              </a:solidFill>
              <a:latin typeface="Cambria" panose="02040503050406030204" pitchFamily="18" charset="0"/>
            </a:endParaRPr>
          </a:p>
        </p:txBody>
      </p:sp>
      <p:cxnSp>
        <p:nvCxnSpPr>
          <p:cNvPr id="3" name="直線單箭頭接點 2">
            <a:extLst>
              <a:ext uri="{FF2B5EF4-FFF2-40B4-BE49-F238E27FC236}">
                <a16:creationId xmlns:a16="http://schemas.microsoft.com/office/drawing/2014/main" id="{63E7D04E-832A-CE99-22DF-6FBE81E76C0E}"/>
              </a:ext>
            </a:extLst>
          </p:cNvPr>
          <p:cNvCxnSpPr>
            <a:cxnSpLocks/>
            <a:stCxn id="2" idx="3"/>
            <a:endCxn id="4" idx="1"/>
          </p:cNvCxnSpPr>
          <p:nvPr/>
        </p:nvCxnSpPr>
        <p:spPr>
          <a:xfrm>
            <a:off x="2450520" y="3954531"/>
            <a:ext cx="32425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矩形: 圓角 3">
            <a:extLst>
              <a:ext uri="{FF2B5EF4-FFF2-40B4-BE49-F238E27FC236}">
                <a16:creationId xmlns:a16="http://schemas.microsoft.com/office/drawing/2014/main" id="{11C17474-3CD3-CE1A-D91C-CCEAE5BEB79F}"/>
              </a:ext>
            </a:extLst>
          </p:cNvPr>
          <p:cNvSpPr/>
          <p:nvPr/>
        </p:nvSpPr>
        <p:spPr>
          <a:xfrm>
            <a:off x="2774776" y="3495889"/>
            <a:ext cx="1634249" cy="917284"/>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dirty="0">
                <a:solidFill>
                  <a:schemeClr val="tx1"/>
                </a:solidFill>
                <a:latin typeface="Cambria" panose="02040503050406030204" pitchFamily="18" charset="0"/>
                <a:ea typeface="Cambria" panose="02040503050406030204" pitchFamily="18" charset="0"/>
              </a:rPr>
              <a:t>Policy Model:</a:t>
            </a:r>
          </a:p>
          <a:p>
            <a:pPr algn="ctr"/>
            <a:r>
              <a:rPr lang="en-US" altLang="zh-TW" sz="1600" dirty="0">
                <a:solidFill>
                  <a:schemeClr val="tx1"/>
                </a:solidFill>
                <a:latin typeface="Cambria" panose="02040503050406030204" pitchFamily="18" charset="0"/>
                <a:ea typeface="Cambria" panose="02040503050406030204" pitchFamily="18" charset="0"/>
              </a:rPr>
              <a:t>(Strategist LLM)</a:t>
            </a:r>
            <a:endParaRPr lang="zh-TW" altLang="en-US" sz="1600" dirty="0">
              <a:solidFill>
                <a:schemeClr val="tx1"/>
              </a:solidFill>
              <a:latin typeface="Cambria" panose="02040503050406030204" pitchFamily="18" charset="0"/>
            </a:endParaRPr>
          </a:p>
        </p:txBody>
      </p:sp>
      <p:cxnSp>
        <p:nvCxnSpPr>
          <p:cNvPr id="5" name="直線單箭頭接點 4">
            <a:extLst>
              <a:ext uri="{FF2B5EF4-FFF2-40B4-BE49-F238E27FC236}">
                <a16:creationId xmlns:a16="http://schemas.microsoft.com/office/drawing/2014/main" id="{08E17A43-263B-D38D-C37E-9B68E7CF088C}"/>
              </a:ext>
            </a:extLst>
          </p:cNvPr>
          <p:cNvCxnSpPr>
            <a:stCxn id="4" idx="3"/>
          </p:cNvCxnSpPr>
          <p:nvPr/>
        </p:nvCxnSpPr>
        <p:spPr>
          <a:xfrm>
            <a:off x="4409025" y="3954531"/>
            <a:ext cx="32425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矩形: 圓角 5">
            <a:extLst>
              <a:ext uri="{FF2B5EF4-FFF2-40B4-BE49-F238E27FC236}">
                <a16:creationId xmlns:a16="http://schemas.microsoft.com/office/drawing/2014/main" id="{7BD1FBDA-DF1A-A594-7567-803BA439822B}"/>
              </a:ext>
            </a:extLst>
          </p:cNvPr>
          <p:cNvSpPr/>
          <p:nvPr/>
        </p:nvSpPr>
        <p:spPr>
          <a:xfrm>
            <a:off x="4733280" y="2853685"/>
            <a:ext cx="609600" cy="1917909"/>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7" name="矩形: 圓角 6">
                <a:extLst>
                  <a:ext uri="{FF2B5EF4-FFF2-40B4-BE49-F238E27FC236}">
                    <a16:creationId xmlns:a16="http://schemas.microsoft.com/office/drawing/2014/main" id="{CDCC0C2D-3C2C-E8BD-C4A0-AFD4025D9047}"/>
                  </a:ext>
                </a:extLst>
              </p:cNvPr>
              <p:cNvSpPr/>
              <p:nvPr/>
            </p:nvSpPr>
            <p:spPr>
              <a:xfrm>
                <a:off x="4804616" y="3017791"/>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𝑜</m:t>
                          </m:r>
                        </m:e>
                        <m:sub>
                          <m:r>
                            <a:rPr lang="en-US" altLang="zh-TW" sz="1600" b="0" i="0" dirty="0" smtClean="0">
                              <a:solidFill>
                                <a:schemeClr val="tx1"/>
                              </a:solidFill>
                              <a:latin typeface="Cambria Math" panose="02040503050406030204" pitchFamily="18" charset="0"/>
                            </a:rPr>
                            <m:t>1</m:t>
                          </m:r>
                        </m:sub>
                      </m:sSub>
                    </m:oMath>
                  </m:oMathPara>
                </a14:m>
                <a:endParaRPr/>
              </a:p>
            </p:txBody>
          </p:sp>
        </mc:Choice>
        <mc:Fallback xmlns="">
          <p:sp>
            <p:nvSpPr>
              <p:cNvPr id="7" name="矩形: 圓角 6">
                <a:extLst>
                  <a:ext uri="{FF2B5EF4-FFF2-40B4-BE49-F238E27FC236}">
                    <a16:creationId xmlns:a16="http://schemas.microsoft.com/office/drawing/2014/main" id="{CDCC0C2D-3C2C-E8BD-C4A0-AFD4025D9047}"/>
                  </a:ext>
                </a:extLst>
              </p:cNvPr>
              <p:cNvSpPr>
                <a:spLocks noRot="1" noChangeAspect="1" noMove="1" noResize="1" noEditPoints="1" noAdjustHandles="1" noChangeArrowheads="1" noChangeShapeType="1" noTextEdit="1"/>
              </p:cNvSpPr>
              <p:nvPr/>
            </p:nvSpPr>
            <p:spPr>
              <a:xfrm>
                <a:off x="4804616" y="3017791"/>
                <a:ext cx="486383" cy="276880"/>
              </a:xfrm>
              <a:prstGeom prst="roundRect">
                <a:avLst/>
              </a:prstGeom>
              <a:blipFill>
                <a:blip r:embed="rId5"/>
                <a:stretch>
                  <a:fillRect b="-6383"/>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圓角 7">
                <a:extLst>
                  <a:ext uri="{FF2B5EF4-FFF2-40B4-BE49-F238E27FC236}">
                    <a16:creationId xmlns:a16="http://schemas.microsoft.com/office/drawing/2014/main" id="{959E3E25-700D-DB0B-4A69-633CD7944D12}"/>
                  </a:ext>
                </a:extLst>
              </p:cNvPr>
              <p:cNvSpPr/>
              <p:nvPr/>
            </p:nvSpPr>
            <p:spPr>
              <a:xfrm>
                <a:off x="4804616" y="3456524"/>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𝑜</m:t>
                          </m:r>
                        </m:e>
                        <m:sub>
                          <m:r>
                            <a:rPr lang="en-US" altLang="zh-TW" sz="1600" b="0" i="0" dirty="0" smtClean="0">
                              <a:solidFill>
                                <a:schemeClr val="tx1"/>
                              </a:solidFill>
                              <a:latin typeface="Cambria Math" panose="02040503050406030204" pitchFamily="18" charset="0"/>
                            </a:rPr>
                            <m:t>2</m:t>
                          </m:r>
                        </m:sub>
                      </m:sSub>
                    </m:oMath>
                  </m:oMathPara>
                </a14:m>
                <a:endParaRPr/>
              </a:p>
            </p:txBody>
          </p:sp>
        </mc:Choice>
        <mc:Fallback xmlns="">
          <p:sp>
            <p:nvSpPr>
              <p:cNvPr id="8" name="矩形: 圓角 7">
                <a:extLst>
                  <a:ext uri="{FF2B5EF4-FFF2-40B4-BE49-F238E27FC236}">
                    <a16:creationId xmlns:a16="http://schemas.microsoft.com/office/drawing/2014/main" id="{959E3E25-700D-DB0B-4A69-633CD7944D12}"/>
                  </a:ext>
                </a:extLst>
              </p:cNvPr>
              <p:cNvSpPr>
                <a:spLocks noRot="1" noChangeAspect="1" noMove="1" noResize="1" noEditPoints="1" noAdjustHandles="1" noChangeArrowheads="1" noChangeShapeType="1" noTextEdit="1"/>
              </p:cNvSpPr>
              <p:nvPr/>
            </p:nvSpPr>
            <p:spPr>
              <a:xfrm>
                <a:off x="4804616" y="3456524"/>
                <a:ext cx="486383" cy="276880"/>
              </a:xfrm>
              <a:prstGeom prst="roundRect">
                <a:avLst/>
              </a:prstGeom>
              <a:blipFill>
                <a:blip r:embed="rId6"/>
                <a:stretch>
                  <a:fillRect b="-6383"/>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圓角 8">
                <a:extLst>
                  <a:ext uri="{FF2B5EF4-FFF2-40B4-BE49-F238E27FC236}">
                    <a16:creationId xmlns:a16="http://schemas.microsoft.com/office/drawing/2014/main" id="{82E9A5CF-2148-626B-2CC3-29609864539A}"/>
                  </a:ext>
                </a:extLst>
              </p:cNvPr>
              <p:cNvSpPr/>
              <p:nvPr/>
            </p:nvSpPr>
            <p:spPr>
              <a:xfrm>
                <a:off x="4804616" y="4409586"/>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𝑜</m:t>
                          </m:r>
                        </m:e>
                        <m:sub>
                          <m:r>
                            <m:rPr>
                              <m:sty m:val="p"/>
                            </m:rPr>
                            <a:rPr lang="en-US" altLang="zh-TW" sz="1600" b="0" i="0" dirty="0" smtClean="0">
                              <a:solidFill>
                                <a:schemeClr val="tx1"/>
                              </a:solidFill>
                              <a:latin typeface="Cambria Math" panose="02040503050406030204" pitchFamily="18" charset="0"/>
                            </a:rPr>
                            <m:t>G</m:t>
                          </m:r>
                        </m:sub>
                      </m:sSub>
                    </m:oMath>
                  </m:oMathPara>
                </a14:m>
                <a:endParaRPr/>
              </a:p>
            </p:txBody>
          </p:sp>
        </mc:Choice>
        <mc:Fallback xmlns="">
          <p:sp>
            <p:nvSpPr>
              <p:cNvPr id="9" name="矩形: 圓角 8">
                <a:extLst>
                  <a:ext uri="{FF2B5EF4-FFF2-40B4-BE49-F238E27FC236}">
                    <a16:creationId xmlns:a16="http://schemas.microsoft.com/office/drawing/2014/main" id="{82E9A5CF-2148-626B-2CC3-29609864539A}"/>
                  </a:ext>
                </a:extLst>
              </p:cNvPr>
              <p:cNvSpPr>
                <a:spLocks noRot="1" noChangeAspect="1" noMove="1" noResize="1" noEditPoints="1" noAdjustHandles="1" noChangeArrowheads="1" noChangeShapeType="1" noTextEdit="1"/>
              </p:cNvSpPr>
              <p:nvPr/>
            </p:nvSpPr>
            <p:spPr>
              <a:xfrm>
                <a:off x="4804616" y="4409586"/>
                <a:ext cx="486383" cy="276880"/>
              </a:xfrm>
              <a:prstGeom prst="roundRect">
                <a:avLst/>
              </a:prstGeom>
              <a:blipFill>
                <a:blip r:embed="rId7"/>
                <a:stretch>
                  <a:fillRect b="-6250"/>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EF6D9CA6-E7EE-284D-7681-9146D9267323}"/>
              </a:ext>
            </a:extLst>
          </p:cNvPr>
          <p:cNvSpPr txBox="1"/>
          <p:nvPr/>
        </p:nvSpPr>
        <p:spPr>
          <a:xfrm>
            <a:off x="4847162" y="3862910"/>
            <a:ext cx="381836" cy="369332"/>
          </a:xfrm>
          <a:prstGeom prst="rect">
            <a:avLst/>
          </a:prstGeom>
          <a:noFill/>
          <a:ln>
            <a:noFill/>
          </a:ln>
        </p:spPr>
        <p:txBody>
          <a:bodyPr wrap="none" rtlCol="0">
            <a:spAutoFit/>
          </a:bodyPr>
          <a:lstStyle/>
          <a:p>
            <a:r>
              <a:rPr lang="en-US" altLang="zh-TW" dirty="0"/>
              <a:t>…</a:t>
            </a:r>
            <a:endParaRPr lang="zh-TW" altLang="en-US" dirty="0"/>
          </a:p>
        </p:txBody>
      </p:sp>
      <p:sp>
        <p:nvSpPr>
          <p:cNvPr id="11" name="矩形: 圓角 10">
            <a:extLst>
              <a:ext uri="{FF2B5EF4-FFF2-40B4-BE49-F238E27FC236}">
                <a16:creationId xmlns:a16="http://schemas.microsoft.com/office/drawing/2014/main" id="{1813F897-8127-5B5F-649F-71A1C920935F}"/>
              </a:ext>
            </a:extLst>
          </p:cNvPr>
          <p:cNvSpPr/>
          <p:nvPr/>
        </p:nvSpPr>
        <p:spPr>
          <a:xfrm>
            <a:off x="5502637" y="2853685"/>
            <a:ext cx="1858950" cy="917284"/>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dirty="0">
                <a:solidFill>
                  <a:schemeClr val="tx1"/>
                </a:solidFill>
                <a:latin typeface="Cambria" panose="02040503050406030204" pitchFamily="18" charset="0"/>
                <a:ea typeface="Cambria" panose="02040503050406030204" pitchFamily="18" charset="0"/>
              </a:rPr>
              <a:t>Reference Model:</a:t>
            </a:r>
          </a:p>
          <a:p>
            <a:pPr algn="ctr"/>
            <a:r>
              <a:rPr lang="en-US" altLang="zh-TW" sz="1600" dirty="0">
                <a:solidFill>
                  <a:schemeClr val="tx1"/>
                </a:solidFill>
                <a:latin typeface="Cambria" panose="02040503050406030204" pitchFamily="18" charset="0"/>
                <a:ea typeface="Cambria" panose="02040503050406030204" pitchFamily="18" charset="0"/>
              </a:rPr>
              <a:t>(Base LLM)</a:t>
            </a:r>
            <a:endParaRPr lang="zh-TW" altLang="en-US" sz="1600" dirty="0">
              <a:solidFill>
                <a:schemeClr val="tx1"/>
              </a:solidFill>
              <a:latin typeface="Cambria" panose="02040503050406030204" pitchFamily="18" charset="0"/>
            </a:endParaRPr>
          </a:p>
        </p:txBody>
      </p:sp>
      <p:sp>
        <p:nvSpPr>
          <p:cNvPr id="12" name="矩形: 圓角 11">
            <a:extLst>
              <a:ext uri="{FF2B5EF4-FFF2-40B4-BE49-F238E27FC236}">
                <a16:creationId xmlns:a16="http://schemas.microsoft.com/office/drawing/2014/main" id="{2AC480A3-D005-D7D4-4A12-A94BACA7A9CA}"/>
              </a:ext>
            </a:extLst>
          </p:cNvPr>
          <p:cNvSpPr/>
          <p:nvPr/>
        </p:nvSpPr>
        <p:spPr>
          <a:xfrm>
            <a:off x="5488989" y="3862910"/>
            <a:ext cx="1858950" cy="917284"/>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dirty="0">
                <a:solidFill>
                  <a:schemeClr val="tx1"/>
                </a:solidFill>
                <a:latin typeface="Cambria" panose="02040503050406030204" pitchFamily="18" charset="0"/>
                <a:ea typeface="Cambria" panose="02040503050406030204" pitchFamily="18" charset="0"/>
              </a:rPr>
              <a:t>Reward Model</a:t>
            </a:r>
          </a:p>
        </p:txBody>
      </p:sp>
      <p:cxnSp>
        <p:nvCxnSpPr>
          <p:cNvPr id="13" name="接點: 弧形 12">
            <a:extLst>
              <a:ext uri="{FF2B5EF4-FFF2-40B4-BE49-F238E27FC236}">
                <a16:creationId xmlns:a16="http://schemas.microsoft.com/office/drawing/2014/main" id="{4F8C210B-130F-8E78-77C2-B44EE93B3C0C}"/>
              </a:ext>
            </a:extLst>
          </p:cNvPr>
          <p:cNvCxnSpPr>
            <a:cxnSpLocks/>
            <a:stCxn id="6" idx="3"/>
            <a:endCxn id="11" idx="1"/>
          </p:cNvCxnSpPr>
          <p:nvPr/>
        </p:nvCxnSpPr>
        <p:spPr>
          <a:xfrm flipV="1">
            <a:off x="5342880" y="3312327"/>
            <a:ext cx="159757" cy="500313"/>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接點: 弧形 13">
            <a:extLst>
              <a:ext uri="{FF2B5EF4-FFF2-40B4-BE49-F238E27FC236}">
                <a16:creationId xmlns:a16="http://schemas.microsoft.com/office/drawing/2014/main" id="{59F70D76-DDB2-4C60-E62F-1BE704728C8C}"/>
              </a:ext>
            </a:extLst>
          </p:cNvPr>
          <p:cNvCxnSpPr>
            <a:cxnSpLocks/>
            <a:stCxn id="6" idx="3"/>
            <a:endCxn id="12" idx="1"/>
          </p:cNvCxnSpPr>
          <p:nvPr/>
        </p:nvCxnSpPr>
        <p:spPr>
          <a:xfrm>
            <a:off x="5342880" y="3812640"/>
            <a:ext cx="146109" cy="508912"/>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接點: 弧形 14">
            <a:extLst>
              <a:ext uri="{FF2B5EF4-FFF2-40B4-BE49-F238E27FC236}">
                <a16:creationId xmlns:a16="http://schemas.microsoft.com/office/drawing/2014/main" id="{6A6A3104-CC43-8B66-2FA1-EB9F882361B4}"/>
              </a:ext>
            </a:extLst>
          </p:cNvPr>
          <p:cNvCxnSpPr>
            <a:stCxn id="11" idx="0"/>
            <a:endCxn id="4" idx="0"/>
          </p:cNvCxnSpPr>
          <p:nvPr/>
        </p:nvCxnSpPr>
        <p:spPr>
          <a:xfrm rot="16200000" flipH="1" flipV="1">
            <a:off x="4690905" y="1754681"/>
            <a:ext cx="642204" cy="2840211"/>
          </a:xfrm>
          <a:prstGeom prst="curvedConnector3">
            <a:avLst>
              <a:gd name="adj1" fmla="val -3559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矩形: 圓角 15">
            <a:extLst>
              <a:ext uri="{FF2B5EF4-FFF2-40B4-BE49-F238E27FC236}">
                <a16:creationId xmlns:a16="http://schemas.microsoft.com/office/drawing/2014/main" id="{B11DDE2B-2409-9F83-4751-ECC26AF56C63}"/>
              </a:ext>
            </a:extLst>
          </p:cNvPr>
          <p:cNvSpPr/>
          <p:nvPr/>
        </p:nvSpPr>
        <p:spPr>
          <a:xfrm>
            <a:off x="7573492" y="2862285"/>
            <a:ext cx="609600" cy="1917909"/>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17" name="矩形: 圓角 16">
                <a:extLst>
                  <a:ext uri="{FF2B5EF4-FFF2-40B4-BE49-F238E27FC236}">
                    <a16:creationId xmlns:a16="http://schemas.microsoft.com/office/drawing/2014/main" id="{EEF7D8C4-92A1-F034-46D0-7C0439FCCA69}"/>
                  </a:ext>
                </a:extLst>
              </p:cNvPr>
              <p:cNvSpPr/>
              <p:nvPr/>
            </p:nvSpPr>
            <p:spPr>
              <a:xfrm>
                <a:off x="7644828" y="3026391"/>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𝑟</m:t>
                          </m:r>
                        </m:e>
                        <m:sub>
                          <m:r>
                            <a:rPr lang="en-US" altLang="zh-TW" sz="1600" b="0" i="0" dirty="0" smtClean="0">
                              <a:solidFill>
                                <a:schemeClr val="tx1"/>
                              </a:solidFill>
                              <a:latin typeface="Cambria Math" panose="02040503050406030204" pitchFamily="18" charset="0"/>
                            </a:rPr>
                            <m:t>1</m:t>
                          </m:r>
                        </m:sub>
                      </m:sSub>
                    </m:oMath>
                  </m:oMathPara>
                </a14:m>
                <a:endParaRPr/>
              </a:p>
            </p:txBody>
          </p:sp>
        </mc:Choice>
        <mc:Fallback xmlns="">
          <p:sp>
            <p:nvSpPr>
              <p:cNvPr id="17" name="矩形: 圓角 16">
                <a:extLst>
                  <a:ext uri="{FF2B5EF4-FFF2-40B4-BE49-F238E27FC236}">
                    <a16:creationId xmlns:a16="http://schemas.microsoft.com/office/drawing/2014/main" id="{EEF7D8C4-92A1-F034-46D0-7C0439FCCA69}"/>
                  </a:ext>
                </a:extLst>
              </p:cNvPr>
              <p:cNvSpPr>
                <a:spLocks noRot="1" noChangeAspect="1" noMove="1" noResize="1" noEditPoints="1" noAdjustHandles="1" noChangeArrowheads="1" noChangeShapeType="1" noTextEdit="1"/>
              </p:cNvSpPr>
              <p:nvPr/>
            </p:nvSpPr>
            <p:spPr>
              <a:xfrm>
                <a:off x="7644828" y="3026391"/>
                <a:ext cx="486383" cy="276880"/>
              </a:xfrm>
              <a:prstGeom prst="roundRect">
                <a:avLst/>
              </a:prstGeom>
              <a:blipFill>
                <a:blip r:embed="rId8"/>
                <a:stretch>
                  <a:fillRect b="-4167"/>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18" name="文字方塊 17">
            <a:extLst>
              <a:ext uri="{FF2B5EF4-FFF2-40B4-BE49-F238E27FC236}">
                <a16:creationId xmlns:a16="http://schemas.microsoft.com/office/drawing/2014/main" id="{CBFD812B-9B59-D675-8502-9F938C47D82E}"/>
              </a:ext>
            </a:extLst>
          </p:cNvPr>
          <p:cNvSpPr txBox="1"/>
          <p:nvPr/>
        </p:nvSpPr>
        <p:spPr>
          <a:xfrm>
            <a:off x="7687374" y="3871510"/>
            <a:ext cx="381836" cy="369332"/>
          </a:xfrm>
          <a:prstGeom prst="rect">
            <a:avLst/>
          </a:prstGeom>
          <a:noFill/>
          <a:ln>
            <a:noFill/>
          </a:ln>
        </p:spPr>
        <p:txBody>
          <a:bodyPr wrap="none" rtlCol="0">
            <a:spAutoFit/>
          </a:bodyPr>
          <a:lstStyle/>
          <a:p>
            <a:r>
              <a:rPr lang="en-US" altLang="zh-TW" dirty="0"/>
              <a:t>…</a:t>
            </a:r>
            <a:endParaRPr lang="zh-TW" altLang="en-US" dirty="0"/>
          </a:p>
        </p:txBody>
      </p:sp>
      <p:cxnSp>
        <p:nvCxnSpPr>
          <p:cNvPr id="19" name="接點: 弧形 18">
            <a:extLst>
              <a:ext uri="{FF2B5EF4-FFF2-40B4-BE49-F238E27FC236}">
                <a16:creationId xmlns:a16="http://schemas.microsoft.com/office/drawing/2014/main" id="{0941D863-B4A0-0E98-E3A8-939266ADA0B4}"/>
              </a:ext>
            </a:extLst>
          </p:cNvPr>
          <p:cNvCxnSpPr>
            <a:cxnSpLocks/>
            <a:stCxn id="12" idx="3"/>
            <a:endCxn id="16" idx="1"/>
          </p:cNvCxnSpPr>
          <p:nvPr/>
        </p:nvCxnSpPr>
        <p:spPr>
          <a:xfrm flipV="1">
            <a:off x="7347939" y="3821240"/>
            <a:ext cx="225553" cy="500312"/>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矩形: 圓角 19">
                <a:extLst>
                  <a:ext uri="{FF2B5EF4-FFF2-40B4-BE49-F238E27FC236}">
                    <a16:creationId xmlns:a16="http://schemas.microsoft.com/office/drawing/2014/main" id="{24C64AD6-0B17-EFBF-6046-D70513EDE96E}"/>
                  </a:ext>
                </a:extLst>
              </p:cNvPr>
              <p:cNvSpPr/>
              <p:nvPr/>
            </p:nvSpPr>
            <p:spPr>
              <a:xfrm>
                <a:off x="7644827" y="3465135"/>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𝑟</m:t>
                          </m:r>
                        </m:e>
                        <m:sub>
                          <m:r>
                            <a:rPr lang="en-US" altLang="zh-TW" sz="1600" b="0" i="0" dirty="0" smtClean="0">
                              <a:solidFill>
                                <a:schemeClr val="tx1"/>
                              </a:solidFill>
                              <a:latin typeface="Cambria Math" panose="02040503050406030204" pitchFamily="18" charset="0"/>
                            </a:rPr>
                            <m:t>2</m:t>
                          </m:r>
                        </m:sub>
                      </m:sSub>
                    </m:oMath>
                  </m:oMathPara>
                </a14:m>
                <a:endParaRPr/>
              </a:p>
            </p:txBody>
          </p:sp>
        </mc:Choice>
        <mc:Fallback xmlns="">
          <p:sp>
            <p:nvSpPr>
              <p:cNvPr id="20" name="矩形: 圓角 19">
                <a:extLst>
                  <a:ext uri="{FF2B5EF4-FFF2-40B4-BE49-F238E27FC236}">
                    <a16:creationId xmlns:a16="http://schemas.microsoft.com/office/drawing/2014/main" id="{24C64AD6-0B17-EFBF-6046-D70513EDE96E}"/>
                  </a:ext>
                </a:extLst>
              </p:cNvPr>
              <p:cNvSpPr>
                <a:spLocks noRot="1" noChangeAspect="1" noMove="1" noResize="1" noEditPoints="1" noAdjustHandles="1" noChangeArrowheads="1" noChangeShapeType="1" noTextEdit="1"/>
              </p:cNvSpPr>
              <p:nvPr/>
            </p:nvSpPr>
            <p:spPr>
              <a:xfrm>
                <a:off x="7644827" y="3465135"/>
                <a:ext cx="486383" cy="276880"/>
              </a:xfrm>
              <a:prstGeom prst="roundRect">
                <a:avLst/>
              </a:prstGeom>
              <a:blipFill>
                <a:blip r:embed="rId9"/>
                <a:stretch>
                  <a:fillRect b="-4167"/>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圓角 20">
                <a:extLst>
                  <a:ext uri="{FF2B5EF4-FFF2-40B4-BE49-F238E27FC236}">
                    <a16:creationId xmlns:a16="http://schemas.microsoft.com/office/drawing/2014/main" id="{86DC2C5C-6B93-E4E9-8219-47F0EB036414}"/>
                  </a:ext>
                </a:extLst>
              </p:cNvPr>
              <p:cNvSpPr/>
              <p:nvPr/>
            </p:nvSpPr>
            <p:spPr>
              <a:xfrm>
                <a:off x="7644826" y="4373843"/>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𝑟</m:t>
                          </m:r>
                        </m:e>
                        <m:sub>
                          <m:r>
                            <m:rPr>
                              <m:sty m:val="p"/>
                            </m:rPr>
                            <a:rPr lang="en-US" altLang="zh-TW" sz="1600" b="0" i="0" dirty="0" smtClean="0">
                              <a:solidFill>
                                <a:schemeClr val="tx1"/>
                              </a:solidFill>
                              <a:latin typeface="Cambria Math" panose="02040503050406030204" pitchFamily="18" charset="0"/>
                            </a:rPr>
                            <m:t>G</m:t>
                          </m:r>
                        </m:sub>
                      </m:sSub>
                    </m:oMath>
                  </m:oMathPara>
                </a14:m>
                <a:endParaRPr/>
              </a:p>
            </p:txBody>
          </p:sp>
        </mc:Choice>
        <mc:Fallback xmlns="">
          <p:sp>
            <p:nvSpPr>
              <p:cNvPr id="21" name="矩形: 圓角 20">
                <a:extLst>
                  <a:ext uri="{FF2B5EF4-FFF2-40B4-BE49-F238E27FC236}">
                    <a16:creationId xmlns:a16="http://schemas.microsoft.com/office/drawing/2014/main" id="{86DC2C5C-6B93-E4E9-8219-47F0EB036414}"/>
                  </a:ext>
                </a:extLst>
              </p:cNvPr>
              <p:cNvSpPr>
                <a:spLocks noRot="1" noChangeAspect="1" noMove="1" noResize="1" noEditPoints="1" noAdjustHandles="1" noChangeArrowheads="1" noChangeShapeType="1" noTextEdit="1"/>
              </p:cNvSpPr>
              <p:nvPr/>
            </p:nvSpPr>
            <p:spPr>
              <a:xfrm>
                <a:off x="7644826" y="4373843"/>
                <a:ext cx="486383" cy="276880"/>
              </a:xfrm>
              <a:prstGeom prst="roundRect">
                <a:avLst/>
              </a:prstGeom>
              <a:blipFill>
                <a:blip r:embed="rId10"/>
                <a:stretch>
                  <a:fillRect b="-6250"/>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22" name="文字方塊 21">
            <a:extLst>
              <a:ext uri="{FF2B5EF4-FFF2-40B4-BE49-F238E27FC236}">
                <a16:creationId xmlns:a16="http://schemas.microsoft.com/office/drawing/2014/main" id="{CE27C06A-1912-03A8-5AE2-3552081466CE}"/>
              </a:ext>
            </a:extLst>
          </p:cNvPr>
          <p:cNvSpPr txBox="1"/>
          <p:nvPr/>
        </p:nvSpPr>
        <p:spPr>
          <a:xfrm>
            <a:off x="5889753" y="2404560"/>
            <a:ext cx="505267" cy="369332"/>
          </a:xfrm>
          <a:prstGeom prst="rect">
            <a:avLst/>
          </a:prstGeom>
          <a:noFill/>
          <a:ln>
            <a:noFill/>
          </a:ln>
        </p:spPr>
        <p:txBody>
          <a:bodyPr wrap="none" rtlCol="0">
            <a:spAutoFit/>
          </a:bodyPr>
          <a:lstStyle/>
          <a:p>
            <a:r>
              <a:rPr lang="en-US" altLang="zh-TW" dirty="0">
                <a:latin typeface="Cambria" panose="02040503050406030204" pitchFamily="18" charset="0"/>
                <a:ea typeface="Cambria" panose="02040503050406030204" pitchFamily="18" charset="0"/>
              </a:rPr>
              <a:t>KL </a:t>
            </a:r>
            <a:endParaRPr lang="zh-TW" altLang="en-US" dirty="0">
              <a:latin typeface="Cambria" panose="02040503050406030204" pitchFamily="18" charset="0"/>
            </a:endParaRPr>
          </a:p>
        </p:txBody>
      </p:sp>
      <p:sp>
        <p:nvSpPr>
          <p:cNvPr id="23" name="矩形: 圓角 22">
            <a:extLst>
              <a:ext uri="{FF2B5EF4-FFF2-40B4-BE49-F238E27FC236}">
                <a16:creationId xmlns:a16="http://schemas.microsoft.com/office/drawing/2014/main" id="{3EC146C7-EA38-8B55-CCF6-60F179C052D9}"/>
              </a:ext>
            </a:extLst>
          </p:cNvPr>
          <p:cNvSpPr/>
          <p:nvPr/>
        </p:nvSpPr>
        <p:spPr>
          <a:xfrm>
            <a:off x="8428533" y="3558681"/>
            <a:ext cx="1405721" cy="528916"/>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dirty="0">
                <a:solidFill>
                  <a:schemeClr val="tx1"/>
                </a:solidFill>
                <a:latin typeface="Cambria" panose="02040503050406030204" pitchFamily="18" charset="0"/>
                <a:ea typeface="Cambria" panose="02040503050406030204" pitchFamily="18" charset="0"/>
              </a:rPr>
              <a:t>Group Computation</a:t>
            </a:r>
            <a:endParaRPr lang="zh-TW" altLang="en-US" sz="1600" dirty="0">
              <a:solidFill>
                <a:schemeClr val="tx1"/>
              </a:solidFill>
              <a:latin typeface="Cambria" panose="02040503050406030204" pitchFamily="18" charset="0"/>
            </a:endParaRPr>
          </a:p>
        </p:txBody>
      </p:sp>
      <p:cxnSp>
        <p:nvCxnSpPr>
          <p:cNvPr id="24" name="直線單箭頭接點 23">
            <a:extLst>
              <a:ext uri="{FF2B5EF4-FFF2-40B4-BE49-F238E27FC236}">
                <a16:creationId xmlns:a16="http://schemas.microsoft.com/office/drawing/2014/main" id="{CA0B4E05-22F7-2490-F306-212E5B8F244D}"/>
              </a:ext>
            </a:extLst>
          </p:cNvPr>
          <p:cNvCxnSpPr>
            <a:cxnSpLocks/>
            <a:stCxn id="16" idx="3"/>
            <a:endCxn id="23" idx="1"/>
          </p:cNvCxnSpPr>
          <p:nvPr/>
        </p:nvCxnSpPr>
        <p:spPr>
          <a:xfrm>
            <a:off x="8183092" y="3821240"/>
            <a:ext cx="245441" cy="18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直線單箭頭接點 24">
            <a:extLst>
              <a:ext uri="{FF2B5EF4-FFF2-40B4-BE49-F238E27FC236}">
                <a16:creationId xmlns:a16="http://schemas.microsoft.com/office/drawing/2014/main" id="{B915B1AE-FC28-2253-44F5-81EE57984C1F}"/>
              </a:ext>
            </a:extLst>
          </p:cNvPr>
          <p:cNvCxnSpPr>
            <a:cxnSpLocks/>
          </p:cNvCxnSpPr>
          <p:nvPr/>
        </p:nvCxnSpPr>
        <p:spPr>
          <a:xfrm>
            <a:off x="9834254" y="3824650"/>
            <a:ext cx="245441" cy="18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矩形: 圓角 25">
            <a:extLst>
              <a:ext uri="{FF2B5EF4-FFF2-40B4-BE49-F238E27FC236}">
                <a16:creationId xmlns:a16="http://schemas.microsoft.com/office/drawing/2014/main" id="{EEF35FD7-2FAC-9541-8395-AB25111B7E2B}"/>
              </a:ext>
            </a:extLst>
          </p:cNvPr>
          <p:cNvSpPr/>
          <p:nvPr/>
        </p:nvSpPr>
        <p:spPr>
          <a:xfrm>
            <a:off x="10079695" y="2867332"/>
            <a:ext cx="609600" cy="1917909"/>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27" name="矩形: 圓角 26">
                <a:extLst>
                  <a:ext uri="{FF2B5EF4-FFF2-40B4-BE49-F238E27FC236}">
                    <a16:creationId xmlns:a16="http://schemas.microsoft.com/office/drawing/2014/main" id="{4223B92F-8178-74C8-BA1D-041F6AC27504}"/>
                  </a:ext>
                </a:extLst>
              </p:cNvPr>
              <p:cNvSpPr/>
              <p:nvPr/>
            </p:nvSpPr>
            <p:spPr>
              <a:xfrm>
                <a:off x="10151031" y="3017790"/>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m:rPr>
                              <m:sty m:val="p"/>
                            </m:rPr>
                            <a:rPr lang="en-US" altLang="zh-TW" sz="1600" b="0" i="0" dirty="0" smtClean="0">
                              <a:solidFill>
                                <a:schemeClr val="tx1"/>
                              </a:solidFill>
                              <a:latin typeface="Cambria Math" panose="02040503050406030204" pitchFamily="18" charset="0"/>
                            </a:rPr>
                            <m:t>A</m:t>
                          </m:r>
                        </m:e>
                        <m:sub>
                          <m:r>
                            <a:rPr lang="en-US" altLang="zh-TW" sz="1600" b="0" i="0" dirty="0" smtClean="0">
                              <a:solidFill>
                                <a:schemeClr val="tx1"/>
                              </a:solidFill>
                              <a:latin typeface="Cambria Math" panose="02040503050406030204" pitchFamily="18" charset="0"/>
                            </a:rPr>
                            <m:t>1</m:t>
                          </m:r>
                        </m:sub>
                      </m:sSub>
                    </m:oMath>
                  </m:oMathPara>
                </a14:m>
                <a:endParaRPr/>
              </a:p>
            </p:txBody>
          </p:sp>
        </mc:Choice>
        <mc:Fallback xmlns="">
          <p:sp>
            <p:nvSpPr>
              <p:cNvPr id="27" name="矩形: 圓角 26">
                <a:extLst>
                  <a:ext uri="{FF2B5EF4-FFF2-40B4-BE49-F238E27FC236}">
                    <a16:creationId xmlns:a16="http://schemas.microsoft.com/office/drawing/2014/main" id="{4223B92F-8178-74C8-BA1D-041F6AC27504}"/>
                  </a:ext>
                </a:extLst>
              </p:cNvPr>
              <p:cNvSpPr>
                <a:spLocks noRot="1" noChangeAspect="1" noMove="1" noResize="1" noEditPoints="1" noAdjustHandles="1" noChangeArrowheads="1" noChangeShapeType="1" noTextEdit="1"/>
              </p:cNvSpPr>
              <p:nvPr/>
            </p:nvSpPr>
            <p:spPr>
              <a:xfrm>
                <a:off x="10151031" y="3017790"/>
                <a:ext cx="486383" cy="276880"/>
              </a:xfrm>
              <a:prstGeom prst="roundRect">
                <a:avLst/>
              </a:prstGeom>
              <a:blipFill>
                <a:blip r:embed="rId11"/>
                <a:stretch>
                  <a:fillRect b="-6383"/>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28" name="文字方塊 27">
            <a:extLst>
              <a:ext uri="{FF2B5EF4-FFF2-40B4-BE49-F238E27FC236}">
                <a16:creationId xmlns:a16="http://schemas.microsoft.com/office/drawing/2014/main" id="{531918C2-998A-6F4C-BBC9-F2C876DA5148}"/>
              </a:ext>
            </a:extLst>
          </p:cNvPr>
          <p:cNvSpPr txBox="1"/>
          <p:nvPr/>
        </p:nvSpPr>
        <p:spPr>
          <a:xfrm>
            <a:off x="10193577" y="3862909"/>
            <a:ext cx="381836" cy="369332"/>
          </a:xfrm>
          <a:prstGeom prst="rect">
            <a:avLst/>
          </a:prstGeom>
          <a:noFill/>
          <a:ln>
            <a:noFill/>
          </a:ln>
        </p:spPr>
        <p:txBody>
          <a:bodyPr wrap="none" rtlCol="0">
            <a:spAutoFit/>
          </a:bodyPr>
          <a:lstStyle/>
          <a:p>
            <a:r>
              <a:rPr lang="en-US" altLang="zh-TW" dirty="0"/>
              <a:t>…</a:t>
            </a:r>
            <a:endParaRPr lang="zh-TW" altLang="en-US" dirty="0"/>
          </a:p>
        </p:txBody>
      </p:sp>
      <mc:AlternateContent xmlns:mc="http://schemas.openxmlformats.org/markup-compatibility/2006" xmlns:a14="http://schemas.microsoft.com/office/drawing/2010/main">
        <mc:Choice Requires="a14">
          <p:sp>
            <p:nvSpPr>
              <p:cNvPr id="29" name="矩形: 圓角 28">
                <a:extLst>
                  <a:ext uri="{FF2B5EF4-FFF2-40B4-BE49-F238E27FC236}">
                    <a16:creationId xmlns:a16="http://schemas.microsoft.com/office/drawing/2014/main" id="{B441F5A6-87D4-BE18-09CB-B8583396D9B9}"/>
                  </a:ext>
                </a:extLst>
              </p:cNvPr>
              <p:cNvSpPr/>
              <p:nvPr/>
            </p:nvSpPr>
            <p:spPr>
              <a:xfrm>
                <a:off x="10151030" y="3456534"/>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m:rPr>
                              <m:sty m:val="p"/>
                            </m:rPr>
                            <a:rPr lang="en-US" altLang="zh-TW" sz="1600" b="0" i="1" dirty="0" smtClean="0">
                              <a:solidFill>
                                <a:schemeClr val="tx1"/>
                              </a:solidFill>
                              <a:latin typeface="Cambria Math" panose="02040503050406030204" pitchFamily="18" charset="0"/>
                            </a:rPr>
                            <m:t>A</m:t>
                          </m:r>
                        </m:e>
                        <m:sub>
                          <m:r>
                            <a:rPr lang="en-US" altLang="zh-TW" sz="1600" b="0" i="0" dirty="0" smtClean="0">
                              <a:solidFill>
                                <a:schemeClr val="tx1"/>
                              </a:solidFill>
                              <a:latin typeface="Cambria Math" panose="02040503050406030204" pitchFamily="18" charset="0"/>
                            </a:rPr>
                            <m:t>2</m:t>
                          </m:r>
                        </m:sub>
                      </m:sSub>
                    </m:oMath>
                  </m:oMathPara>
                </a14:m>
                <a:endParaRPr/>
              </a:p>
            </p:txBody>
          </p:sp>
        </mc:Choice>
        <mc:Fallback xmlns="">
          <p:sp>
            <p:nvSpPr>
              <p:cNvPr id="29" name="矩形: 圓角 28">
                <a:extLst>
                  <a:ext uri="{FF2B5EF4-FFF2-40B4-BE49-F238E27FC236}">
                    <a16:creationId xmlns:a16="http://schemas.microsoft.com/office/drawing/2014/main" id="{B441F5A6-87D4-BE18-09CB-B8583396D9B9}"/>
                  </a:ext>
                </a:extLst>
              </p:cNvPr>
              <p:cNvSpPr>
                <a:spLocks noRot="1" noChangeAspect="1" noMove="1" noResize="1" noEditPoints="1" noAdjustHandles="1" noChangeArrowheads="1" noChangeShapeType="1" noTextEdit="1"/>
              </p:cNvSpPr>
              <p:nvPr/>
            </p:nvSpPr>
            <p:spPr>
              <a:xfrm>
                <a:off x="10151030" y="3456534"/>
                <a:ext cx="486383" cy="276880"/>
              </a:xfrm>
              <a:prstGeom prst="roundRect">
                <a:avLst/>
              </a:prstGeom>
              <a:blipFill>
                <a:blip r:embed="rId12"/>
                <a:stretch>
                  <a:fillRect b="-6383"/>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矩形: 圓角 29">
                <a:extLst>
                  <a:ext uri="{FF2B5EF4-FFF2-40B4-BE49-F238E27FC236}">
                    <a16:creationId xmlns:a16="http://schemas.microsoft.com/office/drawing/2014/main" id="{114D9FA2-04DA-7561-1140-B3F19BB7573D}"/>
                  </a:ext>
                </a:extLst>
              </p:cNvPr>
              <p:cNvSpPr/>
              <p:nvPr/>
            </p:nvSpPr>
            <p:spPr>
              <a:xfrm>
                <a:off x="10151029" y="4365242"/>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m:rPr>
                              <m:sty m:val="p"/>
                            </m:rPr>
                            <a:rPr lang="en-US" altLang="zh-TW" sz="1600" b="0" i="1" dirty="0" smtClean="0">
                              <a:solidFill>
                                <a:schemeClr val="tx1"/>
                              </a:solidFill>
                              <a:latin typeface="Cambria Math" panose="02040503050406030204" pitchFamily="18" charset="0"/>
                            </a:rPr>
                            <m:t>A</m:t>
                          </m:r>
                        </m:e>
                        <m:sub>
                          <m:r>
                            <m:rPr>
                              <m:sty m:val="p"/>
                            </m:rPr>
                            <a:rPr lang="en-US" altLang="zh-TW" sz="1600" b="0" i="0" dirty="0" smtClean="0">
                              <a:solidFill>
                                <a:schemeClr val="tx1"/>
                              </a:solidFill>
                              <a:latin typeface="Cambria Math" panose="02040503050406030204" pitchFamily="18" charset="0"/>
                            </a:rPr>
                            <m:t>G</m:t>
                          </m:r>
                        </m:sub>
                      </m:sSub>
                    </m:oMath>
                  </m:oMathPara>
                </a14:m>
                <a:endParaRPr/>
              </a:p>
            </p:txBody>
          </p:sp>
        </mc:Choice>
        <mc:Fallback xmlns="">
          <p:sp>
            <p:nvSpPr>
              <p:cNvPr id="30" name="矩形: 圓角 29">
                <a:extLst>
                  <a:ext uri="{FF2B5EF4-FFF2-40B4-BE49-F238E27FC236}">
                    <a16:creationId xmlns:a16="http://schemas.microsoft.com/office/drawing/2014/main" id="{114D9FA2-04DA-7561-1140-B3F19BB7573D}"/>
                  </a:ext>
                </a:extLst>
              </p:cNvPr>
              <p:cNvSpPr>
                <a:spLocks noRot="1" noChangeAspect="1" noMove="1" noResize="1" noEditPoints="1" noAdjustHandles="1" noChangeArrowheads="1" noChangeShapeType="1" noTextEdit="1"/>
              </p:cNvSpPr>
              <p:nvPr/>
            </p:nvSpPr>
            <p:spPr>
              <a:xfrm>
                <a:off x="10151029" y="4365242"/>
                <a:ext cx="486383" cy="276880"/>
              </a:xfrm>
              <a:prstGeom prst="roundRect">
                <a:avLst/>
              </a:prstGeom>
              <a:blipFill>
                <a:blip r:embed="rId13"/>
                <a:stretch>
                  <a:fillRect b="-4167"/>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cxnSp>
        <p:nvCxnSpPr>
          <p:cNvPr id="31" name="直線單箭頭接點 30">
            <a:extLst>
              <a:ext uri="{FF2B5EF4-FFF2-40B4-BE49-F238E27FC236}">
                <a16:creationId xmlns:a16="http://schemas.microsoft.com/office/drawing/2014/main" id="{F431DD81-E9D5-71CD-735E-3472ED8BB6CA}"/>
              </a:ext>
            </a:extLst>
          </p:cNvPr>
          <p:cNvCxnSpPr>
            <a:cxnSpLocks/>
            <a:stCxn id="16" idx="3"/>
            <a:endCxn id="23" idx="1"/>
          </p:cNvCxnSpPr>
          <p:nvPr/>
        </p:nvCxnSpPr>
        <p:spPr>
          <a:xfrm>
            <a:off x="8183092" y="3821240"/>
            <a:ext cx="245441" cy="18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文字方塊 31">
            <a:extLst>
              <a:ext uri="{FF2B5EF4-FFF2-40B4-BE49-F238E27FC236}">
                <a16:creationId xmlns:a16="http://schemas.microsoft.com/office/drawing/2014/main" id="{6CBBA578-0449-61F5-056D-9528DF2716E8}"/>
              </a:ext>
            </a:extLst>
          </p:cNvPr>
          <p:cNvSpPr txBox="1"/>
          <p:nvPr/>
        </p:nvSpPr>
        <p:spPr>
          <a:xfrm>
            <a:off x="6123052" y="3429093"/>
            <a:ext cx="65" cy="276999"/>
          </a:xfrm>
          <a:prstGeom prst="rect">
            <a:avLst/>
          </a:prstGeom>
          <a:noFill/>
        </p:spPr>
        <p:txBody>
          <a:bodyPr wrap="none" lIns="0" tIns="0" rIns="0" bIns="0" rtlCol="0">
            <a:spAutoFit/>
          </a:bodyPr>
          <a:lstStyle/>
          <a:p>
            <a:endParaRPr lang="zh-TW" altLang="en-US" dirty="0"/>
          </a:p>
        </p:txBody>
      </p:sp>
      <p:cxnSp>
        <p:nvCxnSpPr>
          <p:cNvPr id="33" name="直線單箭頭接點 32">
            <a:extLst>
              <a:ext uri="{FF2B5EF4-FFF2-40B4-BE49-F238E27FC236}">
                <a16:creationId xmlns:a16="http://schemas.microsoft.com/office/drawing/2014/main" id="{9BD36BAA-94C5-92E7-A6ED-39BF40231AE6}"/>
              </a:ext>
            </a:extLst>
          </p:cNvPr>
          <p:cNvCxnSpPr>
            <a:cxnSpLocks/>
            <a:stCxn id="23" idx="3"/>
            <a:endCxn id="26" idx="1"/>
          </p:cNvCxnSpPr>
          <p:nvPr/>
        </p:nvCxnSpPr>
        <p:spPr>
          <a:xfrm>
            <a:off x="9834254" y="3823139"/>
            <a:ext cx="245441" cy="31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接點: 弧形 33">
            <a:extLst>
              <a:ext uri="{FF2B5EF4-FFF2-40B4-BE49-F238E27FC236}">
                <a16:creationId xmlns:a16="http://schemas.microsoft.com/office/drawing/2014/main" id="{9DBA8509-D768-60C1-5C86-2CAE5FB6C1D6}"/>
              </a:ext>
            </a:extLst>
          </p:cNvPr>
          <p:cNvCxnSpPr>
            <a:cxnSpLocks/>
            <a:stCxn id="26" idx="3"/>
            <a:endCxn id="4" idx="0"/>
          </p:cNvCxnSpPr>
          <p:nvPr/>
        </p:nvCxnSpPr>
        <p:spPr>
          <a:xfrm flipH="1" flipV="1">
            <a:off x="3591901" y="3495889"/>
            <a:ext cx="7097394" cy="330398"/>
          </a:xfrm>
          <a:prstGeom prst="curvedConnector4">
            <a:avLst>
              <a:gd name="adj1" fmla="val -3221"/>
              <a:gd name="adj2" fmla="val 508137"/>
            </a:avLst>
          </a:prstGeom>
          <a:ln>
            <a:tailEnd type="triangle"/>
          </a:ln>
        </p:spPr>
        <p:style>
          <a:lnRef idx="2">
            <a:schemeClr val="dk1"/>
          </a:lnRef>
          <a:fillRef idx="0">
            <a:schemeClr val="dk1"/>
          </a:fillRef>
          <a:effectRef idx="1">
            <a:schemeClr val="dk1"/>
          </a:effectRef>
          <a:fontRef idx="minor">
            <a:schemeClr val="tx1"/>
          </a:fontRef>
        </p:style>
      </p:cxnSp>
      <p:sp>
        <p:nvSpPr>
          <p:cNvPr id="35" name="文字方塊 34">
            <a:extLst>
              <a:ext uri="{FF2B5EF4-FFF2-40B4-BE49-F238E27FC236}">
                <a16:creationId xmlns:a16="http://schemas.microsoft.com/office/drawing/2014/main" id="{F7F7FD39-00B6-D27C-C76A-670570627880}"/>
              </a:ext>
            </a:extLst>
          </p:cNvPr>
          <p:cNvSpPr txBox="1"/>
          <p:nvPr/>
        </p:nvSpPr>
        <p:spPr>
          <a:xfrm>
            <a:off x="9823030" y="2128248"/>
            <a:ext cx="1271374" cy="369332"/>
          </a:xfrm>
          <a:prstGeom prst="rect">
            <a:avLst/>
          </a:prstGeom>
          <a:noFill/>
          <a:ln>
            <a:noFill/>
          </a:ln>
        </p:spPr>
        <p:txBody>
          <a:bodyPr wrap="none" rtlCol="0">
            <a:spAutoFit/>
          </a:bodyPr>
          <a:lstStyle/>
          <a:p>
            <a:r>
              <a:rPr lang="en-US" altLang="zh-TW" dirty="0">
                <a:latin typeface="Cambria" panose="02040503050406030204" pitchFamily="18" charset="0"/>
                <a:ea typeface="Cambria" panose="02040503050406030204" pitchFamily="18" charset="0"/>
              </a:rPr>
              <a:t>Advantage </a:t>
            </a:r>
            <a:endParaRPr lang="zh-TW" altLang="en-US" dirty="0">
              <a:latin typeface="Cambria" panose="02040503050406030204" pitchFamily="18" charset="0"/>
            </a:endParaRPr>
          </a:p>
        </p:txBody>
      </p:sp>
    </p:spTree>
    <p:extLst>
      <p:ext uri="{BB962C8B-B14F-4D97-AF65-F5344CB8AC3E}">
        <p14:creationId xmlns:p14="http://schemas.microsoft.com/office/powerpoint/2010/main" val="2983571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0DA274AB-3870-9619-2E92-3259030B5CFB}"/>
            </a:ext>
          </a:extLst>
        </p:cNvPr>
        <p:cNvGrpSpPr/>
        <p:nvPr/>
      </p:nvGrpSpPr>
      <p:grpSpPr>
        <a:xfrm>
          <a:off x="0" y="0"/>
          <a:ext cx="0" cy="0"/>
          <a:chOff x="0" y="0"/>
          <a:chExt cx="0" cy="0"/>
        </a:xfrm>
      </p:grpSpPr>
      <p:sp>
        <p:nvSpPr>
          <p:cNvPr id="191" name="Google Shape;191;p25">
            <a:extLst>
              <a:ext uri="{FF2B5EF4-FFF2-40B4-BE49-F238E27FC236}">
                <a16:creationId xmlns:a16="http://schemas.microsoft.com/office/drawing/2014/main" id="{A1200956-710F-1ACA-7C57-E2350341462B}"/>
              </a:ext>
            </a:extLst>
          </p:cNvPr>
          <p:cNvSpPr txBox="1">
            <a:spLocks noGrp="1"/>
          </p:cNvSpPr>
          <p:nvPr>
            <p:ph type="ctrTitle"/>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lgn="l">
              <a:spcBef>
                <a:spcPts val="0"/>
              </a:spcBef>
              <a:buSzPts val="2700"/>
            </a:pPr>
            <a:r>
              <a:rPr lang="en-US" altLang="zh-TW" sz="4000" dirty="0">
                <a:latin typeface="Times New Roman"/>
                <a:ea typeface="Times New Roman"/>
                <a:cs typeface="Times New Roman"/>
                <a:sym typeface="Times New Roman"/>
              </a:rPr>
              <a:t>Related Works on Adaptive Honeypot </a:t>
            </a:r>
            <a:endParaRPr sz="4000" dirty="0">
              <a:latin typeface="Times New Roman"/>
              <a:ea typeface="Times New Roman"/>
              <a:cs typeface="Times New Roman"/>
              <a:sym typeface="Times New Roman"/>
            </a:endParaRPr>
          </a:p>
        </p:txBody>
      </p:sp>
      <p:sp>
        <p:nvSpPr>
          <p:cNvPr id="192" name="Google Shape;192;p25">
            <a:extLst>
              <a:ext uri="{FF2B5EF4-FFF2-40B4-BE49-F238E27FC236}">
                <a16:creationId xmlns:a16="http://schemas.microsoft.com/office/drawing/2014/main" id="{EA8E1196-4A21-DDB1-5792-68EFD7196652}"/>
              </a:ext>
            </a:extLst>
          </p:cNvPr>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9</a:t>
            </a:fld>
            <a:endParaRPr dirty="0"/>
          </a:p>
        </p:txBody>
      </p:sp>
      <p:graphicFrame>
        <p:nvGraphicFramePr>
          <p:cNvPr id="2" name="表格 1">
            <a:extLst>
              <a:ext uri="{FF2B5EF4-FFF2-40B4-BE49-F238E27FC236}">
                <a16:creationId xmlns:a16="http://schemas.microsoft.com/office/drawing/2014/main" id="{29DD5A01-4C68-66D3-5EC4-CB969EC541DB}"/>
              </a:ext>
            </a:extLst>
          </p:cNvPr>
          <p:cNvGraphicFramePr>
            <a:graphicFrameLocks noGrp="1"/>
          </p:cNvGraphicFramePr>
          <p:nvPr>
            <p:extLst>
              <p:ext uri="{D42A27DB-BD31-4B8C-83A1-F6EECF244321}">
                <p14:modId xmlns:p14="http://schemas.microsoft.com/office/powerpoint/2010/main" val="1472353426"/>
              </p:ext>
            </p:extLst>
          </p:nvPr>
        </p:nvGraphicFramePr>
        <p:xfrm>
          <a:off x="1619018" y="1279305"/>
          <a:ext cx="9498924" cy="4938318"/>
        </p:xfrm>
        <a:graphic>
          <a:graphicData uri="http://schemas.openxmlformats.org/drawingml/2006/table">
            <a:tbl>
              <a:tblPr firstRow="1" bandRow="1">
                <a:tableStyleId>{5C22544A-7EE6-4342-B048-85BDC9FD1C3A}</a:tableStyleId>
              </a:tblPr>
              <a:tblGrid>
                <a:gridCol w="885059">
                  <a:extLst>
                    <a:ext uri="{9D8B030D-6E8A-4147-A177-3AD203B41FA5}">
                      <a16:colId xmlns:a16="http://schemas.microsoft.com/office/drawing/2014/main" val="3356152119"/>
                    </a:ext>
                  </a:extLst>
                </a:gridCol>
                <a:gridCol w="1267420">
                  <a:extLst>
                    <a:ext uri="{9D8B030D-6E8A-4147-A177-3AD203B41FA5}">
                      <a16:colId xmlns:a16="http://schemas.microsoft.com/office/drawing/2014/main" val="1663258034"/>
                    </a:ext>
                  </a:extLst>
                </a:gridCol>
                <a:gridCol w="954527">
                  <a:extLst>
                    <a:ext uri="{9D8B030D-6E8A-4147-A177-3AD203B41FA5}">
                      <a16:colId xmlns:a16="http://schemas.microsoft.com/office/drawing/2014/main" val="3793079653"/>
                    </a:ext>
                  </a:extLst>
                </a:gridCol>
                <a:gridCol w="870857">
                  <a:extLst>
                    <a:ext uri="{9D8B030D-6E8A-4147-A177-3AD203B41FA5}">
                      <a16:colId xmlns:a16="http://schemas.microsoft.com/office/drawing/2014/main" val="3529355171"/>
                    </a:ext>
                  </a:extLst>
                </a:gridCol>
                <a:gridCol w="1045029">
                  <a:extLst>
                    <a:ext uri="{9D8B030D-6E8A-4147-A177-3AD203B41FA5}">
                      <a16:colId xmlns:a16="http://schemas.microsoft.com/office/drawing/2014/main" val="2944954830"/>
                    </a:ext>
                  </a:extLst>
                </a:gridCol>
                <a:gridCol w="957943">
                  <a:extLst>
                    <a:ext uri="{9D8B030D-6E8A-4147-A177-3AD203B41FA5}">
                      <a16:colId xmlns:a16="http://schemas.microsoft.com/office/drawing/2014/main" val="1589643768"/>
                    </a:ext>
                  </a:extLst>
                </a:gridCol>
                <a:gridCol w="1175657">
                  <a:extLst>
                    <a:ext uri="{9D8B030D-6E8A-4147-A177-3AD203B41FA5}">
                      <a16:colId xmlns:a16="http://schemas.microsoft.com/office/drawing/2014/main" val="1348441429"/>
                    </a:ext>
                  </a:extLst>
                </a:gridCol>
                <a:gridCol w="928914">
                  <a:extLst>
                    <a:ext uri="{9D8B030D-6E8A-4147-A177-3AD203B41FA5}">
                      <a16:colId xmlns:a16="http://schemas.microsoft.com/office/drawing/2014/main" val="1127663687"/>
                    </a:ext>
                  </a:extLst>
                </a:gridCol>
                <a:gridCol w="725714">
                  <a:extLst>
                    <a:ext uri="{9D8B030D-6E8A-4147-A177-3AD203B41FA5}">
                      <a16:colId xmlns:a16="http://schemas.microsoft.com/office/drawing/2014/main" val="437314737"/>
                    </a:ext>
                  </a:extLst>
                </a:gridCol>
                <a:gridCol w="687804">
                  <a:extLst>
                    <a:ext uri="{9D8B030D-6E8A-4147-A177-3AD203B41FA5}">
                      <a16:colId xmlns:a16="http://schemas.microsoft.com/office/drawing/2014/main" val="1731498174"/>
                    </a:ext>
                  </a:extLst>
                </a:gridCol>
              </a:tblGrid>
              <a:tr h="324186">
                <a:tc rowSpan="3">
                  <a:txBody>
                    <a:bodyPr/>
                    <a:lstStyle/>
                    <a:p>
                      <a:pPr algn="ctr"/>
                      <a:r>
                        <a:rPr lang="en-US" altLang="zh-TW" sz="1400" b="1">
                          <a:solidFill>
                            <a:schemeClr val="tx1"/>
                          </a:solidFill>
                          <a:latin typeface="Times New Roman" panose="02020603050405020304" pitchFamily="18" charset="0"/>
                          <a:cs typeface="Times New Roman" panose="02020603050405020304" pitchFamily="18" charset="0"/>
                        </a:rPr>
                        <a:t>Category</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lang="en-US" altLang="zh-TW" sz="1400" b="1">
                          <a:solidFill>
                            <a:schemeClr val="tx1"/>
                          </a:solidFill>
                          <a:latin typeface="Times New Roman" panose="02020603050405020304" pitchFamily="18" charset="0"/>
                          <a:cs typeface="Times New Roman" panose="02020603050405020304" pitchFamily="18" charset="0"/>
                        </a:rPr>
                        <a:t>Paper</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r>
                        <a:rPr lang="en-US" altLang="zh-TW" sz="1400" b="1">
                          <a:solidFill>
                            <a:schemeClr val="tx1"/>
                          </a:solidFill>
                          <a:latin typeface="Times New Roman" panose="02020603050405020304" pitchFamily="18" charset="0"/>
                          <a:cs typeface="Times New Roman" panose="02020603050405020304" pitchFamily="18" charset="0"/>
                        </a:rPr>
                        <a:t>RL Setup</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tc>
                <a:tc rowSpan="3">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Modified Target</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lang="en-US" altLang="zh-TW" sz="1400" b="1">
                          <a:solidFill>
                            <a:schemeClr val="tx1"/>
                          </a:solidFill>
                          <a:latin typeface="Times New Roman" panose="02020603050405020304" pitchFamily="18" charset="0"/>
                          <a:cs typeface="Times New Roman" panose="02020603050405020304" pitchFamily="18" charset="0"/>
                        </a:rPr>
                        <a:t>Detection Method</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Real System</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lang="en-US" altLang="zh-TW" sz="1400" b="1">
                          <a:solidFill>
                            <a:schemeClr val="tx1"/>
                          </a:solidFill>
                          <a:latin typeface="Times New Roman" panose="02020603050405020304" pitchFamily="18" charset="0"/>
                          <a:cs typeface="Times New Roman" panose="02020603050405020304" pitchFamily="18" charset="0"/>
                        </a:rPr>
                        <a:t>Intent Aware</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6618642"/>
                  </a:ext>
                </a:extLst>
              </a:tr>
              <a:tr h="324186">
                <a:tc vMerge="1">
                  <a:txBody>
                    <a:bodyPr/>
                    <a:lstStyle/>
                    <a:p>
                      <a:pPr algn="ctr"/>
                      <a:r>
                        <a:rPr lang="en-US" altLang="zh-TW" dirty="0">
                          <a:solidFill>
                            <a:schemeClr val="tx1"/>
                          </a:solidFill>
                        </a:rPr>
                        <a:t>Medium interaction Honeypot</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altLang="zh-TW"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State</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Action</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altLang="zh-TW" sz="1400" b="1">
                          <a:solidFill>
                            <a:schemeClr val="tx1"/>
                          </a:solidFill>
                          <a:latin typeface="Times New Roman" panose="02020603050405020304" pitchFamily="18" charset="0"/>
                          <a:cs typeface="Times New Roman" panose="02020603050405020304" pitchFamily="18" charset="0"/>
                        </a:rPr>
                        <a:t>Reward</a:t>
                      </a:r>
                      <a:endParaRPr lang="zh-TW" altLang="en-US" sz="1400" b="1"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a:p>
                  </a:txBody>
                  <a:tcPr/>
                </a:tc>
                <a:tc vMerge="1">
                  <a:txBody>
                    <a:bodyPr/>
                    <a:lstStyle/>
                    <a:p>
                      <a:endParaRPr lang="zh-TW" altLang="en-US"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vMerge="1">
                  <a:txBody>
                    <a:bodyPr/>
                    <a:lstStyle/>
                    <a:p>
                      <a:pPr algn="ctr"/>
                      <a:endParaRPr lang="zh-TW" altLang="en-US" sz="140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29380287"/>
                  </a:ext>
                </a:extLst>
              </a:tr>
              <a:tr h="551116">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Engagement Depth</a:t>
                      </a:r>
                      <a:endParaRPr lang="zh-TW" altLang="en-US"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Technique Diversity</a:t>
                      </a:r>
                      <a:endParaRPr lang="zh-TW" altLang="en-US"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TW" altLang="en-US" sz="140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2377525165"/>
                  </a:ext>
                </a:extLst>
              </a:tr>
              <a:tr h="5705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latin typeface="Times New Roman" panose="02020603050405020304" pitchFamily="18" charset="0"/>
                          <a:cs typeface="Times New Roman" panose="02020603050405020304" pitchFamily="18" charset="0"/>
                        </a:rPr>
                        <a:t>LLM Honeypot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solidFill>
                            <a:schemeClr val="tx1"/>
                          </a:solidFill>
                          <a:latin typeface="Times New Roman" panose="02020603050405020304" pitchFamily="18" charset="0"/>
                          <a:cs typeface="Times New Roman" panose="02020603050405020304" pitchFamily="18" charset="0"/>
                        </a:rPr>
                        <a:t>HoneyGPT[2]</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No RL</a:t>
                      </a:r>
                      <a:r>
                        <a:rPr lang="zh-TW" altLang="en-US" sz="1400">
                          <a:solidFill>
                            <a:schemeClr val="tx1"/>
                          </a:solidFill>
                          <a:latin typeface="Times New Roman" panose="02020603050405020304" pitchFamily="18" charset="0"/>
                          <a:cs typeface="Times New Roman" panose="02020603050405020304" pitchFamily="18" charset="0"/>
                        </a:rPr>
                        <a:t> </a:t>
                      </a:r>
                      <a:r>
                        <a:rPr lang="en-US" altLang="zh-TW" sz="1400">
                          <a:solidFill>
                            <a:schemeClr val="tx1"/>
                          </a:solidFill>
                          <a:latin typeface="Times New Roman" panose="02020603050405020304" pitchFamily="18" charset="0"/>
                          <a:cs typeface="Times New Roman" panose="02020603050405020304" pitchFamily="18" charset="0"/>
                        </a:rPr>
                        <a:t>(Prompt-based)</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zh-TW" altLang="en-US"/>
                    </a:p>
                  </a:txBody>
                  <a:tcPr/>
                </a:tc>
                <a:tc hMerge="1">
                  <a:txBody>
                    <a:bodyPr/>
                    <a:lstStyle/>
                    <a:p>
                      <a:endParaRPr lang="zh-TW" altLang="en-US"/>
                    </a:p>
                  </a:txBody>
                  <a:tcPr/>
                </a:tc>
                <a:tc>
                  <a:txBody>
                    <a:bodyPr/>
                    <a:lstStyle/>
                    <a:p>
                      <a:pPr algn="ctr"/>
                      <a:r>
                        <a:rPr lang="en-US" altLang="zh-TW" sz="1400" dirty="0">
                          <a:latin typeface="Times New Roman" panose="02020603050405020304" pitchFamily="18" charset="0"/>
                          <a:cs typeface="Times New Roman" panose="02020603050405020304" pitchFamily="18" charset="0"/>
                        </a:rPr>
                        <a:t>Response</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LLM</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latin typeface="Times New Roman" panose="02020603050405020304" pitchFamily="18" charset="0"/>
                          <a:cs typeface="Times New Roman" panose="02020603050405020304" pitchFamily="18" charset="0"/>
                        </a:rPr>
                        <a:t>v</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2236518"/>
                  </a:ext>
                </a:extLst>
              </a:tr>
              <a:tr h="689159">
                <a:tc>
                  <a:txBody>
                    <a:bodyPr/>
                    <a:lstStyle/>
                    <a:p>
                      <a:pPr algn="ctr"/>
                      <a:r>
                        <a:rPr lang="en-US" altLang="zh-TW" sz="1400">
                          <a:latin typeface="Times New Roman" panose="02020603050405020304" pitchFamily="18" charset="0"/>
                          <a:cs typeface="Times New Roman" panose="02020603050405020304" pitchFamily="18" charset="0"/>
                        </a:rPr>
                        <a:t>Policy-as-Strategist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solidFill>
                            <a:schemeClr val="tx1"/>
                          </a:solidFill>
                          <a:latin typeface="Times New Roman" panose="02020603050405020304" pitchFamily="18" charset="0"/>
                          <a:cs typeface="Times New Roman" panose="02020603050405020304" pitchFamily="18" charset="0"/>
                        </a:rPr>
                        <a:t>Chris Huang[7]</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Technique</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MITRE Engage </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v</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latin typeface="Times New Roman" panose="02020603050405020304" pitchFamily="18" charset="0"/>
                          <a:cs typeface="Times New Roman" panose="02020603050405020304" pitchFamily="18" charset="0"/>
                        </a:rPr>
                        <a:t>Response</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latin typeface="Times New Roman" panose="02020603050405020304" pitchFamily="18" charset="0"/>
                          <a:cs typeface="Times New Roman" panose="02020603050405020304" pitchFamily="18" charset="0"/>
                        </a:rPr>
                        <a:t>LLM</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536581"/>
                  </a:ext>
                </a:extLst>
              </a:tr>
              <a:tr h="887769">
                <a:tc rowSpan="3">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Policy-as-Executor</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solidFill>
                            <a:schemeClr val="tx1"/>
                          </a:solidFill>
                          <a:latin typeface="Times New Roman" panose="02020603050405020304" pitchFamily="18" charset="0"/>
                          <a:cs typeface="Times New Roman" panose="02020603050405020304" pitchFamily="18" charset="0"/>
                        </a:rPr>
                        <a:t>QRASSH[3]</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Command</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ABSI</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altLang="zh-TW" sz="1400" b="0">
                          <a:solidFill>
                            <a:schemeClr val="tx1"/>
                          </a:solidFill>
                          <a:latin typeface="Times New Roman" panose="02020603050405020304" pitchFamily="18" charset="0"/>
                          <a:cs typeface="Times New Roman" panose="02020603050405020304" pitchFamily="18" charset="0"/>
                        </a:rPr>
                        <a:t>Command Type</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a:p>
                  </a:txBody>
                  <a:tcPr/>
                </a:tc>
                <a:tc>
                  <a:txBody>
                    <a:bodyPr/>
                    <a:lstStyle/>
                    <a:p>
                      <a:pPr algn="ctr"/>
                      <a:r>
                        <a:rPr lang="en-US" sz="1400" dirty="0">
                          <a:latin typeface="Times New Roman" panose="02020603050405020304" pitchFamily="18" charset="0"/>
                          <a:cs typeface="Times New Roman" panose="02020603050405020304" pitchFamily="18" charset="0"/>
                        </a:rPr>
                        <a:t>Response</a:t>
                      </a:r>
                      <a:endParaRPr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latin typeface="Times New Roman" panose="02020603050405020304" pitchFamily="18" charset="0"/>
                          <a:cs typeface="Times New Roman" panose="02020603050405020304" pitchFamily="18" charset="0"/>
                        </a:rPr>
                        <a:t>DNN</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4566837"/>
                  </a:ext>
                </a:extLst>
              </a:tr>
              <a:tr h="555049">
                <a:tc vMerge="1">
                  <a:txBody>
                    <a:bodyPr/>
                    <a:lstStyle/>
                    <a:p>
                      <a:pPr algn="ct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Chun Yu[8]</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Technique</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latin typeface="Times New Roman" panose="02020603050405020304" pitchFamily="18" charset="0"/>
                          <a:cs typeface="Times New Roman" panose="02020603050405020304" pitchFamily="18" charset="0"/>
                        </a:rPr>
                        <a:t>MITRE Engage</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v</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a:solidFill>
                            <a:schemeClr val="tx1"/>
                          </a:solidFill>
                          <a:latin typeface="Times New Roman" panose="02020603050405020304" pitchFamily="18" charset="0"/>
                          <a:cs typeface="Times New Roman" panose="02020603050405020304" pitchFamily="18" charset="0"/>
                        </a:rPr>
                        <a:t>-</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Response</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0">
                          <a:solidFill>
                            <a:schemeClr val="tx1"/>
                          </a:solidFill>
                          <a:latin typeface="Times New Roman" panose="02020603050405020304" pitchFamily="18" charset="0"/>
                          <a:cs typeface="Times New Roman" panose="02020603050405020304" pitchFamily="18" charset="0"/>
                        </a:rPr>
                        <a:t>LLM</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latin typeface="Times New Roman" panose="02020603050405020304" pitchFamily="18" charset="0"/>
                          <a:cs typeface="Times New Roman" panose="02020603050405020304" pitchFamily="18" charset="0"/>
                        </a:rPr>
                        <a:t>v</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2187622"/>
                  </a:ext>
                </a:extLst>
              </a:tr>
              <a:tr h="486840">
                <a:tc vMerge="1">
                  <a:txBody>
                    <a:bodyPr/>
                    <a:lstStyle/>
                    <a:p>
                      <a:endParaRPr lang="zh-TW" altLang="en-US"/>
                    </a:p>
                  </a:txBody>
                  <a:tcPr>
                    <a:lnT w="12700" cap="flat" cmpd="sng" algn="ctr">
                      <a:solidFill>
                        <a:schemeClr val="tx1"/>
                      </a:solidFill>
                      <a:prstDash val="solid"/>
                      <a:round/>
                      <a:headEnd type="none" w="med" len="med"/>
                      <a:tailEnd type="none" w="med" len="med"/>
                    </a:lnT>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Rasul[9]</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Tactic</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MITRE Engage</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1">
                          <a:solidFill>
                            <a:schemeClr val="tx1"/>
                          </a:solidFill>
                          <a:latin typeface="Times New Roman" panose="02020603050405020304" pitchFamily="18" charset="0"/>
                          <a:cs typeface="Times New Roman" panose="02020603050405020304" pitchFamily="18" charset="0"/>
                        </a:rPr>
                        <a:t>v</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a:solidFill>
                            <a:schemeClr val="tx1"/>
                          </a:solidFill>
                          <a:latin typeface="Times New Roman" panose="02020603050405020304" pitchFamily="18" charset="0"/>
                          <a:cs typeface="Times New Roman" panose="02020603050405020304" pitchFamily="18" charset="0"/>
                        </a:rPr>
                        <a:t>-</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Response</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a:solidFill>
                            <a:schemeClr val="tx1"/>
                          </a:solidFill>
                          <a:latin typeface="Times New Roman" panose="02020603050405020304" pitchFamily="18" charset="0"/>
                          <a:cs typeface="Times New Roman" panose="02020603050405020304" pitchFamily="18" charset="0"/>
                        </a:rPr>
                        <a:t>LLM</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latin typeface="Times New Roman" panose="02020603050405020304" pitchFamily="18" charset="0"/>
                          <a:cs typeface="Times New Roman" panose="02020603050405020304" pitchFamily="18" charset="0"/>
                        </a:rPr>
                        <a:t>v</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6012530"/>
                  </a:ext>
                </a:extLst>
              </a:tr>
              <a:tr h="0">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Unified RL-LLM</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Ours</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a:solidFill>
                            <a:schemeClr val="tx1"/>
                          </a:solidFill>
                          <a:latin typeface="Times New Roman" panose="02020603050405020304" pitchFamily="18" charset="0"/>
                          <a:cs typeface="Times New Roman" panose="02020603050405020304" pitchFamily="18" charset="0"/>
                        </a:rPr>
                        <a:t>Command sequence</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latin typeface="Times New Roman" panose="02020603050405020304" pitchFamily="18" charset="0"/>
                          <a:cs typeface="Times New Roman" panose="02020603050405020304" pitchFamily="18" charset="0"/>
                        </a:rPr>
                        <a:t>MITRE Engage</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v</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v</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System Configuration</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LLM</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a:solidFill>
                            <a:schemeClr val="tx1"/>
                          </a:solidFill>
                          <a:latin typeface="Times New Roman" panose="02020603050405020304" pitchFamily="18" charset="0"/>
                          <a:cs typeface="Times New Roman" panose="02020603050405020304" pitchFamily="18" charset="0"/>
                        </a:rPr>
                        <a:t>v</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latin typeface="Times New Roman" panose="02020603050405020304" pitchFamily="18" charset="0"/>
                          <a:cs typeface="Times New Roman" panose="02020603050405020304" pitchFamily="18" charset="0"/>
                        </a:rPr>
                        <a:t>v</a:t>
                      </a:r>
                      <a:endParaRPr lang="zh-TW" altLang="en-US" sz="1400" b="0"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647286"/>
                  </a:ext>
                </a:extLst>
              </a:tr>
            </a:tbl>
          </a:graphicData>
        </a:graphic>
      </p:graphicFrame>
    </p:spTree>
    <p:extLst>
      <p:ext uri="{BB962C8B-B14F-4D97-AF65-F5344CB8AC3E}">
        <p14:creationId xmlns:p14="http://schemas.microsoft.com/office/powerpoint/2010/main" val="4082320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190">
          <a:extLst>
            <a:ext uri="{FF2B5EF4-FFF2-40B4-BE49-F238E27FC236}">
              <a16:creationId xmlns:a16="http://schemas.microsoft.com/office/drawing/2014/main" id="{24512560-2E55-B47C-A18F-B4F63FB9095B}"/>
            </a:ext>
          </a:extLst>
        </p:cNvPr>
        <p:cNvGrpSpPr/>
        <p:nvPr/>
      </p:nvGrpSpPr>
      <p:grpSpPr>
        <a:xfrm>
          <a:off x="0" y="0"/>
          <a:ext cx="0" cy="0"/>
          <a:chOff x="0" y="0"/>
          <a:chExt cx="0" cy="0"/>
        </a:xfrm>
      </p:grpSpPr>
      <p:sp>
        <p:nvSpPr>
          <p:cNvPr id="191" name="Google Shape;191;p25">
            <a:extLst>
              <a:ext uri="{FF2B5EF4-FFF2-40B4-BE49-F238E27FC236}">
                <a16:creationId xmlns:a16="http://schemas.microsoft.com/office/drawing/2014/main" id="{96F29776-4661-8FB9-C52C-E4D7E6DB2C51}"/>
              </a:ext>
            </a:extLst>
          </p:cNvPr>
          <p:cNvSpPr txBox="1">
            <a:spLocks noGrp="1"/>
          </p:cNvSpPr>
          <p:nvPr>
            <p:ph type="ctrTitle"/>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lgn="l">
              <a:spcBef>
                <a:spcPts val="0"/>
              </a:spcBef>
              <a:buSzPts val="2700"/>
            </a:pPr>
            <a:r>
              <a:rPr lang="en-US" altLang="zh-TW" sz="4000" dirty="0">
                <a:latin typeface="Times New Roman"/>
                <a:ea typeface="Times New Roman"/>
                <a:cs typeface="Times New Roman"/>
                <a:sym typeface="Times New Roman"/>
              </a:rPr>
              <a:t>Related Works on Dynamic Honeypot </a:t>
            </a:r>
            <a:endParaRPr sz="4000" dirty="0">
              <a:latin typeface="Times New Roman"/>
              <a:ea typeface="Times New Roman"/>
              <a:cs typeface="Times New Roman"/>
              <a:sym typeface="Times New Roman"/>
            </a:endParaRPr>
          </a:p>
        </p:txBody>
      </p:sp>
      <p:sp>
        <p:nvSpPr>
          <p:cNvPr id="192" name="Google Shape;192;p25">
            <a:extLst>
              <a:ext uri="{FF2B5EF4-FFF2-40B4-BE49-F238E27FC236}">
                <a16:creationId xmlns:a16="http://schemas.microsoft.com/office/drawing/2014/main" id="{BB99EC9D-BA3C-B677-F4DC-F7A96591C2FD}"/>
              </a:ext>
            </a:extLst>
          </p:cNvPr>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10</a:t>
            </a:fld>
            <a:endParaRPr dirty="0"/>
          </a:p>
        </p:txBody>
      </p:sp>
      <p:graphicFrame>
        <p:nvGraphicFramePr>
          <p:cNvPr id="193" name="Google Shape;193;p25">
            <a:extLst>
              <a:ext uri="{FF2B5EF4-FFF2-40B4-BE49-F238E27FC236}">
                <a16:creationId xmlns:a16="http://schemas.microsoft.com/office/drawing/2014/main" id="{30993BE5-4D27-C04C-4701-8B013E5A42C3}"/>
              </a:ext>
            </a:extLst>
          </p:cNvPr>
          <p:cNvGraphicFramePr/>
          <p:nvPr>
            <p:extLst>
              <p:ext uri="{D42A27DB-BD31-4B8C-83A1-F6EECF244321}">
                <p14:modId xmlns:p14="http://schemas.microsoft.com/office/powerpoint/2010/main" val="326263391"/>
              </p:ext>
            </p:extLst>
          </p:nvPr>
        </p:nvGraphicFramePr>
        <p:xfrm>
          <a:off x="251459" y="1007447"/>
          <a:ext cx="11424607" cy="5374858"/>
        </p:xfrm>
        <a:graphic>
          <a:graphicData uri="http://schemas.openxmlformats.org/drawingml/2006/table">
            <a:tbl>
              <a:tblPr>
                <a:noFill/>
              </a:tblPr>
              <a:tblGrid>
                <a:gridCol w="922021">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960120">
                  <a:extLst>
                    <a:ext uri="{9D8B030D-6E8A-4147-A177-3AD203B41FA5}">
                      <a16:colId xmlns:a16="http://schemas.microsoft.com/office/drawing/2014/main" val="1775458825"/>
                    </a:ext>
                  </a:extLst>
                </a:gridCol>
                <a:gridCol w="1143778">
                  <a:extLst>
                    <a:ext uri="{9D8B030D-6E8A-4147-A177-3AD203B41FA5}">
                      <a16:colId xmlns:a16="http://schemas.microsoft.com/office/drawing/2014/main" val="20002"/>
                    </a:ext>
                  </a:extLst>
                </a:gridCol>
                <a:gridCol w="1568942">
                  <a:extLst>
                    <a:ext uri="{9D8B030D-6E8A-4147-A177-3AD203B41FA5}">
                      <a16:colId xmlns:a16="http://schemas.microsoft.com/office/drawing/2014/main" val="4181626215"/>
                    </a:ext>
                  </a:extLst>
                </a:gridCol>
                <a:gridCol w="1268730">
                  <a:extLst>
                    <a:ext uri="{9D8B030D-6E8A-4147-A177-3AD203B41FA5}">
                      <a16:colId xmlns:a16="http://schemas.microsoft.com/office/drawing/2014/main" val="3373471291"/>
                    </a:ext>
                  </a:extLst>
                </a:gridCol>
                <a:gridCol w="781050">
                  <a:extLst>
                    <a:ext uri="{9D8B030D-6E8A-4147-A177-3AD203B41FA5}">
                      <a16:colId xmlns:a16="http://schemas.microsoft.com/office/drawing/2014/main" val="20006"/>
                    </a:ext>
                  </a:extLst>
                </a:gridCol>
                <a:gridCol w="819150">
                  <a:extLst>
                    <a:ext uri="{9D8B030D-6E8A-4147-A177-3AD203B41FA5}">
                      <a16:colId xmlns:a16="http://schemas.microsoft.com/office/drawing/2014/main" val="20007"/>
                    </a:ext>
                  </a:extLst>
                </a:gridCol>
                <a:gridCol w="1095375">
                  <a:extLst>
                    <a:ext uri="{9D8B030D-6E8A-4147-A177-3AD203B41FA5}">
                      <a16:colId xmlns:a16="http://schemas.microsoft.com/office/drawing/2014/main" val="2998209559"/>
                    </a:ext>
                  </a:extLst>
                </a:gridCol>
                <a:gridCol w="741427">
                  <a:extLst>
                    <a:ext uri="{9D8B030D-6E8A-4147-A177-3AD203B41FA5}">
                      <a16:colId xmlns:a16="http://schemas.microsoft.com/office/drawing/2014/main" val="3330914870"/>
                    </a:ext>
                  </a:extLst>
                </a:gridCol>
                <a:gridCol w="866714">
                  <a:extLst>
                    <a:ext uri="{9D8B030D-6E8A-4147-A177-3AD203B41FA5}">
                      <a16:colId xmlns:a16="http://schemas.microsoft.com/office/drawing/2014/main" val="991862186"/>
                    </a:ext>
                  </a:extLst>
                </a:gridCol>
              </a:tblGrid>
              <a:tr h="561508">
                <a:tc rowSpan="2">
                  <a:txBody>
                    <a:bodyPr/>
                    <a:lstStyle/>
                    <a:p>
                      <a:pPr marL="0" marR="0" lvl="0" indent="0" algn="ctr" defTabSz="914400" rtl="0" eaLnBrk="1" fontAlgn="auto" latinLnBrk="0" hangingPunct="1">
                        <a:lnSpc>
                          <a:spcPct val="85000"/>
                        </a:lnSpc>
                        <a:spcBef>
                          <a:spcPts val="0"/>
                        </a:spcBef>
                        <a:spcAft>
                          <a:spcPts val="0"/>
                        </a:spcAft>
                        <a:buClr>
                          <a:srgbClr val="000000"/>
                        </a:buClr>
                        <a:buSzPts val="1200"/>
                        <a:buFont typeface="Arial"/>
                        <a:buNone/>
                        <a:tabLst/>
                        <a:defRPr/>
                      </a:pPr>
                      <a:r>
                        <a:rPr lang="en-US" altLang="zh-TW" sz="1400" b="1"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Category</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rtl="0">
                        <a:lnSpc>
                          <a:spcPct val="85000"/>
                        </a:lnSpc>
                        <a:spcBef>
                          <a:spcPts val="0"/>
                        </a:spcBef>
                        <a:spcAft>
                          <a:spcPts val="0"/>
                        </a:spcAft>
                        <a:buClr>
                          <a:srgbClr val="000000"/>
                        </a:buClr>
                        <a:buSzPts val="1200"/>
                        <a:buFont typeface="Arial"/>
                        <a:buNone/>
                      </a:pPr>
                      <a:r>
                        <a:rPr lang="en-US" altLang="zh-TW" sz="1400" b="1"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Paper</a:t>
                      </a:r>
                      <a:endParaRPr lang="en-US" sz="1400" b="1"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rtl="0">
                        <a:lnSpc>
                          <a:spcPct val="85000"/>
                        </a:lnSpc>
                        <a:spcBef>
                          <a:spcPts val="0"/>
                        </a:spcBef>
                        <a:spcAft>
                          <a:spcPts val="0"/>
                        </a:spcAft>
                        <a:buClr>
                          <a:srgbClr val="000000"/>
                        </a:buClr>
                        <a:buSzPts val="1200"/>
                        <a:buFont typeface="Arial"/>
                        <a:buNone/>
                      </a:pPr>
                      <a:r>
                        <a:rPr lang="en-US" altLang="zh-TW" sz="1400" b="1"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Role of  Policy Model</a:t>
                      </a:r>
                      <a:endParaRPr lang="en-US" sz="1400" b="1"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tc gridSpan="3">
                  <a:txBody>
                    <a:bodyPr/>
                    <a:lstStyle/>
                    <a:p>
                      <a:pPr marL="0" marR="0" lvl="0" indent="0" algn="ctr" rtl="0">
                        <a:lnSpc>
                          <a:spcPct val="85000"/>
                        </a:lnSpc>
                        <a:spcBef>
                          <a:spcPts val="0"/>
                        </a:spcBef>
                        <a:spcAft>
                          <a:spcPts val="0"/>
                        </a:spcAft>
                        <a:buClr>
                          <a:srgbClr val="000000"/>
                        </a:buClr>
                        <a:buSzPts val="1200"/>
                        <a:buFont typeface="Arial"/>
                        <a:buNone/>
                      </a:pPr>
                      <a:r>
                        <a:rPr lang="en-US" altLang="zh-TW" sz="1400" b="1" u="none" strike="noStrike" cap="none" dirty="0">
                          <a:latin typeface="Times New Roman" panose="02020603050405020304" pitchFamily="18" charset="0"/>
                          <a:ea typeface="Calibri"/>
                          <a:cs typeface="Times New Roman" panose="02020603050405020304" pitchFamily="18" charset="0"/>
                          <a:sym typeface="Calibri"/>
                        </a:rPr>
                        <a:t>Reinforcement Learning</a:t>
                      </a:r>
                      <a:endParaRPr lang="en-US" sz="1400" b="1" u="none" strike="noStrike" cap="none" dirty="0">
                        <a:latin typeface="Times New Roman" panose="02020603050405020304" pitchFamily="18" charset="0"/>
                        <a:ea typeface="Calibri"/>
                        <a:cs typeface="Times New Roman" panose="02020603050405020304" pitchFamily="18" charset="0"/>
                        <a:sym typeface="Calibri"/>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tc rowSpan="2">
                  <a:txBody>
                    <a:bodyPr/>
                    <a:lstStyle/>
                    <a:p>
                      <a:pPr marL="0" marR="0" lvl="0" indent="0" algn="ctr" rtl="0">
                        <a:lnSpc>
                          <a:spcPct val="85000"/>
                        </a:lnSpc>
                        <a:spcBef>
                          <a:spcPts val="0"/>
                        </a:spcBef>
                        <a:spcAft>
                          <a:spcPts val="0"/>
                        </a:spcAft>
                        <a:buClr>
                          <a:srgbClr val="000000"/>
                        </a:buClr>
                        <a:buSzPts val="1200"/>
                        <a:buFont typeface="Arial"/>
                        <a:buNone/>
                      </a:pPr>
                      <a:r>
                        <a:rPr lang="en-US" altLang="zh-TW" sz="1400" b="1" dirty="0">
                          <a:solidFill>
                            <a:schemeClr val="dk1"/>
                          </a:solidFill>
                          <a:latin typeface="Times New Roman" panose="02020603050405020304" pitchFamily="18" charset="0"/>
                          <a:ea typeface="Calibri"/>
                          <a:cs typeface="Times New Roman" panose="02020603050405020304" pitchFamily="18" charset="0"/>
                          <a:sym typeface="Calibri"/>
                        </a:rPr>
                        <a:t>Detection </a:t>
                      </a:r>
                      <a:r>
                        <a:rPr lang="en-US" altLang="zh-TW" sz="1400" b="1"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Methods</a:t>
                      </a:r>
                      <a:endParaRPr lang="en-US" sz="1400" b="1"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rtl="0">
                        <a:lnSpc>
                          <a:spcPct val="85000"/>
                        </a:lnSpc>
                        <a:spcBef>
                          <a:spcPts val="0"/>
                        </a:spcBef>
                        <a:spcAft>
                          <a:spcPts val="0"/>
                        </a:spcAft>
                        <a:buNone/>
                      </a:pPr>
                      <a:r>
                        <a:rPr lang="en-US" altLang="zh-TW" sz="1400" b="1" dirty="0">
                          <a:solidFill>
                            <a:schemeClr val="dk1"/>
                          </a:solidFill>
                          <a:latin typeface="Times New Roman" panose="02020603050405020304" pitchFamily="18" charset="0"/>
                          <a:ea typeface="Calibri"/>
                          <a:cs typeface="Times New Roman" panose="02020603050405020304" pitchFamily="18" charset="0"/>
                          <a:sym typeface="Calibri"/>
                        </a:rPr>
                        <a:t>Intention awareness</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lvl="0" indent="0" algn="ctr" rtl="0">
                        <a:lnSpc>
                          <a:spcPct val="85000"/>
                        </a:lnSpc>
                        <a:spcBef>
                          <a:spcPts val="0"/>
                        </a:spcBef>
                        <a:spcAft>
                          <a:spcPts val="0"/>
                        </a:spcAft>
                        <a:buNone/>
                      </a:pPr>
                      <a:r>
                        <a:rPr lang="en-US" altLang="zh-TW" sz="1400" b="1" dirty="0">
                          <a:solidFill>
                            <a:schemeClr val="dk1"/>
                          </a:solidFill>
                          <a:latin typeface="Times New Roman" panose="02020603050405020304" pitchFamily="18" charset="0"/>
                          <a:ea typeface="Calibri"/>
                          <a:cs typeface="Times New Roman" panose="02020603050405020304" pitchFamily="18" charset="0"/>
                          <a:sym typeface="Calibri"/>
                        </a:rPr>
                        <a:t>Evaluation</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tc hMerge="1">
                  <a:txBody>
                    <a:bodyPr/>
                    <a:lstStyle/>
                    <a:p>
                      <a:endParaRPr dirty="0"/>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tc hMerge="1">
                  <a:txBody>
                    <a:bodyPr/>
                    <a:lstStyle/>
                    <a:p>
                      <a:pPr marL="0" marR="0" lvl="0" indent="0" algn="ctr" rtl="0">
                        <a:lnSpc>
                          <a:spcPct val="85000"/>
                        </a:lnSpc>
                        <a:spcBef>
                          <a:spcPts val="0"/>
                        </a:spcBef>
                        <a:spcAft>
                          <a:spcPts val="0"/>
                        </a:spcAft>
                        <a:buNone/>
                      </a:pPr>
                      <a:endParaRPr lang="en-US" altLang="zh-TW" sz="1600" b="1"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53831">
                <a:tc vMerge="1">
                  <a:txBody>
                    <a:bodyPr/>
                    <a:lstStyle/>
                    <a:p>
                      <a:pPr marL="0" marR="0" lvl="0" indent="0" algn="ctr" rtl="0">
                        <a:lnSpc>
                          <a:spcPct val="85000"/>
                        </a:lnSpc>
                        <a:spcBef>
                          <a:spcPts val="0"/>
                        </a:spcBef>
                        <a:spcAft>
                          <a:spcPts val="0"/>
                        </a:spcAft>
                        <a:buClr>
                          <a:srgbClr val="000000"/>
                        </a:buClr>
                        <a:buSzPts val="1200"/>
                        <a:buFont typeface="Arial"/>
                        <a:buNone/>
                      </a:pPr>
                      <a:endParaRPr lang="en-US" sz="1600" b="1" u="none" strike="noStrike" cap="none" dirty="0">
                        <a:solidFill>
                          <a:schemeClr val="dk1"/>
                        </a:solidFill>
                        <a:latin typeface="Calibri"/>
                        <a:ea typeface="Calibri"/>
                        <a:cs typeface="Calibri"/>
                        <a:sym typeface="Calibri"/>
                      </a:endParaRPr>
                    </a:p>
                  </a:txBody>
                  <a:tcPr marL="48000" marR="4800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rtl="0">
                        <a:lnSpc>
                          <a:spcPct val="85000"/>
                        </a:lnSpc>
                        <a:spcBef>
                          <a:spcPts val="0"/>
                        </a:spcBef>
                        <a:spcAft>
                          <a:spcPts val="0"/>
                        </a:spcAft>
                        <a:buClr>
                          <a:srgbClr val="000000"/>
                        </a:buClr>
                        <a:buSzPts val="1200"/>
                        <a:buFont typeface="Arial"/>
                        <a:buNone/>
                      </a:pPr>
                      <a:endParaRPr lang="en-US" sz="1600" b="1" u="none" strike="noStrike" cap="none" dirty="0">
                        <a:solidFill>
                          <a:schemeClr val="dk1"/>
                        </a:solidFill>
                        <a:latin typeface="Calibri"/>
                        <a:ea typeface="Calibri"/>
                        <a:cs typeface="Calibri"/>
                        <a:sym typeface="Calibri"/>
                      </a:endParaRPr>
                    </a:p>
                  </a:txBody>
                  <a:tcPr marL="48000" marR="4800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rtl="0">
                        <a:lnSpc>
                          <a:spcPct val="85000"/>
                        </a:lnSpc>
                        <a:spcBef>
                          <a:spcPts val="0"/>
                        </a:spcBef>
                        <a:spcAft>
                          <a:spcPts val="0"/>
                        </a:spcAft>
                        <a:buClr>
                          <a:srgbClr val="000000"/>
                        </a:buClr>
                        <a:buSzPts val="1200"/>
                        <a:buFont typeface="Arial"/>
                        <a:buNone/>
                      </a:pPr>
                      <a:endParaRPr lang="en-US" sz="1600" b="1" u="none" strike="noStrike" cap="none" dirty="0">
                        <a:solidFill>
                          <a:schemeClr val="dk1"/>
                        </a:solidFill>
                        <a:latin typeface="Calibri"/>
                        <a:ea typeface="Calibri"/>
                        <a:cs typeface="Calibri"/>
                        <a:sym typeface="Calibri"/>
                      </a:endParaRPr>
                    </a:p>
                  </a:txBody>
                  <a:tcPr marL="48000" marR="48000" marT="48000" marB="48000" anchor="ctr"/>
                </a:tc>
                <a:tc>
                  <a:txBody>
                    <a:bodyPr/>
                    <a:lstStyle/>
                    <a:p>
                      <a:pPr marL="0" marR="0" lvl="0" indent="0" algn="ctr" rtl="0">
                        <a:lnSpc>
                          <a:spcPct val="85000"/>
                        </a:lnSpc>
                        <a:spcBef>
                          <a:spcPts val="0"/>
                        </a:spcBef>
                        <a:spcAft>
                          <a:spcPts val="0"/>
                        </a:spcAft>
                        <a:buClr>
                          <a:srgbClr val="000000"/>
                        </a:buClr>
                        <a:buSzPts val="1200"/>
                        <a:buFont typeface="Arial"/>
                        <a:buNone/>
                      </a:pPr>
                      <a:r>
                        <a:rPr lang="en-US" sz="1400" b="1" u="none" strike="noStrike" cap="none" dirty="0">
                          <a:latin typeface="Times New Roman" panose="02020603050405020304" pitchFamily="18" charset="0"/>
                          <a:ea typeface="Calibri"/>
                          <a:cs typeface="Times New Roman" panose="02020603050405020304" pitchFamily="18" charset="0"/>
                          <a:sym typeface="Calibri"/>
                        </a:rPr>
                        <a:t>State</a:t>
                      </a:r>
                    </a:p>
                  </a:txBody>
                  <a:tcPr marL="0" marR="0" marT="48000" marB="48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85000"/>
                        </a:lnSpc>
                        <a:spcBef>
                          <a:spcPts val="0"/>
                        </a:spcBef>
                        <a:spcAft>
                          <a:spcPts val="0"/>
                        </a:spcAft>
                        <a:buClr>
                          <a:srgbClr val="000000"/>
                        </a:buClr>
                        <a:buSzPts val="1200"/>
                        <a:buFont typeface="Arial"/>
                        <a:buNone/>
                      </a:pPr>
                      <a:r>
                        <a:rPr lang="en-US" sz="1400" b="1" u="none" strike="noStrike" cap="none" dirty="0">
                          <a:latin typeface="Times New Roman" panose="02020603050405020304" pitchFamily="18" charset="0"/>
                          <a:ea typeface="Calibri"/>
                          <a:cs typeface="Times New Roman" panose="02020603050405020304" pitchFamily="18" charset="0"/>
                          <a:sym typeface="Calibri"/>
                        </a:rPr>
                        <a:t>Action</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85000"/>
                        </a:lnSpc>
                        <a:spcBef>
                          <a:spcPts val="0"/>
                        </a:spcBef>
                        <a:spcAft>
                          <a:spcPts val="0"/>
                        </a:spcAft>
                        <a:buClr>
                          <a:srgbClr val="000000"/>
                        </a:buClr>
                        <a:buSzPts val="1200"/>
                        <a:buFont typeface="Arial"/>
                        <a:buNone/>
                      </a:pPr>
                      <a:r>
                        <a:rPr lang="en-US" sz="1400" b="1" u="none" strike="noStrike" cap="none" dirty="0">
                          <a:latin typeface="Times New Roman" panose="02020603050405020304" pitchFamily="18" charset="0"/>
                          <a:ea typeface="Calibri"/>
                          <a:cs typeface="Times New Roman" panose="02020603050405020304" pitchFamily="18" charset="0"/>
                          <a:sym typeface="Calibri"/>
                        </a:rPr>
                        <a:t>Reward</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rtl="0">
                        <a:lnSpc>
                          <a:spcPct val="85000"/>
                        </a:lnSpc>
                        <a:spcBef>
                          <a:spcPts val="0"/>
                        </a:spcBef>
                        <a:spcAft>
                          <a:spcPts val="0"/>
                        </a:spcAft>
                        <a:buClr>
                          <a:srgbClr val="000000"/>
                        </a:buClr>
                        <a:buSzPts val="1200"/>
                        <a:buFont typeface="Arial"/>
                        <a:buNone/>
                      </a:pPr>
                      <a:endParaRPr lang="en-US" sz="1600" b="1" u="none" strike="noStrike" cap="none" dirty="0">
                        <a:solidFill>
                          <a:schemeClr val="dk1"/>
                        </a:solidFill>
                        <a:latin typeface="Calibri"/>
                        <a:ea typeface="Calibri"/>
                        <a:cs typeface="Calibri"/>
                        <a:sym typeface="Calibri"/>
                      </a:endParaRPr>
                    </a:p>
                  </a:txBody>
                  <a:tcPr marL="48000" marR="4800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rtl="0">
                        <a:lnSpc>
                          <a:spcPct val="85000"/>
                        </a:lnSpc>
                        <a:spcBef>
                          <a:spcPts val="0"/>
                        </a:spcBef>
                        <a:spcAft>
                          <a:spcPts val="0"/>
                        </a:spcAft>
                        <a:buNone/>
                      </a:pPr>
                      <a:endParaRPr lang="en-US" altLang="zh-TW" sz="1600" b="1" dirty="0">
                        <a:solidFill>
                          <a:schemeClr val="dk1"/>
                        </a:solidFill>
                        <a:latin typeface="Calibri"/>
                        <a:ea typeface="Calibri"/>
                        <a:cs typeface="Calibri"/>
                        <a:sym typeface="Calibri"/>
                      </a:endParaRPr>
                    </a:p>
                  </a:txBody>
                  <a:tcPr marL="48000" marR="4800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400" b="1" dirty="0">
                          <a:latin typeface="Times New Roman" panose="02020603050405020304" pitchFamily="18" charset="0"/>
                          <a:cs typeface="Times New Roman" panose="02020603050405020304" pitchFamily="18" charset="0"/>
                        </a:rPr>
                        <a:t>Conventional</a:t>
                      </a:r>
                    </a:p>
                    <a:p>
                      <a:pPr algn="ctr"/>
                      <a:r>
                        <a:rPr lang="en-US" altLang="zh-TW" sz="1400" b="1" dirty="0">
                          <a:latin typeface="Times New Roman" panose="02020603050405020304" pitchFamily="18" charset="0"/>
                          <a:cs typeface="Times New Roman" panose="02020603050405020304" pitchFamily="18" charset="0"/>
                        </a:rPr>
                        <a:t>metrics</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a:txBody>
                    <a:bodyPr/>
                    <a:lstStyle/>
                    <a:p>
                      <a:pPr algn="ctr"/>
                      <a:r>
                        <a:rPr lang="en-US" altLang="zh-TW" sz="1400" b="1" dirty="0">
                          <a:solidFill>
                            <a:schemeClr val="dk1"/>
                          </a:solidFill>
                          <a:latin typeface="Times New Roman" panose="02020603050405020304" pitchFamily="18" charset="0"/>
                          <a:ea typeface="Calibri"/>
                          <a:cs typeface="Times New Roman" panose="02020603050405020304" pitchFamily="18" charset="0"/>
                          <a:sym typeface="Calibri"/>
                        </a:rPr>
                        <a:t>Depth</a:t>
                      </a:r>
                      <a:endParaRPr lang="zh-TW" altLang="en-US" sz="140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a:txBody>
                    <a:bodyPr/>
                    <a:lstStyle/>
                    <a:p>
                      <a:pPr algn="ctr"/>
                      <a:r>
                        <a:rPr lang="en-US" altLang="zh-TW" sz="1400" b="1" dirty="0">
                          <a:solidFill>
                            <a:schemeClr val="dk1"/>
                          </a:solidFill>
                          <a:latin typeface="Times New Roman" panose="02020603050405020304" pitchFamily="18" charset="0"/>
                          <a:ea typeface="Calibri"/>
                          <a:cs typeface="Times New Roman" panose="02020603050405020304" pitchFamily="18" charset="0"/>
                          <a:sym typeface="Calibri"/>
                        </a:rPr>
                        <a:t>Diversity</a:t>
                      </a:r>
                      <a:endParaRPr lang="zh-TW" altLang="en-US" sz="140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9848627"/>
                  </a:ext>
                </a:extLst>
              </a:tr>
              <a:tr h="476697">
                <a:tc>
                  <a:txBody>
                    <a:bodyPr/>
                    <a:lstStyle/>
                    <a:p>
                      <a:pPr marL="0" marR="0" lvl="0" indent="0" algn="ctr" defTabSz="914400" rtl="0" eaLnBrk="1" fontAlgn="auto" latinLnBrk="0" hangingPunct="1">
                        <a:lnSpc>
                          <a:spcPct val="85000"/>
                        </a:lnSpc>
                        <a:spcBef>
                          <a:spcPts val="0"/>
                        </a:spcBef>
                        <a:spcAft>
                          <a:spcPts val="0"/>
                        </a:spcAft>
                        <a:buClr>
                          <a:srgbClr val="000000"/>
                        </a:buClr>
                        <a:buSzPts val="1200"/>
                        <a:buFont typeface="Arial"/>
                        <a:buNone/>
                        <a:tabLst/>
                        <a:defRPr/>
                      </a:pPr>
                      <a:r>
                        <a:rPr lang="en-US" altLang="zh-TW" sz="1400" b="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RL Honeypot</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85000"/>
                        </a:lnSpc>
                        <a:spcBef>
                          <a:spcPts val="0"/>
                        </a:spcBef>
                        <a:spcAft>
                          <a:spcPts val="0"/>
                        </a:spcAft>
                        <a:buClr>
                          <a:srgbClr val="000000"/>
                        </a:buClr>
                        <a:buSzPts val="1200"/>
                        <a:buFont typeface="Arial"/>
                        <a:buNone/>
                      </a:pPr>
                      <a:r>
                        <a:rPr lang="en-US" sz="1400" b="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QRASSH[3]</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85000"/>
                        </a:lnSpc>
                        <a:spcBef>
                          <a:spcPts val="0"/>
                        </a:spcBef>
                        <a:spcAft>
                          <a:spcPts val="0"/>
                        </a:spcAft>
                        <a:buClr>
                          <a:srgbClr val="000000"/>
                        </a:buClr>
                        <a:buSzPts val="1200"/>
                        <a:buFont typeface="Arial"/>
                        <a:buNone/>
                      </a:pPr>
                      <a:r>
                        <a:rPr lang="en-US" sz="1400" b="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Executor</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ctr"/>
                      <a:r>
                        <a:rPr lang="en-US" altLang="zh-TW" sz="1400" dirty="0">
                          <a:latin typeface="Times New Roman" panose="02020603050405020304" pitchFamily="18" charset="0"/>
                          <a:cs typeface="Times New Roman" panose="02020603050405020304" pitchFamily="18" charset="0"/>
                        </a:rPr>
                        <a:t>Single Raw command</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ctr"/>
                      <a:r>
                        <a:rPr lang="en-US" altLang="zh-TW" sz="1400" dirty="0">
                          <a:latin typeface="Times New Roman" panose="02020603050405020304" pitchFamily="18" charset="0"/>
                          <a:cs typeface="Times New Roman" panose="02020603050405020304" pitchFamily="18" charset="0"/>
                        </a:rPr>
                        <a:t>ABSI - Response Manipulation</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4">
                  <a:txBody>
                    <a:bodyPr/>
                    <a:lstStyle/>
                    <a:p>
                      <a:pPr algn="ctr"/>
                      <a:r>
                        <a:rPr lang="en-US" altLang="zh-TW" sz="1400" dirty="0">
                          <a:latin typeface="Times New Roman" panose="02020603050405020304" pitchFamily="18" charset="0"/>
                          <a:cs typeface="Times New Roman" panose="02020603050405020304" pitchFamily="18" charset="0"/>
                        </a:rPr>
                        <a:t>Command type</a:t>
                      </a:r>
                      <a:endParaRPr lang="zh-TW" altLang="en-US" sz="140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rtl="0">
                        <a:lnSpc>
                          <a:spcPct val="85000"/>
                        </a:lnSpc>
                        <a:spcBef>
                          <a:spcPts val="0"/>
                        </a:spcBef>
                        <a:spcAft>
                          <a:spcPts val="0"/>
                        </a:spcAft>
                        <a:buClr>
                          <a:srgbClr val="000000"/>
                        </a:buClr>
                        <a:buSzPts val="1200"/>
                        <a:buFont typeface="Arial"/>
                        <a:buNone/>
                      </a:pPr>
                      <a:endParaRPr lang="en-US" sz="1400" b="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85000"/>
                        </a:lnSpc>
                        <a:spcBef>
                          <a:spcPts val="0"/>
                        </a:spcBef>
                        <a:spcAft>
                          <a:spcPts val="0"/>
                        </a:spcAft>
                        <a:buNone/>
                      </a:pPr>
                      <a:r>
                        <a:rPr lang="en-US" altLang="zh-TW" sz="1400" u="none" strike="noStrike" cap="none" dirty="0">
                          <a:solidFill>
                            <a:schemeClr val="dk1"/>
                          </a:solidFill>
                          <a:latin typeface="Times New Roman" panose="02020603050405020304" pitchFamily="18" charset="0"/>
                          <a:cs typeface="Times New Roman" panose="02020603050405020304" pitchFamily="18" charset="0"/>
                          <a:sym typeface="Times New Roman"/>
                        </a:rPr>
                        <a:t>DNN</a:t>
                      </a: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tc rowSpan="9">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tc rowSpan="2">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rowSpan="2">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rowSpan="2">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extLst>
                  <a:ext uri="{0D108BD9-81ED-4DB2-BD59-A6C34878D82A}">
                    <a16:rowId xmlns:a16="http://schemas.microsoft.com/office/drawing/2014/main" val="1171361900"/>
                  </a:ext>
                </a:extLst>
              </a:tr>
              <a:tr h="203208">
                <a:tc rowSpan="8">
                  <a:txBody>
                    <a:bodyPr/>
                    <a:lstStyle/>
                    <a:p>
                      <a:pPr algn="ctr"/>
                      <a:r>
                        <a:rPr lang="en-US" altLang="zh-TW" sz="1400" dirty="0">
                          <a:latin typeface="Times New Roman" panose="02020603050405020304" pitchFamily="18" charset="0"/>
                          <a:cs typeface="Times New Roman" panose="02020603050405020304" pitchFamily="18" charset="0"/>
                        </a:rPr>
                        <a:t>Decoupled RL-LLM Honeypot</a:t>
                      </a:r>
                    </a:p>
                  </a:txBody>
                  <a:tcPr marL="0" marR="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altLang="zh-TW" sz="1400" dirty="0">
                          <a:latin typeface="Times New Roman" panose="02020603050405020304" pitchFamily="18" charset="0"/>
                          <a:cs typeface="Times New Roman" panose="02020603050405020304" pitchFamily="18" charset="0"/>
                        </a:rPr>
                        <a:t>GASH [8]</a:t>
                      </a:r>
                      <a:endParaRPr lang="zh-TW" altLang="en-US" sz="1400" dirty="0">
                        <a:latin typeface="Times New Roman" panose="02020603050405020304" pitchFamily="18" charset="0"/>
                        <a:cs typeface="Times New Roman" panose="02020603050405020304" pitchFamily="18" charset="0"/>
                      </a:endParaRPr>
                    </a:p>
                  </a:txBody>
                  <a:tcPr marL="0" marR="0" anchor="ctr">
                    <a:lnT w="12700" cap="flat" cmpd="sng" algn="ctr">
                      <a:solidFill>
                        <a:schemeClr val="tx1"/>
                      </a:solidFill>
                      <a:prstDash val="solid"/>
                      <a:round/>
                      <a:headEnd type="none" w="med" len="med"/>
                      <a:tailEnd type="none" w="med" len="med"/>
                    </a:lnT>
                  </a:tcPr>
                </a:tc>
                <a:tc rowSpan="6">
                  <a:txBody>
                    <a:bodyPr/>
                    <a:lstStyle/>
                    <a:p>
                      <a:pPr algn="ctr"/>
                      <a:r>
                        <a:rPr lang="en-US" altLang="zh-TW" sz="1400" dirty="0">
                          <a:latin typeface="Times New Roman" panose="02020603050405020304" pitchFamily="18" charset="0"/>
                          <a:cs typeface="Times New Roman" panose="02020603050405020304" pitchFamily="18" charset="0"/>
                        </a:rPr>
                        <a:t>Strategist</a:t>
                      </a:r>
                      <a:endParaRPr lang="zh-TW" altLang="en-US" sz="1400" dirty="0">
                        <a:latin typeface="Times New Roman" panose="02020603050405020304" pitchFamily="18" charset="0"/>
                        <a:cs typeface="Times New Roman" panose="02020603050405020304" pitchFamily="18" charset="0"/>
                      </a:endParaRPr>
                    </a:p>
                  </a:txBody>
                  <a:tcPr marL="0" marR="0" anchor="ctr">
                    <a:lnT w="12700" cap="flat" cmpd="sng" algn="ctr">
                      <a:solidFill>
                        <a:schemeClr val="tx1"/>
                      </a:solidFill>
                      <a:prstDash val="solid"/>
                      <a:round/>
                      <a:headEnd type="none" w="med" len="med"/>
                      <a:tailEnd type="none" w="med" len="med"/>
                    </a:lnT>
                  </a:tcPr>
                </a:tc>
                <a:tc vMerge="1">
                  <a:txBody>
                    <a:bodyPr/>
                    <a:lstStyle/>
                    <a:p>
                      <a:endParaRPr dirty="0"/>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L="0" marR="0" anchor="ctr">
                    <a:lnT w="12700" cap="flat" cmpd="sng" algn="ctr">
                      <a:solidFill>
                        <a:schemeClr val="tx1"/>
                      </a:solidFill>
                      <a:prstDash val="solid"/>
                      <a:round/>
                      <a:headEnd type="none" w="med" len="med"/>
                      <a:tailEnd type="none" w="med" len="med"/>
                    </a:lnT>
                  </a:tcPr>
                </a:tc>
                <a:tc vMerge="1">
                  <a:txBody>
                    <a:bodyPr/>
                    <a:lstStyle/>
                    <a:p>
                      <a:endParaRPr dirty="0"/>
                    </a:p>
                  </a:txBody>
                  <a:tcPr marL="0" marR="0" anchor="ctr">
                    <a:lnT w="12700" cap="flat" cmpd="sng" algn="ctr">
                      <a:solidFill>
                        <a:schemeClr val="tx1"/>
                      </a:solidFill>
                      <a:prstDash val="solid"/>
                      <a:round/>
                      <a:headEnd type="none" w="med" len="med"/>
                      <a:tailEnd type="none" w="med" len="med"/>
                    </a:lnT>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4118037553"/>
                  </a:ext>
                </a:extLst>
              </a:tr>
              <a:tr h="597819">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tc>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TlToBr w="12700" cmpd="sng">
                      <a:noFill/>
                      <a:prstDash val="solid"/>
                    </a:lnTlToBr>
                    <a:lnBlToTr w="12700" cmpd="sng">
                      <a:noFill/>
                      <a:prstDash val="solid"/>
                    </a:lnBlToTr>
                  </a:tcPr>
                </a:tc>
                <a:tc>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extLst>
                  <a:ext uri="{0D108BD9-81ED-4DB2-BD59-A6C34878D82A}">
                    <a16:rowId xmlns:a16="http://schemas.microsoft.com/office/drawing/2014/main" val="2640649683"/>
                  </a:ext>
                </a:extLst>
              </a:tr>
              <a:tr h="171385">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tc>
                <a:tc vMerge="1">
                  <a:txBody>
                    <a:bodyPr/>
                    <a:lstStyle/>
                    <a:p>
                      <a:endParaRPr lang="zh-TW" altLang="en-US" dirty="0"/>
                    </a:p>
                  </a:txBody>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tc>
                <a:tc vMerge="1">
                  <a:txBody>
                    <a:bodyPr/>
                    <a:lstStyle/>
                    <a:p>
                      <a:endParaRPr lang="zh-TW" altLang="en-US"/>
                    </a:p>
                  </a:txBody>
                  <a:tcPr/>
                </a:tc>
                <a:tc rowSpan="2">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TlToBr w="12700" cmpd="sng">
                      <a:noFill/>
                      <a:prstDash val="solid"/>
                    </a:lnTlToBr>
                    <a:lnBlToTr w="12700" cmpd="sng">
                      <a:noFill/>
                      <a:prstDash val="solid"/>
                    </a:lnBlToTr>
                  </a:tcPr>
                </a:tc>
                <a:tc rowSpan="2">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rowSpan="2">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extLst>
                  <a:ext uri="{0D108BD9-81ED-4DB2-BD59-A6C34878D82A}">
                    <a16:rowId xmlns:a16="http://schemas.microsoft.com/office/drawing/2014/main" val="3469799837"/>
                  </a:ext>
                </a:extLst>
              </a:tr>
              <a:tr h="425228">
                <a:tc vMerge="1">
                  <a:txBody>
                    <a:bodyPr/>
                    <a:lstStyle/>
                    <a:p>
                      <a:pPr algn="ctr"/>
                      <a:endParaRPr lang="zh-TW" altLang="en-US" dirty="0"/>
                    </a:p>
                  </a:txBody>
                  <a:tcPr anchor="ctr"/>
                </a:tc>
                <a:tc rowSpan="2">
                  <a:txBody>
                    <a:bodyPr/>
                    <a:lstStyle/>
                    <a:p>
                      <a:pPr algn="ctr"/>
                      <a:r>
                        <a:rPr lang="en-US" altLang="zh-TW" sz="1400" dirty="0">
                          <a:latin typeface="Times New Roman" panose="02020603050405020304" pitchFamily="18" charset="0"/>
                          <a:cs typeface="Times New Roman" panose="02020603050405020304" pitchFamily="18" charset="0"/>
                        </a:rPr>
                        <a:t>S. Ren et al. [9]</a:t>
                      </a:r>
                      <a:endParaRPr lang="zh-TW" altLang="en-US" sz="1400" dirty="0">
                        <a:latin typeface="Times New Roman" panose="02020603050405020304" pitchFamily="18" charset="0"/>
                        <a:cs typeface="Times New Roman" panose="02020603050405020304" pitchFamily="18" charset="0"/>
                      </a:endParaRPr>
                    </a:p>
                  </a:txBody>
                  <a:tcPr marL="0" marR="0" anchor="ctr"/>
                </a:tc>
                <a:tc vMerge="1">
                  <a:txBody>
                    <a:bodyPr/>
                    <a:lstStyle/>
                    <a:p>
                      <a:endParaRPr lang="zh-TW" altLang="en-US"/>
                    </a:p>
                  </a:txBody>
                  <a:tcPr/>
                </a:tc>
                <a:tc vMerge="1">
                  <a:txBody>
                    <a:bodyPr/>
                    <a:lstStyle/>
                    <a:p>
                      <a:endParaRPr dirty="0"/>
                    </a:p>
                  </a:txBody>
                  <a:tcPr marL="48000" marR="4800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marL="48000" marR="4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n-US" altLang="zh-TW" sz="1400" b="0" dirty="0">
                          <a:latin typeface="Times New Roman" panose="02020603050405020304" pitchFamily="18" charset="0"/>
                          <a:cs typeface="Times New Roman" panose="02020603050405020304" pitchFamily="18" charset="0"/>
                        </a:rPr>
                        <a:t>Stealth and Intelligence</a:t>
                      </a:r>
                      <a:endParaRPr lang="zh-TW" altLang="en-US" sz="1400" b="0"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257059593"/>
                  </a:ext>
                </a:extLst>
              </a:tr>
              <a:tr h="76277">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lang="zh-TW" altLang="en-US"/>
                    </a:p>
                  </a:txBody>
                  <a:tcPr/>
                </a:tc>
                <a:tc vMerge="1">
                  <a:txBody>
                    <a:bodyPr/>
                    <a:lstStyle/>
                    <a:p>
                      <a:endParaRPr lang="zh-TW" altLang="en-US"/>
                    </a:p>
                  </a:txBody>
                  <a:tcPr/>
                </a:tc>
                <a:tc rowSpan="2">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TlToBr w="12700" cmpd="sng">
                      <a:noFill/>
                      <a:prstDash val="solid"/>
                    </a:lnTlToBr>
                    <a:lnBlToTr w="12700" cmpd="sng">
                      <a:noFill/>
                      <a:prstDash val="solid"/>
                    </a:lnBlToTr>
                  </a:tcPr>
                </a:tc>
                <a:tc rowSpan="2">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rowSpan="2">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extLst>
                  <a:ext uri="{0D108BD9-81ED-4DB2-BD59-A6C34878D82A}">
                    <a16:rowId xmlns:a16="http://schemas.microsoft.com/office/drawing/2014/main" val="2814707328"/>
                  </a:ext>
                </a:extLst>
              </a:tr>
              <a:tr h="587063">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6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48000" marR="4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Jiao-Chuan [10]</a:t>
                      </a:r>
                    </a:p>
                  </a:txBody>
                  <a:tcPr marL="0" marR="0" marT="0" marB="0" anchor="ctr">
                    <a:lnL w="12700" cap="flat" cmpd="sng" algn="ctr">
                      <a:solidFill>
                        <a:schemeClr val="tx1"/>
                      </a:solidFill>
                      <a:prstDash val="solid"/>
                      <a:round/>
                      <a:headEnd type="none" w="med" len="med"/>
                      <a:tailEnd type="none" w="med" len="med"/>
                    </a:lnL>
                  </a:tcPr>
                </a:tc>
                <a:tc vMerge="1">
                  <a:txBody>
                    <a:bodyPr/>
                    <a:lstStyle/>
                    <a:p>
                      <a:pPr algn="ctr"/>
                      <a:endParaRPr lang="zh-TW" altLang="en-US" sz="1600" dirty="0">
                        <a:latin typeface="Times New Roman" panose="02020603050405020304" pitchFamily="18" charset="0"/>
                        <a:cs typeface="Times New Roman" panose="02020603050405020304" pitchFamily="18" charset="0"/>
                      </a:endParaRPr>
                    </a:p>
                  </a:txBody>
                  <a:tcPr marL="48000" marR="48000" marT="0" marB="0" anchor="ctr"/>
                </a:tc>
                <a:tc rowSpan="2">
                  <a:txBody>
                    <a:bodyPr/>
                    <a:lstStyle/>
                    <a:p>
                      <a:pPr algn="ctr"/>
                      <a:r>
                        <a:rPr lang="en-US" altLang="zh-TW" sz="1400" dirty="0">
                          <a:solidFill>
                            <a:schemeClr val="dk1"/>
                          </a:solidFill>
                          <a:latin typeface="Times New Roman" panose="02020603050405020304" pitchFamily="18" charset="0"/>
                          <a:cs typeface="Times New Roman" panose="02020603050405020304" pitchFamily="18" charset="0"/>
                          <a:sym typeface="Times New Roman"/>
                        </a:rPr>
                        <a:t>Technique of </a:t>
                      </a:r>
                      <a:r>
                        <a:rPr lang="en-US" altLang="zh-TW" sz="1400" dirty="0">
                          <a:latin typeface="Times New Roman" panose="02020603050405020304" pitchFamily="18" charset="0"/>
                          <a:cs typeface="Times New Roman" panose="02020603050405020304" pitchFamily="18" charset="0"/>
                        </a:rPr>
                        <a:t>single c</a:t>
                      </a:r>
                      <a:r>
                        <a:rPr lang="en-US" altLang="zh-TW" sz="1400" dirty="0">
                          <a:solidFill>
                            <a:schemeClr val="dk1"/>
                          </a:solidFill>
                          <a:latin typeface="Times New Roman" panose="02020603050405020304" pitchFamily="18" charset="0"/>
                          <a:cs typeface="Times New Roman" panose="02020603050405020304" pitchFamily="18" charset="0"/>
                          <a:sym typeface="Times New Roman"/>
                        </a:rPr>
                        <a:t>ommand</a:t>
                      </a:r>
                      <a:endParaRPr lang="zh-TW" altLang="en-US" sz="1400" dirty="0">
                        <a:latin typeface="Times New Roman" panose="02020603050405020304" pitchFamily="18"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TW" sz="1400" dirty="0">
                          <a:solidFill>
                            <a:schemeClr val="dk1"/>
                          </a:solidFill>
                          <a:latin typeface="Times New Roman" panose="02020603050405020304" pitchFamily="18" charset="0"/>
                          <a:cs typeface="Times New Roman" panose="02020603050405020304" pitchFamily="18" charset="0"/>
                          <a:sym typeface="Times New Roman"/>
                        </a:rPr>
                        <a:t>MITRE Engage - Response Manipulation</a:t>
                      </a:r>
                      <a:endParaRPr lang="zh-TW" altLang="en-US" sz="1400"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solidFill>
                            <a:schemeClr val="dk1"/>
                          </a:solidFill>
                          <a:latin typeface="Times New Roman" panose="02020603050405020304" pitchFamily="18" charset="0"/>
                          <a:ea typeface="Times New Roman"/>
                          <a:cs typeface="Times New Roman" panose="02020603050405020304" pitchFamily="18" charset="0"/>
                          <a:sym typeface="Times New Roman"/>
                        </a:rPr>
                        <a:t>Tactic depth</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tc rowSpan="4">
                  <a:txBody>
                    <a:bodyPr/>
                    <a:lstStyle/>
                    <a:p>
                      <a:pPr algn="ctr"/>
                      <a:r>
                        <a:rPr lang="en-US" altLang="zh-TW" sz="1400" dirty="0">
                          <a:latin typeface="Times New Roman" panose="02020603050405020304" pitchFamily="18" charset="0"/>
                          <a:cs typeface="Times New Roman" panose="02020603050405020304" pitchFamily="18" charset="0"/>
                        </a:rPr>
                        <a:t>LLM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vMerge="1">
                  <a:txBody>
                    <a:bodyPr/>
                    <a:lstStyle/>
                    <a:p>
                      <a:endParaRPr lang="zh-TW" altLang="en-US"/>
                    </a:p>
                  </a:txBody>
                  <a:tcPr>
                    <a:lnL w="12700" cap="flat" cmpd="sng" algn="ctr">
                      <a:solidFill>
                        <a:schemeClr val="tx1"/>
                      </a:solidFill>
                      <a:prstDash val="solid"/>
                      <a:round/>
                      <a:headEnd type="none" w="med" len="med"/>
                      <a:tailEnd type="none" w="med" len="med"/>
                    </a:lnL>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2664074035"/>
                  </a:ext>
                </a:extLst>
              </a:tr>
              <a:tr h="607368">
                <a:tc vMerge="1">
                  <a:txBody>
                    <a:bodyPr/>
                    <a:lstStyle/>
                    <a:p>
                      <a:pPr algn="ctr"/>
                      <a:endParaRPr lang="zh-TW" altLang="en-US" dirty="0"/>
                    </a:p>
                  </a:txBody>
                  <a:tcPr marL="48000" marR="4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Chun-</a:t>
                      </a:r>
                      <a:r>
                        <a:rPr lang="en-US" altLang="zh-TW" sz="140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yu</a:t>
                      </a:r>
                      <a:r>
                        <a:rPr lang="en-US" altLang="zh-TW"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[11]</a:t>
                      </a:r>
                      <a:endParaRPr lang="zh-TW" altLang="en-US" sz="1400"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Executor</a:t>
                      </a:r>
                    </a:p>
                  </a:txBody>
                  <a:tcPr marL="0" marR="0" anchor="ctr"/>
                </a:tc>
                <a:tc vMerge="1">
                  <a:txBody>
                    <a:bodyPr/>
                    <a:lstStyle/>
                    <a:p>
                      <a:endParaRPr dirty="0"/>
                    </a:p>
                  </a:txBody>
                  <a:tcPr marL="48000" marR="48000" marT="48000" marB="48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TW" altLang="en-US"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L="48000" marR="4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TW" altLang="en-US"/>
                    </a:p>
                  </a:txBody>
                  <a:tcPr>
                    <a:lnL w="12700" cap="flat" cmpd="sng" algn="ctr">
                      <a:solidFill>
                        <a:schemeClr val="tx1"/>
                      </a:solidFill>
                      <a:prstDash val="solid"/>
                      <a:round/>
                      <a:headEnd type="none" w="med" len="med"/>
                      <a:tailEnd type="none" w="med" len="med"/>
                    </a:lnL>
                  </a:tcPr>
                </a:tc>
                <a:tc>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TlToBr w="12700" cmpd="sng">
                      <a:noFill/>
                      <a:prstDash val="solid"/>
                    </a:lnTlToBr>
                    <a:lnBlToTr w="12700" cmpd="sng">
                      <a:noFill/>
                      <a:prstDash val="solid"/>
                    </a:lnBlToTr>
                  </a:tcPr>
                </a:tc>
                <a:tc>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extLst>
                  <a:ext uri="{0D108BD9-81ED-4DB2-BD59-A6C34878D82A}">
                    <a16:rowId xmlns:a16="http://schemas.microsoft.com/office/drawing/2014/main" val="2546048786"/>
                  </a:ext>
                </a:extLst>
              </a:tr>
              <a:tr h="462231">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6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48000" marR="4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solidFill>
                            <a:schemeClr val="dk1"/>
                          </a:solidFill>
                          <a:latin typeface="Times New Roman" panose="02020603050405020304" pitchFamily="18" charset="0"/>
                          <a:ea typeface="Times New Roman"/>
                          <a:cs typeface="Times New Roman" panose="02020603050405020304" pitchFamily="18" charset="0"/>
                          <a:sym typeface="Times New Roman"/>
                        </a:rPr>
                        <a:t>Rasul [12] </a:t>
                      </a:r>
                      <a:endParaRPr lang="en-US" altLang="zh-TW"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lgn="ctr">
                      <a:solidFill>
                        <a:schemeClr val="tx1"/>
                      </a:solidFill>
                      <a:prstDash val="solid"/>
                      <a:round/>
                      <a:headEnd type="none" w="med" len="med"/>
                      <a:tailEnd type="none" w="med" len="med"/>
                    </a:lnL>
                  </a:tcPr>
                </a:tc>
                <a:tc vMerge="1">
                  <a:txBody>
                    <a:bodyPr/>
                    <a:lstStyle/>
                    <a:p>
                      <a:endParaRPr dirty="0"/>
                    </a:p>
                  </a:txBody>
                  <a:tcPr marL="0" marR="0" marT="0" marB="0" anchor="ctr"/>
                </a:tc>
                <a:tc>
                  <a:txBody>
                    <a:bodyPr/>
                    <a:lstStyle/>
                    <a:p>
                      <a:pPr marL="0" lvl="0" indent="0" algn="ctr" rtl="0">
                        <a:lnSpc>
                          <a:spcPct val="85000"/>
                        </a:lnSpc>
                        <a:spcBef>
                          <a:spcPts val="0"/>
                        </a:spcBef>
                        <a:spcAft>
                          <a:spcPts val="0"/>
                        </a:spcAft>
                        <a:buNone/>
                      </a:pPr>
                      <a:r>
                        <a:rPr lang="en-US" altLang="zh-TW" sz="1400" dirty="0">
                          <a:solidFill>
                            <a:schemeClr val="dk1"/>
                          </a:solidFill>
                          <a:latin typeface="Times New Roman" panose="02020603050405020304" pitchFamily="18" charset="0"/>
                          <a:ea typeface="Times New Roman"/>
                          <a:cs typeface="Times New Roman" panose="02020603050405020304" pitchFamily="18" charset="0"/>
                          <a:sym typeface="Times New Roman"/>
                        </a:rPr>
                        <a:t>Tactic of single command</a:t>
                      </a:r>
                      <a:endParaRPr lang="en-US" sz="1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L="48000" marR="4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TW" altLang="en-US"/>
                    </a:p>
                  </a:txBody>
                  <a:tcPr>
                    <a:lnL w="12700" cap="flat" cmpd="sng" algn="ctr">
                      <a:solidFill>
                        <a:schemeClr val="tx1"/>
                      </a:solidFill>
                      <a:prstDash val="solid"/>
                      <a:round/>
                      <a:headEnd type="none" w="med" len="med"/>
                      <a:tailEnd type="none" w="med" len="med"/>
                    </a:lnL>
                  </a:tcPr>
                </a:tc>
                <a:tc vMerge="1">
                  <a:txBody>
                    <a:bodyPr/>
                    <a:lstStyle/>
                    <a:p>
                      <a:endParaRPr lang="zh-TW"/>
                    </a:p>
                  </a:txBody>
                  <a:tcPr/>
                </a:tc>
                <a:tc vMerge="1">
                  <a:txBody>
                    <a:bodyPr/>
                    <a:lstStyle/>
                    <a:p>
                      <a:endParaRPr lang="zh-TW"/>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TlToBr w="12700" cmpd="sng">
                      <a:noFill/>
                      <a:prstDash val="solid"/>
                    </a:lnTlToBr>
                    <a:lnBlToTr w="12700" cmpd="sng">
                      <a:noFill/>
                      <a:prstDash val="solid"/>
                    </a:lnBlToTr>
                  </a:tcPr>
                </a:tc>
                <a:tc>
                  <a:txBody>
                    <a:bodyPr/>
                    <a:lstStyle/>
                    <a:p>
                      <a:pPr algn="ctr"/>
                      <a:r>
                        <a:rPr lang="en-US" altLang="zh-TW" sz="1400" b="1" dirty="0">
                          <a:latin typeface="Times New Roman" panose="02020603050405020304" pitchFamily="18" charset="0"/>
                          <a:cs typeface="Times New Roman" panose="02020603050405020304" pitchFamily="18" charset="0"/>
                        </a:rPr>
                        <a:t>v</a:t>
                      </a:r>
                      <a:endParaRPr lang="zh-TW" altLang="en-US" sz="1400" b="1" dirty="0">
                        <a:latin typeface="Times New Roman" panose="02020603050405020304" pitchFamily="18" charset="0"/>
                        <a:cs typeface="Times New Roman" panose="02020603050405020304" pitchFamily="18" charset="0"/>
                      </a:endParaRPr>
                    </a:p>
                  </a:txBody>
                  <a:tcPr marL="0" marR="0" marT="48000" marB="48000" anchor="ctr">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tc>
                  <a:txBody>
                    <a:bodyPr/>
                    <a:lstStyle/>
                    <a:p>
                      <a:pPr algn="ctr"/>
                      <a:r>
                        <a:rPr lang="en-US" altLang="zh-TW" sz="1400" b="0" dirty="0">
                          <a:latin typeface="Times New Roman" panose="02020603050405020304" pitchFamily="18" charset="0"/>
                          <a:cs typeface="Times New Roman" panose="02020603050405020304" pitchFamily="18" charset="0"/>
                        </a:rPr>
                        <a:t>-</a:t>
                      </a:r>
                      <a:endParaRPr lang="zh-TW" altLang="en-US" sz="1400" b="0" dirty="0">
                        <a:latin typeface="Times New Roman" panose="02020603050405020304" pitchFamily="18" charset="0"/>
                        <a:cs typeface="Times New Roman" panose="02020603050405020304" pitchFamily="18" charset="0"/>
                      </a:endParaRPr>
                    </a:p>
                  </a:txBody>
                  <a:tcPr marL="0" marR="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lToBr w="12700" cmpd="sng">
                      <a:noFill/>
                      <a:prstDash val="solid"/>
                    </a:lnTlToBr>
                    <a:lnBlToTr w="12700" cmpd="sng">
                      <a:noFill/>
                      <a:prstDash val="solid"/>
                    </a:lnBlToTr>
                  </a:tcPr>
                </a:tc>
                <a:extLst>
                  <a:ext uri="{0D108BD9-81ED-4DB2-BD59-A6C34878D82A}">
                    <a16:rowId xmlns:a16="http://schemas.microsoft.com/office/drawing/2014/main" val="10007"/>
                  </a:ext>
                </a:extLst>
              </a:tr>
              <a:tr h="652243">
                <a:tc>
                  <a:txBody>
                    <a:bodyPr/>
                    <a:lstStyle/>
                    <a:p>
                      <a:pPr marL="0" marR="0" lvl="0" indent="0" algn="ctr" rtl="0">
                        <a:lnSpc>
                          <a:spcPct val="85000"/>
                        </a:lnSpc>
                        <a:spcBef>
                          <a:spcPts val="0"/>
                        </a:spcBef>
                        <a:spcAft>
                          <a:spcPts val="0"/>
                        </a:spcAft>
                        <a:buNone/>
                      </a:pPr>
                      <a:r>
                        <a:rPr lang="en-US"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Unified </a:t>
                      </a:r>
                    </a:p>
                    <a:p>
                      <a:pPr marL="0" marR="0" lvl="0" indent="0" algn="ctr" rtl="0">
                        <a:lnSpc>
                          <a:spcPct val="85000"/>
                        </a:lnSpc>
                        <a:spcBef>
                          <a:spcPts val="0"/>
                        </a:spcBef>
                        <a:spcAft>
                          <a:spcPts val="0"/>
                        </a:spcAft>
                        <a:buNone/>
                      </a:pPr>
                      <a:r>
                        <a:rPr lang="en-US"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RL-LLM Honeypot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85000"/>
                        </a:lnSpc>
                        <a:spcBef>
                          <a:spcPts val="0"/>
                        </a:spcBef>
                        <a:spcAft>
                          <a:spcPts val="0"/>
                        </a:spcAft>
                        <a:buNone/>
                      </a:pPr>
                      <a:r>
                        <a:rPr lang="en-US"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Ours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100"/>
                        <a:buFont typeface="Arial"/>
                        <a:buNone/>
                      </a:pPr>
                      <a:r>
                        <a:rPr lang="en-US" altLang="zh-TW" sz="1400" dirty="0">
                          <a:latin typeface="Times New Roman" panose="02020603050405020304" pitchFamily="18" charset="0"/>
                          <a:cs typeface="Times New Roman" panose="02020603050405020304" pitchFamily="18" charset="0"/>
                        </a:rPr>
                        <a:t>Strategist</a:t>
                      </a:r>
                      <a:endParaRPr lang="en-US" altLang="zh-TW"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100"/>
                        <a:buFont typeface="Arial"/>
                        <a:buNone/>
                      </a:pPr>
                      <a:r>
                        <a:rPr lang="en-US" altLang="zh-TW"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Command sequence</a:t>
                      </a:r>
                      <a:endParaRPr lang="en-US"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400" b="0" dirty="0">
                          <a:latin typeface="Times New Roman" panose="02020603050405020304" pitchFamily="18" charset="0"/>
                          <a:cs typeface="Times New Roman" panose="02020603050405020304" pitchFamily="18" charset="0"/>
                        </a:rPr>
                        <a:t>MITRE Engage - System manipulation</a:t>
                      </a:r>
                      <a:endParaRPr lang="zh-TW" altLang="en-US" sz="1400" b="0"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100"/>
                        <a:buFont typeface="Arial"/>
                        <a:buNone/>
                      </a:pPr>
                      <a:r>
                        <a:rPr lang="en-US" altLang="zh-TW" sz="1400" dirty="0">
                          <a:solidFill>
                            <a:schemeClr val="dk1"/>
                          </a:solidFill>
                          <a:latin typeface="Times New Roman" panose="02020603050405020304" pitchFamily="18" charset="0"/>
                          <a:ea typeface="Times New Roman"/>
                          <a:cs typeface="Times New Roman" panose="02020603050405020304" pitchFamily="18" charset="0"/>
                          <a:sym typeface="Times New Roman"/>
                        </a:rPr>
                        <a:t>Tactic Depth </a:t>
                      </a:r>
                    </a:p>
                    <a:p>
                      <a:pPr marL="0" marR="0" lvl="0" indent="0" algn="ctr" rtl="0">
                        <a:lnSpc>
                          <a:spcPct val="100000"/>
                        </a:lnSpc>
                        <a:spcBef>
                          <a:spcPts val="0"/>
                        </a:spcBef>
                        <a:spcAft>
                          <a:spcPts val="0"/>
                        </a:spcAft>
                        <a:buClr>
                          <a:srgbClr val="000000"/>
                        </a:buClr>
                        <a:buSzPts val="1100"/>
                        <a:buFont typeface="Arial"/>
                        <a:buNone/>
                      </a:pPr>
                      <a:r>
                        <a:rPr lang="en-US" altLang="zh-TW" sz="1400" dirty="0">
                          <a:solidFill>
                            <a:schemeClr val="dk1"/>
                          </a:solidFill>
                          <a:latin typeface="Times New Roman" panose="02020603050405020304" pitchFamily="18" charset="0"/>
                          <a:ea typeface="Times New Roman"/>
                          <a:cs typeface="Times New Roman" panose="02020603050405020304" pitchFamily="18" charset="0"/>
                          <a:sym typeface="Times New Roman"/>
                        </a:rPr>
                        <a:t>And Technique Diversity</a:t>
                      </a:r>
                      <a:endParaRPr lang="zh-TW" altLang="en-US" sz="1400"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TW"/>
                    </a:p>
                  </a:txBody>
                  <a:tcPr>
                    <a:lnT w="12700" cap="flat" cmpd="sng" algn="ctr">
                      <a:solidFill>
                        <a:schemeClr val="tx1"/>
                      </a:solidFill>
                      <a:prstDash val="solid"/>
                      <a:round/>
                      <a:headEnd type="none" w="med" len="med"/>
                      <a:tailEnd type="none" w="med" len="med"/>
                    </a:lnT>
                  </a:tcPr>
                </a:tc>
                <a:tc>
                  <a:txBody>
                    <a:bodyPr/>
                    <a:lstStyle/>
                    <a:p>
                      <a:pPr marL="0" lvl="0" indent="0" algn="ctr" rtl="0">
                        <a:lnSpc>
                          <a:spcPct val="85000"/>
                        </a:lnSpc>
                        <a:spcBef>
                          <a:spcPts val="0"/>
                        </a:spcBef>
                        <a:spcAft>
                          <a:spcPts val="0"/>
                        </a:spcAft>
                        <a:buNone/>
                      </a:pPr>
                      <a:r>
                        <a:rPr lang="en-US" altLang="zh-TW"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v</a:t>
                      </a:r>
                      <a:endParaRPr lang="en-US" sz="1400" b="1" dirty="0">
                        <a:latin typeface="Times New Roman" panose="02020603050405020304" pitchFamily="18" charset="0"/>
                        <a:cs typeface="Times New Roman" panose="02020603050405020304" pitchFamily="18" charset="0"/>
                      </a:endParaRPr>
                    </a:p>
                  </a:txBody>
                  <a:tcPr marL="0" marR="0" marT="0" marB="0" anchor="ct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lnSpc>
                          <a:spcPct val="85000"/>
                        </a:lnSpc>
                        <a:spcBef>
                          <a:spcPts val="0"/>
                        </a:spcBef>
                        <a:spcAft>
                          <a:spcPts val="0"/>
                        </a:spcAft>
                        <a:buNone/>
                      </a:pPr>
                      <a:r>
                        <a:rPr lang="en-US" sz="1400" b="1" dirty="0">
                          <a:latin typeface="Times New Roman" panose="02020603050405020304" pitchFamily="18" charset="0"/>
                          <a:cs typeface="Times New Roman" panose="02020603050405020304" pitchFamily="18" charset="0"/>
                        </a:rPr>
                        <a:t>v</a:t>
                      </a:r>
                    </a:p>
                  </a:txBody>
                  <a:tcPr marL="0" marR="0" marT="0" marB="0" anchor="ct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lnSpc>
                          <a:spcPct val="85000"/>
                        </a:lnSpc>
                        <a:spcBef>
                          <a:spcPts val="0"/>
                        </a:spcBef>
                        <a:spcAft>
                          <a:spcPts val="0"/>
                        </a:spcAft>
                        <a:buNone/>
                      </a:pPr>
                      <a:r>
                        <a:rPr lang="en-US" sz="1400" b="1" dirty="0">
                          <a:latin typeface="Times New Roman" panose="02020603050405020304" pitchFamily="18" charset="0"/>
                          <a:cs typeface="Times New Roman" panose="02020603050405020304" pitchFamily="18" charset="0"/>
                        </a:rPr>
                        <a:t>v</a:t>
                      </a:r>
                    </a:p>
                  </a:txBody>
                  <a:tcPr marL="0" marR="0" marT="0" marB="0" anchor="ct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lnSpc>
                          <a:spcPct val="85000"/>
                        </a:lnSpc>
                        <a:spcBef>
                          <a:spcPts val="0"/>
                        </a:spcBef>
                        <a:spcAft>
                          <a:spcPts val="0"/>
                        </a:spcAft>
                        <a:buNone/>
                      </a:pPr>
                      <a:r>
                        <a:rPr lang="en-US" sz="1400" b="1" dirty="0">
                          <a:latin typeface="Times New Roman" panose="02020603050405020304" pitchFamily="18" charset="0"/>
                          <a:cs typeface="Times New Roman" panose="02020603050405020304" pitchFamily="18" charset="0"/>
                        </a:rPr>
                        <a:t>v</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79825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ctrTitle"/>
          </p:nvPr>
        </p:nvSpPr>
        <p:spPr>
          <a:xfrm>
            <a:off x="312733" y="39356"/>
            <a:ext cx="11260400" cy="705200"/>
          </a:xfrm>
          <a:prstGeom prst="rect">
            <a:avLst/>
          </a:prstGeom>
        </p:spPr>
        <p:txBody>
          <a:bodyPr spcFirstLastPara="1" vert="horz" wrap="square" lIns="121900" tIns="121900" rIns="121900" bIns="121900" rtlCol="0" anchor="t" anchorCtr="0">
            <a:noAutofit/>
          </a:bodyPr>
          <a:lstStyle/>
          <a:p>
            <a:pPr algn="l">
              <a:spcBef>
                <a:spcPts val="0"/>
              </a:spcBef>
              <a:buSzPts val="2700"/>
            </a:pPr>
            <a:r>
              <a:rPr lang="en-US" altLang="zh-TW" sz="4000" dirty="0">
                <a:latin typeface="Times New Roman"/>
                <a:ea typeface="Times New Roman"/>
                <a:cs typeface="Times New Roman"/>
                <a:sym typeface="Times New Roman"/>
              </a:rPr>
              <a:t>Notation</a:t>
            </a:r>
            <a:endParaRPr sz="4000" dirty="0">
              <a:latin typeface="Times New Roman"/>
              <a:ea typeface="Times New Roman"/>
              <a:cs typeface="Times New Roman"/>
              <a:sym typeface="Times New Roman"/>
            </a:endParaRPr>
          </a:p>
        </p:txBody>
      </p:sp>
      <p:sp>
        <p:nvSpPr>
          <p:cNvPr id="207" name="Google Shape;207;p27"/>
          <p:cNvSpPr txBox="1">
            <a:spLocks noGrp="1"/>
          </p:cNvSpPr>
          <p:nvPr>
            <p:ph type="sldNum" idx="12"/>
          </p:nvPr>
        </p:nvSpPr>
        <p:spPr>
          <a:xfrm>
            <a:off x="11460411" y="6333189"/>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11</a:t>
            </a:fld>
            <a:endParaRPr dirty="0"/>
          </a:p>
        </p:txBody>
      </p:sp>
      <mc:AlternateContent xmlns:mc="http://schemas.openxmlformats.org/markup-compatibility/2006" xmlns:a14="http://schemas.microsoft.com/office/drawing/2010/main">
        <mc:Choice Requires="a14">
          <p:graphicFrame>
            <p:nvGraphicFramePr>
              <p:cNvPr id="208" name="Google Shape;208;p27"/>
              <p:cNvGraphicFramePr/>
              <p:nvPr>
                <p:extLst>
                  <p:ext uri="{D42A27DB-BD31-4B8C-83A1-F6EECF244321}">
                    <p14:modId xmlns:p14="http://schemas.microsoft.com/office/powerpoint/2010/main" val="686619008"/>
                  </p:ext>
                </p:extLst>
              </p:nvPr>
            </p:nvGraphicFramePr>
            <p:xfrm>
              <a:off x="1125622" y="670330"/>
              <a:ext cx="10334789" cy="6074208"/>
            </p:xfrm>
            <a:graphic>
              <a:graphicData uri="http://schemas.openxmlformats.org/drawingml/2006/table">
                <a:tbl>
                  <a:tblPr>
                    <a:noFill/>
                  </a:tblPr>
                  <a:tblGrid>
                    <a:gridCol w="1428373">
                      <a:extLst>
                        <a:ext uri="{9D8B030D-6E8A-4147-A177-3AD203B41FA5}">
                          <a16:colId xmlns:a16="http://schemas.microsoft.com/office/drawing/2014/main" val="20000"/>
                        </a:ext>
                      </a:extLst>
                    </a:gridCol>
                    <a:gridCol w="1543500">
                      <a:extLst>
                        <a:ext uri="{9D8B030D-6E8A-4147-A177-3AD203B41FA5}">
                          <a16:colId xmlns:a16="http://schemas.microsoft.com/office/drawing/2014/main" val="20001"/>
                        </a:ext>
                      </a:extLst>
                    </a:gridCol>
                    <a:gridCol w="7362916">
                      <a:extLst>
                        <a:ext uri="{9D8B030D-6E8A-4147-A177-3AD203B41FA5}">
                          <a16:colId xmlns:a16="http://schemas.microsoft.com/office/drawing/2014/main" val="20002"/>
                        </a:ext>
                      </a:extLst>
                    </a:gridCol>
                  </a:tblGrid>
                  <a:tr h="316311">
                    <a:tc>
                      <a:txBody>
                        <a:bodyPr/>
                        <a:lstStyle/>
                        <a:p>
                          <a:pPr marL="0" lvl="0" indent="0" algn="ctr" rtl="0">
                            <a:spcBef>
                              <a:spcPts val="0"/>
                            </a:spcBef>
                            <a:spcAft>
                              <a:spcPts val="0"/>
                            </a:spcAft>
                            <a:buNone/>
                          </a:pPr>
                          <a:r>
                            <a:rPr lang="zh-TW" sz="1600" b="1" dirty="0">
                              <a:solidFill>
                                <a:schemeClr val="dk1"/>
                              </a:solidFill>
                              <a:latin typeface="Times New Roman"/>
                              <a:ea typeface="Times New Roman"/>
                              <a:cs typeface="Times New Roman"/>
                              <a:sym typeface="Times New Roman"/>
                            </a:rPr>
                            <a:t>Category</a:t>
                          </a:r>
                          <a:endParaRPr sz="1600" b="1"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1600" b="1" dirty="0">
                              <a:solidFill>
                                <a:schemeClr val="dk1"/>
                              </a:solidFill>
                              <a:latin typeface="Times New Roman"/>
                              <a:ea typeface="Times New Roman"/>
                              <a:cs typeface="Times New Roman"/>
                              <a:sym typeface="Times New Roman"/>
                            </a:rPr>
                            <a:t>Notation</a:t>
                          </a:r>
                          <a:endParaRPr sz="1600" b="1"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1600" b="1" dirty="0">
                              <a:solidFill>
                                <a:schemeClr val="dk1"/>
                              </a:solidFill>
                              <a:latin typeface="Times New Roman"/>
                              <a:ea typeface="Times New Roman"/>
                              <a:cs typeface="Times New Roman"/>
                              <a:sym typeface="Times New Roman"/>
                            </a:rPr>
                            <a:t>Description</a:t>
                          </a:r>
                          <a:endParaRPr sz="1600" b="1"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72181">
                    <a:tc rowSpan="4">
                      <a:txBody>
                        <a:bodyPr/>
                        <a:lstStyle/>
                        <a:p>
                          <a:pPr marL="0" lvl="0" indent="0" algn="ctr" rtl="0">
                            <a:spcBef>
                              <a:spcPts val="0"/>
                            </a:spcBef>
                            <a:spcAft>
                              <a:spcPts val="0"/>
                            </a:spcAft>
                            <a:buNone/>
                          </a:pPr>
                          <a:r>
                            <a:rPr lang="en-US" altLang="zh-TW" sz="1600" dirty="0">
                              <a:solidFill>
                                <a:schemeClr val="dk1"/>
                              </a:solidFill>
                              <a:latin typeface="Times New Roman"/>
                              <a:cs typeface="Times New Roman"/>
                              <a:sym typeface="Times New Roman"/>
                            </a:rPr>
                            <a:t>Common</a:t>
                          </a:r>
                          <a:endParaRPr sz="1600" dirty="0">
                            <a:solidFill>
                              <a:schemeClr val="dk1"/>
                            </a:solidFill>
                            <a:latin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TW" sz="1600" b="0" i="1" smtClean="0">
                                    <a:solidFill>
                                      <a:schemeClr val="dk1"/>
                                    </a:solidFill>
                                    <a:latin typeface="Cambria Math" panose="02040503050406030204" pitchFamily="18" charset="0"/>
                                    <a:ea typeface="Libertinus Math"/>
                                    <a:cs typeface="Libertinus Math"/>
                                    <a:sym typeface="Libertinus Math"/>
                                  </a:rPr>
                                  <m:t>𝒯</m:t>
                                </m:r>
                              </m:oMath>
                            </m:oMathPara>
                          </a14:m>
                          <a:endParaRPr sz="1600" dirty="0">
                            <a:solidFill>
                              <a:schemeClr val="dk1"/>
                            </a:solidFill>
                            <a:latin typeface="Libertinus Math"/>
                            <a:ea typeface="Libertinus Math"/>
                            <a:cs typeface="Libertinus Math"/>
                            <a:sym typeface="Libertinus Math"/>
                          </a:endParaRPr>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ltLang="zh-TW" sz="1600" dirty="0">
                              <a:solidFill>
                                <a:schemeClr val="dk1"/>
                              </a:solidFill>
                              <a:latin typeface="Cambria Math"/>
                              <a:ea typeface="Cambria Math"/>
                              <a:cs typeface="Cambria Math"/>
                              <a:sym typeface="Cambria Math"/>
                            </a:rPr>
                            <a:t>A trajectory representing the full engagement context of a single session,</a:t>
                          </a:r>
                        </a:p>
                        <a:p>
                          <a:pPr marL="0" lvl="0" indent="0" algn="l" rtl="0">
                            <a:spcBef>
                              <a:spcPts val="0"/>
                            </a:spcBef>
                            <a:spcAft>
                              <a:spcPts val="0"/>
                            </a:spcAft>
                            <a:buNone/>
                          </a:pPr>
                          <a:r>
                            <a:rPr lang="en-US" altLang="zh-TW" sz="1600" dirty="0">
                              <a:solidFill>
                                <a:schemeClr val="dk1"/>
                              </a:solidFill>
                              <a:latin typeface="Cambria Math"/>
                              <a:ea typeface="Cambria Math"/>
                              <a:cs typeface="Cambria Math"/>
                              <a:sym typeface="Cambria Math"/>
                            </a:rPr>
                            <a:t>typically defined as a sequence of states, actions, and rewards.</a:t>
                          </a:r>
                          <a:endParaRPr lang="en-US"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087520289"/>
                      </a:ext>
                    </a:extLst>
                  </a:tr>
                  <a:tr h="329638">
                    <a:tc vMerge="1">
                      <a:txBody>
                        <a:bodyPr/>
                        <a:lstStyle/>
                        <a:p>
                          <a:endParaRPr dirty="0"/>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𝑐</m:t>
                                    </m:r>
                                  </m:sub>
                                </m:sSub>
                              </m:oMath>
                            </m:oMathPara>
                          </a14:m>
                          <a:endParaRPr lang="zh-TW" altLang="en-US" sz="1600" dirty="0"/>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dirty="0">
                              <a:latin typeface="Cambria Math"/>
                              <a:ea typeface="Cambria Math"/>
                              <a:cs typeface="Cambria Math"/>
                              <a:sym typeface="Cambria Math"/>
                            </a:rPr>
                            <a:t>Total number of commands in</a:t>
                          </a:r>
                          <a:r>
                            <a:rPr lang="en-US" sz="1600" baseline="0" dirty="0">
                              <a:latin typeface="Cambria Math"/>
                              <a:ea typeface="Cambria Math"/>
                              <a:cs typeface="Cambria Math"/>
                              <a:sym typeface="Cambria Math"/>
                            </a:rPr>
                            <a:t> one trajectory</a:t>
                          </a:r>
                          <a:r>
                            <a:rPr lang="en-US" sz="1600" dirty="0">
                              <a:latin typeface="Cambria Math"/>
                              <a:ea typeface="Cambria Math"/>
                              <a:cs typeface="Cambria Math"/>
                              <a:sym typeface="Cambria Math"/>
                            </a:rPr>
                            <a:t>, where index</a:t>
                          </a:r>
                          <a:r>
                            <a:rPr lang="en-US" sz="1600" baseline="0" dirty="0">
                              <a:latin typeface="Cambria Math"/>
                              <a:ea typeface="Cambria Math"/>
                              <a:cs typeface="Cambria Math"/>
                              <a:sym typeface="Cambria Math"/>
                            </a:rPr>
                            <a:t> </a:t>
                          </a:r>
                          <a14:m>
                            <m:oMath xmlns:m="http://schemas.openxmlformats.org/officeDocument/2006/math">
                              <m:r>
                                <a:rPr lang="en-US" sz="1600" b="0" i="1" baseline="0" smtClean="0">
                                  <a:latin typeface="Cambria Math" panose="02040503050406030204" pitchFamily="18" charset="0"/>
                                  <a:ea typeface="Cambria Math"/>
                                  <a:cs typeface="Cambria Math"/>
                                  <a:sym typeface="Cambria Math"/>
                                </a:rPr>
                                <m:t>𝑖</m:t>
                              </m:r>
                              <m:r>
                                <a:rPr lang="en-US" sz="1600" b="0" i="1" baseline="0" smtClean="0">
                                  <a:latin typeface="Cambria Math" panose="02040503050406030204" pitchFamily="18" charset="0"/>
                                  <a:ea typeface="Cambria Math"/>
                                  <a:cs typeface="Cambria Math"/>
                                  <a:sym typeface="Cambria Math"/>
                                </a:rPr>
                                <m:t>∈</m:t>
                              </m:r>
                              <m:r>
                                <m:rPr>
                                  <m:lit/>
                                </m:rPr>
                                <a:rPr lang="en-US" sz="1600" b="0" i="1" baseline="0" smtClean="0">
                                  <a:latin typeface="Cambria Math" panose="02040503050406030204" pitchFamily="18" charset="0"/>
                                  <a:ea typeface="Cambria Math"/>
                                  <a:cs typeface="Cambria Math"/>
                                  <a:sym typeface="Cambria Math"/>
                                </a:rPr>
                                <m:t>{</m:t>
                              </m:r>
                              <m:r>
                                <a:rPr lang="en-US" altLang="zh-TW" sz="1600" b="0" i="1" baseline="0" smtClean="0">
                                  <a:latin typeface="Cambria Math" panose="02040503050406030204" pitchFamily="18" charset="0"/>
                                  <a:ea typeface="Cambria Math"/>
                                  <a:cs typeface="Cambria Math"/>
                                  <a:sym typeface="Cambria Math"/>
                                </a:rPr>
                                <m:t>1,2,…</m:t>
                              </m:r>
                              <m:sSub>
                                <m:sSubPr>
                                  <m:ctrlPr>
                                    <a:rPr lang="en-US" altLang="zh-TW" sz="1600" b="0" i="1" baseline="0" smtClean="0">
                                      <a:latin typeface="Cambria Math" panose="02040503050406030204" pitchFamily="18" charset="0"/>
                                      <a:ea typeface="Cambria Math"/>
                                      <a:cs typeface="Cambria Math"/>
                                      <a:sym typeface="Cambria Math"/>
                                    </a:rPr>
                                  </m:ctrlPr>
                                </m:sSubPr>
                                <m:e>
                                  <m:r>
                                    <a:rPr lang="en-US" altLang="zh-TW" sz="1600" b="0" i="1" baseline="0" smtClean="0">
                                      <a:latin typeface="Cambria Math" panose="02040503050406030204" pitchFamily="18" charset="0"/>
                                      <a:ea typeface="Cambria Math"/>
                                      <a:sym typeface="Cambria Math"/>
                                    </a:rPr>
                                    <m:t>𝑁</m:t>
                                  </m:r>
                                </m:e>
                                <m:sub>
                                  <m:r>
                                    <a:rPr lang="en-US" altLang="zh-TW" sz="1600" b="0" i="1" baseline="0" smtClean="0">
                                      <a:latin typeface="Cambria Math" panose="02040503050406030204" pitchFamily="18" charset="0"/>
                                      <a:ea typeface="Cambria Math"/>
                                      <a:sym typeface="Cambria Math"/>
                                    </a:rPr>
                                    <m:t>𝑐</m:t>
                                  </m:r>
                                </m:sub>
                              </m:sSub>
                              <m:r>
                                <m:rPr>
                                  <m:lit/>
                                </m:rPr>
                                <a:rPr lang="en-US" altLang="zh-TW" sz="1600" b="0" i="1" baseline="0" smtClean="0">
                                  <a:latin typeface="Cambria Math" panose="02040503050406030204" pitchFamily="18" charset="0"/>
                                  <a:ea typeface="Cambria Math"/>
                                  <a:sym typeface="Cambria Math"/>
                                </a:rPr>
                                <m:t>}</m:t>
                              </m:r>
                            </m:oMath>
                          </a14:m>
                          <a:endParaRPr sz="1600" i="0" dirty="0">
                            <a:latin typeface="Cambria Math" panose="02040503050406030204" pitchFamily="18" charset="0"/>
                            <a:ea typeface="Cambria Math" panose="02040503050406030204" pitchFamily="18" charset="0"/>
                            <a:cs typeface="Cambria Math"/>
                            <a:sym typeface="Cambria Math"/>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16311">
                    <a:tc vMerge="1">
                      <a:txBody>
                        <a:bodyPr/>
                        <a:lstStyle/>
                        <a:p>
                          <a:endParaRPr lang="zh-TW"/>
                        </a:p>
                      </a:txBody>
                      <a:tcPr>
                        <a:lnT w="9525" cap="flat" cmpd="sng" algn="ctr">
                          <a:solidFill>
                            <a:schemeClr val="dk1"/>
                          </a:solidFill>
                          <a:prstDash val="solid"/>
                          <a:round/>
                          <a:headEnd type="none" w="sm" len="sm"/>
                          <a:tailEnd type="none" w="sm" len="sm"/>
                        </a:lnT>
                      </a:tcPr>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𝐶</m:t>
                                    </m:r>
                                  </m:e>
                                  <m:sub>
                                    <m:r>
                                      <a:rPr lang="en-US" altLang="zh-TW" sz="1600" b="0" i="1" smtClean="0">
                                        <a:latin typeface="Cambria Math" panose="02040503050406030204" pitchFamily="18" charset="0"/>
                                      </a:rPr>
                                      <m:t>𝑖</m:t>
                                    </m:r>
                                  </m:sub>
                                </m:sSub>
                              </m:oMath>
                            </m:oMathPara>
                          </a14:m>
                          <a:endParaRPr sz="1600" dirty="0">
                            <a:solidFill>
                              <a:schemeClr val="dk1"/>
                            </a:solidFill>
                            <a:latin typeface="Libertinus Math"/>
                            <a:ea typeface="Libertinus Math"/>
                            <a:cs typeface="Libertinus Math"/>
                            <a:sym typeface="Libertinus Math"/>
                          </a:endParaRPr>
                        </a:p>
                      </a:txBody>
                      <a:tcPr marL="136800" marR="136800" marT="28800" marB="28800" anchor="ctr">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ltLang="zh-TW" sz="1600" dirty="0">
                              <a:solidFill>
                                <a:schemeClr val="dk1"/>
                              </a:solidFill>
                              <a:latin typeface="Cambria Math"/>
                              <a:ea typeface="Cambria Math"/>
                              <a:cs typeface="Cambria Math"/>
                              <a:sym typeface="Cambria Math"/>
                            </a:rPr>
                            <a:t>The </a:t>
                          </a:r>
                          <a14:m>
                            <m:oMath xmlns:m="http://schemas.openxmlformats.org/officeDocument/2006/math">
                              <m:r>
                                <a:rPr lang="en-US" altLang="zh-TW" sz="1600" b="0" i="1" smtClean="0">
                                  <a:solidFill>
                                    <a:schemeClr val="dk1"/>
                                  </a:solidFill>
                                  <a:latin typeface="Cambria Math" panose="02040503050406030204" pitchFamily="18" charset="0"/>
                                  <a:ea typeface="Cambria Math"/>
                                  <a:cs typeface="Cambria Math"/>
                                  <a:sym typeface="Cambria Math"/>
                                </a:rPr>
                                <m:t>𝑖</m:t>
                              </m:r>
                            </m:oMath>
                          </a14:m>
                          <a:r>
                            <a:rPr lang="en-US" altLang="zh-TW" sz="1600" dirty="0">
                              <a:solidFill>
                                <a:schemeClr val="dk1"/>
                              </a:solidFill>
                              <a:latin typeface="Cambria Math"/>
                              <a:ea typeface="Cambria Math"/>
                              <a:cs typeface="Cambria Math"/>
                              <a:sym typeface="Cambria Math"/>
                            </a:rPr>
                            <a:t>-</a:t>
                          </a:r>
                          <a:r>
                            <a:rPr lang="en-US" altLang="zh-TW" sz="1600" dirty="0" err="1">
                              <a:solidFill>
                                <a:schemeClr val="dk1"/>
                              </a:solidFill>
                              <a:latin typeface="Cambria Math"/>
                              <a:ea typeface="Cambria Math"/>
                              <a:cs typeface="Cambria Math"/>
                              <a:sym typeface="Cambria Math"/>
                            </a:rPr>
                            <a:t>th</a:t>
                          </a:r>
                          <a:r>
                            <a:rPr lang="en-US" altLang="zh-TW" sz="1600" dirty="0">
                              <a:solidFill>
                                <a:schemeClr val="dk1"/>
                              </a:solidFill>
                              <a:latin typeface="Cambria Math"/>
                              <a:ea typeface="Cambria Math"/>
                              <a:cs typeface="Cambria Math"/>
                              <a:sym typeface="Cambria Math"/>
                            </a:rPr>
                            <a:t> input command from the attacker in one trajectory.</a:t>
                          </a:r>
                          <a:endParaRPr sz="1600" dirty="0">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16311">
                    <a:tc vMerge="1">
                      <a:txBody>
                        <a:bodyPr/>
                        <a:lstStyle/>
                        <a:p>
                          <a:pPr marL="0" lvl="0" indent="0" algn="ctr" rtl="0">
                            <a:spcBef>
                              <a:spcPts val="0"/>
                            </a:spcBef>
                            <a:spcAft>
                              <a:spcPts val="0"/>
                            </a:spcAft>
                            <a:buNone/>
                          </a:pPr>
                          <a:endParaRPr sz="1600" dirty="0">
                            <a:solidFill>
                              <a:schemeClr val="dk1"/>
                            </a:solidFill>
                            <a:latin typeface="Times New Roman"/>
                            <a:ea typeface="Times New Roman"/>
                            <a:cs typeface="Times New Roman"/>
                            <a:sym typeface="Times New Roman"/>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TW" sz="1600" b="0" i="1" smtClean="0">
                                        <a:solidFill>
                                          <a:schemeClr val="dk1"/>
                                        </a:solidFill>
                                        <a:latin typeface="Cambria Math" panose="02040503050406030204" pitchFamily="18" charset="0"/>
                                        <a:sym typeface="Libertinus Math"/>
                                      </a:rPr>
                                    </m:ctrlPr>
                                  </m:sSubPr>
                                  <m:e>
                                    <m:r>
                                      <a:rPr lang="en-US" altLang="zh-TW" sz="1600" b="0" i="1" smtClean="0">
                                        <a:solidFill>
                                          <a:schemeClr val="dk1"/>
                                        </a:solidFill>
                                        <a:latin typeface="Cambria Math" panose="02040503050406030204" pitchFamily="18" charset="0"/>
                                        <a:sym typeface="Libertinus Math"/>
                                      </a:rPr>
                                      <m:t>𝐶</m:t>
                                    </m:r>
                                  </m:e>
                                  <m:sub>
                                    <m:r>
                                      <a:rPr lang="en-US" altLang="zh-TW" sz="1600" b="0" i="1" smtClean="0">
                                        <a:solidFill>
                                          <a:schemeClr val="dk1"/>
                                        </a:solidFill>
                                        <a:latin typeface="Cambria Math" panose="02040503050406030204" pitchFamily="18" charset="0"/>
                                        <a:sym typeface="Libertinus Math"/>
                                      </a:rPr>
                                      <m:t>𝐵</m:t>
                                    </m:r>
                                  </m:sub>
                                </m:sSub>
                              </m:oMath>
                            </m:oMathPara>
                          </a14:m>
                          <a:endParaRPr sz="1600" dirty="0">
                            <a:solidFill>
                              <a:schemeClr val="dk1"/>
                            </a:solidFill>
                            <a:latin typeface="Libertinus Math"/>
                            <a:ea typeface="Libertinus Math"/>
                            <a:cs typeface="Libertinus Math"/>
                            <a:sym typeface="Libertinus Math"/>
                          </a:endParaRPr>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latin typeface="Cambria Math"/>
                              <a:ea typeface="Cambria Math"/>
                              <a:cs typeface="Cambria Math"/>
                              <a:sym typeface="Cambria Math"/>
                            </a:rPr>
                            <a:t>Commands currently stored in the command buffer.</a:t>
                          </a:r>
                          <a:endParaRPr sz="1600" dirty="0">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65049833"/>
                      </a:ext>
                    </a:extLst>
                  </a:tr>
                  <a:tr h="316311">
                    <a:tc rowSpan="7">
                      <a:txBody>
                        <a:bodyPr/>
                        <a:lstStyle/>
                        <a:p>
                          <a:pPr marL="0" lvl="0" indent="0" algn="ctr" rtl="0">
                            <a:spcBef>
                              <a:spcPts val="0"/>
                            </a:spcBef>
                            <a:spcAft>
                              <a:spcPts val="0"/>
                            </a:spcAft>
                            <a:buNone/>
                          </a:pPr>
                          <a:r>
                            <a:rPr lang="zh-TW" sz="1600" dirty="0">
                              <a:solidFill>
                                <a:schemeClr val="dk1"/>
                              </a:solidFill>
                              <a:latin typeface="Times New Roman"/>
                              <a:ea typeface="Times New Roman"/>
                              <a:cs typeface="Times New Roman"/>
                              <a:sym typeface="Times New Roman"/>
                            </a:rPr>
                            <a:t>Honeypot system</a:t>
                          </a:r>
                          <a:endParaRPr sz="1600"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𝑁</m:t>
                                </m:r>
                              </m:oMath>
                            </m:oMathPara>
                          </a14:m>
                          <a:endParaRPr lang="zh-TW" altLang="en-US" sz="1600" i="1" dirty="0"/>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dirty="0">
                              <a:solidFill>
                                <a:schemeClr val="dk1"/>
                              </a:solidFill>
                              <a:latin typeface="Cambria Math"/>
                              <a:ea typeface="Cambria Math"/>
                              <a:cs typeface="Cambria Math"/>
                              <a:sym typeface="Cambria Math"/>
                            </a:rPr>
                            <a:t>Command window size.</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16311">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𝑊</m:t>
                                </m:r>
                              </m:oMath>
                            </m:oMathPara>
                          </a14:m>
                          <a:endParaRPr lang="zh-TW" altLang="en-US" sz="160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zh-TW" sz="1600" dirty="0">
                              <a:latin typeface="Cambria Math"/>
                              <a:ea typeface="Cambria Math"/>
                              <a:cs typeface="Cambria Math"/>
                              <a:sym typeface="Cambria Math"/>
                            </a:rPr>
                            <a:t>Context window size of LLM</a:t>
                          </a:r>
                          <a:endParaRPr sz="1600" dirty="0">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968696700"/>
                      </a:ext>
                    </a:extLst>
                  </a:tr>
                  <a:tr h="333436">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𝑧</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m:t>
                                    </m:r>
                                  </m:e>
                                  <m:sub>
                                    <m:r>
                                      <a:rPr lang="en-US" altLang="zh-TW" sz="1600" b="0" i="1" smtClean="0">
                                        <a:latin typeface="Cambria Math" panose="02040503050406030204" pitchFamily="18" charset="0"/>
                                      </a:rPr>
                                      <m:t>𝑖</m:t>
                                    </m:r>
                                  </m:sub>
                                </m:sSub>
                              </m:oMath>
                            </m:oMathPara>
                          </a14:m>
                          <a:endParaRPr lang="zh-TW" altLang="en-US" sz="160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tLang="zh-TW" sz="1600" dirty="0">
                              <a:solidFill>
                                <a:schemeClr val="dk1"/>
                              </a:solidFill>
                              <a:latin typeface="Cambria Math"/>
                              <a:ea typeface="Cambria Math"/>
                              <a:cs typeface="Cambria Math"/>
                              <a:sym typeface="Cambria Math"/>
                            </a:rPr>
                            <a:t>Detected semantic</a:t>
                          </a:r>
                          <a:r>
                            <a:rPr lang="en-US" altLang="zh-TW" sz="1600" baseline="0" dirty="0">
                              <a:solidFill>
                                <a:schemeClr val="dk1"/>
                              </a:solidFill>
                              <a:latin typeface="Cambria Math"/>
                              <a:ea typeface="Cambria Math"/>
                              <a:cs typeface="Cambria Math"/>
                              <a:sym typeface="Cambria Math"/>
                            </a:rPr>
                            <a:t> intent and tactics </a:t>
                          </a:r>
                          <a:r>
                            <a:rPr lang="en-US" altLang="zh-TW" sz="1600" dirty="0">
                              <a:solidFill>
                                <a:schemeClr val="dk1"/>
                              </a:solidFill>
                              <a:latin typeface="Cambria Math"/>
                              <a:ea typeface="Cambria Math"/>
                              <a:cs typeface="Cambria Math"/>
                              <a:sym typeface="Cambria Math"/>
                            </a:rPr>
                            <a:t>based on the sequence </a:t>
                          </a:r>
                          <a14:m>
                            <m:oMath xmlns:m="http://schemas.openxmlformats.org/officeDocument/2006/math">
                              <m:sSub>
                                <m:sSubPr>
                                  <m:ctrlPr>
                                    <a:rPr lang="en-US" altLang="zh-TW" sz="1600" b="0" i="1" smtClean="0">
                                      <a:solidFill>
                                        <a:schemeClr val="dk1"/>
                                      </a:solidFill>
                                      <a:latin typeface="Cambria Math" panose="02040503050406030204" pitchFamily="18" charset="0"/>
                                      <a:ea typeface="Cambria Math"/>
                                      <a:cs typeface="Cambria Math"/>
                                      <a:sym typeface="Cambria Math"/>
                                    </a:rPr>
                                  </m:ctrlPr>
                                </m:sSubPr>
                                <m:e>
                                  <m:sSub>
                                    <m:sSubPr>
                                      <m:ctrlPr>
                                        <a:rPr lang="en-US" altLang="zh-TW" sz="1600" b="0" i="1" smtClean="0">
                                          <a:solidFill>
                                            <a:schemeClr val="dk1"/>
                                          </a:solidFill>
                                          <a:latin typeface="Cambria Math" panose="02040503050406030204" pitchFamily="18" charset="0"/>
                                          <a:ea typeface="Cambria Math"/>
                                          <a:cs typeface="Cambria Math"/>
                                          <a:sym typeface="Cambria Math"/>
                                        </a:rPr>
                                      </m:ctrlPr>
                                    </m:sSubPr>
                                    <m:e>
                                      <m:r>
                                        <a:rPr lang="en-US" altLang="zh-TW" sz="1600" b="0" i="1" smtClean="0">
                                          <a:solidFill>
                                            <a:schemeClr val="dk1"/>
                                          </a:solidFill>
                                          <a:latin typeface="Cambria Math" panose="02040503050406030204" pitchFamily="18" charset="0"/>
                                          <a:ea typeface="Cambria Math"/>
                                          <a:cs typeface="Cambria Math"/>
                                          <a:sym typeface="Cambria Math"/>
                                        </a:rPr>
                                        <m:t>𝐶</m:t>
                                      </m:r>
                                    </m:e>
                                    <m:sub>
                                      <m:r>
                                        <a:rPr lang="en-US" altLang="zh-TW" sz="1600" b="0" i="1" smtClean="0">
                                          <a:solidFill>
                                            <a:schemeClr val="dk1"/>
                                          </a:solidFill>
                                          <a:latin typeface="Cambria Math" panose="02040503050406030204" pitchFamily="18" charset="0"/>
                                          <a:ea typeface="Cambria Math"/>
                                          <a:cs typeface="Cambria Math"/>
                                          <a:sym typeface="Cambria Math"/>
                                        </a:rPr>
                                        <m:t>𝑖</m:t>
                                      </m:r>
                                      <m:r>
                                        <a:rPr lang="en-US" altLang="zh-TW" sz="1600" b="0" i="0" smtClean="0">
                                          <a:solidFill>
                                            <a:schemeClr val="dk1"/>
                                          </a:solidFill>
                                          <a:latin typeface="Cambria Math" panose="02040503050406030204" pitchFamily="18" charset="0"/>
                                          <a:ea typeface="Cambria Math"/>
                                          <a:cs typeface="Cambria Math"/>
                                          <a:sym typeface="Cambria Math"/>
                                        </a:rPr>
                                        <m:t>−</m:t>
                                      </m:r>
                                      <m:r>
                                        <a:rPr lang="en-US" altLang="zh-TW" sz="1600" b="0" i="0" smtClean="0">
                                          <a:solidFill>
                                            <a:schemeClr val="dk1"/>
                                          </a:solidFill>
                                          <a:latin typeface="Cambria Math" panose="02040503050406030204" pitchFamily="18" charset="0"/>
                                          <a:ea typeface="Cambria Math"/>
                                          <a:cs typeface="Cambria Math"/>
                                          <a:sym typeface="Cambria Math"/>
                                        </a:rPr>
                                        <m:t>𝑁</m:t>
                                      </m:r>
                                    </m:sub>
                                  </m:sSub>
                                  <m:r>
                                    <a:rPr lang="en-US" altLang="zh-TW" sz="1600" b="0" i="1" smtClean="0">
                                      <a:solidFill>
                                        <a:schemeClr val="dk1"/>
                                      </a:solidFill>
                                      <a:latin typeface="Cambria Math" panose="02040503050406030204" pitchFamily="18" charset="0"/>
                                      <a:ea typeface="Cambria Math"/>
                                      <a:cs typeface="Cambria Math"/>
                                      <a:sym typeface="Cambria Math"/>
                                    </a:rPr>
                                    <m:t>,…,</m:t>
                                  </m:r>
                                  <m:r>
                                    <a:rPr lang="en-US" altLang="zh-TW" sz="1600" b="0" i="1" smtClean="0">
                                      <a:solidFill>
                                        <a:schemeClr val="dk1"/>
                                      </a:solidFill>
                                      <a:latin typeface="Cambria Math" panose="02040503050406030204" pitchFamily="18" charset="0"/>
                                      <a:ea typeface="Cambria Math"/>
                                      <a:cs typeface="Cambria Math"/>
                                      <a:sym typeface="Cambria Math"/>
                                    </a:rPr>
                                    <m:t>𝐶</m:t>
                                  </m:r>
                                </m:e>
                                <m:sub>
                                  <m:r>
                                    <a:rPr lang="en-US" altLang="zh-TW" sz="1600" b="0" i="1" smtClean="0">
                                      <a:solidFill>
                                        <a:schemeClr val="dk1"/>
                                      </a:solidFill>
                                      <a:latin typeface="Cambria Math" panose="02040503050406030204" pitchFamily="18" charset="0"/>
                                      <a:ea typeface="Cambria Math"/>
                                      <a:cs typeface="Cambria Math"/>
                                      <a:sym typeface="Cambria Math"/>
                                    </a:rPr>
                                    <m:t>𝑖</m:t>
                                  </m:r>
                                </m:sub>
                              </m:sSub>
                            </m:oMath>
                          </a14:m>
                          <a:endParaRPr lang="en-US"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836039636"/>
                      </a:ext>
                    </a:extLst>
                  </a:tr>
                  <a:tr h="333436">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𝑎</m:t>
                                    </m:r>
                                  </m:e>
                                  <m:sub>
                                    <m:r>
                                      <a:rPr lang="en-US" altLang="zh-TW" sz="1600" b="0" i="1" smtClean="0">
                                        <a:latin typeface="Cambria Math" panose="02040503050406030204" pitchFamily="18" charset="0"/>
                                      </a:rPr>
                                      <m:t>𝑖</m:t>
                                    </m:r>
                                  </m:sub>
                                </m:sSub>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𝐴</m:t>
                                </m:r>
                              </m:oMath>
                            </m:oMathPara>
                          </a14:m>
                          <a:endParaRPr lang="zh-TW" altLang="en-US" sz="160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tLang="zh-TW" sz="1600" dirty="0">
                              <a:solidFill>
                                <a:schemeClr val="dk1"/>
                              </a:solidFill>
                              <a:latin typeface="Cambria Math"/>
                              <a:ea typeface="Cambria Math"/>
                              <a:cs typeface="Cambria Math"/>
                              <a:sym typeface="Cambria Math"/>
                            </a:rPr>
                            <a:t>The action decided by the LLM for the sequence</a:t>
                          </a:r>
                          <a14:m>
                            <m:oMath xmlns:m="http://schemas.openxmlformats.org/officeDocument/2006/math">
                              <m:sSub>
                                <m:sSubPr>
                                  <m:ctrlPr>
                                    <a:rPr lang="en-US" altLang="zh-TW" sz="1600" b="0" i="1" smtClean="0">
                                      <a:solidFill>
                                        <a:schemeClr val="dk1"/>
                                      </a:solidFill>
                                      <a:latin typeface="Cambria Math" panose="02040503050406030204" pitchFamily="18" charset="0"/>
                                      <a:ea typeface="Cambria Math"/>
                                      <a:cs typeface="Cambria Math"/>
                                      <a:sym typeface="Cambria Math"/>
                                    </a:rPr>
                                  </m:ctrlPr>
                                </m:sSubPr>
                                <m:e>
                                  <m:sSub>
                                    <m:sSubPr>
                                      <m:ctrlPr>
                                        <a:rPr lang="en-US" altLang="zh-TW" sz="1600" b="0" i="1" smtClean="0">
                                          <a:solidFill>
                                            <a:schemeClr val="dk1"/>
                                          </a:solidFill>
                                          <a:latin typeface="Cambria Math" panose="02040503050406030204" pitchFamily="18" charset="0"/>
                                          <a:ea typeface="Cambria Math"/>
                                          <a:cs typeface="Cambria Math"/>
                                          <a:sym typeface="Cambria Math"/>
                                        </a:rPr>
                                      </m:ctrlPr>
                                    </m:sSubPr>
                                    <m:e>
                                      <m:r>
                                        <a:rPr lang="en-US" altLang="zh-TW" sz="1600" b="0" i="1" smtClean="0">
                                          <a:solidFill>
                                            <a:schemeClr val="dk1"/>
                                          </a:solidFill>
                                          <a:latin typeface="Cambria Math" panose="02040503050406030204" pitchFamily="18" charset="0"/>
                                          <a:ea typeface="Cambria Math"/>
                                          <a:cs typeface="Cambria Math"/>
                                          <a:sym typeface="Cambria Math"/>
                                        </a:rPr>
                                        <m:t> </m:t>
                                      </m:r>
                                      <m:r>
                                        <a:rPr lang="en-US" altLang="zh-TW" sz="1600" b="0" i="1" smtClean="0">
                                          <a:solidFill>
                                            <a:schemeClr val="dk1"/>
                                          </a:solidFill>
                                          <a:latin typeface="Cambria Math" panose="02040503050406030204" pitchFamily="18" charset="0"/>
                                          <a:ea typeface="Cambria Math"/>
                                          <a:cs typeface="Cambria Math"/>
                                          <a:sym typeface="Cambria Math"/>
                                        </a:rPr>
                                        <m:t>𝐶</m:t>
                                      </m:r>
                                    </m:e>
                                    <m:sub>
                                      <m:r>
                                        <a:rPr lang="en-US" altLang="zh-TW" sz="1600" b="0" i="1" smtClean="0">
                                          <a:solidFill>
                                            <a:schemeClr val="dk1"/>
                                          </a:solidFill>
                                          <a:latin typeface="Cambria Math" panose="02040503050406030204" pitchFamily="18" charset="0"/>
                                          <a:ea typeface="Cambria Math"/>
                                          <a:cs typeface="Cambria Math"/>
                                          <a:sym typeface="Cambria Math"/>
                                        </a:rPr>
                                        <m:t>𝑖</m:t>
                                      </m:r>
                                      <m:r>
                                        <a:rPr lang="en-US" altLang="zh-TW" sz="1600" b="0" i="0" smtClean="0">
                                          <a:solidFill>
                                            <a:schemeClr val="dk1"/>
                                          </a:solidFill>
                                          <a:latin typeface="Cambria Math" panose="02040503050406030204" pitchFamily="18" charset="0"/>
                                          <a:ea typeface="Cambria Math"/>
                                          <a:cs typeface="Cambria Math"/>
                                          <a:sym typeface="Cambria Math"/>
                                        </a:rPr>
                                        <m:t>−</m:t>
                                      </m:r>
                                      <m:r>
                                        <a:rPr lang="en-US" altLang="zh-TW" sz="1600" b="0" i="0" smtClean="0">
                                          <a:solidFill>
                                            <a:schemeClr val="dk1"/>
                                          </a:solidFill>
                                          <a:latin typeface="Cambria Math" panose="02040503050406030204" pitchFamily="18" charset="0"/>
                                          <a:ea typeface="Cambria Math"/>
                                          <a:cs typeface="Cambria Math"/>
                                          <a:sym typeface="Cambria Math"/>
                                        </a:rPr>
                                        <m:t>𝑁</m:t>
                                      </m:r>
                                    </m:sub>
                                  </m:sSub>
                                  <m:r>
                                    <a:rPr lang="en-US" altLang="zh-TW" sz="1600" b="0" i="1" smtClean="0">
                                      <a:solidFill>
                                        <a:schemeClr val="dk1"/>
                                      </a:solidFill>
                                      <a:latin typeface="Cambria Math" panose="02040503050406030204" pitchFamily="18" charset="0"/>
                                      <a:ea typeface="Cambria Math"/>
                                      <a:cs typeface="Cambria Math"/>
                                      <a:sym typeface="Cambria Math"/>
                                    </a:rPr>
                                    <m:t>,…,</m:t>
                                  </m:r>
                                  <m:r>
                                    <a:rPr lang="en-US" altLang="zh-TW" sz="1600" b="0" i="1" smtClean="0">
                                      <a:solidFill>
                                        <a:schemeClr val="dk1"/>
                                      </a:solidFill>
                                      <a:latin typeface="Cambria Math" panose="02040503050406030204" pitchFamily="18" charset="0"/>
                                      <a:ea typeface="Cambria Math"/>
                                      <a:cs typeface="Cambria Math"/>
                                      <a:sym typeface="Cambria Math"/>
                                    </a:rPr>
                                    <m:t>𝐶</m:t>
                                  </m:r>
                                </m:e>
                                <m:sub>
                                  <m:r>
                                    <a:rPr lang="en-US" altLang="zh-TW" sz="1600" b="0" i="1" smtClean="0">
                                      <a:solidFill>
                                        <a:schemeClr val="dk1"/>
                                      </a:solidFill>
                                      <a:latin typeface="Cambria Math" panose="02040503050406030204" pitchFamily="18" charset="0"/>
                                      <a:ea typeface="Cambria Math"/>
                                      <a:cs typeface="Cambria Math"/>
                                      <a:sym typeface="Cambria Math"/>
                                    </a:rPr>
                                    <m:t>𝑖</m:t>
                                  </m:r>
                                </m:sub>
                              </m:sSub>
                            </m:oMath>
                          </a14:m>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764407187"/>
                      </a:ext>
                    </a:extLst>
                  </a:tr>
                  <a:tr h="333436">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b="0" i="1" smtClean="0">
                                        <a:latin typeface="Cambria Math" panose="02040503050406030204" pitchFamily="18" charset="0"/>
                                      </a:rPr>
                                    </m:ctrlPr>
                                  </m:sSubSupPr>
                                  <m:e>
                                    <m:r>
                                      <a:rPr lang="en-US" altLang="zh-TW" sz="1600" b="0" i="1" smtClean="0">
                                        <a:latin typeface="Cambria Math" panose="02040503050406030204" pitchFamily="18" charset="0"/>
                                      </a:rPr>
                                      <m:t>𝐶</m:t>
                                    </m:r>
                                  </m:e>
                                  <m:sub>
                                    <m:r>
                                      <a:rPr lang="en-US" altLang="zh-TW" sz="1600" b="0" i="1" smtClean="0">
                                        <a:latin typeface="Cambria Math" panose="02040503050406030204" pitchFamily="18" charset="0"/>
                                      </a:rPr>
                                      <m:t>𝑖</m:t>
                                    </m:r>
                                  </m:sub>
                                  <m:sup>
                                    <m:r>
                                      <a:rPr lang="en-US" altLang="zh-TW" sz="1600" b="0" i="1" smtClean="0">
                                        <a:latin typeface="Cambria Math" panose="02040503050406030204" pitchFamily="18" charset="0"/>
                                      </a:rPr>
                                      <m:t>𝑆</m:t>
                                    </m:r>
                                  </m:sup>
                                </m:sSubSup>
                              </m:oMath>
                            </m:oMathPara>
                          </a14:m>
                          <a:endParaRPr lang="zh-TW" altLang="en-US" sz="160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tLang="zh-TW" sz="1600">
                              <a:solidFill>
                                <a:schemeClr val="dk1"/>
                              </a:solidFill>
                              <a:latin typeface="Cambria Math"/>
                              <a:ea typeface="Cambria Math"/>
                              <a:cs typeface="Cambria Math"/>
                              <a:sym typeface="Cambria Math"/>
                            </a:rPr>
                            <a:t>The sandbox configuration script translated by the MCP Toolkit</a:t>
                          </a:r>
                          <a:r>
                            <a:rPr lang="en-US" altLang="zh-TW" sz="1600" baseline="0">
                              <a:solidFill>
                                <a:schemeClr val="dk1"/>
                              </a:solidFill>
                              <a:latin typeface="Cambria Math"/>
                              <a:ea typeface="Cambria Math"/>
                              <a:cs typeface="Cambria Math"/>
                              <a:sym typeface="Cambria Math"/>
                            </a:rPr>
                            <a:t> at </a:t>
                          </a:r>
                          <a14:m>
                            <m:oMath xmlns:m="http://schemas.openxmlformats.org/officeDocument/2006/math">
                              <m:r>
                                <a:rPr lang="en-US" altLang="zh-TW" sz="1600" b="0" i="1" smtClean="0">
                                  <a:solidFill>
                                    <a:schemeClr val="dk1"/>
                                  </a:solidFill>
                                  <a:latin typeface="Cambria Math" panose="02040503050406030204" pitchFamily="18" charset="0"/>
                                  <a:ea typeface="Cambria Math"/>
                                  <a:cs typeface="Cambria Math"/>
                                  <a:sym typeface="Cambria Math"/>
                                </a:rPr>
                                <m:t>𝑖</m:t>
                              </m:r>
                            </m:oMath>
                          </a14:m>
                          <a:r>
                            <a:rPr lang="en-US" altLang="zh-TW" sz="1600">
                              <a:solidFill>
                                <a:schemeClr val="dk1"/>
                              </a:solidFill>
                              <a:latin typeface="Cambria Math"/>
                              <a:ea typeface="Cambria Math"/>
                              <a:cs typeface="Cambria Math"/>
                              <a:sym typeface="Cambria Math"/>
                            </a:rPr>
                            <a:t>-th</a:t>
                          </a:r>
                          <a:r>
                            <a:rPr lang="en-US" altLang="zh-TW" sz="1600" baseline="0">
                              <a:solidFill>
                                <a:schemeClr val="dk1"/>
                              </a:solidFill>
                              <a:latin typeface="Cambria Math"/>
                              <a:ea typeface="Cambria Math"/>
                              <a:cs typeface="Cambria Math"/>
                              <a:sym typeface="Cambria Math"/>
                            </a:rPr>
                            <a:t> step.</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250178537"/>
                      </a:ext>
                    </a:extLst>
                  </a:tr>
                  <a:tr h="316311">
                    <a:tc vMerge="1">
                      <a:txBody>
                        <a:bodyPr/>
                        <a:lstStyle/>
                        <a:p>
                          <a:endParaRPr lang="zh-TW"/>
                        </a:p>
                      </a:txBody>
                      <a:tcPr>
                        <a:lnT w="9525" cap="flat" cmpd="sng" algn="ctr">
                          <a:solidFill>
                            <a:schemeClr val="dk1"/>
                          </a:solidFill>
                          <a:prstDash val="solid"/>
                          <a:round/>
                          <a:headEnd type="none" w="sm" len="sm"/>
                          <a:tailEnd type="none" w="sm" len="sm"/>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𝑅</m:t>
                                    </m:r>
                                  </m:e>
                                  <m:sub>
                                    <m:r>
                                      <a:rPr lang="en-US" altLang="zh-TW" sz="1600" b="0" i="1" smtClean="0">
                                        <a:latin typeface="Cambria Math" panose="02040503050406030204" pitchFamily="18" charset="0"/>
                                      </a:rPr>
                                      <m:t>𝑖</m:t>
                                    </m:r>
                                  </m:sub>
                                </m:sSub>
                              </m:oMath>
                            </m:oMathPara>
                          </a14:m>
                          <a:endParaRPr lang="zh-TW" altLang="en-US" sz="1600" dirty="0"/>
                        </a:p>
                      </a:txBody>
                      <a:tcPr marL="136800" marR="136800" marT="28800" marB="28800" anchor="ctr">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tLang="zh-TW" sz="1600" dirty="0">
                              <a:solidFill>
                                <a:schemeClr val="dk1"/>
                              </a:solidFill>
                              <a:latin typeface="Cambria Math"/>
                              <a:ea typeface="Cambria Math"/>
                              <a:cs typeface="Cambria Math"/>
                              <a:sym typeface="Cambria Math"/>
                            </a:rPr>
                            <a:t>The </a:t>
                          </a:r>
                          <a14:m>
                            <m:oMath xmlns:m="http://schemas.openxmlformats.org/officeDocument/2006/math">
                              <m:r>
                                <a:rPr lang="en-US" altLang="zh-TW" sz="1600" b="0" i="1" smtClean="0">
                                  <a:solidFill>
                                    <a:schemeClr val="dk1"/>
                                  </a:solidFill>
                                  <a:latin typeface="Cambria Math" panose="02040503050406030204" pitchFamily="18" charset="0"/>
                                  <a:ea typeface="Cambria Math"/>
                                  <a:cs typeface="Cambria Math"/>
                                  <a:sym typeface="Cambria Math"/>
                                </a:rPr>
                                <m:t>𝑖</m:t>
                              </m:r>
                            </m:oMath>
                          </a14:m>
                          <a:r>
                            <a:rPr lang="en-US" altLang="zh-TW" sz="1600" dirty="0">
                              <a:solidFill>
                                <a:schemeClr val="dk1"/>
                              </a:solidFill>
                              <a:latin typeface="Cambria Math"/>
                              <a:ea typeface="Cambria Math"/>
                              <a:cs typeface="Cambria Math"/>
                              <a:sym typeface="Cambria Math"/>
                            </a:rPr>
                            <a:t>-</a:t>
                          </a:r>
                          <a:r>
                            <a:rPr lang="en-US" altLang="zh-TW" sz="1600" dirty="0" err="1">
                              <a:solidFill>
                                <a:schemeClr val="dk1"/>
                              </a:solidFill>
                              <a:latin typeface="Cambria Math"/>
                              <a:ea typeface="Cambria Math"/>
                              <a:cs typeface="Cambria Math"/>
                              <a:sym typeface="Cambria Math"/>
                            </a:rPr>
                            <a:t>th</a:t>
                          </a:r>
                          <a:r>
                            <a:rPr lang="en-US" altLang="zh-TW" sz="1600" dirty="0">
                              <a:solidFill>
                                <a:schemeClr val="dk1"/>
                              </a:solidFill>
                              <a:latin typeface="Cambria Math"/>
                              <a:ea typeface="Cambria Math"/>
                              <a:cs typeface="Cambria Math"/>
                              <a:sym typeface="Cambria Math"/>
                            </a:rPr>
                            <a:t> </a:t>
                          </a:r>
                          <a:r>
                            <a:rPr lang="en-US" altLang="zh-TW" sz="1600" dirty="0">
                              <a:latin typeface="Cambria Math"/>
                              <a:ea typeface="Cambria Math"/>
                              <a:cs typeface="Cambria Math"/>
                              <a:sym typeface="Cambria Math"/>
                            </a:rPr>
                            <a:t>system response from the honeypot for the sequence </a:t>
                          </a:r>
                          <a14:m>
                            <m:oMath xmlns:m="http://schemas.openxmlformats.org/officeDocument/2006/math">
                              <m:sSub>
                                <m:sSubPr>
                                  <m:ctrlPr>
                                    <a:rPr lang="en-US" altLang="zh-TW" sz="1600" b="0" i="1" smtClean="0">
                                      <a:solidFill>
                                        <a:schemeClr val="dk1"/>
                                      </a:solidFill>
                                      <a:latin typeface="Cambria Math" panose="02040503050406030204" pitchFamily="18" charset="0"/>
                                      <a:ea typeface="Cambria Math"/>
                                      <a:cs typeface="Cambria Math"/>
                                      <a:sym typeface="Cambria Math"/>
                                    </a:rPr>
                                  </m:ctrlPr>
                                </m:sSubPr>
                                <m:e>
                                  <m:sSub>
                                    <m:sSubPr>
                                      <m:ctrlPr>
                                        <a:rPr lang="en-US" altLang="zh-TW" sz="1600" b="0" i="1" smtClean="0">
                                          <a:solidFill>
                                            <a:schemeClr val="dk1"/>
                                          </a:solidFill>
                                          <a:latin typeface="Cambria Math" panose="02040503050406030204" pitchFamily="18" charset="0"/>
                                          <a:ea typeface="Cambria Math"/>
                                          <a:cs typeface="Cambria Math"/>
                                          <a:sym typeface="Cambria Math"/>
                                        </a:rPr>
                                      </m:ctrlPr>
                                    </m:sSubPr>
                                    <m:e>
                                      <m:r>
                                        <a:rPr lang="en-US" altLang="zh-TW" sz="1600" b="0" i="1" smtClean="0">
                                          <a:solidFill>
                                            <a:schemeClr val="dk1"/>
                                          </a:solidFill>
                                          <a:latin typeface="Cambria Math" panose="02040503050406030204" pitchFamily="18" charset="0"/>
                                          <a:ea typeface="Cambria Math"/>
                                          <a:cs typeface="Cambria Math"/>
                                          <a:sym typeface="Cambria Math"/>
                                        </a:rPr>
                                        <m:t> </m:t>
                                      </m:r>
                                      <m:r>
                                        <a:rPr lang="en-US" altLang="zh-TW" sz="1600" b="0" i="1" smtClean="0">
                                          <a:solidFill>
                                            <a:schemeClr val="dk1"/>
                                          </a:solidFill>
                                          <a:latin typeface="Cambria Math" panose="02040503050406030204" pitchFamily="18" charset="0"/>
                                          <a:ea typeface="Cambria Math"/>
                                          <a:cs typeface="Cambria Math"/>
                                          <a:sym typeface="Cambria Math"/>
                                        </a:rPr>
                                        <m:t>𝐶</m:t>
                                      </m:r>
                                    </m:e>
                                    <m:sub>
                                      <m:r>
                                        <a:rPr lang="en-US" altLang="zh-TW" sz="1600" b="0" i="1" smtClean="0">
                                          <a:solidFill>
                                            <a:schemeClr val="dk1"/>
                                          </a:solidFill>
                                          <a:latin typeface="Cambria Math" panose="02040503050406030204" pitchFamily="18" charset="0"/>
                                          <a:ea typeface="Cambria Math"/>
                                          <a:cs typeface="Cambria Math"/>
                                          <a:sym typeface="Cambria Math"/>
                                        </a:rPr>
                                        <m:t>𝑖</m:t>
                                      </m:r>
                                      <m:r>
                                        <a:rPr lang="en-US" altLang="zh-TW" sz="1600" b="0" i="0" smtClean="0">
                                          <a:solidFill>
                                            <a:schemeClr val="dk1"/>
                                          </a:solidFill>
                                          <a:latin typeface="Cambria Math" panose="02040503050406030204" pitchFamily="18" charset="0"/>
                                          <a:ea typeface="Cambria Math"/>
                                          <a:cs typeface="Cambria Math"/>
                                          <a:sym typeface="Cambria Math"/>
                                        </a:rPr>
                                        <m:t>−</m:t>
                                      </m:r>
                                      <m:r>
                                        <a:rPr lang="en-US" altLang="zh-TW" sz="1600" b="0" i="0" smtClean="0">
                                          <a:solidFill>
                                            <a:schemeClr val="dk1"/>
                                          </a:solidFill>
                                          <a:latin typeface="Cambria Math" panose="02040503050406030204" pitchFamily="18" charset="0"/>
                                          <a:ea typeface="Cambria Math"/>
                                          <a:cs typeface="Cambria Math"/>
                                          <a:sym typeface="Cambria Math"/>
                                        </a:rPr>
                                        <m:t>𝑁</m:t>
                                      </m:r>
                                    </m:sub>
                                  </m:sSub>
                                  <m:r>
                                    <a:rPr lang="en-US" altLang="zh-TW" sz="1600" b="0" i="1" smtClean="0">
                                      <a:solidFill>
                                        <a:schemeClr val="dk1"/>
                                      </a:solidFill>
                                      <a:latin typeface="Cambria Math" panose="02040503050406030204" pitchFamily="18" charset="0"/>
                                      <a:ea typeface="Cambria Math"/>
                                      <a:cs typeface="Cambria Math"/>
                                      <a:sym typeface="Cambria Math"/>
                                    </a:rPr>
                                    <m:t>,…,</m:t>
                                  </m:r>
                                  <m:r>
                                    <a:rPr lang="en-US" altLang="zh-TW" sz="1600" b="0" i="1" smtClean="0">
                                      <a:solidFill>
                                        <a:schemeClr val="dk1"/>
                                      </a:solidFill>
                                      <a:latin typeface="Cambria Math" panose="02040503050406030204" pitchFamily="18" charset="0"/>
                                      <a:ea typeface="Cambria Math"/>
                                      <a:cs typeface="Cambria Math"/>
                                      <a:sym typeface="Cambria Math"/>
                                    </a:rPr>
                                    <m:t>𝐶</m:t>
                                  </m:r>
                                </m:e>
                                <m:sub>
                                  <m:r>
                                    <a:rPr lang="en-US" altLang="zh-TW" sz="1600" b="0" i="1" smtClean="0">
                                      <a:solidFill>
                                        <a:schemeClr val="dk1"/>
                                      </a:solidFill>
                                      <a:latin typeface="Cambria Math" panose="02040503050406030204" pitchFamily="18" charset="0"/>
                                      <a:ea typeface="Cambria Math"/>
                                      <a:cs typeface="Cambria Math"/>
                                      <a:sym typeface="Cambria Math"/>
                                    </a:rPr>
                                    <m:t>𝑖</m:t>
                                  </m:r>
                                </m:sub>
                              </m:sSub>
                              <m:r>
                                <a:rPr lang="en-US" altLang="zh-TW" sz="1600" b="0" i="1" smtClean="0">
                                  <a:solidFill>
                                    <a:schemeClr val="dk1"/>
                                  </a:solidFill>
                                  <a:latin typeface="Cambria Math" panose="02040503050406030204" pitchFamily="18" charset="0"/>
                                  <a:ea typeface="Cambria Math"/>
                                  <a:cs typeface="Cambria Math"/>
                                  <a:sym typeface="Cambria Math"/>
                                </a:rPr>
                                <m:t>.</m:t>
                              </m:r>
                            </m:oMath>
                          </a14:m>
                          <a:endParaRPr sz="1600" i="0" dirty="0">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316311">
                    <a:tc vMerge="1">
                      <a:txBody>
                        <a:bodyPr/>
                        <a:lstStyle/>
                        <a:p>
                          <a:pPr marL="0" lvl="0" indent="0" algn="ctr" rtl="0">
                            <a:spcBef>
                              <a:spcPts val="0"/>
                            </a:spcBef>
                            <a:spcAft>
                              <a:spcPts val="0"/>
                            </a:spcAft>
                            <a:buNone/>
                          </a:pPr>
                          <a:endParaRPr sz="1600" dirty="0">
                            <a:solidFill>
                              <a:schemeClr val="dk1"/>
                            </a:solidFill>
                            <a:latin typeface="Times New Roman"/>
                            <a:ea typeface="Times New Roman"/>
                            <a:cs typeface="Times New Roman"/>
                            <a:sym typeface="Times New Roman"/>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𝑆</m:t>
                                    </m:r>
                                  </m:e>
                                  <m:sub>
                                    <m:r>
                                      <a:rPr lang="en-US" altLang="zh-TW" sz="1600" b="0" i="0" smtClean="0">
                                        <a:latin typeface="Cambria Math" panose="02040503050406030204" pitchFamily="18" charset="0"/>
                                      </a:rPr>
                                      <m:t>𝐷</m:t>
                                    </m:r>
                                  </m:sub>
                                </m:sSub>
                              </m:oMath>
                            </m:oMathPara>
                          </a14:m>
                          <a:endParaRPr lang="zh-TW" altLang="en-US" sz="160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i="0" dirty="0">
                              <a:latin typeface="Cambria Math"/>
                              <a:ea typeface="Cambria Math"/>
                              <a:cs typeface="Cambria Math"/>
                              <a:sym typeface="Cambria Math"/>
                            </a:rPr>
                            <a:t>Defender’s toolkit specification, include deception tool </a:t>
                          </a:r>
                          <a:r>
                            <a:rPr lang="en-US" altLang="zh-TW" sz="1600" dirty="0">
                              <a:solidFill>
                                <a:schemeClr val="dk1"/>
                              </a:solidFill>
                              <a:latin typeface="Cambria Math"/>
                              <a:ea typeface="Cambria Math"/>
                              <a:cs typeface="Cambria Math"/>
                              <a:sym typeface="Cambria Math"/>
                            </a:rPr>
                            <a:t>implementation</a:t>
                          </a:r>
                          <a:r>
                            <a:rPr lang="en-US" sz="1600" i="0" dirty="0">
                              <a:latin typeface="Cambria Math"/>
                              <a:ea typeface="Cambria Math"/>
                              <a:cs typeface="Cambria Math"/>
                              <a:sym typeface="Cambria Math"/>
                            </a:rPr>
                            <a:t>.</a:t>
                          </a:r>
                          <a:endParaRPr sz="1600" i="0" dirty="0">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097084413"/>
                      </a:ext>
                    </a:extLst>
                  </a:tr>
                  <a:tr h="316311">
                    <a:tc rowSpan="2">
                      <a:txBody>
                        <a:bodyPr/>
                        <a:lstStyle/>
                        <a:p>
                          <a:pPr marL="0" lvl="0" indent="0" algn="ctr" rtl="0">
                            <a:spcBef>
                              <a:spcPts val="0"/>
                            </a:spcBef>
                            <a:spcAft>
                              <a:spcPts val="0"/>
                            </a:spcAft>
                            <a:buNone/>
                          </a:pPr>
                          <a:r>
                            <a:rPr lang="zh-TW" sz="1600" dirty="0">
                              <a:solidFill>
                                <a:schemeClr val="dk1"/>
                              </a:solidFill>
                              <a:latin typeface="Times New Roman"/>
                              <a:ea typeface="Times New Roman"/>
                              <a:cs typeface="Times New Roman"/>
                              <a:sym typeface="Times New Roman"/>
                            </a:rPr>
                            <a:t>Attacker</a:t>
                          </a:r>
                          <a:endParaRPr sz="1600"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𝑧</m:t>
                                    </m:r>
                                  </m:e>
                                  <m:sub>
                                    <m:r>
                                      <a:rPr lang="en-US" altLang="zh-TW" sz="1600" b="0" i="1" smtClean="0">
                                        <a:latin typeface="Cambria Math" panose="02040503050406030204" pitchFamily="18" charset="0"/>
                                      </a:rPr>
                                      <m:t>𝑖</m:t>
                                    </m:r>
                                  </m:sub>
                                </m:sSub>
                              </m:oMath>
                            </m:oMathPara>
                          </a14:m>
                          <a:endParaRPr lang="en-US" altLang="zh-TW" sz="1600" b="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ltLang="zh-TW" sz="1600" dirty="0">
                              <a:solidFill>
                                <a:schemeClr val="dk1"/>
                              </a:solidFill>
                              <a:latin typeface="Cambria Math"/>
                              <a:ea typeface="Cambria Math"/>
                              <a:cs typeface="Cambria Math"/>
                              <a:sym typeface="Cambria Math"/>
                            </a:rPr>
                            <a:t>Attacker’s semantic intent and</a:t>
                          </a:r>
                          <a:r>
                            <a:rPr lang="en-US" altLang="zh-TW" sz="1600" baseline="0" dirty="0">
                              <a:solidFill>
                                <a:schemeClr val="dk1"/>
                              </a:solidFill>
                              <a:latin typeface="Cambria Math"/>
                              <a:ea typeface="Cambria Math"/>
                              <a:cs typeface="Cambria Math"/>
                              <a:sym typeface="Cambria Math"/>
                            </a:rPr>
                            <a:t> </a:t>
                          </a:r>
                          <a:r>
                            <a:rPr lang="en-US" altLang="zh-TW" sz="1600" dirty="0">
                              <a:solidFill>
                                <a:schemeClr val="dk1"/>
                              </a:solidFill>
                              <a:latin typeface="Cambria Math"/>
                              <a:ea typeface="Cambria Math"/>
                              <a:cs typeface="Cambria Math"/>
                              <a:sym typeface="Cambria Math"/>
                            </a:rPr>
                            <a:t>tactic at the </a:t>
                          </a:r>
                          <a14:m>
                            <m:oMath xmlns:m="http://schemas.openxmlformats.org/officeDocument/2006/math">
                              <m:r>
                                <a:rPr lang="en-US" altLang="zh-TW" sz="1600" b="0" i="1" smtClean="0">
                                  <a:solidFill>
                                    <a:schemeClr val="dk1"/>
                                  </a:solidFill>
                                  <a:latin typeface="Cambria Math" panose="02040503050406030204" pitchFamily="18" charset="0"/>
                                  <a:ea typeface="Cambria Math"/>
                                  <a:cs typeface="Cambria Math"/>
                                  <a:sym typeface="Cambria Math"/>
                                </a:rPr>
                                <m:t>𝑖</m:t>
                              </m:r>
                            </m:oMath>
                          </a14:m>
                          <a:r>
                            <a:rPr lang="en-US" altLang="zh-TW" sz="1600" dirty="0">
                              <a:solidFill>
                                <a:schemeClr val="dk1"/>
                              </a:solidFill>
                              <a:latin typeface="Cambria Math"/>
                              <a:ea typeface="Cambria Math"/>
                              <a:cs typeface="Cambria Math"/>
                              <a:sym typeface="Cambria Math"/>
                            </a:rPr>
                            <a:t>-</a:t>
                          </a:r>
                          <a:r>
                            <a:rPr lang="en-US" altLang="zh-TW" sz="1600" dirty="0" err="1">
                              <a:solidFill>
                                <a:schemeClr val="dk1"/>
                              </a:solidFill>
                              <a:latin typeface="Cambria Math"/>
                              <a:ea typeface="Cambria Math"/>
                              <a:cs typeface="Cambria Math"/>
                              <a:sym typeface="Cambria Math"/>
                            </a:rPr>
                            <a:t>th</a:t>
                          </a:r>
                          <a:r>
                            <a:rPr lang="en-US" altLang="zh-TW" sz="1600" dirty="0">
                              <a:solidFill>
                                <a:schemeClr val="dk1"/>
                              </a:solidFill>
                              <a:latin typeface="Cambria Math"/>
                              <a:ea typeface="Cambria Math"/>
                              <a:cs typeface="Cambria Math"/>
                              <a:sym typeface="Cambria Math"/>
                            </a:rPr>
                            <a:t> input command</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316311">
                    <a:tc vMerge="1">
                      <a:txBody>
                        <a:bodyPr/>
                        <a:lstStyle/>
                        <a:p>
                          <a:pPr marL="0" lvl="0" indent="0" algn="ctr" rtl="0">
                            <a:spcBef>
                              <a:spcPts val="0"/>
                            </a:spcBef>
                            <a:spcAft>
                              <a:spcPts val="0"/>
                            </a:spcAft>
                            <a:buNone/>
                          </a:pPr>
                          <a:endParaRPr sz="1600" dirty="0">
                            <a:solidFill>
                              <a:schemeClr val="dk1"/>
                            </a:solidFill>
                            <a:latin typeface="Times New Roman"/>
                            <a:ea typeface="Times New Roman"/>
                            <a:cs typeface="Times New Roman"/>
                            <a:sym typeface="Times New Roman"/>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𝑆</m:t>
                                    </m:r>
                                  </m:e>
                                  <m:sub>
                                    <m:r>
                                      <a:rPr lang="en-US" altLang="zh-TW" sz="1600" b="0" i="1" smtClean="0">
                                        <a:latin typeface="Cambria Math" panose="02040503050406030204" pitchFamily="18" charset="0"/>
                                      </a:rPr>
                                      <m:t>𝐴</m:t>
                                    </m:r>
                                  </m:sub>
                                </m:sSub>
                              </m:oMath>
                            </m:oMathPara>
                          </a14:m>
                          <a:endParaRPr lang="en-US" altLang="zh-TW" sz="1600" b="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dk1"/>
                              </a:solidFill>
                              <a:latin typeface="Cambria Math"/>
                              <a:ea typeface="Cambria Math"/>
                              <a:cs typeface="Cambria Math"/>
                              <a:sym typeface="Cambria Math"/>
                            </a:rPr>
                            <a:t>Attacker’s toolkit specification, include command </a:t>
                          </a:r>
                          <a:r>
                            <a:rPr lang="en-US" altLang="zh-TW" sz="1600" dirty="0">
                              <a:solidFill>
                                <a:schemeClr val="dk1"/>
                              </a:solidFill>
                              <a:latin typeface="Cambria Math"/>
                              <a:ea typeface="Cambria Math"/>
                              <a:cs typeface="Cambria Math"/>
                              <a:sym typeface="Cambria Math"/>
                            </a:rPr>
                            <a:t>implementation</a:t>
                          </a:r>
                          <a:r>
                            <a:rPr lang="en-US" sz="1600" dirty="0">
                              <a:solidFill>
                                <a:schemeClr val="dk1"/>
                              </a:solidFill>
                              <a:latin typeface="Cambria Math"/>
                              <a:ea typeface="Cambria Math"/>
                              <a:cs typeface="Cambria Math"/>
                              <a:sym typeface="Cambria Math"/>
                            </a:rPr>
                            <a:t> of technique.</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408258953"/>
                      </a:ext>
                    </a:extLst>
                  </a:tr>
                  <a:tr h="336901">
                    <a:tc rowSpan="4">
                      <a:txBody>
                        <a:bodyPr/>
                        <a:lstStyle/>
                        <a:p>
                          <a:pPr algn="ctr"/>
                          <a:r>
                            <a:rPr lang="zh-TW" altLang="zh-TW" sz="1600" dirty="0">
                              <a:solidFill>
                                <a:schemeClr val="dk1"/>
                              </a:solidFill>
                              <a:latin typeface="Times New Roman"/>
                              <a:ea typeface="Times New Roman"/>
                              <a:cs typeface="Times New Roman"/>
                              <a:sym typeface="Times New Roman"/>
                            </a:rPr>
                            <a:t>Performance</a:t>
                          </a:r>
                          <a:endParaRPr lang="zh-TW" sz="1600" dirty="0"/>
                        </a:p>
                      </a:txBody>
                      <a:tcPr marL="136800" marR="136800" marT="28800" marB="2880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TW" sz="1600" b="0" i="1" smtClean="0">
                                        <a:solidFill>
                                          <a:schemeClr val="dk1"/>
                                        </a:solidFill>
                                        <a:latin typeface="Cambria Math" panose="02040503050406030204" pitchFamily="18" charset="0"/>
                                        <a:ea typeface="Libertinus Math"/>
                                        <a:cs typeface="Libertinus Math"/>
                                        <a:sym typeface="Libertinus Math"/>
                                      </a:rPr>
                                    </m:ctrlPr>
                                  </m:sSubPr>
                                  <m:e>
                                    <m:r>
                                      <a:rPr lang="en-US" altLang="zh-TW" sz="1600" b="0" i="1" smtClean="0">
                                        <a:solidFill>
                                          <a:schemeClr val="dk1"/>
                                        </a:solidFill>
                                        <a:latin typeface="Cambria Math" panose="02040503050406030204" pitchFamily="18" charset="0"/>
                                        <a:ea typeface="Libertinus Math"/>
                                        <a:cs typeface="Libertinus Math"/>
                                        <a:sym typeface="Libertinus Math"/>
                                      </a:rPr>
                                      <m:t>𝑤</m:t>
                                    </m:r>
                                  </m:e>
                                  <m:sub>
                                    <m:r>
                                      <a:rPr lang="en-US" altLang="zh-TW" sz="1600" b="0" i="1" smtClean="0">
                                        <a:solidFill>
                                          <a:schemeClr val="dk1"/>
                                        </a:solidFill>
                                        <a:latin typeface="Cambria Math" panose="02040503050406030204" pitchFamily="18" charset="0"/>
                                        <a:ea typeface="Libertinus Math"/>
                                        <a:cs typeface="Libertinus Math"/>
                                        <a:sym typeface="Libertinus Math"/>
                                      </a:rPr>
                                      <m:t>𝑗</m:t>
                                    </m:r>
                                  </m:sub>
                                </m:sSub>
                              </m:oMath>
                            </m:oMathPara>
                          </a14:m>
                          <a:endParaRPr sz="1600" dirty="0">
                            <a:solidFill>
                              <a:schemeClr val="dk1"/>
                            </a:solidFill>
                            <a:latin typeface="Libertinus Math"/>
                            <a:ea typeface="Libertinus Math"/>
                            <a:cs typeface="Libertinus Math"/>
                            <a:sym typeface="Libertinus Math"/>
                          </a:endParaRPr>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dk1"/>
                              </a:solidFill>
                              <a:latin typeface="Cambria Math"/>
                              <a:ea typeface="Cambria Math"/>
                              <a:cs typeface="Cambria Math"/>
                              <a:sym typeface="Cambria Math"/>
                            </a:rPr>
                            <a:t>The weight assigned to the reward components, </a:t>
                          </a:r>
                          <a:r>
                            <a:rPr lang="en-US" altLang="zh-TW" sz="1600" dirty="0">
                              <a:latin typeface="Cambria Math"/>
                              <a:ea typeface="Cambria Math"/>
                              <a:cs typeface="Cambria Math"/>
                              <a:sym typeface="Cambria Math"/>
                            </a:rPr>
                            <a:t>where index</a:t>
                          </a:r>
                          <a:r>
                            <a:rPr lang="en-US" altLang="zh-TW" sz="1600" baseline="0" dirty="0">
                              <a:latin typeface="Cambria Math"/>
                              <a:ea typeface="Cambria Math"/>
                              <a:cs typeface="Cambria Math"/>
                              <a:sym typeface="Cambria Math"/>
                            </a:rPr>
                            <a:t> </a:t>
                          </a:r>
                          <a14:m>
                            <m:oMath xmlns:m="http://schemas.openxmlformats.org/officeDocument/2006/math">
                              <m:r>
                                <a:rPr lang="en-US" altLang="zh-TW" sz="1600" b="0" i="1" baseline="0" smtClean="0">
                                  <a:latin typeface="Cambria Math" panose="02040503050406030204" pitchFamily="18" charset="0"/>
                                  <a:ea typeface="Cambria Math"/>
                                  <a:cs typeface="Cambria Math"/>
                                  <a:sym typeface="Cambria Math"/>
                                </a:rPr>
                                <m:t>𝑗</m:t>
                              </m:r>
                              <m:r>
                                <a:rPr lang="en-US" altLang="zh-TW" sz="1600" b="0" i="1" baseline="0" smtClean="0">
                                  <a:latin typeface="Cambria Math" panose="02040503050406030204" pitchFamily="18" charset="0"/>
                                  <a:ea typeface="Cambria Math"/>
                                  <a:cs typeface="Cambria Math"/>
                                  <a:sym typeface="Cambria Math"/>
                                </a:rPr>
                                <m:t>∈</m:t>
                              </m:r>
                              <m:r>
                                <m:rPr>
                                  <m:lit/>
                                </m:rPr>
                                <a:rPr lang="en-US" altLang="zh-TW" sz="1600" b="0" i="1" baseline="0" smtClean="0">
                                  <a:latin typeface="Cambria Math" panose="02040503050406030204" pitchFamily="18" charset="0"/>
                                  <a:ea typeface="Cambria Math"/>
                                  <a:cs typeface="Cambria Math"/>
                                  <a:sym typeface="Cambria Math"/>
                                </a:rPr>
                                <m:t>{</m:t>
                              </m:r>
                              <m:r>
                                <a:rPr lang="en-US" altLang="zh-TW" sz="1600" b="0" i="1" baseline="0" smtClean="0">
                                  <a:latin typeface="Cambria Math" panose="02040503050406030204" pitchFamily="18" charset="0"/>
                                  <a:ea typeface="Cambria Math"/>
                                  <a:cs typeface="Cambria Math"/>
                                  <a:sym typeface="Cambria Math"/>
                                </a:rPr>
                                <m:t>1</m:t>
                              </m:r>
                              <m:r>
                                <a:rPr lang="en-US" altLang="zh-TW" sz="1600" b="0" i="1" baseline="0" smtClean="0">
                                  <a:latin typeface="Cambria Math" panose="02040503050406030204" pitchFamily="18" charset="0"/>
                                  <a:ea typeface="Cambria Math"/>
                                  <a:cs typeface="Cambria Math"/>
                                  <a:sym typeface="Cambria Math"/>
                                </a:rPr>
                                <m:t>,</m:t>
                              </m:r>
                              <m:r>
                                <a:rPr lang="en-US" altLang="zh-TW" sz="1600" b="0" i="1" baseline="0" smtClean="0">
                                  <a:latin typeface="Cambria Math" panose="02040503050406030204" pitchFamily="18" charset="0"/>
                                  <a:ea typeface="Cambria Math"/>
                                  <a:cs typeface="Cambria Math"/>
                                  <a:sym typeface="Cambria Math"/>
                                </a:rPr>
                                <m:t>2</m:t>
                              </m:r>
                              <m:r>
                                <a:rPr lang="en-US" altLang="zh-TW" sz="1600" b="0" i="1" baseline="0" smtClean="0">
                                  <a:latin typeface="Cambria Math" panose="02040503050406030204" pitchFamily="18" charset="0"/>
                                  <a:ea typeface="Cambria Math"/>
                                  <a:sym typeface="Cambria Math"/>
                                </a:rPr>
                                <m:t>}</m:t>
                              </m:r>
                            </m:oMath>
                          </a14:m>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100012695"/>
                      </a:ext>
                    </a:extLst>
                  </a:tr>
                  <a:tr h="336035">
                    <a:tc vMerge="1">
                      <a:txBody>
                        <a:bodyPr/>
                        <a:lstStyle/>
                        <a:p>
                          <a:pPr marL="0" lvl="0" indent="0" algn="ctr" rtl="0">
                            <a:spcBef>
                              <a:spcPts val="0"/>
                            </a:spcBef>
                            <a:spcAft>
                              <a:spcPts val="0"/>
                            </a:spcAft>
                            <a:buNone/>
                          </a:pPr>
                          <a:endParaRPr sz="1800" dirty="0">
                            <a:solidFill>
                              <a:schemeClr val="dk1"/>
                            </a:solidFill>
                            <a:latin typeface="Times New Roman"/>
                            <a:ea typeface="Times New Roman"/>
                            <a:cs typeface="Times New Roman"/>
                            <a:sym typeface="Times New Roman"/>
                          </a:endParaRPr>
                        </a:p>
                      </a:txBody>
                      <a:tcPr marL="45720" marR="4572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dk1"/>
                                        </a:solidFill>
                                        <a:latin typeface="Cambria Math" panose="02040503050406030204" pitchFamily="18" charset="0"/>
                                        <a:ea typeface="Libertinus Math"/>
                                        <a:cs typeface="Libertinus Math"/>
                                        <a:sym typeface="Libertinus Math"/>
                                      </a:rPr>
                                    </m:ctrlPr>
                                  </m:sSubPr>
                                  <m:e>
                                    <m:r>
                                      <a:rPr lang="en-US" altLang="zh-TW" sz="1600" b="0" i="1" dirty="0" smtClean="0">
                                        <a:solidFill>
                                          <a:schemeClr val="dk1"/>
                                        </a:solidFill>
                                        <a:latin typeface="Cambria Math" panose="02040503050406030204" pitchFamily="18" charset="0"/>
                                        <a:ea typeface="Libertinus Math"/>
                                        <a:cs typeface="Libertinus Math"/>
                                        <a:sym typeface="Libertinus Math"/>
                                      </a:rPr>
                                      <m:t>𝑆</m:t>
                                    </m:r>
                                  </m:e>
                                  <m:sub>
                                    <m:r>
                                      <a:rPr lang="en-US" altLang="zh-TW" sz="1600" b="0" i="1" dirty="0" smtClean="0">
                                        <a:solidFill>
                                          <a:schemeClr val="dk1"/>
                                        </a:solidFill>
                                        <a:latin typeface="Cambria Math" panose="02040503050406030204" pitchFamily="18" charset="0"/>
                                        <a:ea typeface="Libertinus Math"/>
                                        <a:cs typeface="Libertinus Math"/>
                                        <a:sym typeface="Libertinus Math"/>
                                      </a:rPr>
                                      <m:t>𝑑𝑒𝑝𝑡</m:t>
                                    </m:r>
                                    <m:r>
                                      <a:rPr lang="en-US" altLang="zh-TW" sz="1600" b="0" i="1" dirty="0" smtClean="0">
                                        <a:solidFill>
                                          <a:schemeClr val="dk1"/>
                                        </a:solidFill>
                                        <a:latin typeface="Cambria Math" panose="02040503050406030204" pitchFamily="18" charset="0"/>
                                        <a:ea typeface="Libertinus Math"/>
                                        <a:cs typeface="Libertinus Math"/>
                                        <a:sym typeface="Libertinus Math"/>
                                      </a:rPr>
                                      <m:t>h</m:t>
                                    </m:r>
                                  </m:sub>
                                </m:sSub>
                              </m:oMath>
                            </m:oMathPara>
                          </a14:m>
                          <a:endParaRPr sz="160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dk1"/>
                              </a:solidFill>
                              <a:latin typeface="Cambria Math"/>
                              <a:ea typeface="Cambria Math"/>
                              <a:cs typeface="Cambria Math"/>
                              <a:sym typeface="Cambria Math"/>
                            </a:rPr>
                            <a:t>Cumulative weighted-tactic ID used by the adversary in one trajectory</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516416513"/>
                      </a:ext>
                    </a:extLst>
                  </a:tr>
                  <a:tr h="316311">
                    <a:tc vMerge="1">
                      <a:txBody>
                        <a:bodyPr/>
                        <a:lstStyle/>
                        <a:p>
                          <a:pPr marL="0" lvl="0" indent="0" algn="ctr" rtl="0">
                            <a:spcBef>
                              <a:spcPts val="0"/>
                            </a:spcBef>
                            <a:spcAft>
                              <a:spcPts val="0"/>
                            </a:spcAft>
                            <a:buNone/>
                          </a:pPr>
                          <a:endParaRPr sz="1800" dirty="0">
                            <a:solidFill>
                              <a:schemeClr val="dk1"/>
                            </a:solidFill>
                            <a:latin typeface="Times New Roman"/>
                            <a:ea typeface="Times New Roman"/>
                            <a:cs typeface="Times New Roman"/>
                            <a:sym typeface="Times New Roman"/>
                          </a:endParaRPr>
                        </a:p>
                      </a:txBody>
                      <a:tcPr marL="45720" marR="4572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dk1"/>
                                        </a:solidFill>
                                        <a:latin typeface="Cambria Math" panose="02040503050406030204" pitchFamily="18" charset="0"/>
                                        <a:sym typeface="Libertinus Math"/>
                                      </a:rPr>
                                    </m:ctrlPr>
                                  </m:sSubPr>
                                  <m:e>
                                    <m:r>
                                      <a:rPr lang="en-US" altLang="zh-TW" sz="1600" b="0" i="1" dirty="0" smtClean="0">
                                        <a:solidFill>
                                          <a:schemeClr val="dk1"/>
                                        </a:solidFill>
                                        <a:latin typeface="Cambria Math" panose="02040503050406030204" pitchFamily="18" charset="0"/>
                                        <a:sym typeface="Libertinus Math"/>
                                      </a:rPr>
                                      <m:t>𝑆</m:t>
                                    </m:r>
                                  </m:e>
                                  <m:sub>
                                    <m:r>
                                      <a:rPr lang="en-US" altLang="zh-TW" sz="1600" b="0" i="1" dirty="0" smtClean="0">
                                        <a:solidFill>
                                          <a:schemeClr val="dk1"/>
                                        </a:solidFill>
                                        <a:latin typeface="Cambria Math" panose="02040503050406030204" pitchFamily="18" charset="0"/>
                                        <a:sym typeface="Libertinus Math"/>
                                      </a:rPr>
                                      <m:t>𝑑𝑖𝑣</m:t>
                                    </m:r>
                                  </m:sub>
                                </m:sSub>
                              </m:oMath>
                            </m:oMathPara>
                          </a14:m>
                          <a:endParaRPr sz="160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dk1"/>
                              </a:solidFill>
                              <a:latin typeface="Cambria Math"/>
                              <a:ea typeface="Cambria Math"/>
                              <a:cs typeface="Cambria Math"/>
                              <a:sym typeface="Cambria Math"/>
                            </a:rPr>
                            <a:t>Number of unique techniques used in one trajectory.</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487703766"/>
                      </a:ext>
                    </a:extLst>
                  </a:tr>
                  <a:tr h="336035">
                    <a:tc vMerge="1">
                      <a:txBody>
                        <a:bodyPr/>
                        <a:lstStyle/>
                        <a:p>
                          <a:pPr marL="0" lvl="0" indent="0" algn="ctr" rtl="0">
                            <a:spcBef>
                              <a:spcPts val="0"/>
                            </a:spcBef>
                            <a:spcAft>
                              <a:spcPts val="0"/>
                            </a:spcAft>
                            <a:buNone/>
                          </a:pPr>
                          <a:endParaRPr sz="1800" dirty="0">
                            <a:solidFill>
                              <a:schemeClr val="dk1"/>
                            </a:solidFill>
                            <a:latin typeface="Times New Roman"/>
                            <a:ea typeface="Times New Roman"/>
                            <a:cs typeface="Times New Roman"/>
                            <a:sym typeface="Times New Roman"/>
                          </a:endParaRPr>
                        </a:p>
                      </a:txBody>
                      <a:tcPr marL="45720" marR="4572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dk1"/>
                                        </a:solidFill>
                                        <a:latin typeface="Cambria Math" panose="02040503050406030204" pitchFamily="18" charset="0"/>
                                        <a:sym typeface="Libertinus Math"/>
                                      </a:rPr>
                                    </m:ctrlPr>
                                  </m:sSubPr>
                                  <m:e>
                                    <m:r>
                                      <a:rPr lang="en-US" altLang="zh-TW" sz="1600" b="0" i="1" dirty="0" smtClean="0">
                                        <a:solidFill>
                                          <a:schemeClr val="dk1"/>
                                        </a:solidFill>
                                        <a:latin typeface="Cambria Math" panose="02040503050406030204" pitchFamily="18" charset="0"/>
                                        <a:sym typeface="Libertinus Math"/>
                                      </a:rPr>
                                      <m:t>𝑅</m:t>
                                    </m:r>
                                  </m:e>
                                  <m:sub>
                                    <m:r>
                                      <a:rPr lang="en-US" altLang="zh-TW" sz="1600" b="0" i="1" dirty="0" smtClean="0">
                                        <a:solidFill>
                                          <a:schemeClr val="dk1"/>
                                        </a:solidFill>
                                        <a:latin typeface="Cambria Math" panose="02040503050406030204" pitchFamily="18" charset="0"/>
                                        <a:sym typeface="Libertinus Math"/>
                                      </a:rPr>
                                      <m:t>𝑒𝑛𝑣</m:t>
                                    </m:r>
                                  </m:sub>
                                </m:sSub>
                              </m:oMath>
                            </m:oMathPara>
                          </a14:m>
                          <a:endParaRPr sz="1600" dirty="0"/>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0"/>
                            </a:spcAft>
                            <a:buNone/>
                          </a:pPr>
                          <a14:m>
                            <m:oMath xmlns:m="http://schemas.openxmlformats.org/officeDocument/2006/math">
                              <m:sSub>
                                <m:sSubPr>
                                  <m:ctrlPr>
                                    <a:rPr lang="en-US" altLang="zh-TW" sz="1600" b="0" i="1" smtClean="0">
                                      <a:solidFill>
                                        <a:schemeClr val="dk1"/>
                                      </a:solidFill>
                                      <a:latin typeface="Cambria Math" panose="02040503050406030204" pitchFamily="18" charset="0"/>
                                      <a:ea typeface="Cambria Math"/>
                                      <a:sym typeface="Cambria Math"/>
                                    </a:rPr>
                                  </m:ctrlPr>
                                </m:sSubPr>
                                <m:e>
                                  <m:r>
                                    <m:rPr>
                                      <m:sty m:val="p"/>
                                    </m:rPr>
                                    <a:rPr lang="en-US" altLang="zh-TW" sz="1600" b="0" i="1" smtClean="0">
                                      <a:solidFill>
                                        <a:schemeClr val="dk1"/>
                                      </a:solidFill>
                                      <a:latin typeface="Cambria Math" panose="02040503050406030204" pitchFamily="18" charset="0"/>
                                      <a:ea typeface="Cambria Math"/>
                                      <a:sym typeface="Cambria Math"/>
                                    </a:rPr>
                                    <m:t>Compose</m:t>
                                  </m:r>
                                  <m:r>
                                    <a:rPr lang="en-US" altLang="zh-TW" sz="1600" b="0" i="1" smtClean="0">
                                      <a:solidFill>
                                        <a:schemeClr val="dk1"/>
                                      </a:solidFill>
                                      <a:latin typeface="Cambria Math" panose="02040503050406030204" pitchFamily="18" charset="0"/>
                                      <a:ea typeface="Cambria Math"/>
                                      <a:sym typeface="Cambria Math"/>
                                    </a:rPr>
                                    <m:t> </m:t>
                                  </m:r>
                                  <m:r>
                                    <m:rPr>
                                      <m:sty m:val="p"/>
                                    </m:rPr>
                                    <a:rPr lang="en-US" altLang="zh-TW" sz="1600" b="0" i="1" smtClean="0">
                                      <a:solidFill>
                                        <a:schemeClr val="dk1"/>
                                      </a:solidFill>
                                      <a:latin typeface="Cambria Math" panose="02040503050406030204" pitchFamily="18" charset="0"/>
                                      <a:ea typeface="Cambria Math"/>
                                      <a:sym typeface="Cambria Math"/>
                                    </a:rPr>
                                    <m:t>Reinforcement</m:t>
                                  </m:r>
                                  <m:r>
                                    <a:rPr lang="en-US" altLang="zh-TW" sz="1600" b="0" i="1" smtClean="0">
                                      <a:solidFill>
                                        <a:schemeClr val="dk1"/>
                                      </a:solidFill>
                                      <a:latin typeface="Cambria Math" panose="02040503050406030204" pitchFamily="18" charset="0"/>
                                      <a:ea typeface="Cambria Math"/>
                                      <a:sym typeface="Cambria Math"/>
                                    </a:rPr>
                                    <m:t> </m:t>
                                  </m:r>
                                  <m:r>
                                    <m:rPr>
                                      <m:sty m:val="p"/>
                                    </m:rPr>
                                    <a:rPr lang="en-US" altLang="zh-TW" sz="1600" b="0" i="1" smtClean="0">
                                      <a:solidFill>
                                        <a:schemeClr val="dk1"/>
                                      </a:solidFill>
                                      <a:latin typeface="Cambria Math" panose="02040503050406030204" pitchFamily="18" charset="0"/>
                                      <a:ea typeface="Cambria Math"/>
                                      <a:sym typeface="Cambria Math"/>
                                    </a:rPr>
                                    <m:t>Finetuning</m:t>
                                  </m:r>
                                  <m:r>
                                    <a:rPr lang="en-US" altLang="zh-TW" sz="1600" b="0" i="1" smtClean="0">
                                      <a:solidFill>
                                        <a:schemeClr val="dk1"/>
                                      </a:solidFill>
                                      <a:latin typeface="Cambria Math" panose="02040503050406030204" pitchFamily="18" charset="0"/>
                                      <a:ea typeface="Cambria Math"/>
                                      <a:sym typeface="Cambria Math"/>
                                    </a:rPr>
                                    <m:t> </m:t>
                                  </m:r>
                                  <m:r>
                                    <m:rPr>
                                      <m:sty m:val="p"/>
                                    </m:rPr>
                                    <a:rPr lang="en-US" altLang="zh-TW" sz="1600" b="0" i="1" smtClean="0">
                                      <a:solidFill>
                                        <a:schemeClr val="dk1"/>
                                      </a:solidFill>
                                      <a:latin typeface="Cambria Math" panose="02040503050406030204" pitchFamily="18" charset="0"/>
                                      <a:ea typeface="Cambria Math"/>
                                      <a:sym typeface="Cambria Math"/>
                                    </a:rPr>
                                    <m:t>Reward</m:t>
                                  </m:r>
                                  <m:r>
                                    <a:rPr lang="en-US" altLang="zh-TW" sz="1600" b="0" i="1" smtClean="0">
                                      <a:solidFill>
                                        <a:schemeClr val="dk1"/>
                                      </a:solidFill>
                                      <a:latin typeface="Cambria Math" panose="02040503050406030204" pitchFamily="18" charset="0"/>
                                      <a:ea typeface="Cambria Math"/>
                                      <a:sym typeface="Cambria Math"/>
                                    </a:rPr>
                                    <m:t>: </m:t>
                                  </m:r>
                                  <m:r>
                                    <a:rPr lang="en-US" altLang="zh-TW" sz="1600" b="0" i="1" smtClean="0">
                                      <a:solidFill>
                                        <a:schemeClr val="dk1"/>
                                      </a:solidFill>
                                      <a:latin typeface="Cambria Math" panose="02040503050406030204" pitchFamily="18" charset="0"/>
                                      <a:ea typeface="Cambria Math"/>
                                      <a:sym typeface="Cambria Math"/>
                                    </a:rPr>
                                    <m:t>𝑤</m:t>
                                  </m:r>
                                </m:e>
                                <m:sub>
                                  <m:r>
                                    <a:rPr lang="en-US" altLang="zh-TW" sz="1600" b="0" i="1" smtClean="0">
                                      <a:solidFill>
                                        <a:schemeClr val="dk1"/>
                                      </a:solidFill>
                                      <a:latin typeface="Cambria Math" panose="02040503050406030204" pitchFamily="18" charset="0"/>
                                      <a:ea typeface="Cambria Math"/>
                                      <a:sym typeface="Cambria Math"/>
                                    </a:rPr>
                                    <m:t>1</m:t>
                                  </m:r>
                                </m:sub>
                              </m:sSub>
                              <m:sSub>
                                <m:sSubPr>
                                  <m:ctrlPr>
                                    <a:rPr lang="en-US" altLang="zh-TW" sz="1600" b="0" i="1" smtClean="0">
                                      <a:solidFill>
                                        <a:schemeClr val="dk1"/>
                                      </a:solidFill>
                                      <a:latin typeface="Cambria Math" panose="02040503050406030204" pitchFamily="18" charset="0"/>
                                      <a:ea typeface="Cambria Math"/>
                                      <a:sym typeface="Libertinus Math"/>
                                    </a:rPr>
                                  </m:ctrlPr>
                                </m:sSubPr>
                                <m:e>
                                  <m:r>
                                    <a:rPr lang="en-US" altLang="zh-TW" sz="1600" b="0" i="1" smtClean="0">
                                      <a:solidFill>
                                        <a:schemeClr val="dk1"/>
                                      </a:solidFill>
                                      <a:latin typeface="Cambria Math" panose="02040503050406030204" pitchFamily="18" charset="0"/>
                                      <a:sym typeface="Libertinus Math"/>
                                    </a:rPr>
                                    <m:t>𝑆</m:t>
                                  </m:r>
                                </m:e>
                                <m:sub>
                                  <m:r>
                                    <a:rPr lang="en-US" altLang="zh-TW" sz="1600" b="0" i="1" smtClean="0">
                                      <a:solidFill>
                                        <a:schemeClr val="dk1"/>
                                      </a:solidFill>
                                      <a:latin typeface="Cambria Math" panose="02040503050406030204" pitchFamily="18" charset="0"/>
                                      <a:ea typeface="Cambria Math"/>
                                      <a:sym typeface="Libertinus Math"/>
                                    </a:rPr>
                                    <m:t>𝑑𝑒𝑝𝑡</m:t>
                                  </m:r>
                                  <m:r>
                                    <a:rPr lang="en-US" altLang="zh-TW" sz="1600" b="0" i="1" smtClean="0">
                                      <a:solidFill>
                                        <a:schemeClr val="dk1"/>
                                      </a:solidFill>
                                      <a:latin typeface="Cambria Math" panose="02040503050406030204" pitchFamily="18" charset="0"/>
                                      <a:ea typeface="Cambria Math"/>
                                      <a:sym typeface="Libertinus Math"/>
                                    </a:rPr>
                                    <m:t>h</m:t>
                                  </m:r>
                                </m:sub>
                              </m:sSub>
                              <m:r>
                                <a:rPr lang="en-US" altLang="zh-TW" sz="1600" b="0" i="1" smtClean="0">
                                  <a:solidFill>
                                    <a:schemeClr val="dk1"/>
                                  </a:solidFill>
                                  <a:latin typeface="Cambria Math" panose="02040503050406030204" pitchFamily="18" charset="0"/>
                                  <a:ea typeface="Libertinus Math"/>
                                  <a:cs typeface="Libertinus Math"/>
                                  <a:sym typeface="Libertinus Math"/>
                                </a:rPr>
                                <m:t>+</m:t>
                              </m:r>
                              <m:sSub>
                                <m:sSubPr>
                                  <m:ctrlPr>
                                    <a:rPr lang="en-US" altLang="zh-TW" sz="1600" b="0" i="1" smtClean="0">
                                      <a:solidFill>
                                        <a:schemeClr val="dk1"/>
                                      </a:solidFill>
                                      <a:latin typeface="Cambria Math" panose="02040503050406030204" pitchFamily="18" charset="0"/>
                                      <a:ea typeface="Cambria Math"/>
                                      <a:sym typeface="Libertinus Math"/>
                                    </a:rPr>
                                  </m:ctrlPr>
                                </m:sSubPr>
                                <m:e>
                                  <m:r>
                                    <a:rPr lang="en-US" altLang="zh-TW" sz="1600" b="0" i="1" smtClean="0">
                                      <a:solidFill>
                                        <a:schemeClr val="dk1"/>
                                      </a:solidFill>
                                      <a:latin typeface="Cambria Math" panose="02040503050406030204" pitchFamily="18" charset="0"/>
                                      <a:sym typeface="Libertinus Math"/>
                                    </a:rPr>
                                    <m:t>𝑤</m:t>
                                  </m:r>
                                </m:e>
                                <m:sub>
                                  <m:r>
                                    <a:rPr lang="en-US" altLang="zh-TW" sz="1600" b="0" i="1" smtClean="0">
                                      <a:solidFill>
                                        <a:schemeClr val="dk1"/>
                                      </a:solidFill>
                                      <a:latin typeface="Cambria Math" panose="02040503050406030204" pitchFamily="18" charset="0"/>
                                      <a:sym typeface="Libertinus Math"/>
                                    </a:rPr>
                                    <m:t>2</m:t>
                                  </m:r>
                                </m:sub>
                              </m:sSub>
                              <m:sSub>
                                <m:sSubPr>
                                  <m:ctrlPr>
                                    <a:rPr lang="en-US" altLang="zh-TW" sz="1600" b="0" i="1" smtClean="0">
                                      <a:solidFill>
                                        <a:schemeClr val="dk1"/>
                                      </a:solidFill>
                                      <a:latin typeface="Cambria Math" panose="02040503050406030204" pitchFamily="18" charset="0"/>
                                      <a:sym typeface="Libertinus Math"/>
                                    </a:rPr>
                                  </m:ctrlPr>
                                </m:sSubPr>
                                <m:e>
                                  <m:r>
                                    <a:rPr lang="en-US" altLang="zh-TW" sz="1600" b="0" i="1" smtClean="0">
                                      <a:solidFill>
                                        <a:schemeClr val="dk1"/>
                                      </a:solidFill>
                                      <a:latin typeface="Cambria Math" panose="02040503050406030204" pitchFamily="18" charset="0"/>
                                      <a:sym typeface="Libertinus Math"/>
                                    </a:rPr>
                                    <m:t>𝑆</m:t>
                                  </m:r>
                                </m:e>
                                <m:sub>
                                  <m:r>
                                    <a:rPr lang="en-US" altLang="zh-TW" sz="1600" b="0" i="1" smtClean="0">
                                      <a:solidFill>
                                        <a:schemeClr val="dk1"/>
                                      </a:solidFill>
                                      <a:latin typeface="Cambria Math" panose="02040503050406030204" pitchFamily="18" charset="0"/>
                                      <a:sym typeface="Libertinus Math"/>
                                    </a:rPr>
                                    <m:t>𝑑𝑖𝑣</m:t>
                                  </m:r>
                                </m:sub>
                              </m:sSub>
                            </m:oMath>
                          </a14:m>
                          <a:r>
                            <a:rPr lang="en-US" sz="1600" dirty="0">
                              <a:solidFill>
                                <a:schemeClr val="dk1"/>
                              </a:solidFill>
                              <a:latin typeface="Cambria Math"/>
                              <a:ea typeface="Cambria Math"/>
                              <a:cs typeface="Cambria Math"/>
                              <a:sym typeface="Cambria Math"/>
                            </a:rPr>
                            <a:t> </a:t>
                          </a: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948904821"/>
                      </a:ext>
                    </a:extLst>
                  </a:tr>
                </a:tbl>
              </a:graphicData>
            </a:graphic>
          </p:graphicFrame>
        </mc:Choice>
        <mc:Fallback xmlns="">
          <p:graphicFrame>
            <p:nvGraphicFramePr>
              <p:cNvPr id="208" name="Google Shape;208;p27"/>
              <p:cNvGraphicFramePr/>
              <p:nvPr>
                <p:extLst>
                  <p:ext uri="{D42A27DB-BD31-4B8C-83A1-F6EECF244321}">
                    <p14:modId xmlns:p14="http://schemas.microsoft.com/office/powerpoint/2010/main" val="686619008"/>
                  </p:ext>
                </p:extLst>
              </p:nvPr>
            </p:nvGraphicFramePr>
            <p:xfrm>
              <a:off x="1125622" y="670330"/>
              <a:ext cx="10334789" cy="6074208"/>
            </p:xfrm>
            <a:graphic>
              <a:graphicData uri="http://schemas.openxmlformats.org/drawingml/2006/table">
                <a:tbl>
                  <a:tblPr>
                    <a:noFill/>
                  </a:tblPr>
                  <a:tblGrid>
                    <a:gridCol w="1428373">
                      <a:extLst>
                        <a:ext uri="{9D8B030D-6E8A-4147-A177-3AD203B41FA5}">
                          <a16:colId xmlns:a16="http://schemas.microsoft.com/office/drawing/2014/main" val="20000"/>
                        </a:ext>
                      </a:extLst>
                    </a:gridCol>
                    <a:gridCol w="1543500">
                      <a:extLst>
                        <a:ext uri="{9D8B030D-6E8A-4147-A177-3AD203B41FA5}">
                          <a16:colId xmlns:a16="http://schemas.microsoft.com/office/drawing/2014/main" val="20001"/>
                        </a:ext>
                      </a:extLst>
                    </a:gridCol>
                    <a:gridCol w="7362916">
                      <a:extLst>
                        <a:ext uri="{9D8B030D-6E8A-4147-A177-3AD203B41FA5}">
                          <a16:colId xmlns:a16="http://schemas.microsoft.com/office/drawing/2014/main" val="20002"/>
                        </a:ext>
                      </a:extLst>
                    </a:gridCol>
                  </a:tblGrid>
                  <a:tr h="316311">
                    <a:tc>
                      <a:txBody>
                        <a:bodyPr/>
                        <a:lstStyle/>
                        <a:p>
                          <a:pPr marL="0" lvl="0" indent="0" algn="ctr" rtl="0">
                            <a:spcBef>
                              <a:spcPts val="0"/>
                            </a:spcBef>
                            <a:spcAft>
                              <a:spcPts val="0"/>
                            </a:spcAft>
                            <a:buNone/>
                          </a:pPr>
                          <a:r>
                            <a:rPr lang="zh-TW" sz="1600" b="1" dirty="0">
                              <a:solidFill>
                                <a:schemeClr val="dk1"/>
                              </a:solidFill>
                              <a:latin typeface="Times New Roman"/>
                              <a:ea typeface="Times New Roman"/>
                              <a:cs typeface="Times New Roman"/>
                              <a:sym typeface="Times New Roman"/>
                            </a:rPr>
                            <a:t>Category</a:t>
                          </a:r>
                          <a:endParaRPr sz="1600" b="1"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1600" b="1" dirty="0">
                              <a:solidFill>
                                <a:schemeClr val="dk1"/>
                              </a:solidFill>
                              <a:latin typeface="Times New Roman"/>
                              <a:ea typeface="Times New Roman"/>
                              <a:cs typeface="Times New Roman"/>
                              <a:sym typeface="Times New Roman"/>
                            </a:rPr>
                            <a:t>Notation</a:t>
                          </a:r>
                          <a:endParaRPr sz="1600" b="1"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1600" b="1" dirty="0">
                              <a:solidFill>
                                <a:schemeClr val="dk1"/>
                              </a:solidFill>
                              <a:latin typeface="Times New Roman"/>
                              <a:ea typeface="Times New Roman"/>
                              <a:cs typeface="Times New Roman"/>
                              <a:sym typeface="Times New Roman"/>
                            </a:rPr>
                            <a:t>Description</a:t>
                          </a:r>
                          <a:endParaRPr sz="1600" b="1"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72181">
                    <a:tc rowSpan="4">
                      <a:txBody>
                        <a:bodyPr/>
                        <a:lstStyle/>
                        <a:p>
                          <a:pPr marL="0" lvl="0" indent="0" algn="ctr" rtl="0">
                            <a:spcBef>
                              <a:spcPts val="0"/>
                            </a:spcBef>
                            <a:spcAft>
                              <a:spcPts val="0"/>
                            </a:spcAft>
                            <a:buNone/>
                          </a:pPr>
                          <a:r>
                            <a:rPr lang="en-US" altLang="zh-TW" sz="1600" dirty="0">
                              <a:solidFill>
                                <a:schemeClr val="dk1"/>
                              </a:solidFill>
                              <a:latin typeface="Times New Roman"/>
                              <a:cs typeface="Times New Roman"/>
                              <a:sym typeface="Times New Roman"/>
                            </a:rPr>
                            <a:t>Common</a:t>
                          </a:r>
                          <a:endParaRPr sz="1600" dirty="0">
                            <a:solidFill>
                              <a:schemeClr val="dk1"/>
                            </a:solidFill>
                            <a:latin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59574" r="-476378" b="-911702"/>
                          </a:stretch>
                        </a:blipFill>
                      </a:tcPr>
                    </a:tc>
                    <a:tc>
                      <a:txBody>
                        <a:bodyPr/>
                        <a:lstStyle/>
                        <a:p>
                          <a:pPr marL="0" lvl="0" indent="0" algn="l" rtl="0">
                            <a:spcBef>
                              <a:spcPts val="0"/>
                            </a:spcBef>
                            <a:spcAft>
                              <a:spcPts val="0"/>
                            </a:spcAft>
                            <a:buNone/>
                          </a:pPr>
                          <a:r>
                            <a:rPr lang="en-US" altLang="zh-TW" sz="1600" dirty="0">
                              <a:solidFill>
                                <a:schemeClr val="dk1"/>
                              </a:solidFill>
                              <a:latin typeface="Cambria Math"/>
                              <a:ea typeface="Cambria Math"/>
                              <a:cs typeface="Cambria Math"/>
                              <a:sym typeface="Cambria Math"/>
                            </a:rPr>
                            <a:t>A trajectory representing the full engagement context of a single session,</a:t>
                          </a:r>
                        </a:p>
                        <a:p>
                          <a:pPr marL="0" lvl="0" indent="0" algn="l" rtl="0">
                            <a:spcBef>
                              <a:spcPts val="0"/>
                            </a:spcBef>
                            <a:spcAft>
                              <a:spcPts val="0"/>
                            </a:spcAft>
                            <a:buNone/>
                          </a:pPr>
                          <a:r>
                            <a:rPr lang="en-US" altLang="zh-TW" sz="1600" dirty="0">
                              <a:solidFill>
                                <a:schemeClr val="dk1"/>
                              </a:solidFill>
                              <a:latin typeface="Cambria Math"/>
                              <a:ea typeface="Cambria Math"/>
                              <a:cs typeface="Cambria Math"/>
                              <a:sym typeface="Cambria Math"/>
                            </a:rPr>
                            <a:t>typically defined as a sequence of states, actions, and rewards.</a:t>
                          </a:r>
                          <a:endParaRPr lang="en-US"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087520289"/>
                      </a:ext>
                    </a:extLst>
                  </a:tr>
                  <a:tr h="329638">
                    <a:tc vMerge="1">
                      <a:txBody>
                        <a:bodyPr/>
                        <a:lstStyle/>
                        <a:p>
                          <a:endParaRPr dirty="0"/>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blipFill>
                          <a:blip r:embed="rId3"/>
                          <a:stretch>
                            <a:fillRect l="-92520" t="-277778" r="-476378" b="-1487037"/>
                          </a:stretch>
                        </a:blipFill>
                      </a:tcPr>
                    </a:tc>
                    <a:tc>
                      <a:txBody>
                        <a:bodyPr/>
                        <a:lstStyle/>
                        <a:p>
                          <a:endParaRPr lang="zh-TW"/>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blipFill>
                          <a:blip r:embed="rId3"/>
                          <a:stretch>
                            <a:fillRect l="-40480" t="-277778" r="-166" b="-1487037"/>
                          </a:stretch>
                        </a:blipFill>
                      </a:tcPr>
                    </a:tc>
                    <a:extLst>
                      <a:ext uri="{0D108BD9-81ED-4DB2-BD59-A6C34878D82A}">
                        <a16:rowId xmlns:a16="http://schemas.microsoft.com/office/drawing/2014/main" val="10001"/>
                      </a:ext>
                    </a:extLst>
                  </a:tr>
                  <a:tr h="316311">
                    <a:tc vMerge="1">
                      <a:txBody>
                        <a:bodyPr/>
                        <a:lstStyle/>
                        <a:p>
                          <a:endParaRPr lang="zh-TW"/>
                        </a:p>
                      </a:txBody>
                      <a:tcPr>
                        <a:lnT w="9525" cap="flat" cmpd="sng" algn="ctr">
                          <a:solidFill>
                            <a:schemeClr val="dk1"/>
                          </a:solidFill>
                          <a:prstDash val="solid"/>
                          <a:round/>
                          <a:headEnd type="none" w="sm" len="sm"/>
                          <a:tailEnd type="none" w="sm" len="sm"/>
                        </a:lnT>
                      </a:tcPr>
                    </a:tc>
                    <a:tc>
                      <a:txBody>
                        <a:bodyPr/>
                        <a:lstStyle/>
                        <a:p>
                          <a:endParaRPr lang="zh-TW"/>
                        </a:p>
                      </a:txBody>
                      <a:tcPr marL="136800" marR="136800" marT="28800" marB="28800" anchor="ctr">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blipFill>
                          <a:blip r:embed="rId3"/>
                          <a:stretch>
                            <a:fillRect l="-92520" t="-392308" r="-476378" b="-1444231"/>
                          </a:stretch>
                        </a:blipFill>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blipFill>
                          <a:blip r:embed="rId3"/>
                          <a:stretch>
                            <a:fillRect l="-40480" t="-392308" r="-166" b="-1444231"/>
                          </a:stretch>
                        </a:blipFill>
                      </a:tcPr>
                    </a:tc>
                    <a:extLst>
                      <a:ext uri="{0D108BD9-81ED-4DB2-BD59-A6C34878D82A}">
                        <a16:rowId xmlns:a16="http://schemas.microsoft.com/office/drawing/2014/main" val="10002"/>
                      </a:ext>
                    </a:extLst>
                  </a:tr>
                  <a:tr h="316311">
                    <a:tc vMerge="1">
                      <a:txBody>
                        <a:bodyPr/>
                        <a:lstStyle/>
                        <a:p>
                          <a:pPr marL="0" lvl="0" indent="0" algn="ctr" rtl="0">
                            <a:spcBef>
                              <a:spcPts val="0"/>
                            </a:spcBef>
                            <a:spcAft>
                              <a:spcPts val="0"/>
                            </a:spcAft>
                            <a:buNone/>
                          </a:pPr>
                          <a:endParaRPr sz="1600" dirty="0">
                            <a:solidFill>
                              <a:schemeClr val="dk1"/>
                            </a:solidFill>
                            <a:latin typeface="Times New Roman"/>
                            <a:ea typeface="Times New Roman"/>
                            <a:cs typeface="Times New Roman"/>
                            <a:sym typeface="Times New Roman"/>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blipFill>
                          <a:blip r:embed="rId3"/>
                          <a:stretch>
                            <a:fillRect l="-92520" t="-492308" r="-476378" b="-1344231"/>
                          </a:stretch>
                        </a:blipFill>
                      </a:tcPr>
                    </a:tc>
                    <a:tc>
                      <a:txBody>
                        <a:bodyPr/>
                        <a:lstStyle/>
                        <a:p>
                          <a:pPr marL="0" lvl="0" indent="0" algn="l" rtl="0">
                            <a:spcBef>
                              <a:spcPts val="0"/>
                            </a:spcBef>
                            <a:spcAft>
                              <a:spcPts val="0"/>
                            </a:spcAft>
                            <a:buNone/>
                          </a:pPr>
                          <a:r>
                            <a:rPr lang="en-US" sz="1600" dirty="0">
                              <a:latin typeface="Cambria Math"/>
                              <a:ea typeface="Cambria Math"/>
                              <a:cs typeface="Cambria Math"/>
                              <a:sym typeface="Cambria Math"/>
                            </a:rPr>
                            <a:t>Commands currently stored in the command buffer.</a:t>
                          </a:r>
                          <a:endParaRPr sz="1600" dirty="0">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65049833"/>
                      </a:ext>
                    </a:extLst>
                  </a:tr>
                  <a:tr h="316311">
                    <a:tc rowSpan="7">
                      <a:txBody>
                        <a:bodyPr/>
                        <a:lstStyle/>
                        <a:p>
                          <a:pPr marL="0" lvl="0" indent="0" algn="ctr" rtl="0">
                            <a:spcBef>
                              <a:spcPts val="0"/>
                            </a:spcBef>
                            <a:spcAft>
                              <a:spcPts val="0"/>
                            </a:spcAft>
                            <a:buNone/>
                          </a:pPr>
                          <a:r>
                            <a:rPr lang="zh-TW" sz="1600" dirty="0">
                              <a:solidFill>
                                <a:schemeClr val="dk1"/>
                              </a:solidFill>
                              <a:latin typeface="Times New Roman"/>
                              <a:ea typeface="Times New Roman"/>
                              <a:cs typeface="Times New Roman"/>
                              <a:sym typeface="Times New Roman"/>
                            </a:rPr>
                            <a:t>Honeypot system</a:t>
                          </a:r>
                          <a:endParaRPr sz="1600"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592308" r="-476378" b="-1244231"/>
                          </a:stretch>
                        </a:blipFill>
                      </a:tcPr>
                    </a:tc>
                    <a:tc>
                      <a:txBody>
                        <a:bodyPr/>
                        <a:lstStyle/>
                        <a:p>
                          <a:pPr marL="0" lvl="0" indent="0" algn="l" rtl="0">
                            <a:spcBef>
                              <a:spcPts val="0"/>
                            </a:spcBef>
                            <a:spcAft>
                              <a:spcPts val="0"/>
                            </a:spcAft>
                            <a:buClr>
                              <a:schemeClr val="dk1"/>
                            </a:buClr>
                            <a:buSzPts val="1100"/>
                            <a:buFont typeface="Arial"/>
                            <a:buNone/>
                          </a:pPr>
                          <a:r>
                            <a:rPr lang="en-US" sz="1600" dirty="0">
                              <a:solidFill>
                                <a:schemeClr val="dk1"/>
                              </a:solidFill>
                              <a:latin typeface="Cambria Math"/>
                              <a:ea typeface="Cambria Math"/>
                              <a:cs typeface="Cambria Math"/>
                              <a:sym typeface="Cambria Math"/>
                            </a:rPr>
                            <a:t>Command window size.</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16311">
                    <a:tc vMerge="1">
                      <a:txBody>
                        <a:bodyPr/>
                        <a:lstStyle/>
                        <a:p>
                          <a:endParaRPr lang="zh-TW" altLang="en-US"/>
                        </a:p>
                      </a:txBody>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692308" r="-476378" b="-1144231"/>
                          </a:stretch>
                        </a:blipFill>
                      </a:tcPr>
                    </a:tc>
                    <a:tc>
                      <a:txBody>
                        <a:bodyPr/>
                        <a:lstStyle/>
                        <a:p>
                          <a:pPr marL="0" lvl="0" indent="0" algn="l" rtl="0">
                            <a:spcBef>
                              <a:spcPts val="0"/>
                            </a:spcBef>
                            <a:spcAft>
                              <a:spcPts val="0"/>
                            </a:spcAft>
                            <a:buNone/>
                          </a:pPr>
                          <a:r>
                            <a:rPr lang="zh-TW" sz="1600" dirty="0">
                              <a:latin typeface="Cambria Math"/>
                              <a:ea typeface="Cambria Math"/>
                              <a:cs typeface="Cambria Math"/>
                              <a:sym typeface="Cambria Math"/>
                            </a:rPr>
                            <a:t>Context window size of LLM</a:t>
                          </a:r>
                          <a:endParaRPr sz="1600" dirty="0">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968696700"/>
                      </a:ext>
                    </a:extLst>
                  </a:tr>
                  <a:tr h="333436">
                    <a:tc vMerge="1">
                      <a:txBody>
                        <a:bodyPr/>
                        <a:lstStyle/>
                        <a:p>
                          <a:endParaRPr lang="zh-TW" altLang="en-US"/>
                        </a:p>
                      </a:txBody>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749091" r="-476378" b="-981818"/>
                          </a:stretch>
                        </a:blipFill>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40480" t="-749091" r="-166" b="-981818"/>
                          </a:stretch>
                        </a:blipFill>
                      </a:tcPr>
                    </a:tc>
                    <a:extLst>
                      <a:ext uri="{0D108BD9-81ED-4DB2-BD59-A6C34878D82A}">
                        <a16:rowId xmlns:a16="http://schemas.microsoft.com/office/drawing/2014/main" val="3836039636"/>
                      </a:ext>
                    </a:extLst>
                  </a:tr>
                  <a:tr h="333436">
                    <a:tc vMerge="1">
                      <a:txBody>
                        <a:bodyPr/>
                        <a:lstStyle/>
                        <a:p>
                          <a:endParaRPr lang="zh-TW" altLang="en-US"/>
                        </a:p>
                      </a:txBody>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849091" r="-476378" b="-881818"/>
                          </a:stretch>
                        </a:blipFill>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40480" t="-849091" r="-166" b="-881818"/>
                          </a:stretch>
                        </a:blipFill>
                      </a:tcPr>
                    </a:tc>
                    <a:extLst>
                      <a:ext uri="{0D108BD9-81ED-4DB2-BD59-A6C34878D82A}">
                        <a16:rowId xmlns:a16="http://schemas.microsoft.com/office/drawing/2014/main" val="2764407187"/>
                      </a:ext>
                    </a:extLst>
                  </a:tr>
                  <a:tr h="333436">
                    <a:tc vMerge="1">
                      <a:txBody>
                        <a:bodyPr/>
                        <a:lstStyle/>
                        <a:p>
                          <a:endParaRPr lang="zh-TW" altLang="en-US"/>
                        </a:p>
                      </a:txBody>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966667" r="-476378" b="-798148"/>
                          </a:stretch>
                        </a:blipFill>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40480" t="-966667" r="-166" b="-798148"/>
                          </a:stretch>
                        </a:blipFill>
                      </a:tcPr>
                    </a:tc>
                    <a:extLst>
                      <a:ext uri="{0D108BD9-81ED-4DB2-BD59-A6C34878D82A}">
                        <a16:rowId xmlns:a16="http://schemas.microsoft.com/office/drawing/2014/main" val="1250178537"/>
                      </a:ext>
                    </a:extLst>
                  </a:tr>
                  <a:tr h="316311">
                    <a:tc vMerge="1">
                      <a:txBody>
                        <a:bodyPr/>
                        <a:lstStyle/>
                        <a:p>
                          <a:endParaRPr lang="zh-TW"/>
                        </a:p>
                      </a:txBody>
                      <a:tcPr>
                        <a:lnT w="9525" cap="flat" cmpd="sng" algn="ctr">
                          <a:solidFill>
                            <a:schemeClr val="dk1"/>
                          </a:solidFill>
                          <a:prstDash val="solid"/>
                          <a:round/>
                          <a:headEnd type="none" w="sm" len="sm"/>
                          <a:tailEnd type="none" w="sm" len="sm"/>
                        </a:lnT>
                      </a:tcPr>
                    </a:tc>
                    <a:tc>
                      <a:txBody>
                        <a:bodyPr/>
                        <a:lstStyle/>
                        <a:p>
                          <a:endParaRPr lang="zh-TW"/>
                        </a:p>
                      </a:txBody>
                      <a:tcPr marL="136800" marR="136800" marT="28800" marB="28800" anchor="ctr">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1107692" r="-476378" b="-728846"/>
                          </a:stretch>
                        </a:blipFill>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40480" t="-1107692" r="-166" b="-728846"/>
                          </a:stretch>
                        </a:blipFill>
                      </a:tcPr>
                    </a:tc>
                    <a:extLst>
                      <a:ext uri="{0D108BD9-81ED-4DB2-BD59-A6C34878D82A}">
                        <a16:rowId xmlns:a16="http://schemas.microsoft.com/office/drawing/2014/main" val="10009"/>
                      </a:ext>
                    </a:extLst>
                  </a:tr>
                  <a:tr h="316311">
                    <a:tc vMerge="1">
                      <a:txBody>
                        <a:bodyPr/>
                        <a:lstStyle/>
                        <a:p>
                          <a:pPr marL="0" lvl="0" indent="0" algn="ctr" rtl="0">
                            <a:spcBef>
                              <a:spcPts val="0"/>
                            </a:spcBef>
                            <a:spcAft>
                              <a:spcPts val="0"/>
                            </a:spcAft>
                            <a:buNone/>
                          </a:pPr>
                          <a:endParaRPr sz="1600" dirty="0">
                            <a:solidFill>
                              <a:schemeClr val="dk1"/>
                            </a:solidFill>
                            <a:latin typeface="Times New Roman"/>
                            <a:ea typeface="Times New Roman"/>
                            <a:cs typeface="Times New Roman"/>
                            <a:sym typeface="Times New Roman"/>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1207692" r="-476378" b="-628846"/>
                          </a:stretch>
                        </a:blipFill>
                      </a:tcPr>
                    </a:tc>
                    <a:tc>
                      <a:txBody>
                        <a:bodyPr/>
                        <a:lstStyle/>
                        <a:p>
                          <a:pPr marL="0" lvl="0" indent="0" algn="l" rtl="0">
                            <a:spcBef>
                              <a:spcPts val="0"/>
                            </a:spcBef>
                            <a:spcAft>
                              <a:spcPts val="0"/>
                            </a:spcAft>
                            <a:buClr>
                              <a:schemeClr val="dk1"/>
                            </a:buClr>
                            <a:buSzPts val="1100"/>
                            <a:buFont typeface="Arial"/>
                            <a:buNone/>
                          </a:pPr>
                          <a:r>
                            <a:rPr lang="en-US" sz="1600" i="0" dirty="0">
                              <a:latin typeface="Cambria Math"/>
                              <a:ea typeface="Cambria Math"/>
                              <a:cs typeface="Cambria Math"/>
                              <a:sym typeface="Cambria Math"/>
                            </a:rPr>
                            <a:t>Defender’s toolkit specification, include deception tool </a:t>
                          </a:r>
                          <a:r>
                            <a:rPr lang="en-US" altLang="zh-TW" sz="1600" dirty="0">
                              <a:solidFill>
                                <a:schemeClr val="dk1"/>
                              </a:solidFill>
                              <a:latin typeface="Cambria Math"/>
                              <a:ea typeface="Cambria Math"/>
                              <a:cs typeface="Cambria Math"/>
                              <a:sym typeface="Cambria Math"/>
                            </a:rPr>
                            <a:t>implementation</a:t>
                          </a:r>
                          <a:r>
                            <a:rPr lang="en-US" sz="1600" i="0" dirty="0">
                              <a:latin typeface="Cambria Math"/>
                              <a:ea typeface="Cambria Math"/>
                              <a:cs typeface="Cambria Math"/>
                              <a:sym typeface="Cambria Math"/>
                            </a:rPr>
                            <a:t>.</a:t>
                          </a:r>
                          <a:endParaRPr sz="1600" i="0" dirty="0">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097084413"/>
                      </a:ext>
                    </a:extLst>
                  </a:tr>
                  <a:tr h="316311">
                    <a:tc rowSpan="2">
                      <a:txBody>
                        <a:bodyPr/>
                        <a:lstStyle/>
                        <a:p>
                          <a:pPr marL="0" lvl="0" indent="0" algn="ctr" rtl="0">
                            <a:spcBef>
                              <a:spcPts val="0"/>
                            </a:spcBef>
                            <a:spcAft>
                              <a:spcPts val="0"/>
                            </a:spcAft>
                            <a:buNone/>
                          </a:pPr>
                          <a:r>
                            <a:rPr lang="zh-TW" sz="1600" dirty="0">
                              <a:solidFill>
                                <a:schemeClr val="dk1"/>
                              </a:solidFill>
                              <a:latin typeface="Times New Roman"/>
                              <a:ea typeface="Times New Roman"/>
                              <a:cs typeface="Times New Roman"/>
                              <a:sym typeface="Times New Roman"/>
                            </a:rPr>
                            <a:t>Attacker</a:t>
                          </a:r>
                          <a:endParaRPr sz="1600" dirty="0">
                            <a:solidFill>
                              <a:schemeClr val="dk1"/>
                            </a:solidFill>
                            <a:latin typeface="Times New Roman"/>
                            <a:ea typeface="Times New Roman"/>
                            <a:cs typeface="Times New Roman"/>
                            <a:sym typeface="Times New Roman"/>
                          </a:endParaRPr>
                        </a:p>
                      </a:txBody>
                      <a:tcPr marL="136800" marR="136800" marT="28800" marB="2880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1307692" r="-476378" b="-528846"/>
                          </a:stretch>
                        </a:blipFill>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40480" t="-1307692" r="-166" b="-528846"/>
                          </a:stretch>
                        </a:blipFill>
                      </a:tcPr>
                    </a:tc>
                    <a:extLst>
                      <a:ext uri="{0D108BD9-81ED-4DB2-BD59-A6C34878D82A}">
                        <a16:rowId xmlns:a16="http://schemas.microsoft.com/office/drawing/2014/main" val="10011"/>
                      </a:ext>
                    </a:extLst>
                  </a:tr>
                  <a:tr h="316311">
                    <a:tc vMerge="1">
                      <a:txBody>
                        <a:bodyPr/>
                        <a:lstStyle/>
                        <a:p>
                          <a:pPr marL="0" lvl="0" indent="0" algn="ctr" rtl="0">
                            <a:spcBef>
                              <a:spcPts val="0"/>
                            </a:spcBef>
                            <a:spcAft>
                              <a:spcPts val="0"/>
                            </a:spcAft>
                            <a:buNone/>
                          </a:pPr>
                          <a:endParaRPr sz="1600" dirty="0">
                            <a:solidFill>
                              <a:schemeClr val="dk1"/>
                            </a:solidFill>
                            <a:latin typeface="Times New Roman"/>
                            <a:ea typeface="Times New Roman"/>
                            <a:cs typeface="Times New Roman"/>
                            <a:sym typeface="Times New Roman"/>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1407692" r="-476378" b="-428846"/>
                          </a:stretch>
                        </a:blipFill>
                      </a:tcPr>
                    </a:tc>
                    <a:tc>
                      <a:txBody>
                        <a:bodyPr/>
                        <a:lstStyle/>
                        <a:p>
                          <a:pPr marL="0" lvl="0" indent="0" algn="l" rtl="0">
                            <a:spcBef>
                              <a:spcPts val="0"/>
                            </a:spcBef>
                            <a:spcAft>
                              <a:spcPts val="0"/>
                            </a:spcAft>
                            <a:buNone/>
                          </a:pPr>
                          <a:r>
                            <a:rPr lang="en-US" sz="1600" dirty="0">
                              <a:solidFill>
                                <a:schemeClr val="dk1"/>
                              </a:solidFill>
                              <a:latin typeface="Cambria Math"/>
                              <a:ea typeface="Cambria Math"/>
                              <a:cs typeface="Cambria Math"/>
                              <a:sym typeface="Cambria Math"/>
                            </a:rPr>
                            <a:t>Attacker’s toolkit specification, include command </a:t>
                          </a:r>
                          <a:r>
                            <a:rPr lang="en-US" altLang="zh-TW" sz="1600" dirty="0">
                              <a:solidFill>
                                <a:schemeClr val="dk1"/>
                              </a:solidFill>
                              <a:latin typeface="Cambria Math"/>
                              <a:ea typeface="Cambria Math"/>
                              <a:cs typeface="Cambria Math"/>
                              <a:sym typeface="Cambria Math"/>
                            </a:rPr>
                            <a:t>implementation</a:t>
                          </a:r>
                          <a:r>
                            <a:rPr lang="en-US" sz="1600" dirty="0">
                              <a:solidFill>
                                <a:schemeClr val="dk1"/>
                              </a:solidFill>
                              <a:latin typeface="Cambria Math"/>
                              <a:ea typeface="Cambria Math"/>
                              <a:cs typeface="Cambria Math"/>
                              <a:sym typeface="Cambria Math"/>
                            </a:rPr>
                            <a:t> of technique.</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408258953"/>
                      </a:ext>
                    </a:extLst>
                  </a:tr>
                  <a:tr h="336901">
                    <a:tc rowSpan="4">
                      <a:txBody>
                        <a:bodyPr/>
                        <a:lstStyle/>
                        <a:p>
                          <a:pPr algn="ctr"/>
                          <a:r>
                            <a:rPr lang="zh-TW" altLang="zh-TW" sz="1600" dirty="0">
                              <a:solidFill>
                                <a:schemeClr val="dk1"/>
                              </a:solidFill>
                              <a:latin typeface="Times New Roman"/>
                              <a:ea typeface="Times New Roman"/>
                              <a:cs typeface="Times New Roman"/>
                              <a:sym typeface="Times New Roman"/>
                            </a:rPr>
                            <a:t>Performance</a:t>
                          </a:r>
                          <a:endParaRPr lang="zh-TW" sz="1600" dirty="0"/>
                        </a:p>
                      </a:txBody>
                      <a:tcPr marL="136800" marR="136800" marT="28800" marB="2880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1400000" r="-476378" b="-298214"/>
                          </a:stretch>
                        </a:blipFill>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40480" t="-1400000" r="-166" b="-298214"/>
                          </a:stretch>
                        </a:blipFill>
                      </a:tcPr>
                    </a:tc>
                    <a:extLst>
                      <a:ext uri="{0D108BD9-81ED-4DB2-BD59-A6C34878D82A}">
                        <a16:rowId xmlns:a16="http://schemas.microsoft.com/office/drawing/2014/main" val="2100012695"/>
                      </a:ext>
                    </a:extLst>
                  </a:tr>
                  <a:tr h="336035">
                    <a:tc vMerge="1">
                      <a:txBody>
                        <a:bodyPr/>
                        <a:lstStyle/>
                        <a:p>
                          <a:pPr marL="0" lvl="0" indent="0" algn="ctr" rtl="0">
                            <a:spcBef>
                              <a:spcPts val="0"/>
                            </a:spcBef>
                            <a:spcAft>
                              <a:spcPts val="0"/>
                            </a:spcAft>
                            <a:buNone/>
                          </a:pPr>
                          <a:endParaRPr sz="1800" dirty="0">
                            <a:solidFill>
                              <a:schemeClr val="dk1"/>
                            </a:solidFill>
                            <a:latin typeface="Times New Roman"/>
                            <a:ea typeface="Times New Roman"/>
                            <a:cs typeface="Times New Roman"/>
                            <a:sym typeface="Times New Roman"/>
                          </a:endParaRPr>
                        </a:p>
                      </a:txBody>
                      <a:tcPr marL="45720" marR="4572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1527273" r="-476378" b="-203636"/>
                          </a:stretch>
                        </a:blipFill>
                      </a:tcPr>
                    </a:tc>
                    <a:tc>
                      <a:txBody>
                        <a:bodyPr/>
                        <a:lstStyle/>
                        <a:p>
                          <a:pPr marL="0" lvl="0" indent="0" algn="l" rtl="0">
                            <a:spcBef>
                              <a:spcPts val="0"/>
                            </a:spcBef>
                            <a:spcAft>
                              <a:spcPts val="0"/>
                            </a:spcAft>
                            <a:buNone/>
                          </a:pPr>
                          <a:r>
                            <a:rPr lang="en-US" sz="1600" dirty="0">
                              <a:solidFill>
                                <a:schemeClr val="dk1"/>
                              </a:solidFill>
                              <a:latin typeface="Cambria Math"/>
                              <a:ea typeface="Cambria Math"/>
                              <a:cs typeface="Cambria Math"/>
                              <a:sym typeface="Cambria Math"/>
                            </a:rPr>
                            <a:t>Cumulative weighted-tactic ID used by the adversary in one trajectory</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516416513"/>
                      </a:ext>
                    </a:extLst>
                  </a:tr>
                  <a:tr h="316311">
                    <a:tc vMerge="1">
                      <a:txBody>
                        <a:bodyPr/>
                        <a:lstStyle/>
                        <a:p>
                          <a:pPr marL="0" lvl="0" indent="0" algn="ctr" rtl="0">
                            <a:spcBef>
                              <a:spcPts val="0"/>
                            </a:spcBef>
                            <a:spcAft>
                              <a:spcPts val="0"/>
                            </a:spcAft>
                            <a:buNone/>
                          </a:pPr>
                          <a:endParaRPr sz="1800" dirty="0">
                            <a:solidFill>
                              <a:schemeClr val="dk1"/>
                            </a:solidFill>
                            <a:latin typeface="Times New Roman"/>
                            <a:ea typeface="Times New Roman"/>
                            <a:cs typeface="Times New Roman"/>
                            <a:sym typeface="Times New Roman"/>
                          </a:endParaRPr>
                        </a:p>
                      </a:txBody>
                      <a:tcPr marL="45720" marR="4572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1721154" r="-476378" b="-115385"/>
                          </a:stretch>
                        </a:blipFill>
                      </a:tcPr>
                    </a:tc>
                    <a:tc>
                      <a:txBody>
                        <a:bodyPr/>
                        <a:lstStyle/>
                        <a:p>
                          <a:pPr marL="0" lvl="0" indent="0" algn="l" rtl="0">
                            <a:spcBef>
                              <a:spcPts val="0"/>
                            </a:spcBef>
                            <a:spcAft>
                              <a:spcPts val="0"/>
                            </a:spcAft>
                            <a:buNone/>
                          </a:pPr>
                          <a:r>
                            <a:rPr lang="en-US" sz="1600" dirty="0">
                              <a:solidFill>
                                <a:schemeClr val="dk1"/>
                              </a:solidFill>
                              <a:latin typeface="Cambria Math"/>
                              <a:ea typeface="Cambria Math"/>
                              <a:cs typeface="Cambria Math"/>
                              <a:sym typeface="Cambria Math"/>
                            </a:rPr>
                            <a:t>Number of unique techniques used in one trajectory.</a:t>
                          </a:r>
                          <a:endParaRPr sz="1600" dirty="0">
                            <a:solidFill>
                              <a:schemeClr val="dk1"/>
                            </a:solidFill>
                            <a:latin typeface="Cambria Math"/>
                            <a:ea typeface="Cambria Math"/>
                            <a:cs typeface="Cambria Math"/>
                            <a:sym typeface="Cambria Math"/>
                          </a:endParaRPr>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487703766"/>
                      </a:ext>
                    </a:extLst>
                  </a:tr>
                  <a:tr h="336035">
                    <a:tc vMerge="1">
                      <a:txBody>
                        <a:bodyPr/>
                        <a:lstStyle/>
                        <a:p>
                          <a:pPr marL="0" lvl="0" indent="0" algn="ctr" rtl="0">
                            <a:spcBef>
                              <a:spcPts val="0"/>
                            </a:spcBef>
                            <a:spcAft>
                              <a:spcPts val="0"/>
                            </a:spcAft>
                            <a:buNone/>
                          </a:pPr>
                          <a:endParaRPr sz="1800" dirty="0">
                            <a:solidFill>
                              <a:schemeClr val="dk1"/>
                            </a:solidFill>
                            <a:latin typeface="Times New Roman"/>
                            <a:ea typeface="Times New Roman"/>
                            <a:cs typeface="Times New Roman"/>
                            <a:sym typeface="Times New Roman"/>
                          </a:endParaRPr>
                        </a:p>
                      </a:txBody>
                      <a:tcPr marL="45720" marR="4572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92520" t="-1721818" r="-476378" b="-9091"/>
                          </a:stretch>
                        </a:blipFill>
                      </a:tcPr>
                    </a:tc>
                    <a:tc>
                      <a:txBody>
                        <a:bodyPr/>
                        <a:lstStyle/>
                        <a:p>
                          <a:endParaRPr lang="zh-TW"/>
                        </a:p>
                      </a:txBody>
                      <a:tcPr marL="136800" marR="136800" marT="28800" marB="2880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40480" t="-1721818" r="-166" b="-9091"/>
                          </a:stretch>
                        </a:blipFill>
                      </a:tcPr>
                    </a:tc>
                    <a:extLst>
                      <a:ext uri="{0D108BD9-81ED-4DB2-BD59-A6C34878D82A}">
                        <a16:rowId xmlns:a16="http://schemas.microsoft.com/office/drawing/2014/main" val="1948904821"/>
                      </a:ext>
                    </a:extLst>
                  </a:tr>
                </a:tbl>
              </a:graphicData>
            </a:graphic>
          </p:graphicFrame>
        </mc:Fallback>
      </mc:AlternateContent>
      <p:sp>
        <p:nvSpPr>
          <p:cNvPr id="12" name="文字方塊 11">
            <a:extLst>
              <a:ext uri="{FF2B5EF4-FFF2-40B4-BE49-F238E27FC236}">
                <a16:creationId xmlns:a16="http://schemas.microsoft.com/office/drawing/2014/main" id="{D417F353-08EA-B5C0-DDCA-28CC37150B96}"/>
              </a:ext>
            </a:extLst>
          </p:cNvPr>
          <p:cNvSpPr txBox="1"/>
          <p:nvPr/>
        </p:nvSpPr>
        <p:spPr>
          <a:xfrm>
            <a:off x="9654209" y="582631"/>
            <a:ext cx="92974" cy="276999"/>
          </a:xfrm>
          <a:prstGeom prst="rect">
            <a:avLst/>
          </a:prstGeom>
          <a:noFill/>
        </p:spPr>
        <p:txBody>
          <a:bodyPr wrap="none" lIns="0" tIns="0" rIns="0" bIns="0" rtlCol="0">
            <a:spAutoFit/>
          </a:bodyPr>
          <a:lstStyle/>
          <a:p>
            <a:r>
              <a:rPr lang="en-US" altLang="zh-TW" dirty="0"/>
              <a:t>  </a:t>
            </a:r>
            <a:endParaRPr lang="zh-TW"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35" name="Google Shape;235;p29"/>
              <p:cNvGraphicFramePr/>
              <p:nvPr>
                <p:extLst>
                  <p:ext uri="{D42A27DB-BD31-4B8C-83A1-F6EECF244321}">
                    <p14:modId xmlns:p14="http://schemas.microsoft.com/office/powerpoint/2010/main" val="390409155"/>
                  </p:ext>
                </p:extLst>
              </p:nvPr>
            </p:nvGraphicFramePr>
            <p:xfrm>
              <a:off x="570578" y="1508070"/>
              <a:ext cx="11091833" cy="5206571"/>
            </p:xfrm>
            <a:graphic>
              <a:graphicData uri="http://schemas.openxmlformats.org/drawingml/2006/table">
                <a:tbl>
                  <a:tblPr>
                    <a:noFill/>
                  </a:tblPr>
                  <a:tblGrid>
                    <a:gridCol w="11091833">
                      <a:extLst>
                        <a:ext uri="{9D8B030D-6E8A-4147-A177-3AD203B41FA5}">
                          <a16:colId xmlns:a16="http://schemas.microsoft.com/office/drawing/2014/main" val="20000"/>
                        </a:ext>
                      </a:extLst>
                    </a:gridCol>
                  </a:tblGrid>
                  <a:tr h="376657">
                    <a:tc>
                      <a:txBody>
                        <a:bodyPr/>
                        <a:lstStyle/>
                        <a:p>
                          <a:pPr marL="457200" lvl="0" indent="-317500" algn="l" rtl="0">
                            <a:spcBef>
                              <a:spcPts val="0"/>
                            </a:spcBef>
                            <a:spcAft>
                              <a:spcPts val="0"/>
                            </a:spcAft>
                            <a:buClr>
                              <a:schemeClr val="dk1"/>
                            </a:buClr>
                            <a:buSzPts val="1400"/>
                            <a:buFont typeface="Times New Roman"/>
                            <a:buChar char="●"/>
                          </a:pPr>
                          <a:r>
                            <a:rPr lang="zh-TW" sz="2700" b="1" i="1" dirty="0">
                              <a:solidFill>
                                <a:schemeClr val="dk1"/>
                              </a:solidFill>
                              <a:latin typeface="Times New Roman"/>
                              <a:ea typeface="Times New Roman"/>
                              <a:cs typeface="Times New Roman"/>
                              <a:sym typeface="Times New Roman"/>
                            </a:rPr>
                            <a:t>Input</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410295">
                    <a:tc>
                      <a:txBody>
                        <a:bodyPr/>
                        <a:lstStyle/>
                        <a:p>
                          <a:pPr marL="457200" lvl="1" indent="0" algn="l" rtl="0">
                            <a:spcBef>
                              <a:spcPts val="0"/>
                            </a:spcBef>
                            <a:spcAft>
                              <a:spcPts val="0"/>
                            </a:spcAft>
                            <a:buNone/>
                          </a:pPr>
                          <a14:m>
                            <m:oMath xmlns:m="http://schemas.openxmlformats.org/officeDocument/2006/math">
                              <m:sSub>
                                <m:sSubPr>
                                  <m:ctrlPr>
                                    <a:rPr lang="en-US" altLang="zh-TW" sz="2400" b="0" i="1" smtClean="0">
                                      <a:solidFill>
                                        <a:schemeClr val="dk1"/>
                                      </a:solidFill>
                                      <a:latin typeface="Cambria Math" panose="02040503050406030204" pitchFamily="18" charset="0"/>
                                      <a:ea typeface="Cambria Math"/>
                                      <a:cs typeface="Cambria Math"/>
                                      <a:sym typeface="Cambria Math"/>
                                    </a:rPr>
                                  </m:ctrlPr>
                                </m:sSubPr>
                                <m:e>
                                  <m:sSub>
                                    <m:sSubPr>
                                      <m:ctrlPr>
                                        <a:rPr lang="en-US" altLang="zh-TW" sz="2400" b="0" i="1" smtClean="0">
                                          <a:solidFill>
                                            <a:schemeClr val="dk1"/>
                                          </a:solidFill>
                                          <a:latin typeface="Cambria Math" panose="02040503050406030204" pitchFamily="18" charset="0"/>
                                          <a:ea typeface="Cambria Math"/>
                                          <a:cs typeface="Cambria Math"/>
                                          <a:sym typeface="Cambria Math"/>
                                        </a:rPr>
                                      </m:ctrlPr>
                                    </m:sSubPr>
                                    <m:e>
                                      <m:r>
                                        <a:rPr lang="en-US" altLang="zh-TW" sz="2400" b="0" i="1" smtClean="0">
                                          <a:solidFill>
                                            <a:schemeClr val="dk1"/>
                                          </a:solidFill>
                                          <a:latin typeface="Cambria Math" panose="02040503050406030204" pitchFamily="18" charset="0"/>
                                          <a:ea typeface="Cambria Math"/>
                                          <a:cs typeface="Cambria Math"/>
                                          <a:sym typeface="Cambria Math"/>
                                        </a:rPr>
                                        <m:t>    </m:t>
                                      </m:r>
                                      <m:r>
                                        <a:rPr lang="en-US" altLang="zh-TW" sz="2400" b="0" i="1" smtClean="0">
                                          <a:solidFill>
                                            <a:schemeClr val="dk1"/>
                                          </a:solidFill>
                                          <a:latin typeface="Cambria Math" panose="02040503050406030204" pitchFamily="18" charset="0"/>
                                          <a:ea typeface="Cambria Math"/>
                                          <a:cs typeface="Cambria Math"/>
                                          <a:sym typeface="Cambria Math"/>
                                        </a:rPr>
                                        <m:t>𝐶</m:t>
                                      </m:r>
                                    </m:e>
                                    <m:sub>
                                      <m:r>
                                        <a:rPr lang="en-US" altLang="zh-TW" sz="2400" b="0" i="1" smtClean="0">
                                          <a:solidFill>
                                            <a:schemeClr val="dk1"/>
                                          </a:solidFill>
                                          <a:latin typeface="Cambria Math" panose="02040503050406030204" pitchFamily="18" charset="0"/>
                                          <a:ea typeface="Cambria Math"/>
                                          <a:cs typeface="Cambria Math"/>
                                          <a:sym typeface="Cambria Math"/>
                                        </a:rPr>
                                        <m:t>𝑖</m:t>
                                      </m:r>
                                      <m:r>
                                        <a:rPr lang="en-US" altLang="zh-TW" sz="2400" b="0" i="0" smtClean="0">
                                          <a:solidFill>
                                            <a:schemeClr val="dk1"/>
                                          </a:solidFill>
                                          <a:latin typeface="Cambria Math" panose="02040503050406030204" pitchFamily="18" charset="0"/>
                                          <a:ea typeface="Cambria Math"/>
                                          <a:cs typeface="Cambria Math"/>
                                          <a:sym typeface="Cambria Math"/>
                                        </a:rPr>
                                        <m:t>−</m:t>
                                      </m:r>
                                      <m:r>
                                        <a:rPr lang="en-US" altLang="zh-TW" sz="2400" b="0" i="0" smtClean="0">
                                          <a:solidFill>
                                            <a:schemeClr val="dk1"/>
                                          </a:solidFill>
                                          <a:latin typeface="Cambria Math" panose="02040503050406030204" pitchFamily="18" charset="0"/>
                                          <a:ea typeface="Cambria Math"/>
                                          <a:cs typeface="Cambria Math"/>
                                          <a:sym typeface="Cambria Math"/>
                                        </a:rPr>
                                        <m:t>𝑁</m:t>
                                      </m:r>
                                    </m:sub>
                                  </m:sSub>
                                  <m:r>
                                    <a:rPr lang="en-US" altLang="zh-TW" sz="2400" b="0" i="1" smtClean="0">
                                      <a:solidFill>
                                        <a:schemeClr val="dk1"/>
                                      </a:solidFill>
                                      <a:latin typeface="Cambria Math" panose="02040503050406030204" pitchFamily="18" charset="0"/>
                                      <a:ea typeface="Cambria Math"/>
                                      <a:cs typeface="Cambria Math"/>
                                      <a:sym typeface="Cambria Math"/>
                                    </a:rPr>
                                    <m:t>,…,</m:t>
                                  </m:r>
                                  <m:r>
                                    <a:rPr lang="en-US" altLang="zh-TW" sz="2400" b="0" i="1" smtClean="0">
                                      <a:solidFill>
                                        <a:schemeClr val="dk1"/>
                                      </a:solidFill>
                                      <a:latin typeface="Cambria Math" panose="02040503050406030204" pitchFamily="18" charset="0"/>
                                      <a:ea typeface="Cambria Math"/>
                                      <a:cs typeface="Cambria Math"/>
                                      <a:sym typeface="Cambria Math"/>
                                    </a:rPr>
                                    <m:t>𝐶</m:t>
                                  </m:r>
                                </m:e>
                                <m:sub>
                                  <m:r>
                                    <a:rPr lang="en-US" altLang="zh-TW" sz="2400" b="0" i="1" smtClean="0">
                                      <a:solidFill>
                                        <a:schemeClr val="dk1"/>
                                      </a:solidFill>
                                      <a:latin typeface="Cambria Math" panose="02040503050406030204" pitchFamily="18" charset="0"/>
                                      <a:ea typeface="Cambria Math"/>
                                      <a:cs typeface="Cambria Math"/>
                                      <a:sym typeface="Cambria Math"/>
                                    </a:rPr>
                                    <m:t>𝑖</m:t>
                                  </m:r>
                                </m:sub>
                              </m:sSub>
                            </m:oMath>
                          </a14:m>
                          <a:r>
                            <a:rPr lang="en-US" altLang="zh-TW" sz="2400" b="0" dirty="0">
                              <a:latin typeface="Times New Roman" panose="02020603050405020304" pitchFamily="18" charset="0"/>
                              <a:cs typeface="Times New Roman" panose="02020603050405020304" pitchFamily="18" charset="0"/>
                              <a:sym typeface="Times New Roman"/>
                            </a:rPr>
                            <a:t>: Command sequence</a:t>
                          </a:r>
                          <a:endParaRPr lang="en-US" altLang="zh-TW" sz="2400" b="0" dirty="0">
                            <a:latin typeface="Times New Roman"/>
                          </a:endParaRPr>
                        </a:p>
                      </a:txBody>
                      <a:tcPr marL="121900" marR="121900" marT="4800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649792">
                    <a:tc>
                      <a:txBody>
                        <a:bodyPr/>
                        <a:lstStyle/>
                        <a:p>
                          <a:pPr marL="457200" lvl="0" indent="-317500" algn="l" rtl="0">
                            <a:spcBef>
                              <a:spcPts val="0"/>
                            </a:spcBef>
                            <a:spcAft>
                              <a:spcPts val="0"/>
                            </a:spcAft>
                            <a:buClr>
                              <a:schemeClr val="dk1"/>
                            </a:buClr>
                            <a:buSzPts val="1400"/>
                            <a:buFont typeface="Times New Roman"/>
                            <a:buChar char="●"/>
                          </a:pPr>
                          <a:r>
                            <a:rPr lang="zh-TW" sz="2700" b="1" i="1" dirty="0">
                              <a:solidFill>
                                <a:schemeClr val="dk1"/>
                              </a:solidFill>
                              <a:latin typeface="Times New Roman"/>
                              <a:ea typeface="Times New Roman"/>
                              <a:cs typeface="Times New Roman"/>
                              <a:sym typeface="Times New Roman"/>
                            </a:rPr>
                            <a:t>Output</a:t>
                          </a:r>
                          <a:endParaRPr sz="2700" b="1" i="1" dirty="0">
                            <a:solidFill>
                              <a:schemeClr val="dk1"/>
                            </a:solidFill>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lgn="ctr">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410295">
                    <a:tc>
                      <a:txBody>
                        <a:bodyPr/>
                        <a:lstStyle/>
                        <a:p>
                          <a:pPr marL="457200" lvl="1" indent="0" algn="l" rtl="0">
                            <a:spcBef>
                              <a:spcPts val="0"/>
                            </a:spcBef>
                            <a:spcAft>
                              <a:spcPts val="0"/>
                            </a:spcAft>
                            <a:buNone/>
                          </a:pPr>
                          <a:r>
                            <a:rPr lang="zh-TW" altLang="zh-TW" sz="2400" dirty="0">
                              <a:solidFill>
                                <a:schemeClr val="dk1"/>
                              </a:solidFill>
                              <a:latin typeface="Times New Roman"/>
                              <a:ea typeface="Times New Roman"/>
                              <a:cs typeface="Times New Roman"/>
                              <a:sym typeface="Times New Roman"/>
                            </a:rPr>
                            <a:t> </a:t>
                          </a:r>
                          <a14:m>
                            <m:oMath xmlns:m="http://schemas.openxmlformats.org/officeDocument/2006/math">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m:rPr>
                                      <m:sty m:val="p"/>
                                    </m:rPr>
                                    <a:rPr lang="en-US" altLang="zh-TW" sz="2400" b="0" i="1" smtClean="0">
                                      <a:solidFill>
                                        <a:schemeClr val="dk1"/>
                                      </a:solidFill>
                                      <a:latin typeface="Cambria Math" panose="02040503050406030204" pitchFamily="18" charset="0"/>
                                      <a:ea typeface="Times New Roman"/>
                                      <a:cs typeface="Times New Roman"/>
                                      <a:sym typeface="Times New Roman"/>
                                    </a:rPr>
                                    <m:t>z</m:t>
                                  </m:r>
                                  <m:sSub>
                                    <m:sSubPr>
                                      <m:ctrlPr>
                                        <a:rPr lang="en-US" altLang="zh-TW" sz="2400" b="0" i="1" smtClean="0">
                                          <a:solidFill>
                                            <a:schemeClr val="dk1"/>
                                          </a:solidFill>
                                          <a:latin typeface="Cambria Math" panose="02040503050406030204" pitchFamily="18" charset="0"/>
                                          <a:ea typeface="Times New Roman"/>
                                          <a:cs typeface="Times New Roman"/>
                                          <a:sym typeface="Times New Roman"/>
                                        </a:rPr>
                                      </m:ctrlPr>
                                    </m:sSubPr>
                                    <m:e>
                                      <m:r>
                                        <a:rPr lang="en-US" altLang="zh-TW" sz="2400" b="0" i="1" smtClean="0">
                                          <a:solidFill>
                                            <a:schemeClr val="dk1"/>
                                          </a:solidFill>
                                          <a:latin typeface="Cambria Math" panose="02040503050406030204" pitchFamily="18" charset="0"/>
                                          <a:ea typeface="Times New Roman"/>
                                          <a:cs typeface="Times New Roman"/>
                                          <a:sym typeface="Times New Roman"/>
                                        </a:rPr>
                                        <m:t>̂</m:t>
                                      </m:r>
                                    </m:e>
                                    <m:sub>
                                      <m:r>
                                        <a:rPr lang="en-US" altLang="zh-TW" sz="2400" b="0" i="1" smtClean="0">
                                          <a:solidFill>
                                            <a:schemeClr val="dk1"/>
                                          </a:solidFill>
                                          <a:latin typeface="Cambria Math" panose="02040503050406030204" pitchFamily="18" charset="0"/>
                                          <a:ea typeface="Times New Roman"/>
                                          <a:cs typeface="Times New Roman"/>
                                          <a:sym typeface="Times New Roman"/>
                                        </a:rPr>
                                        <m:t>𝑖</m:t>
                                      </m:r>
                                    </m:sub>
                                  </m:sSub>
                                </m:e>
                                <m:sub>
                                  <m:r>
                                    <a:rPr lang="en-US" altLang="zh-TW" sz="2400" b="0" i="1" smtClean="0">
                                      <a:latin typeface="Cambria Math" panose="02040503050406030204" pitchFamily="18" charset="0"/>
                                    </a:rPr>
                                    <m:t> </m:t>
                                  </m:r>
                                </m:sub>
                              </m:sSub>
                              <m:r>
                                <a:rPr lang="en-US" altLang="zh-TW" sz="2400" b="0" i="1" smtClean="0">
                                  <a:latin typeface="Cambria Math" panose="02040503050406030204" pitchFamily="18" charset="0"/>
                                </a:rPr>
                                <m:t>:</m:t>
                              </m:r>
                            </m:oMath>
                          </a14:m>
                          <a:r>
                            <a:rPr lang="en-US" altLang="zh-TW" sz="2400" b="0" dirty="0">
                              <a:latin typeface="Times New Roman" panose="02020603050405020304" pitchFamily="18" charset="0"/>
                              <a:cs typeface="Times New Roman" panose="02020603050405020304" pitchFamily="18" charset="0"/>
                              <a:sym typeface="Times New Roman"/>
                            </a:rPr>
                            <a:t> Detected</a:t>
                          </a:r>
                          <a:r>
                            <a:rPr lang="en-US" altLang="zh-TW" sz="2400" b="0" baseline="0" dirty="0">
                              <a:latin typeface="Times New Roman" panose="02020603050405020304" pitchFamily="18" charset="0"/>
                              <a:cs typeface="Times New Roman" panose="02020603050405020304" pitchFamily="18" charset="0"/>
                              <a:sym typeface="Times New Roman"/>
                            </a:rPr>
                            <a:t> </a:t>
                          </a:r>
                          <a:r>
                            <a:rPr lang="en-US" altLang="zh-TW" sz="2400" b="0" dirty="0">
                              <a:latin typeface="Times New Roman" panose="02020603050405020304" pitchFamily="18" charset="0"/>
                              <a:cs typeface="Times New Roman" panose="02020603050405020304" pitchFamily="18" charset="0"/>
                              <a:sym typeface="Times New Roman"/>
                            </a:rPr>
                            <a:t>semantic </a:t>
                          </a:r>
                          <a:r>
                            <a:rPr lang="en-US" altLang="zh-TW" sz="2400" b="0" baseline="0" dirty="0">
                              <a:latin typeface="Times New Roman" panose="02020603050405020304" pitchFamily="18" charset="0"/>
                              <a:cs typeface="Times New Roman" panose="02020603050405020304" pitchFamily="18" charset="0"/>
                              <a:sym typeface="Times New Roman"/>
                            </a:rPr>
                            <a:t>Intent and MITRE ATT&amp;CK Tactic</a:t>
                          </a:r>
                          <a:endParaRPr lang="en-US" altLang="zh-TW" sz="2400" b="0" dirty="0">
                            <a:latin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649792">
                    <a:tc>
                      <a:txBody>
                        <a:bodyPr/>
                        <a:lstStyle/>
                        <a:p>
                          <a:pPr marL="457200" lvl="0" indent="-317500" algn="l" rtl="0">
                            <a:spcBef>
                              <a:spcPts val="0"/>
                            </a:spcBef>
                            <a:spcAft>
                              <a:spcPts val="0"/>
                            </a:spcAft>
                            <a:buClr>
                              <a:schemeClr val="dk1"/>
                            </a:buClr>
                            <a:buSzPts val="1400"/>
                            <a:buFont typeface="Times New Roman"/>
                            <a:buChar char="●"/>
                          </a:pPr>
                          <a:r>
                            <a:rPr lang="zh-TW" sz="2700" b="1" i="1" dirty="0">
                              <a:latin typeface="Times New Roman"/>
                              <a:ea typeface="Times New Roman"/>
                              <a:cs typeface="Times New Roman"/>
                              <a:sym typeface="Times New Roman"/>
                            </a:rPr>
                            <a:t>Objective</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r h="4188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Dectection rate</a:t>
                          </a:r>
                          <a:r>
                            <a:rPr lang="en-US" altLang="zh-TW" sz="2400" baseline="0" dirty="0">
                              <a:solidFill>
                                <a:schemeClr val="dk1"/>
                              </a:solidFill>
                              <a:latin typeface="Times New Roman"/>
                              <a:ea typeface="Times New Roman"/>
                              <a:cs typeface="Times New Roman"/>
                              <a:sym typeface="Times New Roman"/>
                            </a:rPr>
                            <a:t> of</a:t>
                          </a:r>
                          <a14:m>
                            <m:oMath xmlns:m="http://schemas.openxmlformats.org/officeDocument/2006/math">
                              <m:r>
                                <a:rPr lang="en-US" altLang="zh-TW" sz="2400" b="0" i="0" smtClean="0">
                                  <a:solidFill>
                                    <a:schemeClr val="dk1"/>
                                  </a:solidFill>
                                  <a:latin typeface="Cambria Math" panose="02040503050406030204" pitchFamily="18" charset="0"/>
                                  <a:ea typeface="Times New Roman"/>
                                  <a:cs typeface="Times New Roman"/>
                                  <a:sym typeface="Times New Roman"/>
                                </a:rPr>
                                <m:t> </m:t>
                              </m:r>
                              <m:r>
                                <m:rPr>
                                  <m:sty m:val="p"/>
                                </m:rPr>
                                <a:rPr lang="en-US" altLang="zh-TW" sz="2400" b="0" i="1" smtClean="0">
                                  <a:solidFill>
                                    <a:schemeClr val="dk1"/>
                                  </a:solidFill>
                                  <a:latin typeface="Cambria Math" panose="02040503050406030204" pitchFamily="18" charset="0"/>
                                  <a:ea typeface="Times New Roman"/>
                                  <a:cs typeface="Times New Roman"/>
                                  <a:sym typeface="Times New Roman"/>
                                </a:rPr>
                                <m:t>z</m:t>
                              </m:r>
                              <m:sSub>
                                <m:sSubPr>
                                  <m:ctrlPr>
                                    <a:rPr lang="en-US" altLang="zh-TW" sz="2400" b="0" i="1" smtClean="0">
                                      <a:solidFill>
                                        <a:schemeClr val="dk1"/>
                                      </a:solidFill>
                                      <a:latin typeface="Cambria Math" panose="02040503050406030204" pitchFamily="18" charset="0"/>
                                      <a:ea typeface="Times New Roman"/>
                                      <a:cs typeface="Times New Roman"/>
                                      <a:sym typeface="Times New Roman"/>
                                    </a:rPr>
                                  </m:ctrlPr>
                                </m:sSubPr>
                                <m:e>
                                  <m:r>
                                    <a:rPr lang="en-US" altLang="zh-TW" sz="2400" b="0" i="1" smtClean="0">
                                      <a:solidFill>
                                        <a:schemeClr val="dk1"/>
                                      </a:solidFill>
                                      <a:latin typeface="Cambria Math" panose="02040503050406030204" pitchFamily="18" charset="0"/>
                                      <a:ea typeface="Times New Roman"/>
                                      <a:cs typeface="Times New Roman"/>
                                      <a:sym typeface="Times New Roman"/>
                                    </a:rPr>
                                    <m:t>̂</m:t>
                                  </m:r>
                                </m:e>
                                <m:sub>
                                  <m:r>
                                    <a:rPr lang="en-US" altLang="zh-TW" sz="2400" b="0" i="1" smtClean="0">
                                      <a:solidFill>
                                        <a:schemeClr val="dk1"/>
                                      </a:solidFill>
                                      <a:latin typeface="Cambria Math" panose="02040503050406030204" pitchFamily="18" charset="0"/>
                                      <a:ea typeface="Times New Roman"/>
                                      <a:cs typeface="Times New Roman"/>
                                      <a:sym typeface="Times New Roman"/>
                                    </a:rPr>
                                    <m:t>𝑖</m:t>
                                  </m:r>
                                </m:sub>
                              </m:sSub>
                            </m:oMath>
                          </a14:m>
                          <a:endParaRPr lang="en-US" altLang="zh-TW" sz="2400" dirty="0">
                            <a:solidFill>
                              <a:schemeClr val="dk1"/>
                            </a:solidFill>
                            <a:latin typeface="Libertinus Math"/>
                            <a:ea typeface="Libertinus Math"/>
                            <a:cs typeface="Libertinus Math"/>
                            <a:sym typeface="Libertinus Math"/>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r h="649792">
                    <a:tc>
                      <a:txBody>
                        <a:bodyPr/>
                        <a:lstStyle/>
                        <a:p>
                          <a:pPr marL="457200" lvl="0" indent="-317500" algn="l" rtl="0">
                            <a:spcBef>
                              <a:spcPts val="0"/>
                            </a:spcBef>
                            <a:spcAft>
                              <a:spcPts val="0"/>
                            </a:spcAft>
                            <a:buClr>
                              <a:schemeClr val="dk1"/>
                            </a:buClr>
                            <a:buSzPts val="1400"/>
                            <a:buFont typeface="Times New Roman"/>
                            <a:buChar char="●"/>
                          </a:pPr>
                          <a:r>
                            <a:rPr lang="zh-TW" sz="2700" b="1" i="1" dirty="0">
                              <a:latin typeface="Times New Roman"/>
                              <a:ea typeface="Times New Roman"/>
                              <a:cs typeface="Times New Roman"/>
                              <a:sym typeface="Times New Roman"/>
                            </a:rPr>
                            <a:t>Constraint</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6"/>
                      </a:ext>
                    </a:extLst>
                  </a:tr>
                  <a:tr h="444157">
                    <a:tc>
                      <a:txBody>
                        <a:bodyPr/>
                        <a:lstStyle/>
                        <a:p>
                          <a:pPr marL="0" lvl="0" indent="0" algn="l" rtl="0">
                            <a:spcBef>
                              <a:spcPts val="0"/>
                            </a:spcBef>
                            <a:spcAft>
                              <a:spcPts val="0"/>
                            </a:spcAft>
                            <a:buNone/>
                          </a:pPr>
                          <a:r>
                            <a:rPr lang="zh-TW" sz="2400" dirty="0">
                              <a:solidFill>
                                <a:schemeClr val="dk1"/>
                              </a:solidFill>
                              <a:latin typeface="Times New Roman"/>
                              <a:ea typeface="Times New Roman"/>
                              <a:cs typeface="Times New Roman"/>
                              <a:sym typeface="Times New Roman"/>
                            </a:rPr>
                            <a:t>         </a:t>
                          </a:r>
                          <a14:m>
                            <m:oMath xmlns:m="http://schemas.openxmlformats.org/officeDocument/2006/math">
                              <m:r>
                                <a:rPr lang="en-US" altLang="zh-TW" sz="2400" b="0" i="1" smtClean="0">
                                  <a:solidFill>
                                    <a:schemeClr val="dk1"/>
                                  </a:solidFill>
                                  <a:latin typeface="Cambria Math" panose="02040503050406030204" pitchFamily="18" charset="0"/>
                                  <a:ea typeface="Times New Roman"/>
                                  <a:cs typeface="Times New Roman"/>
                                  <a:sym typeface="Times New Roman"/>
                                </a:rPr>
                                <m:t>𝑙𝑒𝑛𝑔𝑡</m:t>
                              </m:r>
                              <m:r>
                                <a:rPr lang="en-US" altLang="zh-TW" sz="2400" b="0" i="1" smtClean="0">
                                  <a:solidFill>
                                    <a:schemeClr val="dk1"/>
                                  </a:solidFill>
                                  <a:latin typeface="Cambria Math" panose="02040503050406030204" pitchFamily="18" charset="0"/>
                                  <a:ea typeface="Times New Roman"/>
                                  <a:cs typeface="Times New Roman"/>
                                  <a:sym typeface="Times New Roman"/>
                                </a:rPr>
                                <m:t>h</m:t>
                              </m:r>
                              <m:d>
                                <m:dPr>
                                  <m:ctrlPr>
                                    <a:rPr lang="en-US" altLang="zh-TW" sz="2400" b="0" i="1" smtClean="0">
                                      <a:solidFill>
                                        <a:schemeClr val="dk1"/>
                                      </a:solidFill>
                                      <a:latin typeface="Cambria Math" panose="02040503050406030204" pitchFamily="18" charset="0"/>
                                      <a:ea typeface="Times New Roman"/>
                                      <a:cs typeface="Times New Roman"/>
                                      <a:sym typeface="Times New Roman"/>
                                    </a:rPr>
                                  </m:ctrlPr>
                                </m:dPr>
                                <m:e>
                                  <m:r>
                                    <a:rPr lang="zh-TW" altLang="en-US" sz="2400" b="0" i="1" smtClean="0">
                                      <a:solidFill>
                                        <a:schemeClr val="dk1"/>
                                      </a:solidFill>
                                      <a:latin typeface="Cambria Math" panose="02040503050406030204" pitchFamily="18" charset="0"/>
                                      <a:ea typeface="Times New Roman"/>
                                      <a:cs typeface="Times New Roman"/>
                                      <a:sym typeface="Times New Roman"/>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𝑁</m:t>
                                          </m:r>
                                        </m:sub>
                                      </m:sSub>
                                    </m:e>
                                    <m:sub>
                                      <m:r>
                                        <a:rPr lang="en-US" altLang="zh-TW" sz="2400" b="0" i="1" smtClean="0">
                                          <a:latin typeface="Cambria Math" panose="02040503050406030204" pitchFamily="18" charset="0"/>
                                        </a:rPr>
                                        <m:t> </m:t>
                                      </m:r>
                                    </m:sub>
                                  </m:sSub>
                                </m:e>
                              </m:d>
                              <m:r>
                                <a:rPr lang="en-US" altLang="zh-TW" sz="2400" b="0" i="1" smtClean="0">
                                  <a:solidFill>
                                    <a:schemeClr val="dk1"/>
                                  </a:solidFill>
                                  <a:latin typeface="Cambria Math" panose="02040503050406030204" pitchFamily="18" charset="0"/>
                                  <a:ea typeface="Times New Roman"/>
                                  <a:cs typeface="Times New Roman"/>
                                  <a:sym typeface="Times New Roman"/>
                                </a:rPr>
                                <m:t>≤</m:t>
                              </m:r>
                              <m:r>
                                <a:rPr lang="en-US" altLang="zh-TW" sz="2400" b="0" i="1" smtClean="0">
                                  <a:solidFill>
                                    <a:schemeClr val="dk1"/>
                                  </a:solidFill>
                                  <a:latin typeface="Cambria Math" panose="02040503050406030204" pitchFamily="18" charset="0"/>
                                  <a:ea typeface="Times New Roman"/>
                                  <a:cs typeface="Times New Roman"/>
                                  <a:sym typeface="Times New Roman"/>
                                </a:rPr>
                                <m:t>𝑊</m:t>
                              </m:r>
                            </m:oMath>
                          </a14:m>
                          <a:endParaRPr lang="en-US" altLang="zh-TW"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7"/>
                      </a:ext>
                    </a:extLst>
                  </a:tr>
                  <a:tr h="0">
                    <a:tc>
                      <a:txBody>
                        <a:bodyPr/>
                        <a:lstStyle/>
                        <a:p>
                          <a:pPr marL="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         All the input of LLM must </a:t>
                          </a:r>
                          <a:r>
                            <a:rPr lang="en-US" sz="2400" b="1" dirty="0">
                              <a:solidFill>
                                <a:schemeClr val="dk1"/>
                              </a:solidFill>
                              <a:latin typeface="Times New Roman"/>
                              <a:ea typeface="Times New Roman"/>
                              <a:cs typeface="Times New Roman"/>
                              <a:sym typeface="Times New Roman"/>
                            </a:rPr>
                            <a:t>less or equal</a:t>
                          </a:r>
                          <a:r>
                            <a:rPr lang="en-US" sz="2400" dirty="0">
                              <a:solidFill>
                                <a:schemeClr val="dk1"/>
                              </a:solidFill>
                              <a:latin typeface="Times New Roman"/>
                              <a:ea typeface="Times New Roman"/>
                              <a:cs typeface="Times New Roman"/>
                              <a:sym typeface="Times New Roman"/>
                            </a:rPr>
                            <a:t> than Context Window Size </a:t>
                          </a:r>
                          <a:endParaRPr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lgn="ctr">
                          <a:solidFill>
                            <a:schemeClr val="dk1">
                              <a:alpha val="0"/>
                            </a:schemeClr>
                          </a:solidFill>
                          <a:prstDash val="solid"/>
                          <a:round/>
                          <a:headEnd type="none" w="sm" len="sm"/>
                          <a:tailEnd type="none" w="sm" len="sm"/>
                        </a:lnB>
                      </a:tcPr>
                    </a:tc>
                    <a:extLst>
                      <a:ext uri="{0D108BD9-81ED-4DB2-BD59-A6C34878D82A}">
                        <a16:rowId xmlns:a16="http://schemas.microsoft.com/office/drawing/2014/main" val="10008"/>
                      </a:ext>
                    </a:extLst>
                  </a:tr>
                  <a:tr h="410295">
                    <a:tc>
                      <a:txBody>
                        <a:bodyPr/>
                        <a:lstStyle/>
                        <a:p>
                          <a:pPr marL="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3244755563"/>
                      </a:ext>
                    </a:extLst>
                  </a:tr>
                </a:tbl>
              </a:graphicData>
            </a:graphic>
          </p:graphicFrame>
        </mc:Choice>
        <mc:Fallback xmlns="">
          <p:graphicFrame>
            <p:nvGraphicFramePr>
              <p:cNvPr id="235" name="Google Shape;235;p29"/>
              <p:cNvGraphicFramePr/>
              <p:nvPr>
                <p:extLst>
                  <p:ext uri="{D42A27DB-BD31-4B8C-83A1-F6EECF244321}">
                    <p14:modId xmlns:p14="http://schemas.microsoft.com/office/powerpoint/2010/main" val="390409155"/>
                  </p:ext>
                </p:extLst>
              </p:nvPr>
            </p:nvGraphicFramePr>
            <p:xfrm>
              <a:off x="570578" y="1508070"/>
              <a:ext cx="11091833" cy="5206571"/>
            </p:xfrm>
            <a:graphic>
              <a:graphicData uri="http://schemas.openxmlformats.org/drawingml/2006/table">
                <a:tbl>
                  <a:tblPr>
                    <a:noFill/>
                  </a:tblPr>
                  <a:tblGrid>
                    <a:gridCol w="11091833">
                      <a:extLst>
                        <a:ext uri="{9D8B030D-6E8A-4147-A177-3AD203B41FA5}">
                          <a16:colId xmlns:a16="http://schemas.microsoft.com/office/drawing/2014/main" val="20000"/>
                        </a:ext>
                      </a:extLst>
                    </a:gridCol>
                  </a:tblGrid>
                  <a:tr h="655280">
                    <a:tc>
                      <a:txBody>
                        <a:bodyPr/>
                        <a:lstStyle/>
                        <a:p>
                          <a:pPr marL="457200" lvl="0" indent="-317500" algn="l" rtl="0">
                            <a:spcBef>
                              <a:spcPts val="0"/>
                            </a:spcBef>
                            <a:spcAft>
                              <a:spcPts val="0"/>
                            </a:spcAft>
                            <a:buClr>
                              <a:schemeClr val="dk1"/>
                            </a:buClr>
                            <a:buSzPts val="1400"/>
                            <a:buFont typeface="Times New Roman"/>
                            <a:buChar char="●"/>
                          </a:pPr>
                          <a:r>
                            <a:rPr lang="zh-TW" sz="2700" b="1" i="1" dirty="0">
                              <a:solidFill>
                                <a:schemeClr val="dk1"/>
                              </a:solidFill>
                              <a:latin typeface="Times New Roman"/>
                              <a:ea typeface="Times New Roman"/>
                              <a:cs typeface="Times New Roman"/>
                              <a:sym typeface="Times New Roman"/>
                            </a:rPr>
                            <a:t>Input</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413760">
                    <a:tc>
                      <a:txBody>
                        <a:bodyPr/>
                        <a:lstStyle/>
                        <a:p>
                          <a:endParaRPr lang="zh-TW"/>
                        </a:p>
                      </a:txBody>
                      <a:tcPr marL="121900" marR="121900" marT="4800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blipFill>
                          <a:blip r:embed="rId3"/>
                          <a:stretch>
                            <a:fillRect l="-55" t="-160294" r="-55" b="-1001471"/>
                          </a:stretch>
                        </a:blipFill>
                      </a:tcPr>
                    </a:tc>
                    <a:extLst>
                      <a:ext uri="{0D108BD9-81ED-4DB2-BD59-A6C34878D82A}">
                        <a16:rowId xmlns:a16="http://schemas.microsoft.com/office/drawing/2014/main" val="10001"/>
                      </a:ext>
                    </a:extLst>
                  </a:tr>
                  <a:tr h="655280">
                    <a:tc>
                      <a:txBody>
                        <a:bodyPr/>
                        <a:lstStyle/>
                        <a:p>
                          <a:pPr marL="457200" lvl="0" indent="-317500" algn="l" rtl="0">
                            <a:spcBef>
                              <a:spcPts val="0"/>
                            </a:spcBef>
                            <a:spcAft>
                              <a:spcPts val="0"/>
                            </a:spcAft>
                            <a:buClr>
                              <a:schemeClr val="dk1"/>
                            </a:buClr>
                            <a:buSzPts val="1400"/>
                            <a:buFont typeface="Times New Roman"/>
                            <a:buChar char="●"/>
                          </a:pPr>
                          <a:r>
                            <a:rPr lang="zh-TW" sz="2700" b="1" i="1" dirty="0">
                              <a:solidFill>
                                <a:schemeClr val="dk1"/>
                              </a:solidFill>
                              <a:latin typeface="Times New Roman"/>
                              <a:ea typeface="Times New Roman"/>
                              <a:cs typeface="Times New Roman"/>
                              <a:sym typeface="Times New Roman"/>
                            </a:rPr>
                            <a:t>Output</a:t>
                          </a:r>
                          <a:endParaRPr sz="2700" b="1" i="1" dirty="0">
                            <a:solidFill>
                              <a:schemeClr val="dk1"/>
                            </a:solidFill>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lgn="ctr">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449574">
                    <a:tc>
                      <a:txBody>
                        <a:bodyPr/>
                        <a:lstStyle/>
                        <a:p>
                          <a:endParaRPr lang="zh-TW"/>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blipFill>
                          <a:blip r:embed="rId3"/>
                          <a:stretch>
                            <a:fillRect l="-55" t="-383784" r="-55" b="-675676"/>
                          </a:stretch>
                        </a:blipFill>
                      </a:tcPr>
                    </a:tc>
                    <a:extLst>
                      <a:ext uri="{0D108BD9-81ED-4DB2-BD59-A6C34878D82A}">
                        <a16:rowId xmlns:a16="http://schemas.microsoft.com/office/drawing/2014/main" val="10003"/>
                      </a:ext>
                    </a:extLst>
                  </a:tr>
                  <a:tr h="655280">
                    <a:tc>
                      <a:txBody>
                        <a:bodyPr/>
                        <a:lstStyle/>
                        <a:p>
                          <a:pPr marL="457200" lvl="0" indent="-317500" algn="l" rtl="0">
                            <a:spcBef>
                              <a:spcPts val="0"/>
                            </a:spcBef>
                            <a:spcAft>
                              <a:spcPts val="0"/>
                            </a:spcAft>
                            <a:buClr>
                              <a:schemeClr val="dk1"/>
                            </a:buClr>
                            <a:buSzPts val="1400"/>
                            <a:buFont typeface="Times New Roman"/>
                            <a:buChar char="●"/>
                          </a:pPr>
                          <a:r>
                            <a:rPr lang="zh-TW" sz="2700" b="1" i="1" dirty="0">
                              <a:latin typeface="Times New Roman"/>
                              <a:ea typeface="Times New Roman"/>
                              <a:cs typeface="Times New Roman"/>
                              <a:sym typeface="Times New Roman"/>
                            </a:rPr>
                            <a:t>Objective</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r h="418861">
                    <a:tc>
                      <a:txBody>
                        <a:bodyPr/>
                        <a:lstStyle/>
                        <a:p>
                          <a:endParaRPr lang="zh-TW"/>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blipFill>
                          <a:blip r:embed="rId3"/>
                          <a:stretch>
                            <a:fillRect l="-55" t="-685294" r="-55" b="-476471"/>
                          </a:stretch>
                        </a:blipFill>
                      </a:tcPr>
                    </a:tc>
                    <a:extLst>
                      <a:ext uri="{0D108BD9-81ED-4DB2-BD59-A6C34878D82A}">
                        <a16:rowId xmlns:a16="http://schemas.microsoft.com/office/drawing/2014/main" val="10005"/>
                      </a:ext>
                    </a:extLst>
                  </a:tr>
                  <a:tr h="655280">
                    <a:tc>
                      <a:txBody>
                        <a:bodyPr/>
                        <a:lstStyle/>
                        <a:p>
                          <a:pPr marL="457200" lvl="0" indent="-317500" algn="l" rtl="0">
                            <a:spcBef>
                              <a:spcPts val="0"/>
                            </a:spcBef>
                            <a:spcAft>
                              <a:spcPts val="0"/>
                            </a:spcAft>
                            <a:buClr>
                              <a:schemeClr val="dk1"/>
                            </a:buClr>
                            <a:buSzPts val="1400"/>
                            <a:buFont typeface="Times New Roman"/>
                            <a:buChar char="●"/>
                          </a:pPr>
                          <a:r>
                            <a:rPr lang="zh-TW" sz="2700" b="1" i="1" dirty="0">
                              <a:latin typeface="Times New Roman"/>
                              <a:ea typeface="Times New Roman"/>
                              <a:cs typeface="Times New Roman"/>
                              <a:sym typeface="Times New Roman"/>
                            </a:rPr>
                            <a:t>Constraint</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6"/>
                      </a:ext>
                    </a:extLst>
                  </a:tr>
                  <a:tr h="475736">
                    <a:tc>
                      <a:txBody>
                        <a:bodyPr/>
                        <a:lstStyle/>
                        <a:p>
                          <a:endParaRPr lang="zh-TW"/>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blipFill>
                          <a:blip r:embed="rId3"/>
                          <a:stretch>
                            <a:fillRect l="-55" t="-823077" r="-55" b="-176923"/>
                          </a:stretch>
                        </a:blipFill>
                      </a:tcPr>
                    </a:tc>
                    <a:extLst>
                      <a:ext uri="{0D108BD9-81ED-4DB2-BD59-A6C34878D82A}">
                        <a16:rowId xmlns:a16="http://schemas.microsoft.com/office/drawing/2014/main" val="10007"/>
                      </a:ext>
                    </a:extLst>
                  </a:tr>
                  <a:tr h="413760">
                    <a:tc>
                      <a:txBody>
                        <a:bodyPr/>
                        <a:lstStyle/>
                        <a:p>
                          <a:pPr marL="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         All the input of LLM must </a:t>
                          </a:r>
                          <a:r>
                            <a:rPr lang="en-US" sz="2400" b="1" dirty="0">
                              <a:solidFill>
                                <a:schemeClr val="dk1"/>
                              </a:solidFill>
                              <a:latin typeface="Times New Roman"/>
                              <a:ea typeface="Times New Roman"/>
                              <a:cs typeface="Times New Roman"/>
                              <a:sym typeface="Times New Roman"/>
                            </a:rPr>
                            <a:t>less or equal</a:t>
                          </a:r>
                          <a:r>
                            <a:rPr lang="en-US" sz="2400" dirty="0">
                              <a:solidFill>
                                <a:schemeClr val="dk1"/>
                              </a:solidFill>
                              <a:latin typeface="Times New Roman"/>
                              <a:ea typeface="Times New Roman"/>
                              <a:cs typeface="Times New Roman"/>
                              <a:sym typeface="Times New Roman"/>
                            </a:rPr>
                            <a:t> than Context Window Size </a:t>
                          </a:r>
                          <a:endParaRPr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lgn="ctr">
                          <a:solidFill>
                            <a:schemeClr val="dk1">
                              <a:alpha val="0"/>
                            </a:schemeClr>
                          </a:solidFill>
                          <a:prstDash val="solid"/>
                          <a:round/>
                          <a:headEnd type="none" w="sm" len="sm"/>
                          <a:tailEnd type="none" w="sm" len="sm"/>
                        </a:lnB>
                      </a:tcPr>
                    </a:tc>
                    <a:extLst>
                      <a:ext uri="{0D108BD9-81ED-4DB2-BD59-A6C34878D82A}">
                        <a16:rowId xmlns:a16="http://schemas.microsoft.com/office/drawing/2014/main" val="10008"/>
                      </a:ext>
                    </a:extLst>
                  </a:tr>
                  <a:tr h="413760">
                    <a:tc>
                      <a:txBody>
                        <a:bodyPr/>
                        <a:lstStyle/>
                        <a:p>
                          <a:pPr marL="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3244755563"/>
                      </a:ext>
                    </a:extLst>
                  </a:tr>
                </a:tbl>
              </a:graphicData>
            </a:graphic>
          </p:graphicFrame>
        </mc:Fallback>
      </mc:AlternateContent>
      <p:sp>
        <p:nvSpPr>
          <p:cNvPr id="236" name="Google Shape;236;p29"/>
          <p:cNvSpPr txBox="1">
            <a:spLocks noGrp="1"/>
          </p:cNvSpPr>
          <p:nvPr>
            <p:ph type="ctrTitle"/>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lgn="l">
              <a:spcBef>
                <a:spcPts val="0"/>
              </a:spcBef>
              <a:buSzPts val="2700"/>
            </a:pPr>
            <a:r>
              <a:rPr lang="en-US" altLang="zh-TW" sz="4000" dirty="0">
                <a:latin typeface="Times New Roman"/>
                <a:ea typeface="Times New Roman"/>
                <a:cs typeface="Times New Roman"/>
                <a:sym typeface="Times New Roman"/>
              </a:rPr>
              <a:t>Problem Statement – Detect Intent from Command Sequence</a:t>
            </a:r>
            <a:endParaRPr sz="4000" dirty="0">
              <a:latin typeface="Times New Roman"/>
              <a:ea typeface="Times New Roman"/>
              <a:cs typeface="Times New Roman"/>
              <a:sym typeface="Times New Roman"/>
            </a:endParaRPr>
          </a:p>
        </p:txBody>
      </p:sp>
      <p:sp>
        <p:nvSpPr>
          <p:cNvPr id="237" name="Google Shape;237;p29"/>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B276644F-049F-D143-F324-C903BB208DA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35" name="Google Shape;235;p29">
                <a:extLst>
                  <a:ext uri="{FF2B5EF4-FFF2-40B4-BE49-F238E27FC236}">
                    <a16:creationId xmlns:a16="http://schemas.microsoft.com/office/drawing/2014/main" id="{32A96177-6550-9EA9-8637-C608C6EC2302}"/>
                  </a:ext>
                </a:extLst>
              </p:cNvPr>
              <p:cNvGraphicFramePr/>
              <p:nvPr>
                <p:extLst>
                  <p:ext uri="{D42A27DB-BD31-4B8C-83A1-F6EECF244321}">
                    <p14:modId xmlns:p14="http://schemas.microsoft.com/office/powerpoint/2010/main" val="4092131291"/>
                  </p:ext>
                </p:extLst>
              </p:nvPr>
            </p:nvGraphicFramePr>
            <p:xfrm>
              <a:off x="234054" y="1426747"/>
              <a:ext cx="12163686" cy="5188497"/>
            </p:xfrm>
            <a:graphic>
              <a:graphicData uri="http://schemas.openxmlformats.org/drawingml/2006/table">
                <a:tbl>
                  <a:tblPr>
                    <a:noFill/>
                  </a:tblPr>
                  <a:tblGrid>
                    <a:gridCol w="12163686">
                      <a:extLst>
                        <a:ext uri="{9D8B030D-6E8A-4147-A177-3AD203B41FA5}">
                          <a16:colId xmlns:a16="http://schemas.microsoft.com/office/drawing/2014/main" val="20000"/>
                        </a:ext>
                      </a:extLst>
                    </a:gridCol>
                  </a:tblGrid>
                  <a:tr h="649792">
                    <a:tc>
                      <a:txBody>
                        <a:bodyPr/>
                        <a:lstStyle/>
                        <a:p>
                          <a:pPr marL="457200" lvl="0" indent="-317500" algn="l" rtl="0">
                            <a:spcBef>
                              <a:spcPts val="0"/>
                            </a:spcBef>
                            <a:spcAft>
                              <a:spcPts val="0"/>
                            </a:spcAft>
                            <a:buClr>
                              <a:schemeClr val="dk1"/>
                            </a:buClr>
                            <a:buSzPts val="1400"/>
                            <a:buFont typeface="Times New Roman"/>
                            <a:buChar char="●"/>
                          </a:pPr>
                          <a:r>
                            <a:rPr lang="zh-TW" sz="2700" b="1" i="1" dirty="0">
                              <a:solidFill>
                                <a:schemeClr val="dk1"/>
                              </a:solidFill>
                              <a:latin typeface="Times New Roman"/>
                              <a:ea typeface="Times New Roman"/>
                              <a:cs typeface="Times New Roman"/>
                              <a:sym typeface="Times New Roman"/>
                            </a:rPr>
                            <a:t>Input</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411963">
                    <a:tc>
                      <a:txBody>
                        <a:bodyPr/>
                        <a:lstStyle/>
                        <a:p>
                          <a:pPr marL="457200" lvl="1" indent="0" algn="l" rtl="0">
                            <a:spcBef>
                              <a:spcPts val="0"/>
                            </a:spcBef>
                            <a:spcAft>
                              <a:spcPts val="0"/>
                            </a:spcAft>
                            <a:buNone/>
                          </a:pPr>
                          <a:r>
                            <a:rPr lang="zh-TW" altLang="en-US" sz="2400" b="0" dirty="0">
                              <a:solidFill>
                                <a:schemeClr val="dk1"/>
                              </a:solidFill>
                              <a:ea typeface="Times New Roman"/>
                              <a:cs typeface="Times New Roman"/>
                              <a:sym typeface="Times New Roman"/>
                            </a:rPr>
                            <a:t> </a:t>
                          </a:r>
                          <a14:m>
                            <m:oMath xmlns:m="http://schemas.openxmlformats.org/officeDocument/2006/math">
                              <m:r>
                                <a:rPr lang="zh-TW" altLang="en-US" sz="2400" b="0" i="1" smtClean="0">
                                  <a:solidFill>
                                    <a:schemeClr val="dk1"/>
                                  </a:solidFill>
                                  <a:latin typeface="Cambria Math" panose="02040503050406030204" pitchFamily="18" charset="0"/>
                                  <a:ea typeface="Times New Roman"/>
                                  <a:cs typeface="Times New Roman"/>
                                  <a:sym typeface="Times New Roman"/>
                                </a:rPr>
                                <m:t>    </m:t>
                              </m:r>
                              <m:r>
                                <m:rPr>
                                  <m:sty m:val="p"/>
                                </m:rPr>
                                <a:rPr lang="en-US" altLang="zh-TW" sz="2400" b="0" i="1" smtClean="0">
                                  <a:solidFill>
                                    <a:schemeClr val="dk1"/>
                                  </a:solidFill>
                                  <a:latin typeface="Cambria Math" panose="02040503050406030204" pitchFamily="18" charset="0"/>
                                  <a:ea typeface="Times New Roman"/>
                                  <a:cs typeface="Times New Roman"/>
                                  <a:sym typeface="Times New Roman"/>
                                </a:rPr>
                                <m:t>z</m:t>
                              </m:r>
                              <m:sSub>
                                <m:sSubPr>
                                  <m:ctrlPr>
                                    <a:rPr lang="en-US" altLang="zh-TW" sz="2400" b="0" i="1" smtClean="0">
                                      <a:solidFill>
                                        <a:schemeClr val="dk1"/>
                                      </a:solidFill>
                                      <a:latin typeface="Cambria Math" panose="02040503050406030204" pitchFamily="18" charset="0"/>
                                      <a:ea typeface="Times New Roman"/>
                                      <a:cs typeface="Times New Roman"/>
                                      <a:sym typeface="Times New Roman"/>
                                    </a:rPr>
                                  </m:ctrlPr>
                                </m:sSubPr>
                                <m:e>
                                  <m:r>
                                    <a:rPr lang="en-US" altLang="zh-TW" sz="2400" b="0" i="1" smtClean="0">
                                      <a:solidFill>
                                        <a:schemeClr val="dk1"/>
                                      </a:solidFill>
                                      <a:latin typeface="Cambria Math" panose="02040503050406030204" pitchFamily="18" charset="0"/>
                                      <a:ea typeface="Times New Roman"/>
                                      <a:cs typeface="Times New Roman"/>
                                      <a:sym typeface="Times New Roman"/>
                                    </a:rPr>
                                    <m:t>̂</m:t>
                                  </m:r>
                                </m:e>
                                <m:sub>
                                  <m:r>
                                    <a:rPr lang="en-US" altLang="zh-TW" sz="2400" b="0" i="1" smtClean="0">
                                      <a:solidFill>
                                        <a:schemeClr val="dk1"/>
                                      </a:solidFill>
                                      <a:latin typeface="Cambria Math" panose="02040503050406030204" pitchFamily="18" charset="0"/>
                                      <a:ea typeface="Times New Roman"/>
                                      <a:cs typeface="Times New Roman"/>
                                      <a:sym typeface="Times New Roman"/>
                                    </a:rPr>
                                    <m:t>𝑖</m:t>
                                  </m:r>
                                </m:sub>
                              </m:sSub>
                              <m:r>
                                <a:rPr lang="en-US" altLang="zh-TW" sz="2400" b="0" i="1" smtClean="0">
                                  <a:latin typeface="Cambria Math" panose="02040503050406030204" pitchFamily="18" charset="0"/>
                                </a:rPr>
                                <m:t>:</m:t>
                              </m:r>
                            </m:oMath>
                          </a14:m>
                          <a:r>
                            <a:rPr lang="en-US" altLang="zh-TW" sz="2400" b="0" dirty="0">
                              <a:latin typeface="Times New Roman" panose="02020603050405020304" pitchFamily="18" charset="0"/>
                              <a:cs typeface="Times New Roman" panose="02020603050405020304" pitchFamily="18" charset="0"/>
                              <a:sym typeface="Times New Roman"/>
                            </a:rPr>
                            <a:t> </a:t>
                          </a:r>
                          <a:r>
                            <a:rPr lang="en-US" altLang="zh-TW" sz="2400" kern="1200" dirty="0">
                              <a:solidFill>
                                <a:schemeClr val="tx1"/>
                              </a:solidFill>
                              <a:effectLst/>
                              <a:latin typeface="Times New Roman" panose="02020603050405020304" pitchFamily="18" charset="0"/>
                              <a:ea typeface="+mn-ea"/>
                              <a:cs typeface="Times New Roman" panose="02020603050405020304" pitchFamily="18" charset="0"/>
                            </a:rPr>
                            <a:t>Detected semantic Intent and MITRE ATT&amp;CK Tactic</a:t>
                          </a:r>
                          <a:endParaRPr lang="en-US" altLang="zh-TW" sz="2400" b="0" dirty="0">
                            <a:latin typeface="Times New Roman" panose="02020603050405020304" pitchFamily="18" charset="0"/>
                            <a:cs typeface="Times New Roman" panose="02020603050405020304" pitchFamily="18" charset="0"/>
                          </a:endParaRPr>
                        </a:p>
                      </a:txBody>
                      <a:tcPr marL="121900" marR="121900" marT="4800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649792">
                    <a:tc>
                      <a:txBody>
                        <a:bodyPr/>
                        <a:lstStyle/>
                        <a:p>
                          <a:pPr marL="457200" lvl="0" indent="-317500" algn="l" rtl="0">
                            <a:spcBef>
                              <a:spcPts val="0"/>
                            </a:spcBef>
                            <a:spcAft>
                              <a:spcPts val="0"/>
                            </a:spcAft>
                            <a:buClr>
                              <a:schemeClr val="dk1"/>
                            </a:buClr>
                            <a:buSzPts val="1400"/>
                            <a:buFont typeface="Times New Roman"/>
                            <a:buChar char="●"/>
                          </a:pPr>
                          <a:r>
                            <a:rPr lang="zh-TW" sz="2700" b="1" i="1" dirty="0">
                              <a:solidFill>
                                <a:schemeClr val="dk1"/>
                              </a:solidFill>
                              <a:latin typeface="Times New Roman"/>
                              <a:ea typeface="Times New Roman"/>
                              <a:cs typeface="Times New Roman"/>
                              <a:sym typeface="Times New Roman"/>
                            </a:rPr>
                            <a:t>Output</a:t>
                          </a:r>
                          <a:endParaRPr sz="2700" b="1" i="1" dirty="0">
                            <a:solidFill>
                              <a:schemeClr val="dk1"/>
                            </a:solidFill>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lgn="ctr">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410295">
                    <a:tc>
                      <a:txBody>
                        <a:bodyPr/>
                        <a:lstStyle/>
                        <a:p>
                          <a:pPr marL="0" lvl="0" indent="0" algn="l" rtl="0">
                            <a:spcBef>
                              <a:spcPts val="0"/>
                            </a:spcBef>
                            <a:spcAft>
                              <a:spcPts val="0"/>
                            </a:spcAft>
                            <a:buClr>
                              <a:schemeClr val="dk1"/>
                            </a:buClr>
                            <a:buSzPts val="1100"/>
                            <a:buFont typeface="Arial"/>
                            <a:buNone/>
                          </a:pPr>
                          <a:r>
                            <a:rPr lang="zh-TW" sz="2400" dirty="0">
                              <a:solidFill>
                                <a:schemeClr val="dk1"/>
                              </a:solidFill>
                              <a:latin typeface="Times New Roman"/>
                              <a:ea typeface="Times New Roman"/>
                              <a:cs typeface="Times New Roman"/>
                              <a:sym typeface="Times New Roman"/>
                            </a:rPr>
                            <a: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    </m:t>
                                  </m:r>
                                  <m:r>
                                    <m:rPr>
                                      <m:sty m:val="p"/>
                                    </m:rPr>
                                    <a:rPr lang="en-US" altLang="zh-TW" sz="2400" b="0" i="1" smtClean="0">
                                      <a:latin typeface="Cambria Math" panose="02040503050406030204" pitchFamily="18" charset="0"/>
                                    </a:rPr>
                                    <m:t>a</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 </m:t>
                                  </m:r>
                                </m:sub>
                              </m:sSub>
                              <m:r>
                                <a:rPr lang="en-US" altLang="zh-TW" sz="2400" b="0" i="1" smtClean="0">
                                  <a:latin typeface="Cambria Math" panose="02040503050406030204" pitchFamily="18" charset="0"/>
                                </a:rPr>
                                <m:t>:</m:t>
                              </m:r>
                              <m:r>
                                <m:rPr>
                                  <m:nor/>
                                </m:rPr>
                                <a:rPr lang="en-US" altLang="zh-TW" sz="2400" dirty="0" smtClean="0">
                                  <a:solidFill>
                                    <a:schemeClr val="dk1"/>
                                  </a:solidFill>
                                  <a:latin typeface="Times New Roman"/>
                                  <a:ea typeface="Times New Roman"/>
                                  <a:cs typeface="Times New Roman"/>
                                  <a:sym typeface="Times New Roman"/>
                                </a:rPr>
                                <m:t>Optimal</m:t>
                              </m:r>
                              <m:r>
                                <m:rPr>
                                  <m:nor/>
                                </m:rPr>
                                <a:rPr lang="en-US" altLang="zh-TW" sz="2400" dirty="0" smtClean="0">
                                  <a:solidFill>
                                    <a:schemeClr val="dk1"/>
                                  </a:solidFill>
                                  <a:latin typeface="Times New Roman"/>
                                  <a:ea typeface="Times New Roman"/>
                                  <a:cs typeface="Times New Roman"/>
                                  <a:sym typeface="Times New Roman"/>
                                </a:rPr>
                                <m:t> </m:t>
                              </m:r>
                              <m:r>
                                <m:rPr>
                                  <m:nor/>
                                </m:rPr>
                                <a:rPr lang="en-US" altLang="zh-TW" sz="2400" b="0" i="0" dirty="0" smtClean="0">
                                  <a:solidFill>
                                    <a:schemeClr val="dk1"/>
                                  </a:solidFill>
                                  <a:latin typeface="Times New Roman"/>
                                  <a:ea typeface="Times New Roman"/>
                                  <a:cs typeface="Times New Roman"/>
                                  <a:sym typeface="Times New Roman"/>
                                </a:rPr>
                                <m:t>strategy</m:t>
                              </m:r>
                              <m:r>
                                <m:rPr>
                                  <m:nor/>
                                </m:rPr>
                                <a:rPr lang="en-US" altLang="zh-TW" sz="2400" b="0" i="0" dirty="0" smtClean="0">
                                  <a:solidFill>
                                    <a:schemeClr val="dk1"/>
                                  </a:solidFill>
                                  <a:latin typeface="Times New Roman"/>
                                  <a:ea typeface="Times New Roman"/>
                                  <a:cs typeface="Times New Roman"/>
                                  <a:sym typeface="Times New Roman"/>
                                </a:rPr>
                                <m:t> </m:t>
                              </m:r>
                              <m:r>
                                <m:rPr>
                                  <m:nor/>
                                </m:rPr>
                                <a:rPr lang="en-US" altLang="zh-TW" sz="2400" b="0" i="0" dirty="0" smtClean="0">
                                  <a:solidFill>
                                    <a:schemeClr val="dk1"/>
                                  </a:solidFill>
                                  <a:latin typeface="Times New Roman"/>
                                  <a:ea typeface="Times New Roman"/>
                                  <a:cs typeface="Times New Roman"/>
                                  <a:sym typeface="Times New Roman"/>
                                </a:rPr>
                                <m:t>to</m:t>
                              </m:r>
                              <m:r>
                                <m:rPr>
                                  <m:nor/>
                                </m:rPr>
                                <a:rPr lang="en-US" altLang="zh-TW" sz="2400" b="0" i="0" dirty="0" smtClean="0">
                                  <a:solidFill>
                                    <a:schemeClr val="dk1"/>
                                  </a:solidFill>
                                  <a:latin typeface="Times New Roman"/>
                                  <a:ea typeface="Times New Roman"/>
                                  <a:cs typeface="Times New Roman"/>
                                  <a:sym typeface="Times New Roman"/>
                                </a:rPr>
                                <m:t> </m:t>
                              </m:r>
                              <m:r>
                                <m:rPr>
                                  <m:nor/>
                                </m:rPr>
                                <a:rPr lang="en-US" altLang="zh-TW" sz="2400" b="0" i="0" dirty="0" smtClean="0">
                                  <a:solidFill>
                                    <a:schemeClr val="dk1"/>
                                  </a:solidFill>
                                  <a:latin typeface="Times New Roman"/>
                                  <a:ea typeface="Times New Roman"/>
                                  <a:cs typeface="Times New Roman"/>
                                  <a:sym typeface="Times New Roman"/>
                                </a:rPr>
                                <m:t>lure</m:t>
                              </m:r>
                              <m:r>
                                <m:rPr>
                                  <m:nor/>
                                </m:rPr>
                                <a:rPr lang="en-US" altLang="zh-TW" sz="2400" b="0" i="0" dirty="0" smtClean="0">
                                  <a:solidFill>
                                    <a:schemeClr val="dk1"/>
                                  </a:solidFill>
                                  <a:latin typeface="Times New Roman"/>
                                  <a:ea typeface="Times New Roman"/>
                                  <a:cs typeface="Times New Roman"/>
                                  <a:sym typeface="Times New Roman"/>
                                </a:rPr>
                                <m:t> </m:t>
                              </m:r>
                              <m:r>
                                <m:rPr>
                                  <m:nor/>
                                </m:rPr>
                                <a:rPr lang="en-US" altLang="zh-TW" sz="2400" b="0" i="0" dirty="0" smtClean="0">
                                  <a:solidFill>
                                    <a:schemeClr val="dk1"/>
                                  </a:solidFill>
                                  <a:latin typeface="Times New Roman"/>
                                  <a:ea typeface="Times New Roman"/>
                                  <a:cs typeface="Times New Roman"/>
                                  <a:sym typeface="Times New Roman"/>
                                </a:rPr>
                                <m:t>Red</m:t>
                              </m:r>
                              <m:r>
                                <m:rPr>
                                  <m:nor/>
                                </m:rPr>
                                <a:rPr lang="en-US" altLang="zh-TW" sz="2400" b="0" i="0" dirty="0" smtClean="0">
                                  <a:solidFill>
                                    <a:schemeClr val="dk1"/>
                                  </a:solidFill>
                                  <a:latin typeface="Times New Roman"/>
                                  <a:ea typeface="Times New Roman"/>
                                  <a:cs typeface="Times New Roman"/>
                                  <a:sym typeface="Times New Roman"/>
                                </a:rPr>
                                <m:t> </m:t>
                              </m:r>
                              <m:r>
                                <m:rPr>
                                  <m:nor/>
                                </m:rPr>
                                <a:rPr lang="en-US" altLang="zh-TW" sz="2400" b="0" i="0" dirty="0" smtClean="0">
                                  <a:solidFill>
                                    <a:schemeClr val="dk1"/>
                                  </a:solidFill>
                                  <a:latin typeface="Times New Roman"/>
                                  <a:ea typeface="Times New Roman"/>
                                  <a:cs typeface="Times New Roman"/>
                                  <a:sym typeface="Times New Roman"/>
                                </a:rPr>
                                <m:t>Team</m:t>
                              </m:r>
                              <m:r>
                                <m:rPr>
                                  <m:nor/>
                                </m:rPr>
                                <a:rPr lang="en-US" altLang="zh-TW" sz="2400" b="0" i="0" dirty="0" smtClean="0">
                                  <a:solidFill>
                                    <a:schemeClr val="dk1"/>
                                  </a:solidFill>
                                  <a:latin typeface="Times New Roman"/>
                                  <a:ea typeface="Times New Roman"/>
                                  <a:cs typeface="Times New Roman"/>
                                  <a:sym typeface="Times New Roman"/>
                                </a:rPr>
                                <m:t> </m:t>
                              </m:r>
                              <m:r>
                                <m:rPr>
                                  <m:nor/>
                                </m:rPr>
                                <a:rPr lang="en-US" altLang="zh-TW" sz="2400" b="0" i="0" dirty="0" smtClean="0">
                                  <a:solidFill>
                                    <a:schemeClr val="dk1"/>
                                  </a:solidFill>
                                  <a:latin typeface="Times New Roman"/>
                                  <a:ea typeface="Times New Roman"/>
                                  <a:cs typeface="Times New Roman"/>
                                  <a:sym typeface="Times New Roman"/>
                                </a:rPr>
                                <m:t>Agent</m:t>
                              </m:r>
                            </m:oMath>
                          </a14:m>
                          <a:endParaRPr sz="2400" baseline="-25000" dirty="0">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649792">
                    <a:tc>
                      <a:txBody>
                        <a:bodyPr/>
                        <a:lstStyle/>
                        <a:p>
                          <a:pPr marL="457200" lvl="0" indent="-317500" algn="l" rtl="0">
                            <a:spcBef>
                              <a:spcPts val="0"/>
                            </a:spcBef>
                            <a:spcAft>
                              <a:spcPts val="0"/>
                            </a:spcAft>
                            <a:buClr>
                              <a:schemeClr val="dk1"/>
                            </a:buClr>
                            <a:buSzPts val="1400"/>
                            <a:buFont typeface="Times New Roman"/>
                            <a:buChar char="●"/>
                          </a:pPr>
                          <a:r>
                            <a:rPr lang="zh-TW" sz="2700" b="1" i="1" dirty="0">
                              <a:latin typeface="Times New Roman"/>
                              <a:ea typeface="Times New Roman"/>
                              <a:cs typeface="Times New Roman"/>
                              <a:sym typeface="Times New Roman"/>
                            </a:rPr>
                            <a:t>Objective</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r h="442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sz="2400" dirty="0">
                              <a:solidFill>
                                <a:schemeClr val="dk1"/>
                              </a:solidFill>
                              <a:latin typeface="Times New Roman"/>
                              <a:ea typeface="Times New Roman"/>
                              <a:cs typeface="Times New Roman"/>
                              <a:sym typeface="Times New Roman"/>
                            </a:rPr>
                            <a:t>          </a:t>
                          </a:r>
                          <a14:m>
                            <m:oMath xmlns:m="http://schemas.openxmlformats.org/officeDocument/2006/math">
                              <m:r>
                                <m:rPr>
                                  <m:sty m:val="p"/>
                                </m:rPr>
                                <a:rPr lang="en-US" altLang="zh-TW" sz="2400" b="0" i="1" smtClean="0">
                                  <a:solidFill>
                                    <a:schemeClr val="dk1"/>
                                  </a:solidFill>
                                  <a:latin typeface="Cambria Math" panose="02040503050406030204" pitchFamily="18" charset="0"/>
                                  <a:ea typeface="Libertinus Math"/>
                                  <a:cs typeface="Libertinus Math"/>
                                  <a:sym typeface="Libertinus Math"/>
                                </a:rPr>
                                <m:t>Maximize</m:t>
                              </m:r>
                              <m:r>
                                <a:rPr lang="en-US" altLang="zh-TW" sz="2400" i="1">
                                  <a:solidFill>
                                    <a:schemeClr val="dk1"/>
                                  </a:solidFill>
                                  <a:latin typeface="Cambria Math" panose="02040503050406030204" pitchFamily="18" charset="0"/>
                                  <a:ea typeface="Libertinus Math"/>
                                  <a:cs typeface="Libertinus Math"/>
                                  <a:sym typeface="Libertinus Math"/>
                                </a:rPr>
                                <m:t>:</m:t>
                              </m:r>
                              <m:r>
                                <a:rPr lang="en-US" altLang="zh-TW" sz="2400" b="0" i="1" smtClean="0">
                                  <a:solidFill>
                                    <a:schemeClr val="dk1"/>
                                  </a:solidFill>
                                  <a:latin typeface="Cambria Math" panose="02040503050406030204" pitchFamily="18" charset="0"/>
                                  <a:ea typeface="Libertinus Math"/>
                                  <a:cs typeface="Libertinus Math"/>
                                  <a:sym typeface="Libertinus Math"/>
                                </a:rPr>
                                <m:t>  </m:t>
                              </m:r>
                              <m:sSub>
                                <m:sSubPr>
                                  <m:ctrlPr>
                                    <a:rPr lang="en-US" altLang="zh-TW" sz="2400" i="1" smtClean="0">
                                      <a:latin typeface="Cambria Math" panose="02040503050406030204" pitchFamily="18" charset="0"/>
                                    </a:rPr>
                                  </m:ctrlPr>
                                </m:sSubPr>
                                <m:e>
                                  <m:r>
                                    <a:rPr lang="en-US" altLang="zh-TW" sz="2400" i="1" smtClean="0">
                                      <a:latin typeface="Cambria Math" panose="02040503050406030204" pitchFamily="18" charset="0"/>
                                    </a:rPr>
                                    <m:t>𝑅</m:t>
                                  </m:r>
                                </m:e>
                                <m:sub>
                                  <m:r>
                                    <a:rPr lang="en-US" altLang="zh-TW" sz="2400" i="1">
                                      <a:latin typeface="Cambria Math" panose="02040503050406030204" pitchFamily="18" charset="0"/>
                                    </a:rPr>
                                    <m:t>𝑒𝑛𝑣</m:t>
                                  </m:r>
                                </m:sub>
                              </m:sSub>
                              <m:r>
                                <a:rPr lang="en-US" altLang="zh-TW" sz="240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r>
                                <a:rPr lang="en-US" altLang="zh-TW" sz="2400" i="1">
                                  <a:latin typeface="Cambria Math" panose="02040503050406030204" pitchFamily="18" charset="0"/>
                                </a:rPr>
                                <m:t>𝑁𝑜𝑟𝑚</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𝑑𝑒𝑝𝑡</m:t>
                                      </m:r>
                                      <m:r>
                                        <a:rPr lang="en-US" altLang="zh-TW" sz="2400" i="1">
                                          <a:latin typeface="Cambria Math" panose="02040503050406030204" pitchFamily="18" charset="0"/>
                                        </a:rPr>
                                        <m:t>h</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𝑀</m:t>
                                      </m:r>
                                    </m:e>
                                    <m:sub>
                                      <m:r>
                                        <a:rPr lang="en-US" altLang="zh-TW" sz="2400" i="1">
                                          <a:latin typeface="Cambria Math" panose="02040503050406030204" pitchFamily="18" charset="0"/>
                                        </a:rPr>
                                        <m:t>𝑑𝑒𝑝𝑡</m:t>
                                      </m:r>
                                      <m:r>
                                        <a:rPr lang="en-US" altLang="zh-TW" sz="2400" i="1">
                                          <a:latin typeface="Cambria Math" panose="02040503050406030204" pitchFamily="18" charset="0"/>
                                        </a:rPr>
                                        <m:t>h</m:t>
                                      </m:r>
                                    </m:sub>
                                  </m:sSub>
                                </m:e>
                              </m:d>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r>
                                <a:rPr lang="en-US" altLang="zh-TW" sz="2400" i="1">
                                  <a:latin typeface="Cambria Math" panose="02040503050406030204" pitchFamily="18" charset="0"/>
                                </a:rPr>
                                <m:t>𝑁𝑜𝑟𝑚</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𝑑𝑖𝑣</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𝑀</m:t>
                                      </m:r>
                                    </m:e>
                                    <m:sub>
                                      <m:r>
                                        <a:rPr lang="en-US" altLang="zh-TW" sz="2400" i="1">
                                          <a:latin typeface="Cambria Math" panose="02040503050406030204" pitchFamily="18" charset="0"/>
                                        </a:rPr>
                                        <m:t>𝑑𝑖𝑣</m:t>
                                      </m:r>
                                    </m:sub>
                                  </m:sSub>
                                </m:e>
                              </m:d>
                              <m:r>
                                <a:rPr lang="en-US" altLang="zh-TW" sz="2400" i="1">
                                  <a:latin typeface="Cambria Math" panose="02040503050406030204" pitchFamily="18" charset="0"/>
                                </a:rPr>
                                <m:t>;</m:t>
                              </m:r>
                              <m:r>
                                <a:rPr lang="en-US" altLang="zh-TW" sz="2400" i="1" smtClean="0">
                                  <a:latin typeface="Cambria Math" panose="02040503050406030204" pitchFamily="18" charset="0"/>
                                </a:rPr>
                                <m:t>𝑅𝑎𝑛𝑔𝑒</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0</m:t>
                                  </m:r>
                                  <m:r>
                                    <a:rPr lang="en-US" altLang="zh-TW" sz="2400" i="1">
                                      <a:latin typeface="Cambria Math" panose="02040503050406030204" pitchFamily="18" charset="0"/>
                                    </a:rPr>
                                    <m:t>:</m:t>
                                  </m:r>
                                  <m:r>
                                    <a:rPr lang="en-US" altLang="zh-TW" sz="2400" i="1">
                                      <a:latin typeface="Cambria Math" panose="02040503050406030204" pitchFamily="18" charset="0"/>
                                    </a:rPr>
                                    <m:t>1</m:t>
                                  </m:r>
                                </m:e>
                              </m:d>
                            </m:oMath>
                          </a14:m>
                          <a:endParaRPr lang="zh-TW" altLang="en-US" sz="2400" dirty="0"/>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r h="649792">
                    <a:tc>
                      <a:txBody>
                        <a:bodyPr/>
                        <a:lstStyle/>
                        <a:p>
                          <a:pPr marL="457200" lvl="0" indent="-317500" algn="l" rtl="0">
                            <a:spcBef>
                              <a:spcPts val="0"/>
                            </a:spcBef>
                            <a:spcAft>
                              <a:spcPts val="0"/>
                            </a:spcAft>
                            <a:buClr>
                              <a:schemeClr val="dk1"/>
                            </a:buClr>
                            <a:buSzPts val="1400"/>
                            <a:buFont typeface="Times New Roman"/>
                            <a:buChar char="●"/>
                          </a:pPr>
                          <a:r>
                            <a:rPr lang="zh-TW" sz="2700" b="1" i="1" dirty="0">
                              <a:latin typeface="Times New Roman"/>
                              <a:ea typeface="Times New Roman"/>
                              <a:cs typeface="Times New Roman"/>
                              <a:sym typeface="Times New Roman"/>
                            </a:rPr>
                            <a:t>Constraint</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6"/>
                      </a:ext>
                    </a:extLst>
                  </a:tr>
                  <a:tr h="444157">
                    <a:tc>
                      <a:txBody>
                        <a:bodyPr/>
                        <a:lstStyle/>
                        <a:p>
                          <a:pPr marL="0" lvl="0" indent="0" algn="l" rtl="0">
                            <a:spcBef>
                              <a:spcPts val="0"/>
                            </a:spcBef>
                            <a:spcAft>
                              <a:spcPts val="0"/>
                            </a:spcAft>
                            <a:buNone/>
                          </a:pPr>
                          <a:r>
                            <a:rPr lang="zh-TW" sz="2400" dirty="0">
                              <a:solidFill>
                                <a:schemeClr val="dk1"/>
                              </a:solidFill>
                              <a:latin typeface="Times New Roman"/>
                              <a:ea typeface="Times New Roman"/>
                              <a:cs typeface="Times New Roman"/>
                              <a:sym typeface="Times New Roman"/>
                            </a:rPr>
                            <a:t>         </a:t>
                          </a:r>
                          <a14:m>
                            <m:oMath xmlns:m="http://schemas.openxmlformats.org/officeDocument/2006/math">
                              <m:r>
                                <a:rPr lang="zh-TW" altLang="en-US" sz="2400" b="0" i="1" dirty="0" smtClean="0">
                                  <a:solidFill>
                                    <a:schemeClr val="dk1"/>
                                  </a:solidFill>
                                  <a:latin typeface="Cambria Math" panose="02040503050406030204" pitchFamily="18" charset="0"/>
                                  <a:ea typeface="Times New Roman"/>
                                  <a:cs typeface="Times New Roman"/>
                                  <a:sym typeface="Times New Roman"/>
                                </a:rPr>
                                <m:t> </m:t>
                              </m:r>
                              <m:r>
                                <a:rPr lang="en-US" altLang="zh-TW" sz="2400" b="0" i="1" smtClean="0">
                                  <a:solidFill>
                                    <a:schemeClr val="dk1"/>
                                  </a:solidFill>
                                  <a:latin typeface="Cambria Math" panose="02040503050406030204" pitchFamily="18" charset="0"/>
                                  <a:ea typeface="Times New Roman"/>
                                  <a:cs typeface="Times New Roman"/>
                                  <a:sym typeface="Times New Roman"/>
                                </a:rPr>
                                <m:t>𝑙𝑒𝑛𝑔𝑡</m:t>
                              </m:r>
                              <m:r>
                                <a:rPr lang="en-US" altLang="zh-TW" sz="2400" b="0" i="1" smtClean="0">
                                  <a:solidFill>
                                    <a:schemeClr val="dk1"/>
                                  </a:solidFill>
                                  <a:latin typeface="Cambria Math" panose="02040503050406030204" pitchFamily="18" charset="0"/>
                                  <a:ea typeface="Times New Roman"/>
                                  <a:cs typeface="Times New Roman"/>
                                  <a:sym typeface="Times New Roman"/>
                                </a:rPr>
                                <m:t>h</m:t>
                              </m:r>
                              <m:d>
                                <m:dPr>
                                  <m:ctrlPr>
                                    <a:rPr lang="en-US" altLang="zh-TW" sz="2400" b="0" i="1" smtClean="0">
                                      <a:solidFill>
                                        <a:schemeClr val="dk1"/>
                                      </a:solidFill>
                                      <a:latin typeface="Cambria Math" panose="02040503050406030204" pitchFamily="18" charset="0"/>
                                      <a:ea typeface="Times New Roman"/>
                                      <a:cs typeface="Times New Roman"/>
                                      <a:sym typeface="Times New Roman"/>
                                    </a:rPr>
                                  </m:ctrlPr>
                                </m:dPr>
                                <m:e>
                                  <m:sSub>
                                    <m:sSubPr>
                                      <m:ctrlPr>
                                        <a:rPr lang="en-US" altLang="zh-TW" sz="2400" b="0" i="1" smtClean="0">
                                          <a:solidFill>
                                            <a:schemeClr val="dk1"/>
                                          </a:solidFill>
                                          <a:latin typeface="Cambria Math" panose="02040503050406030204" pitchFamily="18" charset="0"/>
                                          <a:ea typeface="Cambria Math"/>
                                          <a:cs typeface="Cambria Math"/>
                                          <a:sym typeface="Cambria Math"/>
                                        </a:rPr>
                                      </m:ctrlPr>
                                    </m:sSubPr>
                                    <m:e>
                                      <m:sSub>
                                        <m:sSubPr>
                                          <m:ctrlPr>
                                            <a:rPr lang="en-US" altLang="zh-TW" sz="2400" b="0" i="1" smtClean="0">
                                              <a:solidFill>
                                                <a:schemeClr val="dk1"/>
                                              </a:solidFill>
                                              <a:latin typeface="Cambria Math" panose="02040503050406030204" pitchFamily="18" charset="0"/>
                                              <a:ea typeface="Cambria Math"/>
                                              <a:cs typeface="Cambria Math"/>
                                              <a:sym typeface="Cambria Math"/>
                                            </a:rPr>
                                          </m:ctrlPr>
                                        </m:sSubPr>
                                        <m:e>
                                          <m:r>
                                            <a:rPr lang="en-US" altLang="zh-TW" sz="2400" b="0" i="1" smtClean="0">
                                              <a:solidFill>
                                                <a:schemeClr val="dk1"/>
                                              </a:solidFill>
                                              <a:latin typeface="Cambria Math" panose="02040503050406030204" pitchFamily="18" charset="0"/>
                                              <a:ea typeface="Cambria Math"/>
                                              <a:cs typeface="Cambria Math"/>
                                              <a:sym typeface="Cambria Math"/>
                                            </a:rPr>
                                            <m:t>𝐶</m:t>
                                          </m:r>
                                        </m:e>
                                        <m:sub>
                                          <m:r>
                                            <a:rPr lang="en-US" altLang="zh-TW" sz="2400" b="0" i="1" smtClean="0">
                                              <a:solidFill>
                                                <a:schemeClr val="dk1"/>
                                              </a:solidFill>
                                              <a:latin typeface="Cambria Math" panose="02040503050406030204" pitchFamily="18" charset="0"/>
                                              <a:ea typeface="Cambria Math"/>
                                              <a:cs typeface="Cambria Math"/>
                                              <a:sym typeface="Cambria Math"/>
                                            </a:rPr>
                                            <m:t>𝑖</m:t>
                                          </m:r>
                                          <m:r>
                                            <a:rPr lang="en-US" altLang="zh-TW" sz="2400" b="0" i="0" smtClean="0">
                                              <a:solidFill>
                                                <a:schemeClr val="dk1"/>
                                              </a:solidFill>
                                              <a:latin typeface="Cambria Math" panose="02040503050406030204" pitchFamily="18" charset="0"/>
                                              <a:ea typeface="Cambria Math"/>
                                              <a:cs typeface="Cambria Math"/>
                                              <a:sym typeface="Cambria Math"/>
                                            </a:rPr>
                                            <m:t>−</m:t>
                                          </m:r>
                                          <m:r>
                                            <a:rPr lang="en-US" altLang="zh-TW" sz="2400" b="0" i="0" smtClean="0">
                                              <a:solidFill>
                                                <a:schemeClr val="dk1"/>
                                              </a:solidFill>
                                              <a:latin typeface="Cambria Math" panose="02040503050406030204" pitchFamily="18" charset="0"/>
                                              <a:ea typeface="Cambria Math"/>
                                              <a:cs typeface="Cambria Math"/>
                                              <a:sym typeface="Cambria Math"/>
                                            </a:rPr>
                                            <m:t>𝑁</m:t>
                                          </m:r>
                                        </m:sub>
                                      </m:sSub>
                                      <m:r>
                                        <a:rPr lang="en-US" altLang="zh-TW" sz="2400" b="0" i="1" smtClean="0">
                                          <a:solidFill>
                                            <a:schemeClr val="dk1"/>
                                          </a:solidFill>
                                          <a:latin typeface="Cambria Math" panose="02040503050406030204" pitchFamily="18" charset="0"/>
                                          <a:ea typeface="Cambria Math"/>
                                          <a:cs typeface="Cambria Math"/>
                                          <a:sym typeface="Cambria Math"/>
                                        </a:rPr>
                                        <m:t>,…,</m:t>
                                      </m:r>
                                      <m:r>
                                        <a:rPr lang="en-US" altLang="zh-TW" sz="2400" b="0" i="1" smtClean="0">
                                          <a:solidFill>
                                            <a:schemeClr val="dk1"/>
                                          </a:solidFill>
                                          <a:latin typeface="Cambria Math" panose="02040503050406030204" pitchFamily="18" charset="0"/>
                                          <a:ea typeface="Cambria Math"/>
                                          <a:cs typeface="Cambria Math"/>
                                          <a:sym typeface="Cambria Math"/>
                                        </a:rPr>
                                        <m:t>𝐶</m:t>
                                      </m:r>
                                    </m:e>
                                    <m:sub>
                                      <m:r>
                                        <a:rPr lang="en-US" altLang="zh-TW" sz="2400" b="0" i="1" smtClean="0">
                                          <a:solidFill>
                                            <a:schemeClr val="dk1"/>
                                          </a:solidFill>
                                          <a:latin typeface="Cambria Math" panose="02040503050406030204" pitchFamily="18" charset="0"/>
                                          <a:ea typeface="Cambria Math"/>
                                          <a:cs typeface="Cambria Math"/>
                                          <a:sym typeface="Cambria Math"/>
                                        </a:rPr>
                                        <m:t>𝑖</m:t>
                                      </m:r>
                                    </m:sub>
                                  </m:sSub>
                                </m:e>
                              </m:d>
                              <m:r>
                                <a:rPr lang="zh-TW" altLang="en-US" sz="2400" b="0" i="1" smtClean="0">
                                  <a:latin typeface="Cambria Math" panose="02040503050406030204" pitchFamily="18" charset="0"/>
                                </a:rPr>
                                <m:t> </m:t>
                              </m:r>
                              <m:r>
                                <a:rPr lang="en-US" altLang="zh-TW" sz="2400" b="0" i="1" smtClean="0">
                                  <a:latin typeface="Cambria Math" panose="02040503050406030204" pitchFamily="18" charset="0"/>
                                </a:rPr>
                                <m:t>+</m:t>
                              </m:r>
                              <m:r>
                                <a:rPr lang="en-US" altLang="zh-TW" sz="2400" b="0" i="1" smtClean="0">
                                  <a:solidFill>
                                    <a:schemeClr val="dk1"/>
                                  </a:solidFill>
                                  <a:latin typeface="Cambria Math" panose="02040503050406030204" pitchFamily="18" charset="0"/>
                                  <a:ea typeface="Times New Roman"/>
                                  <a:cs typeface="Times New Roman"/>
                                  <a:sym typeface="Times New Roman"/>
                                </a:rPr>
                                <m:t>𝑙𝑒𝑛𝑔𝑡</m:t>
                              </m:r>
                              <m:r>
                                <a:rPr lang="en-US" altLang="zh-TW" sz="2400" b="0" i="1" smtClean="0">
                                  <a:solidFill>
                                    <a:schemeClr val="dk1"/>
                                  </a:solidFill>
                                  <a:latin typeface="Cambria Math" panose="02040503050406030204" pitchFamily="18" charset="0"/>
                                  <a:ea typeface="Times New Roman"/>
                                  <a:cs typeface="Times New Roman"/>
                                  <a:sym typeface="Times New Roman"/>
                                </a:rPr>
                                <m:t>h</m:t>
                              </m:r>
                              <m:d>
                                <m:dPr>
                                  <m:ctrlPr>
                                    <a:rPr lang="en-US" altLang="zh-TW" sz="2400" b="0" i="1" smtClean="0">
                                      <a:solidFill>
                                        <a:schemeClr val="dk1"/>
                                      </a:solidFill>
                                      <a:latin typeface="Cambria Math" panose="02040503050406030204" pitchFamily="18" charset="0"/>
                                      <a:ea typeface="Times New Roman"/>
                                      <a:cs typeface="Times New Roman"/>
                                      <a:sym typeface="Times New Roman"/>
                                    </a:rPr>
                                  </m:ctrlPr>
                                </m:dPr>
                                <m:e>
                                  <m:r>
                                    <m:rPr>
                                      <m:sty m:val="p"/>
                                    </m:rPr>
                                    <a:rPr lang="en-US" altLang="zh-TW" sz="2400" b="0" i="1" smtClean="0">
                                      <a:solidFill>
                                        <a:schemeClr val="dk1"/>
                                      </a:solidFill>
                                      <a:latin typeface="Cambria Math" panose="02040503050406030204" pitchFamily="18" charset="0"/>
                                      <a:ea typeface="Times New Roman"/>
                                      <a:cs typeface="Times New Roman"/>
                                      <a:sym typeface="Times New Roman"/>
                                    </a:rPr>
                                    <m:t>z</m:t>
                                  </m:r>
                                  <m:sSub>
                                    <m:sSubPr>
                                      <m:ctrlPr>
                                        <a:rPr lang="en-US" altLang="zh-TW" sz="2400" b="0" i="1" smtClean="0">
                                          <a:solidFill>
                                            <a:schemeClr val="dk1"/>
                                          </a:solidFill>
                                          <a:latin typeface="Cambria Math" panose="02040503050406030204" pitchFamily="18" charset="0"/>
                                          <a:ea typeface="Times New Roman"/>
                                          <a:cs typeface="Times New Roman"/>
                                          <a:sym typeface="Times New Roman"/>
                                        </a:rPr>
                                      </m:ctrlPr>
                                    </m:sSubPr>
                                    <m:e>
                                      <m:r>
                                        <a:rPr lang="en-US" altLang="zh-TW" sz="2400" b="0" i="1" smtClean="0">
                                          <a:solidFill>
                                            <a:schemeClr val="dk1"/>
                                          </a:solidFill>
                                          <a:latin typeface="Cambria Math" panose="02040503050406030204" pitchFamily="18" charset="0"/>
                                          <a:ea typeface="Times New Roman"/>
                                          <a:cs typeface="Times New Roman"/>
                                          <a:sym typeface="Times New Roman"/>
                                        </a:rPr>
                                        <m:t>̂</m:t>
                                      </m:r>
                                    </m:e>
                                    <m:sub>
                                      <m:r>
                                        <a:rPr lang="en-US" altLang="zh-TW" sz="2400" b="0" i="1" smtClean="0">
                                          <a:solidFill>
                                            <a:schemeClr val="dk1"/>
                                          </a:solidFill>
                                          <a:latin typeface="Cambria Math" panose="02040503050406030204" pitchFamily="18" charset="0"/>
                                          <a:ea typeface="Times New Roman"/>
                                          <a:cs typeface="Times New Roman"/>
                                          <a:sym typeface="Times New Roman"/>
                                        </a:rPr>
                                        <m:t>𝑖</m:t>
                                      </m:r>
                                    </m:sub>
                                  </m:sSub>
                                </m:e>
                              </m:d>
                              <m:r>
                                <a:rPr lang="en-US" altLang="zh-TW" sz="2400" b="0" i="1" smtClean="0">
                                  <a:solidFill>
                                    <a:schemeClr val="dk1"/>
                                  </a:solidFill>
                                  <a:latin typeface="Cambria Math" panose="02040503050406030204" pitchFamily="18" charset="0"/>
                                  <a:ea typeface="Times New Roman"/>
                                  <a:cs typeface="Times New Roman"/>
                                  <a:sym typeface="Times New Roman"/>
                                </a:rPr>
                                <m:t>≤</m:t>
                              </m:r>
                              <m:r>
                                <a:rPr lang="en-US" altLang="zh-TW" sz="2400" b="0" i="1" smtClean="0">
                                  <a:solidFill>
                                    <a:schemeClr val="dk1"/>
                                  </a:solidFill>
                                  <a:latin typeface="Cambria Math" panose="02040503050406030204" pitchFamily="18" charset="0"/>
                                  <a:ea typeface="Times New Roman"/>
                                  <a:cs typeface="Times New Roman"/>
                                  <a:sym typeface="Times New Roman"/>
                                </a:rPr>
                                <m:t>𝑊</m:t>
                              </m:r>
                            </m:oMath>
                          </a14:m>
                          <a:endParaRPr lang="en-US" altLang="zh-TW"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7"/>
                      </a:ext>
                    </a:extLst>
                  </a:tr>
                  <a:tr h="410295">
                    <a:tc>
                      <a:txBody>
                        <a:bodyPr/>
                        <a:lstStyle/>
                        <a:p>
                          <a:pPr marL="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          All the input of LLM must </a:t>
                          </a:r>
                          <a:r>
                            <a:rPr lang="en-US" sz="2400" b="1" dirty="0">
                              <a:solidFill>
                                <a:schemeClr val="dk1"/>
                              </a:solidFill>
                              <a:latin typeface="Times New Roman"/>
                              <a:ea typeface="Times New Roman"/>
                              <a:cs typeface="Times New Roman"/>
                              <a:sym typeface="Times New Roman"/>
                            </a:rPr>
                            <a:t>less or equal</a:t>
                          </a:r>
                          <a:r>
                            <a:rPr lang="en-US" sz="2400" dirty="0">
                              <a:solidFill>
                                <a:schemeClr val="dk1"/>
                              </a:solidFill>
                              <a:latin typeface="Times New Roman"/>
                              <a:ea typeface="Times New Roman"/>
                              <a:cs typeface="Times New Roman"/>
                              <a:sym typeface="Times New Roman"/>
                            </a:rPr>
                            <a:t> than Context Window Size </a:t>
                          </a:r>
                          <a:endParaRPr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lgn="ctr">
                          <a:solidFill>
                            <a:schemeClr val="dk1">
                              <a:alpha val="0"/>
                            </a:schemeClr>
                          </a:solidFill>
                          <a:prstDash val="solid"/>
                          <a:round/>
                          <a:headEnd type="none" w="sm" len="sm"/>
                          <a:tailEnd type="none" w="sm" len="sm"/>
                        </a:lnB>
                      </a:tcPr>
                    </a:tc>
                    <a:extLst>
                      <a:ext uri="{0D108BD9-81ED-4DB2-BD59-A6C34878D82A}">
                        <a16:rowId xmlns:a16="http://schemas.microsoft.com/office/drawing/2014/main" val="10008"/>
                      </a:ext>
                    </a:extLst>
                  </a:tr>
                  <a:tr h="410295">
                    <a:tc>
                      <a:txBody>
                        <a:bodyPr/>
                        <a:lstStyle/>
                        <a:p>
                          <a:pPr marL="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3244755563"/>
                      </a:ext>
                    </a:extLst>
                  </a:tr>
                </a:tbl>
              </a:graphicData>
            </a:graphic>
          </p:graphicFrame>
        </mc:Choice>
        <mc:Fallback xmlns="">
          <p:graphicFrame>
            <p:nvGraphicFramePr>
              <p:cNvPr id="235" name="Google Shape;235;p29">
                <a:extLst>
                  <a:ext uri="{FF2B5EF4-FFF2-40B4-BE49-F238E27FC236}">
                    <a16:creationId xmlns:a16="http://schemas.microsoft.com/office/drawing/2014/main" id="{32A96177-6550-9EA9-8637-C608C6EC2302}"/>
                  </a:ext>
                </a:extLst>
              </p:cNvPr>
              <p:cNvGraphicFramePr/>
              <p:nvPr>
                <p:extLst>
                  <p:ext uri="{D42A27DB-BD31-4B8C-83A1-F6EECF244321}">
                    <p14:modId xmlns:p14="http://schemas.microsoft.com/office/powerpoint/2010/main" val="4092131291"/>
                  </p:ext>
                </p:extLst>
              </p:nvPr>
            </p:nvGraphicFramePr>
            <p:xfrm>
              <a:off x="234054" y="1426747"/>
              <a:ext cx="12163686" cy="5188497"/>
            </p:xfrm>
            <a:graphic>
              <a:graphicData uri="http://schemas.openxmlformats.org/drawingml/2006/table">
                <a:tbl>
                  <a:tblPr>
                    <a:noFill/>
                  </a:tblPr>
                  <a:tblGrid>
                    <a:gridCol w="12163686">
                      <a:extLst>
                        <a:ext uri="{9D8B030D-6E8A-4147-A177-3AD203B41FA5}">
                          <a16:colId xmlns:a16="http://schemas.microsoft.com/office/drawing/2014/main" val="20000"/>
                        </a:ext>
                      </a:extLst>
                    </a:gridCol>
                  </a:tblGrid>
                  <a:tr h="655280">
                    <a:tc>
                      <a:txBody>
                        <a:bodyPr/>
                        <a:lstStyle/>
                        <a:p>
                          <a:pPr marL="457200" lvl="0" indent="-317500" algn="l" rtl="0">
                            <a:spcBef>
                              <a:spcPts val="0"/>
                            </a:spcBef>
                            <a:spcAft>
                              <a:spcPts val="0"/>
                            </a:spcAft>
                            <a:buClr>
                              <a:schemeClr val="dk1"/>
                            </a:buClr>
                            <a:buSzPts val="1400"/>
                            <a:buFont typeface="Times New Roman"/>
                            <a:buChar char="●"/>
                          </a:pPr>
                          <a:r>
                            <a:rPr lang="zh-TW" sz="2700" b="1" i="1" dirty="0">
                              <a:solidFill>
                                <a:schemeClr val="dk1"/>
                              </a:solidFill>
                              <a:latin typeface="Times New Roman"/>
                              <a:ea typeface="Times New Roman"/>
                              <a:cs typeface="Times New Roman"/>
                              <a:sym typeface="Times New Roman"/>
                            </a:rPr>
                            <a:t>Input</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413760">
                    <a:tc>
                      <a:txBody>
                        <a:bodyPr/>
                        <a:lstStyle/>
                        <a:p>
                          <a:endParaRPr lang="zh-TW"/>
                        </a:p>
                      </a:txBody>
                      <a:tcPr marL="121900" marR="121900" marT="4800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blipFill>
                          <a:blip r:embed="rId3"/>
                          <a:stretch>
                            <a:fillRect l="-50" t="-160294" r="-100" b="-995588"/>
                          </a:stretch>
                        </a:blipFill>
                      </a:tcPr>
                    </a:tc>
                    <a:extLst>
                      <a:ext uri="{0D108BD9-81ED-4DB2-BD59-A6C34878D82A}">
                        <a16:rowId xmlns:a16="http://schemas.microsoft.com/office/drawing/2014/main" val="10001"/>
                      </a:ext>
                    </a:extLst>
                  </a:tr>
                  <a:tr h="655280">
                    <a:tc>
                      <a:txBody>
                        <a:bodyPr/>
                        <a:lstStyle/>
                        <a:p>
                          <a:pPr marL="457200" lvl="0" indent="-317500" algn="l" rtl="0">
                            <a:spcBef>
                              <a:spcPts val="0"/>
                            </a:spcBef>
                            <a:spcAft>
                              <a:spcPts val="0"/>
                            </a:spcAft>
                            <a:buClr>
                              <a:schemeClr val="dk1"/>
                            </a:buClr>
                            <a:buSzPts val="1400"/>
                            <a:buFont typeface="Times New Roman"/>
                            <a:buChar char="●"/>
                          </a:pPr>
                          <a:r>
                            <a:rPr lang="zh-TW" sz="2700" b="1" i="1" dirty="0">
                              <a:solidFill>
                                <a:schemeClr val="dk1"/>
                              </a:solidFill>
                              <a:latin typeface="Times New Roman"/>
                              <a:ea typeface="Times New Roman"/>
                              <a:cs typeface="Times New Roman"/>
                              <a:sym typeface="Times New Roman"/>
                            </a:rPr>
                            <a:t>Output</a:t>
                          </a:r>
                          <a:endParaRPr sz="2700" b="1" i="1" dirty="0">
                            <a:solidFill>
                              <a:schemeClr val="dk1"/>
                            </a:solidFill>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lgn="ctr">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413760">
                    <a:tc>
                      <a:txBody>
                        <a:bodyPr/>
                        <a:lstStyle/>
                        <a:p>
                          <a:endParaRPr lang="zh-TW"/>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blipFill>
                          <a:blip r:embed="rId3"/>
                          <a:stretch>
                            <a:fillRect l="-50" t="-417647" r="-100" b="-738235"/>
                          </a:stretch>
                        </a:blipFill>
                      </a:tcPr>
                    </a:tc>
                    <a:extLst>
                      <a:ext uri="{0D108BD9-81ED-4DB2-BD59-A6C34878D82A}">
                        <a16:rowId xmlns:a16="http://schemas.microsoft.com/office/drawing/2014/main" val="10003"/>
                      </a:ext>
                    </a:extLst>
                  </a:tr>
                  <a:tr h="655280">
                    <a:tc>
                      <a:txBody>
                        <a:bodyPr/>
                        <a:lstStyle/>
                        <a:p>
                          <a:pPr marL="457200" lvl="0" indent="-317500" algn="l" rtl="0">
                            <a:spcBef>
                              <a:spcPts val="0"/>
                            </a:spcBef>
                            <a:spcAft>
                              <a:spcPts val="0"/>
                            </a:spcAft>
                            <a:buClr>
                              <a:schemeClr val="dk1"/>
                            </a:buClr>
                            <a:buSzPts val="1400"/>
                            <a:buFont typeface="Times New Roman"/>
                            <a:buChar char="●"/>
                          </a:pPr>
                          <a:r>
                            <a:rPr lang="zh-TW" sz="2700" b="1" i="1" dirty="0">
                              <a:latin typeface="Times New Roman"/>
                              <a:ea typeface="Times New Roman"/>
                              <a:cs typeface="Times New Roman"/>
                              <a:sym typeface="Times New Roman"/>
                            </a:rPr>
                            <a:t>Objective</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r h="468180">
                    <a:tc>
                      <a:txBody>
                        <a:bodyPr/>
                        <a:lstStyle/>
                        <a:p>
                          <a:endParaRPr lang="zh-TW"/>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blipFill>
                          <a:blip r:embed="rId3"/>
                          <a:stretch>
                            <a:fillRect l="-50" t="-597403" r="-100" b="-411688"/>
                          </a:stretch>
                        </a:blipFill>
                      </a:tcPr>
                    </a:tc>
                    <a:extLst>
                      <a:ext uri="{0D108BD9-81ED-4DB2-BD59-A6C34878D82A}">
                        <a16:rowId xmlns:a16="http://schemas.microsoft.com/office/drawing/2014/main" val="10005"/>
                      </a:ext>
                    </a:extLst>
                  </a:tr>
                  <a:tr h="655280">
                    <a:tc>
                      <a:txBody>
                        <a:bodyPr/>
                        <a:lstStyle/>
                        <a:p>
                          <a:pPr marL="457200" lvl="0" indent="-317500" algn="l" rtl="0">
                            <a:spcBef>
                              <a:spcPts val="0"/>
                            </a:spcBef>
                            <a:spcAft>
                              <a:spcPts val="0"/>
                            </a:spcAft>
                            <a:buClr>
                              <a:schemeClr val="dk1"/>
                            </a:buClr>
                            <a:buSzPts val="1400"/>
                            <a:buFont typeface="Times New Roman"/>
                            <a:buChar char="●"/>
                          </a:pPr>
                          <a:r>
                            <a:rPr lang="zh-TW" sz="2700" b="1" i="1" dirty="0">
                              <a:latin typeface="Times New Roman"/>
                              <a:ea typeface="Times New Roman"/>
                              <a:cs typeface="Times New Roman"/>
                              <a:sym typeface="Times New Roman"/>
                            </a:rPr>
                            <a:t>Constraint</a:t>
                          </a:r>
                          <a:endParaRPr sz="2700" b="1" i="1" dirty="0">
                            <a:latin typeface="Times New Roman"/>
                            <a:ea typeface="Times New Roman"/>
                            <a:cs typeface="Times New Roman"/>
                            <a:sym typeface="Times New Roman"/>
                          </a:endParaRPr>
                        </a:p>
                      </a:txBody>
                      <a:tcPr marL="121900" marR="121900" marT="121900" marB="12190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6"/>
                      </a:ext>
                    </a:extLst>
                  </a:tr>
                  <a:tr h="444157">
                    <a:tc>
                      <a:txBody>
                        <a:bodyPr/>
                        <a:lstStyle/>
                        <a:p>
                          <a:endParaRPr lang="zh-TW"/>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blipFill>
                          <a:blip r:embed="rId3"/>
                          <a:stretch>
                            <a:fillRect l="-50" t="-882192" r="-100" b="-187671"/>
                          </a:stretch>
                        </a:blipFill>
                      </a:tcPr>
                    </a:tc>
                    <a:extLst>
                      <a:ext uri="{0D108BD9-81ED-4DB2-BD59-A6C34878D82A}">
                        <a16:rowId xmlns:a16="http://schemas.microsoft.com/office/drawing/2014/main" val="10007"/>
                      </a:ext>
                    </a:extLst>
                  </a:tr>
                  <a:tr h="413760">
                    <a:tc>
                      <a:txBody>
                        <a:bodyPr/>
                        <a:lstStyle/>
                        <a:p>
                          <a:pPr marL="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          All the input of LLM must </a:t>
                          </a:r>
                          <a:r>
                            <a:rPr lang="en-US" sz="2400" b="1" dirty="0">
                              <a:solidFill>
                                <a:schemeClr val="dk1"/>
                              </a:solidFill>
                              <a:latin typeface="Times New Roman"/>
                              <a:ea typeface="Times New Roman"/>
                              <a:cs typeface="Times New Roman"/>
                              <a:sym typeface="Times New Roman"/>
                            </a:rPr>
                            <a:t>less or equal</a:t>
                          </a:r>
                          <a:r>
                            <a:rPr lang="en-US" sz="2400" dirty="0">
                              <a:solidFill>
                                <a:schemeClr val="dk1"/>
                              </a:solidFill>
                              <a:latin typeface="Times New Roman"/>
                              <a:ea typeface="Times New Roman"/>
                              <a:cs typeface="Times New Roman"/>
                              <a:sym typeface="Times New Roman"/>
                            </a:rPr>
                            <a:t> than Context Window Size </a:t>
                          </a:r>
                          <a:endParaRPr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lgn="ctr">
                          <a:solidFill>
                            <a:schemeClr val="dk1">
                              <a:alpha val="0"/>
                            </a:schemeClr>
                          </a:solidFill>
                          <a:prstDash val="solid"/>
                          <a:round/>
                          <a:headEnd type="none" w="sm" len="sm"/>
                          <a:tailEnd type="none" w="sm" len="sm"/>
                        </a:lnB>
                      </a:tcPr>
                    </a:tc>
                    <a:extLst>
                      <a:ext uri="{0D108BD9-81ED-4DB2-BD59-A6C34878D82A}">
                        <a16:rowId xmlns:a16="http://schemas.microsoft.com/office/drawing/2014/main" val="10008"/>
                      </a:ext>
                    </a:extLst>
                  </a:tr>
                  <a:tr h="413760">
                    <a:tc>
                      <a:txBody>
                        <a:bodyPr/>
                        <a:lstStyle/>
                        <a:p>
                          <a:pPr marL="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txBody>
                      <a:tcPr marL="121900" marR="121900" marT="4800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3244755563"/>
                      </a:ext>
                    </a:extLst>
                  </a:tr>
                </a:tbl>
              </a:graphicData>
            </a:graphic>
          </p:graphicFrame>
        </mc:Fallback>
      </mc:AlternateContent>
      <p:sp>
        <p:nvSpPr>
          <p:cNvPr id="236" name="Google Shape;236;p29">
            <a:extLst>
              <a:ext uri="{FF2B5EF4-FFF2-40B4-BE49-F238E27FC236}">
                <a16:creationId xmlns:a16="http://schemas.microsoft.com/office/drawing/2014/main" id="{9D9B5277-1227-11D0-26FC-EBF183B70301}"/>
              </a:ext>
            </a:extLst>
          </p:cNvPr>
          <p:cNvSpPr txBox="1">
            <a:spLocks noGrp="1"/>
          </p:cNvSpPr>
          <p:nvPr>
            <p:ph type="ctrTitle"/>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lgn="l">
              <a:spcBef>
                <a:spcPts val="0"/>
              </a:spcBef>
              <a:buSzPts val="2700"/>
            </a:pPr>
            <a:r>
              <a:rPr lang="en-US" altLang="zh-TW" sz="4000" dirty="0">
                <a:latin typeface="Times New Roman"/>
                <a:ea typeface="Times New Roman"/>
                <a:cs typeface="Times New Roman"/>
                <a:sym typeface="Times New Roman"/>
              </a:rPr>
              <a:t>Problem Statement – </a:t>
            </a:r>
            <a:r>
              <a:rPr lang="en-US" altLang="zh-TW" sz="4000" dirty="0">
                <a:latin typeface="Times New Roman" panose="02020603050405020304" pitchFamily="18" charset="0"/>
                <a:ea typeface="Times New Roman"/>
                <a:cs typeface="Times New Roman" panose="02020603050405020304" pitchFamily="18" charset="0"/>
                <a:sym typeface="Times New Roman"/>
              </a:rPr>
              <a:t>Strategy Selection and Optimization</a:t>
            </a:r>
            <a:endParaRPr sz="4000" dirty="0">
              <a:latin typeface="Times New Roman"/>
              <a:ea typeface="Times New Roman"/>
              <a:cs typeface="Times New Roman"/>
              <a:sym typeface="Times New Roman"/>
            </a:endParaRPr>
          </a:p>
        </p:txBody>
      </p:sp>
      <p:sp>
        <p:nvSpPr>
          <p:cNvPr id="237" name="Google Shape;237;p29">
            <a:extLst>
              <a:ext uri="{FF2B5EF4-FFF2-40B4-BE49-F238E27FC236}">
                <a16:creationId xmlns:a16="http://schemas.microsoft.com/office/drawing/2014/main" id="{D5ED07E6-AF55-E305-0733-E69CC6809452}"/>
              </a:ext>
            </a:extLst>
          </p:cNvPr>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13</a:t>
            </a:fld>
            <a:endParaRPr dirty="0"/>
          </a:p>
        </p:txBody>
      </p:sp>
      <p:sp>
        <p:nvSpPr>
          <p:cNvPr id="2" name="文字方塊 1">
            <a:extLst>
              <a:ext uri="{FF2B5EF4-FFF2-40B4-BE49-F238E27FC236}">
                <a16:creationId xmlns:a16="http://schemas.microsoft.com/office/drawing/2014/main" id="{9EC18DC6-BB9F-D7CC-EFDF-A4A05E3D7BBE}"/>
              </a:ext>
            </a:extLst>
          </p:cNvPr>
          <p:cNvSpPr txBox="1"/>
          <p:nvPr/>
        </p:nvSpPr>
        <p:spPr>
          <a:xfrm>
            <a:off x="3057417" y="4279761"/>
            <a:ext cx="65" cy="307777"/>
          </a:xfrm>
          <a:prstGeom prst="rect">
            <a:avLst/>
          </a:prstGeom>
          <a:noFill/>
        </p:spPr>
        <p:txBody>
          <a:bodyPr wrap="none" lIns="0" tIns="0" rIns="0" bIns="0" rtlCol="0">
            <a:spAutoFit/>
          </a:bodyPr>
          <a:lstStyle/>
          <a:p>
            <a:endParaRPr lang="zh-TW" altLang="en-US" sz="2000" dirty="0"/>
          </a:p>
        </p:txBody>
      </p:sp>
    </p:spTree>
    <p:extLst>
      <p:ext uri="{BB962C8B-B14F-4D97-AF65-F5344CB8AC3E}">
        <p14:creationId xmlns:p14="http://schemas.microsoft.com/office/powerpoint/2010/main" val="2897972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6"/>
          <p:cNvSpPr txBox="1">
            <a:spLocks noGrp="1"/>
          </p:cNvSpPr>
          <p:nvPr>
            <p:ph type="ctrTitle"/>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lgn="l">
              <a:spcBef>
                <a:spcPts val="0"/>
              </a:spcBef>
              <a:buSzPts val="2700"/>
            </a:pPr>
            <a:r>
              <a:rPr lang="en-US" altLang="zh-TW" sz="4000" dirty="0">
                <a:latin typeface="Times New Roman"/>
                <a:ea typeface="Times New Roman"/>
                <a:cs typeface="Times New Roman"/>
                <a:sym typeface="Times New Roman"/>
              </a:rPr>
              <a:t>Issues</a:t>
            </a:r>
            <a:endParaRPr sz="4000" dirty="0">
              <a:latin typeface="Times New Roman"/>
              <a:ea typeface="Times New Roman"/>
              <a:cs typeface="Times New Roman"/>
              <a:sym typeface="Times New Roman"/>
            </a:endParaRPr>
          </a:p>
        </p:txBody>
      </p:sp>
      <p:sp>
        <p:nvSpPr>
          <p:cNvPr id="199" name="Google Shape;199;p26"/>
          <p:cNvSpPr txBox="1">
            <a:spLocks noGrp="1"/>
          </p:cNvSpPr>
          <p:nvPr>
            <p:ph type="subTitle" idx="1"/>
          </p:nvPr>
        </p:nvSpPr>
        <p:spPr>
          <a:xfrm>
            <a:off x="246899" y="1102432"/>
            <a:ext cx="11866803" cy="5191363"/>
          </a:xfrm>
          <a:prstGeom prst="rect">
            <a:avLst/>
          </a:prstGeom>
        </p:spPr>
        <p:txBody>
          <a:bodyPr spcFirstLastPara="1" vert="horz" wrap="square" lIns="121900" tIns="121900" rIns="121900" bIns="121900" rtlCol="0" anchor="t" anchorCtr="0">
            <a:noAutofit/>
          </a:bodyPr>
          <a:lstStyle/>
          <a:p>
            <a:pPr marL="666746" indent="-514350" algn="l">
              <a:lnSpc>
                <a:spcPct val="115000"/>
              </a:lnSpc>
              <a:spcBef>
                <a:spcPts val="0"/>
              </a:spcBef>
              <a:buClr>
                <a:srgbClr val="000000"/>
              </a:buClr>
              <a:buSzPct val="100000"/>
              <a:buFont typeface="+mj-lt"/>
              <a:buAutoNum type="arabicParenR"/>
              <a:tabLst>
                <a:tab pos="538163" algn="l"/>
              </a:tabLst>
            </a:pPr>
            <a:r>
              <a:rPr lang="en-US" altLang="zh-TW" sz="2600" dirty="0">
                <a:solidFill>
                  <a:srgbClr val="000000"/>
                </a:solidFill>
                <a:latin typeface="Times New Roman"/>
                <a:ea typeface="Times New Roman"/>
                <a:cs typeface="Times New Roman"/>
                <a:sym typeface="Times New Roman"/>
              </a:rPr>
              <a:t>Max Attack depth: Our vs. Other Honeypots</a:t>
            </a:r>
          </a:p>
          <a:p>
            <a:pPr marL="1066796" lvl="1" indent="-457200" algn="l">
              <a:lnSpc>
                <a:spcPct val="115000"/>
              </a:lnSpc>
              <a:spcBef>
                <a:spcPts val="0"/>
              </a:spcBef>
              <a:buClr>
                <a:srgbClr val="000000"/>
              </a:buClr>
              <a:buSzPct val="100000"/>
              <a:buFont typeface="Wingdings" panose="05000000000000000000" pitchFamily="2" charset="2"/>
              <a:buChar char=""/>
            </a:pPr>
            <a:r>
              <a:rPr lang="en-US" altLang="zh-TW" sz="2200" dirty="0">
                <a:latin typeface="Times New Roman" panose="02020603050405020304" pitchFamily="18" charset="0"/>
                <a:cs typeface="Times New Roman" panose="02020603050405020304" pitchFamily="18" charset="0"/>
                <a:sym typeface="Times New Roman"/>
              </a:rPr>
              <a:t>Max severe tactic phase that attack reached in one session</a:t>
            </a:r>
          </a:p>
          <a:p>
            <a:pPr marL="1066796" lvl="1" indent="-457200" algn="l">
              <a:lnSpc>
                <a:spcPct val="115000"/>
              </a:lnSpc>
              <a:spcBef>
                <a:spcPts val="0"/>
              </a:spcBef>
              <a:buClr>
                <a:srgbClr val="000000"/>
              </a:buClr>
              <a:buSzPct val="100000"/>
              <a:buFont typeface="Wingdings" panose="05000000000000000000" pitchFamily="2" charset="2"/>
              <a:buChar char=""/>
            </a:pPr>
            <a:r>
              <a:rPr lang="en-US" altLang="zh-TW" sz="2200" dirty="0">
                <a:solidFill>
                  <a:srgbClr val="000000"/>
                </a:solidFill>
                <a:latin typeface="Times New Roman"/>
                <a:ea typeface="Times New Roman"/>
                <a:cs typeface="Times New Roman"/>
                <a:sym typeface="Times New Roman"/>
              </a:rPr>
              <a:t>Does ours push attackers deeper than other honeypots?</a:t>
            </a:r>
          </a:p>
          <a:p>
            <a:pPr marL="666746" indent="-514350" algn="l">
              <a:lnSpc>
                <a:spcPct val="115000"/>
              </a:lnSpc>
              <a:spcBef>
                <a:spcPts val="0"/>
              </a:spcBef>
              <a:buClr>
                <a:srgbClr val="000000"/>
              </a:buClr>
              <a:buSzPct val="100000"/>
              <a:buFont typeface="+mj-lt"/>
              <a:buAutoNum type="arabicParenR"/>
            </a:pPr>
            <a:endParaRPr lang="en-US" altLang="zh-TW" sz="3000" dirty="0">
              <a:solidFill>
                <a:srgbClr val="000000"/>
              </a:solidFill>
              <a:latin typeface="Times New Roman"/>
              <a:ea typeface="Times New Roman"/>
              <a:cs typeface="Times New Roman"/>
              <a:sym typeface="Times New Roman"/>
            </a:endParaRPr>
          </a:p>
          <a:p>
            <a:pPr marL="666746" indent="-514350" algn="l">
              <a:lnSpc>
                <a:spcPct val="115000"/>
              </a:lnSpc>
              <a:spcBef>
                <a:spcPts val="0"/>
              </a:spcBef>
              <a:buClr>
                <a:srgbClr val="000000"/>
              </a:buClr>
              <a:buSzPct val="100000"/>
              <a:buFont typeface="+mj-lt"/>
              <a:buAutoNum type="arabicParenR"/>
            </a:pPr>
            <a:r>
              <a:rPr lang="en-US" altLang="zh-TW" dirty="0">
                <a:solidFill>
                  <a:srgbClr val="000000"/>
                </a:solidFill>
                <a:latin typeface="Times New Roman"/>
                <a:ea typeface="Times New Roman"/>
                <a:cs typeface="Times New Roman"/>
                <a:sym typeface="Times New Roman"/>
              </a:rPr>
              <a:t>Engagement Diversity : Our vs. Other Honeypots</a:t>
            </a:r>
          </a:p>
          <a:p>
            <a:pPr marL="1066796" lvl="1" indent="-457200" algn="l">
              <a:lnSpc>
                <a:spcPct val="115000"/>
              </a:lnSpc>
              <a:spcBef>
                <a:spcPts val="0"/>
              </a:spcBef>
              <a:buClr>
                <a:srgbClr val="000000"/>
              </a:buClr>
              <a:buSzPct val="100000"/>
              <a:buFont typeface="Wingdings" panose="05000000000000000000" pitchFamily="2" charset="2"/>
              <a:buChar char=""/>
            </a:pPr>
            <a:r>
              <a:rPr lang="en-US" altLang="zh-TW" sz="2200" dirty="0">
                <a:solidFill>
                  <a:schemeClr val="dk1"/>
                </a:solidFill>
                <a:latin typeface="Times New Roman"/>
                <a:ea typeface="Times New Roman"/>
                <a:cs typeface="Times New Roman"/>
                <a:sym typeface="Times New Roman"/>
              </a:rPr>
              <a:t>A higher number of distinct techniques observed implies higher honeypot adaptability.</a:t>
            </a:r>
            <a:endParaRPr lang="en-US" altLang="zh-TW" sz="2200" dirty="0">
              <a:solidFill>
                <a:srgbClr val="000000"/>
              </a:solidFill>
              <a:latin typeface="Times New Roman"/>
              <a:ea typeface="Times New Roman"/>
              <a:cs typeface="Times New Roman"/>
              <a:sym typeface="Times New Roman"/>
            </a:endParaRPr>
          </a:p>
          <a:p>
            <a:pPr marL="1066796" lvl="1" indent="-457200" algn="l">
              <a:lnSpc>
                <a:spcPct val="115000"/>
              </a:lnSpc>
              <a:spcBef>
                <a:spcPts val="0"/>
              </a:spcBef>
              <a:buClr>
                <a:srgbClr val="000000"/>
              </a:buClr>
              <a:buSzPct val="100000"/>
              <a:buFont typeface="Wingdings" panose="05000000000000000000" pitchFamily="2" charset="2"/>
              <a:buChar char=""/>
            </a:pPr>
            <a:r>
              <a:rPr lang="en-US" altLang="zh-TW" sz="2200" dirty="0">
                <a:solidFill>
                  <a:srgbClr val="000000"/>
                </a:solidFill>
                <a:latin typeface="Times New Roman"/>
                <a:ea typeface="Times New Roman"/>
                <a:cs typeface="Times New Roman"/>
                <a:sym typeface="Times New Roman"/>
              </a:rPr>
              <a:t>Does ours achieve higher engagement diversity than other honeypots?</a:t>
            </a:r>
          </a:p>
          <a:p>
            <a:pPr marL="666746" indent="-514350" algn="l">
              <a:lnSpc>
                <a:spcPct val="115000"/>
              </a:lnSpc>
              <a:spcBef>
                <a:spcPts val="0"/>
              </a:spcBef>
              <a:buClr>
                <a:srgbClr val="000000"/>
              </a:buClr>
              <a:buSzPct val="100000"/>
              <a:buFont typeface="+mj-lt"/>
              <a:buAutoNum type="arabicParenR"/>
            </a:pPr>
            <a:endParaRPr lang="en-US" altLang="zh-TW" sz="3000" dirty="0">
              <a:solidFill>
                <a:srgbClr val="000000"/>
              </a:solidFill>
              <a:latin typeface="Times New Roman"/>
              <a:ea typeface="Times New Roman"/>
              <a:cs typeface="Times New Roman"/>
              <a:sym typeface="Times New Roman"/>
            </a:endParaRPr>
          </a:p>
          <a:p>
            <a:pPr marL="666746" indent="-514350" algn="l">
              <a:lnSpc>
                <a:spcPct val="115000"/>
              </a:lnSpc>
              <a:spcBef>
                <a:spcPts val="0"/>
              </a:spcBef>
              <a:buClr>
                <a:srgbClr val="000000"/>
              </a:buClr>
              <a:buSzPct val="100000"/>
              <a:buFont typeface="+mj-lt"/>
              <a:buAutoNum type="arabicParenR"/>
            </a:pPr>
            <a:r>
              <a:rPr lang="en-US" altLang="zh-TW" dirty="0">
                <a:solidFill>
                  <a:srgbClr val="000000"/>
                </a:solidFill>
                <a:latin typeface="Times New Roman"/>
                <a:ea typeface="Times New Roman"/>
                <a:cs typeface="Times New Roman"/>
                <a:sym typeface="Times New Roman"/>
              </a:rPr>
              <a:t>Intent detection rate and intent-strategy relevance</a:t>
            </a:r>
          </a:p>
          <a:p>
            <a:pPr marL="1066796" lvl="1" indent="-457200" algn="l">
              <a:lnSpc>
                <a:spcPct val="115000"/>
              </a:lnSpc>
              <a:spcBef>
                <a:spcPts val="0"/>
              </a:spcBef>
              <a:buClr>
                <a:srgbClr val="000000"/>
              </a:buClr>
              <a:buSzPct val="100000"/>
              <a:buAutoNum type="arabicPeriod"/>
            </a:pPr>
            <a:r>
              <a:rPr lang="en-US" altLang="zh-TW" sz="2200" dirty="0">
                <a:solidFill>
                  <a:srgbClr val="000000"/>
                </a:solidFill>
                <a:latin typeface="Times New Roman"/>
                <a:ea typeface="Times New Roman"/>
                <a:cs typeface="Times New Roman"/>
                <a:sym typeface="Times New Roman"/>
              </a:rPr>
              <a:t>Accuracy between the attacker’s true intent and the intent inferred by our model</a:t>
            </a:r>
          </a:p>
          <a:p>
            <a:pPr marL="1066796" lvl="1" indent="-457200" algn="l">
              <a:lnSpc>
                <a:spcPct val="115000"/>
              </a:lnSpc>
              <a:spcBef>
                <a:spcPts val="0"/>
              </a:spcBef>
              <a:buClr>
                <a:srgbClr val="000000"/>
              </a:buClr>
              <a:buSzPct val="100000"/>
              <a:buAutoNum type="arabicPeriod"/>
            </a:pPr>
            <a:r>
              <a:rPr lang="en-US" altLang="zh-TW" sz="2200" dirty="0">
                <a:solidFill>
                  <a:schemeClr val="dk1"/>
                </a:solidFill>
                <a:latin typeface="Times New Roman" panose="02020603050405020304" pitchFamily="18" charset="0"/>
                <a:ea typeface="Times New Roman"/>
                <a:cs typeface="Times New Roman" panose="02020603050405020304" pitchFamily="18" charset="0"/>
                <a:sym typeface="Times New Roman"/>
              </a:rPr>
              <a:t>Can Finetuning improve strategy alignment with attacker intent?</a:t>
            </a:r>
            <a:endParaRPr lang="en-US" altLang="zh-TW" sz="2200" dirty="0">
              <a:solidFill>
                <a:schemeClr val="dk1"/>
              </a:solidFill>
              <a:latin typeface="Times New Roman"/>
              <a:ea typeface="Times New Roman"/>
              <a:cs typeface="Times New Roman"/>
              <a:sym typeface="Times New Roman"/>
            </a:endParaRPr>
          </a:p>
          <a:p>
            <a:pPr marL="1066796" lvl="1" indent="-457200" algn="l">
              <a:lnSpc>
                <a:spcPct val="115000"/>
              </a:lnSpc>
              <a:spcBef>
                <a:spcPts val="0"/>
              </a:spcBef>
              <a:buClr>
                <a:srgbClr val="000000"/>
              </a:buClr>
              <a:buSzPct val="100000"/>
              <a:buFont typeface="Wingdings" panose="05000000000000000000" pitchFamily="2" charset="2"/>
              <a:buChar char=""/>
            </a:pPr>
            <a:endParaRPr lang="en-US" altLang="zh-TW" sz="2200" dirty="0">
              <a:solidFill>
                <a:srgbClr val="000000"/>
              </a:solidFill>
              <a:latin typeface="Times New Roman"/>
              <a:ea typeface="Times New Roman"/>
              <a:cs typeface="Times New Roman"/>
              <a:sym typeface="Times New Roman"/>
            </a:endParaRPr>
          </a:p>
          <a:p>
            <a:pPr marL="1066796" lvl="1" indent="-457200" algn="l">
              <a:lnSpc>
                <a:spcPct val="115000"/>
              </a:lnSpc>
              <a:spcBef>
                <a:spcPts val="0"/>
              </a:spcBef>
              <a:buClr>
                <a:srgbClr val="000000"/>
              </a:buClr>
              <a:buSzPct val="100000"/>
              <a:buFont typeface="Wingdings" panose="05000000000000000000" pitchFamily="2" charset="2"/>
              <a:buChar char=""/>
            </a:pPr>
            <a:endParaRPr lang="en-US" altLang="zh-TW" sz="2200" dirty="0">
              <a:solidFill>
                <a:srgbClr val="000000"/>
              </a:solidFill>
              <a:latin typeface="Times New Roman"/>
              <a:ea typeface="Times New Roman"/>
              <a:cs typeface="Times New Roman"/>
              <a:sym typeface="Times New Roman"/>
            </a:endParaRPr>
          </a:p>
        </p:txBody>
      </p:sp>
      <p:sp>
        <p:nvSpPr>
          <p:cNvPr id="200" name="Google Shape;200;p2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5">
          <a:extLst>
            <a:ext uri="{FF2B5EF4-FFF2-40B4-BE49-F238E27FC236}">
              <a16:creationId xmlns:a16="http://schemas.microsoft.com/office/drawing/2014/main" id="{39292918-C7E3-C7FB-9FD1-3F9AE7F24550}"/>
            </a:ext>
          </a:extLst>
        </p:cNvPr>
        <p:cNvGrpSpPr/>
        <p:nvPr/>
      </p:nvGrpSpPr>
      <p:grpSpPr>
        <a:xfrm>
          <a:off x="0" y="0"/>
          <a:ext cx="0" cy="0"/>
          <a:chOff x="0" y="0"/>
          <a:chExt cx="0" cy="0"/>
        </a:xfrm>
      </p:grpSpPr>
      <p:sp>
        <p:nvSpPr>
          <p:cNvPr id="247" name="Google Shape;247;p30">
            <a:extLst>
              <a:ext uri="{FF2B5EF4-FFF2-40B4-BE49-F238E27FC236}">
                <a16:creationId xmlns:a16="http://schemas.microsoft.com/office/drawing/2014/main" id="{46009F05-DADE-9E7E-212E-2900AC142EC8}"/>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smtClean="0"/>
              <a:pPr/>
              <a:t>15</a:t>
            </a:fld>
            <a:endParaRPr lang="en-US" dirty="0"/>
          </a:p>
        </p:txBody>
      </p:sp>
      <p:sp>
        <p:nvSpPr>
          <p:cNvPr id="248" name="Google Shape;248;p30">
            <a:extLst>
              <a:ext uri="{FF2B5EF4-FFF2-40B4-BE49-F238E27FC236}">
                <a16:creationId xmlns:a16="http://schemas.microsoft.com/office/drawing/2014/main" id="{CE806711-92C0-81BE-1EBD-8307B5556A86}"/>
              </a:ext>
            </a:extLst>
          </p:cNvPr>
          <p:cNvSpPr txBox="1"/>
          <p:nvPr/>
        </p:nvSpPr>
        <p:spPr>
          <a:xfrm>
            <a:off x="8534400" y="1"/>
            <a:ext cx="3633600" cy="523180"/>
          </a:xfrm>
          <a:prstGeom prst="rect">
            <a:avLst/>
          </a:prstGeom>
          <a:noFill/>
          <a:ln>
            <a:noFill/>
          </a:ln>
        </p:spPr>
        <p:txBody>
          <a:bodyPr spcFirstLastPara="1" wrap="square" lIns="121900" tIns="121900" rIns="121900" bIns="121900" anchor="t" anchorCtr="0">
            <a:spAutoFit/>
          </a:bodyPr>
          <a:lstStyle/>
          <a:p>
            <a:r>
              <a:rPr lang="en-US" altLang="zh-TW" i="1">
                <a:solidFill>
                  <a:srgbClr val="434343"/>
                </a:solidFill>
                <a:latin typeface="Times New Roman"/>
                <a:ea typeface="Times New Roman"/>
                <a:cs typeface="Times New Roman"/>
                <a:sym typeface="Times New Roman"/>
              </a:rPr>
              <a:t>RFT : </a:t>
            </a:r>
            <a:r>
              <a:rPr lang="en-US" altLang="zh-TW" b="1" i="1">
                <a:solidFill>
                  <a:srgbClr val="434343"/>
                </a:solidFill>
                <a:latin typeface="Times New Roman"/>
                <a:ea typeface="Times New Roman"/>
                <a:cs typeface="Times New Roman"/>
                <a:sym typeface="Times New Roman"/>
              </a:rPr>
              <a:t>R</a:t>
            </a:r>
            <a:r>
              <a:rPr lang="en-US" altLang="zh-TW" i="1">
                <a:solidFill>
                  <a:srgbClr val="434343"/>
                </a:solidFill>
                <a:latin typeface="Times New Roman"/>
                <a:ea typeface="Times New Roman"/>
                <a:cs typeface="Times New Roman"/>
                <a:sym typeface="Times New Roman"/>
              </a:rPr>
              <a:t>einforcement </a:t>
            </a:r>
            <a:r>
              <a:rPr lang="en-US" altLang="zh-TW" b="1" i="1">
                <a:solidFill>
                  <a:srgbClr val="434343"/>
                </a:solidFill>
                <a:latin typeface="Times New Roman"/>
                <a:ea typeface="Times New Roman"/>
                <a:cs typeface="Times New Roman"/>
                <a:sym typeface="Times New Roman"/>
              </a:rPr>
              <a:t>F</a:t>
            </a:r>
            <a:r>
              <a:rPr lang="en-US" altLang="zh-TW" i="1">
                <a:solidFill>
                  <a:srgbClr val="434343"/>
                </a:solidFill>
                <a:latin typeface="Times New Roman"/>
                <a:ea typeface="Times New Roman"/>
                <a:cs typeface="Times New Roman"/>
                <a:sym typeface="Times New Roman"/>
              </a:rPr>
              <a:t>ine </a:t>
            </a:r>
            <a:r>
              <a:rPr lang="en-US" altLang="zh-TW" b="1" i="1">
                <a:solidFill>
                  <a:srgbClr val="434343"/>
                </a:solidFill>
                <a:latin typeface="Times New Roman"/>
                <a:ea typeface="Times New Roman"/>
                <a:cs typeface="Times New Roman"/>
                <a:sym typeface="Times New Roman"/>
              </a:rPr>
              <a:t>T</a:t>
            </a:r>
            <a:r>
              <a:rPr lang="en-US" altLang="zh-TW" i="1">
                <a:solidFill>
                  <a:srgbClr val="434343"/>
                </a:solidFill>
                <a:latin typeface="Times New Roman"/>
                <a:ea typeface="Times New Roman"/>
                <a:cs typeface="Times New Roman"/>
                <a:sym typeface="Times New Roman"/>
              </a:rPr>
              <a:t>uning</a:t>
            </a:r>
            <a:endParaRPr lang="en-US" i="1" dirty="0">
              <a:solidFill>
                <a:srgbClr val="434343"/>
              </a:solidFill>
              <a:latin typeface="Times New Roman"/>
              <a:ea typeface="Times New Roman"/>
              <a:cs typeface="Times New Roman"/>
              <a:sym typeface="Times New Roman"/>
            </a:endParaRPr>
          </a:p>
        </p:txBody>
      </p:sp>
      <p:sp>
        <p:nvSpPr>
          <p:cNvPr id="3" name="Google Shape;268;p33">
            <a:extLst>
              <a:ext uri="{FF2B5EF4-FFF2-40B4-BE49-F238E27FC236}">
                <a16:creationId xmlns:a16="http://schemas.microsoft.com/office/drawing/2014/main" id="{3EB362D2-DA1B-81BE-0DBF-F9628DF0F688}"/>
              </a:ext>
            </a:extLst>
          </p:cNvPr>
          <p:cNvSpPr txBox="1">
            <a:spLocks/>
          </p:cNvSpPr>
          <p:nvPr/>
        </p:nvSpPr>
        <p:spPr>
          <a:xfrm>
            <a:off x="515933" y="275967"/>
            <a:ext cx="11260400" cy="10568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SzPts val="2700"/>
            </a:pPr>
            <a:r>
              <a:rPr lang="en-US" altLang="zh-TW" sz="4000" dirty="0">
                <a:latin typeface="Times New Roman"/>
                <a:ea typeface="Times New Roman"/>
                <a:cs typeface="Times New Roman"/>
                <a:sym typeface="Times New Roman"/>
              </a:rPr>
              <a:t>Solution Overview</a:t>
            </a:r>
            <a:endParaRPr lang="en-US" sz="4000" dirty="0">
              <a:latin typeface="Times New Roman"/>
              <a:ea typeface="Times New Roman"/>
              <a:cs typeface="Times New Roman"/>
              <a:sym typeface="Times New Roman"/>
            </a:endParaRPr>
          </a:p>
        </p:txBody>
      </p:sp>
      <p:pic>
        <p:nvPicPr>
          <p:cNvPr id="1026" name="Picture 2">
            <a:extLst>
              <a:ext uri="{FF2B5EF4-FFF2-40B4-BE49-F238E27FC236}">
                <a16:creationId xmlns:a16="http://schemas.microsoft.com/office/drawing/2014/main" id="{0EFE1F03-83C1-61D1-0213-B7B4704A4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158" y="638757"/>
            <a:ext cx="9833684" cy="6103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119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3"/>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Solution – </a:t>
            </a:r>
            <a:r>
              <a:rPr lang="en-US" altLang="zh-TW" sz="4000" dirty="0">
                <a:latin typeface="Times New Roman"/>
                <a:ea typeface="Times New Roman"/>
                <a:cs typeface="Times New Roman"/>
                <a:sym typeface="Times New Roman"/>
              </a:rPr>
              <a:t>SFT for Intent-awareness as </a:t>
            </a:r>
            <a:r>
              <a:rPr lang="en-US" altLang="zh-TW" sz="4000" dirty="0" err="1">
                <a:latin typeface="Times New Roman"/>
                <a:ea typeface="Times New Roman"/>
                <a:cs typeface="Times New Roman"/>
                <a:sym typeface="Times New Roman"/>
              </a:rPr>
              <a:t>CoT</a:t>
            </a:r>
            <a:endParaRPr sz="4000" dirty="0">
              <a:latin typeface="Times New Roman"/>
              <a:ea typeface="Times New Roman"/>
              <a:cs typeface="Times New Roman"/>
              <a:sym typeface="Times New Roman"/>
            </a:endParaRPr>
          </a:p>
        </p:txBody>
      </p:sp>
      <p:sp>
        <p:nvSpPr>
          <p:cNvPr id="273" name="Google Shape;273;p3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16</a:t>
            </a:fld>
            <a:endParaRPr dirty="0"/>
          </a:p>
        </p:txBody>
      </p:sp>
      <p:sp>
        <p:nvSpPr>
          <p:cNvPr id="4" name="Google Shape;261;p32">
            <a:extLst>
              <a:ext uri="{FF2B5EF4-FFF2-40B4-BE49-F238E27FC236}">
                <a16:creationId xmlns:a16="http://schemas.microsoft.com/office/drawing/2014/main" id="{06C5DE0C-8A01-5C12-28AC-1D311D9603C7}"/>
              </a:ext>
            </a:extLst>
          </p:cNvPr>
          <p:cNvSpPr txBox="1">
            <a:spLocks/>
          </p:cNvSpPr>
          <p:nvPr/>
        </p:nvSpPr>
        <p:spPr>
          <a:xfrm>
            <a:off x="322204" y="1142334"/>
            <a:ext cx="9638919" cy="652903"/>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3195" indent="0">
              <a:spcBef>
                <a:spcPts val="0"/>
              </a:spcBef>
              <a:buClr>
                <a:schemeClr val="dk1"/>
              </a:buClr>
              <a:buSzPts val="1200"/>
              <a:buNone/>
            </a:pPr>
            <a:r>
              <a:rPr lang="en-US" altLang="zh-TW" dirty="0" err="1">
                <a:solidFill>
                  <a:schemeClr val="dk1"/>
                </a:solidFill>
                <a:latin typeface="Times New Roman"/>
                <a:ea typeface="Times New Roman"/>
                <a:cs typeface="Times New Roman"/>
                <a:sym typeface="Wingdings" panose="05000000000000000000" pitchFamily="2" charset="2"/>
              </a:rPr>
              <a:t>CoT</a:t>
            </a:r>
            <a:r>
              <a:rPr lang="en-US" altLang="zh-TW" dirty="0">
                <a:solidFill>
                  <a:schemeClr val="dk1"/>
                </a:solidFill>
                <a:latin typeface="Times New Roman"/>
                <a:ea typeface="Times New Roman"/>
                <a:cs typeface="Times New Roman"/>
                <a:sym typeface="Wingdings" panose="05000000000000000000" pitchFamily="2" charset="2"/>
              </a:rPr>
              <a:t> Pipeline [Raw Commands]  [Intent]  [Decoy Strategy]</a:t>
            </a:r>
            <a:endParaRPr lang="en-US" altLang="zh-TW" dirty="0">
              <a:solidFill>
                <a:schemeClr val="dk1"/>
              </a:solidFill>
              <a:latin typeface="Times New Roman"/>
              <a:ea typeface="Times New Roman"/>
              <a:cs typeface="Times New Roman"/>
              <a:sym typeface="Times New Roman"/>
            </a:endParaRPr>
          </a:p>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Times New Roman"/>
            </a:endParaRPr>
          </a:p>
        </p:txBody>
      </p:sp>
      <p:sp>
        <p:nvSpPr>
          <p:cNvPr id="6" name="Google Shape;269;p33">
            <a:extLst>
              <a:ext uri="{FF2B5EF4-FFF2-40B4-BE49-F238E27FC236}">
                <a16:creationId xmlns:a16="http://schemas.microsoft.com/office/drawing/2014/main" id="{D86BC71B-3A00-6659-4AA9-A42153454E2C}"/>
              </a:ext>
            </a:extLst>
          </p:cNvPr>
          <p:cNvSpPr/>
          <p:nvPr/>
        </p:nvSpPr>
        <p:spPr>
          <a:xfrm>
            <a:off x="529729" y="2972211"/>
            <a:ext cx="4146762" cy="2113287"/>
          </a:xfrm>
          <a:prstGeom prst="roundRect">
            <a:avLst>
              <a:gd name="adj" fmla="val 16667"/>
            </a:avLst>
          </a:prstGeom>
          <a:solidFill>
            <a:srgbClr val="F3F3F3"/>
          </a:solidFill>
          <a:ln>
            <a:noFill/>
          </a:ln>
        </p:spPr>
        <p:txBody>
          <a:bodyPr spcFirstLastPara="1" wrap="square" lIns="0" tIns="0" rIns="0" bIns="0" anchor="ctr" anchorCtr="0">
            <a:noAutofit/>
          </a:bodyPr>
          <a:lstStyle/>
          <a:p>
            <a:pPr>
              <a:buClr>
                <a:schemeClr val="dk1"/>
              </a:buClr>
              <a:buSzPts val="1100"/>
            </a:pPr>
            <a:r>
              <a:rPr lang="en-US" altLang="zh-TW" sz="1400" dirty="0">
                <a:solidFill>
                  <a:schemeClr val="tx2">
                    <a:lumMod val="75000"/>
                    <a:lumOff val="25000"/>
                  </a:schemeClr>
                </a:solidFill>
                <a:latin typeface="Cambria Math"/>
                <a:ea typeface="Cambria Math"/>
                <a:cs typeface="Cambria Math"/>
                <a:sym typeface="Cambria Math"/>
              </a:rPr>
              <a:t>id &amp;&amp; </a:t>
            </a:r>
            <a:r>
              <a:rPr lang="en-US" altLang="zh-TW" sz="1400" dirty="0" err="1">
                <a:solidFill>
                  <a:schemeClr val="tx2">
                    <a:lumMod val="75000"/>
                    <a:lumOff val="25000"/>
                  </a:schemeClr>
                </a:solidFill>
                <a:latin typeface="Cambria Math"/>
                <a:ea typeface="Cambria Math"/>
                <a:cs typeface="Cambria Math"/>
                <a:sym typeface="Cambria Math"/>
              </a:rPr>
              <a:t>whoami</a:t>
            </a:r>
            <a:r>
              <a:rPr lang="en-US" altLang="zh-TW" sz="1400" dirty="0">
                <a:solidFill>
                  <a:schemeClr val="tx2">
                    <a:lumMod val="75000"/>
                    <a:lumOff val="25000"/>
                  </a:schemeClr>
                </a:solidFill>
                <a:latin typeface="Cambria Math"/>
                <a:ea typeface="Cambria Math"/>
                <a:cs typeface="Cambria Math"/>
                <a:sym typeface="Cambria Math"/>
              </a:rPr>
              <a:t> &amp;&amp; groups</a:t>
            </a:r>
            <a:endParaRPr lang="en-US" altLang="zh-TW" sz="1400" b="1" dirty="0">
              <a:solidFill>
                <a:schemeClr val="tx2">
                  <a:lumMod val="75000"/>
                  <a:lumOff val="25000"/>
                </a:schemeClr>
              </a:solidFill>
              <a:latin typeface="Cambria Math"/>
              <a:ea typeface="Cambria Math"/>
              <a:cs typeface="Cambria Math"/>
              <a:sym typeface="Cambria Math"/>
            </a:endParaRPr>
          </a:p>
          <a:p>
            <a:pPr>
              <a:buClr>
                <a:schemeClr val="dk1"/>
              </a:buClr>
              <a:buSzPts val="1100"/>
            </a:pPr>
            <a:r>
              <a:rPr lang="en-US" altLang="zh-TW" sz="1400" dirty="0" err="1">
                <a:solidFill>
                  <a:srgbClr val="FF0000"/>
                </a:solidFill>
                <a:latin typeface="Cambria Math"/>
                <a:ea typeface="Cambria Math"/>
                <a:cs typeface="Cambria Math"/>
                <a:sym typeface="Cambria Math"/>
              </a:rPr>
              <a:t>sudo</a:t>
            </a:r>
            <a:r>
              <a:rPr lang="en-US" altLang="zh-TW" sz="1400" dirty="0">
                <a:solidFill>
                  <a:srgbClr val="FF0000"/>
                </a:solidFill>
                <a:latin typeface="Cambria Math"/>
                <a:ea typeface="Cambria Math"/>
                <a:cs typeface="Cambria Math"/>
                <a:sym typeface="Cambria Math"/>
              </a:rPr>
              <a:t> –l</a:t>
            </a:r>
          </a:p>
          <a:p>
            <a:pPr>
              <a:buClr>
                <a:schemeClr val="dk1"/>
              </a:buClr>
              <a:buSzPts val="1100"/>
            </a:pPr>
            <a:r>
              <a:rPr lang="en-US" altLang="zh-TW" sz="1400" dirty="0">
                <a:latin typeface="Cambria Math"/>
                <a:ea typeface="Cambria Math"/>
                <a:cs typeface="Cambria Math"/>
                <a:sym typeface="Cambria Math"/>
              </a:rPr>
              <a:t>find /home/`</a:t>
            </a:r>
            <a:r>
              <a:rPr lang="en-US" altLang="zh-TW" sz="1400" dirty="0" err="1">
                <a:latin typeface="Cambria Math"/>
                <a:ea typeface="Cambria Math"/>
                <a:cs typeface="Cambria Math"/>
                <a:sym typeface="Cambria Math"/>
              </a:rPr>
              <a:t>whoami</a:t>
            </a:r>
            <a:r>
              <a:rPr lang="en-US" altLang="zh-TW" sz="1400" dirty="0">
                <a:latin typeface="Cambria Math"/>
                <a:ea typeface="Cambria Math"/>
                <a:cs typeface="Cambria Math"/>
                <a:sym typeface="Cambria Math"/>
              </a:rPr>
              <a:t>`/</a:t>
            </a:r>
          </a:p>
          <a:p>
            <a:pPr>
              <a:buClr>
                <a:schemeClr val="dk1"/>
              </a:buClr>
              <a:buSzPts val="1100"/>
            </a:pPr>
            <a:r>
              <a:rPr lang="en-US" altLang="zh-TW" sz="1400" dirty="0">
                <a:latin typeface="Cambria Math"/>
                <a:ea typeface="Cambria Math"/>
                <a:cs typeface="Cambria Math"/>
                <a:sym typeface="Cambria Math"/>
              </a:rPr>
              <a:t>cat /home/</a:t>
            </a:r>
            <a:r>
              <a:rPr lang="en-US" altLang="zh-TW" sz="1400" dirty="0" err="1">
                <a:latin typeface="Cambria Math"/>
                <a:ea typeface="Cambria Math"/>
                <a:cs typeface="Cambria Math"/>
                <a:sym typeface="Cambria Math"/>
              </a:rPr>
              <a:t>wangkai</a:t>
            </a:r>
            <a:r>
              <a:rPr lang="en-US" altLang="zh-TW" sz="1400" dirty="0">
                <a:latin typeface="Cambria Math"/>
                <a:ea typeface="Cambria Math"/>
                <a:cs typeface="Cambria Math"/>
                <a:sym typeface="Cambria Math"/>
              </a:rPr>
              <a:t>/.</a:t>
            </a:r>
            <a:r>
              <a:rPr lang="en-US" altLang="zh-TW" sz="1400" dirty="0" err="1">
                <a:latin typeface="Cambria Math"/>
                <a:ea typeface="Cambria Math"/>
                <a:cs typeface="Cambria Math"/>
                <a:sym typeface="Cambria Math"/>
              </a:rPr>
              <a:t>bashrc</a:t>
            </a:r>
            <a:endParaRPr lang="en-US" altLang="zh-TW" sz="1400" dirty="0">
              <a:latin typeface="Cambria Math"/>
              <a:ea typeface="Cambria Math"/>
              <a:cs typeface="Cambria Math"/>
              <a:sym typeface="Cambria Math"/>
            </a:endParaRPr>
          </a:p>
          <a:p>
            <a:pPr>
              <a:buClr>
                <a:schemeClr val="dk1"/>
              </a:buClr>
              <a:buSzPts val="1100"/>
            </a:pPr>
            <a:r>
              <a:rPr lang="en-US" altLang="zh-TW" sz="1400" dirty="0">
                <a:solidFill>
                  <a:schemeClr val="tx2">
                    <a:lumMod val="75000"/>
                    <a:lumOff val="25000"/>
                  </a:schemeClr>
                </a:solidFill>
                <a:latin typeface="Cambria Math"/>
                <a:ea typeface="Cambria Math"/>
                <a:cs typeface="Cambria Math"/>
                <a:sym typeface="Cambria Math"/>
              </a:rPr>
              <a:t>cat ~/.</a:t>
            </a:r>
            <a:r>
              <a:rPr lang="en-US" altLang="zh-TW" sz="1400" dirty="0" err="1">
                <a:solidFill>
                  <a:schemeClr val="tx2">
                    <a:lumMod val="75000"/>
                    <a:lumOff val="25000"/>
                  </a:schemeClr>
                </a:solidFill>
                <a:latin typeface="Cambria Math"/>
                <a:ea typeface="Cambria Math"/>
                <a:cs typeface="Cambria Math"/>
                <a:sym typeface="Cambria Math"/>
              </a:rPr>
              <a:t>bash_history</a:t>
            </a:r>
            <a:r>
              <a:rPr lang="en-US" altLang="zh-TW" sz="1400" dirty="0">
                <a:solidFill>
                  <a:schemeClr val="tx2">
                    <a:lumMod val="75000"/>
                    <a:lumOff val="25000"/>
                  </a:schemeClr>
                </a:solidFill>
                <a:latin typeface="Cambria Math"/>
                <a:ea typeface="Cambria Math"/>
                <a:cs typeface="Cambria Math"/>
                <a:sym typeface="Cambria Math"/>
              </a:rPr>
              <a:t> | tail -n 20 </a:t>
            </a:r>
          </a:p>
          <a:p>
            <a:pPr>
              <a:buClr>
                <a:schemeClr val="dk1"/>
              </a:buClr>
              <a:buSzPts val="1100"/>
            </a:pPr>
            <a:r>
              <a:rPr lang="en-US" altLang="zh-TW" sz="1400" dirty="0">
                <a:latin typeface="Cambria Math"/>
                <a:ea typeface="Cambria Math"/>
                <a:cs typeface="Cambria Math"/>
                <a:sym typeface="Cambria Math"/>
              </a:rPr>
              <a:t>find / -type f -perm -4000 -print 2&gt;/dev/null</a:t>
            </a:r>
          </a:p>
          <a:p>
            <a:pPr>
              <a:buClr>
                <a:schemeClr val="dk1"/>
              </a:buClr>
              <a:buSzPts val="1100"/>
            </a:pPr>
            <a:r>
              <a:rPr lang="en-US" altLang="zh-TW" sz="1400" dirty="0">
                <a:solidFill>
                  <a:srgbClr val="FF0000"/>
                </a:solidFill>
                <a:latin typeface="Cambria Math"/>
                <a:ea typeface="Cambria Math"/>
                <a:cs typeface="Cambria Math"/>
                <a:sym typeface="Cambria Math"/>
              </a:rPr>
              <a:t>grep -R -n 'NOPASSWD' /</a:t>
            </a:r>
            <a:r>
              <a:rPr lang="en-US" altLang="zh-TW" sz="1400" dirty="0" err="1">
                <a:solidFill>
                  <a:srgbClr val="FF0000"/>
                </a:solidFill>
                <a:latin typeface="Cambria Math"/>
                <a:ea typeface="Cambria Math"/>
                <a:cs typeface="Cambria Math"/>
                <a:sym typeface="Cambria Math"/>
              </a:rPr>
              <a:t>etc</a:t>
            </a:r>
            <a:r>
              <a:rPr lang="en-US" altLang="zh-TW" sz="1400" dirty="0">
                <a:solidFill>
                  <a:srgbClr val="FF0000"/>
                </a:solidFill>
                <a:latin typeface="Cambria Math"/>
                <a:ea typeface="Cambria Math"/>
                <a:cs typeface="Cambria Math"/>
                <a:sym typeface="Cambria Math"/>
              </a:rPr>
              <a:t>/</a:t>
            </a:r>
            <a:r>
              <a:rPr lang="en-US" altLang="zh-TW" sz="1400" dirty="0" err="1">
                <a:solidFill>
                  <a:srgbClr val="FF0000"/>
                </a:solidFill>
                <a:latin typeface="Cambria Math"/>
                <a:ea typeface="Cambria Math"/>
                <a:cs typeface="Cambria Math"/>
                <a:sym typeface="Cambria Math"/>
              </a:rPr>
              <a:t>sudoers</a:t>
            </a:r>
            <a:r>
              <a:rPr lang="en-US" altLang="zh-TW" sz="1400" dirty="0">
                <a:solidFill>
                  <a:srgbClr val="FF0000"/>
                </a:solidFill>
                <a:latin typeface="Cambria Math"/>
                <a:ea typeface="Cambria Math"/>
                <a:cs typeface="Cambria Math"/>
                <a:sym typeface="Cambria Math"/>
              </a:rPr>
              <a:t>* 2&gt;/dev/null</a:t>
            </a:r>
          </a:p>
          <a:p>
            <a:pPr>
              <a:buClr>
                <a:schemeClr val="dk1"/>
              </a:buClr>
              <a:buSzPts val="1100"/>
            </a:pPr>
            <a:r>
              <a:rPr lang="en-US" altLang="zh-TW" sz="1400" dirty="0">
                <a:solidFill>
                  <a:schemeClr val="tx2">
                    <a:lumMod val="75000"/>
                    <a:lumOff val="25000"/>
                  </a:schemeClr>
                </a:solidFill>
                <a:latin typeface="Cambria Math"/>
                <a:ea typeface="Cambria Math"/>
                <a:cs typeface="Cambria Math"/>
                <a:sym typeface="Cambria Math"/>
              </a:rPr>
              <a:t>ls -la /home/</a:t>
            </a:r>
            <a:r>
              <a:rPr lang="en-US" altLang="zh-TW" sz="1400" dirty="0" err="1">
                <a:solidFill>
                  <a:schemeClr val="tx2">
                    <a:lumMod val="75000"/>
                    <a:lumOff val="25000"/>
                  </a:schemeClr>
                </a:solidFill>
                <a:latin typeface="Cambria Math"/>
                <a:ea typeface="Cambria Math"/>
                <a:cs typeface="Cambria Math"/>
                <a:sym typeface="Cambria Math"/>
              </a:rPr>
              <a:t>wangkai</a:t>
            </a:r>
            <a:r>
              <a:rPr lang="en-US" altLang="zh-TW" sz="1400" dirty="0">
                <a:solidFill>
                  <a:schemeClr val="tx2">
                    <a:lumMod val="75000"/>
                    <a:lumOff val="25000"/>
                  </a:schemeClr>
                </a:solidFill>
                <a:latin typeface="Cambria Math"/>
                <a:ea typeface="Cambria Math"/>
                <a:cs typeface="Cambria Math"/>
                <a:sym typeface="Cambria Math"/>
              </a:rPr>
              <a:t>/.ssh</a:t>
            </a:r>
          </a:p>
        </p:txBody>
      </p:sp>
      <mc:AlternateContent xmlns:mc="http://schemas.openxmlformats.org/markup-compatibility/2006" xmlns:a14="http://schemas.microsoft.com/office/drawing/2010/main">
        <mc:Choice Requires="a14">
          <p:sp>
            <p:nvSpPr>
              <p:cNvPr id="7" name="Google Shape;269;p33">
                <a:extLst>
                  <a:ext uri="{FF2B5EF4-FFF2-40B4-BE49-F238E27FC236}">
                    <a16:creationId xmlns:a16="http://schemas.microsoft.com/office/drawing/2014/main" id="{F5DA6264-1D53-8FAA-FB70-B286F8D7BD33}"/>
                  </a:ext>
                </a:extLst>
              </p:cNvPr>
              <p:cNvSpPr/>
              <p:nvPr/>
            </p:nvSpPr>
            <p:spPr>
              <a:xfrm>
                <a:off x="6948701" y="1857712"/>
                <a:ext cx="4396602" cy="4562543"/>
              </a:xfrm>
              <a:prstGeom prst="roundRect">
                <a:avLst>
                  <a:gd name="adj" fmla="val 16667"/>
                </a:avLst>
              </a:prstGeom>
              <a:solidFill>
                <a:srgbClr val="F3F3F3"/>
              </a:solidFill>
              <a:ln>
                <a:noFill/>
              </a:ln>
            </p:spPr>
            <p:txBody>
              <a:bodyPr spcFirstLastPara="1" wrap="square" lIns="0" tIns="0" rIns="0" bIns="0" anchor="t" anchorCtr="0">
                <a:noAutofit/>
              </a:bodyPr>
              <a:lstStyle/>
              <a:p>
                <a:pPr>
                  <a:buClr>
                    <a:schemeClr val="dk1"/>
                  </a:buClr>
                  <a:buSzPts val="1100"/>
                </a:pPr>
                <a:endParaRPr lang="en-US" altLang="zh-TW" sz="1400" b="1" dirty="0">
                  <a:latin typeface="Cambria Math" panose="02040503050406030204" pitchFamily="18" charset="0"/>
                  <a:ea typeface="Cambria Math" panose="02040503050406030204" pitchFamily="18" charset="0"/>
                </a:endParaRPr>
              </a:p>
              <a:p>
                <a:pPr>
                  <a:buClr>
                    <a:schemeClr val="dk1"/>
                  </a:buClr>
                  <a:buSzPts val="1100"/>
                </a:pPr>
                <a:r>
                  <a:rPr lang="en-US" altLang="zh-TW" sz="1600" b="1" dirty="0">
                    <a:latin typeface="Cambria Math" panose="02040503050406030204" pitchFamily="18" charset="0"/>
                    <a:ea typeface="Cambria Math" panose="02040503050406030204" pitchFamily="18" charset="0"/>
                  </a:rPr>
                  <a:t>(Chain of thought - </a:t>
                </a:r>
                <a14:m>
                  <m:oMath xmlns:m="http://schemas.openxmlformats.org/officeDocument/2006/math">
                    <m:r>
                      <a:rPr lang="en-US" altLang="zh-TW" sz="1600" b="1" i="1" smtClean="0">
                        <a:latin typeface="Cambria Math" panose="02040503050406030204" pitchFamily="18" charset="0"/>
                        <a:ea typeface="Cambria Math" panose="02040503050406030204" pitchFamily="18" charset="0"/>
                      </a:rPr>
                      <m:t>𝒛</m:t>
                    </m:r>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1" smtClean="0">
                            <a:latin typeface="Cambria Math" panose="02040503050406030204" pitchFamily="18" charset="0"/>
                            <a:ea typeface="Cambria Math" panose="02040503050406030204" pitchFamily="18" charset="0"/>
                          </a:rPr>
                          <m:t>̂</m:t>
                        </m:r>
                      </m:e>
                      <m:sub>
                        <m:r>
                          <a:rPr lang="en-US" altLang="zh-TW" sz="1600" b="1" i="1" smtClean="0">
                            <a:latin typeface="Cambria Math" panose="02040503050406030204" pitchFamily="18" charset="0"/>
                            <a:ea typeface="Cambria Math" panose="02040503050406030204" pitchFamily="18" charset="0"/>
                          </a:rPr>
                          <m:t>𝒊</m:t>
                        </m:r>
                      </m:sub>
                    </m:sSub>
                  </m:oMath>
                </a14:m>
                <a:r>
                  <a:rPr lang="en-US" altLang="zh-TW" sz="1600" b="1" dirty="0">
                    <a:latin typeface="Cambria Math" panose="02040503050406030204" pitchFamily="18" charset="0"/>
                    <a:ea typeface="Cambria Math" panose="02040503050406030204" pitchFamily="18" charset="0"/>
                  </a:rPr>
                  <a:t>)</a:t>
                </a:r>
              </a:p>
              <a:p>
                <a:pPr>
                  <a:buClr>
                    <a:schemeClr val="dk1"/>
                  </a:buClr>
                  <a:buSzPts val="1100"/>
                </a:pPr>
                <a:r>
                  <a:rPr lang="en-US" altLang="zh-TW" sz="1400" dirty="0">
                    <a:latin typeface="Cambria Math" panose="02040503050406030204" pitchFamily="18" charset="0"/>
                    <a:ea typeface="Cambria Math" panose="02040503050406030204" pitchFamily="18" charset="0"/>
                  </a:rPr>
                  <a:t>Intent :</a:t>
                </a:r>
                <a:r>
                  <a:rPr lang="zh-TW" altLang="en-US" sz="1400" dirty="0">
                    <a:latin typeface="Cambria Math" panose="02040503050406030204" pitchFamily="18" charset="0"/>
                    <a:ea typeface="Cambria Math" panose="02040503050406030204" pitchFamily="18" charset="0"/>
                  </a:rPr>
                  <a:t> </a:t>
                </a:r>
                <a:r>
                  <a:rPr lang="en-US" altLang="zh-TW" sz="1400" dirty="0">
                    <a:latin typeface="Cambria Math" panose="02040503050406030204" pitchFamily="18" charset="0"/>
                    <a:ea typeface="Cambria Math" panose="02040503050406030204" pitchFamily="18" charset="0"/>
                  </a:rPr>
                  <a:t>The adversary is attempting to </a:t>
                </a:r>
                <a:r>
                  <a:rPr lang="en-US" altLang="zh-TW" sz="1400" dirty="0">
                    <a:solidFill>
                      <a:schemeClr val="tx2">
                        <a:lumMod val="75000"/>
                        <a:lumOff val="25000"/>
                      </a:schemeClr>
                    </a:solidFill>
                    <a:latin typeface="Cambria Math" panose="02040503050406030204" pitchFamily="18" charset="0"/>
                    <a:ea typeface="Cambria Math" panose="02040503050406030204" pitchFamily="18" charset="0"/>
                  </a:rPr>
                  <a:t>gather system information and identify </a:t>
                </a:r>
                <a:r>
                  <a:rPr lang="en-US" altLang="zh-TW" sz="1400" dirty="0">
                    <a:latin typeface="Cambria Math" panose="02040503050406030204" pitchFamily="18" charset="0"/>
                    <a:ea typeface="Cambria Math" panose="02040503050406030204" pitchFamily="18" charset="0"/>
                  </a:rPr>
                  <a:t>potential escalation paths by examining user details, permissions, and system configurations. This includes checking for </a:t>
                </a:r>
                <a:r>
                  <a:rPr lang="en-US" altLang="zh-TW" sz="1400" dirty="0">
                    <a:solidFill>
                      <a:srgbClr val="FF0000"/>
                    </a:solidFill>
                    <a:latin typeface="Cambria Math" panose="02040503050406030204" pitchFamily="18" charset="0"/>
                    <a:ea typeface="Cambria Math" panose="02040503050406030204" pitchFamily="18" charset="0"/>
                  </a:rPr>
                  <a:t>elevated privileges</a:t>
                </a:r>
                <a:r>
                  <a:rPr lang="en-US" altLang="zh-TW" sz="1400" dirty="0">
                    <a:latin typeface="Cambria Math" panose="02040503050406030204" pitchFamily="18" charset="0"/>
                    <a:ea typeface="Cambria Math" panose="02040503050406030204" pitchFamily="18" charset="0"/>
                  </a:rPr>
                  <a:t>, </a:t>
                </a:r>
                <a:r>
                  <a:rPr lang="en-US" altLang="zh-TW" sz="1400" dirty="0">
                    <a:solidFill>
                      <a:schemeClr val="tx2">
                        <a:lumMod val="75000"/>
                        <a:lumOff val="25000"/>
                      </a:schemeClr>
                    </a:solidFill>
                    <a:latin typeface="Cambria Math" panose="02040503050406030204" pitchFamily="18" charset="0"/>
                    <a:ea typeface="Cambria Math" panose="02040503050406030204" pitchFamily="18" charset="0"/>
                  </a:rPr>
                  <a:t>sensitive files</a:t>
                </a:r>
                <a:r>
                  <a:rPr lang="en-US" altLang="zh-TW" sz="1400" dirty="0">
                    <a:latin typeface="Cambria Math" panose="02040503050406030204" pitchFamily="18" charset="0"/>
                    <a:ea typeface="Cambria Math" panose="02040503050406030204" pitchFamily="18" charset="0"/>
                  </a:rPr>
                  <a:t>, and </a:t>
                </a:r>
                <a:r>
                  <a:rPr lang="en-US" altLang="zh-TW" sz="1400" dirty="0">
                    <a:solidFill>
                      <a:srgbClr val="FF0000"/>
                    </a:solidFill>
                    <a:latin typeface="Cambria Math" panose="02040503050406030204" pitchFamily="18" charset="0"/>
                    <a:ea typeface="Cambria Math" panose="02040503050406030204" pitchFamily="18" charset="0"/>
                  </a:rPr>
                  <a:t>potential misconfigurations,</a:t>
                </a:r>
                <a:r>
                  <a:rPr lang="en-US" altLang="zh-TW" sz="1400" dirty="0">
                    <a:latin typeface="Cambria Math" panose="02040503050406030204" pitchFamily="18" charset="0"/>
                    <a:ea typeface="Cambria Math" panose="02040503050406030204" pitchFamily="18" charset="0"/>
                  </a:rPr>
                  <a:t> ……</a:t>
                </a:r>
              </a:p>
              <a:p>
                <a:pPr>
                  <a:buClr>
                    <a:schemeClr val="dk1"/>
                  </a:buClr>
                  <a:buSzPts val="1100"/>
                </a:pPr>
                <a:endParaRPr lang="en-US" sz="1400" dirty="0">
                  <a:solidFill>
                    <a:srgbClr val="38761D"/>
                  </a:solidFill>
                  <a:latin typeface="Cambria Math" panose="02040503050406030204" pitchFamily="18" charset="0"/>
                  <a:ea typeface="Cambria Math" panose="02040503050406030204" pitchFamily="18" charset="0"/>
                  <a:cs typeface="Cambria Math"/>
                  <a:sym typeface="Cambria Math"/>
                </a:endParaRPr>
              </a:p>
              <a:p>
                <a:pPr>
                  <a:buClr>
                    <a:schemeClr val="dk1"/>
                  </a:buClr>
                  <a:buSzPts val="1100"/>
                </a:pPr>
                <a:r>
                  <a:rPr lang="en-US" sz="1400" dirty="0">
                    <a:latin typeface="Cambria Math" panose="02040503050406030204" pitchFamily="18" charset="0"/>
                    <a:ea typeface="Cambria Math" panose="02040503050406030204" pitchFamily="18" charset="0"/>
                    <a:cs typeface="Cambria Math"/>
                    <a:sym typeface="Cambria Math"/>
                  </a:rPr>
                  <a:t>Tactics: </a:t>
                </a:r>
                <a:r>
                  <a:rPr lang="en-US" altLang="zh-TW" sz="1400" dirty="0">
                    <a:solidFill>
                      <a:schemeClr val="tx2">
                        <a:lumMod val="75000"/>
                        <a:lumOff val="25000"/>
                      </a:schemeClr>
                    </a:solidFill>
                    <a:latin typeface="Cambria Math" panose="02040503050406030204" pitchFamily="18" charset="0"/>
                    <a:ea typeface="Cambria Math" panose="02040503050406030204" pitchFamily="18" charset="0"/>
                    <a:cs typeface="Cambria Math"/>
                    <a:sym typeface="Cambria Math"/>
                  </a:rPr>
                  <a:t>discovery</a:t>
                </a:r>
                <a:r>
                  <a:rPr lang="en-US" altLang="zh-TW" sz="1400" dirty="0">
                    <a:latin typeface="Cambria Math" panose="02040503050406030204" pitchFamily="18" charset="0"/>
                    <a:ea typeface="Cambria Math" panose="02040503050406030204" pitchFamily="18" charset="0"/>
                    <a:cs typeface="Cambria Math"/>
                    <a:sym typeface="Cambria Math"/>
                  </a:rPr>
                  <a:t> , </a:t>
                </a:r>
                <a:r>
                  <a:rPr lang="en-US" altLang="zh-TW" sz="1400" dirty="0" err="1">
                    <a:solidFill>
                      <a:srgbClr val="FF0000"/>
                    </a:solidFill>
                    <a:latin typeface="Cambria Math" panose="02040503050406030204" pitchFamily="18" charset="0"/>
                    <a:ea typeface="Cambria Math" panose="02040503050406030204" pitchFamily="18" charset="0"/>
                    <a:cs typeface="Cambria Math"/>
                    <a:sym typeface="Cambria Math"/>
                  </a:rPr>
                  <a:t>privilege</a:t>
                </a:r>
                <a:r>
                  <a:rPr lang="en-US" sz="1400" dirty="0" err="1">
                    <a:solidFill>
                      <a:srgbClr val="FF0000"/>
                    </a:solidFill>
                    <a:latin typeface="Cambria Math" panose="02040503050406030204" pitchFamily="18" charset="0"/>
                    <a:ea typeface="Cambria Math" panose="02040503050406030204" pitchFamily="18" charset="0"/>
                    <a:cs typeface="Cambria Math"/>
                    <a:sym typeface="Cambria Math"/>
                  </a:rPr>
                  <a:t>_escalation</a:t>
                </a:r>
                <a:endParaRPr lang="en-US" sz="1400" dirty="0">
                  <a:solidFill>
                    <a:srgbClr val="FF0000"/>
                  </a:solidFill>
                  <a:latin typeface="Cambria Math" panose="02040503050406030204" pitchFamily="18" charset="0"/>
                  <a:ea typeface="Cambria Math" panose="02040503050406030204" pitchFamily="18" charset="0"/>
                  <a:cs typeface="Cambria Math"/>
                  <a:sym typeface="Cambria Math"/>
                </a:endParaRPr>
              </a:p>
              <a:p>
                <a:pPr>
                  <a:buClr>
                    <a:schemeClr val="dk1"/>
                  </a:buClr>
                  <a:buSzPts val="1100"/>
                </a:pPr>
                <a:endParaRPr lang="en-US" sz="1400" dirty="0">
                  <a:solidFill>
                    <a:srgbClr val="FF0000"/>
                  </a:solidFill>
                  <a:latin typeface="Cambria Math" panose="02040503050406030204" pitchFamily="18" charset="0"/>
                  <a:ea typeface="Cambria Math" panose="02040503050406030204" pitchFamily="18" charset="0"/>
                  <a:cs typeface="Cambria Math"/>
                  <a:sym typeface="Cambria Math"/>
                </a:endParaRPr>
              </a:p>
              <a:p>
                <a:pPr>
                  <a:buClr>
                    <a:schemeClr val="dk1"/>
                  </a:buClr>
                  <a:buSzPts val="1100"/>
                </a:pPr>
                <a:r>
                  <a:rPr lang="en-US" altLang="zh-TW" sz="1400" dirty="0">
                    <a:latin typeface="Cambria Math" panose="02040503050406030204" pitchFamily="18" charset="0"/>
                    <a:ea typeface="Cambria Math" panose="02040503050406030204" pitchFamily="18" charset="0"/>
                  </a:rPr>
                  <a:t>Strategy</a:t>
                </a:r>
                <a:r>
                  <a:rPr lang="zh-TW" altLang="en-US" sz="1400" dirty="0">
                    <a:latin typeface="Cambria Math" panose="02040503050406030204" pitchFamily="18" charset="0"/>
                    <a:ea typeface="Cambria Math" panose="02040503050406030204" pitchFamily="18" charset="0"/>
                  </a:rPr>
                  <a:t> </a:t>
                </a:r>
                <a:r>
                  <a:rPr lang="en-US" altLang="zh-TW" sz="1400" dirty="0">
                    <a:latin typeface="Cambria Math" panose="02040503050406030204" pitchFamily="18" charset="0"/>
                    <a:ea typeface="Cambria Math" panose="02040503050406030204" pitchFamily="18" charset="0"/>
                  </a:rPr>
                  <a:t>:</a:t>
                </a:r>
              </a:p>
              <a:p>
                <a:pPr>
                  <a:buClr>
                    <a:schemeClr val="dk1"/>
                  </a:buClr>
                  <a:buSzPts val="1100"/>
                </a:pPr>
                <a:r>
                  <a:rPr lang="en-US" altLang="zh-TW" sz="1400" dirty="0">
                    <a:latin typeface="Cambria Math" panose="02040503050406030204" pitchFamily="18" charset="0"/>
                    <a:ea typeface="Cambria Math" panose="02040503050406030204" pitchFamily="18" charset="0"/>
                  </a:rPr>
                  <a:t>We will </a:t>
                </a:r>
                <a:r>
                  <a:rPr lang="en-US" altLang="zh-TW" sz="1400" dirty="0">
                    <a:solidFill>
                      <a:schemeClr val="tx2">
                        <a:lumMod val="75000"/>
                        <a:lumOff val="25000"/>
                      </a:schemeClr>
                    </a:solidFill>
                    <a:latin typeface="Cambria Math" panose="02040503050406030204" pitchFamily="18" charset="0"/>
                    <a:ea typeface="Cambria Math" panose="02040503050406030204" pitchFamily="18" charset="0"/>
                  </a:rPr>
                  <a:t>place functional credentials </a:t>
                </a:r>
                <a:r>
                  <a:rPr lang="en-US" altLang="zh-TW" sz="1400" dirty="0">
                    <a:latin typeface="Cambria Math" panose="02040503050406030204" pitchFamily="18" charset="0"/>
                    <a:ea typeface="Cambria Math" panose="02040503050406030204" pitchFamily="18" charset="0"/>
                  </a:rPr>
                  <a:t>in a predictable location to </a:t>
                </a:r>
                <a:r>
                  <a:rPr lang="en-US" altLang="zh-TW" sz="1400" dirty="0">
                    <a:solidFill>
                      <a:schemeClr val="tx2">
                        <a:lumMod val="75000"/>
                        <a:lumOff val="25000"/>
                      </a:schemeClr>
                    </a:solidFill>
                    <a:latin typeface="Cambria Math" panose="02040503050406030204" pitchFamily="18" charset="0"/>
                    <a:ea typeface="Cambria Math" panose="02040503050406030204" pitchFamily="18" charset="0"/>
                  </a:rPr>
                  <a:t>guide the adversary toward a specific path, allowing us to better understand their lateral movement techniques </a:t>
                </a:r>
                <a:r>
                  <a:rPr lang="en-US" altLang="zh-TW" sz="1400" dirty="0">
                    <a:latin typeface="Cambria Math" panose="02040503050406030204" pitchFamily="18" charset="0"/>
                    <a:ea typeface="Cambria Math" panose="02040503050406030204" pitchFamily="18" charset="0"/>
                  </a:rPr>
                  <a:t>while ensuring they do not bypass our defenses too quickly</a:t>
                </a:r>
                <a:r>
                  <a:rPr lang="en-US" altLang="zh-TW" sz="1400" dirty="0"/>
                  <a:t>.</a:t>
                </a:r>
                <a:endParaRPr lang="en-US" altLang="zh-TW" sz="1400" dirty="0">
                  <a:solidFill>
                    <a:srgbClr val="38761D"/>
                  </a:solidFill>
                  <a:latin typeface="Cambria Math" panose="02040503050406030204" pitchFamily="18" charset="0"/>
                  <a:ea typeface="Cambria Math" panose="02040503050406030204" pitchFamily="18" charset="0"/>
                  <a:cs typeface="Cambria Math"/>
                  <a:sym typeface="Cambria Math"/>
                </a:endParaRPr>
              </a:p>
              <a:p>
                <a:pPr>
                  <a:buClr>
                    <a:schemeClr val="dk1"/>
                  </a:buClr>
                  <a:buSzPts val="1100"/>
                </a:pPr>
                <a:endParaRPr lang="en-US" altLang="zh-TW" sz="1400" dirty="0">
                  <a:latin typeface="Cambria Math" panose="02040503050406030204" pitchFamily="18" charset="0"/>
                  <a:ea typeface="Cambria Math" panose="02040503050406030204" pitchFamily="18" charset="0"/>
                </a:endParaRPr>
              </a:p>
              <a:p>
                <a:pPr>
                  <a:buClr>
                    <a:schemeClr val="dk1"/>
                  </a:buClr>
                  <a:buSzPts val="1100"/>
                </a:pPr>
                <a:r>
                  <a:rPr lang="en-US" altLang="zh-TW" sz="1400" dirty="0">
                    <a:latin typeface="Cambria Math" panose="02040503050406030204" pitchFamily="18" charset="0"/>
                    <a:ea typeface="Cambria Math" panose="02040503050406030204" pitchFamily="18" charset="0"/>
                  </a:rPr>
                  <a:t>Tool-and-parameters : …</a:t>
                </a:r>
              </a:p>
              <a:p>
                <a:pPr>
                  <a:buClr>
                    <a:schemeClr val="dk1"/>
                  </a:buClr>
                  <a:buSzPts val="1100"/>
                </a:pPr>
                <a:br>
                  <a:rPr lang="en-US" sz="1400" dirty="0">
                    <a:solidFill>
                      <a:srgbClr val="FF0000"/>
                    </a:solidFill>
                    <a:latin typeface="Cambria Math" panose="02040503050406030204" pitchFamily="18" charset="0"/>
                    <a:ea typeface="Cambria Math" panose="02040503050406030204" pitchFamily="18" charset="0"/>
                    <a:cs typeface="Cambria Math"/>
                    <a:sym typeface="Cambria Math"/>
                  </a:rPr>
                </a:br>
                <a:endParaRPr sz="1400" dirty="0">
                  <a:solidFill>
                    <a:srgbClr val="FF0000"/>
                  </a:solidFill>
                  <a:latin typeface="Cambria Math" panose="02040503050406030204" pitchFamily="18" charset="0"/>
                  <a:ea typeface="Cambria Math" panose="02040503050406030204" pitchFamily="18" charset="0"/>
                  <a:cs typeface="Cambria Math"/>
                  <a:sym typeface="Cambria Math"/>
                </a:endParaRPr>
              </a:p>
            </p:txBody>
          </p:sp>
        </mc:Choice>
        <mc:Fallback xmlns="">
          <p:sp>
            <p:nvSpPr>
              <p:cNvPr id="7" name="Google Shape;269;p33">
                <a:extLst>
                  <a:ext uri="{FF2B5EF4-FFF2-40B4-BE49-F238E27FC236}">
                    <a16:creationId xmlns:a16="http://schemas.microsoft.com/office/drawing/2014/main" id="{F5DA6264-1D53-8FAA-FB70-B286F8D7BD33}"/>
                  </a:ext>
                </a:extLst>
              </p:cNvPr>
              <p:cNvSpPr>
                <a:spLocks noRot="1" noChangeAspect="1" noMove="1" noResize="1" noEditPoints="1" noAdjustHandles="1" noChangeArrowheads="1" noChangeShapeType="1" noTextEdit="1"/>
              </p:cNvSpPr>
              <p:nvPr/>
            </p:nvSpPr>
            <p:spPr>
              <a:xfrm>
                <a:off x="6948701" y="1857712"/>
                <a:ext cx="4396602" cy="4562543"/>
              </a:xfrm>
              <a:prstGeom prst="roundRect">
                <a:avLst>
                  <a:gd name="adj" fmla="val 16667"/>
                </a:avLst>
              </a:prstGeom>
              <a:blipFill>
                <a:blip r:embed="rId3"/>
                <a:stretch>
                  <a:fillRect/>
                </a:stretch>
              </a:blipFill>
              <a:ln>
                <a:noFill/>
              </a:ln>
            </p:spPr>
            <p:txBody>
              <a:bodyPr/>
              <a:lstStyle/>
              <a:p>
                <a:r>
                  <a:rPr lang="zh-TW" altLang="en-US">
                    <a:noFill/>
                  </a:rPr>
                  <a:t> </a:t>
                </a:r>
              </a:p>
            </p:txBody>
          </p:sp>
        </mc:Fallback>
      </mc:AlternateContent>
      <p:sp>
        <p:nvSpPr>
          <p:cNvPr id="9" name="箭號: 向下 8">
            <a:extLst>
              <a:ext uri="{FF2B5EF4-FFF2-40B4-BE49-F238E27FC236}">
                <a16:creationId xmlns:a16="http://schemas.microsoft.com/office/drawing/2014/main" id="{E0BB9736-14AF-73A4-6DA4-AAB583659B4C}"/>
              </a:ext>
            </a:extLst>
          </p:cNvPr>
          <p:cNvSpPr/>
          <p:nvPr/>
        </p:nvSpPr>
        <p:spPr>
          <a:xfrm rot="16200000">
            <a:off x="4562979" y="3788119"/>
            <a:ext cx="227024" cy="409903"/>
          </a:xfrm>
          <a:prstGeom prst="down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
        <p:nvSpPr>
          <p:cNvPr id="2" name="Google Shape;297;p36">
            <a:extLst>
              <a:ext uri="{FF2B5EF4-FFF2-40B4-BE49-F238E27FC236}">
                <a16:creationId xmlns:a16="http://schemas.microsoft.com/office/drawing/2014/main" id="{A2DF31C7-3FB0-C086-BD69-D0746E55DC8A}"/>
              </a:ext>
            </a:extLst>
          </p:cNvPr>
          <p:cNvSpPr/>
          <p:nvPr/>
        </p:nvSpPr>
        <p:spPr>
          <a:xfrm>
            <a:off x="4881443" y="3686715"/>
            <a:ext cx="1755429" cy="6040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algn="ctr"/>
            <a:r>
              <a:rPr lang="en-US" altLang="zh-TW" dirty="0">
                <a:latin typeface="Times New Roman" panose="02020603050405020304" pitchFamily="18" charset="0"/>
                <a:ea typeface="Calibri" panose="020F0502020204030204" pitchFamily="34" charset="0"/>
                <a:cs typeface="Times New Roman" panose="02020603050405020304" pitchFamily="18" charset="0"/>
              </a:rPr>
              <a:t>Strategist LLM</a:t>
            </a:r>
            <a:endParaRPr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箭號: 向下 2">
            <a:extLst>
              <a:ext uri="{FF2B5EF4-FFF2-40B4-BE49-F238E27FC236}">
                <a16:creationId xmlns:a16="http://schemas.microsoft.com/office/drawing/2014/main" id="{E0BB9736-14AF-73A4-6DA4-AAB583659B4C}"/>
              </a:ext>
            </a:extLst>
          </p:cNvPr>
          <p:cNvSpPr/>
          <p:nvPr/>
        </p:nvSpPr>
        <p:spPr>
          <a:xfrm rot="16200000">
            <a:off x="6783036" y="3783763"/>
            <a:ext cx="227024" cy="409903"/>
          </a:xfrm>
          <a:prstGeom prst="down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21760371-920A-2CC6-33DD-ABBFE451C941}"/>
              </a:ext>
            </a:extLst>
          </p:cNvPr>
          <p:cNvSpPr/>
          <p:nvPr/>
        </p:nvSpPr>
        <p:spPr>
          <a:xfrm>
            <a:off x="7060653" y="2269787"/>
            <a:ext cx="4146762" cy="1605416"/>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6"/>
          <p:cNvSpPr txBox="1">
            <a:spLocks noGrp="1"/>
          </p:cNvSpPr>
          <p:nvPr>
            <p:ph type="subTitle" idx="4294967295"/>
          </p:nvPr>
        </p:nvSpPr>
        <p:spPr>
          <a:xfrm>
            <a:off x="14333" y="1008861"/>
            <a:ext cx="11762000" cy="2644306"/>
          </a:xfrm>
          <a:prstGeom prst="rect">
            <a:avLst/>
          </a:prstGeom>
        </p:spPr>
        <p:txBody>
          <a:bodyPr spcFirstLastPara="1" vert="horz" wrap="square" lIns="121900" tIns="121900" rIns="121900" bIns="121900" rtlCol="0" anchor="t" anchorCtr="0">
            <a:noAutofit/>
          </a:bodyPr>
          <a:lstStyle/>
          <a:p>
            <a:pPr marL="518387" indent="-408790">
              <a:lnSpc>
                <a:spcPct val="115000"/>
              </a:lnSpc>
              <a:spcBef>
                <a:spcPts val="0"/>
              </a:spcBef>
              <a:buClr>
                <a:schemeClr val="dk1"/>
              </a:buClr>
              <a:buSzPts val="1200"/>
              <a:buFont typeface="Times New Roman"/>
              <a:buChar char="●"/>
            </a:pPr>
            <a:r>
              <a:rPr lang="zh-TW" dirty="0">
                <a:solidFill>
                  <a:schemeClr val="dk1"/>
                </a:solidFill>
                <a:latin typeface="Times New Roman"/>
                <a:ea typeface="Times New Roman"/>
                <a:cs typeface="Times New Roman"/>
                <a:sym typeface="Times New Roman"/>
              </a:rPr>
              <a:t>Actions in our solution are describe by MITRE Engage</a:t>
            </a:r>
            <a:endParaRPr dirty="0">
              <a:solidFill>
                <a:schemeClr val="dk1"/>
              </a:solidFill>
              <a:latin typeface="Times New Roman"/>
              <a:ea typeface="Times New Roman"/>
              <a:cs typeface="Times New Roman"/>
              <a:sym typeface="Times New Roman"/>
            </a:endParaRPr>
          </a:p>
          <a:p>
            <a:pPr marL="609585" indent="0">
              <a:lnSpc>
                <a:spcPct val="115000"/>
              </a:lnSpc>
              <a:spcBef>
                <a:spcPts val="0"/>
              </a:spcBef>
              <a:buNone/>
            </a:pPr>
            <a:endParaRPr dirty="0">
              <a:solidFill>
                <a:schemeClr val="dk1"/>
              </a:solidFill>
              <a:latin typeface="Times New Roman"/>
              <a:ea typeface="Times New Roman"/>
              <a:cs typeface="Times New Roman"/>
              <a:sym typeface="Times New Roman"/>
            </a:endParaRPr>
          </a:p>
          <a:p>
            <a:pPr marL="609585" indent="0">
              <a:lnSpc>
                <a:spcPct val="115000"/>
              </a:lnSpc>
              <a:spcBef>
                <a:spcPts val="0"/>
              </a:spcBef>
              <a:buNone/>
            </a:pPr>
            <a:endParaRPr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zh-TW" dirty="0">
                <a:solidFill>
                  <a:schemeClr val="dk1"/>
                </a:solidFill>
                <a:latin typeface="Times New Roman"/>
                <a:ea typeface="Times New Roman"/>
                <a:cs typeface="Times New Roman"/>
                <a:sym typeface="Times New Roman"/>
              </a:rPr>
              <a:t>Refer to MITRE Engage</a:t>
            </a:r>
            <a:r>
              <a:rPr lang="en-US" altLang="zh-TW" dirty="0">
                <a:solidFill>
                  <a:schemeClr val="dk1"/>
                </a:solidFill>
                <a:latin typeface="Times New Roman"/>
                <a:ea typeface="Times New Roman"/>
                <a:cs typeface="Times New Roman"/>
                <a:sym typeface="Times New Roman"/>
              </a:rPr>
              <a:t>, </a:t>
            </a:r>
            <a:r>
              <a:rPr lang="zh-TW" dirty="0">
                <a:solidFill>
                  <a:schemeClr val="dk1"/>
                </a:solidFill>
                <a:latin typeface="Times New Roman"/>
                <a:ea typeface="Times New Roman"/>
                <a:cs typeface="Times New Roman"/>
                <a:sym typeface="Times New Roman"/>
              </a:rPr>
              <a:t> </a:t>
            </a:r>
            <a:r>
              <a:rPr lang="en-US" altLang="zh-TW" dirty="0">
                <a:solidFill>
                  <a:schemeClr val="dk1"/>
                </a:solidFill>
                <a:latin typeface="Times New Roman"/>
                <a:ea typeface="Times New Roman"/>
                <a:cs typeface="Times New Roman"/>
                <a:sym typeface="Times New Roman"/>
              </a:rPr>
              <a:t>Detected</a:t>
            </a:r>
            <a:r>
              <a:rPr lang="zh-TW" dirty="0">
                <a:solidFill>
                  <a:schemeClr val="dk1"/>
                </a:solidFill>
                <a:latin typeface="Times New Roman"/>
                <a:ea typeface="Times New Roman"/>
                <a:cs typeface="Times New Roman"/>
                <a:sym typeface="Times New Roman"/>
              </a:rPr>
              <a:t> </a:t>
            </a:r>
            <a:r>
              <a:rPr lang="en-US" altLang="zh-TW" dirty="0">
                <a:solidFill>
                  <a:schemeClr val="dk1"/>
                </a:solidFill>
                <a:latin typeface="Times New Roman"/>
                <a:ea typeface="Times New Roman"/>
                <a:cs typeface="Times New Roman"/>
                <a:sym typeface="Times New Roman"/>
              </a:rPr>
              <a:t>Intent and Toolkit corpus</a:t>
            </a:r>
            <a:endParaRPr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zh-TW" dirty="0">
                <a:solidFill>
                  <a:schemeClr val="dk1"/>
                </a:solidFill>
                <a:latin typeface="Times New Roman"/>
                <a:ea typeface="Times New Roman"/>
                <a:cs typeface="Times New Roman"/>
                <a:sym typeface="Times New Roman"/>
              </a:rPr>
              <a:t>We generate semantic actions and call toolkit to apply on system </a:t>
            </a:r>
            <a:endParaRPr dirty="0">
              <a:solidFill>
                <a:schemeClr val="dk1"/>
              </a:solidFill>
              <a:latin typeface="Times New Roman"/>
              <a:ea typeface="Times New Roman"/>
              <a:cs typeface="Times New Roman"/>
              <a:sym typeface="Times New Roman"/>
            </a:endParaRPr>
          </a:p>
        </p:txBody>
      </p:sp>
      <p:sp>
        <p:nvSpPr>
          <p:cNvPr id="293" name="Google Shape;293;p36"/>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17</a:t>
            </a:fld>
            <a:endParaRPr dirty="0"/>
          </a:p>
        </p:txBody>
      </p:sp>
      <p:sp>
        <p:nvSpPr>
          <p:cNvPr id="294" name="Google Shape;294;p36"/>
          <p:cNvSpPr txBox="1">
            <a:spLocks noGrp="1"/>
          </p:cNvSpPr>
          <p:nvPr>
            <p:ph type="ctrTitle" idx="4294967295"/>
          </p:nvPr>
        </p:nvSpPr>
        <p:spPr>
          <a:xfrm>
            <a:off x="515933" y="275967"/>
            <a:ext cx="11260400" cy="7392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altLang="zh-TW" sz="4000" dirty="0">
                <a:latin typeface="Times New Roman"/>
                <a:ea typeface="Times New Roman"/>
                <a:cs typeface="Times New Roman"/>
                <a:sym typeface="Times New Roman"/>
              </a:rPr>
              <a:t>Solution – </a:t>
            </a:r>
            <a:r>
              <a:rPr lang="en-US" altLang="zh-TW" sz="4000" dirty="0">
                <a:latin typeface="Times New Roman"/>
                <a:ea typeface="Times New Roman"/>
                <a:cs typeface="Times New Roman"/>
                <a:sym typeface="Times New Roman"/>
              </a:rPr>
              <a:t>Action Space (1/3)</a:t>
            </a:r>
            <a:endParaRPr sz="4000" dirty="0">
              <a:latin typeface="Times New Roman"/>
              <a:ea typeface="Times New Roman"/>
              <a:cs typeface="Times New Roman"/>
              <a:sym typeface="Times New Roman"/>
            </a:endParaRPr>
          </a:p>
        </p:txBody>
      </p:sp>
      <p:pic>
        <p:nvPicPr>
          <p:cNvPr id="295" name="Google Shape;295;p36"/>
          <p:cNvPicPr preferRelativeResize="0"/>
          <p:nvPr/>
        </p:nvPicPr>
        <p:blipFill>
          <a:blip r:embed="rId3">
            <a:alphaModFix/>
          </a:blip>
          <a:stretch>
            <a:fillRect/>
          </a:stretch>
        </p:blipFill>
        <p:spPr>
          <a:xfrm>
            <a:off x="639568" y="1641575"/>
            <a:ext cx="8695665" cy="992999"/>
          </a:xfrm>
          <a:prstGeom prst="rect">
            <a:avLst/>
          </a:prstGeom>
          <a:noFill/>
          <a:ln>
            <a:noFill/>
          </a:ln>
        </p:spPr>
      </p:pic>
      <p:sp>
        <p:nvSpPr>
          <p:cNvPr id="297" name="Google Shape;297;p36"/>
          <p:cNvSpPr/>
          <p:nvPr/>
        </p:nvSpPr>
        <p:spPr>
          <a:xfrm>
            <a:off x="4215644" y="4661184"/>
            <a:ext cx="1718228" cy="6040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algn="ctr"/>
            <a:r>
              <a:rPr lang="en-US" altLang="zh-TW" dirty="0">
                <a:latin typeface="Times New Roman" panose="02020603050405020304" pitchFamily="18" charset="0"/>
                <a:ea typeface="Calibri" panose="020F0502020204030204" pitchFamily="34" charset="0"/>
                <a:cs typeface="Times New Roman" panose="02020603050405020304" pitchFamily="18" charset="0"/>
              </a:rPr>
              <a:t>Strategist LLM</a:t>
            </a:r>
            <a:endParaRPr dirty="0">
              <a:latin typeface="Times New Roman" panose="02020603050405020304" pitchFamily="18" charset="0"/>
              <a:ea typeface="Calibri" panose="020F0502020204030204" pitchFamily="34" charset="0"/>
              <a:cs typeface="Times New Roman" panose="02020603050405020304" pitchFamily="18" charset="0"/>
            </a:endParaRPr>
          </a:p>
        </p:txBody>
      </p:sp>
      <p:cxnSp>
        <p:nvCxnSpPr>
          <p:cNvPr id="301" name="Google Shape;301;p36"/>
          <p:cNvCxnSpPr>
            <a:cxnSpLocks/>
            <a:stCxn id="297" idx="3"/>
          </p:cNvCxnSpPr>
          <p:nvPr/>
        </p:nvCxnSpPr>
        <p:spPr>
          <a:xfrm>
            <a:off x="5933872" y="4963184"/>
            <a:ext cx="1900137" cy="0"/>
          </a:xfrm>
          <a:prstGeom prst="straightConnector1">
            <a:avLst/>
          </a:prstGeom>
          <a:noFill/>
          <a:ln w="19050" cap="flat" cmpd="sng">
            <a:solidFill>
              <a:schemeClr val="dk2"/>
            </a:solidFill>
            <a:prstDash val="solid"/>
            <a:round/>
            <a:headEnd type="none" w="med" len="med"/>
            <a:tailEnd type="triangle" w="med" len="med"/>
          </a:ln>
        </p:spPr>
      </p:cxnSp>
      <p:sp>
        <p:nvSpPr>
          <p:cNvPr id="303" name="Google Shape;303;p36"/>
          <p:cNvSpPr txBox="1"/>
          <p:nvPr/>
        </p:nvSpPr>
        <p:spPr>
          <a:xfrm>
            <a:off x="5895333" y="4566558"/>
            <a:ext cx="2049588" cy="492402"/>
          </a:xfrm>
          <a:prstGeom prst="rect">
            <a:avLst/>
          </a:prstGeom>
          <a:noFill/>
          <a:ln>
            <a:noFill/>
          </a:ln>
        </p:spPr>
        <p:txBody>
          <a:bodyPr spcFirstLastPara="1" wrap="square" lIns="121900" tIns="121900" rIns="121900" bIns="121900" anchor="t" anchorCtr="0">
            <a:spAutoFit/>
          </a:bodyPr>
          <a:lstStyle/>
          <a:p>
            <a:r>
              <a:rPr lang="en-US"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Tool and parameters</a:t>
            </a:r>
            <a:endParaRPr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矩形 5">
            <a:extLst>
              <a:ext uri="{FF2B5EF4-FFF2-40B4-BE49-F238E27FC236}">
                <a16:creationId xmlns:a16="http://schemas.microsoft.com/office/drawing/2014/main" id="{1147EEF2-1E50-241B-D211-15733BEC43FF}"/>
              </a:ext>
            </a:extLst>
          </p:cNvPr>
          <p:cNvSpPr/>
          <p:nvPr/>
        </p:nvSpPr>
        <p:spPr>
          <a:xfrm>
            <a:off x="1780085" y="5357879"/>
            <a:ext cx="1566000" cy="491261"/>
          </a:xfrm>
          <a:prstGeom prst="rect">
            <a:avLst/>
          </a:prstGeom>
          <a:noFill/>
          <a:ln w="1905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sz="1600" dirty="0">
                <a:latin typeface="Times New Roman" panose="02020603050405020304" pitchFamily="18" charset="0"/>
                <a:cs typeface="Times New Roman" panose="02020603050405020304" pitchFamily="18" charset="0"/>
              </a:rPr>
              <a:t>Toolkit corpus</a:t>
            </a:r>
            <a:endParaRPr lang="zh-TW" altLang="en-US" sz="1600"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1D7248CA-9D3C-F18F-0495-0C37AA998E1B}"/>
              </a:ext>
            </a:extLst>
          </p:cNvPr>
          <p:cNvSpPr/>
          <p:nvPr/>
        </p:nvSpPr>
        <p:spPr>
          <a:xfrm>
            <a:off x="1779932" y="4690790"/>
            <a:ext cx="1566153" cy="491261"/>
          </a:xfrm>
          <a:prstGeom prst="rect">
            <a:avLst/>
          </a:prstGeom>
          <a:noFill/>
          <a:ln w="1905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sz="1600" dirty="0">
                <a:latin typeface="Times New Roman" panose="02020603050405020304" pitchFamily="18" charset="0"/>
                <a:cs typeface="Times New Roman" panose="02020603050405020304" pitchFamily="18" charset="0"/>
              </a:rPr>
              <a:t>Engage Activity</a:t>
            </a:r>
            <a:endParaRPr lang="zh-TW" alt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2399B8C-DDF3-57C7-5E0B-5AE3DFF3EFF5}"/>
                  </a:ext>
                </a:extLst>
              </p:cNvPr>
              <p:cNvSpPr/>
              <p:nvPr/>
            </p:nvSpPr>
            <p:spPr>
              <a:xfrm>
                <a:off x="1779932" y="4076676"/>
                <a:ext cx="1566000" cy="491261"/>
              </a:xfrm>
              <a:prstGeom prst="rect">
                <a:avLst/>
              </a:prstGeom>
              <a:noFill/>
              <a:ln w="1905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sz="1600" dirty="0">
                    <a:latin typeface="Times New Roman" panose="02020603050405020304" pitchFamily="18" charset="0"/>
                    <a:cs typeface="Times New Roman" panose="02020603050405020304" pitchFamily="18" charset="0"/>
                  </a:rPr>
                  <a:t>Intent</a:t>
                </a:r>
                <a14:m>
                  <m:oMath xmlns:m="http://schemas.openxmlformats.org/officeDocument/2006/math">
                    <m:r>
                      <a:rPr lang="en-US" altLang="zh-TW" sz="1600" b="0" i="0" smtClean="0">
                        <a:latin typeface="Cambria Math" panose="02040503050406030204" pitchFamily="18" charset="0"/>
                      </a:rPr>
                      <m:t> </m:t>
                    </m:r>
                    <m:r>
                      <a:rPr lang="zh-TW" altLang="en-US" sz="1600" i="1">
                        <a:latin typeface="Cambria Math" panose="02040503050406030204" pitchFamily="18" charset="0"/>
                      </a:rPr>
                      <m:t>𝑧</m:t>
                    </m:r>
                    <m:sSub>
                      <m:sSubPr>
                        <m:ctrlPr>
                          <a:rPr lang="ar-AE" altLang="zh-TW" sz="1600" i="1">
                            <a:latin typeface="Cambria Math" panose="02040503050406030204" pitchFamily="18" charset="0"/>
                          </a:rPr>
                        </m:ctrlPr>
                      </m:sSubPr>
                      <m:e>
                        <m:r>
                          <a:rPr lang="ar-AE" altLang="zh-TW" sz="1600" i="1">
                            <a:latin typeface="Cambria Math" panose="02040503050406030204" pitchFamily="18" charset="0"/>
                          </a:rPr>
                          <m:t>̂</m:t>
                        </m:r>
                      </m:e>
                      <m:sub>
                        <m:r>
                          <a:rPr lang="zh-TW" altLang="ar-AE" sz="1600" i="1">
                            <a:latin typeface="Cambria Math" panose="02040503050406030204" pitchFamily="18" charset="0"/>
                          </a:rPr>
                          <m:t>𝑖</m:t>
                        </m:r>
                      </m:sub>
                    </m:sSub>
                  </m:oMath>
                </a14:m>
                <a:r>
                  <a:rPr lang="en-US" altLang="zh-TW" sz="1600" dirty="0">
                    <a:latin typeface="Times New Roman" panose="02020603050405020304" pitchFamily="18" charset="0"/>
                    <a:cs typeface="Times New Roman" panose="02020603050405020304" pitchFamily="18" charset="0"/>
                  </a:rPr>
                  <a:t> </a:t>
                </a:r>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E2399B8C-DDF3-57C7-5E0B-5AE3DFF3EFF5}"/>
                  </a:ext>
                </a:extLst>
              </p:cNvPr>
              <p:cNvSpPr>
                <a:spLocks noRot="1" noChangeAspect="1" noMove="1" noResize="1" noEditPoints="1" noAdjustHandles="1" noChangeArrowheads="1" noChangeShapeType="1" noTextEdit="1"/>
              </p:cNvSpPr>
              <p:nvPr/>
            </p:nvSpPr>
            <p:spPr>
              <a:xfrm>
                <a:off x="1779932" y="4076676"/>
                <a:ext cx="1566000" cy="491261"/>
              </a:xfrm>
              <a:prstGeom prst="rect">
                <a:avLst/>
              </a:prstGeom>
              <a:blipFill>
                <a:blip r:embed="rId4"/>
                <a:stretch>
                  <a:fillRect/>
                </a:stretch>
              </a:blipFill>
              <a:ln w="19050">
                <a:solidFill>
                  <a:schemeClr val="tx1"/>
                </a:solidFill>
              </a:ln>
            </p:spPr>
            <p:txBody>
              <a:bodyPr/>
              <a:lstStyle/>
              <a:p>
                <a:r>
                  <a:rPr lang="zh-TW" altLang="en-US">
                    <a:noFill/>
                  </a:rPr>
                  <a:t> </a:t>
                </a:r>
              </a:p>
            </p:txBody>
          </p:sp>
        </mc:Fallback>
      </mc:AlternateContent>
      <p:sp>
        <p:nvSpPr>
          <p:cNvPr id="9" name="書卷: 水平 8">
            <a:extLst>
              <a:ext uri="{FF2B5EF4-FFF2-40B4-BE49-F238E27FC236}">
                <a16:creationId xmlns:a16="http://schemas.microsoft.com/office/drawing/2014/main" id="{CCD6004E-BD70-E9FC-1A79-B25CCC881A3E}"/>
              </a:ext>
            </a:extLst>
          </p:cNvPr>
          <p:cNvSpPr/>
          <p:nvPr/>
        </p:nvSpPr>
        <p:spPr>
          <a:xfrm>
            <a:off x="1173805" y="3712846"/>
            <a:ext cx="2477310" cy="2504777"/>
          </a:xfrm>
          <a:prstGeom prst="horizontalScroll">
            <a:avLst/>
          </a:prstGeom>
          <a:noFill/>
          <a:ln w="1905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sz="1600" dirty="0"/>
          </a:p>
        </p:txBody>
      </p:sp>
      <p:cxnSp>
        <p:nvCxnSpPr>
          <p:cNvPr id="11" name="直線單箭頭接點 10">
            <a:extLst>
              <a:ext uri="{FF2B5EF4-FFF2-40B4-BE49-F238E27FC236}">
                <a16:creationId xmlns:a16="http://schemas.microsoft.com/office/drawing/2014/main" id="{EEFC5353-7002-AEF5-0B48-D589EC7F56C3}"/>
              </a:ext>
            </a:extLst>
          </p:cNvPr>
          <p:cNvCxnSpPr>
            <a:cxnSpLocks/>
            <a:stCxn id="9" idx="3"/>
            <a:endCxn id="297" idx="1"/>
          </p:cNvCxnSpPr>
          <p:nvPr/>
        </p:nvCxnSpPr>
        <p:spPr>
          <a:xfrm flipV="1">
            <a:off x="3651115" y="4963184"/>
            <a:ext cx="564529" cy="205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0" name="圖片 19">
            <a:extLst>
              <a:ext uri="{FF2B5EF4-FFF2-40B4-BE49-F238E27FC236}">
                <a16:creationId xmlns:a16="http://schemas.microsoft.com/office/drawing/2014/main" id="{33C21528-D1DF-F8B8-BDE1-A910AE26A3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9981" y="4308767"/>
            <a:ext cx="1481811" cy="1481811"/>
          </a:xfrm>
          <a:prstGeom prst="rect">
            <a:avLst/>
          </a:prstGeom>
        </p:spPr>
      </p:pic>
      <p:cxnSp>
        <p:nvCxnSpPr>
          <p:cNvPr id="3" name="接點: 肘形 2">
            <a:extLst>
              <a:ext uri="{FF2B5EF4-FFF2-40B4-BE49-F238E27FC236}">
                <a16:creationId xmlns:a16="http://schemas.microsoft.com/office/drawing/2014/main" id="{51C8E7AD-E9A9-C72D-DFFB-55FF84E1B04E}"/>
              </a:ext>
            </a:extLst>
          </p:cNvPr>
          <p:cNvCxnSpPr>
            <a:stCxn id="297" idx="0"/>
            <a:endCxn id="8" idx="3"/>
          </p:cNvCxnSpPr>
          <p:nvPr/>
        </p:nvCxnSpPr>
        <p:spPr>
          <a:xfrm rot="16200000" flipV="1">
            <a:off x="4040907" y="3627333"/>
            <a:ext cx="338877" cy="1728826"/>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5" name="文字方塊 4">
            <a:extLst>
              <a:ext uri="{FF2B5EF4-FFF2-40B4-BE49-F238E27FC236}">
                <a16:creationId xmlns:a16="http://schemas.microsoft.com/office/drawing/2014/main" id="{51341C40-E712-4218-8B5B-53ECE675ACC8}"/>
              </a:ext>
            </a:extLst>
          </p:cNvPr>
          <p:cNvSpPr txBox="1"/>
          <p:nvPr/>
        </p:nvSpPr>
        <p:spPr>
          <a:xfrm>
            <a:off x="3824250" y="3923370"/>
            <a:ext cx="1638205" cy="369332"/>
          </a:xfrm>
          <a:prstGeom prst="rect">
            <a:avLst/>
          </a:prstGeom>
          <a:noFill/>
        </p:spPr>
        <p:txBody>
          <a:bodyPr wrap="none" rtlCol="0">
            <a:spAutoFit/>
          </a:bodyPr>
          <a:lstStyle/>
          <a:p>
            <a:r>
              <a:rPr lang="en-US" altLang="zh-TW" dirty="0">
                <a:latin typeface="Cambria" panose="02040503050406030204" pitchFamily="18" charset="0"/>
                <a:ea typeface="Cambria" panose="02040503050406030204" pitchFamily="18" charset="0"/>
              </a:rPr>
              <a:t>(1):</a:t>
            </a:r>
            <a:r>
              <a:rPr lang="zh-TW" altLang="en-US" dirty="0">
                <a:latin typeface="Cambria" panose="02040503050406030204" pitchFamily="18" charset="0"/>
                <a:ea typeface="Cambria" panose="02040503050406030204" pitchFamily="18" charset="0"/>
              </a:rPr>
              <a:t> </a:t>
            </a:r>
            <a:r>
              <a:rPr lang="en-US" altLang="zh-TW" dirty="0">
                <a:latin typeface="Cambria" panose="02040503050406030204" pitchFamily="18" charset="0"/>
                <a:ea typeface="Cambria" panose="02040503050406030204" pitchFamily="18" charset="0"/>
              </a:rPr>
              <a:t>regression</a:t>
            </a:r>
            <a:endParaRPr lang="zh-TW" altLang="en-US" dirty="0">
              <a:latin typeface="Cambria" panose="02040503050406030204" pitchFamily="18" charset="0"/>
            </a:endParaRPr>
          </a:p>
        </p:txBody>
      </p:sp>
      <p:sp>
        <p:nvSpPr>
          <p:cNvPr id="10" name="文字方塊 9">
            <a:extLst>
              <a:ext uri="{FF2B5EF4-FFF2-40B4-BE49-F238E27FC236}">
                <a16:creationId xmlns:a16="http://schemas.microsoft.com/office/drawing/2014/main" id="{2934C40D-C7A5-6981-C8FB-C5F1A04BB465}"/>
              </a:ext>
            </a:extLst>
          </p:cNvPr>
          <p:cNvSpPr txBox="1"/>
          <p:nvPr/>
        </p:nvSpPr>
        <p:spPr>
          <a:xfrm>
            <a:off x="3696693" y="4610851"/>
            <a:ext cx="489236" cy="369332"/>
          </a:xfrm>
          <a:prstGeom prst="rect">
            <a:avLst/>
          </a:prstGeom>
          <a:noFill/>
        </p:spPr>
        <p:txBody>
          <a:bodyPr wrap="none" rtlCol="0">
            <a:spAutoFit/>
          </a:bodyPr>
          <a:lstStyle/>
          <a:p>
            <a:r>
              <a:rPr lang="en-US" altLang="zh-TW" dirty="0">
                <a:latin typeface="Cambria" panose="02040503050406030204" pitchFamily="18" charset="0"/>
                <a:ea typeface="Cambria" panose="02040503050406030204" pitchFamily="18" charset="0"/>
              </a:rPr>
              <a:t>(2)</a:t>
            </a:r>
            <a:endParaRPr lang="zh-TW" altLang="en-US" dirty="0">
              <a:latin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4E742-2430-53FD-DECF-1440A8AE919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A992C5A-7F30-B008-B764-B9C28E186C81}"/>
              </a:ext>
            </a:extLst>
          </p:cNvPr>
          <p:cNvSpPr>
            <a:spLocks noGrp="1"/>
          </p:cNvSpPr>
          <p:nvPr>
            <p:ph type="title"/>
          </p:nvPr>
        </p:nvSpPr>
        <p:spPr>
          <a:xfrm>
            <a:off x="415600" y="429406"/>
            <a:ext cx="11360800" cy="763600"/>
          </a:xfrm>
        </p:spPr>
        <p:txBody>
          <a:bodyPr>
            <a:normAutofit fontScale="90000"/>
          </a:bodyPr>
          <a:lstStyle/>
          <a:p>
            <a:r>
              <a:rPr lang="zh-TW" altLang="zh-TW" dirty="0">
                <a:latin typeface="Times New Roman"/>
                <a:ea typeface="Times New Roman"/>
                <a:cs typeface="Times New Roman"/>
                <a:sym typeface="Times New Roman"/>
              </a:rPr>
              <a:t>Solution – </a:t>
            </a:r>
            <a:r>
              <a:rPr lang="en-US" altLang="zh-TW" dirty="0">
                <a:latin typeface="Times New Roman"/>
                <a:ea typeface="Times New Roman"/>
                <a:cs typeface="Times New Roman"/>
                <a:sym typeface="Times New Roman"/>
              </a:rPr>
              <a:t>Action Space (2/3)</a:t>
            </a:r>
            <a:endParaRPr lang="zh-TW" altLang="en-US" dirty="0"/>
          </a:p>
        </p:txBody>
      </p:sp>
      <p:sp>
        <p:nvSpPr>
          <p:cNvPr id="4" name="投影片編號版面配置區 3">
            <a:extLst>
              <a:ext uri="{FF2B5EF4-FFF2-40B4-BE49-F238E27FC236}">
                <a16:creationId xmlns:a16="http://schemas.microsoft.com/office/drawing/2014/main" id="{A5F0A91F-A003-7515-ABF3-011029EAC778}"/>
              </a:ext>
            </a:extLst>
          </p:cNvPr>
          <p:cNvSpPr>
            <a:spLocks noGrp="1"/>
          </p:cNvSpPr>
          <p:nvPr>
            <p:ph type="sldNum" idx="12"/>
          </p:nvPr>
        </p:nvSpPr>
        <p:spPr/>
        <p:txBody>
          <a:bodyPr/>
          <a:lstStyle/>
          <a:p>
            <a:fld id="{00000000-1234-1234-1234-123412341234}" type="slidenum">
              <a:rPr lang="en-US" altLang="zh-TW" smtClean="0"/>
              <a:pPr/>
              <a:t>18</a:t>
            </a:fld>
            <a:endParaRPr lang="zh-TW" altLang="en-US" dirty="0"/>
          </a:p>
        </p:txBody>
      </p:sp>
      <p:graphicFrame>
        <p:nvGraphicFramePr>
          <p:cNvPr id="7" name="表格 6">
            <a:extLst>
              <a:ext uri="{FF2B5EF4-FFF2-40B4-BE49-F238E27FC236}">
                <a16:creationId xmlns:a16="http://schemas.microsoft.com/office/drawing/2014/main" id="{8564BB7D-38A9-B5E0-84BA-6FAC88A1CA4F}"/>
              </a:ext>
            </a:extLst>
          </p:cNvPr>
          <p:cNvGraphicFramePr>
            <a:graphicFrameLocks noGrp="1"/>
          </p:cNvGraphicFramePr>
          <p:nvPr>
            <p:extLst>
              <p:ext uri="{D42A27DB-BD31-4B8C-83A1-F6EECF244321}">
                <p14:modId xmlns:p14="http://schemas.microsoft.com/office/powerpoint/2010/main" val="988906606"/>
              </p:ext>
            </p:extLst>
          </p:nvPr>
        </p:nvGraphicFramePr>
        <p:xfrm>
          <a:off x="317770" y="1365192"/>
          <a:ext cx="11710440" cy="4680244"/>
        </p:xfrm>
        <a:graphic>
          <a:graphicData uri="http://schemas.openxmlformats.org/drawingml/2006/table">
            <a:tbl>
              <a:tblPr firstRow="1" bandRow="1">
                <a:tableStyleId>{2D5ABB26-0587-4C30-8999-92F81FD0307C}</a:tableStyleId>
              </a:tblPr>
              <a:tblGrid>
                <a:gridCol w="1301160">
                  <a:extLst>
                    <a:ext uri="{9D8B030D-6E8A-4147-A177-3AD203B41FA5}">
                      <a16:colId xmlns:a16="http://schemas.microsoft.com/office/drawing/2014/main" val="4283426866"/>
                    </a:ext>
                  </a:extLst>
                </a:gridCol>
                <a:gridCol w="1301160">
                  <a:extLst>
                    <a:ext uri="{9D8B030D-6E8A-4147-A177-3AD203B41FA5}">
                      <a16:colId xmlns:a16="http://schemas.microsoft.com/office/drawing/2014/main" val="4063742568"/>
                    </a:ext>
                  </a:extLst>
                </a:gridCol>
                <a:gridCol w="1301160">
                  <a:extLst>
                    <a:ext uri="{9D8B030D-6E8A-4147-A177-3AD203B41FA5}">
                      <a16:colId xmlns:a16="http://schemas.microsoft.com/office/drawing/2014/main" val="2237468813"/>
                    </a:ext>
                  </a:extLst>
                </a:gridCol>
                <a:gridCol w="1301160">
                  <a:extLst>
                    <a:ext uri="{9D8B030D-6E8A-4147-A177-3AD203B41FA5}">
                      <a16:colId xmlns:a16="http://schemas.microsoft.com/office/drawing/2014/main" val="294236265"/>
                    </a:ext>
                  </a:extLst>
                </a:gridCol>
                <a:gridCol w="1301160">
                  <a:extLst>
                    <a:ext uri="{9D8B030D-6E8A-4147-A177-3AD203B41FA5}">
                      <a16:colId xmlns:a16="http://schemas.microsoft.com/office/drawing/2014/main" val="1271014538"/>
                    </a:ext>
                  </a:extLst>
                </a:gridCol>
                <a:gridCol w="1301160">
                  <a:extLst>
                    <a:ext uri="{9D8B030D-6E8A-4147-A177-3AD203B41FA5}">
                      <a16:colId xmlns:a16="http://schemas.microsoft.com/office/drawing/2014/main" val="3223480542"/>
                    </a:ext>
                  </a:extLst>
                </a:gridCol>
                <a:gridCol w="1301160">
                  <a:extLst>
                    <a:ext uri="{9D8B030D-6E8A-4147-A177-3AD203B41FA5}">
                      <a16:colId xmlns:a16="http://schemas.microsoft.com/office/drawing/2014/main" val="847716117"/>
                    </a:ext>
                  </a:extLst>
                </a:gridCol>
                <a:gridCol w="1301160">
                  <a:extLst>
                    <a:ext uri="{9D8B030D-6E8A-4147-A177-3AD203B41FA5}">
                      <a16:colId xmlns:a16="http://schemas.microsoft.com/office/drawing/2014/main" val="3113389973"/>
                    </a:ext>
                  </a:extLst>
                </a:gridCol>
                <a:gridCol w="1301160">
                  <a:extLst>
                    <a:ext uri="{9D8B030D-6E8A-4147-A177-3AD203B41FA5}">
                      <a16:colId xmlns:a16="http://schemas.microsoft.com/office/drawing/2014/main" val="3908679511"/>
                    </a:ext>
                  </a:extLst>
                </a:gridCol>
              </a:tblGrid>
              <a:tr h="714857">
                <a:tc rowSpan="2">
                  <a:txBody>
                    <a:bodyPr/>
                    <a:lstStyle/>
                    <a:p>
                      <a:pPr algn="ctr"/>
                      <a:r>
                        <a:rPr lang="en-US" altLang="zh-TW" sz="1800" b="1" dirty="0">
                          <a:latin typeface="Cambria" panose="02040503050406030204" pitchFamily="18" charset="0"/>
                          <a:ea typeface="Cambria" panose="02040503050406030204" pitchFamily="18" charset="0"/>
                        </a:rPr>
                        <a:t>Action List</a:t>
                      </a:r>
                      <a:endParaRPr lang="zh-TW" altLang="en-US" sz="1800" b="1"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8">
                  <a:txBody>
                    <a:bodyPr/>
                    <a:lstStyle/>
                    <a:p>
                      <a:pPr algn="ctr"/>
                      <a:r>
                        <a:rPr lang="en-US" altLang="zh-TW" sz="1800" b="1" dirty="0">
                          <a:latin typeface="Cambria" panose="02040503050406030204" pitchFamily="18" charset="0"/>
                          <a:ea typeface="Cambria" panose="02040503050406030204" pitchFamily="18" charset="0"/>
                        </a:rPr>
                        <a:t>Inspired by MITRE Engage Activities</a:t>
                      </a:r>
                      <a:endParaRPr lang="zh-TW" altLang="en-US" sz="1800" b="1"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7830938"/>
                  </a:ext>
                </a:extLst>
              </a:tr>
              <a:tr h="816981">
                <a:tc vMerge="1">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Software </a:t>
                      </a:r>
                    </a:p>
                    <a:p>
                      <a:pPr algn="ctr"/>
                      <a:r>
                        <a:rPr lang="en-US" altLang="zh-TW" sz="1400" dirty="0">
                          <a:latin typeface="Cambria" panose="02040503050406030204" pitchFamily="18" charset="0"/>
                          <a:ea typeface="Cambria" panose="02040503050406030204" pitchFamily="18" charset="0"/>
                        </a:rPr>
                        <a:t>manipulation</a:t>
                      </a:r>
                      <a:endParaRPr lang="zh-TW" altLang="en-US" sz="1400"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Lures</a:t>
                      </a:r>
                      <a:endParaRPr lang="zh-TW" altLang="en-US" sz="1400"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Artifact Diversity</a:t>
                      </a:r>
                      <a:endParaRPr lang="zh-TW" altLang="en-US" sz="1400"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Pocket Litter</a:t>
                      </a:r>
                      <a:endParaRPr lang="zh-TW" altLang="en-US" sz="1400"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Application Diversity</a:t>
                      </a:r>
                      <a:endParaRPr lang="zh-TW" altLang="en-US" sz="1400"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Information Manipulation</a:t>
                      </a:r>
                      <a:endParaRPr lang="zh-TW" altLang="en-US" sz="1400"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Attack Vector Migration</a:t>
                      </a:r>
                      <a:endParaRPr lang="zh-TW" altLang="en-US" sz="1400"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Introduce Vulnerabilities</a:t>
                      </a:r>
                      <a:endParaRPr lang="zh-TW" altLang="en-US" sz="1400"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136382"/>
                  </a:ext>
                </a:extLst>
              </a:tr>
              <a:tr h="642428">
                <a:tc>
                  <a:txBody>
                    <a:bodyPr/>
                    <a:lstStyle/>
                    <a:p>
                      <a:pPr algn="ctr"/>
                      <a:r>
                        <a:rPr lang="en-US" altLang="zh-TW" sz="1400" b="1" dirty="0">
                          <a:latin typeface="Cambria" panose="02040503050406030204" pitchFamily="18" charset="0"/>
                          <a:ea typeface="Cambria" panose="02040503050406030204" pitchFamily="18" charset="0"/>
                          <a:cs typeface="Times New Roman" panose="02020603050405020304" pitchFamily="18" charset="0"/>
                        </a:rPr>
                        <a:t>Partial Fail</a:t>
                      </a:r>
                      <a:endParaRPr lang="zh-TW" altLang="en-US" sz="1400" b="1" dirty="0">
                        <a:latin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9220324"/>
                  </a:ext>
                </a:extLst>
              </a:tr>
              <a:tr h="642428">
                <a:tc>
                  <a:txBody>
                    <a:bodyPr/>
                    <a:lstStyle/>
                    <a:p>
                      <a:pPr algn="ctr"/>
                      <a:r>
                        <a:rPr lang="en-US" altLang="zh-TW" sz="1400" b="1" dirty="0">
                          <a:latin typeface="Cambria" panose="02040503050406030204" pitchFamily="18" charset="0"/>
                          <a:ea typeface="Cambria" panose="02040503050406030204" pitchFamily="18" charset="0"/>
                          <a:cs typeface="Times New Roman" panose="02020603050405020304" pitchFamily="18" charset="0"/>
                        </a:rPr>
                        <a:t>Artifact trail</a:t>
                      </a:r>
                      <a:endParaRPr lang="zh-TW" altLang="en-US" sz="1400" b="1" dirty="0">
                        <a:latin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4855088"/>
                  </a:ext>
                </a:extLst>
              </a:tr>
              <a:tr h="642428">
                <a:tc>
                  <a:txBody>
                    <a:bodyPr/>
                    <a:lstStyle/>
                    <a:p>
                      <a:pPr algn="ctr"/>
                      <a:r>
                        <a:rPr lang="en-US" altLang="zh-TW" sz="1400" b="1" dirty="0">
                          <a:latin typeface="Cambria" panose="02040503050406030204" pitchFamily="18" charset="0"/>
                          <a:ea typeface="Cambria" panose="02040503050406030204" pitchFamily="18" charset="0"/>
                          <a:cs typeface="Times New Roman" panose="02020603050405020304" pitchFamily="18" charset="0"/>
                        </a:rPr>
                        <a:t>Inert admin service</a:t>
                      </a:r>
                      <a:endParaRPr lang="zh-TW" altLang="en-US" sz="1400" b="1" dirty="0">
                        <a:latin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66234"/>
                  </a:ext>
                </a:extLst>
              </a:tr>
              <a:tr h="642428">
                <a:tc>
                  <a:txBody>
                    <a:bodyPr/>
                    <a:lstStyle/>
                    <a:p>
                      <a:pPr algn="ctr"/>
                      <a:r>
                        <a:rPr lang="en-US" altLang="zh-TW" sz="1400" b="1" dirty="0">
                          <a:latin typeface="Cambria" panose="02040503050406030204" pitchFamily="18" charset="0"/>
                          <a:ea typeface="Cambria" panose="02040503050406030204" pitchFamily="18" charset="0"/>
                          <a:cs typeface="Times New Roman" panose="02020603050405020304" pitchFamily="18" charset="0"/>
                        </a:rPr>
                        <a:t>Credential Artifact</a:t>
                      </a:r>
                      <a:endParaRPr lang="zh-TW" altLang="en-US" sz="1400" b="1" dirty="0">
                        <a:latin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573557"/>
                  </a:ext>
                </a:extLst>
              </a:tr>
              <a:tr h="578694">
                <a:tc>
                  <a:txBody>
                    <a:bodyPr/>
                    <a:lstStyle/>
                    <a:p>
                      <a:pPr algn="ctr"/>
                      <a:r>
                        <a:rPr lang="en-US" altLang="zh-TW" sz="1400" b="1" dirty="0">
                          <a:latin typeface="Cambria" panose="02040503050406030204" pitchFamily="18" charset="0"/>
                          <a:ea typeface="Cambria" panose="02040503050406030204" pitchFamily="18" charset="0"/>
                          <a:cs typeface="Times New Roman" panose="02020603050405020304" pitchFamily="18" charset="0"/>
                        </a:rPr>
                        <a:t>Access control trap</a:t>
                      </a:r>
                      <a:endParaRPr lang="zh-TW" altLang="en-US" sz="1400" b="1" dirty="0">
                        <a:latin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latin typeface="Times New Roman" panose="02020603050405020304" pitchFamily="18" charset="0"/>
                          <a:cs typeface="Times New Roman" panose="02020603050405020304" pitchFamily="18" charset="0"/>
                        </a:rPr>
                        <a:t>v</a:t>
                      </a:r>
                      <a:endParaRPr lang="zh-TW"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6753"/>
                  </a:ext>
                </a:extLst>
              </a:tr>
            </a:tbl>
          </a:graphicData>
        </a:graphic>
      </p:graphicFrame>
    </p:spTree>
    <p:extLst>
      <p:ext uri="{BB962C8B-B14F-4D97-AF65-F5344CB8AC3E}">
        <p14:creationId xmlns:p14="http://schemas.microsoft.com/office/powerpoint/2010/main" val="277350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7"/>
          <p:cNvSpPr txBox="1">
            <a:spLocks noGrp="1"/>
          </p:cNvSpPr>
          <p:nvPr>
            <p:ph type="subTitle" idx="4294967295"/>
          </p:nvPr>
        </p:nvSpPr>
        <p:spPr>
          <a:xfrm>
            <a:off x="26667" y="1022467"/>
            <a:ext cx="11762000" cy="1312000"/>
          </a:xfrm>
          <a:prstGeom prst="rect">
            <a:avLst/>
          </a:prstGeom>
        </p:spPr>
        <p:txBody>
          <a:bodyPr spcFirstLastPara="1" vert="horz" wrap="square" lIns="121900" tIns="121900" rIns="121900" bIns="121900" rtlCol="0" anchor="t" anchorCtr="0">
            <a:noAutofit/>
          </a:bodyPr>
          <a:lstStyle/>
          <a:p>
            <a:pPr marL="609585" indent="-423323">
              <a:lnSpc>
                <a:spcPct val="100000"/>
              </a:lnSpc>
              <a:spcBef>
                <a:spcPts val="0"/>
              </a:spcBef>
              <a:buClr>
                <a:schemeClr val="dk1"/>
              </a:buClr>
              <a:buSzPts val="1400"/>
              <a:buFont typeface="Times New Roman"/>
              <a:buChar char="●"/>
            </a:pPr>
            <a:r>
              <a:rPr lang="en-US" altLang="zh-TW" dirty="0">
                <a:solidFill>
                  <a:schemeClr val="dk1"/>
                </a:solidFill>
                <a:latin typeface="Times New Roman" panose="02020603050405020304" pitchFamily="18" charset="0"/>
                <a:ea typeface="Times New Roman"/>
                <a:cs typeface="Times New Roman" panose="02020603050405020304" pitchFamily="18" charset="0"/>
                <a:sym typeface="Times New Roman"/>
              </a:rPr>
              <a:t>Assuming the attacker primarily performs local </a:t>
            </a:r>
            <a:r>
              <a:rPr lang="en-US" altLang="zh-TW" b="1" dirty="0">
                <a:solidFill>
                  <a:schemeClr val="dk1"/>
                </a:solidFill>
                <a:latin typeface="Times New Roman" panose="02020603050405020304" pitchFamily="18" charset="0"/>
                <a:ea typeface="Times New Roman"/>
                <a:cs typeface="Times New Roman" panose="02020603050405020304" pitchFamily="18" charset="0"/>
                <a:sym typeface="Times New Roman"/>
              </a:rPr>
              <a:t>Discovery</a:t>
            </a:r>
            <a:r>
              <a:rPr lang="en-US" altLang="zh-TW"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609585" indent="-423323">
              <a:lnSpc>
                <a:spcPct val="100000"/>
              </a:lnSpc>
              <a:spcBef>
                <a:spcPts val="0"/>
              </a:spcBef>
              <a:buClr>
                <a:schemeClr val="dk1"/>
              </a:buClr>
              <a:buSzPts val="1400"/>
              <a:buFont typeface="Times New Roman"/>
              <a:buChar char="●"/>
            </a:pPr>
            <a:r>
              <a:rPr lang="en-US" altLang="zh-TW" dirty="0">
                <a:latin typeface="Times New Roman" panose="02020603050405020304" pitchFamily="18" charset="0"/>
                <a:cs typeface="Times New Roman" panose="02020603050405020304" pitchFamily="18" charset="0"/>
              </a:rPr>
              <a:t>The correspond Engage Activity might be </a:t>
            </a:r>
            <a:r>
              <a:rPr lang="en-US" altLang="zh-TW" b="1" dirty="0">
                <a:latin typeface="Times New Roman" panose="02020603050405020304" pitchFamily="18" charset="0"/>
                <a:cs typeface="Times New Roman" panose="02020603050405020304" pitchFamily="18" charset="0"/>
              </a:rPr>
              <a:t>Software manipulation</a:t>
            </a: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indent="0">
              <a:lnSpc>
                <a:spcPct val="115000"/>
              </a:lnSpc>
              <a:spcBef>
                <a:spcPts val="0"/>
              </a:spcBef>
              <a:buNone/>
            </a:pPr>
            <a:endParaRPr dirty="0">
              <a:solidFill>
                <a:schemeClr val="dk1"/>
              </a:solidFill>
              <a:latin typeface="Times New Roman"/>
              <a:ea typeface="Times New Roman"/>
              <a:cs typeface="Times New Roman"/>
              <a:sym typeface="Times New Roman"/>
            </a:endParaRPr>
          </a:p>
        </p:txBody>
      </p:sp>
      <p:sp>
        <p:nvSpPr>
          <p:cNvPr id="311" name="Google Shape;311;p37"/>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19</a:t>
            </a:fld>
            <a:endParaRPr dirty="0"/>
          </a:p>
        </p:txBody>
      </p:sp>
      <p:sp>
        <p:nvSpPr>
          <p:cNvPr id="312" name="Google Shape;312;p37"/>
          <p:cNvSpPr txBox="1">
            <a:spLocks noGrp="1"/>
          </p:cNvSpPr>
          <p:nvPr>
            <p:ph type="ctrTitle" idx="4294967295"/>
          </p:nvPr>
        </p:nvSpPr>
        <p:spPr>
          <a:xfrm>
            <a:off x="515933" y="275967"/>
            <a:ext cx="11260400" cy="7392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altLang="zh-TW" sz="4000" dirty="0">
                <a:latin typeface="Times New Roman"/>
                <a:ea typeface="Times New Roman"/>
                <a:cs typeface="Times New Roman"/>
                <a:sym typeface="Times New Roman"/>
              </a:rPr>
              <a:t>Solution – </a:t>
            </a:r>
            <a:r>
              <a:rPr lang="en-US" altLang="zh-TW" sz="4000" dirty="0">
                <a:latin typeface="Times New Roman"/>
                <a:ea typeface="Times New Roman"/>
                <a:cs typeface="Times New Roman"/>
                <a:sym typeface="Times New Roman"/>
              </a:rPr>
              <a:t>Action Space (3/3)</a:t>
            </a:r>
            <a:endParaRPr sz="4000" dirty="0">
              <a:latin typeface="Times New Roman"/>
              <a:ea typeface="Times New Roman"/>
              <a:cs typeface="Times New Roman"/>
              <a:sym typeface="Times New Roman"/>
            </a:endParaRPr>
          </a:p>
        </p:txBody>
      </p:sp>
      <p:sp>
        <p:nvSpPr>
          <p:cNvPr id="313" name="Google Shape;313;p37"/>
          <p:cNvSpPr/>
          <p:nvPr/>
        </p:nvSpPr>
        <p:spPr>
          <a:xfrm>
            <a:off x="415200" y="2496312"/>
            <a:ext cx="10017600" cy="1500171"/>
          </a:xfrm>
          <a:prstGeom prst="roundRect">
            <a:avLst>
              <a:gd name="adj" fmla="val 16667"/>
            </a:avLst>
          </a:prstGeom>
          <a:solidFill>
            <a:srgbClr val="F3F3F3"/>
          </a:solidFill>
          <a:ln>
            <a:noFill/>
          </a:ln>
        </p:spPr>
        <p:txBody>
          <a:bodyPr spcFirstLastPara="1" wrap="square" lIns="0" tIns="0" rIns="0" bIns="0" anchor="ctr" anchorCtr="0">
            <a:noAutofit/>
          </a:bodyPr>
          <a:lstStyle/>
          <a:p>
            <a:pPr>
              <a:buClr>
                <a:schemeClr val="dk1"/>
              </a:buClr>
              <a:buSzPts val="1100"/>
            </a:pPr>
            <a:r>
              <a:rPr lang="en-US" altLang="zh-TW" sz="1467" dirty="0">
                <a:solidFill>
                  <a:srgbClr val="38761D"/>
                </a:solidFill>
                <a:latin typeface="Cambria Math"/>
                <a:ea typeface="Cambria Math"/>
                <a:cs typeface="Cambria Math"/>
                <a:sym typeface="Cambria Math"/>
              </a:rPr>
              <a:t>Intent: Observed the attacker performing local file system reconnaissance using automated search utilities, but no evidence they have located sensitive targets or credentials.</a:t>
            </a:r>
          </a:p>
          <a:p>
            <a:pPr>
              <a:buClr>
                <a:schemeClr val="dk1"/>
              </a:buClr>
              <a:buSzPts val="1100"/>
            </a:pPr>
            <a:r>
              <a:rPr lang="en-US" sz="1467" dirty="0">
                <a:solidFill>
                  <a:srgbClr val="38761D"/>
                </a:solidFill>
                <a:latin typeface="Cambria Math"/>
                <a:ea typeface="Cambria Math"/>
                <a:cs typeface="Cambria Math"/>
                <a:sym typeface="Cambria Math"/>
              </a:rPr>
              <a:t>Primitive: PARTIAL_FAIL</a:t>
            </a:r>
          </a:p>
          <a:p>
            <a:pPr>
              <a:buClr>
                <a:schemeClr val="dk1"/>
              </a:buClr>
              <a:buSzPts val="1100"/>
            </a:pPr>
            <a:r>
              <a:rPr lang="en-US" altLang="zh-TW" sz="1467" dirty="0">
                <a:solidFill>
                  <a:srgbClr val="38761D"/>
                </a:solidFill>
                <a:latin typeface="Cambria Math"/>
                <a:ea typeface="Cambria Math"/>
                <a:cs typeface="Cambria Math"/>
                <a:sym typeface="Cambria Math"/>
              </a:rPr>
              <a:t>Strategy: </a:t>
            </a:r>
          </a:p>
          <a:p>
            <a:pPr marL="609585" indent="-397923">
              <a:buClr>
                <a:srgbClr val="38761D"/>
              </a:buClr>
              <a:buSzPts val="1100"/>
              <a:buFont typeface="Cambria Math"/>
              <a:buChar char="-"/>
            </a:pPr>
            <a:r>
              <a:rPr lang="en-US" altLang="zh-TW" sz="1467" dirty="0">
                <a:solidFill>
                  <a:srgbClr val="38761D"/>
                </a:solidFill>
                <a:latin typeface="Cambria Math"/>
                <a:ea typeface="Cambria Math"/>
                <a:cs typeface="Cambria Math"/>
                <a:sym typeface="Cambria Math"/>
              </a:rPr>
              <a:t>Disable the execution of the find utility to disrupt automated file enumeration. This forces the actor to rely on slower manual discovery techniques, thereby extending the observation window.</a:t>
            </a:r>
          </a:p>
        </p:txBody>
      </p:sp>
      <p:sp>
        <p:nvSpPr>
          <p:cNvPr id="314" name="Google Shape;314;p37"/>
          <p:cNvSpPr/>
          <p:nvPr/>
        </p:nvSpPr>
        <p:spPr>
          <a:xfrm>
            <a:off x="430518" y="4575294"/>
            <a:ext cx="4377200" cy="1565530"/>
          </a:xfrm>
          <a:prstGeom prst="roundRect">
            <a:avLst>
              <a:gd name="adj" fmla="val 16667"/>
            </a:avLst>
          </a:prstGeom>
          <a:solidFill>
            <a:srgbClr val="F3F3F3"/>
          </a:solidFill>
          <a:ln>
            <a:noFill/>
          </a:ln>
        </p:spPr>
        <p:txBody>
          <a:bodyPr spcFirstLastPara="1" wrap="square" lIns="0" tIns="0" rIns="0" bIns="0" anchor="t" anchorCtr="0">
            <a:noAutofit/>
          </a:bodyPr>
          <a:lstStyle/>
          <a:p>
            <a:pPr>
              <a:buClr>
                <a:schemeClr val="dk1"/>
              </a:buClr>
              <a:buSzPts val="1100"/>
            </a:pPr>
            <a:r>
              <a:rPr lang="en-US" altLang="zh-TW" sz="1467" dirty="0">
                <a:solidFill>
                  <a:srgbClr val="38761D"/>
                </a:solidFill>
                <a:latin typeface="Cambria Math"/>
                <a:ea typeface="Cambria Math"/>
                <a:cs typeface="Cambria Math"/>
                <a:sym typeface="Cambria Math"/>
              </a:rPr>
              <a:t>Windows:</a:t>
            </a:r>
          </a:p>
          <a:p>
            <a:pPr>
              <a:buClr>
                <a:schemeClr val="dk1"/>
              </a:buClr>
              <a:buSzPts val="1100"/>
            </a:pPr>
            <a:endParaRPr lang="en-US" altLang="zh-TW" sz="1467" dirty="0">
              <a:solidFill>
                <a:srgbClr val="38761D"/>
              </a:solidFill>
              <a:latin typeface="Cambria Math"/>
              <a:ea typeface="Cambria Math"/>
              <a:cs typeface="Cambria Math"/>
              <a:sym typeface="Cambria Math"/>
            </a:endParaRPr>
          </a:p>
          <a:p>
            <a:pPr>
              <a:buClr>
                <a:schemeClr val="dk1"/>
              </a:buClr>
              <a:buSzPts val="1100"/>
            </a:pPr>
            <a:r>
              <a:rPr lang="en-US" altLang="zh-TW" sz="1467" dirty="0">
                <a:solidFill>
                  <a:srgbClr val="38761D"/>
                </a:solidFill>
                <a:latin typeface="Cambria Math"/>
                <a:ea typeface="Cambria Math"/>
                <a:cs typeface="Cambria Math"/>
                <a:sym typeface="Cambria Math"/>
              </a:rPr>
              <a:t># Deny execution of find.exe using </a:t>
            </a:r>
            <a:r>
              <a:rPr lang="en-US" altLang="zh-TW" sz="1467" dirty="0" err="1">
                <a:solidFill>
                  <a:srgbClr val="38761D"/>
                </a:solidFill>
                <a:latin typeface="Cambria Math"/>
                <a:ea typeface="Cambria Math"/>
                <a:cs typeface="Cambria Math"/>
                <a:sym typeface="Cambria Math"/>
              </a:rPr>
              <a:t>icacls</a:t>
            </a:r>
            <a:endParaRPr lang="en-US" sz="1467" dirty="0">
              <a:solidFill>
                <a:srgbClr val="38761D"/>
              </a:solidFill>
              <a:latin typeface="Cambria Math"/>
              <a:ea typeface="Cambria Math"/>
              <a:cs typeface="Cambria Math"/>
              <a:sym typeface="Cambria Math"/>
            </a:endParaRPr>
          </a:p>
          <a:p>
            <a:pPr>
              <a:buClr>
                <a:schemeClr val="dk1"/>
              </a:buClr>
              <a:buSzPts val="1100"/>
            </a:pPr>
            <a:r>
              <a:rPr lang="en-US" sz="1467" dirty="0" err="1">
                <a:solidFill>
                  <a:srgbClr val="38761D"/>
                </a:solidFill>
                <a:latin typeface="Cambria Math"/>
                <a:ea typeface="Cambria Math"/>
                <a:cs typeface="Cambria Math"/>
                <a:sym typeface="Cambria Math"/>
              </a:rPr>
              <a:t>icacls</a:t>
            </a:r>
            <a:r>
              <a:rPr lang="en-US" sz="1467" dirty="0">
                <a:solidFill>
                  <a:srgbClr val="38761D"/>
                </a:solidFill>
                <a:latin typeface="Cambria Math"/>
                <a:ea typeface="Cambria Math"/>
                <a:cs typeface="Cambria Math"/>
                <a:sym typeface="Cambria Math"/>
              </a:rPr>
              <a:t> "C:\Windows\System32\find.exe" /deny Everyone:(X)</a:t>
            </a:r>
            <a:endParaRPr sz="1467" dirty="0">
              <a:solidFill>
                <a:srgbClr val="38761D"/>
              </a:solidFill>
              <a:latin typeface="Cambria Math"/>
              <a:ea typeface="Cambria Math"/>
              <a:cs typeface="Cambria Math"/>
              <a:sym typeface="Cambria Math"/>
            </a:endParaRPr>
          </a:p>
          <a:p>
            <a:pPr>
              <a:buClr>
                <a:schemeClr val="dk1"/>
              </a:buClr>
              <a:buSzPts val="1100"/>
            </a:pPr>
            <a:endParaRPr sz="1467" dirty="0">
              <a:solidFill>
                <a:srgbClr val="38761D"/>
              </a:solidFill>
              <a:latin typeface="Cambria Math"/>
              <a:ea typeface="Cambria Math"/>
              <a:cs typeface="Cambria Math"/>
              <a:sym typeface="Cambria Math"/>
            </a:endParaRPr>
          </a:p>
          <a:p>
            <a:pPr marL="8534187">
              <a:buClr>
                <a:schemeClr val="dk1"/>
              </a:buClr>
              <a:buSzPts val="1100"/>
            </a:pPr>
            <a:r>
              <a:rPr lang="zh-TW" altLang="en-US" sz="1467" dirty="0">
                <a:solidFill>
                  <a:srgbClr val="38761D"/>
                </a:solidFill>
                <a:latin typeface="Cambria Math"/>
                <a:ea typeface="Cambria Math"/>
                <a:cs typeface="Cambria Math"/>
                <a:sym typeface="Cambria Math"/>
              </a:rPr>
              <a:t>          </a:t>
            </a:r>
            <a:endParaRPr sz="1467" dirty="0">
              <a:solidFill>
                <a:srgbClr val="38761D"/>
              </a:solidFill>
              <a:latin typeface="Cambria Math"/>
              <a:ea typeface="Cambria Math"/>
              <a:cs typeface="Cambria Math"/>
              <a:sym typeface="Cambria Math"/>
            </a:endParaRPr>
          </a:p>
        </p:txBody>
      </p:sp>
      <p:sp>
        <p:nvSpPr>
          <p:cNvPr id="315" name="Google Shape;315;p37"/>
          <p:cNvSpPr/>
          <p:nvPr/>
        </p:nvSpPr>
        <p:spPr>
          <a:xfrm>
            <a:off x="4909052" y="4569053"/>
            <a:ext cx="6654400" cy="1565531"/>
          </a:xfrm>
          <a:prstGeom prst="roundRect">
            <a:avLst>
              <a:gd name="adj" fmla="val 16667"/>
            </a:avLst>
          </a:prstGeom>
          <a:solidFill>
            <a:srgbClr val="F3F3F3"/>
          </a:solidFill>
          <a:ln>
            <a:noFill/>
          </a:ln>
        </p:spPr>
        <p:txBody>
          <a:bodyPr spcFirstLastPara="1" wrap="square" lIns="0" tIns="0" rIns="0" bIns="0" anchor="t" anchorCtr="0">
            <a:noAutofit/>
          </a:bodyPr>
          <a:lstStyle/>
          <a:p>
            <a:pPr>
              <a:buClr>
                <a:schemeClr val="dk1"/>
              </a:buClr>
              <a:buSzPts val="1100"/>
            </a:pPr>
            <a:r>
              <a:rPr lang="en-US" altLang="zh-TW" sz="1467" dirty="0">
                <a:solidFill>
                  <a:srgbClr val="38761D"/>
                </a:solidFill>
                <a:latin typeface="Cambria Math"/>
                <a:ea typeface="Cambria Math"/>
                <a:cs typeface="Cambria Math"/>
                <a:sym typeface="Cambria Math"/>
              </a:rPr>
              <a:t>Ubuntu:</a:t>
            </a:r>
            <a:endParaRPr sz="1467" dirty="0">
              <a:solidFill>
                <a:srgbClr val="38761D"/>
              </a:solidFill>
              <a:latin typeface="Cambria Math"/>
              <a:ea typeface="Cambria Math"/>
              <a:cs typeface="Cambria Math"/>
              <a:sym typeface="Cambria Math"/>
            </a:endParaRPr>
          </a:p>
          <a:p>
            <a:pPr>
              <a:buClr>
                <a:schemeClr val="dk1"/>
              </a:buClr>
              <a:buSzPts val="1100"/>
            </a:pPr>
            <a:r>
              <a:rPr lang="en-US" sz="1467" dirty="0">
                <a:solidFill>
                  <a:srgbClr val="38761D"/>
                </a:solidFill>
                <a:latin typeface="Cambria Math"/>
                <a:ea typeface="Cambria Math"/>
                <a:cs typeface="Cambria Math"/>
                <a:sym typeface="Cambria Math"/>
              </a:rPr>
              <a:t># Remove execute permission for everyone </a:t>
            </a:r>
          </a:p>
          <a:p>
            <a:pPr>
              <a:buClr>
                <a:schemeClr val="dk1"/>
              </a:buClr>
              <a:buSzPts val="1100"/>
            </a:pPr>
            <a:r>
              <a:rPr lang="en-US" sz="1467" dirty="0" err="1">
                <a:solidFill>
                  <a:srgbClr val="38761D"/>
                </a:solidFill>
                <a:latin typeface="Cambria Math"/>
                <a:ea typeface="Cambria Math"/>
                <a:cs typeface="Cambria Math"/>
                <a:sym typeface="Cambria Math"/>
              </a:rPr>
              <a:t>chmod</a:t>
            </a:r>
            <a:r>
              <a:rPr lang="en-US" sz="1467" dirty="0">
                <a:solidFill>
                  <a:srgbClr val="38761D"/>
                </a:solidFill>
                <a:latin typeface="Cambria Math"/>
                <a:ea typeface="Cambria Math"/>
                <a:cs typeface="Cambria Math"/>
                <a:sym typeface="Cambria Math"/>
              </a:rPr>
              <a:t> a-x /</a:t>
            </a:r>
            <a:r>
              <a:rPr lang="en-US" sz="1467" dirty="0" err="1">
                <a:solidFill>
                  <a:srgbClr val="38761D"/>
                </a:solidFill>
                <a:latin typeface="Cambria Math"/>
                <a:ea typeface="Cambria Math"/>
                <a:cs typeface="Cambria Math"/>
                <a:sym typeface="Cambria Math"/>
              </a:rPr>
              <a:t>usr</a:t>
            </a:r>
            <a:r>
              <a:rPr lang="en-US" sz="1467" dirty="0">
                <a:solidFill>
                  <a:srgbClr val="38761D"/>
                </a:solidFill>
                <a:latin typeface="Cambria Math"/>
                <a:ea typeface="Cambria Math"/>
                <a:cs typeface="Cambria Math"/>
                <a:sym typeface="Cambria Math"/>
              </a:rPr>
              <a:t>/bin/find</a:t>
            </a:r>
          </a:p>
          <a:p>
            <a:pPr>
              <a:buClr>
                <a:schemeClr val="dk1"/>
              </a:buClr>
              <a:buSzPts val="1100"/>
            </a:pPr>
            <a:endParaRPr lang="en-US" sz="1467" dirty="0">
              <a:solidFill>
                <a:srgbClr val="38761D"/>
              </a:solidFill>
              <a:latin typeface="Cambria Math"/>
              <a:ea typeface="Cambria Math"/>
              <a:cs typeface="Cambria Math"/>
              <a:sym typeface="Cambria Math"/>
            </a:endParaRPr>
          </a:p>
          <a:p>
            <a:pPr>
              <a:buClr>
                <a:schemeClr val="dk1"/>
              </a:buClr>
              <a:buSzPts val="1100"/>
            </a:pPr>
            <a:r>
              <a:rPr lang="en-US" sz="1467" dirty="0">
                <a:solidFill>
                  <a:srgbClr val="38761D"/>
                </a:solidFill>
                <a:latin typeface="Cambria Math"/>
                <a:ea typeface="Cambria Math"/>
                <a:cs typeface="Cambria Math"/>
                <a:sym typeface="Cambria Math"/>
              </a:rPr>
              <a:t># Selectively deny using ACL</a:t>
            </a:r>
          </a:p>
          <a:p>
            <a:pPr>
              <a:buClr>
                <a:schemeClr val="dk1"/>
              </a:buClr>
              <a:buSzPts val="1100"/>
            </a:pPr>
            <a:r>
              <a:rPr lang="en-US" sz="1467" dirty="0" err="1">
                <a:solidFill>
                  <a:srgbClr val="38761D"/>
                </a:solidFill>
                <a:latin typeface="Cambria Math"/>
                <a:ea typeface="Cambria Math"/>
                <a:cs typeface="Cambria Math"/>
                <a:sym typeface="Cambria Math"/>
              </a:rPr>
              <a:t>setfacl</a:t>
            </a:r>
            <a:r>
              <a:rPr lang="en-US" sz="1467" dirty="0">
                <a:solidFill>
                  <a:srgbClr val="38761D"/>
                </a:solidFill>
                <a:latin typeface="Cambria Math"/>
                <a:ea typeface="Cambria Math"/>
                <a:cs typeface="Cambria Math"/>
                <a:sym typeface="Cambria Math"/>
              </a:rPr>
              <a:t> -m u:attacker_user:--- /</a:t>
            </a:r>
            <a:r>
              <a:rPr lang="en-US" sz="1467" dirty="0" err="1">
                <a:solidFill>
                  <a:srgbClr val="38761D"/>
                </a:solidFill>
                <a:latin typeface="Cambria Math"/>
                <a:ea typeface="Cambria Math"/>
                <a:cs typeface="Cambria Math"/>
                <a:sym typeface="Cambria Math"/>
              </a:rPr>
              <a:t>usr</a:t>
            </a:r>
            <a:r>
              <a:rPr lang="en-US" sz="1467" dirty="0">
                <a:solidFill>
                  <a:srgbClr val="38761D"/>
                </a:solidFill>
                <a:latin typeface="Cambria Math"/>
                <a:ea typeface="Cambria Math"/>
                <a:cs typeface="Cambria Math"/>
                <a:sym typeface="Cambria Math"/>
              </a:rPr>
              <a:t>/bin/find</a:t>
            </a:r>
          </a:p>
          <a:p>
            <a:pPr>
              <a:buClr>
                <a:schemeClr val="dk1"/>
              </a:buClr>
              <a:buSzPts val="1100"/>
            </a:pPr>
            <a:endParaRPr lang="en-US" sz="1467" dirty="0">
              <a:solidFill>
                <a:srgbClr val="38761D"/>
              </a:solidFill>
              <a:latin typeface="Cambria Math"/>
              <a:ea typeface="Cambria Math"/>
              <a:cs typeface="Cambria Math"/>
              <a:sym typeface="Cambria Math"/>
            </a:endParaRPr>
          </a:p>
          <a:p>
            <a:pPr>
              <a:buClr>
                <a:schemeClr val="dk1"/>
              </a:buClr>
              <a:buSzPts val="1100"/>
            </a:pPr>
            <a:endParaRPr sz="1467" dirty="0">
              <a:solidFill>
                <a:srgbClr val="38761D"/>
              </a:solidFill>
              <a:latin typeface="Cambria Math"/>
              <a:ea typeface="Cambria Math"/>
              <a:cs typeface="Cambria Math"/>
              <a:sym typeface="Cambria Math"/>
            </a:endParaRPr>
          </a:p>
          <a:p>
            <a:pPr marL="8534187">
              <a:buClr>
                <a:schemeClr val="dk1"/>
              </a:buClr>
              <a:buSzPts val="1100"/>
            </a:pPr>
            <a:r>
              <a:rPr lang="zh-TW" altLang="en-US" sz="1467" dirty="0">
                <a:solidFill>
                  <a:srgbClr val="38761D"/>
                </a:solidFill>
                <a:latin typeface="Cambria Math"/>
                <a:ea typeface="Cambria Math"/>
                <a:cs typeface="Cambria Math"/>
                <a:sym typeface="Cambria Math"/>
              </a:rPr>
              <a:t>          </a:t>
            </a:r>
            <a:endParaRPr sz="1467" dirty="0">
              <a:solidFill>
                <a:srgbClr val="38761D"/>
              </a:solidFill>
              <a:latin typeface="Cambria Math"/>
              <a:ea typeface="Cambria Math"/>
              <a:cs typeface="Cambria Math"/>
              <a:sym typeface="Cambria Math"/>
            </a:endParaRPr>
          </a:p>
        </p:txBody>
      </p:sp>
      <p:sp>
        <p:nvSpPr>
          <p:cNvPr id="2" name="矩形 1">
            <a:extLst>
              <a:ext uri="{FF2B5EF4-FFF2-40B4-BE49-F238E27FC236}">
                <a16:creationId xmlns:a16="http://schemas.microsoft.com/office/drawing/2014/main" id="{523D3F3C-9595-8911-6BA8-AA6AB6FC15AC}"/>
              </a:ext>
            </a:extLst>
          </p:cNvPr>
          <p:cNvSpPr/>
          <p:nvPr/>
        </p:nvSpPr>
        <p:spPr>
          <a:xfrm>
            <a:off x="329184" y="4152899"/>
            <a:ext cx="11365992" cy="2064724"/>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A24BD8CC-8068-A3AB-7403-DA765DF7CF6D}"/>
              </a:ext>
            </a:extLst>
          </p:cNvPr>
          <p:cNvSpPr txBox="1"/>
          <p:nvPr/>
        </p:nvSpPr>
        <p:spPr>
          <a:xfrm>
            <a:off x="415200" y="4158328"/>
            <a:ext cx="1803635" cy="369332"/>
          </a:xfrm>
          <a:prstGeom prst="rect">
            <a:avLst/>
          </a:prstGeom>
          <a:noFill/>
        </p:spPr>
        <p:txBody>
          <a:bodyPr wrap="none" rtlCol="0">
            <a:spAutoFit/>
          </a:bodyPr>
          <a:lstStyle/>
          <a:p>
            <a:r>
              <a:rPr lang="en-US" altLang="zh-TW" dirty="0"/>
              <a:t>MCP Translation</a:t>
            </a:r>
            <a:endParaRPr lang="zh-TW"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5"/>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20</a:t>
            </a:fld>
            <a:endParaRPr dirty="0"/>
          </a:p>
        </p:txBody>
      </p:sp>
      <p:sp>
        <p:nvSpPr>
          <p:cNvPr id="286" name="Google Shape;286;p35"/>
          <p:cNvSpPr txBox="1">
            <a:spLocks noGrp="1"/>
          </p:cNvSpPr>
          <p:nvPr>
            <p:ph type="ctrTitle" idx="4294967295"/>
          </p:nvPr>
        </p:nvSpPr>
        <p:spPr>
          <a:xfrm>
            <a:off x="522761" y="296161"/>
            <a:ext cx="11260400" cy="745492"/>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Solution – Reward design</a:t>
            </a:r>
            <a:r>
              <a:rPr lang="zh-TW" altLang="en-US" sz="4000" dirty="0">
                <a:latin typeface="Times New Roman"/>
                <a:ea typeface="Times New Roman"/>
                <a:cs typeface="Times New Roman"/>
                <a:sym typeface="Times New Roman"/>
              </a:rPr>
              <a:t> </a:t>
            </a:r>
            <a:endParaRPr sz="4000" dirty="0">
              <a:latin typeface="Times New Roman"/>
              <a:ea typeface="Times New Roman"/>
              <a:cs typeface="Times New Roman"/>
              <a:sym typeface="Times New Roman"/>
            </a:endParaRPr>
          </a:p>
        </p:txBody>
      </p:sp>
      <p:sp>
        <p:nvSpPr>
          <p:cNvPr id="287" name="Google Shape;287;p35"/>
          <p:cNvSpPr txBox="1">
            <a:spLocks noGrp="1"/>
          </p:cNvSpPr>
          <p:nvPr>
            <p:ph type="subTitle" idx="4294967295"/>
          </p:nvPr>
        </p:nvSpPr>
        <p:spPr>
          <a:xfrm>
            <a:off x="201889" y="2380038"/>
            <a:ext cx="11645704" cy="1028462"/>
          </a:xfrm>
          <a:prstGeom prst="rect">
            <a:avLst/>
          </a:prstGeom>
        </p:spPr>
        <p:txBody>
          <a:bodyPr spcFirstLastPara="1" vert="horz" wrap="square" lIns="121900" tIns="121900" rIns="121900" bIns="121900" rtlCol="0" anchor="t" anchorCtr="0">
            <a:noAutofit/>
          </a:bodyPr>
          <a:lstStyle/>
          <a:p>
            <a:pPr marL="452497" indent="-342900">
              <a:spcBef>
                <a:spcPts val="0"/>
              </a:spcBef>
              <a:buClr>
                <a:schemeClr val="dk1"/>
              </a:buClr>
              <a:buSzPct val="100000"/>
            </a:pPr>
            <a:r>
              <a:rPr lang="en-US" altLang="zh-TW" sz="2000" dirty="0">
                <a:solidFill>
                  <a:schemeClr val="dk1"/>
                </a:solidFill>
                <a:latin typeface="Times New Roman"/>
                <a:ea typeface="Times New Roman"/>
                <a:cs typeface="Times New Roman"/>
                <a:sym typeface="Times New Roman"/>
              </a:rPr>
              <a:t>Tactics are officially unordered [ATT&amp;CK</a:t>
            </a:r>
            <a:r>
              <a:rPr lang="zh-TW" altLang="en-US" sz="2000" dirty="0">
                <a:solidFill>
                  <a:schemeClr val="dk1"/>
                </a:solidFill>
                <a:latin typeface="Times New Roman"/>
                <a:ea typeface="Times New Roman"/>
                <a:cs typeface="Times New Roman"/>
                <a:sym typeface="Times New Roman"/>
              </a:rPr>
              <a:t> </a:t>
            </a:r>
            <a:r>
              <a:rPr lang="en-US" altLang="zh-TW" sz="2000" dirty="0">
                <a:solidFill>
                  <a:schemeClr val="dk1"/>
                </a:solidFill>
                <a:latin typeface="Times New Roman"/>
                <a:ea typeface="Times New Roman"/>
                <a:cs typeface="Times New Roman"/>
                <a:sym typeface="Times New Roman"/>
              </a:rPr>
              <a:t>FAQ] </a:t>
            </a:r>
          </a:p>
          <a:p>
            <a:pPr marL="452497" indent="-342900">
              <a:spcBef>
                <a:spcPts val="0"/>
              </a:spcBef>
              <a:buClr>
                <a:schemeClr val="dk1"/>
              </a:buClr>
              <a:buSzPct val="100000"/>
            </a:pPr>
            <a:r>
              <a:rPr lang="en-US" altLang="zh-TW" sz="2000" dirty="0">
                <a:solidFill>
                  <a:schemeClr val="dk1"/>
                </a:solidFill>
                <a:latin typeface="Times New Roman"/>
                <a:ea typeface="Times New Roman"/>
                <a:cs typeface="Times New Roman"/>
                <a:sym typeface="Times New Roman"/>
              </a:rPr>
              <a:t>Linear ID induces policy degeneration due to defender rushes to high-id tactics. </a:t>
            </a:r>
          </a:p>
          <a:p>
            <a:pPr marL="452497" indent="-342900">
              <a:spcBef>
                <a:spcPts val="0"/>
              </a:spcBef>
              <a:buClr>
                <a:schemeClr val="dk1"/>
              </a:buClr>
              <a:buSzPct val="100000"/>
            </a:pPr>
            <a:r>
              <a:rPr lang="en-US" altLang="zh-TW" sz="2000" dirty="0">
                <a:latin typeface="Times New Roman" panose="02020603050405020304" pitchFamily="18" charset="0"/>
                <a:cs typeface="Times New Roman" panose="02020603050405020304" pitchFamily="18" charset="0"/>
              </a:rPr>
              <a:t>CTI-perspective grouping: Data Collection / Expansion / Goals Achieved</a:t>
            </a:r>
            <a:endPar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2497" indent="-342900">
              <a:spcBef>
                <a:spcPts val="0"/>
              </a:spcBef>
              <a:buClr>
                <a:schemeClr val="dk1"/>
              </a:buClr>
              <a:buSzPct val="100000"/>
            </a:pPr>
            <a:endParaRPr lang="en-US" altLang="zh-TW" sz="2000" dirty="0">
              <a:solidFill>
                <a:schemeClr val="dk1"/>
              </a:solidFill>
              <a:latin typeface="Times New Roman"/>
              <a:ea typeface="Times New Roman"/>
              <a:cs typeface="Times New Roman"/>
              <a:sym typeface="Times New Roman"/>
            </a:endParaRPr>
          </a:p>
        </p:txBody>
      </p:sp>
      <p:graphicFrame>
        <p:nvGraphicFramePr>
          <p:cNvPr id="4" name="表格 3">
            <a:extLst>
              <a:ext uri="{FF2B5EF4-FFF2-40B4-BE49-F238E27FC236}">
                <a16:creationId xmlns:a16="http://schemas.microsoft.com/office/drawing/2014/main" id="{EE814D7E-85C3-0D26-CC50-B7C056BF5860}"/>
              </a:ext>
            </a:extLst>
          </p:cNvPr>
          <p:cNvGraphicFramePr>
            <a:graphicFrameLocks noGrp="1"/>
          </p:cNvGraphicFramePr>
          <p:nvPr>
            <p:extLst>
              <p:ext uri="{D42A27DB-BD31-4B8C-83A1-F6EECF244321}">
                <p14:modId xmlns:p14="http://schemas.microsoft.com/office/powerpoint/2010/main" val="2819118484"/>
              </p:ext>
            </p:extLst>
          </p:nvPr>
        </p:nvGraphicFramePr>
        <p:xfrm>
          <a:off x="2000349" y="1491602"/>
          <a:ext cx="8593074" cy="857371"/>
        </p:xfrm>
        <a:graphic>
          <a:graphicData uri="http://schemas.openxmlformats.org/drawingml/2006/table">
            <a:tbl>
              <a:tblPr firstRow="1" bandRow="1">
                <a:tableStyleId>{2D5ABB26-0587-4C30-8999-92F81FD0307C}</a:tableStyleId>
              </a:tblPr>
              <a:tblGrid>
                <a:gridCol w="1227582">
                  <a:extLst>
                    <a:ext uri="{9D8B030D-6E8A-4147-A177-3AD203B41FA5}">
                      <a16:colId xmlns:a16="http://schemas.microsoft.com/office/drawing/2014/main" val="941483905"/>
                    </a:ext>
                  </a:extLst>
                </a:gridCol>
                <a:gridCol w="1227582">
                  <a:extLst>
                    <a:ext uri="{9D8B030D-6E8A-4147-A177-3AD203B41FA5}">
                      <a16:colId xmlns:a16="http://schemas.microsoft.com/office/drawing/2014/main" val="19903012"/>
                    </a:ext>
                  </a:extLst>
                </a:gridCol>
                <a:gridCol w="1227582">
                  <a:extLst>
                    <a:ext uri="{9D8B030D-6E8A-4147-A177-3AD203B41FA5}">
                      <a16:colId xmlns:a16="http://schemas.microsoft.com/office/drawing/2014/main" val="1375225440"/>
                    </a:ext>
                  </a:extLst>
                </a:gridCol>
                <a:gridCol w="1227582">
                  <a:extLst>
                    <a:ext uri="{9D8B030D-6E8A-4147-A177-3AD203B41FA5}">
                      <a16:colId xmlns:a16="http://schemas.microsoft.com/office/drawing/2014/main" val="370168814"/>
                    </a:ext>
                  </a:extLst>
                </a:gridCol>
                <a:gridCol w="1227582">
                  <a:extLst>
                    <a:ext uri="{9D8B030D-6E8A-4147-A177-3AD203B41FA5}">
                      <a16:colId xmlns:a16="http://schemas.microsoft.com/office/drawing/2014/main" val="2455561274"/>
                    </a:ext>
                  </a:extLst>
                </a:gridCol>
                <a:gridCol w="1227582">
                  <a:extLst>
                    <a:ext uri="{9D8B030D-6E8A-4147-A177-3AD203B41FA5}">
                      <a16:colId xmlns:a16="http://schemas.microsoft.com/office/drawing/2014/main" val="636926078"/>
                    </a:ext>
                  </a:extLst>
                </a:gridCol>
                <a:gridCol w="1227582">
                  <a:extLst>
                    <a:ext uri="{9D8B030D-6E8A-4147-A177-3AD203B41FA5}">
                      <a16:colId xmlns:a16="http://schemas.microsoft.com/office/drawing/2014/main" val="3813218938"/>
                    </a:ext>
                  </a:extLst>
                </a:gridCol>
              </a:tblGrid>
              <a:tr h="209080">
                <a:tc>
                  <a:txBody>
                    <a:bodyPr/>
                    <a:lstStyle/>
                    <a:p>
                      <a:pPr algn="ctr"/>
                      <a:r>
                        <a:rPr lang="en-US" altLang="zh-TW" sz="1600" dirty="0">
                          <a:latin typeface="Cambria" panose="02040503050406030204" pitchFamily="18" charset="0"/>
                          <a:ea typeface="Cambria" panose="02040503050406030204" pitchFamily="18" charset="0"/>
                        </a:rPr>
                        <a:t>1</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2</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3</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4</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5</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6</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7</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6815891"/>
                  </a:ext>
                </a:extLst>
              </a:tr>
              <a:tr h="613531">
                <a:tc>
                  <a:txBody>
                    <a:bodyPr/>
                    <a:lstStyle/>
                    <a:p>
                      <a:pPr algn="ctr"/>
                      <a:r>
                        <a:rPr lang="en-US" altLang="zh-TW" sz="1600" dirty="0">
                          <a:latin typeface="Cambria" panose="02040503050406030204" pitchFamily="18" charset="0"/>
                          <a:ea typeface="Cambria" panose="02040503050406030204" pitchFamily="18" charset="0"/>
                        </a:rPr>
                        <a:t>Discovery</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Collection</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Credential Access</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Privilege</a:t>
                      </a:r>
                    </a:p>
                    <a:p>
                      <a:pPr algn="ctr"/>
                      <a:r>
                        <a:rPr lang="en-US" altLang="zh-TW" sz="1600" dirty="0">
                          <a:latin typeface="Cambria" panose="02040503050406030204" pitchFamily="18" charset="0"/>
                          <a:ea typeface="Cambria" panose="02040503050406030204" pitchFamily="18" charset="0"/>
                        </a:rPr>
                        <a:t>escalation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Lateral</a:t>
                      </a:r>
                    </a:p>
                    <a:p>
                      <a:pPr algn="ctr"/>
                      <a:r>
                        <a:rPr lang="en-US" altLang="zh-TW" sz="1600" dirty="0">
                          <a:latin typeface="Cambria" panose="02040503050406030204" pitchFamily="18" charset="0"/>
                          <a:ea typeface="Cambria" panose="02040503050406030204" pitchFamily="18" charset="0"/>
                        </a:rPr>
                        <a:t>Movement</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Exfiltration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Impact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9905"/>
                  </a:ext>
                </a:extLst>
              </a:tr>
            </a:tbl>
          </a:graphicData>
        </a:graphic>
      </p:graphicFrame>
      <p:sp>
        <p:nvSpPr>
          <p:cNvPr id="2" name="矩形 1">
            <a:extLst>
              <a:ext uri="{FF2B5EF4-FFF2-40B4-BE49-F238E27FC236}">
                <a16:creationId xmlns:a16="http://schemas.microsoft.com/office/drawing/2014/main" id="{EA41CAFB-EAD7-C040-26B2-361C555EEA09}"/>
              </a:ext>
            </a:extLst>
          </p:cNvPr>
          <p:cNvSpPr/>
          <p:nvPr/>
        </p:nvSpPr>
        <p:spPr>
          <a:xfrm>
            <a:off x="2019805" y="1072717"/>
            <a:ext cx="2417411" cy="309004"/>
          </a:xfrm>
          <a:prstGeom prst="rect">
            <a:avLst/>
          </a:prstGeom>
          <a:no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ysClr val="windowText" lastClr="000000"/>
                </a:solidFill>
                <a:latin typeface="Cambria" panose="02040503050406030204" pitchFamily="18" charset="0"/>
                <a:ea typeface="Cambria" panose="02040503050406030204" pitchFamily="18" charset="0"/>
              </a:rPr>
              <a:t>Data collection</a:t>
            </a:r>
            <a:endParaRPr lang="zh-TW" altLang="en-US" dirty="0">
              <a:solidFill>
                <a:sysClr val="windowText" lastClr="000000"/>
              </a:solidFill>
              <a:latin typeface="Cambria" panose="02040503050406030204" pitchFamily="18" charset="0"/>
            </a:endParaRPr>
          </a:p>
        </p:txBody>
      </p:sp>
      <p:sp>
        <p:nvSpPr>
          <p:cNvPr id="10" name="矩形 9">
            <a:extLst>
              <a:ext uri="{FF2B5EF4-FFF2-40B4-BE49-F238E27FC236}">
                <a16:creationId xmlns:a16="http://schemas.microsoft.com/office/drawing/2014/main" id="{BAF46159-175B-0F72-C969-CC4F0CD48EB3}"/>
              </a:ext>
            </a:extLst>
          </p:cNvPr>
          <p:cNvSpPr/>
          <p:nvPr/>
        </p:nvSpPr>
        <p:spPr>
          <a:xfrm>
            <a:off x="4495800" y="1075021"/>
            <a:ext cx="3626925" cy="309004"/>
          </a:xfrm>
          <a:prstGeom prst="rect">
            <a:avLst/>
          </a:prstGeom>
          <a:no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ysClr val="windowText" lastClr="000000"/>
                </a:solidFill>
                <a:latin typeface="Cambria" panose="02040503050406030204" pitchFamily="18" charset="0"/>
                <a:ea typeface="Cambria" panose="02040503050406030204" pitchFamily="18" charset="0"/>
              </a:rPr>
              <a:t>Expansion</a:t>
            </a:r>
            <a:endParaRPr lang="zh-TW" altLang="en-US" dirty="0">
              <a:solidFill>
                <a:sysClr val="windowText" lastClr="000000"/>
              </a:solidFill>
              <a:latin typeface="Cambria" panose="02040503050406030204" pitchFamily="18" charset="0"/>
            </a:endParaRPr>
          </a:p>
        </p:txBody>
      </p:sp>
      <p:sp>
        <p:nvSpPr>
          <p:cNvPr id="11" name="矩形 10">
            <a:extLst>
              <a:ext uri="{FF2B5EF4-FFF2-40B4-BE49-F238E27FC236}">
                <a16:creationId xmlns:a16="http://schemas.microsoft.com/office/drawing/2014/main" id="{003B868C-2D4E-14BF-D72D-062478E2D9AC}"/>
              </a:ext>
            </a:extLst>
          </p:cNvPr>
          <p:cNvSpPr/>
          <p:nvPr/>
        </p:nvSpPr>
        <p:spPr>
          <a:xfrm>
            <a:off x="8160901" y="1072717"/>
            <a:ext cx="2437656" cy="311308"/>
          </a:xfrm>
          <a:prstGeom prst="rect">
            <a:avLst/>
          </a:prstGeom>
          <a:no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ysClr val="windowText" lastClr="000000"/>
                </a:solidFill>
                <a:latin typeface="Cambria" panose="02040503050406030204" pitchFamily="18" charset="0"/>
                <a:ea typeface="Cambria" panose="02040503050406030204" pitchFamily="18" charset="0"/>
              </a:rPr>
              <a:t>Goals achieved</a:t>
            </a:r>
            <a:endParaRPr lang="zh-TW" altLang="en-US" dirty="0">
              <a:solidFill>
                <a:sysClr val="windowText" lastClr="00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FB70C6FE-834E-40C6-7D80-C2BA56B040B7}"/>
                  </a:ext>
                </a:extLst>
              </p:cNvPr>
              <p:cNvSpPr txBox="1"/>
              <p:nvPr/>
            </p:nvSpPr>
            <p:spPr>
              <a:xfrm>
                <a:off x="1815357" y="3458427"/>
                <a:ext cx="7934673" cy="3535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𝑅</m:t>
                          </m:r>
                        </m:e>
                        <m:sub>
                          <m:r>
                            <a:rPr lang="en-US" altLang="zh-TW" sz="2000">
                              <a:latin typeface="Cambria Math" panose="02040503050406030204" pitchFamily="18" charset="0"/>
                            </a:rPr>
                            <m:t>𝑒𝑛𝑣</m:t>
                          </m:r>
                        </m:sub>
                      </m:sSub>
                      <m:r>
                        <a:rPr lang="en-US" altLang="zh-TW" sz="200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a:latin typeface="Cambria Math" panose="02040503050406030204" pitchFamily="18" charset="0"/>
                            </a:rPr>
                            <m:t>𝑤</m:t>
                          </m:r>
                        </m:e>
                        <m:sub>
                          <m:r>
                            <a:rPr lang="en-US" altLang="zh-TW" sz="2000">
                              <a:latin typeface="Cambria Math" panose="02040503050406030204" pitchFamily="18" charset="0"/>
                            </a:rPr>
                            <m:t>1</m:t>
                          </m:r>
                        </m:sub>
                      </m:sSub>
                      <m:r>
                        <a:rPr lang="en-US" altLang="zh-TW" sz="2000" i="1">
                          <a:latin typeface="Cambria Math" panose="02040503050406030204" pitchFamily="18" charset="0"/>
                        </a:rPr>
                        <m:t>⋅</m:t>
                      </m:r>
                      <m:r>
                        <a:rPr lang="en-US" altLang="zh-TW" sz="2000" i="1">
                          <a:latin typeface="Cambria Math" panose="02040503050406030204" pitchFamily="18" charset="0"/>
                        </a:rPr>
                        <m:t>𝑁𝑜𝑟𝑚</m:t>
                      </m:r>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𝑆</m:t>
                              </m:r>
                            </m:e>
                            <m:sub>
                              <m:r>
                                <a:rPr lang="en-US" altLang="zh-TW" sz="2000" i="1">
                                  <a:latin typeface="Cambria Math" panose="02040503050406030204" pitchFamily="18" charset="0"/>
                                </a:rPr>
                                <m:t>𝑑𝑒𝑝𝑡</m:t>
                              </m:r>
                              <m:r>
                                <a:rPr lang="en-US" altLang="zh-TW" sz="2000" i="1">
                                  <a:latin typeface="Cambria Math" panose="02040503050406030204" pitchFamily="18" charset="0"/>
                                </a:rPr>
                                <m:t>h</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𝑀</m:t>
                              </m:r>
                            </m:e>
                            <m:sub>
                              <m:r>
                                <a:rPr lang="en-US" altLang="zh-TW" sz="2000" i="1">
                                  <a:latin typeface="Cambria Math" panose="02040503050406030204" pitchFamily="18" charset="0"/>
                                </a:rPr>
                                <m:t>𝑑𝑒𝑝𝑡</m:t>
                              </m:r>
                              <m:r>
                                <a:rPr lang="en-US" altLang="zh-TW" sz="2000" i="1">
                                  <a:latin typeface="Cambria Math" panose="02040503050406030204" pitchFamily="18" charset="0"/>
                                </a:rPr>
                                <m:t>h</m:t>
                              </m:r>
                            </m:sub>
                          </m:sSub>
                        </m:e>
                      </m:d>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𝑤</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r>
                        <a:rPr lang="en-US" altLang="zh-TW" sz="2000" i="1">
                          <a:latin typeface="Cambria Math" panose="02040503050406030204" pitchFamily="18" charset="0"/>
                        </a:rPr>
                        <m:t>𝑁𝑜𝑟𝑚</m:t>
                      </m:r>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𝑆</m:t>
                              </m:r>
                            </m:e>
                            <m:sub>
                              <m:r>
                                <a:rPr lang="en-US" altLang="zh-TW" sz="2000" i="1">
                                  <a:latin typeface="Cambria Math" panose="02040503050406030204" pitchFamily="18" charset="0"/>
                                </a:rPr>
                                <m:t>𝑑𝑖𝑣</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𝑀</m:t>
                              </m:r>
                            </m:e>
                            <m:sub>
                              <m:r>
                                <a:rPr lang="en-US" altLang="zh-TW" sz="2000" i="1">
                                  <a:latin typeface="Cambria Math" panose="02040503050406030204" pitchFamily="18" charset="0"/>
                                </a:rPr>
                                <m:t>𝑑𝑖𝑣</m:t>
                              </m:r>
                            </m:sub>
                          </m:sSub>
                        </m:e>
                      </m:d>
                      <m:r>
                        <a:rPr lang="en-US" altLang="zh-TW" sz="2000" i="1">
                          <a:latin typeface="Cambria Math" panose="02040503050406030204" pitchFamily="18" charset="0"/>
                        </a:rPr>
                        <m:t>;</m:t>
                      </m:r>
                      <m:r>
                        <a:rPr lang="en-US" altLang="zh-TW" sz="2000" i="1">
                          <a:latin typeface="Cambria Math" panose="02040503050406030204" pitchFamily="18" charset="0"/>
                        </a:rPr>
                        <m:t>𝑅𝑎𝑛𝑔𝑒</m:t>
                      </m:r>
                      <m:d>
                        <m:dPr>
                          <m:begChr m:val="["/>
                          <m:endChr m:val="]"/>
                          <m:ctrlPr>
                            <a:rPr lang="en-US" altLang="zh-TW" sz="2000" i="1">
                              <a:latin typeface="Cambria Math" panose="02040503050406030204" pitchFamily="18" charset="0"/>
                            </a:rPr>
                          </m:ctrlPr>
                        </m:dPr>
                        <m:e>
                          <m:r>
                            <a:rPr lang="en-US" altLang="zh-TW" sz="2000" i="1">
                              <a:latin typeface="Cambria Math" panose="02040503050406030204" pitchFamily="18" charset="0"/>
                            </a:rPr>
                            <m:t>0</m:t>
                          </m:r>
                          <m:r>
                            <a:rPr lang="en-US" altLang="zh-TW" sz="2000" i="1">
                              <a:latin typeface="Cambria Math" panose="02040503050406030204" pitchFamily="18" charset="0"/>
                            </a:rPr>
                            <m:t>:</m:t>
                          </m:r>
                          <m:r>
                            <a:rPr lang="en-US" altLang="zh-TW" sz="2000" i="1">
                              <a:latin typeface="Cambria Math" panose="02040503050406030204" pitchFamily="18" charset="0"/>
                            </a:rPr>
                            <m:t>1</m:t>
                          </m:r>
                        </m:e>
                      </m:d>
                    </m:oMath>
                  </m:oMathPara>
                </a14:m>
                <a:endParaRPr lang="zh-TW" altLang="en-US" sz="2000" dirty="0"/>
              </a:p>
            </p:txBody>
          </p:sp>
        </mc:Choice>
        <mc:Fallback xmlns="">
          <p:sp>
            <p:nvSpPr>
              <p:cNvPr id="3" name="文字方塊 2">
                <a:extLst>
                  <a:ext uri="{FF2B5EF4-FFF2-40B4-BE49-F238E27FC236}">
                    <a16:creationId xmlns:a16="http://schemas.microsoft.com/office/drawing/2014/main" id="{FB70C6FE-834E-40C6-7D80-C2BA56B040B7}"/>
                  </a:ext>
                </a:extLst>
              </p:cNvPr>
              <p:cNvSpPr txBox="1">
                <a:spLocks noRot="1" noChangeAspect="1" noMove="1" noResize="1" noEditPoints="1" noAdjustHandles="1" noChangeArrowheads="1" noChangeShapeType="1" noTextEdit="1"/>
              </p:cNvSpPr>
              <p:nvPr/>
            </p:nvSpPr>
            <p:spPr>
              <a:xfrm>
                <a:off x="1815357" y="3458427"/>
                <a:ext cx="7934673" cy="353558"/>
              </a:xfrm>
              <a:prstGeom prst="rect">
                <a:avLst/>
              </a:prstGeom>
              <a:blipFill>
                <a:blip r:embed="rId3"/>
                <a:stretch>
                  <a:fillRect l="-307" b="-241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52E3C761-FD8B-8B45-E2A0-08546A459C5C}"/>
                  </a:ext>
                </a:extLst>
              </p:cNvPr>
              <p:cNvSpPr txBox="1"/>
              <p:nvPr/>
            </p:nvSpPr>
            <p:spPr>
              <a:xfrm>
                <a:off x="1815357" y="4033423"/>
                <a:ext cx="2291460" cy="8654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i="1" smtClean="0">
                              <a:latin typeface="Cambria Math" panose="02040503050406030204" pitchFamily="18" charset="0"/>
                            </a:rPr>
                            <m:t>𝑆</m:t>
                          </m:r>
                        </m:e>
                        <m:sub>
                          <m:r>
                            <a:rPr lang="en-US" altLang="zh-TW" sz="2000" b="0" i="1" smtClean="0">
                              <a:latin typeface="Cambria Math" panose="02040503050406030204" pitchFamily="18" charset="0"/>
                            </a:rPr>
                            <m:t>𝑑𝑒𝑝𝑡</m:t>
                          </m:r>
                          <m:r>
                            <a:rPr lang="en-US" altLang="zh-TW" sz="2000" b="0" i="1" smtClean="0">
                              <a:latin typeface="Cambria Math" panose="02040503050406030204" pitchFamily="18" charset="0"/>
                            </a:rPr>
                            <m:t>h</m:t>
                          </m:r>
                        </m:sub>
                      </m:sSub>
                      <m:r>
                        <a:rPr lang="en-US" altLang="zh-TW" sz="2000" i="1">
                          <a:latin typeface="Cambria Math" panose="02040503050406030204" pitchFamily="18" charset="0"/>
                        </a:rPr>
                        <m:t>=</m:t>
                      </m:r>
                      <m:nary>
                        <m:naryPr>
                          <m:chr m:val="∑"/>
                          <m:ctrlPr>
                            <a:rPr lang="en-US" altLang="zh-TW" sz="2000" b="0" i="1" smtClean="0">
                              <a:latin typeface="Cambria Math" panose="02040503050406030204" pitchFamily="18" charset="0"/>
                            </a:rPr>
                          </m:ctrlPr>
                        </m:naryPr>
                        <m:sub>
                          <m:r>
                            <a:rPr lang="en-US" altLang="zh-TW" sz="2000" i="1">
                              <a:latin typeface="Cambria Math" panose="02040503050406030204" pitchFamily="18" charset="0"/>
                            </a:rPr>
                            <m:t>𝑖</m:t>
                          </m:r>
                          <m:r>
                            <a:rPr lang="en-US" altLang="zh-TW" sz="2000" i="1">
                              <a:latin typeface="Cambria Math" panose="02040503050406030204" pitchFamily="18" charset="0"/>
                            </a:rPr>
                            <m:t>=</m:t>
                          </m:r>
                          <m:r>
                            <a:rPr lang="en-US" altLang="zh-TW" sz="2000" i="1">
                              <a:latin typeface="Cambria Math" panose="02040503050406030204" pitchFamily="18" charset="0"/>
                            </a:rPr>
                            <m:t>1</m:t>
                          </m:r>
                        </m:sub>
                        <m:sup>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𝑁</m:t>
                              </m:r>
                            </m:e>
                            <m:sub>
                              <m:r>
                                <a:rPr lang="en-US" altLang="zh-TW" sz="2000" i="1">
                                  <a:latin typeface="Cambria Math" panose="02040503050406030204" pitchFamily="18" charset="0"/>
                                </a:rPr>
                                <m:t>𝑐</m:t>
                              </m:r>
                            </m:sub>
                          </m:sSub>
                        </m:sup>
                        <m:e>
                          <m:r>
                            <a:rPr lang="en-US" altLang="zh-TW" sz="2000" i="1">
                              <a:latin typeface="Cambria Math" panose="02040503050406030204" pitchFamily="18" charset="0"/>
                            </a:rPr>
                            <m:t>𝒲</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𝐼</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𝐷</m:t>
                                  </m:r>
                                </m:e>
                                <m:sub>
                                  <m:r>
                                    <a:rPr lang="en-US" altLang="zh-TW" sz="2000" b="0" i="1" smtClean="0">
                                      <a:latin typeface="Cambria Math" panose="02040503050406030204" pitchFamily="18" charset="0"/>
                                    </a:rPr>
                                    <m:t>𝑖</m:t>
                                  </m:r>
                                </m:sub>
                              </m:sSub>
                            </m:e>
                          </m:d>
                        </m:e>
                      </m:nary>
                    </m:oMath>
                  </m:oMathPara>
                </a14:m>
                <a:endParaRPr lang="zh-TW" altLang="en-US" sz="2000" dirty="0"/>
              </a:p>
            </p:txBody>
          </p:sp>
        </mc:Choice>
        <mc:Fallback xmlns="">
          <p:sp>
            <p:nvSpPr>
              <p:cNvPr id="7" name="文字方塊 6">
                <a:extLst>
                  <a:ext uri="{FF2B5EF4-FFF2-40B4-BE49-F238E27FC236}">
                    <a16:creationId xmlns:a16="http://schemas.microsoft.com/office/drawing/2014/main" id="{52E3C761-FD8B-8B45-E2A0-08546A459C5C}"/>
                  </a:ext>
                </a:extLst>
              </p:cNvPr>
              <p:cNvSpPr txBox="1">
                <a:spLocks noRot="1" noChangeAspect="1" noMove="1" noResize="1" noEditPoints="1" noAdjustHandles="1" noChangeArrowheads="1" noChangeShapeType="1" noTextEdit="1"/>
              </p:cNvSpPr>
              <p:nvPr/>
            </p:nvSpPr>
            <p:spPr>
              <a:xfrm>
                <a:off x="1815357" y="4033423"/>
                <a:ext cx="2291460" cy="865493"/>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90D87D90-1D8E-976C-9CD3-1C60E503133F}"/>
                  </a:ext>
                </a:extLst>
              </p:cNvPr>
              <p:cNvSpPr txBox="1"/>
              <p:nvPr/>
            </p:nvSpPr>
            <p:spPr>
              <a:xfrm>
                <a:off x="1815357" y="5231648"/>
                <a:ext cx="320703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𝑆</m:t>
                          </m:r>
                        </m:e>
                        <m:sub>
                          <m:r>
                            <a:rPr lang="en-US" altLang="zh-TW" sz="2000" i="1">
                              <a:latin typeface="Cambria Math" panose="02040503050406030204" pitchFamily="18" charset="0"/>
                            </a:rPr>
                            <m:t>𝑑𝑖𝑣</m:t>
                          </m:r>
                        </m:sub>
                      </m:sSub>
                      <m:r>
                        <a:rPr lang="en-US" altLang="zh-TW" sz="2000" i="1">
                          <a:latin typeface="Cambria Math" panose="02040503050406030204" pitchFamily="18" charset="0"/>
                        </a:rPr>
                        <m:t>=</m:t>
                      </m:r>
                      <m:d>
                        <m:dPr>
                          <m:begChr m:val="|"/>
                          <m:endChr m:val="|"/>
                          <m:sepChr m:val="∣"/>
                          <m:ctrlPr>
                            <a:rPr lang="en-US" altLang="zh-TW" sz="2000" i="1">
                              <a:latin typeface="Cambria Math" panose="02040503050406030204" pitchFamily="18" charset="0"/>
                            </a:rPr>
                          </m:ctrlPr>
                        </m:dPr>
                        <m:e>
                          <m:r>
                            <m:rPr>
                              <m:lit/>
                            </m:rPr>
                            <a:rPr lang="en-US" altLang="zh-TW" sz="2000" i="1">
                              <a:latin typeface="Cambria Math" panose="02040503050406030204" pitchFamily="18" charset="0"/>
                            </a:rPr>
                            <m:t>{</m:t>
                          </m:r>
                          <m:r>
                            <m:rPr>
                              <m:sty m:val="p"/>
                            </m:rPr>
                            <a:rPr lang="en-US" altLang="zh-TW" sz="2000">
                              <a:latin typeface="Cambria Math" panose="02040503050406030204" pitchFamily="18" charset="0"/>
                            </a:rPr>
                            <m:t>Φ</m:t>
                          </m:r>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𝐶</m:t>
                                  </m:r>
                                </m:e>
                                <m:sub>
                                  <m:r>
                                    <a:rPr lang="en-US" altLang="zh-TW" sz="2000" i="1">
                                      <a:latin typeface="Cambria Math" panose="02040503050406030204" pitchFamily="18" charset="0"/>
                                    </a:rPr>
                                    <m:t>𝑖</m:t>
                                  </m:r>
                                </m:sub>
                              </m:sSub>
                            </m:e>
                          </m:d>
                        </m:e>
                        <m:e>
                          <m:r>
                            <a:rPr lang="en-US" altLang="zh-TW" sz="2000" i="1">
                              <a:latin typeface="Cambria Math" panose="02040503050406030204" pitchFamily="18" charset="0"/>
                            </a:rPr>
                            <m:t>𝑖</m:t>
                          </m:r>
                          <m:r>
                            <a:rPr lang="en-US" altLang="zh-TW" sz="2000" i="1">
                              <a:latin typeface="Cambria Math" panose="02040503050406030204" pitchFamily="18" charset="0"/>
                            </a:rPr>
                            <m:t>∈</m:t>
                          </m:r>
                          <m:d>
                            <m:dPr>
                              <m:begChr m:val="["/>
                              <m:endChr m:val="]"/>
                              <m:ctrlPr>
                                <a:rPr lang="en-US" altLang="zh-TW" sz="2000" i="1">
                                  <a:latin typeface="Cambria Math" panose="02040503050406030204" pitchFamily="18" charset="0"/>
                                </a:rPr>
                              </m:ctrlPr>
                            </m:dPr>
                            <m:e>
                              <m:r>
                                <a:rPr lang="en-US" altLang="zh-TW" sz="2000" i="1">
                                  <a:latin typeface="Cambria Math" panose="02040503050406030204" pitchFamily="18" charset="0"/>
                                </a:rPr>
                                <m:t>1</m:t>
                              </m:r>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𝑁</m:t>
                                  </m:r>
                                </m:e>
                                <m:sub>
                                  <m:r>
                                    <a:rPr lang="en-US" altLang="zh-TW" sz="2000" i="1">
                                      <a:latin typeface="Cambria Math" panose="02040503050406030204" pitchFamily="18" charset="0"/>
                                    </a:rPr>
                                    <m:t>𝑐</m:t>
                                  </m:r>
                                </m:sub>
                              </m:sSub>
                            </m:e>
                          </m:d>
                          <m:r>
                            <m:rPr>
                              <m:lit/>
                            </m:rPr>
                            <a:rPr lang="en-US" altLang="zh-TW" sz="2000" i="1">
                              <a:latin typeface="Cambria Math" panose="02040503050406030204" pitchFamily="18" charset="0"/>
                            </a:rPr>
                            <m:t>}</m:t>
                          </m:r>
                        </m:e>
                      </m:d>
                    </m:oMath>
                  </m:oMathPara>
                </a14:m>
                <a:endParaRPr lang="zh-TW" altLang="en-US" sz="2000" dirty="0"/>
              </a:p>
            </p:txBody>
          </p:sp>
        </mc:Choice>
        <mc:Fallback xmlns="">
          <p:sp>
            <p:nvSpPr>
              <p:cNvPr id="12" name="文字方塊 11">
                <a:extLst>
                  <a:ext uri="{FF2B5EF4-FFF2-40B4-BE49-F238E27FC236}">
                    <a16:creationId xmlns:a16="http://schemas.microsoft.com/office/drawing/2014/main" id="{90D87D90-1D8E-976C-9CD3-1C60E503133F}"/>
                  </a:ext>
                </a:extLst>
              </p:cNvPr>
              <p:cNvSpPr txBox="1">
                <a:spLocks noRot="1" noChangeAspect="1" noMove="1" noResize="1" noEditPoints="1" noAdjustHandles="1" noChangeArrowheads="1" noChangeShapeType="1" noTextEdit="1"/>
              </p:cNvSpPr>
              <p:nvPr/>
            </p:nvSpPr>
            <p:spPr>
              <a:xfrm>
                <a:off x="1815357" y="5231648"/>
                <a:ext cx="3207032" cy="307777"/>
              </a:xfrm>
              <a:prstGeom prst="rect">
                <a:avLst/>
              </a:prstGeom>
              <a:blipFill>
                <a:blip r:embed="rId5"/>
                <a:stretch>
                  <a:fillRect l="-1521" t="-1961" b="-3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65285D12-718A-9B76-2F9B-C61BA16B260B}"/>
                  </a:ext>
                </a:extLst>
              </p:cNvPr>
              <p:cNvSpPr txBox="1"/>
              <p:nvPr/>
            </p:nvSpPr>
            <p:spPr>
              <a:xfrm>
                <a:off x="5496065" y="4225159"/>
                <a:ext cx="2626660" cy="47064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𝑁𝑜𝑟𝑚</m:t>
                      </m:r>
                      <m:d>
                        <m:dPr>
                          <m:ctrlPr>
                            <a:rPr lang="en-US" altLang="zh-TW" b="0" i="1" smtClean="0">
                              <a:latin typeface="Cambria Math" panose="02040503050406030204" pitchFamily="18" charset="0"/>
                            </a:rPr>
                          </m:ctrlPr>
                        </m:dPr>
                        <m:e>
                          <m:r>
                            <a:rPr lang="en-US" altLang="zh-TW" b="0" i="0" smtClean="0">
                              <a:latin typeface="Cambria Math" panose="02040503050406030204" pitchFamily="18" charset="0"/>
                            </a:rPr>
                            <m:t>𝑥</m:t>
                          </m:r>
                          <m:r>
                            <a:rPr lang="en-US" altLang="zh-TW" b="0" i="0" smtClean="0">
                              <a:latin typeface="Cambria Math" panose="02040503050406030204" pitchFamily="18" charset="0"/>
                            </a:rPr>
                            <m:t>,</m:t>
                          </m:r>
                          <m:r>
                            <a:rPr lang="en-US" altLang="zh-TW" b="0" i="0" smtClean="0">
                              <a:latin typeface="Cambria Math" panose="02040503050406030204" pitchFamily="18" charset="0"/>
                            </a:rPr>
                            <m:t>𝑀</m:t>
                          </m:r>
                        </m:e>
                      </m:d>
                      <m:r>
                        <a:rPr lang="en-US" altLang="zh-TW" b="0" i="0" smtClean="0">
                          <a:latin typeface="Cambria Math" panose="02040503050406030204" pitchFamily="18" charset="0"/>
                        </a:rPr>
                        <m:t>=</m:t>
                      </m:r>
                      <m:r>
                        <a:rPr lang="en-US" altLang="zh-TW" b="0" i="0" smtClean="0">
                          <a:latin typeface="Cambria Math" panose="02040503050406030204" pitchFamily="18" charset="0"/>
                        </a:rPr>
                        <m:t>𝑚𝑖𝑛</m:t>
                      </m:r>
                      <m:d>
                        <m:dPr>
                          <m:ctrlPr>
                            <a:rPr lang="en-US" altLang="zh-TW" b="0" i="1" smtClean="0">
                              <a:latin typeface="Cambria Math" panose="02040503050406030204" pitchFamily="18" charset="0"/>
                            </a:rPr>
                          </m:ctrlPr>
                        </m:dPr>
                        <m:e>
                          <m:r>
                            <a:rPr lang="en-US" altLang="zh-TW" b="0" i="0" smtClean="0">
                              <a:latin typeface="Cambria Math" panose="02040503050406030204" pitchFamily="18" charset="0"/>
                            </a:rPr>
                            <m:t>1</m:t>
                          </m:r>
                          <m:r>
                            <a:rPr lang="en-US" altLang="zh-TW" b="0" i="0" smtClean="0">
                              <a:latin typeface="Cambria Math" panose="02040503050406030204" pitchFamily="18" charset="0"/>
                            </a:rPr>
                            <m:t>,</m:t>
                          </m:r>
                          <m:f>
                            <m:fPr>
                              <m:ctrlPr>
                                <a:rPr lang="en-US" altLang="zh-TW" b="0" i="1" smtClean="0">
                                  <a:latin typeface="Cambria Math" panose="02040503050406030204" pitchFamily="18" charset="0"/>
                                </a:rPr>
                              </m:ctrlPr>
                            </m:fPr>
                            <m:num>
                              <m:r>
                                <m:rPr>
                                  <m:sty m:val="p"/>
                                </m:rPr>
                                <a:rPr lang="en-US" altLang="zh-TW" b="0" i="1" smtClean="0">
                                  <a:latin typeface="Cambria Math" panose="02040503050406030204" pitchFamily="18" charset="0"/>
                                </a:rPr>
                                <m:t>x</m:t>
                              </m:r>
                            </m:num>
                            <m:den>
                              <m:r>
                                <a:rPr lang="en-US" altLang="zh-TW" b="0" i="1" smtClean="0">
                                  <a:latin typeface="Cambria Math" panose="02040503050406030204" pitchFamily="18" charset="0"/>
                                </a:rPr>
                                <m:t>𝑀</m:t>
                              </m:r>
                            </m:den>
                          </m:f>
                        </m:e>
                      </m:d>
                    </m:oMath>
                  </m:oMathPara>
                </a14:m>
                <a:endParaRPr lang="zh-TW" altLang="en-US" dirty="0"/>
              </a:p>
            </p:txBody>
          </p:sp>
        </mc:Choice>
        <mc:Fallback xmlns="">
          <p:sp>
            <p:nvSpPr>
              <p:cNvPr id="8" name="文字方塊 7">
                <a:extLst>
                  <a:ext uri="{FF2B5EF4-FFF2-40B4-BE49-F238E27FC236}">
                    <a16:creationId xmlns:a16="http://schemas.microsoft.com/office/drawing/2014/main" id="{65285D12-718A-9B76-2F9B-C61BA16B260B}"/>
                  </a:ext>
                </a:extLst>
              </p:cNvPr>
              <p:cNvSpPr txBox="1">
                <a:spLocks noRot="1" noChangeAspect="1" noMove="1" noResize="1" noEditPoints="1" noAdjustHandles="1" noChangeArrowheads="1" noChangeShapeType="1" noTextEdit="1"/>
              </p:cNvSpPr>
              <p:nvPr/>
            </p:nvSpPr>
            <p:spPr>
              <a:xfrm>
                <a:off x="5496065" y="4225159"/>
                <a:ext cx="2626660" cy="470642"/>
              </a:xfrm>
              <a:prstGeom prst="rect">
                <a:avLst/>
              </a:prstGeom>
              <a:blipFill>
                <a:blip r:embed="rId6"/>
                <a:stretch>
                  <a:fillRect/>
                </a:stretch>
              </a:blipFill>
            </p:spPr>
            <p:txBody>
              <a:bodyPr/>
              <a:lstStyle/>
              <a:p>
                <a:r>
                  <a:rPr lang="zh-TW" altLang="en-US">
                    <a:noFill/>
                  </a:rPr>
                  <a:t> </a:t>
                </a:r>
              </a:p>
            </p:txBody>
          </p:sp>
        </mc:Fallback>
      </mc:AlternateContent>
      <p:pic>
        <p:nvPicPr>
          <p:cNvPr id="1028" name="Picture 4">
            <a:extLst>
              <a:ext uri="{FF2B5EF4-FFF2-40B4-BE49-F238E27FC236}">
                <a16:creationId xmlns:a16="http://schemas.microsoft.com/office/drawing/2014/main" id="{B03F7233-F8EE-46D5-B856-DEE715522B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405" y="5256696"/>
            <a:ext cx="6082220" cy="130514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426C156B-0AA7-7C1A-A451-142C5097607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60901" y="3953461"/>
            <a:ext cx="1955949" cy="10140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F8F720-783B-67C4-BDA9-448777280EEF}"/>
              </a:ext>
            </a:extLst>
          </p:cNvPr>
          <p:cNvSpPr>
            <a:spLocks noGrp="1"/>
          </p:cNvSpPr>
          <p:nvPr>
            <p:ph type="title"/>
          </p:nvPr>
        </p:nvSpPr>
        <p:spPr>
          <a:xfrm>
            <a:off x="415600" y="474537"/>
            <a:ext cx="11360800" cy="763600"/>
          </a:xfrm>
        </p:spPr>
        <p:txBody>
          <a:bodyPr>
            <a:normAutofit fontScale="90000"/>
          </a:bodyPr>
          <a:lstStyle/>
          <a:p>
            <a:r>
              <a:rPr lang="zh-TW" altLang="zh-TW" dirty="0">
                <a:latin typeface="Times New Roman"/>
                <a:ea typeface="Times New Roman"/>
                <a:cs typeface="Times New Roman"/>
                <a:sym typeface="Times New Roman"/>
              </a:rPr>
              <a:t>Solution – </a:t>
            </a:r>
            <a:r>
              <a:rPr lang="en-US" altLang="zh-TW" dirty="0">
                <a:latin typeface="Times New Roman"/>
                <a:ea typeface="Times New Roman"/>
                <a:cs typeface="Times New Roman"/>
                <a:sym typeface="Times New Roman"/>
              </a:rPr>
              <a:t>Reward Modeling and GRPO</a:t>
            </a:r>
            <a:endParaRPr lang="zh-TW" altLang="en-US" dirty="0"/>
          </a:p>
        </p:txBody>
      </p:sp>
      <p:sp>
        <p:nvSpPr>
          <p:cNvPr id="4" name="投影片編號版面配置區 3">
            <a:extLst>
              <a:ext uri="{FF2B5EF4-FFF2-40B4-BE49-F238E27FC236}">
                <a16:creationId xmlns:a16="http://schemas.microsoft.com/office/drawing/2014/main" id="{A17966AD-DE6E-F8A8-53D2-D3CF5C6CE5C5}"/>
              </a:ext>
            </a:extLst>
          </p:cNvPr>
          <p:cNvSpPr>
            <a:spLocks noGrp="1"/>
          </p:cNvSpPr>
          <p:nvPr>
            <p:ph type="sldNum" idx="12"/>
          </p:nvPr>
        </p:nvSpPr>
        <p:spPr>
          <a:xfrm>
            <a:off x="11171107" y="6121063"/>
            <a:ext cx="731600" cy="524800"/>
          </a:xfrm>
        </p:spPr>
        <p:txBody>
          <a:bodyPr/>
          <a:lstStyle/>
          <a:p>
            <a:fld id="{00000000-1234-1234-1234-123412341234}" type="slidenum">
              <a:rPr lang="en-US" altLang="zh-TW" smtClean="0"/>
              <a:pPr/>
              <a:t>21</a:t>
            </a:fld>
            <a:endParaRPr lang="zh-TW" altLang="en-US" dirty="0"/>
          </a:p>
        </p:txBody>
      </p:sp>
      <mc:AlternateContent xmlns:mc="http://schemas.openxmlformats.org/markup-compatibility/2006" xmlns:a14="http://schemas.microsoft.com/office/drawing/2010/main">
        <mc:Choice Requires="a14">
          <p:sp>
            <p:nvSpPr>
              <p:cNvPr id="7" name="矩形: 圓角 6">
                <a:extLst>
                  <a:ext uri="{FF2B5EF4-FFF2-40B4-BE49-F238E27FC236}">
                    <a16:creationId xmlns:a16="http://schemas.microsoft.com/office/drawing/2014/main" id="{D771C4F2-84AD-47E3-330F-5B060F283ECB}"/>
                  </a:ext>
                </a:extLst>
              </p:cNvPr>
              <p:cNvSpPr/>
              <p:nvPr/>
            </p:nvSpPr>
            <p:spPr>
              <a:xfrm>
                <a:off x="792114" y="3253598"/>
                <a:ext cx="3675529" cy="681318"/>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a:rPr lang="en-US" altLang="zh-TW" b="0" i="1" smtClean="0">
                              <a:solidFill>
                                <a:schemeClr val="dk1"/>
                              </a:solidFill>
                              <a:latin typeface="Cambria Math" panose="02040503050406030204" pitchFamily="18" charset="0"/>
                              <a:sym typeface="Libertinus Math"/>
                            </a:rPr>
                            <m:t>2</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a:rPr lang="en-US" altLang="zh-TW" b="0" i="1" smtClean="0">
                              <a:solidFill>
                                <a:schemeClr val="dk1"/>
                              </a:solidFill>
                              <a:latin typeface="Cambria Math" panose="02040503050406030204" pitchFamily="18" charset="0"/>
                              <a:sym typeface="Libertinus Math"/>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7" name="矩形: 圓角 6">
                <a:extLst>
                  <a:ext uri="{FF2B5EF4-FFF2-40B4-BE49-F238E27FC236}">
                    <a16:creationId xmlns:a16="http://schemas.microsoft.com/office/drawing/2014/main" id="{D771C4F2-84AD-47E3-330F-5B060F283ECB}"/>
                  </a:ext>
                </a:extLst>
              </p:cNvPr>
              <p:cNvSpPr>
                <a:spLocks noRot="1" noChangeAspect="1" noMove="1" noResize="1" noEditPoints="1" noAdjustHandles="1" noChangeArrowheads="1" noChangeShapeType="1" noTextEdit="1"/>
              </p:cNvSpPr>
              <p:nvPr/>
            </p:nvSpPr>
            <p:spPr>
              <a:xfrm>
                <a:off x="792114" y="3253598"/>
                <a:ext cx="3675529" cy="681318"/>
              </a:xfrm>
              <a:prstGeom prst="roundRect">
                <a:avLst/>
              </a:prstGeom>
              <a:blipFill>
                <a:blip r:embed="rId2"/>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圓角 7">
                <a:extLst>
                  <a:ext uri="{FF2B5EF4-FFF2-40B4-BE49-F238E27FC236}">
                    <a16:creationId xmlns:a16="http://schemas.microsoft.com/office/drawing/2014/main" id="{51A09866-D4D0-79C3-C8FF-F408C673493A}"/>
                  </a:ext>
                </a:extLst>
              </p:cNvPr>
              <p:cNvSpPr/>
              <p:nvPr/>
            </p:nvSpPr>
            <p:spPr>
              <a:xfrm>
                <a:off x="792113" y="5033271"/>
                <a:ext cx="3675529" cy="681318"/>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m:rPr>
                              <m:sty m:val="p"/>
                            </m:rPr>
                            <a:rPr lang="en-US" altLang="zh-TW" b="0" i="1" smtClean="0">
                              <a:solidFill>
                                <a:schemeClr val="dk1"/>
                              </a:solidFill>
                              <a:latin typeface="Cambria Math" panose="02040503050406030204" pitchFamily="18" charset="0"/>
                              <a:sym typeface="Libertinus Math"/>
                            </a:rPr>
                            <m:t>k</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m:rPr>
                              <m:sty m:val="p"/>
                            </m:rPr>
                            <a:rPr lang="en-US" altLang="zh-TW" b="0" i="1" smtClean="0">
                              <a:solidFill>
                                <a:schemeClr val="dk1"/>
                              </a:solidFill>
                              <a:latin typeface="Cambria Math" panose="02040503050406030204" pitchFamily="18" charset="0"/>
                              <a:sym typeface="Libertinus Math"/>
                            </a:rPr>
                            <m:t>k</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8" name="矩形: 圓角 7">
                <a:extLst>
                  <a:ext uri="{FF2B5EF4-FFF2-40B4-BE49-F238E27FC236}">
                    <a16:creationId xmlns:a16="http://schemas.microsoft.com/office/drawing/2014/main" id="{51A09866-D4D0-79C3-C8FF-F408C673493A}"/>
                  </a:ext>
                </a:extLst>
              </p:cNvPr>
              <p:cNvSpPr>
                <a:spLocks noRot="1" noChangeAspect="1" noMove="1" noResize="1" noEditPoints="1" noAdjustHandles="1" noChangeArrowheads="1" noChangeShapeType="1" noTextEdit="1"/>
              </p:cNvSpPr>
              <p:nvPr/>
            </p:nvSpPr>
            <p:spPr>
              <a:xfrm>
                <a:off x="792113" y="5033271"/>
                <a:ext cx="3675529" cy="681318"/>
              </a:xfrm>
              <a:prstGeom prst="roundRect">
                <a:avLst/>
              </a:prstGeom>
              <a:blipFill>
                <a:blip r:embed="rId3"/>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圓角 9">
                <a:extLst>
                  <a:ext uri="{FF2B5EF4-FFF2-40B4-BE49-F238E27FC236}">
                    <a16:creationId xmlns:a16="http://schemas.microsoft.com/office/drawing/2014/main" id="{0204BDCF-66EF-92E2-6977-7BC65317F668}"/>
                  </a:ext>
                </a:extLst>
              </p:cNvPr>
              <p:cNvSpPr/>
              <p:nvPr/>
            </p:nvSpPr>
            <p:spPr>
              <a:xfrm>
                <a:off x="792115" y="2361987"/>
                <a:ext cx="3675529" cy="681318"/>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a:rPr lang="en-US" altLang="zh-TW" b="0" i="1" smtClean="0">
                              <a:solidFill>
                                <a:schemeClr val="dk1"/>
                              </a:solidFill>
                              <a:latin typeface="Cambria Math" panose="02040503050406030204" pitchFamily="18" charset="0"/>
                              <a:sym typeface="Libertinus Math"/>
                            </a:rPr>
                            <m:t>1</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a:rPr lang="en-US" altLang="zh-TW" b="0" i="1" smtClean="0">
                              <a:solidFill>
                                <a:schemeClr val="dk1"/>
                              </a:solidFill>
                              <a:latin typeface="Cambria Math" panose="02040503050406030204" pitchFamily="18" charset="0"/>
                              <a:sym typeface="Libertinus Math"/>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0" name="矩形: 圓角 9">
                <a:extLst>
                  <a:ext uri="{FF2B5EF4-FFF2-40B4-BE49-F238E27FC236}">
                    <a16:creationId xmlns:a16="http://schemas.microsoft.com/office/drawing/2014/main" id="{0204BDCF-66EF-92E2-6977-7BC65317F668}"/>
                  </a:ext>
                </a:extLst>
              </p:cNvPr>
              <p:cNvSpPr>
                <a:spLocks noRot="1" noChangeAspect="1" noMove="1" noResize="1" noEditPoints="1" noAdjustHandles="1" noChangeArrowheads="1" noChangeShapeType="1" noTextEdit="1"/>
              </p:cNvSpPr>
              <p:nvPr/>
            </p:nvSpPr>
            <p:spPr>
              <a:xfrm>
                <a:off x="792115" y="2361987"/>
                <a:ext cx="3675529" cy="681318"/>
              </a:xfrm>
              <a:prstGeom prst="roundRect">
                <a:avLst/>
              </a:prstGeom>
              <a:blipFill>
                <a:blip r:embed="rId4"/>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14" name="矩形: 圓角 13">
            <a:extLst>
              <a:ext uri="{FF2B5EF4-FFF2-40B4-BE49-F238E27FC236}">
                <a16:creationId xmlns:a16="http://schemas.microsoft.com/office/drawing/2014/main" id="{354E3568-6A72-4093-ACEA-2C213BF16A65}"/>
              </a:ext>
            </a:extLst>
          </p:cNvPr>
          <p:cNvSpPr/>
          <p:nvPr/>
        </p:nvSpPr>
        <p:spPr>
          <a:xfrm>
            <a:off x="792113" y="4145209"/>
            <a:ext cx="3675529" cy="681318"/>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15" name="圓柱形 14">
            <a:extLst>
              <a:ext uri="{FF2B5EF4-FFF2-40B4-BE49-F238E27FC236}">
                <a16:creationId xmlns:a16="http://schemas.microsoft.com/office/drawing/2014/main" id="{2342BB97-C4B6-B0D1-BE66-F0B894502BC6}"/>
              </a:ext>
            </a:extLst>
          </p:cNvPr>
          <p:cNvSpPr/>
          <p:nvPr/>
        </p:nvSpPr>
        <p:spPr>
          <a:xfrm>
            <a:off x="673475" y="1332863"/>
            <a:ext cx="3964501" cy="4759251"/>
          </a:xfrm>
          <a:prstGeom prst="can">
            <a:avLst>
              <a:gd name="adj" fmla="val 20277"/>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19" name="矩形: 圓角 18">
            <a:extLst>
              <a:ext uri="{FF2B5EF4-FFF2-40B4-BE49-F238E27FC236}">
                <a16:creationId xmlns:a16="http://schemas.microsoft.com/office/drawing/2014/main" id="{9CE9C673-A80D-4D43-9531-E1D8043C6AB7}"/>
              </a:ext>
            </a:extLst>
          </p:cNvPr>
          <p:cNvSpPr/>
          <p:nvPr/>
        </p:nvSpPr>
        <p:spPr>
          <a:xfrm>
            <a:off x="5104139" y="3733586"/>
            <a:ext cx="1734675" cy="478423"/>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Reward Model</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1" name="右大括弧 20">
            <a:extLst>
              <a:ext uri="{FF2B5EF4-FFF2-40B4-BE49-F238E27FC236}">
                <a16:creationId xmlns:a16="http://schemas.microsoft.com/office/drawing/2014/main" id="{20CFCDD8-B228-DF8A-D277-E4F00108DE3B}"/>
              </a:ext>
            </a:extLst>
          </p:cNvPr>
          <p:cNvSpPr/>
          <p:nvPr/>
        </p:nvSpPr>
        <p:spPr>
          <a:xfrm>
            <a:off x="4570741" y="2537009"/>
            <a:ext cx="533399" cy="3003176"/>
          </a:xfrm>
          <a:prstGeom prst="rightBrace">
            <a:avLst>
              <a:gd name="adj1" fmla="val 27083"/>
              <a:gd name="adj2" fmla="val 48405"/>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cxnSp>
        <p:nvCxnSpPr>
          <p:cNvPr id="28" name="直線單箭頭接點 27">
            <a:extLst>
              <a:ext uri="{FF2B5EF4-FFF2-40B4-BE49-F238E27FC236}">
                <a16:creationId xmlns:a16="http://schemas.microsoft.com/office/drawing/2014/main" id="{132C3A93-D2CB-021F-A2AB-B3FFF008EC66}"/>
              </a:ext>
            </a:extLst>
          </p:cNvPr>
          <p:cNvCxnSpPr>
            <a:cxnSpLocks/>
            <a:stCxn id="19" idx="3"/>
            <a:endCxn id="30" idx="1"/>
          </p:cNvCxnSpPr>
          <p:nvPr/>
        </p:nvCxnSpPr>
        <p:spPr>
          <a:xfrm flipV="1">
            <a:off x="6838814" y="3968316"/>
            <a:ext cx="312034" cy="448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矩形: 圓角 29">
                <a:extLst>
                  <a:ext uri="{FF2B5EF4-FFF2-40B4-BE49-F238E27FC236}">
                    <a16:creationId xmlns:a16="http://schemas.microsoft.com/office/drawing/2014/main" id="{C4F1B646-93C5-8FAC-A95B-74318D4B72C7}"/>
                  </a:ext>
                </a:extLst>
              </p:cNvPr>
              <p:cNvSpPr/>
              <p:nvPr/>
            </p:nvSpPr>
            <p:spPr>
              <a:xfrm>
                <a:off x="7150848" y="3678398"/>
                <a:ext cx="2082801" cy="579835"/>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Predicted Reward outcome: </a:t>
                </a:r>
                <a14:m>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𝑅</m:t>
                    </m:r>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m:t>
                        </m:r>
                      </m:e>
                      <m:sub>
                        <m:r>
                          <a:rPr lang="en-US" altLang="zh-TW" b="0" i="1" smtClean="0">
                            <a:solidFill>
                              <a:schemeClr val="tx1"/>
                            </a:solidFill>
                            <a:latin typeface="Cambria Math" panose="02040503050406030204" pitchFamily="18" charset="0"/>
                            <a:cs typeface="Times New Roman" panose="02020603050405020304" pitchFamily="18" charset="0"/>
                          </a:rPr>
                          <m:t>𝑒𝑛𝑣</m:t>
                        </m:r>
                      </m:sub>
                    </m:sSub>
                  </m:oMath>
                </a14:m>
                <a:endParaRPr lang="en-US" altLang="zh-TW"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0" name="矩形: 圓角 29">
                <a:extLst>
                  <a:ext uri="{FF2B5EF4-FFF2-40B4-BE49-F238E27FC236}">
                    <a16:creationId xmlns:a16="http://schemas.microsoft.com/office/drawing/2014/main" id="{C4F1B646-93C5-8FAC-A95B-74318D4B72C7}"/>
                  </a:ext>
                </a:extLst>
              </p:cNvPr>
              <p:cNvSpPr>
                <a:spLocks noRot="1" noChangeAspect="1" noMove="1" noResize="1" noEditPoints="1" noAdjustHandles="1" noChangeArrowheads="1" noChangeShapeType="1" noTextEdit="1"/>
              </p:cNvSpPr>
              <p:nvPr/>
            </p:nvSpPr>
            <p:spPr>
              <a:xfrm>
                <a:off x="7150848" y="3678398"/>
                <a:ext cx="2082801" cy="579835"/>
              </a:xfrm>
              <a:prstGeom prst="roundRect">
                <a:avLst/>
              </a:prstGeom>
              <a:blipFill>
                <a:blip r:embed="rId5"/>
                <a:stretch>
                  <a:fillRect t="-9184" b="-19388"/>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43" name="右大括弧 42">
            <a:extLst>
              <a:ext uri="{FF2B5EF4-FFF2-40B4-BE49-F238E27FC236}">
                <a16:creationId xmlns:a16="http://schemas.microsoft.com/office/drawing/2014/main" id="{B748426F-1F7E-0981-C090-7DEB7FBDEFA4}"/>
              </a:ext>
            </a:extLst>
          </p:cNvPr>
          <p:cNvSpPr/>
          <p:nvPr/>
        </p:nvSpPr>
        <p:spPr>
          <a:xfrm>
            <a:off x="9233649" y="3859430"/>
            <a:ext cx="312034" cy="1303233"/>
          </a:xfrm>
          <a:prstGeom prst="rightBrace">
            <a:avLst>
              <a:gd name="adj1" fmla="val 8333"/>
              <a:gd name="adj2" fmla="val 47612"/>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7" name="矩形: 圓角 56">
                <a:extLst>
                  <a:ext uri="{FF2B5EF4-FFF2-40B4-BE49-F238E27FC236}">
                    <a16:creationId xmlns:a16="http://schemas.microsoft.com/office/drawing/2014/main" id="{8B0691E0-90CD-EF82-463D-8C7BCA980411}"/>
                  </a:ext>
                </a:extLst>
              </p:cNvPr>
              <p:cNvSpPr/>
              <p:nvPr/>
            </p:nvSpPr>
            <p:spPr>
              <a:xfrm>
                <a:off x="7150848" y="4763860"/>
                <a:ext cx="2082801" cy="579835"/>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Grounded Reward outcome: </a:t>
                </a:r>
                <a14:m>
                  <m:oMath xmlns:m="http://schemas.openxmlformats.org/officeDocument/2006/math">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i="1">
                            <a:solidFill>
                              <a:schemeClr val="tx1"/>
                            </a:solidFill>
                            <a:latin typeface="Cambria Math" panose="02040503050406030204" pitchFamily="18" charset="0"/>
                            <a:cs typeface="Times New Roman" panose="02020603050405020304" pitchFamily="18" charset="0"/>
                          </a:rPr>
                          <m:t>𝑅</m:t>
                        </m:r>
                      </m:e>
                      <m:sub>
                        <m:r>
                          <a:rPr lang="en-US" altLang="zh-TW" b="0" i="1" smtClean="0">
                            <a:solidFill>
                              <a:schemeClr val="tx1"/>
                            </a:solidFill>
                            <a:latin typeface="Cambria Math" panose="02040503050406030204" pitchFamily="18" charset="0"/>
                            <a:cs typeface="Times New Roman" panose="02020603050405020304" pitchFamily="18" charset="0"/>
                          </a:rPr>
                          <m:t>𝑒𝑛𝑣</m:t>
                        </m:r>
                      </m:sub>
                    </m:sSub>
                  </m:oMath>
                </a14:m>
                <a:endParaRPr lang="en-US" altLang="zh-TW"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7" name="矩形: 圓角 56">
                <a:extLst>
                  <a:ext uri="{FF2B5EF4-FFF2-40B4-BE49-F238E27FC236}">
                    <a16:creationId xmlns:a16="http://schemas.microsoft.com/office/drawing/2014/main" id="{8B0691E0-90CD-EF82-463D-8C7BCA980411}"/>
                  </a:ext>
                </a:extLst>
              </p:cNvPr>
              <p:cNvSpPr>
                <a:spLocks noRot="1" noChangeAspect="1" noMove="1" noResize="1" noEditPoints="1" noAdjustHandles="1" noChangeArrowheads="1" noChangeShapeType="1" noTextEdit="1"/>
              </p:cNvSpPr>
              <p:nvPr/>
            </p:nvSpPr>
            <p:spPr>
              <a:xfrm>
                <a:off x="7150848" y="4763860"/>
                <a:ext cx="2082801" cy="579835"/>
              </a:xfrm>
              <a:prstGeom prst="roundRect">
                <a:avLst/>
              </a:prstGeom>
              <a:blipFill>
                <a:blip r:embed="rId6"/>
                <a:stretch>
                  <a:fillRect t="-9184" b="-20408"/>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61" name="矩形: 圓角 60">
            <a:extLst>
              <a:ext uri="{FF2B5EF4-FFF2-40B4-BE49-F238E27FC236}">
                <a16:creationId xmlns:a16="http://schemas.microsoft.com/office/drawing/2014/main" id="{D0BF3119-AEC2-851E-638D-53B286B9836A}"/>
              </a:ext>
            </a:extLst>
          </p:cNvPr>
          <p:cNvSpPr/>
          <p:nvPr/>
        </p:nvSpPr>
        <p:spPr>
          <a:xfrm>
            <a:off x="9537189" y="4307514"/>
            <a:ext cx="1588013" cy="34299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Loss</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65" name="接點: 肘形 64">
            <a:extLst>
              <a:ext uri="{FF2B5EF4-FFF2-40B4-BE49-F238E27FC236}">
                <a16:creationId xmlns:a16="http://schemas.microsoft.com/office/drawing/2014/main" id="{A697D56F-4BE5-9003-654F-B7D3972A0A78}"/>
              </a:ext>
            </a:extLst>
          </p:cNvPr>
          <p:cNvCxnSpPr>
            <a:cxnSpLocks/>
            <a:endCxn id="19" idx="0"/>
          </p:cNvCxnSpPr>
          <p:nvPr/>
        </p:nvCxnSpPr>
        <p:spPr>
          <a:xfrm rot="16200000" flipV="1">
            <a:off x="7868856" y="1836208"/>
            <a:ext cx="582893" cy="4377649"/>
          </a:xfrm>
          <a:prstGeom prst="bentConnector3">
            <a:avLst>
              <a:gd name="adj1" fmla="val 209964"/>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文字方塊 66">
            <a:extLst>
              <a:ext uri="{FF2B5EF4-FFF2-40B4-BE49-F238E27FC236}">
                <a16:creationId xmlns:a16="http://schemas.microsoft.com/office/drawing/2014/main" id="{584B178D-E0AB-D10A-3A07-C9EB3370DD8A}"/>
              </a:ext>
            </a:extLst>
          </p:cNvPr>
          <p:cNvSpPr txBox="1"/>
          <p:nvPr/>
        </p:nvSpPr>
        <p:spPr>
          <a:xfrm>
            <a:off x="7753755" y="2720576"/>
            <a:ext cx="1083951"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Optimize</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F47D1892-613B-C056-290F-417674E551DA}"/>
              </a:ext>
            </a:extLst>
          </p:cNvPr>
          <p:cNvSpPr txBox="1"/>
          <p:nvPr/>
        </p:nvSpPr>
        <p:spPr>
          <a:xfrm>
            <a:off x="5391854" y="1513105"/>
            <a:ext cx="5457122"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Why need an additional reward model?</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Failed to converge due to sparse reward.</a:t>
            </a:r>
          </a:p>
          <a:p>
            <a:pPr marL="285750" indent="-285750">
              <a:buFont typeface="Arial" panose="020B0604020202020204" pitchFamily="34" charset="0"/>
              <a:buChar char="•"/>
            </a:pPr>
            <a:endParaRPr lang="en-US" altLang="zh-TW" sz="2400" dirty="0">
              <a:latin typeface="Times New Roman" panose="02020603050405020304" pitchFamily="18" charset="0"/>
              <a:cs typeface="Times New Roman" panose="02020603050405020304" pitchFamily="18" charset="0"/>
            </a:endParaRPr>
          </a:p>
        </p:txBody>
      </p:sp>
      <p:sp>
        <p:nvSpPr>
          <p:cNvPr id="3" name="矩形: 圓角 2">
            <a:extLst>
              <a:ext uri="{FF2B5EF4-FFF2-40B4-BE49-F238E27FC236}">
                <a16:creationId xmlns:a16="http://schemas.microsoft.com/office/drawing/2014/main" id="{AEF85C0C-15FF-B0FB-B36F-84C111E9C9DD}"/>
              </a:ext>
            </a:extLst>
          </p:cNvPr>
          <p:cNvSpPr/>
          <p:nvPr/>
        </p:nvSpPr>
        <p:spPr>
          <a:xfrm>
            <a:off x="1580450" y="1470187"/>
            <a:ext cx="2115671" cy="34299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2000" dirty="0">
                <a:solidFill>
                  <a:schemeClr val="tx1"/>
                </a:solidFill>
                <a:latin typeface="Times New Roman" panose="02020603050405020304" pitchFamily="18" charset="0"/>
                <a:cs typeface="Times New Roman" panose="02020603050405020304" pitchFamily="18" charset="0"/>
              </a:rPr>
              <a:t>Trajectories</a:t>
            </a:r>
            <a:endParaRPr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1199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08472-4565-5A64-CC3B-C89097E9758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DF15FB5-E80F-80BC-A1A2-7AEC52B0689A}"/>
              </a:ext>
            </a:extLst>
          </p:cNvPr>
          <p:cNvSpPr>
            <a:spLocks noGrp="1"/>
          </p:cNvSpPr>
          <p:nvPr>
            <p:ph type="title"/>
          </p:nvPr>
        </p:nvSpPr>
        <p:spPr>
          <a:xfrm>
            <a:off x="415600" y="474537"/>
            <a:ext cx="11360800" cy="763600"/>
          </a:xfrm>
        </p:spPr>
        <p:txBody>
          <a:bodyPr>
            <a:normAutofit fontScale="90000"/>
          </a:bodyPr>
          <a:lstStyle/>
          <a:p>
            <a:r>
              <a:rPr lang="zh-TW" altLang="zh-TW" dirty="0">
                <a:latin typeface="Times New Roman"/>
                <a:ea typeface="Times New Roman"/>
                <a:cs typeface="Times New Roman"/>
                <a:sym typeface="Times New Roman"/>
              </a:rPr>
              <a:t>Solution – </a:t>
            </a:r>
            <a:r>
              <a:rPr lang="en-US" altLang="zh-TW" dirty="0">
                <a:latin typeface="Times New Roman"/>
                <a:ea typeface="Times New Roman"/>
                <a:cs typeface="Times New Roman"/>
                <a:sym typeface="Times New Roman"/>
              </a:rPr>
              <a:t>Reward Modeling and GRPO</a:t>
            </a:r>
            <a:endParaRPr lang="zh-TW" altLang="en-US" dirty="0"/>
          </a:p>
        </p:txBody>
      </p:sp>
      <p:sp>
        <p:nvSpPr>
          <p:cNvPr id="4" name="投影片編號版面配置區 3">
            <a:extLst>
              <a:ext uri="{FF2B5EF4-FFF2-40B4-BE49-F238E27FC236}">
                <a16:creationId xmlns:a16="http://schemas.microsoft.com/office/drawing/2014/main" id="{00507CEF-9676-7FC3-79AA-17E7AD054891}"/>
              </a:ext>
            </a:extLst>
          </p:cNvPr>
          <p:cNvSpPr>
            <a:spLocks noGrp="1"/>
          </p:cNvSpPr>
          <p:nvPr>
            <p:ph type="sldNum" idx="12"/>
          </p:nvPr>
        </p:nvSpPr>
        <p:spPr/>
        <p:txBody>
          <a:bodyPr/>
          <a:lstStyle/>
          <a:p>
            <a:fld id="{00000000-1234-1234-1234-123412341234}" type="slidenum">
              <a:rPr lang="en-US" altLang="zh-TW" smtClean="0"/>
              <a:pPr/>
              <a:t>22</a:t>
            </a:fld>
            <a:endParaRPr lang="zh-TW" altLang="en-US" dirty="0"/>
          </a:p>
        </p:txBody>
      </p:sp>
      <mc:AlternateContent xmlns:mc="http://schemas.openxmlformats.org/markup-compatibility/2006" xmlns:a14="http://schemas.microsoft.com/office/drawing/2010/main">
        <mc:Choice Requires="a14">
          <p:sp>
            <p:nvSpPr>
              <p:cNvPr id="5" name="矩形: 圓角 4">
                <a:extLst>
                  <a:ext uri="{FF2B5EF4-FFF2-40B4-BE49-F238E27FC236}">
                    <a16:creationId xmlns:a16="http://schemas.microsoft.com/office/drawing/2014/main" id="{B810B50B-010D-8EC7-E32C-1DA3E7C3ED43}"/>
                  </a:ext>
                </a:extLst>
              </p:cNvPr>
              <p:cNvSpPr/>
              <p:nvPr/>
            </p:nvSpPr>
            <p:spPr>
              <a:xfrm>
                <a:off x="787069" y="3258083"/>
                <a:ext cx="3675529" cy="681318"/>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a:rPr lang="en-US" altLang="zh-TW" b="0" i="1" smtClean="0">
                              <a:solidFill>
                                <a:schemeClr val="dk1"/>
                              </a:solidFill>
                              <a:latin typeface="Cambria Math" panose="02040503050406030204" pitchFamily="18" charset="0"/>
                              <a:sym typeface="Libertinus Math"/>
                            </a:rPr>
                            <m:t>2</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a:rPr lang="en-US" altLang="zh-TW" b="0" i="1" smtClean="0">
                              <a:solidFill>
                                <a:schemeClr val="dk1"/>
                              </a:solidFill>
                              <a:latin typeface="Cambria Math" panose="02040503050406030204" pitchFamily="18" charset="0"/>
                              <a:sym typeface="Libertinus Math"/>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矩形: 圓角 4">
                <a:extLst>
                  <a:ext uri="{FF2B5EF4-FFF2-40B4-BE49-F238E27FC236}">
                    <a16:creationId xmlns:a16="http://schemas.microsoft.com/office/drawing/2014/main" id="{B810B50B-010D-8EC7-E32C-1DA3E7C3ED43}"/>
                  </a:ext>
                </a:extLst>
              </p:cNvPr>
              <p:cNvSpPr>
                <a:spLocks noRot="1" noChangeAspect="1" noMove="1" noResize="1" noEditPoints="1" noAdjustHandles="1" noChangeArrowheads="1" noChangeShapeType="1" noTextEdit="1"/>
              </p:cNvSpPr>
              <p:nvPr/>
            </p:nvSpPr>
            <p:spPr>
              <a:xfrm>
                <a:off x="787069" y="3258083"/>
                <a:ext cx="3675529" cy="681318"/>
              </a:xfrm>
              <a:prstGeom prst="roundRect">
                <a:avLst/>
              </a:prstGeom>
              <a:blipFill>
                <a:blip r:embed="rId2"/>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圓角 5">
                <a:extLst>
                  <a:ext uri="{FF2B5EF4-FFF2-40B4-BE49-F238E27FC236}">
                    <a16:creationId xmlns:a16="http://schemas.microsoft.com/office/drawing/2014/main" id="{D137CA1F-1E02-B3D0-EE95-AA8A02BB353D}"/>
                  </a:ext>
                </a:extLst>
              </p:cNvPr>
              <p:cNvSpPr/>
              <p:nvPr/>
            </p:nvSpPr>
            <p:spPr>
              <a:xfrm>
                <a:off x="787068" y="5037756"/>
                <a:ext cx="3675529" cy="681318"/>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m:rPr>
                              <m:sty m:val="p"/>
                            </m:rPr>
                            <a:rPr lang="en-US" altLang="zh-TW" b="0" i="1" smtClean="0">
                              <a:solidFill>
                                <a:schemeClr val="dk1"/>
                              </a:solidFill>
                              <a:latin typeface="Cambria Math" panose="02040503050406030204" pitchFamily="18" charset="0"/>
                              <a:sym typeface="Libertinus Math"/>
                            </a:rPr>
                            <m:t>k</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m:rPr>
                              <m:sty m:val="p"/>
                            </m:rPr>
                            <a:rPr lang="en-US" altLang="zh-TW" b="0" i="1" smtClean="0">
                              <a:solidFill>
                                <a:schemeClr val="dk1"/>
                              </a:solidFill>
                              <a:latin typeface="Cambria Math" panose="02040503050406030204" pitchFamily="18" charset="0"/>
                              <a:sym typeface="Libertinus Math"/>
                            </a:rPr>
                            <m:t>k</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6" name="矩形: 圓角 5">
                <a:extLst>
                  <a:ext uri="{FF2B5EF4-FFF2-40B4-BE49-F238E27FC236}">
                    <a16:creationId xmlns:a16="http://schemas.microsoft.com/office/drawing/2014/main" id="{D137CA1F-1E02-B3D0-EE95-AA8A02BB353D}"/>
                  </a:ext>
                </a:extLst>
              </p:cNvPr>
              <p:cNvSpPr>
                <a:spLocks noRot="1" noChangeAspect="1" noMove="1" noResize="1" noEditPoints="1" noAdjustHandles="1" noChangeArrowheads="1" noChangeShapeType="1" noTextEdit="1"/>
              </p:cNvSpPr>
              <p:nvPr/>
            </p:nvSpPr>
            <p:spPr>
              <a:xfrm>
                <a:off x="787068" y="5037756"/>
                <a:ext cx="3675529" cy="681318"/>
              </a:xfrm>
              <a:prstGeom prst="roundRect">
                <a:avLst/>
              </a:prstGeom>
              <a:blipFill>
                <a:blip r:embed="rId3"/>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圓角 8">
                <a:extLst>
                  <a:ext uri="{FF2B5EF4-FFF2-40B4-BE49-F238E27FC236}">
                    <a16:creationId xmlns:a16="http://schemas.microsoft.com/office/drawing/2014/main" id="{16828F04-A457-04C5-3220-F0A2563A2A21}"/>
                  </a:ext>
                </a:extLst>
              </p:cNvPr>
              <p:cNvSpPr/>
              <p:nvPr/>
            </p:nvSpPr>
            <p:spPr>
              <a:xfrm>
                <a:off x="787070" y="2366472"/>
                <a:ext cx="3675529" cy="681318"/>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a:rPr lang="en-US" altLang="zh-TW" b="0" i="1" smtClean="0">
                              <a:solidFill>
                                <a:schemeClr val="dk1"/>
                              </a:solidFill>
                              <a:latin typeface="Cambria Math" panose="02040503050406030204" pitchFamily="18" charset="0"/>
                              <a:sym typeface="Libertinus Math"/>
                            </a:rPr>
                            <m:t>1</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a:rPr lang="en-US" altLang="zh-TW" b="0" i="1" smtClean="0">
                              <a:solidFill>
                                <a:schemeClr val="dk1"/>
                              </a:solidFill>
                              <a:latin typeface="Cambria Math" panose="02040503050406030204" pitchFamily="18" charset="0"/>
                              <a:sym typeface="Libertinus Math"/>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9" name="矩形: 圓角 8">
                <a:extLst>
                  <a:ext uri="{FF2B5EF4-FFF2-40B4-BE49-F238E27FC236}">
                    <a16:creationId xmlns:a16="http://schemas.microsoft.com/office/drawing/2014/main" id="{16828F04-A457-04C5-3220-F0A2563A2A21}"/>
                  </a:ext>
                </a:extLst>
              </p:cNvPr>
              <p:cNvSpPr>
                <a:spLocks noRot="1" noChangeAspect="1" noMove="1" noResize="1" noEditPoints="1" noAdjustHandles="1" noChangeArrowheads="1" noChangeShapeType="1" noTextEdit="1"/>
              </p:cNvSpPr>
              <p:nvPr/>
            </p:nvSpPr>
            <p:spPr>
              <a:xfrm>
                <a:off x="787070" y="2366472"/>
                <a:ext cx="3675529" cy="681318"/>
              </a:xfrm>
              <a:prstGeom prst="roundRect">
                <a:avLst/>
              </a:prstGeom>
              <a:blipFill>
                <a:blip r:embed="rId4"/>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11" name="矩形: 圓角 10">
            <a:extLst>
              <a:ext uri="{FF2B5EF4-FFF2-40B4-BE49-F238E27FC236}">
                <a16:creationId xmlns:a16="http://schemas.microsoft.com/office/drawing/2014/main" id="{5BE631E6-FA34-FF61-7DF7-2EF69303B8C6}"/>
              </a:ext>
            </a:extLst>
          </p:cNvPr>
          <p:cNvSpPr/>
          <p:nvPr/>
        </p:nvSpPr>
        <p:spPr>
          <a:xfrm>
            <a:off x="787068" y="4149694"/>
            <a:ext cx="3675529" cy="681318"/>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12" name="圓柱形 11">
            <a:extLst>
              <a:ext uri="{FF2B5EF4-FFF2-40B4-BE49-F238E27FC236}">
                <a16:creationId xmlns:a16="http://schemas.microsoft.com/office/drawing/2014/main" id="{5A326726-18D4-10DB-4F1C-B628CC739B1D}"/>
              </a:ext>
            </a:extLst>
          </p:cNvPr>
          <p:cNvSpPr/>
          <p:nvPr/>
        </p:nvSpPr>
        <p:spPr>
          <a:xfrm>
            <a:off x="668430" y="1337348"/>
            <a:ext cx="3964501" cy="4759251"/>
          </a:xfrm>
          <a:prstGeom prst="can">
            <a:avLst>
              <a:gd name="adj" fmla="val 20277"/>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dirty="0"/>
          </a:p>
        </p:txBody>
      </p:sp>
      <p:sp>
        <p:nvSpPr>
          <p:cNvPr id="13" name="矩形: 圓角 12">
            <a:extLst>
              <a:ext uri="{FF2B5EF4-FFF2-40B4-BE49-F238E27FC236}">
                <a16:creationId xmlns:a16="http://schemas.microsoft.com/office/drawing/2014/main" id="{3F71DA59-9483-A599-30FA-446268339BEC}"/>
              </a:ext>
            </a:extLst>
          </p:cNvPr>
          <p:cNvSpPr/>
          <p:nvPr/>
        </p:nvSpPr>
        <p:spPr>
          <a:xfrm>
            <a:off x="1580450" y="1470187"/>
            <a:ext cx="2115671" cy="34299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2000" dirty="0">
                <a:solidFill>
                  <a:schemeClr val="tx1"/>
                </a:solidFill>
                <a:latin typeface="Times New Roman" panose="02020603050405020304" pitchFamily="18" charset="0"/>
                <a:cs typeface="Times New Roman" panose="02020603050405020304" pitchFamily="18" charset="0"/>
              </a:rPr>
              <a:t>Trajectories</a:t>
            </a:r>
            <a:endParaRPr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16" name="右大括弧 15">
            <a:extLst>
              <a:ext uri="{FF2B5EF4-FFF2-40B4-BE49-F238E27FC236}">
                <a16:creationId xmlns:a16="http://schemas.microsoft.com/office/drawing/2014/main" id="{4D6CE6FD-26FE-ADC8-BB2D-950382EDED20}"/>
              </a:ext>
            </a:extLst>
          </p:cNvPr>
          <p:cNvSpPr/>
          <p:nvPr/>
        </p:nvSpPr>
        <p:spPr>
          <a:xfrm>
            <a:off x="4581235" y="2541494"/>
            <a:ext cx="533399" cy="3003176"/>
          </a:xfrm>
          <a:prstGeom prst="rightBrace">
            <a:avLst>
              <a:gd name="adj1" fmla="val 27083"/>
              <a:gd name="adj2" fmla="val 48405"/>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TW" altLang="en-US"/>
          </a:p>
        </p:txBody>
      </p:sp>
      <p:sp>
        <p:nvSpPr>
          <p:cNvPr id="20" name="矩形: 圓角 19">
            <a:extLst>
              <a:ext uri="{FF2B5EF4-FFF2-40B4-BE49-F238E27FC236}">
                <a16:creationId xmlns:a16="http://schemas.microsoft.com/office/drawing/2014/main" id="{4AABA7CE-AE31-B7CA-7D0A-76FA11B0C272}"/>
              </a:ext>
            </a:extLst>
          </p:cNvPr>
          <p:cNvSpPr/>
          <p:nvPr/>
        </p:nvSpPr>
        <p:spPr>
          <a:xfrm>
            <a:off x="6661701" y="3716633"/>
            <a:ext cx="2006779" cy="572339"/>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Strategist LLM</a:t>
            </a:r>
          </a:p>
          <a:p>
            <a:pPr algn="ctr"/>
            <a:r>
              <a:rPr lang="en-US" altLang="zh-TW" dirty="0">
                <a:solidFill>
                  <a:schemeClr val="tx1"/>
                </a:solidFill>
                <a:latin typeface="Times New Roman" panose="02020603050405020304" pitchFamily="18" charset="0"/>
                <a:cs typeface="Times New Roman" panose="02020603050405020304" pitchFamily="18" charset="0"/>
              </a:rPr>
              <a:t>(N candidates)</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圓角 21">
            <a:extLst>
              <a:ext uri="{FF2B5EF4-FFF2-40B4-BE49-F238E27FC236}">
                <a16:creationId xmlns:a16="http://schemas.microsoft.com/office/drawing/2014/main" id="{D8AE8C1E-A2D6-18E8-3F0E-9188200CA49C}"/>
              </a:ext>
            </a:extLst>
          </p:cNvPr>
          <p:cNvSpPr/>
          <p:nvPr/>
        </p:nvSpPr>
        <p:spPr>
          <a:xfrm>
            <a:off x="5119121" y="3716634"/>
            <a:ext cx="1135298" cy="57234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Prompts</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24" name="直線單箭頭接點 23">
            <a:extLst>
              <a:ext uri="{FF2B5EF4-FFF2-40B4-BE49-F238E27FC236}">
                <a16:creationId xmlns:a16="http://schemas.microsoft.com/office/drawing/2014/main" id="{E7C58661-202F-ED9E-DFE8-0A83D9E795C2}"/>
              </a:ext>
            </a:extLst>
          </p:cNvPr>
          <p:cNvCxnSpPr>
            <a:cxnSpLocks/>
            <a:stCxn id="22" idx="3"/>
            <a:endCxn id="20" idx="1"/>
          </p:cNvCxnSpPr>
          <p:nvPr/>
        </p:nvCxnSpPr>
        <p:spPr>
          <a:xfrm flipV="1">
            <a:off x="6254419" y="4002803"/>
            <a:ext cx="407282" cy="1"/>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矩形: 圓角 25">
            <a:extLst>
              <a:ext uri="{FF2B5EF4-FFF2-40B4-BE49-F238E27FC236}">
                <a16:creationId xmlns:a16="http://schemas.microsoft.com/office/drawing/2014/main" id="{2B9DEEDE-9ED7-EEFA-154C-0301F8B801B8}"/>
              </a:ext>
            </a:extLst>
          </p:cNvPr>
          <p:cNvSpPr/>
          <p:nvPr/>
        </p:nvSpPr>
        <p:spPr>
          <a:xfrm>
            <a:off x="9144272" y="3716633"/>
            <a:ext cx="1734675" cy="572339"/>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Reward Model</a:t>
            </a:r>
          </a:p>
          <a:p>
            <a:pPr algn="ctr"/>
            <a:r>
              <a:rPr lang="en-US" altLang="zh-TW" dirty="0">
                <a:solidFill>
                  <a:schemeClr val="tx1"/>
                </a:solidFill>
                <a:latin typeface="Times New Roman" panose="02020603050405020304" pitchFamily="18" charset="0"/>
                <a:cs typeface="Times New Roman" panose="02020603050405020304" pitchFamily="18" charset="0"/>
              </a:rPr>
              <a:t>(N rewards)</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C7BD0A98-0709-95AE-70E2-851150FCCF78}"/>
              </a:ext>
            </a:extLst>
          </p:cNvPr>
          <p:cNvCxnSpPr>
            <a:cxnSpLocks/>
            <a:stCxn id="20" idx="3"/>
            <a:endCxn id="26" idx="1"/>
          </p:cNvCxnSpPr>
          <p:nvPr/>
        </p:nvCxnSpPr>
        <p:spPr>
          <a:xfrm>
            <a:off x="8668480" y="4002803"/>
            <a:ext cx="475792"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直線單箭頭接點 33">
            <a:extLst>
              <a:ext uri="{FF2B5EF4-FFF2-40B4-BE49-F238E27FC236}">
                <a16:creationId xmlns:a16="http://schemas.microsoft.com/office/drawing/2014/main" id="{517660E6-626A-0CDD-8640-E14C603C1E85}"/>
              </a:ext>
            </a:extLst>
          </p:cNvPr>
          <p:cNvCxnSpPr>
            <a:cxnSpLocks/>
            <a:stCxn id="26" idx="2"/>
            <a:endCxn id="36" idx="0"/>
          </p:cNvCxnSpPr>
          <p:nvPr/>
        </p:nvCxnSpPr>
        <p:spPr>
          <a:xfrm flipH="1">
            <a:off x="10010630" y="4288972"/>
            <a:ext cx="980" cy="704723"/>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矩形: 圓角 35">
            <a:extLst>
              <a:ext uri="{FF2B5EF4-FFF2-40B4-BE49-F238E27FC236}">
                <a16:creationId xmlns:a16="http://schemas.microsoft.com/office/drawing/2014/main" id="{8BEA7B50-E03B-93E5-F34C-027CC6F3EC4E}"/>
              </a:ext>
            </a:extLst>
          </p:cNvPr>
          <p:cNvSpPr/>
          <p:nvPr/>
        </p:nvSpPr>
        <p:spPr>
          <a:xfrm>
            <a:off x="9143292" y="4993695"/>
            <a:ext cx="1734675" cy="478423"/>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RFT Trainer</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45" name="接點: 肘形 44">
            <a:extLst>
              <a:ext uri="{FF2B5EF4-FFF2-40B4-BE49-F238E27FC236}">
                <a16:creationId xmlns:a16="http://schemas.microsoft.com/office/drawing/2014/main" id="{87DA7368-EB1D-FAA6-6080-A178DCAF77AC}"/>
              </a:ext>
            </a:extLst>
          </p:cNvPr>
          <p:cNvCxnSpPr>
            <a:stCxn id="36" idx="1"/>
            <a:endCxn id="20" idx="2"/>
          </p:cNvCxnSpPr>
          <p:nvPr/>
        </p:nvCxnSpPr>
        <p:spPr>
          <a:xfrm rot="10800000">
            <a:off x="7665092" y="4288973"/>
            <a:ext cx="1478201" cy="943935"/>
          </a:xfrm>
          <a:prstGeom prst="bentConnector2">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6" name="文字方塊 45">
            <a:extLst>
              <a:ext uri="{FF2B5EF4-FFF2-40B4-BE49-F238E27FC236}">
                <a16:creationId xmlns:a16="http://schemas.microsoft.com/office/drawing/2014/main" id="{3A7DB08D-2B5E-ADC3-FB0A-06654D542B40}"/>
              </a:ext>
            </a:extLst>
          </p:cNvPr>
          <p:cNvSpPr txBox="1"/>
          <p:nvPr/>
        </p:nvSpPr>
        <p:spPr>
          <a:xfrm>
            <a:off x="7895980" y="4863574"/>
            <a:ext cx="1083951"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Optimize</a:t>
            </a:r>
            <a:endParaRPr lang="zh-TW" altLang="en-US" dirty="0">
              <a:latin typeface="Times New Roman" panose="02020603050405020304" pitchFamily="18" charset="0"/>
              <a:cs typeface="Times New Roman" panose="02020603050405020304" pitchFamily="18" charset="0"/>
            </a:endParaRPr>
          </a:p>
        </p:txBody>
      </p:sp>
      <p:sp>
        <p:nvSpPr>
          <p:cNvPr id="47" name="矩形: 圓角 46">
            <a:extLst>
              <a:ext uri="{FF2B5EF4-FFF2-40B4-BE49-F238E27FC236}">
                <a16:creationId xmlns:a16="http://schemas.microsoft.com/office/drawing/2014/main" id="{D12BFF09-558F-58A8-860F-63A83F84907C}"/>
              </a:ext>
            </a:extLst>
          </p:cNvPr>
          <p:cNvSpPr/>
          <p:nvPr/>
        </p:nvSpPr>
        <p:spPr>
          <a:xfrm>
            <a:off x="3589804" y="2541494"/>
            <a:ext cx="465511" cy="3037236"/>
          </a:xfrm>
          <a:prstGeom prst="roundRect">
            <a:avLst/>
          </a:prstGeom>
          <a:solidFill>
            <a:schemeClr val="bg1">
              <a:lumMod val="6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Tree>
    <p:extLst>
      <p:ext uri="{BB962C8B-B14F-4D97-AF65-F5344CB8AC3E}">
        <p14:creationId xmlns:p14="http://schemas.microsoft.com/office/powerpoint/2010/main" val="2427604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9">
          <a:extLst>
            <a:ext uri="{FF2B5EF4-FFF2-40B4-BE49-F238E27FC236}">
              <a16:creationId xmlns:a16="http://schemas.microsoft.com/office/drawing/2014/main" id="{3CF72D2C-C81D-741F-970B-9D591BBF19C9}"/>
            </a:ext>
          </a:extLst>
        </p:cNvPr>
        <p:cNvGrpSpPr/>
        <p:nvPr/>
      </p:nvGrpSpPr>
      <p:grpSpPr>
        <a:xfrm>
          <a:off x="0" y="0"/>
          <a:ext cx="0" cy="0"/>
          <a:chOff x="0" y="0"/>
          <a:chExt cx="0" cy="0"/>
        </a:xfrm>
      </p:grpSpPr>
      <p:sp>
        <p:nvSpPr>
          <p:cNvPr id="402" name="Google Shape;402;p49">
            <a:extLst>
              <a:ext uri="{FF2B5EF4-FFF2-40B4-BE49-F238E27FC236}">
                <a16:creationId xmlns:a16="http://schemas.microsoft.com/office/drawing/2014/main" id="{5EB67DC4-DD40-FF46-D0E4-983ED47A0B8F}"/>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23</a:t>
            </a:fld>
            <a:endParaRPr dirty="0"/>
          </a:p>
        </p:txBody>
      </p:sp>
      <p:sp>
        <p:nvSpPr>
          <p:cNvPr id="403" name="Google Shape;403;p49">
            <a:extLst>
              <a:ext uri="{FF2B5EF4-FFF2-40B4-BE49-F238E27FC236}">
                <a16:creationId xmlns:a16="http://schemas.microsoft.com/office/drawing/2014/main" id="{E05F3328-10E4-F831-56F4-83FC05E2A046}"/>
              </a:ext>
            </a:extLst>
          </p:cNvPr>
          <p:cNvSpPr txBox="1">
            <a:spLocks noGrp="1"/>
          </p:cNvSpPr>
          <p:nvPr>
            <p:ph type="ctrTitle" idx="4294967295"/>
          </p:nvPr>
        </p:nvSpPr>
        <p:spPr>
          <a:xfrm>
            <a:off x="515933" y="275967"/>
            <a:ext cx="11260400" cy="792437"/>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Implementation – </a:t>
            </a:r>
            <a:r>
              <a:rPr lang="en-US" altLang="zh-TW" sz="4000" dirty="0">
                <a:latin typeface="Times New Roman"/>
                <a:ea typeface="Times New Roman"/>
                <a:cs typeface="Times New Roman"/>
                <a:sym typeface="Times New Roman"/>
              </a:rPr>
              <a:t>System Architecture</a:t>
            </a:r>
            <a:endParaRPr sz="4000" dirty="0">
              <a:latin typeface="Times New Roman"/>
              <a:ea typeface="Times New Roman"/>
              <a:cs typeface="Times New Roman"/>
              <a:sym typeface="Times New Roman"/>
            </a:endParaRPr>
          </a:p>
        </p:txBody>
      </p:sp>
      <p:pic>
        <p:nvPicPr>
          <p:cNvPr id="4098" name="Picture 2">
            <a:extLst>
              <a:ext uri="{FF2B5EF4-FFF2-40B4-BE49-F238E27FC236}">
                <a16:creationId xmlns:a16="http://schemas.microsoft.com/office/drawing/2014/main" id="{908AA238-04DD-CEA5-1B67-5AA327B35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462" y="1068404"/>
            <a:ext cx="9767887" cy="5924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600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2">
          <a:extLst>
            <a:ext uri="{FF2B5EF4-FFF2-40B4-BE49-F238E27FC236}">
              <a16:creationId xmlns:a16="http://schemas.microsoft.com/office/drawing/2014/main" id="{8D7C39B3-9479-DFA3-FD04-A5120E4AA898}"/>
            </a:ext>
          </a:extLst>
        </p:cNvPr>
        <p:cNvGrpSpPr/>
        <p:nvPr/>
      </p:nvGrpSpPr>
      <p:grpSpPr>
        <a:xfrm>
          <a:off x="0" y="0"/>
          <a:ext cx="0" cy="0"/>
          <a:chOff x="0" y="0"/>
          <a:chExt cx="0" cy="0"/>
        </a:xfrm>
      </p:grpSpPr>
      <p:sp>
        <p:nvSpPr>
          <p:cNvPr id="463" name="Google Shape;463;p52">
            <a:extLst>
              <a:ext uri="{FF2B5EF4-FFF2-40B4-BE49-F238E27FC236}">
                <a16:creationId xmlns:a16="http://schemas.microsoft.com/office/drawing/2014/main" id="{412C37A2-B2A6-0DD8-3B1B-22BB616E160A}"/>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24</a:t>
            </a:fld>
            <a:endParaRPr dirty="0"/>
          </a:p>
        </p:txBody>
      </p:sp>
      <p:sp>
        <p:nvSpPr>
          <p:cNvPr id="464" name="Google Shape;464;p52">
            <a:extLst>
              <a:ext uri="{FF2B5EF4-FFF2-40B4-BE49-F238E27FC236}">
                <a16:creationId xmlns:a16="http://schemas.microsoft.com/office/drawing/2014/main" id="{E2976088-D379-7F53-1C83-8406B37530EC}"/>
              </a:ext>
            </a:extLst>
          </p:cNvPr>
          <p:cNvSpPr txBox="1">
            <a:spLocks noGrp="1"/>
          </p:cNvSpPr>
          <p:nvPr>
            <p:ph type="subTitle" idx="4294967295"/>
          </p:nvPr>
        </p:nvSpPr>
        <p:spPr>
          <a:xfrm>
            <a:off x="302386" y="1106231"/>
            <a:ext cx="11587228" cy="5330148"/>
          </a:xfrm>
          <a:prstGeom prst="rect">
            <a:avLst/>
          </a:prstGeom>
        </p:spPr>
        <p:txBody>
          <a:bodyPr spcFirstLastPara="1" vert="horz" wrap="square" lIns="121900" tIns="121900" rIns="121900" bIns="121900" rtlCol="0" anchor="t" anchorCtr="0">
            <a:noAutofit/>
          </a:bodyPr>
          <a:lstStyle/>
          <a:p>
            <a:pPr marL="566797" indent="-457200">
              <a:lnSpc>
                <a:spcPct val="200000"/>
              </a:lnSpc>
              <a:spcBef>
                <a:spcPts val="0"/>
              </a:spcBef>
              <a:buClr>
                <a:schemeClr val="dk1"/>
              </a:buClr>
              <a:buSzPts val="1200"/>
              <a:buFont typeface="Wingdings" panose="05000000000000000000" pitchFamily="2" charset="2"/>
              <a:buChar char="l"/>
            </a:pPr>
            <a:r>
              <a:rPr lang="en-US" altLang="zh-TW" dirty="0">
                <a:solidFill>
                  <a:schemeClr val="dk1"/>
                </a:solidFill>
                <a:latin typeface="Times New Roman" panose="02020603050405020304" pitchFamily="18" charset="0"/>
                <a:ea typeface="Times New Roman"/>
                <a:cs typeface="Times New Roman" panose="02020603050405020304" pitchFamily="18" charset="0"/>
                <a:sym typeface="Times New Roman"/>
              </a:rPr>
              <a:t>Information encourage attacker dwell in system </a:t>
            </a:r>
          </a:p>
          <a:p>
            <a:pPr marL="1023997" lvl="1" indent="-457200">
              <a:lnSpc>
                <a:spcPct val="150000"/>
              </a:lnSpc>
              <a:spcBef>
                <a:spcPts val="0"/>
              </a:spcBef>
              <a:buClr>
                <a:schemeClr val="dk1"/>
              </a:buClr>
              <a:buSzPts val="1200"/>
              <a:buFont typeface="Wingdings" panose="05000000000000000000" pitchFamily="2" charset="2"/>
              <a:buChar char="l"/>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Explore system resources and configuration files</a:t>
            </a:r>
          </a:p>
          <a:p>
            <a:pPr marL="1023997" lvl="1" indent="-457200">
              <a:lnSpc>
                <a:spcPct val="150000"/>
              </a:lnSpc>
              <a:spcBef>
                <a:spcPts val="0"/>
              </a:spcBef>
              <a:buClr>
                <a:schemeClr val="dk1"/>
              </a:buClr>
              <a:buSzPts val="1200"/>
              <a:buFont typeface="Wingdings" panose="05000000000000000000" pitchFamily="2" charset="2"/>
              <a:buChar char="l"/>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Attempt lateral movement or privilege escalation</a:t>
            </a:r>
          </a:p>
          <a:p>
            <a:pPr marL="566797" indent="-457200">
              <a:lnSpc>
                <a:spcPct val="150000"/>
              </a:lnSpc>
              <a:spcBef>
                <a:spcPts val="0"/>
              </a:spcBef>
              <a:buClr>
                <a:schemeClr val="dk1"/>
              </a:buClr>
              <a:buSzPts val="1200"/>
              <a:buFont typeface="Wingdings" panose="05000000000000000000" pitchFamily="2" charset="2"/>
              <a:buChar char="l"/>
            </a:pPr>
            <a:endParaRPr lang="en-US" altLang="zh-TW" dirty="0">
              <a:sym typeface="Times New Roman"/>
            </a:endParaRPr>
          </a:p>
          <a:p>
            <a:pPr marL="1023997" lvl="1" indent="-457200">
              <a:lnSpc>
                <a:spcPct val="150000"/>
              </a:lnSpc>
              <a:spcBef>
                <a:spcPts val="0"/>
              </a:spcBef>
              <a:buClr>
                <a:schemeClr val="dk1"/>
              </a:buClr>
              <a:buSzPts val="1200"/>
              <a:buFont typeface="Wingdings" panose="05000000000000000000" pitchFamily="2" charset="2"/>
              <a:buChar char="l"/>
            </a:pPr>
            <a:endParaRPr lang="en-US" altLang="zh-TW"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566797" indent="-457200">
              <a:lnSpc>
                <a:spcPct val="150000"/>
              </a:lnSpc>
              <a:spcBef>
                <a:spcPts val="0"/>
              </a:spcBef>
              <a:buClr>
                <a:schemeClr val="dk1"/>
              </a:buClr>
              <a:buSzPts val="1200"/>
              <a:buFont typeface="Wingdings" panose="05000000000000000000" pitchFamily="2" charset="2"/>
              <a:buChar char="l"/>
            </a:pPr>
            <a:endParaRPr lang="en-US" altLang="zh-TW"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465" name="Google Shape;465;p52">
            <a:extLst>
              <a:ext uri="{FF2B5EF4-FFF2-40B4-BE49-F238E27FC236}">
                <a16:creationId xmlns:a16="http://schemas.microsoft.com/office/drawing/2014/main" id="{906E9DD1-AE54-1FB3-C110-F8F85C857597}"/>
              </a:ext>
            </a:extLst>
          </p:cNvPr>
          <p:cNvSpPr txBox="1">
            <a:spLocks noGrp="1"/>
          </p:cNvSpPr>
          <p:nvPr>
            <p:ph type="ctrTitle" idx="4294967295"/>
          </p:nvPr>
        </p:nvSpPr>
        <p:spPr>
          <a:xfrm>
            <a:off x="536405" y="275967"/>
            <a:ext cx="11260400" cy="900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Implementation – </a:t>
            </a:r>
            <a:r>
              <a:rPr lang="en-US" altLang="zh-TW" sz="4000" dirty="0">
                <a:latin typeface="Times New Roman"/>
                <a:ea typeface="Times New Roman"/>
                <a:cs typeface="Times New Roman"/>
                <a:sym typeface="Times New Roman"/>
              </a:rPr>
              <a:t>Simulated IT Systems</a:t>
            </a:r>
            <a:r>
              <a:rPr lang="en-US" altLang="zh-TW" sz="3200" baseline="50000" dirty="0">
                <a:latin typeface="Times New Roman"/>
                <a:ea typeface="Times New Roman"/>
                <a:cs typeface="Times New Roman"/>
                <a:sym typeface="Times New Roman"/>
              </a:rPr>
              <a:t>[24]</a:t>
            </a:r>
            <a:endParaRPr sz="4000" baseline="50000" dirty="0">
              <a:latin typeface="Times New Roman"/>
              <a:ea typeface="Times New Roman"/>
              <a:cs typeface="Times New Roman"/>
              <a:sym typeface="Times New Roman"/>
            </a:endParaRPr>
          </a:p>
        </p:txBody>
      </p:sp>
      <p:pic>
        <p:nvPicPr>
          <p:cNvPr id="7170" name="Picture 2">
            <a:extLst>
              <a:ext uri="{FF2B5EF4-FFF2-40B4-BE49-F238E27FC236}">
                <a16:creationId xmlns:a16="http://schemas.microsoft.com/office/drawing/2014/main" id="{A2AB165A-CADC-67E8-25C4-10D4C3E1D9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7701" y="1837287"/>
            <a:ext cx="4862860" cy="4156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644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2">
          <a:extLst>
            <a:ext uri="{FF2B5EF4-FFF2-40B4-BE49-F238E27FC236}">
              <a16:creationId xmlns:a16="http://schemas.microsoft.com/office/drawing/2014/main" id="{F1254930-FFED-A5D1-8174-956C1DE540F5}"/>
            </a:ext>
          </a:extLst>
        </p:cNvPr>
        <p:cNvGrpSpPr/>
        <p:nvPr/>
      </p:nvGrpSpPr>
      <p:grpSpPr>
        <a:xfrm>
          <a:off x="0" y="0"/>
          <a:ext cx="0" cy="0"/>
          <a:chOff x="0" y="0"/>
          <a:chExt cx="0" cy="0"/>
        </a:xfrm>
      </p:grpSpPr>
      <p:sp>
        <p:nvSpPr>
          <p:cNvPr id="463" name="Google Shape;463;p52">
            <a:extLst>
              <a:ext uri="{FF2B5EF4-FFF2-40B4-BE49-F238E27FC236}">
                <a16:creationId xmlns:a16="http://schemas.microsoft.com/office/drawing/2014/main" id="{F650BFAA-72B1-A61F-1458-D65EB42DAD60}"/>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25</a:t>
            </a:fld>
            <a:endParaRPr dirty="0"/>
          </a:p>
        </p:txBody>
      </p:sp>
      <p:sp>
        <p:nvSpPr>
          <p:cNvPr id="465" name="Google Shape;465;p52">
            <a:extLst>
              <a:ext uri="{FF2B5EF4-FFF2-40B4-BE49-F238E27FC236}">
                <a16:creationId xmlns:a16="http://schemas.microsoft.com/office/drawing/2014/main" id="{D01D541B-F77C-2F93-8FBD-B0C58492C59A}"/>
              </a:ext>
            </a:extLst>
          </p:cNvPr>
          <p:cNvSpPr txBox="1">
            <a:spLocks noGrp="1"/>
          </p:cNvSpPr>
          <p:nvPr>
            <p:ph type="ctrTitle" idx="4294967295"/>
          </p:nvPr>
        </p:nvSpPr>
        <p:spPr>
          <a:xfrm>
            <a:off x="591075" y="234210"/>
            <a:ext cx="11260400" cy="900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Implementation – </a:t>
            </a:r>
            <a:r>
              <a:rPr lang="en-US" altLang="zh-TW" sz="4000" dirty="0">
                <a:latin typeface="Times New Roman"/>
                <a:ea typeface="Times New Roman"/>
                <a:cs typeface="Times New Roman"/>
                <a:sym typeface="Times New Roman"/>
              </a:rPr>
              <a:t>Simulated Attacker</a:t>
            </a:r>
            <a:endParaRPr sz="4000" baseline="50000" dirty="0">
              <a:latin typeface="Times New Roman"/>
              <a:ea typeface="Times New Roman"/>
              <a:cs typeface="Times New Roman"/>
              <a:sym typeface="Times New Roman"/>
            </a:endParaRPr>
          </a:p>
        </p:txBody>
      </p:sp>
      <p:pic>
        <p:nvPicPr>
          <p:cNvPr id="3" name="圖片 2">
            <a:extLst>
              <a:ext uri="{FF2B5EF4-FFF2-40B4-BE49-F238E27FC236}">
                <a16:creationId xmlns:a16="http://schemas.microsoft.com/office/drawing/2014/main" id="{1EE51749-D8B6-1094-F655-0A6C02020E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3058" y="2837677"/>
            <a:ext cx="1640745" cy="1640745"/>
          </a:xfrm>
          <a:prstGeom prst="rect">
            <a:avLst/>
          </a:prstGeom>
        </p:spPr>
      </p:pic>
      <p:sp>
        <p:nvSpPr>
          <p:cNvPr id="4" name="矩形: 圓角 3">
            <a:extLst>
              <a:ext uri="{FF2B5EF4-FFF2-40B4-BE49-F238E27FC236}">
                <a16:creationId xmlns:a16="http://schemas.microsoft.com/office/drawing/2014/main" id="{8401496C-D4AD-5049-2ED7-0F82D6BD83A5}"/>
              </a:ext>
            </a:extLst>
          </p:cNvPr>
          <p:cNvSpPr/>
          <p:nvPr/>
        </p:nvSpPr>
        <p:spPr>
          <a:xfrm>
            <a:off x="1491734" y="1540170"/>
            <a:ext cx="2783391"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Available Linux Tools</a:t>
            </a:r>
          </a:p>
          <a:p>
            <a:pPr algn="ctr"/>
            <a:r>
              <a:rPr lang="en-US" altLang="zh-TW" dirty="0">
                <a:solidFill>
                  <a:schemeClr val="tx1"/>
                </a:solidFill>
                <a:latin typeface="Times New Roman" panose="02020603050405020304" pitchFamily="18" charset="0"/>
                <a:cs typeface="Times New Roman" panose="02020603050405020304" pitchFamily="18" charset="0"/>
              </a:rPr>
              <a:t>(Categorized by Tactics)</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A4EB28AA-E6A5-A5A6-FED9-3DCED472FEBA}"/>
              </a:ext>
            </a:extLst>
          </p:cNvPr>
          <p:cNvSpPr txBox="1"/>
          <p:nvPr/>
        </p:nvSpPr>
        <p:spPr>
          <a:xfrm>
            <a:off x="2393551" y="4538319"/>
            <a:ext cx="979755" cy="646331"/>
          </a:xfrm>
          <a:prstGeom prst="rect">
            <a:avLst/>
          </a:prstGeom>
          <a:noFill/>
        </p:spPr>
        <p:txBody>
          <a:bodyPr wrap="none" rtlCol="0">
            <a:spAutoFit/>
          </a:bodyPr>
          <a:lstStyle/>
          <a:p>
            <a:pPr algn="ctr"/>
            <a:r>
              <a:rPr lang="en-US" altLang="zh-TW" dirty="0">
                <a:latin typeface="Times New Roman" panose="02020603050405020304" pitchFamily="18" charset="0"/>
                <a:cs typeface="Times New Roman" panose="02020603050405020304" pitchFamily="18" charset="0"/>
              </a:rPr>
              <a:t>GPT-5</a:t>
            </a:r>
          </a:p>
          <a:p>
            <a:pPr algn="ctr"/>
            <a:r>
              <a:rPr lang="en-US" altLang="zh-TW" dirty="0">
                <a:latin typeface="Times New Roman" panose="02020603050405020304" pitchFamily="18" charset="0"/>
                <a:cs typeface="Times New Roman" panose="02020603050405020304" pitchFamily="18" charset="0"/>
              </a:rPr>
              <a:t>Attacker</a:t>
            </a:r>
            <a:endParaRPr lang="zh-TW" altLang="en-US"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20785A75-E0A3-4E6C-7722-50BBD93A33FA}"/>
              </a:ext>
            </a:extLst>
          </p:cNvPr>
          <p:cNvSpPr/>
          <p:nvPr/>
        </p:nvSpPr>
        <p:spPr>
          <a:xfrm>
            <a:off x="4604331" y="2777781"/>
            <a:ext cx="2918460" cy="1760538"/>
          </a:xfrm>
          <a:prstGeom prst="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Structural Fields</a:t>
            </a:r>
          </a:p>
          <a:p>
            <a:pPr marL="285750" indent="-285750">
              <a:buFontTx/>
              <a:buChar char="-"/>
            </a:pPr>
            <a:r>
              <a:rPr lang="en-US" altLang="zh-TW" dirty="0">
                <a:solidFill>
                  <a:schemeClr val="tx1"/>
                </a:solidFill>
                <a:latin typeface="Times New Roman" panose="02020603050405020304" pitchFamily="18" charset="0"/>
                <a:cs typeface="Times New Roman" panose="02020603050405020304" pitchFamily="18" charset="0"/>
              </a:rPr>
              <a:t>Thought: …</a:t>
            </a:r>
          </a:p>
          <a:p>
            <a:pPr marL="285750" indent="-285750">
              <a:buFontTx/>
              <a:buChar char="-"/>
            </a:pPr>
            <a:r>
              <a:rPr lang="en-US" altLang="zh-TW" dirty="0">
                <a:solidFill>
                  <a:schemeClr val="tx1"/>
                </a:solidFill>
                <a:latin typeface="Times New Roman" panose="02020603050405020304" pitchFamily="18" charset="0"/>
                <a:cs typeface="Times New Roman" panose="02020603050405020304" pitchFamily="18" charset="0"/>
              </a:rPr>
              <a:t>Tactic: …</a:t>
            </a:r>
          </a:p>
          <a:p>
            <a:pPr marL="285750" indent="-285750">
              <a:buFontTx/>
              <a:buChar char="-"/>
            </a:pPr>
            <a:r>
              <a:rPr lang="en-US" altLang="zh-TW" dirty="0">
                <a:solidFill>
                  <a:schemeClr val="tx1"/>
                </a:solidFill>
                <a:latin typeface="Times New Roman" panose="02020603050405020304" pitchFamily="18" charset="0"/>
                <a:cs typeface="Times New Roman" panose="02020603050405020304" pitchFamily="18" charset="0"/>
              </a:rPr>
              <a:t>Findings: …</a:t>
            </a:r>
          </a:p>
          <a:p>
            <a:pPr marL="285750" indent="-285750">
              <a:buFontTx/>
              <a:buChar char="-"/>
            </a:pPr>
            <a:r>
              <a:rPr lang="en-US" altLang="zh-TW" dirty="0" err="1">
                <a:solidFill>
                  <a:schemeClr val="tx1"/>
                </a:solidFill>
                <a:latin typeface="Times New Roman" panose="02020603050405020304" pitchFamily="18" charset="0"/>
                <a:cs typeface="Times New Roman" panose="02020603050405020304" pitchFamily="18" charset="0"/>
              </a:rPr>
              <a:t>Tool_params</a:t>
            </a:r>
            <a:r>
              <a:rPr lang="en-US" altLang="zh-TW" dirty="0">
                <a:solidFill>
                  <a:schemeClr val="tx1"/>
                </a:solidFill>
                <a:latin typeface="Times New Roman" panose="02020603050405020304" pitchFamily="18" charset="0"/>
                <a:cs typeface="Times New Roman" panose="02020603050405020304" pitchFamily="18" charset="0"/>
              </a:rPr>
              <a:t>: …</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9" name="矩形: 圓角 8">
            <a:extLst>
              <a:ext uri="{FF2B5EF4-FFF2-40B4-BE49-F238E27FC236}">
                <a16:creationId xmlns:a16="http://schemas.microsoft.com/office/drawing/2014/main" id="{7E4CAD52-452B-A9C6-68CF-5FA240C03D1A}"/>
              </a:ext>
            </a:extLst>
          </p:cNvPr>
          <p:cNvSpPr/>
          <p:nvPr/>
        </p:nvSpPr>
        <p:spPr>
          <a:xfrm>
            <a:off x="8602980" y="3359131"/>
            <a:ext cx="1613251" cy="597836"/>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Simulated System</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11" name="接點: 肘形 10">
            <a:extLst>
              <a:ext uri="{FF2B5EF4-FFF2-40B4-BE49-F238E27FC236}">
                <a16:creationId xmlns:a16="http://schemas.microsoft.com/office/drawing/2014/main" id="{9AFB6CFA-A932-8E25-6E19-7529E3615834}"/>
              </a:ext>
            </a:extLst>
          </p:cNvPr>
          <p:cNvCxnSpPr>
            <a:cxnSpLocks/>
            <a:stCxn id="9" idx="2"/>
            <a:endCxn id="6" idx="2"/>
          </p:cNvCxnSpPr>
          <p:nvPr/>
        </p:nvCxnSpPr>
        <p:spPr>
          <a:xfrm rot="5400000">
            <a:off x="5532677" y="1307720"/>
            <a:ext cx="1227683" cy="6526177"/>
          </a:xfrm>
          <a:prstGeom prst="bentConnector3">
            <a:avLst>
              <a:gd name="adj1" fmla="val 13252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直線單箭頭接點 13">
            <a:extLst>
              <a:ext uri="{FF2B5EF4-FFF2-40B4-BE49-F238E27FC236}">
                <a16:creationId xmlns:a16="http://schemas.microsoft.com/office/drawing/2014/main" id="{7F63E7BD-58B3-D9BF-4C61-AD87F16A3DB2}"/>
              </a:ext>
            </a:extLst>
          </p:cNvPr>
          <p:cNvCxnSpPr>
            <a:cxnSpLocks/>
            <a:stCxn id="4" idx="2"/>
            <a:endCxn id="3" idx="0"/>
          </p:cNvCxnSpPr>
          <p:nvPr/>
        </p:nvCxnSpPr>
        <p:spPr>
          <a:xfrm>
            <a:off x="2883430" y="2167981"/>
            <a:ext cx="1" cy="669696"/>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直線單箭頭接點 16">
            <a:extLst>
              <a:ext uri="{FF2B5EF4-FFF2-40B4-BE49-F238E27FC236}">
                <a16:creationId xmlns:a16="http://schemas.microsoft.com/office/drawing/2014/main" id="{026A3CD6-0389-85B7-9ABB-4C89B44866F5}"/>
              </a:ext>
            </a:extLst>
          </p:cNvPr>
          <p:cNvCxnSpPr>
            <a:stCxn id="3" idx="3"/>
            <a:endCxn id="7" idx="1"/>
          </p:cNvCxnSpPr>
          <p:nvPr/>
        </p:nvCxnSpPr>
        <p:spPr>
          <a:xfrm>
            <a:off x="3703803" y="3658050"/>
            <a:ext cx="900528"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9" name="文字方塊 18">
            <a:extLst>
              <a:ext uri="{FF2B5EF4-FFF2-40B4-BE49-F238E27FC236}">
                <a16:creationId xmlns:a16="http://schemas.microsoft.com/office/drawing/2014/main" id="{2FBE8674-6526-6A46-7412-21FD37E7819B}"/>
              </a:ext>
            </a:extLst>
          </p:cNvPr>
          <p:cNvSpPr txBox="1"/>
          <p:nvPr/>
        </p:nvSpPr>
        <p:spPr>
          <a:xfrm>
            <a:off x="3690055" y="3288718"/>
            <a:ext cx="851515"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Update</a:t>
            </a:r>
            <a:endParaRPr lang="zh-TW" altLang="en-US" dirty="0">
              <a:latin typeface="Times New Roman" panose="02020603050405020304" pitchFamily="18" charset="0"/>
              <a:cs typeface="Times New Roman" panose="02020603050405020304" pitchFamily="18" charset="0"/>
            </a:endParaRPr>
          </a:p>
        </p:txBody>
      </p:sp>
      <p:cxnSp>
        <p:nvCxnSpPr>
          <p:cNvPr id="29" name="直線單箭頭接點 28">
            <a:extLst>
              <a:ext uri="{FF2B5EF4-FFF2-40B4-BE49-F238E27FC236}">
                <a16:creationId xmlns:a16="http://schemas.microsoft.com/office/drawing/2014/main" id="{7644D944-AD6E-737C-E3C1-D48AD3F70E8F}"/>
              </a:ext>
            </a:extLst>
          </p:cNvPr>
          <p:cNvCxnSpPr>
            <a:cxnSpLocks/>
            <a:stCxn id="7" idx="3"/>
            <a:endCxn id="9" idx="1"/>
          </p:cNvCxnSpPr>
          <p:nvPr/>
        </p:nvCxnSpPr>
        <p:spPr>
          <a:xfrm flipV="1">
            <a:off x="7522791" y="3658049"/>
            <a:ext cx="1080189" cy="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34" name="文字方塊 33">
            <a:extLst>
              <a:ext uri="{FF2B5EF4-FFF2-40B4-BE49-F238E27FC236}">
                <a16:creationId xmlns:a16="http://schemas.microsoft.com/office/drawing/2014/main" id="{7D53529B-2F18-0EE1-0937-730BE0637AAF}"/>
              </a:ext>
            </a:extLst>
          </p:cNvPr>
          <p:cNvSpPr txBox="1"/>
          <p:nvPr/>
        </p:nvSpPr>
        <p:spPr>
          <a:xfrm>
            <a:off x="7522791" y="3288718"/>
            <a:ext cx="1043876"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Executed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958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2">
          <a:extLst>
            <a:ext uri="{FF2B5EF4-FFF2-40B4-BE49-F238E27FC236}">
              <a16:creationId xmlns:a16="http://schemas.microsoft.com/office/drawing/2014/main" id="{A2EBA992-E013-7EF0-7310-4DD9FCE87D04}"/>
            </a:ext>
          </a:extLst>
        </p:cNvPr>
        <p:cNvGrpSpPr/>
        <p:nvPr/>
      </p:nvGrpSpPr>
      <p:grpSpPr>
        <a:xfrm>
          <a:off x="0" y="0"/>
          <a:ext cx="0" cy="0"/>
          <a:chOff x="0" y="0"/>
          <a:chExt cx="0" cy="0"/>
        </a:xfrm>
      </p:grpSpPr>
      <p:sp>
        <p:nvSpPr>
          <p:cNvPr id="463" name="Google Shape;463;p52">
            <a:extLst>
              <a:ext uri="{FF2B5EF4-FFF2-40B4-BE49-F238E27FC236}">
                <a16:creationId xmlns:a16="http://schemas.microsoft.com/office/drawing/2014/main" id="{04B164B6-691F-976B-9B87-15F975953E63}"/>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latin typeface="Times New Roman" panose="02020603050405020304" pitchFamily="18" charset="0"/>
                <a:cs typeface="Times New Roman" panose="02020603050405020304" pitchFamily="18" charset="0"/>
              </a:rPr>
              <a:pPr/>
              <a:t>26</a:t>
            </a:fld>
            <a:endParaRPr dirty="0">
              <a:latin typeface="Times New Roman" panose="02020603050405020304" pitchFamily="18" charset="0"/>
              <a:cs typeface="Times New Roman" panose="02020603050405020304" pitchFamily="18" charset="0"/>
            </a:endParaRPr>
          </a:p>
        </p:txBody>
      </p:sp>
      <p:sp>
        <p:nvSpPr>
          <p:cNvPr id="465" name="Google Shape;465;p52">
            <a:extLst>
              <a:ext uri="{FF2B5EF4-FFF2-40B4-BE49-F238E27FC236}">
                <a16:creationId xmlns:a16="http://schemas.microsoft.com/office/drawing/2014/main" id="{EE6805F5-D80E-48B5-9D95-6E67EBDFBBBD}"/>
              </a:ext>
            </a:extLst>
          </p:cNvPr>
          <p:cNvSpPr txBox="1">
            <a:spLocks noGrp="1"/>
          </p:cNvSpPr>
          <p:nvPr>
            <p:ph type="ctrTitle" idx="4294967295"/>
          </p:nvPr>
        </p:nvSpPr>
        <p:spPr>
          <a:xfrm>
            <a:off x="536405" y="275967"/>
            <a:ext cx="11260400" cy="900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panose="02020603050405020304" pitchFamily="18" charset="0"/>
                <a:ea typeface="Times New Roman"/>
                <a:cs typeface="Times New Roman" panose="02020603050405020304" pitchFamily="18" charset="0"/>
                <a:sym typeface="Times New Roman"/>
              </a:rPr>
              <a:t>Implementation – </a:t>
            </a:r>
            <a:r>
              <a:rPr lang="en-US" altLang="zh-TW" sz="4000" dirty="0">
                <a:latin typeface="Times New Roman" panose="02020603050405020304" pitchFamily="18" charset="0"/>
                <a:ea typeface="Times New Roman"/>
                <a:cs typeface="Times New Roman" panose="02020603050405020304" pitchFamily="18" charset="0"/>
                <a:sym typeface="Times New Roman"/>
              </a:rPr>
              <a:t>Dataset Generation</a:t>
            </a:r>
            <a:endParaRPr sz="4000" baseline="50000" dirty="0">
              <a:latin typeface="Times New Roman" panose="02020603050405020304" pitchFamily="18" charset="0"/>
              <a:ea typeface="Times New Roman"/>
              <a:cs typeface="Times New Roman" panose="02020603050405020304" pitchFamily="18" charset="0"/>
              <a:sym typeface="Times New Roman"/>
            </a:endParaRPr>
          </a:p>
        </p:txBody>
      </p:sp>
      <p:sp>
        <p:nvSpPr>
          <p:cNvPr id="2" name="文字方塊 1">
            <a:extLst>
              <a:ext uri="{FF2B5EF4-FFF2-40B4-BE49-F238E27FC236}">
                <a16:creationId xmlns:a16="http://schemas.microsoft.com/office/drawing/2014/main" id="{951D2ED6-C0DD-0136-8C0B-2D2E2539C1C0}"/>
              </a:ext>
            </a:extLst>
          </p:cNvPr>
          <p:cNvSpPr txBox="1"/>
          <p:nvPr/>
        </p:nvSpPr>
        <p:spPr>
          <a:xfrm>
            <a:off x="9774418" y="1691908"/>
            <a:ext cx="1020472"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For SFT</a:t>
            </a:r>
            <a:endParaRPr lang="zh-TW" altLang="en-US" b="1"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5A13FC44-7EF4-51DD-92BD-84CAF7C4D958}"/>
              </a:ext>
            </a:extLst>
          </p:cNvPr>
          <p:cNvSpPr txBox="1"/>
          <p:nvPr/>
        </p:nvSpPr>
        <p:spPr>
          <a:xfrm>
            <a:off x="10595911" y="4960645"/>
            <a:ext cx="1264129"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For GRPO</a:t>
            </a:r>
            <a:endParaRPr lang="zh-TW" alt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矩形: 圓角 3">
                <a:extLst>
                  <a:ext uri="{FF2B5EF4-FFF2-40B4-BE49-F238E27FC236}">
                    <a16:creationId xmlns:a16="http://schemas.microsoft.com/office/drawing/2014/main" id="{22A20A19-0B3D-A76F-B159-70A70AC28301}"/>
                  </a:ext>
                </a:extLst>
              </p:cNvPr>
              <p:cNvSpPr/>
              <p:nvPr/>
            </p:nvSpPr>
            <p:spPr>
              <a:xfrm>
                <a:off x="719967" y="2869747"/>
                <a:ext cx="3675529" cy="514086"/>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a:rPr lang="en-US" altLang="zh-TW" b="0" i="1" smtClean="0">
                              <a:solidFill>
                                <a:schemeClr val="dk1"/>
                              </a:solidFill>
                              <a:latin typeface="Cambria Math" panose="02040503050406030204" pitchFamily="18" charset="0"/>
                              <a:sym typeface="Libertinus Math"/>
                            </a:rPr>
                            <m:t>2</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 </m:t>
                              </m:r>
                            </m:e>
                          </m:d>
                        </m:e>
                        <m:sub>
                          <m:r>
                            <a:rPr lang="en-US" altLang="zh-TW" b="0" i="1" smtClean="0">
                              <a:solidFill>
                                <a:schemeClr val="dk1"/>
                              </a:solidFill>
                              <a:latin typeface="Cambria Math" panose="02040503050406030204" pitchFamily="18" charset="0"/>
                              <a:sym typeface="Libertinus Math"/>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4" name="矩形: 圓角 3">
                <a:extLst>
                  <a:ext uri="{FF2B5EF4-FFF2-40B4-BE49-F238E27FC236}">
                    <a16:creationId xmlns:a16="http://schemas.microsoft.com/office/drawing/2014/main" id="{22A20A19-0B3D-A76F-B159-70A70AC28301}"/>
                  </a:ext>
                </a:extLst>
              </p:cNvPr>
              <p:cNvSpPr>
                <a:spLocks noRot="1" noChangeAspect="1" noMove="1" noResize="1" noEditPoints="1" noAdjustHandles="1" noChangeArrowheads="1" noChangeShapeType="1" noTextEdit="1"/>
              </p:cNvSpPr>
              <p:nvPr/>
            </p:nvSpPr>
            <p:spPr>
              <a:xfrm>
                <a:off x="719967" y="2869747"/>
                <a:ext cx="3675529" cy="514086"/>
              </a:xfrm>
              <a:prstGeom prst="roundRect">
                <a:avLst/>
              </a:prstGeom>
              <a:blipFill>
                <a:blip r:embed="rId3"/>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矩形: 圓角 4">
                <a:extLst>
                  <a:ext uri="{FF2B5EF4-FFF2-40B4-BE49-F238E27FC236}">
                    <a16:creationId xmlns:a16="http://schemas.microsoft.com/office/drawing/2014/main" id="{0298B342-79BF-C213-D52B-8DC7DD3CB647}"/>
                  </a:ext>
                </a:extLst>
              </p:cNvPr>
              <p:cNvSpPr/>
              <p:nvPr/>
            </p:nvSpPr>
            <p:spPr>
              <a:xfrm>
                <a:off x="745813" y="4200666"/>
                <a:ext cx="3675529" cy="51026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m:rPr>
                              <m:sty m:val="p"/>
                            </m:rPr>
                            <a:rPr lang="en-US" altLang="zh-TW" b="0" i="1" smtClean="0">
                              <a:solidFill>
                                <a:schemeClr val="dk1"/>
                              </a:solidFill>
                              <a:latin typeface="Cambria Math" panose="02040503050406030204" pitchFamily="18" charset="0"/>
                              <a:sym typeface="Libertinus Math"/>
                            </a:rPr>
                            <m:t>k</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 </m:t>
                              </m:r>
                            </m:e>
                          </m:d>
                        </m:e>
                        <m:sub>
                          <m:r>
                            <m:rPr>
                              <m:sty m:val="p"/>
                            </m:rPr>
                            <a:rPr lang="en-US" altLang="zh-TW" b="0" i="1" smtClean="0">
                              <a:solidFill>
                                <a:schemeClr val="dk1"/>
                              </a:solidFill>
                              <a:latin typeface="Cambria Math" panose="02040503050406030204" pitchFamily="18" charset="0"/>
                              <a:sym typeface="Libertinus Math"/>
                            </a:rPr>
                            <m:t>k</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5" name="矩形: 圓角 4">
                <a:extLst>
                  <a:ext uri="{FF2B5EF4-FFF2-40B4-BE49-F238E27FC236}">
                    <a16:creationId xmlns:a16="http://schemas.microsoft.com/office/drawing/2014/main" id="{0298B342-79BF-C213-D52B-8DC7DD3CB647}"/>
                  </a:ext>
                </a:extLst>
              </p:cNvPr>
              <p:cNvSpPr>
                <a:spLocks noRot="1" noChangeAspect="1" noMove="1" noResize="1" noEditPoints="1" noAdjustHandles="1" noChangeArrowheads="1" noChangeShapeType="1" noTextEdit="1"/>
              </p:cNvSpPr>
              <p:nvPr/>
            </p:nvSpPr>
            <p:spPr>
              <a:xfrm>
                <a:off x="745813" y="4200666"/>
                <a:ext cx="3675529" cy="510261"/>
              </a:xfrm>
              <a:prstGeom prst="roundRect">
                <a:avLst/>
              </a:prstGeom>
              <a:blipFill>
                <a:blip r:embed="rId4"/>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圓角 5">
                <a:extLst>
                  <a:ext uri="{FF2B5EF4-FFF2-40B4-BE49-F238E27FC236}">
                    <a16:creationId xmlns:a16="http://schemas.microsoft.com/office/drawing/2014/main" id="{513CCF7F-E7B6-2D06-6C04-C03A9F0C5330}"/>
                  </a:ext>
                </a:extLst>
              </p:cNvPr>
              <p:cNvSpPr/>
              <p:nvPr/>
            </p:nvSpPr>
            <p:spPr>
              <a:xfrm>
                <a:off x="719969" y="2199565"/>
                <a:ext cx="3675529" cy="514086"/>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a:rPr lang="en-US" altLang="zh-TW" b="0" i="1" smtClean="0">
                              <a:solidFill>
                                <a:schemeClr val="dk1"/>
                              </a:solidFill>
                              <a:latin typeface="Cambria Math" panose="02040503050406030204" pitchFamily="18" charset="0"/>
                              <a:sym typeface="Libertinus Math"/>
                            </a:rPr>
                            <m:t>1</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 </m:t>
                              </m:r>
                            </m:e>
                          </m:d>
                        </m:e>
                        <m:sub>
                          <m:r>
                            <a:rPr lang="en-US" altLang="zh-TW" b="0" i="1" smtClean="0">
                              <a:solidFill>
                                <a:schemeClr val="dk1"/>
                              </a:solidFill>
                              <a:latin typeface="Cambria Math" panose="02040503050406030204" pitchFamily="18" charset="0"/>
                              <a:sym typeface="Libertinus Math"/>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6" name="矩形: 圓角 5">
                <a:extLst>
                  <a:ext uri="{FF2B5EF4-FFF2-40B4-BE49-F238E27FC236}">
                    <a16:creationId xmlns:a16="http://schemas.microsoft.com/office/drawing/2014/main" id="{513CCF7F-E7B6-2D06-6C04-C03A9F0C5330}"/>
                  </a:ext>
                </a:extLst>
              </p:cNvPr>
              <p:cNvSpPr>
                <a:spLocks noRot="1" noChangeAspect="1" noMove="1" noResize="1" noEditPoints="1" noAdjustHandles="1" noChangeArrowheads="1" noChangeShapeType="1" noTextEdit="1"/>
              </p:cNvSpPr>
              <p:nvPr/>
            </p:nvSpPr>
            <p:spPr>
              <a:xfrm>
                <a:off x="719969" y="2199565"/>
                <a:ext cx="3675529" cy="514086"/>
              </a:xfrm>
              <a:prstGeom prst="roundRect">
                <a:avLst/>
              </a:prstGeom>
              <a:blipFill>
                <a:blip r:embed="rId5"/>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7" name="矩形: 圓角 6">
            <a:extLst>
              <a:ext uri="{FF2B5EF4-FFF2-40B4-BE49-F238E27FC236}">
                <a16:creationId xmlns:a16="http://schemas.microsoft.com/office/drawing/2014/main" id="{136E0017-67CC-A3E3-5588-A6314EF7B81C}"/>
              </a:ext>
            </a:extLst>
          </p:cNvPr>
          <p:cNvSpPr/>
          <p:nvPr/>
        </p:nvSpPr>
        <p:spPr>
          <a:xfrm>
            <a:off x="719966" y="3536981"/>
            <a:ext cx="3675529" cy="510537"/>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8" name="圓柱形 7">
            <a:extLst>
              <a:ext uri="{FF2B5EF4-FFF2-40B4-BE49-F238E27FC236}">
                <a16:creationId xmlns:a16="http://schemas.microsoft.com/office/drawing/2014/main" id="{DD598715-59C0-E787-D1F8-ED2E2B50F840}"/>
              </a:ext>
            </a:extLst>
          </p:cNvPr>
          <p:cNvSpPr/>
          <p:nvPr/>
        </p:nvSpPr>
        <p:spPr>
          <a:xfrm>
            <a:off x="644044" y="1342013"/>
            <a:ext cx="3860800" cy="3677318"/>
          </a:xfrm>
          <a:prstGeom prst="can">
            <a:avLst>
              <a:gd name="adj" fmla="val 19426"/>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9" name="矩形: 圓角 8">
            <a:extLst>
              <a:ext uri="{FF2B5EF4-FFF2-40B4-BE49-F238E27FC236}">
                <a16:creationId xmlns:a16="http://schemas.microsoft.com/office/drawing/2014/main" id="{23FB213D-0B2D-03CD-1CBF-000E40F73DF1}"/>
              </a:ext>
            </a:extLst>
          </p:cNvPr>
          <p:cNvSpPr/>
          <p:nvPr/>
        </p:nvSpPr>
        <p:spPr>
          <a:xfrm>
            <a:off x="1096521" y="1497772"/>
            <a:ext cx="2974111" cy="342990"/>
          </a:xfrm>
          <a:prstGeom prst="round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2000" dirty="0">
                <a:solidFill>
                  <a:schemeClr val="tx1"/>
                </a:solidFill>
                <a:latin typeface="Times New Roman" panose="02020603050405020304" pitchFamily="18" charset="0"/>
                <a:cs typeface="Times New Roman" panose="02020603050405020304" pitchFamily="18" charset="0"/>
              </a:rPr>
              <a:t>Live Engagement trajectories</a:t>
            </a:r>
            <a:endParaRPr lang="zh-TW"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12" name="直線單箭頭接點 11">
            <a:extLst>
              <a:ext uri="{FF2B5EF4-FFF2-40B4-BE49-F238E27FC236}">
                <a16:creationId xmlns:a16="http://schemas.microsoft.com/office/drawing/2014/main" id="{DA807BAE-DBBC-DA0D-F58A-60DABADB2C4C}"/>
              </a:ext>
            </a:extLst>
          </p:cNvPr>
          <p:cNvCxnSpPr>
            <a:cxnSpLocks/>
          </p:cNvCxnSpPr>
          <p:nvPr/>
        </p:nvCxnSpPr>
        <p:spPr>
          <a:xfrm>
            <a:off x="4504844" y="2009009"/>
            <a:ext cx="58952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6" name="圖片 15">
            <a:extLst>
              <a:ext uri="{FF2B5EF4-FFF2-40B4-BE49-F238E27FC236}">
                <a16:creationId xmlns:a16="http://schemas.microsoft.com/office/drawing/2014/main" id="{BB15F3FD-AC16-FA52-6FD6-9CC6F783F6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4367" y="1188637"/>
            <a:ext cx="1640745" cy="1640745"/>
          </a:xfrm>
          <a:prstGeom prst="rect">
            <a:avLst/>
          </a:prstGeom>
        </p:spPr>
      </p:pic>
      <p:sp>
        <p:nvSpPr>
          <p:cNvPr id="17" name="文字方塊 16">
            <a:extLst>
              <a:ext uri="{FF2B5EF4-FFF2-40B4-BE49-F238E27FC236}">
                <a16:creationId xmlns:a16="http://schemas.microsoft.com/office/drawing/2014/main" id="{8EBCC2D3-C3ED-6E50-3F84-88C34C2A2105}"/>
              </a:ext>
            </a:extLst>
          </p:cNvPr>
          <p:cNvSpPr txBox="1"/>
          <p:nvPr/>
        </p:nvSpPr>
        <p:spPr>
          <a:xfrm>
            <a:off x="5388051" y="2857627"/>
            <a:ext cx="1120821" cy="646331"/>
          </a:xfrm>
          <a:prstGeom prst="rect">
            <a:avLst/>
          </a:prstGeom>
          <a:noFill/>
        </p:spPr>
        <p:txBody>
          <a:bodyPr wrap="none" rtlCol="0">
            <a:spAutoFit/>
          </a:bodyPr>
          <a:lstStyle/>
          <a:p>
            <a:pPr algn="ctr"/>
            <a:r>
              <a:rPr lang="en-US" altLang="zh-TW" dirty="0">
                <a:latin typeface="Times New Roman" panose="02020603050405020304" pitchFamily="18" charset="0"/>
                <a:cs typeface="Times New Roman" panose="02020603050405020304" pitchFamily="18" charset="0"/>
              </a:rPr>
              <a:t>GPT-5</a:t>
            </a:r>
          </a:p>
          <a:p>
            <a:pPr algn="ctr"/>
            <a:r>
              <a:rPr lang="en-US" altLang="zh-TW" dirty="0">
                <a:latin typeface="Times New Roman" panose="02020603050405020304" pitchFamily="18" charset="0"/>
                <a:cs typeface="Times New Roman" panose="02020603050405020304" pitchFamily="18" charset="0"/>
              </a:rPr>
              <a:t>Annotator</a:t>
            </a:r>
            <a:endParaRPr lang="zh-TW" altLang="en-US" dirty="0">
              <a:latin typeface="Times New Roman" panose="02020603050405020304" pitchFamily="18" charset="0"/>
              <a:cs typeface="Times New Roman" panose="02020603050405020304" pitchFamily="18" charset="0"/>
            </a:endParaRPr>
          </a:p>
        </p:txBody>
      </p:sp>
      <p:cxnSp>
        <p:nvCxnSpPr>
          <p:cNvPr id="18" name="直線單箭頭接點 17">
            <a:extLst>
              <a:ext uri="{FF2B5EF4-FFF2-40B4-BE49-F238E27FC236}">
                <a16:creationId xmlns:a16="http://schemas.microsoft.com/office/drawing/2014/main" id="{AF853220-F1C0-D2FD-515A-ED000422395A}"/>
              </a:ext>
            </a:extLst>
          </p:cNvPr>
          <p:cNvCxnSpPr>
            <a:cxnSpLocks/>
            <a:stCxn id="16" idx="3"/>
            <a:endCxn id="24" idx="1"/>
          </p:cNvCxnSpPr>
          <p:nvPr/>
        </p:nvCxnSpPr>
        <p:spPr>
          <a:xfrm>
            <a:off x="6735112" y="2009010"/>
            <a:ext cx="591961" cy="641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矩形 23">
            <a:extLst>
              <a:ext uri="{FF2B5EF4-FFF2-40B4-BE49-F238E27FC236}">
                <a16:creationId xmlns:a16="http://schemas.microsoft.com/office/drawing/2014/main" id="{6D3C9D42-405E-E168-332D-4B80174CE632}"/>
              </a:ext>
            </a:extLst>
          </p:cNvPr>
          <p:cNvSpPr/>
          <p:nvPr/>
        </p:nvSpPr>
        <p:spPr>
          <a:xfrm>
            <a:off x="7327073" y="1240367"/>
            <a:ext cx="2365620" cy="1550116"/>
          </a:xfrm>
          <a:prstGeom prst="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Structural Fields</a:t>
            </a:r>
          </a:p>
          <a:p>
            <a:pPr marL="285750" indent="-285750">
              <a:buFontTx/>
              <a:buChar char="-"/>
            </a:pPr>
            <a:r>
              <a:rPr lang="en-US" altLang="zh-TW" dirty="0">
                <a:solidFill>
                  <a:schemeClr val="tx1"/>
                </a:solidFill>
                <a:latin typeface="Times New Roman" panose="02020603050405020304" pitchFamily="18" charset="0"/>
                <a:cs typeface="Times New Roman" panose="02020603050405020304" pitchFamily="18" charset="0"/>
              </a:rPr>
              <a:t>Intent: …</a:t>
            </a:r>
          </a:p>
          <a:p>
            <a:pPr marL="285750" indent="-285750">
              <a:buFontTx/>
              <a:buChar char="-"/>
            </a:pPr>
            <a:r>
              <a:rPr lang="en-US" altLang="zh-TW" dirty="0">
                <a:solidFill>
                  <a:schemeClr val="tx1"/>
                </a:solidFill>
                <a:latin typeface="Times New Roman" panose="02020603050405020304" pitchFamily="18" charset="0"/>
                <a:cs typeface="Times New Roman" panose="02020603050405020304" pitchFamily="18" charset="0"/>
              </a:rPr>
              <a:t>Tactic: …</a:t>
            </a:r>
          </a:p>
          <a:p>
            <a:pPr marL="285750" indent="-285750">
              <a:buFontTx/>
              <a:buChar char="-"/>
            </a:pPr>
            <a:r>
              <a:rPr lang="en-US" altLang="zh-TW" dirty="0">
                <a:solidFill>
                  <a:schemeClr val="tx1"/>
                </a:solidFill>
                <a:latin typeface="Times New Roman" panose="02020603050405020304" pitchFamily="18" charset="0"/>
                <a:cs typeface="Times New Roman" panose="02020603050405020304" pitchFamily="18" charset="0"/>
              </a:rPr>
              <a:t>Strategy: …</a:t>
            </a:r>
          </a:p>
          <a:p>
            <a:pPr marL="285750" indent="-285750">
              <a:buFontTx/>
              <a:buChar char="-"/>
            </a:pPr>
            <a:r>
              <a:rPr lang="en-US" altLang="zh-TW" dirty="0" err="1">
                <a:solidFill>
                  <a:schemeClr val="tx1"/>
                </a:solidFill>
                <a:latin typeface="Times New Roman" panose="02020603050405020304" pitchFamily="18" charset="0"/>
                <a:cs typeface="Times New Roman" panose="02020603050405020304" pitchFamily="18" charset="0"/>
              </a:rPr>
              <a:t>Tool_params</a:t>
            </a:r>
            <a:r>
              <a:rPr lang="en-US" altLang="zh-TW" dirty="0">
                <a:solidFill>
                  <a:schemeClr val="tx1"/>
                </a:solidFill>
                <a:latin typeface="Times New Roman" panose="02020603050405020304" pitchFamily="18" charset="0"/>
                <a:cs typeface="Times New Roman" panose="02020603050405020304" pitchFamily="18" charset="0"/>
              </a:rPr>
              <a:t>: …</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30" name="接點: 肘形 29">
            <a:extLst>
              <a:ext uri="{FF2B5EF4-FFF2-40B4-BE49-F238E27FC236}">
                <a16:creationId xmlns:a16="http://schemas.microsoft.com/office/drawing/2014/main" id="{5E4BE5A6-FECF-0394-CE19-E1E793AE0A09}"/>
              </a:ext>
            </a:extLst>
          </p:cNvPr>
          <p:cNvCxnSpPr>
            <a:cxnSpLocks/>
            <a:stCxn id="8" idx="3"/>
            <a:endCxn id="34" idx="1"/>
          </p:cNvCxnSpPr>
          <p:nvPr/>
        </p:nvCxnSpPr>
        <p:spPr>
          <a:xfrm rot="16200000" flipH="1">
            <a:off x="3157049" y="4436726"/>
            <a:ext cx="595557" cy="1760766"/>
          </a:xfrm>
          <a:prstGeom prst="bentConnector2">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矩形: 圓角 33">
            <a:extLst>
              <a:ext uri="{FF2B5EF4-FFF2-40B4-BE49-F238E27FC236}">
                <a16:creationId xmlns:a16="http://schemas.microsoft.com/office/drawing/2014/main" id="{234DC34A-5030-7D7B-0B04-567B8CE9BBFE}"/>
              </a:ext>
            </a:extLst>
          </p:cNvPr>
          <p:cNvSpPr/>
          <p:nvPr/>
        </p:nvSpPr>
        <p:spPr>
          <a:xfrm>
            <a:off x="4335210" y="5315970"/>
            <a:ext cx="1613251" cy="597836"/>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Evaluator</a:t>
            </a:r>
            <a:endParaRPr lang="zh-TW" alt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6" name="矩形: 圓角 35">
                <a:extLst>
                  <a:ext uri="{FF2B5EF4-FFF2-40B4-BE49-F238E27FC236}">
                    <a16:creationId xmlns:a16="http://schemas.microsoft.com/office/drawing/2014/main" id="{F8CC452A-3DD2-2E3C-AB11-B12AAA438532}"/>
                  </a:ext>
                </a:extLst>
              </p:cNvPr>
              <p:cNvSpPr/>
              <p:nvPr/>
            </p:nvSpPr>
            <p:spPr>
              <a:xfrm>
                <a:off x="6836881" y="4631225"/>
                <a:ext cx="3675529" cy="514086"/>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a:rPr lang="en-US" altLang="zh-TW" b="0" i="1" smtClean="0">
                              <a:solidFill>
                                <a:schemeClr val="dk1"/>
                              </a:solidFill>
                              <a:latin typeface="Cambria Math" panose="02040503050406030204" pitchFamily="18" charset="0"/>
                              <a:sym typeface="Libertinus Math"/>
                            </a:rPr>
                            <m:t>2</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a:rPr lang="en-US" altLang="zh-TW" b="0" i="1" smtClean="0">
                              <a:solidFill>
                                <a:schemeClr val="dk1"/>
                              </a:solidFill>
                              <a:latin typeface="Cambria Math" panose="02040503050406030204" pitchFamily="18" charset="0"/>
                              <a:sym typeface="Libertinus Math"/>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36" name="矩形: 圓角 35">
                <a:extLst>
                  <a:ext uri="{FF2B5EF4-FFF2-40B4-BE49-F238E27FC236}">
                    <a16:creationId xmlns:a16="http://schemas.microsoft.com/office/drawing/2014/main" id="{F8CC452A-3DD2-2E3C-AB11-B12AAA438532}"/>
                  </a:ext>
                </a:extLst>
              </p:cNvPr>
              <p:cNvSpPr>
                <a:spLocks noRot="1" noChangeAspect="1" noMove="1" noResize="1" noEditPoints="1" noAdjustHandles="1" noChangeArrowheads="1" noChangeShapeType="1" noTextEdit="1"/>
              </p:cNvSpPr>
              <p:nvPr/>
            </p:nvSpPr>
            <p:spPr>
              <a:xfrm>
                <a:off x="6836881" y="4631225"/>
                <a:ext cx="3675529" cy="514086"/>
              </a:xfrm>
              <a:prstGeom prst="roundRect">
                <a:avLst/>
              </a:prstGeom>
              <a:blipFill>
                <a:blip r:embed="rId7"/>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7" name="矩形: 圓角 36">
                <a:extLst>
                  <a:ext uri="{FF2B5EF4-FFF2-40B4-BE49-F238E27FC236}">
                    <a16:creationId xmlns:a16="http://schemas.microsoft.com/office/drawing/2014/main" id="{93FEC526-3035-0850-282F-D2F2FB9E51AF}"/>
                  </a:ext>
                </a:extLst>
              </p:cNvPr>
              <p:cNvSpPr/>
              <p:nvPr/>
            </p:nvSpPr>
            <p:spPr>
              <a:xfrm>
                <a:off x="6827746" y="5901734"/>
                <a:ext cx="3675529" cy="510537"/>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m:rPr>
                              <m:sty m:val="p"/>
                            </m:rPr>
                            <a:rPr lang="en-US" altLang="zh-TW" b="0" i="1" smtClean="0">
                              <a:solidFill>
                                <a:schemeClr val="dk1"/>
                              </a:solidFill>
                              <a:latin typeface="Cambria Math" panose="02040503050406030204" pitchFamily="18" charset="0"/>
                              <a:sym typeface="Libertinus Math"/>
                            </a:rPr>
                            <m:t>k</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m:rPr>
                              <m:sty m:val="p"/>
                            </m:rPr>
                            <a:rPr lang="en-US" altLang="zh-TW" b="0" i="1" smtClean="0">
                              <a:solidFill>
                                <a:schemeClr val="dk1"/>
                              </a:solidFill>
                              <a:latin typeface="Cambria Math" panose="02040503050406030204" pitchFamily="18" charset="0"/>
                              <a:sym typeface="Libertinus Math"/>
                            </a:rPr>
                            <m:t>k</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37" name="矩形: 圓角 36">
                <a:extLst>
                  <a:ext uri="{FF2B5EF4-FFF2-40B4-BE49-F238E27FC236}">
                    <a16:creationId xmlns:a16="http://schemas.microsoft.com/office/drawing/2014/main" id="{93FEC526-3035-0850-282F-D2F2FB9E51AF}"/>
                  </a:ext>
                </a:extLst>
              </p:cNvPr>
              <p:cNvSpPr>
                <a:spLocks noRot="1" noChangeAspect="1" noMove="1" noResize="1" noEditPoints="1" noAdjustHandles="1" noChangeArrowheads="1" noChangeShapeType="1" noTextEdit="1"/>
              </p:cNvSpPr>
              <p:nvPr/>
            </p:nvSpPr>
            <p:spPr>
              <a:xfrm>
                <a:off x="6827746" y="5901734"/>
                <a:ext cx="3675529" cy="510537"/>
              </a:xfrm>
              <a:prstGeom prst="roundRect">
                <a:avLst/>
              </a:prstGeom>
              <a:blipFill>
                <a:blip r:embed="rId8"/>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8" name="矩形: 圓角 37">
                <a:extLst>
                  <a:ext uri="{FF2B5EF4-FFF2-40B4-BE49-F238E27FC236}">
                    <a16:creationId xmlns:a16="http://schemas.microsoft.com/office/drawing/2014/main" id="{D9BC6932-2858-6916-C48A-2C78B782F3D3}"/>
                  </a:ext>
                </a:extLst>
              </p:cNvPr>
              <p:cNvSpPr/>
              <p:nvPr/>
            </p:nvSpPr>
            <p:spPr>
              <a:xfrm>
                <a:off x="6836881" y="4045159"/>
                <a:ext cx="3675529" cy="514086"/>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dk1"/>
                              </a:solidFill>
                              <a:latin typeface="Cambria Math" panose="02040503050406030204" pitchFamily="18" charset="0"/>
                              <a:sym typeface="Libertinus Math"/>
                            </a:rPr>
                          </m:ctrlPr>
                        </m:sSubPr>
                        <m:e>
                          <m:r>
                            <a:rPr lang="zh-TW" altLang="en-US" i="1" smtClean="0">
                              <a:solidFill>
                                <a:schemeClr val="dk1"/>
                              </a:solidFill>
                              <a:latin typeface="Cambria Math" panose="02040503050406030204" pitchFamily="18" charset="0"/>
                              <a:sym typeface="Libertinus Math"/>
                            </a:rPr>
                            <m:t>𝒯</m:t>
                          </m:r>
                        </m:e>
                        <m:sub>
                          <m:r>
                            <a:rPr lang="en-US" altLang="zh-TW" b="0" i="1" smtClean="0">
                              <a:solidFill>
                                <a:schemeClr val="dk1"/>
                              </a:solidFill>
                              <a:latin typeface="Cambria Math" panose="02040503050406030204" pitchFamily="18" charset="0"/>
                              <a:sym typeface="Libertinus Math"/>
                            </a:rPr>
                            <m:t>1</m:t>
                          </m:r>
                        </m:sub>
                      </m:sSub>
                      <m:r>
                        <a:rPr lang="zh-TW" altLang="en-US" i="1" smtClean="0">
                          <a:solidFill>
                            <a:schemeClr val="dk1"/>
                          </a:solidFill>
                          <a:latin typeface="Cambria Math" panose="02040503050406030204" pitchFamily="18" charset="0"/>
                          <a:sym typeface="Libertinus Math"/>
                        </a:rPr>
                        <m:t>=</m:t>
                      </m:r>
                      <m:sSub>
                        <m:sSubPr>
                          <m:ctrlPr>
                            <a:rPr lang="en-US" altLang="zh-TW" b="0" i="1" smtClean="0">
                              <a:solidFill>
                                <a:schemeClr val="dk1"/>
                              </a:solidFill>
                              <a:latin typeface="Cambria Math" panose="02040503050406030204" pitchFamily="18" charset="0"/>
                              <a:sym typeface="Libertinus Math"/>
                            </a:rPr>
                          </m:ctrlPr>
                        </m:sSubPr>
                        <m:e>
                          <m:d>
                            <m:dPr>
                              <m:ctrlPr>
                                <a:rPr lang="zh-TW" altLang="en-US" b="0" i="1" smtClean="0">
                                  <a:solidFill>
                                    <a:schemeClr val="dk1"/>
                                  </a:solidFill>
                                  <a:latin typeface="Cambria Math" panose="02040503050406030204" pitchFamily="18" charset="0"/>
                                  <a:sym typeface="Libertinus Math"/>
                                </a:rPr>
                              </m:ctrlPr>
                            </m:dPr>
                            <m:e>
                              <m:r>
                                <m:rPr>
                                  <m:lit/>
                                </m:rPr>
                                <a:rPr lang="zh-TW" altLang="en-US" b="0" i="1" smtClean="0">
                                  <a:solidFill>
                                    <a:schemeClr val="dk1"/>
                                  </a:solidFill>
                                  <a:latin typeface="Cambria Math" panose="02040503050406030204" pitchFamily="18" charset="0"/>
                                  <a:sym typeface="Libertinus Math"/>
                                </a:rPr>
                                <m:t>{</m:t>
                              </m:r>
                              <m:d>
                                <m:dPr>
                                  <m:ctrlPr>
                                    <a:rPr lang="zh-TW" altLang="en-US" b="0" i="1" smtClean="0">
                                      <a:solidFill>
                                        <a:schemeClr val="dk1"/>
                                      </a:solidFill>
                                      <a:latin typeface="Cambria Math" panose="02040503050406030204" pitchFamily="18" charset="0"/>
                                      <a:sym typeface="Libertinus Math"/>
                                    </a:rPr>
                                  </m:ctrlPr>
                                </m:dPr>
                                <m:e>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𝐶</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𝑧</m:t>
                                      </m:r>
                                    </m:e>
                                    <m:sub>
                                      <m:r>
                                        <a:rPr lang="en-US" altLang="zh-TW" b="0" i="1" smtClean="0">
                                          <a:solidFill>
                                            <a:schemeClr val="dk1"/>
                                          </a:solidFill>
                                          <a:latin typeface="Cambria Math" panose="02040503050406030204" pitchFamily="18" charset="0"/>
                                          <a:sym typeface="Libertinus Math"/>
                                        </a:rPr>
                                        <m:t>𝑖</m:t>
                                      </m:r>
                                    </m:sub>
                                  </m:sSub>
                                  <m:r>
                                    <a:rPr lang="en-US" altLang="zh-TW"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𝑧</m:t>
                                  </m:r>
                                  <m:sSub>
                                    <m:sSubPr>
                                      <m:ctrlPr>
                                        <a:rPr lang="zh-TW" altLang="en-US" b="0" i="1" smtClean="0">
                                          <a:solidFill>
                                            <a:schemeClr val="dk1"/>
                                          </a:solidFill>
                                          <a:latin typeface="Cambria Math" panose="02040503050406030204" pitchFamily="18" charset="0"/>
                                          <a:sym typeface="Libertinus Math"/>
                                        </a:rPr>
                                      </m:ctrlPr>
                                    </m:sSubPr>
                                    <m:e>
                                      <m:r>
                                        <a:rPr lang="en-US" altLang="zh-TW"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𝑎</m:t>
                                      </m:r>
                                    </m:e>
                                    <m:sub>
                                      <m:r>
                                        <a:rPr lang="zh-TW" altLang="en-US" b="0" i="1" smtClean="0">
                                          <a:solidFill>
                                            <a:schemeClr val="dk1"/>
                                          </a:solidFill>
                                          <a:latin typeface="Cambria Math" panose="02040503050406030204" pitchFamily="18" charset="0"/>
                                          <a:sym typeface="Libertinus Math"/>
                                        </a:rPr>
                                        <m:t>𝑖</m:t>
                                      </m:r>
                                    </m:sub>
                                  </m:sSub>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a:rPr lang="zh-TW" altLang="en-US" b="0" i="1" smtClean="0">
                                          <a:solidFill>
                                            <a:schemeClr val="dk1"/>
                                          </a:solidFill>
                                          <a:latin typeface="Cambria Math" panose="02040503050406030204" pitchFamily="18" charset="0"/>
                                          <a:sym typeface="Libertinus Math"/>
                                        </a:rPr>
                                        <m:t>𝑖</m:t>
                                      </m:r>
                                    </m:sub>
                                  </m:sSub>
                                </m:e>
                              </m:d>
                              <m:sSubSup>
                                <m:sSubSupPr>
                                  <m:ctrlPr>
                                    <a:rPr lang="zh-TW" altLang="en-US" b="0" i="1" smtClean="0">
                                      <a:solidFill>
                                        <a:schemeClr val="dk1"/>
                                      </a:solidFill>
                                      <a:latin typeface="Cambria Math" panose="02040503050406030204" pitchFamily="18" charset="0"/>
                                      <a:sym typeface="Libertinus Math"/>
                                    </a:rPr>
                                  </m:ctrlPr>
                                </m:sSubSupPr>
                                <m:e>
                                  <m:r>
                                    <m:rPr>
                                      <m:lit/>
                                    </m:rPr>
                                    <a:rPr lang="zh-TW" altLang="en-US" b="0" i="1" smtClean="0">
                                      <a:solidFill>
                                        <a:schemeClr val="dk1"/>
                                      </a:solidFill>
                                      <a:latin typeface="Cambria Math" panose="02040503050406030204" pitchFamily="18" charset="0"/>
                                      <a:sym typeface="Libertinus Math"/>
                                    </a:rPr>
                                    <m:t>}</m:t>
                                  </m:r>
                                </m:e>
                                <m:sub>
                                  <m:r>
                                    <a:rPr lang="zh-TW" altLang="en-US" b="0" i="1" smtClean="0">
                                      <a:solidFill>
                                        <a:schemeClr val="dk1"/>
                                      </a:solidFill>
                                      <a:latin typeface="Cambria Math" panose="02040503050406030204" pitchFamily="18" charset="0"/>
                                      <a:sym typeface="Libertinus Math"/>
                                    </a:rPr>
                                    <m:t>𝑖</m:t>
                                  </m:r>
                                  <m:r>
                                    <a:rPr lang="zh-TW" altLang="en-US" b="0" i="1" smtClean="0">
                                      <a:solidFill>
                                        <a:schemeClr val="dk1"/>
                                      </a:solidFill>
                                      <a:latin typeface="Cambria Math" panose="02040503050406030204" pitchFamily="18" charset="0"/>
                                      <a:sym typeface="Libertinus Math"/>
                                    </a:rPr>
                                    <m:t>=</m:t>
                                  </m:r>
                                  <m:r>
                                    <a:rPr lang="zh-TW" altLang="en-US" b="0" i="1" smtClean="0">
                                      <a:solidFill>
                                        <a:schemeClr val="dk1"/>
                                      </a:solidFill>
                                      <a:latin typeface="Cambria Math" panose="02040503050406030204" pitchFamily="18" charset="0"/>
                                      <a:sym typeface="Libertinus Math"/>
                                    </a:rPr>
                                    <m:t>1</m:t>
                                  </m:r>
                                </m:sub>
                                <m:sup>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𝑁</m:t>
                                      </m:r>
                                    </m:e>
                                    <m:sub>
                                      <m:r>
                                        <a:rPr lang="zh-TW" altLang="en-US" b="0" i="1" smtClean="0">
                                          <a:solidFill>
                                            <a:schemeClr val="dk1"/>
                                          </a:solidFill>
                                          <a:latin typeface="Cambria Math" panose="02040503050406030204" pitchFamily="18" charset="0"/>
                                          <a:sym typeface="Libertinus Math"/>
                                        </a:rPr>
                                        <m:t>𝑐</m:t>
                                      </m:r>
                                    </m:sub>
                                  </m:sSub>
                                </m:sup>
                              </m:sSubSup>
                              <m:r>
                                <a:rPr lang="zh-TW" altLang="en-US" b="0" i="1" smtClean="0">
                                  <a:solidFill>
                                    <a:schemeClr val="dk1"/>
                                  </a:solidFill>
                                  <a:latin typeface="Cambria Math" panose="02040503050406030204" pitchFamily="18" charset="0"/>
                                  <a:sym typeface="Libertinus Math"/>
                                </a:rPr>
                                <m:t>,</m:t>
                              </m:r>
                              <m:sSub>
                                <m:sSubPr>
                                  <m:ctrlPr>
                                    <a:rPr lang="zh-TW" altLang="en-US" b="0" i="1" smtClean="0">
                                      <a:solidFill>
                                        <a:schemeClr val="dk1"/>
                                      </a:solidFill>
                                      <a:latin typeface="Cambria Math" panose="02040503050406030204" pitchFamily="18" charset="0"/>
                                      <a:sym typeface="Libertinus Math"/>
                                    </a:rPr>
                                  </m:ctrlPr>
                                </m:sSubPr>
                                <m:e>
                                  <m:r>
                                    <a:rPr lang="zh-TW" altLang="en-US" b="0" i="1" smtClean="0">
                                      <a:solidFill>
                                        <a:schemeClr val="dk1"/>
                                      </a:solidFill>
                                      <a:latin typeface="Cambria Math" panose="02040503050406030204" pitchFamily="18" charset="0"/>
                                      <a:sym typeface="Libertinus Math"/>
                                    </a:rPr>
                                    <m:t>𝑅</m:t>
                                  </m:r>
                                </m:e>
                                <m:sub>
                                  <m:r>
                                    <m:rPr>
                                      <m:nor/>
                                    </m:rPr>
                                    <a:rPr lang="zh-TW" altLang="en-US" b="0" i="0" smtClean="0">
                                      <a:solidFill>
                                        <a:schemeClr val="dk1"/>
                                      </a:solidFill>
                                      <a:latin typeface="Times New Roman" panose="02020603050405020304" pitchFamily="18" charset="0"/>
                                      <a:cs typeface="Times New Roman" panose="02020603050405020304" pitchFamily="18" charset="0"/>
                                      <a:sym typeface="Libertinus Math"/>
                                    </a:rPr>
                                    <m:t>env</m:t>
                                  </m:r>
                                </m:sub>
                              </m:sSub>
                            </m:e>
                          </m:d>
                        </m:e>
                        <m:sub>
                          <m:r>
                            <a:rPr lang="en-US" altLang="zh-TW" b="0" i="1" smtClean="0">
                              <a:solidFill>
                                <a:schemeClr val="dk1"/>
                              </a:solidFill>
                              <a:latin typeface="Cambria Math" panose="02040503050406030204" pitchFamily="18" charset="0"/>
                              <a:sym typeface="Libertinus Math"/>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38" name="矩形: 圓角 37">
                <a:extLst>
                  <a:ext uri="{FF2B5EF4-FFF2-40B4-BE49-F238E27FC236}">
                    <a16:creationId xmlns:a16="http://schemas.microsoft.com/office/drawing/2014/main" id="{D9BC6932-2858-6916-C48A-2C78B782F3D3}"/>
                  </a:ext>
                </a:extLst>
              </p:cNvPr>
              <p:cNvSpPr>
                <a:spLocks noRot="1" noChangeAspect="1" noMove="1" noResize="1" noEditPoints="1" noAdjustHandles="1" noChangeArrowheads="1" noChangeShapeType="1" noTextEdit="1"/>
              </p:cNvSpPr>
              <p:nvPr/>
            </p:nvSpPr>
            <p:spPr>
              <a:xfrm>
                <a:off x="6836881" y="4045159"/>
                <a:ext cx="3675529" cy="514086"/>
              </a:xfrm>
              <a:prstGeom prst="roundRect">
                <a:avLst/>
              </a:prstGeom>
              <a:blipFill>
                <a:blip r:embed="rId9"/>
                <a:stretch>
                  <a:fillRect/>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39" name="矩形: 圓角 38">
            <a:extLst>
              <a:ext uri="{FF2B5EF4-FFF2-40B4-BE49-F238E27FC236}">
                <a16:creationId xmlns:a16="http://schemas.microsoft.com/office/drawing/2014/main" id="{1479967D-1297-D158-627C-D94393C5E5D5}"/>
              </a:ext>
            </a:extLst>
          </p:cNvPr>
          <p:cNvSpPr/>
          <p:nvPr/>
        </p:nvSpPr>
        <p:spPr>
          <a:xfrm>
            <a:off x="6827747" y="5258635"/>
            <a:ext cx="3675529" cy="510537"/>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40" name="圓柱形 39">
            <a:extLst>
              <a:ext uri="{FF2B5EF4-FFF2-40B4-BE49-F238E27FC236}">
                <a16:creationId xmlns:a16="http://schemas.microsoft.com/office/drawing/2014/main" id="{496E2D44-3633-64AD-6227-E75416394943}"/>
              </a:ext>
            </a:extLst>
          </p:cNvPr>
          <p:cNvSpPr/>
          <p:nvPr/>
        </p:nvSpPr>
        <p:spPr>
          <a:xfrm>
            <a:off x="6735112" y="3159051"/>
            <a:ext cx="3860800" cy="3570541"/>
          </a:xfrm>
          <a:prstGeom prst="can">
            <a:avLst>
              <a:gd name="adj" fmla="val 20277"/>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41" name="矩形: 圓角 40">
            <a:extLst>
              <a:ext uri="{FF2B5EF4-FFF2-40B4-BE49-F238E27FC236}">
                <a16:creationId xmlns:a16="http://schemas.microsoft.com/office/drawing/2014/main" id="{E2C77241-B90F-0394-0BBA-8F1CFDA2C953}"/>
              </a:ext>
            </a:extLst>
          </p:cNvPr>
          <p:cNvSpPr/>
          <p:nvPr/>
        </p:nvSpPr>
        <p:spPr>
          <a:xfrm>
            <a:off x="7187591" y="3330622"/>
            <a:ext cx="2974111" cy="342990"/>
          </a:xfrm>
          <a:prstGeom prst="round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2000" dirty="0">
                <a:solidFill>
                  <a:schemeClr val="tx1"/>
                </a:solidFill>
                <a:latin typeface="Times New Roman" panose="02020603050405020304" pitchFamily="18" charset="0"/>
                <a:cs typeface="Times New Roman" panose="02020603050405020304" pitchFamily="18" charset="0"/>
              </a:rPr>
              <a:t>Labeled Live </a:t>
            </a:r>
            <a:br>
              <a:rPr lang="en-US" altLang="zh-TW" sz="2000" dirty="0">
                <a:solidFill>
                  <a:schemeClr val="tx1"/>
                </a:solidFill>
                <a:latin typeface="Times New Roman" panose="02020603050405020304" pitchFamily="18" charset="0"/>
                <a:cs typeface="Times New Roman" panose="02020603050405020304" pitchFamily="18" charset="0"/>
              </a:rPr>
            </a:br>
            <a:r>
              <a:rPr lang="en-US" altLang="zh-TW" sz="2000" dirty="0">
                <a:solidFill>
                  <a:schemeClr val="tx1"/>
                </a:solidFill>
                <a:latin typeface="Times New Roman" panose="02020603050405020304" pitchFamily="18" charset="0"/>
                <a:cs typeface="Times New Roman" panose="02020603050405020304" pitchFamily="18" charset="0"/>
              </a:rPr>
              <a:t>Engagement trajectories</a:t>
            </a:r>
            <a:endParaRPr lang="zh-TW"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56" name="直線單箭頭接點 55">
            <a:extLst>
              <a:ext uri="{FF2B5EF4-FFF2-40B4-BE49-F238E27FC236}">
                <a16:creationId xmlns:a16="http://schemas.microsoft.com/office/drawing/2014/main" id="{BBB705BE-521A-AEB8-F34A-13377E0A0650}"/>
              </a:ext>
            </a:extLst>
          </p:cNvPr>
          <p:cNvCxnSpPr>
            <a:cxnSpLocks/>
            <a:stCxn id="34" idx="3"/>
          </p:cNvCxnSpPr>
          <p:nvPr/>
        </p:nvCxnSpPr>
        <p:spPr>
          <a:xfrm>
            <a:off x="5948461" y="5614888"/>
            <a:ext cx="786651"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3111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2">
          <a:extLst>
            <a:ext uri="{FF2B5EF4-FFF2-40B4-BE49-F238E27FC236}">
              <a16:creationId xmlns:a16="http://schemas.microsoft.com/office/drawing/2014/main" id="{A17DE164-7672-4474-0CEB-C7F5191190BA}"/>
            </a:ext>
          </a:extLst>
        </p:cNvPr>
        <p:cNvGrpSpPr/>
        <p:nvPr/>
      </p:nvGrpSpPr>
      <p:grpSpPr>
        <a:xfrm>
          <a:off x="0" y="0"/>
          <a:ext cx="0" cy="0"/>
          <a:chOff x="0" y="0"/>
          <a:chExt cx="0" cy="0"/>
        </a:xfrm>
      </p:grpSpPr>
      <p:sp>
        <p:nvSpPr>
          <p:cNvPr id="463" name="Google Shape;463;p52">
            <a:extLst>
              <a:ext uri="{FF2B5EF4-FFF2-40B4-BE49-F238E27FC236}">
                <a16:creationId xmlns:a16="http://schemas.microsoft.com/office/drawing/2014/main" id="{3346F064-3136-9200-A165-3824D613F54A}"/>
              </a:ext>
            </a:extLst>
          </p:cNvPr>
          <p:cNvSpPr txBox="1">
            <a:spLocks noGrp="1"/>
          </p:cNvSpPr>
          <p:nvPr>
            <p:ph type="sldNum" idx="12"/>
          </p:nvPr>
        </p:nvSpPr>
        <p:spPr>
          <a:xfrm>
            <a:off x="11325186"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27</a:t>
            </a:fld>
            <a:endParaRPr dirty="0"/>
          </a:p>
        </p:txBody>
      </p:sp>
      <p:sp>
        <p:nvSpPr>
          <p:cNvPr id="465" name="Google Shape;465;p52">
            <a:extLst>
              <a:ext uri="{FF2B5EF4-FFF2-40B4-BE49-F238E27FC236}">
                <a16:creationId xmlns:a16="http://schemas.microsoft.com/office/drawing/2014/main" id="{517870CD-B815-E29D-49A1-3FEDFE5AE048}"/>
              </a:ext>
            </a:extLst>
          </p:cNvPr>
          <p:cNvSpPr txBox="1">
            <a:spLocks noGrp="1"/>
          </p:cNvSpPr>
          <p:nvPr>
            <p:ph type="ctrTitle" idx="4294967295"/>
          </p:nvPr>
        </p:nvSpPr>
        <p:spPr>
          <a:xfrm>
            <a:off x="253809" y="580919"/>
            <a:ext cx="11852466" cy="900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altLang="zh-TW" sz="3600" dirty="0">
                <a:latin typeface="Times New Roman"/>
                <a:ea typeface="Times New Roman"/>
                <a:cs typeface="Times New Roman"/>
                <a:sym typeface="Times New Roman"/>
              </a:rPr>
              <a:t>Implementation – </a:t>
            </a:r>
            <a:r>
              <a:rPr lang="en-US" altLang="zh-TW" sz="3600" dirty="0">
                <a:latin typeface="Times New Roman"/>
                <a:ea typeface="Times New Roman"/>
                <a:cs typeface="Times New Roman"/>
                <a:sym typeface="Times New Roman"/>
              </a:rPr>
              <a:t>Reward Modeling and GRPO Training</a:t>
            </a:r>
            <a:r>
              <a:rPr lang="zh-TW" altLang="en-US" sz="3600" dirty="0">
                <a:latin typeface="Times New Roman"/>
                <a:ea typeface="Times New Roman"/>
                <a:cs typeface="Times New Roman"/>
                <a:sym typeface="Times New Roman"/>
              </a:rPr>
              <a:t> </a:t>
            </a:r>
            <a:r>
              <a:rPr lang="en-US" altLang="zh-TW" sz="3600" dirty="0">
                <a:latin typeface="Times New Roman"/>
                <a:ea typeface="Times New Roman"/>
                <a:cs typeface="Times New Roman"/>
                <a:sym typeface="Times New Roman"/>
              </a:rPr>
              <a:t>(1/2)</a:t>
            </a:r>
            <a:endParaRPr sz="3600" baseline="50000" dirty="0">
              <a:latin typeface="Times New Roman"/>
              <a:ea typeface="Times New Roman"/>
              <a:cs typeface="Times New Roman"/>
              <a:sym typeface="Times New Roman"/>
            </a:endParaRPr>
          </a:p>
        </p:txBody>
      </p:sp>
      <p:sp>
        <p:nvSpPr>
          <p:cNvPr id="8" name="Google Shape;464;p52">
            <a:extLst>
              <a:ext uri="{FF2B5EF4-FFF2-40B4-BE49-F238E27FC236}">
                <a16:creationId xmlns:a16="http://schemas.microsoft.com/office/drawing/2014/main" id="{63B83934-9AF4-6AD8-4096-E206BA2E227F}"/>
              </a:ext>
            </a:extLst>
          </p:cNvPr>
          <p:cNvSpPr txBox="1">
            <a:spLocks/>
          </p:cNvSpPr>
          <p:nvPr/>
        </p:nvSpPr>
        <p:spPr>
          <a:xfrm>
            <a:off x="330961" y="1106231"/>
            <a:ext cx="11587228" cy="533014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66797" indent="-457200">
              <a:lnSpc>
                <a:spcPct val="200000"/>
              </a:lnSpc>
              <a:spcBef>
                <a:spcPts val="0"/>
              </a:spcBef>
              <a:buClr>
                <a:schemeClr val="dk1"/>
              </a:buClr>
              <a:buSzPts val="1200"/>
              <a:buFont typeface="Wingdings" panose="05000000000000000000" pitchFamily="2" charset="2"/>
              <a:buChar char="l"/>
            </a:pPr>
            <a:endParaRPr lang="en-US" altLang="zh-TW"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Google Shape;464;p52">
            <a:extLst>
              <a:ext uri="{FF2B5EF4-FFF2-40B4-BE49-F238E27FC236}">
                <a16:creationId xmlns:a16="http://schemas.microsoft.com/office/drawing/2014/main" id="{B4B09C90-161A-5802-3CA1-C463546DE7D0}"/>
              </a:ext>
            </a:extLst>
          </p:cNvPr>
          <p:cNvSpPr txBox="1">
            <a:spLocks/>
          </p:cNvSpPr>
          <p:nvPr/>
        </p:nvSpPr>
        <p:spPr>
          <a:xfrm>
            <a:off x="423770" y="878599"/>
            <a:ext cx="11587228" cy="5703434"/>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sz="2400" dirty="0">
              <a:latin typeface="Times New Roman" panose="02020603050405020304" pitchFamily="18" charset="0"/>
              <a:cs typeface="Times New Roman" panose="02020603050405020304" pitchFamily="18" charset="0"/>
            </a:endParaRPr>
          </a:p>
        </p:txBody>
      </p:sp>
      <p:sp>
        <p:nvSpPr>
          <p:cNvPr id="3" name="Google Shape;464;p52">
            <a:extLst>
              <a:ext uri="{FF2B5EF4-FFF2-40B4-BE49-F238E27FC236}">
                <a16:creationId xmlns:a16="http://schemas.microsoft.com/office/drawing/2014/main" id="{2CD39B72-9A5C-844E-2ABE-4F015932E7E6}"/>
              </a:ext>
            </a:extLst>
          </p:cNvPr>
          <p:cNvSpPr txBox="1">
            <a:spLocks/>
          </p:cNvSpPr>
          <p:nvPr/>
        </p:nvSpPr>
        <p:spPr>
          <a:xfrm>
            <a:off x="469558" y="1341125"/>
            <a:ext cx="11587228" cy="513889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altLang="zh-TW" dirty="0">
              <a:latin typeface="Times New Roman" panose="02020603050405020304" pitchFamily="18" charset="0"/>
              <a:cs typeface="Times New Roman" panose="02020603050405020304" pitchFamily="18" charset="0"/>
            </a:endParaRPr>
          </a:p>
        </p:txBody>
      </p:sp>
      <p:sp>
        <p:nvSpPr>
          <p:cNvPr id="4" name="矩形: 圓角 3">
            <a:extLst>
              <a:ext uri="{FF2B5EF4-FFF2-40B4-BE49-F238E27FC236}">
                <a16:creationId xmlns:a16="http://schemas.microsoft.com/office/drawing/2014/main" id="{785D6DEB-72A4-5C9B-8A18-CE6438A3DEF1}"/>
              </a:ext>
            </a:extLst>
          </p:cNvPr>
          <p:cNvSpPr/>
          <p:nvPr/>
        </p:nvSpPr>
        <p:spPr>
          <a:xfrm>
            <a:off x="2815710" y="2012377"/>
            <a:ext cx="718066"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C1</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18" name="矩形: 圓角 17">
            <a:extLst>
              <a:ext uri="{FF2B5EF4-FFF2-40B4-BE49-F238E27FC236}">
                <a16:creationId xmlns:a16="http://schemas.microsoft.com/office/drawing/2014/main" id="{BA8178F7-D223-5589-B991-F6A031AF8092}"/>
              </a:ext>
            </a:extLst>
          </p:cNvPr>
          <p:cNvSpPr/>
          <p:nvPr/>
        </p:nvSpPr>
        <p:spPr>
          <a:xfrm>
            <a:off x="3703737" y="2027708"/>
            <a:ext cx="718066"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C2</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19" name="矩形: 圓角 18">
            <a:extLst>
              <a:ext uri="{FF2B5EF4-FFF2-40B4-BE49-F238E27FC236}">
                <a16:creationId xmlns:a16="http://schemas.microsoft.com/office/drawing/2014/main" id="{DBE0C973-9DAF-F685-407E-FC61B3F32058}"/>
              </a:ext>
            </a:extLst>
          </p:cNvPr>
          <p:cNvSpPr/>
          <p:nvPr/>
        </p:nvSpPr>
        <p:spPr>
          <a:xfrm>
            <a:off x="4584528" y="2027708"/>
            <a:ext cx="718066"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0" name="矩形: 圓角 19">
            <a:extLst>
              <a:ext uri="{FF2B5EF4-FFF2-40B4-BE49-F238E27FC236}">
                <a16:creationId xmlns:a16="http://schemas.microsoft.com/office/drawing/2014/main" id="{CA4FF659-8BAA-D045-98E6-3F5A86A110FC}"/>
              </a:ext>
            </a:extLst>
          </p:cNvPr>
          <p:cNvSpPr/>
          <p:nvPr/>
        </p:nvSpPr>
        <p:spPr>
          <a:xfrm>
            <a:off x="5465319" y="2012377"/>
            <a:ext cx="718066"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C8</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圓角 20">
            <a:extLst>
              <a:ext uri="{FF2B5EF4-FFF2-40B4-BE49-F238E27FC236}">
                <a16:creationId xmlns:a16="http://schemas.microsoft.com/office/drawing/2014/main" id="{6F8DF195-8BC8-60FD-3255-8EF5E9784FF5}"/>
              </a:ext>
            </a:extLst>
          </p:cNvPr>
          <p:cNvSpPr/>
          <p:nvPr/>
        </p:nvSpPr>
        <p:spPr>
          <a:xfrm>
            <a:off x="6331644" y="2012376"/>
            <a:ext cx="1007802"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&lt;SEP&gt;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圓角 21">
            <a:extLst>
              <a:ext uri="{FF2B5EF4-FFF2-40B4-BE49-F238E27FC236}">
                <a16:creationId xmlns:a16="http://schemas.microsoft.com/office/drawing/2014/main" id="{0593AF88-A05D-2FDB-7974-9C10E581FB31}"/>
              </a:ext>
            </a:extLst>
          </p:cNvPr>
          <p:cNvSpPr/>
          <p:nvPr/>
        </p:nvSpPr>
        <p:spPr>
          <a:xfrm>
            <a:off x="7500506" y="2012375"/>
            <a:ext cx="718066"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err="1">
                <a:solidFill>
                  <a:schemeClr val="tx1"/>
                </a:solidFill>
                <a:latin typeface="Times New Roman" panose="02020603050405020304" pitchFamily="18" charset="0"/>
                <a:cs typeface="Times New Roman" panose="02020603050405020304" pitchFamily="18" charset="0"/>
              </a:rPr>
              <a:t>stg_i</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3" name="矩形: 圓角 22">
            <a:extLst>
              <a:ext uri="{FF2B5EF4-FFF2-40B4-BE49-F238E27FC236}">
                <a16:creationId xmlns:a16="http://schemas.microsoft.com/office/drawing/2014/main" id="{8D29F3C4-6A8C-7162-BBA0-370F2F4C8CD3}"/>
              </a:ext>
            </a:extLst>
          </p:cNvPr>
          <p:cNvSpPr/>
          <p:nvPr/>
        </p:nvSpPr>
        <p:spPr>
          <a:xfrm>
            <a:off x="8379632" y="2022572"/>
            <a:ext cx="1007802"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&lt;CLS&gt;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4" name="矩形: 圓角 23">
            <a:extLst>
              <a:ext uri="{FF2B5EF4-FFF2-40B4-BE49-F238E27FC236}">
                <a16:creationId xmlns:a16="http://schemas.microsoft.com/office/drawing/2014/main" id="{FBB889E0-F42F-6A88-966E-D0313230CA75}"/>
              </a:ext>
            </a:extLst>
          </p:cNvPr>
          <p:cNvSpPr/>
          <p:nvPr/>
        </p:nvSpPr>
        <p:spPr>
          <a:xfrm>
            <a:off x="2815710" y="2831010"/>
            <a:ext cx="6571724" cy="457367"/>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Embedding</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5" name="矩形: 圓角 24">
            <a:extLst>
              <a:ext uri="{FF2B5EF4-FFF2-40B4-BE49-F238E27FC236}">
                <a16:creationId xmlns:a16="http://schemas.microsoft.com/office/drawing/2014/main" id="{674A1036-3700-BC4E-B888-1984D1C9FA53}"/>
              </a:ext>
            </a:extLst>
          </p:cNvPr>
          <p:cNvSpPr/>
          <p:nvPr/>
        </p:nvSpPr>
        <p:spPr>
          <a:xfrm>
            <a:off x="2815710" y="3523271"/>
            <a:ext cx="6571724" cy="457367"/>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BERT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6" name="矩形: 圓角 25">
            <a:extLst>
              <a:ext uri="{FF2B5EF4-FFF2-40B4-BE49-F238E27FC236}">
                <a16:creationId xmlns:a16="http://schemas.microsoft.com/office/drawing/2014/main" id="{E60D2F54-43A0-831D-3F8D-22AFB82BA26F}"/>
              </a:ext>
            </a:extLst>
          </p:cNvPr>
          <p:cNvSpPr/>
          <p:nvPr/>
        </p:nvSpPr>
        <p:spPr>
          <a:xfrm>
            <a:off x="6233809" y="4244107"/>
            <a:ext cx="1160717"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Predicted</a:t>
            </a:r>
            <a:br>
              <a:rPr lang="en-US" altLang="zh-TW" dirty="0">
                <a:solidFill>
                  <a:schemeClr val="tx1"/>
                </a:solidFill>
                <a:latin typeface="Times New Roman" panose="02020603050405020304" pitchFamily="18" charset="0"/>
                <a:cs typeface="Times New Roman" panose="02020603050405020304" pitchFamily="18" charset="0"/>
              </a:rPr>
            </a:br>
            <a:r>
              <a:rPr lang="en-US" altLang="zh-TW" dirty="0">
                <a:solidFill>
                  <a:schemeClr val="tx1"/>
                </a:solidFill>
                <a:latin typeface="Times New Roman" panose="02020603050405020304" pitchFamily="18" charset="0"/>
                <a:cs typeface="Times New Roman" panose="02020603050405020304" pitchFamily="18" charset="0"/>
              </a:rPr>
              <a:t>Reward</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7" name="矩形: 圓角 26">
            <a:extLst>
              <a:ext uri="{FF2B5EF4-FFF2-40B4-BE49-F238E27FC236}">
                <a16:creationId xmlns:a16="http://schemas.microsoft.com/office/drawing/2014/main" id="{2453D2D5-8D7D-8D32-67FA-60E2F3E5FF84}"/>
              </a:ext>
            </a:extLst>
          </p:cNvPr>
          <p:cNvSpPr/>
          <p:nvPr/>
        </p:nvSpPr>
        <p:spPr>
          <a:xfrm>
            <a:off x="2837763" y="4243373"/>
            <a:ext cx="2200903"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Regression Head</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8" name="矩形: 圓角 27">
            <a:extLst>
              <a:ext uri="{FF2B5EF4-FFF2-40B4-BE49-F238E27FC236}">
                <a16:creationId xmlns:a16="http://schemas.microsoft.com/office/drawing/2014/main" id="{1E91B1EB-13F5-940F-A801-81429A816393}"/>
              </a:ext>
            </a:extLst>
          </p:cNvPr>
          <p:cNvSpPr/>
          <p:nvPr/>
        </p:nvSpPr>
        <p:spPr>
          <a:xfrm>
            <a:off x="8052227" y="4244107"/>
            <a:ext cx="1295604" cy="62781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Trajectory Reward</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ADF35C30-68E3-9BA1-363C-3439F2D54C27}"/>
              </a:ext>
            </a:extLst>
          </p:cNvPr>
          <p:cNvSpPr/>
          <p:nvPr/>
        </p:nvSpPr>
        <p:spPr>
          <a:xfrm>
            <a:off x="6101572" y="4131106"/>
            <a:ext cx="3285862" cy="838200"/>
          </a:xfrm>
          <a:prstGeom prst="rect">
            <a:avLst/>
          </a:prstGeom>
          <a:noFill/>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cxnSp>
        <p:nvCxnSpPr>
          <p:cNvPr id="30" name="直線單箭頭接點 29">
            <a:extLst>
              <a:ext uri="{FF2B5EF4-FFF2-40B4-BE49-F238E27FC236}">
                <a16:creationId xmlns:a16="http://schemas.microsoft.com/office/drawing/2014/main" id="{2254972B-29F6-0C35-421A-C37503D0A568}"/>
              </a:ext>
            </a:extLst>
          </p:cNvPr>
          <p:cNvCxnSpPr>
            <a:cxnSpLocks/>
            <a:stCxn id="4" idx="2"/>
          </p:cNvCxnSpPr>
          <p:nvPr/>
        </p:nvCxnSpPr>
        <p:spPr>
          <a:xfrm>
            <a:off x="3174743" y="2640188"/>
            <a:ext cx="0" cy="26219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直線單箭頭接點 32">
            <a:extLst>
              <a:ext uri="{FF2B5EF4-FFF2-40B4-BE49-F238E27FC236}">
                <a16:creationId xmlns:a16="http://schemas.microsoft.com/office/drawing/2014/main" id="{E35C37AD-D70F-EBDF-52D9-B6AA0316009E}"/>
              </a:ext>
            </a:extLst>
          </p:cNvPr>
          <p:cNvCxnSpPr>
            <a:cxnSpLocks/>
            <a:stCxn id="18" idx="2"/>
          </p:cNvCxnSpPr>
          <p:nvPr/>
        </p:nvCxnSpPr>
        <p:spPr>
          <a:xfrm>
            <a:off x="4062770" y="2655519"/>
            <a:ext cx="0" cy="2468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線單箭頭接點 35">
            <a:extLst>
              <a:ext uri="{FF2B5EF4-FFF2-40B4-BE49-F238E27FC236}">
                <a16:creationId xmlns:a16="http://schemas.microsoft.com/office/drawing/2014/main" id="{4A49020E-61FC-E4F9-9D0F-974FE891C996}"/>
              </a:ext>
            </a:extLst>
          </p:cNvPr>
          <p:cNvCxnSpPr>
            <a:cxnSpLocks/>
          </p:cNvCxnSpPr>
          <p:nvPr/>
        </p:nvCxnSpPr>
        <p:spPr>
          <a:xfrm>
            <a:off x="4929545" y="2655519"/>
            <a:ext cx="0" cy="2468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直線單箭頭接點 36">
            <a:extLst>
              <a:ext uri="{FF2B5EF4-FFF2-40B4-BE49-F238E27FC236}">
                <a16:creationId xmlns:a16="http://schemas.microsoft.com/office/drawing/2014/main" id="{3AF69970-D714-D7BB-CBBA-AEA6CA6E42FB}"/>
              </a:ext>
            </a:extLst>
          </p:cNvPr>
          <p:cNvCxnSpPr>
            <a:cxnSpLocks/>
          </p:cNvCxnSpPr>
          <p:nvPr/>
        </p:nvCxnSpPr>
        <p:spPr>
          <a:xfrm>
            <a:off x="5834420" y="2650383"/>
            <a:ext cx="0" cy="2468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直線單箭頭接點 37">
            <a:extLst>
              <a:ext uri="{FF2B5EF4-FFF2-40B4-BE49-F238E27FC236}">
                <a16:creationId xmlns:a16="http://schemas.microsoft.com/office/drawing/2014/main" id="{528E5613-376A-9EE7-1ECF-A8033C14641F}"/>
              </a:ext>
            </a:extLst>
          </p:cNvPr>
          <p:cNvCxnSpPr>
            <a:cxnSpLocks/>
          </p:cNvCxnSpPr>
          <p:nvPr/>
        </p:nvCxnSpPr>
        <p:spPr>
          <a:xfrm>
            <a:off x="6844070" y="2650383"/>
            <a:ext cx="0" cy="2468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直線單箭頭接點 38">
            <a:extLst>
              <a:ext uri="{FF2B5EF4-FFF2-40B4-BE49-F238E27FC236}">
                <a16:creationId xmlns:a16="http://schemas.microsoft.com/office/drawing/2014/main" id="{B193B7D0-98B2-E7BF-CD82-952EDC73E03B}"/>
              </a:ext>
            </a:extLst>
          </p:cNvPr>
          <p:cNvCxnSpPr>
            <a:cxnSpLocks/>
          </p:cNvCxnSpPr>
          <p:nvPr/>
        </p:nvCxnSpPr>
        <p:spPr>
          <a:xfrm>
            <a:off x="7872770" y="2650383"/>
            <a:ext cx="0" cy="2468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直線單箭頭接點 39">
            <a:extLst>
              <a:ext uri="{FF2B5EF4-FFF2-40B4-BE49-F238E27FC236}">
                <a16:creationId xmlns:a16="http://schemas.microsoft.com/office/drawing/2014/main" id="{C3E928B2-C802-9E4F-FECE-B41034D64A67}"/>
              </a:ext>
            </a:extLst>
          </p:cNvPr>
          <p:cNvCxnSpPr>
            <a:cxnSpLocks/>
          </p:cNvCxnSpPr>
          <p:nvPr/>
        </p:nvCxnSpPr>
        <p:spPr>
          <a:xfrm>
            <a:off x="8863370" y="2650383"/>
            <a:ext cx="0" cy="2468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直線單箭頭接點 40">
            <a:extLst>
              <a:ext uri="{FF2B5EF4-FFF2-40B4-BE49-F238E27FC236}">
                <a16:creationId xmlns:a16="http://schemas.microsoft.com/office/drawing/2014/main" id="{BE9E5DA9-00D8-56B8-3C98-CA2EB0D565A7}"/>
              </a:ext>
            </a:extLst>
          </p:cNvPr>
          <p:cNvCxnSpPr>
            <a:cxnSpLocks/>
          </p:cNvCxnSpPr>
          <p:nvPr/>
        </p:nvCxnSpPr>
        <p:spPr>
          <a:xfrm>
            <a:off x="6101572" y="3276409"/>
            <a:ext cx="0" cy="2468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直線單箭頭接點 41">
            <a:extLst>
              <a:ext uri="{FF2B5EF4-FFF2-40B4-BE49-F238E27FC236}">
                <a16:creationId xmlns:a16="http://schemas.microsoft.com/office/drawing/2014/main" id="{6C4FC970-8BFB-7DB6-C67E-3303ED7C3438}"/>
              </a:ext>
            </a:extLst>
          </p:cNvPr>
          <p:cNvCxnSpPr>
            <a:cxnSpLocks/>
          </p:cNvCxnSpPr>
          <p:nvPr/>
        </p:nvCxnSpPr>
        <p:spPr>
          <a:xfrm>
            <a:off x="3910370" y="3996511"/>
            <a:ext cx="0" cy="24686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線單箭頭接點 42">
            <a:extLst>
              <a:ext uri="{FF2B5EF4-FFF2-40B4-BE49-F238E27FC236}">
                <a16:creationId xmlns:a16="http://schemas.microsoft.com/office/drawing/2014/main" id="{C07E3618-B284-8067-D908-C90D1D7EF9A5}"/>
              </a:ext>
            </a:extLst>
          </p:cNvPr>
          <p:cNvCxnSpPr>
            <a:cxnSpLocks/>
            <a:stCxn id="27" idx="3"/>
            <a:endCxn id="26" idx="1"/>
          </p:cNvCxnSpPr>
          <p:nvPr/>
        </p:nvCxnSpPr>
        <p:spPr>
          <a:xfrm>
            <a:off x="5038666" y="4557279"/>
            <a:ext cx="1195143" cy="73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直線單箭頭接點 46">
            <a:extLst>
              <a:ext uri="{FF2B5EF4-FFF2-40B4-BE49-F238E27FC236}">
                <a16:creationId xmlns:a16="http://schemas.microsoft.com/office/drawing/2014/main" id="{90374B06-A20C-363E-F2DE-EE060F0C8AAF}"/>
              </a:ext>
            </a:extLst>
          </p:cNvPr>
          <p:cNvCxnSpPr>
            <a:cxnSpLocks/>
            <a:stCxn id="28" idx="1"/>
            <a:endCxn id="26" idx="3"/>
          </p:cNvCxnSpPr>
          <p:nvPr/>
        </p:nvCxnSpPr>
        <p:spPr>
          <a:xfrm flipH="1">
            <a:off x="7394526" y="4558013"/>
            <a:ext cx="657701"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7" name="接點: 肘形 56">
            <a:extLst>
              <a:ext uri="{FF2B5EF4-FFF2-40B4-BE49-F238E27FC236}">
                <a16:creationId xmlns:a16="http://schemas.microsoft.com/office/drawing/2014/main" id="{3B19BA96-D4B4-00F2-0A6F-E55C76241623}"/>
              </a:ext>
            </a:extLst>
          </p:cNvPr>
          <p:cNvCxnSpPr>
            <a:cxnSpLocks/>
            <a:stCxn id="29" idx="2"/>
          </p:cNvCxnSpPr>
          <p:nvPr/>
        </p:nvCxnSpPr>
        <p:spPr>
          <a:xfrm rot="5400000" flipH="1" flipV="1">
            <a:off x="7945331" y="3569388"/>
            <a:ext cx="1199089" cy="1600747"/>
          </a:xfrm>
          <a:prstGeom prst="bentConnector4">
            <a:avLst>
              <a:gd name="adj1" fmla="val -30185"/>
              <a:gd name="adj2" fmla="val 148469"/>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52" name="文字方塊 451">
            <a:extLst>
              <a:ext uri="{FF2B5EF4-FFF2-40B4-BE49-F238E27FC236}">
                <a16:creationId xmlns:a16="http://schemas.microsoft.com/office/drawing/2014/main" id="{43AB0A83-20BF-AB16-06A4-F557D2B701BE}"/>
              </a:ext>
            </a:extLst>
          </p:cNvPr>
          <p:cNvSpPr txBox="1"/>
          <p:nvPr/>
        </p:nvSpPr>
        <p:spPr>
          <a:xfrm>
            <a:off x="8379632" y="5360180"/>
            <a:ext cx="1402948" cy="646331"/>
          </a:xfrm>
          <a:prstGeom prst="rect">
            <a:avLst/>
          </a:prstGeom>
          <a:noFill/>
        </p:spPr>
        <p:txBody>
          <a:bodyPr wrap="none" rtlCol="0">
            <a:spAutoFit/>
          </a:bodyPr>
          <a:lstStyle/>
          <a:p>
            <a:pPr algn="ctr"/>
            <a:r>
              <a:rPr lang="en-US" altLang="zh-TW" dirty="0">
                <a:latin typeface="Times New Roman" panose="02020603050405020304" pitchFamily="18" charset="0"/>
                <a:cs typeface="Times New Roman" panose="02020603050405020304" pitchFamily="18" charset="0"/>
              </a:rPr>
              <a:t>MSE Loss</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Optimization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7519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2">
          <a:extLst>
            <a:ext uri="{FF2B5EF4-FFF2-40B4-BE49-F238E27FC236}">
              <a16:creationId xmlns:a16="http://schemas.microsoft.com/office/drawing/2014/main" id="{1BCF7C08-D3C6-A2B3-E099-9347A2CAE9F7}"/>
            </a:ext>
          </a:extLst>
        </p:cNvPr>
        <p:cNvGrpSpPr/>
        <p:nvPr/>
      </p:nvGrpSpPr>
      <p:grpSpPr>
        <a:xfrm>
          <a:off x="0" y="0"/>
          <a:ext cx="0" cy="0"/>
          <a:chOff x="0" y="0"/>
          <a:chExt cx="0" cy="0"/>
        </a:xfrm>
      </p:grpSpPr>
      <p:sp>
        <p:nvSpPr>
          <p:cNvPr id="463" name="Google Shape;463;p52">
            <a:extLst>
              <a:ext uri="{FF2B5EF4-FFF2-40B4-BE49-F238E27FC236}">
                <a16:creationId xmlns:a16="http://schemas.microsoft.com/office/drawing/2014/main" id="{978CD03C-5867-1C6C-9AB2-9F6AEFD5E86F}"/>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28</a:t>
            </a:fld>
            <a:endParaRPr dirty="0"/>
          </a:p>
        </p:txBody>
      </p:sp>
      <p:sp>
        <p:nvSpPr>
          <p:cNvPr id="465" name="Google Shape;465;p52">
            <a:extLst>
              <a:ext uri="{FF2B5EF4-FFF2-40B4-BE49-F238E27FC236}">
                <a16:creationId xmlns:a16="http://schemas.microsoft.com/office/drawing/2014/main" id="{C5C51002-DF8C-92B7-78D9-513A3EC2DCE4}"/>
              </a:ext>
            </a:extLst>
          </p:cNvPr>
          <p:cNvSpPr txBox="1">
            <a:spLocks noGrp="1"/>
          </p:cNvSpPr>
          <p:nvPr>
            <p:ph type="ctrTitle" idx="4294967295"/>
          </p:nvPr>
        </p:nvSpPr>
        <p:spPr>
          <a:xfrm>
            <a:off x="225234" y="580919"/>
            <a:ext cx="11852466" cy="900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altLang="zh-TW" sz="3600" dirty="0">
                <a:latin typeface="Times New Roman"/>
                <a:ea typeface="Times New Roman"/>
                <a:cs typeface="Times New Roman"/>
                <a:sym typeface="Times New Roman"/>
              </a:rPr>
              <a:t>Implementation – </a:t>
            </a:r>
            <a:r>
              <a:rPr lang="en-US" altLang="zh-TW" sz="3600" dirty="0">
                <a:latin typeface="Times New Roman"/>
                <a:ea typeface="Times New Roman"/>
                <a:cs typeface="Times New Roman"/>
                <a:sym typeface="Times New Roman"/>
              </a:rPr>
              <a:t>Reward Modeling and GRPO Training</a:t>
            </a:r>
            <a:r>
              <a:rPr lang="zh-TW" altLang="en-US" sz="3600" dirty="0">
                <a:latin typeface="Times New Roman"/>
                <a:ea typeface="Times New Roman"/>
                <a:cs typeface="Times New Roman"/>
                <a:sym typeface="Times New Roman"/>
              </a:rPr>
              <a:t> </a:t>
            </a:r>
            <a:r>
              <a:rPr lang="en-US" altLang="zh-TW" sz="3600" dirty="0">
                <a:latin typeface="Times New Roman"/>
                <a:ea typeface="Times New Roman"/>
                <a:cs typeface="Times New Roman"/>
                <a:sym typeface="Times New Roman"/>
              </a:rPr>
              <a:t>(2/2)</a:t>
            </a:r>
            <a:endParaRPr sz="3600" baseline="50000" dirty="0">
              <a:latin typeface="Times New Roman"/>
              <a:ea typeface="Times New Roman"/>
              <a:cs typeface="Times New Roman"/>
              <a:sym typeface="Times New Roman"/>
            </a:endParaRPr>
          </a:p>
        </p:txBody>
      </p:sp>
      <p:sp>
        <p:nvSpPr>
          <p:cNvPr id="8" name="Google Shape;464;p52">
            <a:extLst>
              <a:ext uri="{FF2B5EF4-FFF2-40B4-BE49-F238E27FC236}">
                <a16:creationId xmlns:a16="http://schemas.microsoft.com/office/drawing/2014/main" id="{742B40AA-AF3E-F4BC-2C5D-26E6B6730D91}"/>
              </a:ext>
            </a:extLst>
          </p:cNvPr>
          <p:cNvSpPr txBox="1">
            <a:spLocks/>
          </p:cNvSpPr>
          <p:nvPr/>
        </p:nvSpPr>
        <p:spPr>
          <a:xfrm>
            <a:off x="302386" y="1106231"/>
            <a:ext cx="11587228" cy="533014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66797" indent="-457200">
              <a:lnSpc>
                <a:spcPct val="200000"/>
              </a:lnSpc>
              <a:spcBef>
                <a:spcPts val="0"/>
              </a:spcBef>
              <a:buClr>
                <a:schemeClr val="dk1"/>
              </a:buClr>
              <a:buSzPts val="1200"/>
              <a:buFont typeface="Wingdings" panose="05000000000000000000" pitchFamily="2" charset="2"/>
              <a:buChar char="l"/>
            </a:pPr>
            <a:endParaRPr lang="en-US" altLang="zh-TW"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Google Shape;464;p52">
            <a:extLst>
              <a:ext uri="{FF2B5EF4-FFF2-40B4-BE49-F238E27FC236}">
                <a16:creationId xmlns:a16="http://schemas.microsoft.com/office/drawing/2014/main" id="{9E248FA3-9FF5-BE7B-6433-F6EEE189D3BD}"/>
              </a:ext>
            </a:extLst>
          </p:cNvPr>
          <p:cNvSpPr txBox="1">
            <a:spLocks/>
          </p:cNvSpPr>
          <p:nvPr/>
        </p:nvSpPr>
        <p:spPr>
          <a:xfrm>
            <a:off x="395195" y="878599"/>
            <a:ext cx="11587228" cy="5703434"/>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sz="2400" dirty="0">
              <a:latin typeface="Times New Roman" panose="02020603050405020304" pitchFamily="18" charset="0"/>
              <a:cs typeface="Times New Roman" panose="02020603050405020304" pitchFamily="18" charset="0"/>
            </a:endParaRPr>
          </a:p>
        </p:txBody>
      </p:sp>
      <p:sp>
        <p:nvSpPr>
          <p:cNvPr id="3" name="Google Shape;464;p52">
            <a:extLst>
              <a:ext uri="{FF2B5EF4-FFF2-40B4-BE49-F238E27FC236}">
                <a16:creationId xmlns:a16="http://schemas.microsoft.com/office/drawing/2014/main" id="{3986C674-43FC-96A9-9FF8-AE67037230F6}"/>
              </a:ext>
            </a:extLst>
          </p:cNvPr>
          <p:cNvSpPr txBox="1">
            <a:spLocks/>
          </p:cNvSpPr>
          <p:nvPr/>
        </p:nvSpPr>
        <p:spPr>
          <a:xfrm>
            <a:off x="440983" y="1341125"/>
            <a:ext cx="11587228" cy="513889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altLang="zh-TW" dirty="0">
              <a:latin typeface="Times New Roman" panose="02020603050405020304" pitchFamily="18" charset="0"/>
              <a:cs typeface="Times New Roman" panose="02020603050405020304" pitchFamily="18" charset="0"/>
            </a:endParaRPr>
          </a:p>
        </p:txBody>
      </p:sp>
      <p:sp>
        <p:nvSpPr>
          <p:cNvPr id="2" name="矩形: 圓角 1">
            <a:extLst>
              <a:ext uri="{FF2B5EF4-FFF2-40B4-BE49-F238E27FC236}">
                <a16:creationId xmlns:a16="http://schemas.microsoft.com/office/drawing/2014/main" id="{E1564B06-F1D7-6BA8-CD73-4432914AA46E}"/>
              </a:ext>
            </a:extLst>
          </p:cNvPr>
          <p:cNvSpPr/>
          <p:nvPr/>
        </p:nvSpPr>
        <p:spPr>
          <a:xfrm>
            <a:off x="1116864" y="3367472"/>
            <a:ext cx="1285017" cy="1347451"/>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dirty="0">
                <a:solidFill>
                  <a:schemeClr val="tx1"/>
                </a:solidFill>
                <a:latin typeface="Cambria" panose="02040503050406030204" pitchFamily="18" charset="0"/>
                <a:ea typeface="Cambria" panose="02040503050406030204" pitchFamily="18" charset="0"/>
              </a:rPr>
              <a:t>Prompt </a:t>
            </a:r>
            <a:br>
              <a:rPr lang="en-US" altLang="zh-TW" sz="1600" dirty="0">
                <a:solidFill>
                  <a:schemeClr val="tx1"/>
                </a:solidFill>
                <a:latin typeface="Cambria" panose="02040503050406030204" pitchFamily="18" charset="0"/>
                <a:ea typeface="Cambria" panose="02040503050406030204" pitchFamily="18" charset="0"/>
              </a:rPr>
            </a:br>
            <a:r>
              <a:rPr lang="en-US" altLang="zh-TW" sz="1600" dirty="0">
                <a:solidFill>
                  <a:schemeClr val="tx1"/>
                </a:solidFill>
                <a:latin typeface="Cambria" panose="02040503050406030204" pitchFamily="18" charset="0"/>
                <a:ea typeface="Cambria" panose="02040503050406030204" pitchFamily="18" charset="0"/>
              </a:rPr>
              <a:t>+ Command Sequence</a:t>
            </a:r>
            <a:endParaRPr lang="zh-TW" altLang="en-US" sz="1600" dirty="0">
              <a:solidFill>
                <a:schemeClr val="tx1"/>
              </a:solidFill>
              <a:latin typeface="Cambria" panose="02040503050406030204" pitchFamily="18" charset="0"/>
            </a:endParaRPr>
          </a:p>
        </p:txBody>
      </p:sp>
      <p:cxnSp>
        <p:nvCxnSpPr>
          <p:cNvPr id="4" name="直線單箭頭接點 3">
            <a:extLst>
              <a:ext uri="{FF2B5EF4-FFF2-40B4-BE49-F238E27FC236}">
                <a16:creationId xmlns:a16="http://schemas.microsoft.com/office/drawing/2014/main" id="{5760E94E-7A2E-873C-F761-07D0808F2776}"/>
              </a:ext>
            </a:extLst>
          </p:cNvPr>
          <p:cNvCxnSpPr>
            <a:cxnSpLocks/>
            <a:stCxn id="2" idx="3"/>
            <a:endCxn id="5" idx="1"/>
          </p:cNvCxnSpPr>
          <p:nvPr/>
        </p:nvCxnSpPr>
        <p:spPr>
          <a:xfrm flipV="1">
            <a:off x="2401881" y="4037724"/>
            <a:ext cx="324256" cy="34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 name="矩形: 圓角 4">
            <a:extLst>
              <a:ext uri="{FF2B5EF4-FFF2-40B4-BE49-F238E27FC236}">
                <a16:creationId xmlns:a16="http://schemas.microsoft.com/office/drawing/2014/main" id="{FD98822E-DE0C-7C9D-3A8B-86A1DB7E6378}"/>
              </a:ext>
            </a:extLst>
          </p:cNvPr>
          <p:cNvSpPr/>
          <p:nvPr/>
        </p:nvSpPr>
        <p:spPr>
          <a:xfrm>
            <a:off x="2726137" y="3579082"/>
            <a:ext cx="1634249" cy="917284"/>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b="1" dirty="0">
                <a:solidFill>
                  <a:schemeClr val="tx1"/>
                </a:solidFill>
                <a:latin typeface="Cambria" panose="02040503050406030204" pitchFamily="18" charset="0"/>
                <a:ea typeface="Cambria" panose="02040503050406030204" pitchFamily="18" charset="0"/>
              </a:rPr>
              <a:t>LLM (SFT)</a:t>
            </a:r>
            <a:endParaRPr lang="zh-TW" altLang="en-US" sz="1600" b="1" dirty="0">
              <a:solidFill>
                <a:schemeClr val="tx1"/>
              </a:solidFill>
              <a:latin typeface="Cambria" panose="02040503050406030204" pitchFamily="18" charset="0"/>
            </a:endParaRPr>
          </a:p>
        </p:txBody>
      </p:sp>
      <p:cxnSp>
        <p:nvCxnSpPr>
          <p:cNvPr id="6" name="直線單箭頭接點 5">
            <a:extLst>
              <a:ext uri="{FF2B5EF4-FFF2-40B4-BE49-F238E27FC236}">
                <a16:creationId xmlns:a16="http://schemas.microsoft.com/office/drawing/2014/main" id="{1BDFE06A-6358-F2F6-747E-15B78E014215}"/>
              </a:ext>
            </a:extLst>
          </p:cNvPr>
          <p:cNvCxnSpPr>
            <a:stCxn id="5" idx="3"/>
          </p:cNvCxnSpPr>
          <p:nvPr/>
        </p:nvCxnSpPr>
        <p:spPr>
          <a:xfrm>
            <a:off x="4360386" y="4037724"/>
            <a:ext cx="32425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矩形: 圓角 6">
            <a:extLst>
              <a:ext uri="{FF2B5EF4-FFF2-40B4-BE49-F238E27FC236}">
                <a16:creationId xmlns:a16="http://schemas.microsoft.com/office/drawing/2014/main" id="{F306B694-935F-8BAA-2B28-347620170694}"/>
              </a:ext>
            </a:extLst>
          </p:cNvPr>
          <p:cNvSpPr/>
          <p:nvPr/>
        </p:nvSpPr>
        <p:spPr>
          <a:xfrm>
            <a:off x="4684641" y="2936878"/>
            <a:ext cx="609600" cy="1917909"/>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10" name="矩形: 圓角 9">
                <a:extLst>
                  <a:ext uri="{FF2B5EF4-FFF2-40B4-BE49-F238E27FC236}">
                    <a16:creationId xmlns:a16="http://schemas.microsoft.com/office/drawing/2014/main" id="{08CB2254-0A66-E5F0-32C3-C5B67738299A}"/>
                  </a:ext>
                </a:extLst>
              </p:cNvPr>
              <p:cNvSpPr/>
              <p:nvPr/>
            </p:nvSpPr>
            <p:spPr>
              <a:xfrm>
                <a:off x="4755977" y="3100984"/>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𝑜</m:t>
                          </m:r>
                        </m:e>
                        <m:sub>
                          <m:r>
                            <a:rPr lang="en-US" altLang="zh-TW" sz="1600" b="0" i="0" dirty="0" smtClean="0">
                              <a:solidFill>
                                <a:schemeClr val="tx1"/>
                              </a:solidFill>
                              <a:latin typeface="Cambria Math" panose="02040503050406030204" pitchFamily="18" charset="0"/>
                            </a:rPr>
                            <m:t>1</m:t>
                          </m:r>
                        </m:sub>
                      </m:sSub>
                    </m:oMath>
                  </m:oMathPara>
                </a14:m>
                <a:endParaRPr dirty="0"/>
              </a:p>
            </p:txBody>
          </p:sp>
        </mc:Choice>
        <mc:Fallback xmlns="">
          <p:sp>
            <p:nvSpPr>
              <p:cNvPr id="10" name="矩形: 圓角 9">
                <a:extLst>
                  <a:ext uri="{FF2B5EF4-FFF2-40B4-BE49-F238E27FC236}">
                    <a16:creationId xmlns:a16="http://schemas.microsoft.com/office/drawing/2014/main" id="{08CB2254-0A66-E5F0-32C3-C5B67738299A}"/>
                  </a:ext>
                </a:extLst>
              </p:cNvPr>
              <p:cNvSpPr>
                <a:spLocks noRot="1" noChangeAspect="1" noMove="1" noResize="1" noEditPoints="1" noAdjustHandles="1" noChangeArrowheads="1" noChangeShapeType="1" noTextEdit="1"/>
              </p:cNvSpPr>
              <p:nvPr/>
            </p:nvSpPr>
            <p:spPr>
              <a:xfrm>
                <a:off x="4755977" y="3100984"/>
                <a:ext cx="486383" cy="276880"/>
              </a:xfrm>
              <a:prstGeom prst="roundRect">
                <a:avLst/>
              </a:prstGeom>
              <a:blipFill>
                <a:blip r:embed="rId3"/>
                <a:stretch>
                  <a:fillRect b="-4255"/>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圓角 10">
                <a:extLst>
                  <a:ext uri="{FF2B5EF4-FFF2-40B4-BE49-F238E27FC236}">
                    <a16:creationId xmlns:a16="http://schemas.microsoft.com/office/drawing/2014/main" id="{846DA3B4-F297-573C-46D9-F662619EFC51}"/>
                  </a:ext>
                </a:extLst>
              </p:cNvPr>
              <p:cNvSpPr/>
              <p:nvPr/>
            </p:nvSpPr>
            <p:spPr>
              <a:xfrm>
                <a:off x="4755977" y="3539717"/>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𝑜</m:t>
                          </m:r>
                        </m:e>
                        <m:sub>
                          <m:r>
                            <a:rPr lang="en-US" altLang="zh-TW" sz="1600" b="0" i="0" dirty="0" smtClean="0">
                              <a:solidFill>
                                <a:schemeClr val="tx1"/>
                              </a:solidFill>
                              <a:latin typeface="Cambria Math" panose="02040503050406030204" pitchFamily="18" charset="0"/>
                            </a:rPr>
                            <m:t>2</m:t>
                          </m:r>
                        </m:sub>
                      </m:sSub>
                    </m:oMath>
                  </m:oMathPara>
                </a14:m>
                <a:endParaRPr/>
              </a:p>
            </p:txBody>
          </p:sp>
        </mc:Choice>
        <mc:Fallback xmlns="">
          <p:sp>
            <p:nvSpPr>
              <p:cNvPr id="11" name="矩形: 圓角 10">
                <a:extLst>
                  <a:ext uri="{FF2B5EF4-FFF2-40B4-BE49-F238E27FC236}">
                    <a16:creationId xmlns:a16="http://schemas.microsoft.com/office/drawing/2014/main" id="{846DA3B4-F297-573C-46D9-F662619EFC51}"/>
                  </a:ext>
                </a:extLst>
              </p:cNvPr>
              <p:cNvSpPr>
                <a:spLocks noRot="1" noChangeAspect="1" noMove="1" noResize="1" noEditPoints="1" noAdjustHandles="1" noChangeArrowheads="1" noChangeShapeType="1" noTextEdit="1"/>
              </p:cNvSpPr>
              <p:nvPr/>
            </p:nvSpPr>
            <p:spPr>
              <a:xfrm>
                <a:off x="4755977" y="3539717"/>
                <a:ext cx="486383" cy="276880"/>
              </a:xfrm>
              <a:prstGeom prst="roundRect">
                <a:avLst/>
              </a:prstGeom>
              <a:blipFill>
                <a:blip r:embed="rId4"/>
                <a:stretch>
                  <a:fillRect b="-4255"/>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圓角 11">
                <a:extLst>
                  <a:ext uri="{FF2B5EF4-FFF2-40B4-BE49-F238E27FC236}">
                    <a16:creationId xmlns:a16="http://schemas.microsoft.com/office/drawing/2014/main" id="{A7CD95FA-6AF8-3D20-46A1-9339BB649EF2}"/>
                  </a:ext>
                </a:extLst>
              </p:cNvPr>
              <p:cNvSpPr/>
              <p:nvPr/>
            </p:nvSpPr>
            <p:spPr>
              <a:xfrm>
                <a:off x="4755977" y="4492779"/>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𝑜</m:t>
                          </m:r>
                        </m:e>
                        <m:sub>
                          <m:r>
                            <m:rPr>
                              <m:sty m:val="p"/>
                            </m:rPr>
                            <a:rPr lang="en-US" altLang="zh-TW" sz="1600" b="0" i="0" dirty="0" smtClean="0">
                              <a:solidFill>
                                <a:schemeClr val="tx1"/>
                              </a:solidFill>
                              <a:latin typeface="Cambria Math" panose="02040503050406030204" pitchFamily="18" charset="0"/>
                            </a:rPr>
                            <m:t>G</m:t>
                          </m:r>
                        </m:sub>
                      </m:sSub>
                    </m:oMath>
                  </m:oMathPara>
                </a14:m>
                <a:endParaRPr/>
              </a:p>
            </p:txBody>
          </p:sp>
        </mc:Choice>
        <mc:Fallback xmlns="">
          <p:sp>
            <p:nvSpPr>
              <p:cNvPr id="12" name="矩形: 圓角 11">
                <a:extLst>
                  <a:ext uri="{FF2B5EF4-FFF2-40B4-BE49-F238E27FC236}">
                    <a16:creationId xmlns:a16="http://schemas.microsoft.com/office/drawing/2014/main" id="{A7CD95FA-6AF8-3D20-46A1-9339BB649EF2}"/>
                  </a:ext>
                </a:extLst>
              </p:cNvPr>
              <p:cNvSpPr>
                <a:spLocks noRot="1" noChangeAspect="1" noMove="1" noResize="1" noEditPoints="1" noAdjustHandles="1" noChangeArrowheads="1" noChangeShapeType="1" noTextEdit="1"/>
              </p:cNvSpPr>
              <p:nvPr/>
            </p:nvSpPr>
            <p:spPr>
              <a:xfrm>
                <a:off x="4755977" y="4492779"/>
                <a:ext cx="486383" cy="276880"/>
              </a:xfrm>
              <a:prstGeom prst="roundRect">
                <a:avLst/>
              </a:prstGeom>
              <a:blipFill>
                <a:blip r:embed="rId5"/>
                <a:stretch>
                  <a:fillRect b="-6383"/>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id="{54CCF376-FDA8-7DCC-50E2-F79E1FC0F2DF}"/>
              </a:ext>
            </a:extLst>
          </p:cNvPr>
          <p:cNvSpPr txBox="1"/>
          <p:nvPr/>
        </p:nvSpPr>
        <p:spPr>
          <a:xfrm>
            <a:off x="4798523" y="3946103"/>
            <a:ext cx="381836" cy="369332"/>
          </a:xfrm>
          <a:prstGeom prst="rect">
            <a:avLst/>
          </a:prstGeom>
          <a:noFill/>
          <a:ln>
            <a:noFill/>
          </a:ln>
        </p:spPr>
        <p:txBody>
          <a:bodyPr wrap="none" rtlCol="0">
            <a:spAutoFit/>
          </a:bodyPr>
          <a:lstStyle/>
          <a:p>
            <a:r>
              <a:rPr lang="en-US" altLang="zh-TW" dirty="0"/>
              <a:t>…</a:t>
            </a:r>
            <a:endParaRPr lang="zh-TW" altLang="en-US" dirty="0"/>
          </a:p>
        </p:txBody>
      </p:sp>
      <p:sp>
        <p:nvSpPr>
          <p:cNvPr id="14" name="矩形: 圓角 13">
            <a:extLst>
              <a:ext uri="{FF2B5EF4-FFF2-40B4-BE49-F238E27FC236}">
                <a16:creationId xmlns:a16="http://schemas.microsoft.com/office/drawing/2014/main" id="{77062304-39AC-381F-DD0B-8A35C8E6232F}"/>
              </a:ext>
            </a:extLst>
          </p:cNvPr>
          <p:cNvSpPr/>
          <p:nvPr/>
        </p:nvSpPr>
        <p:spPr>
          <a:xfrm>
            <a:off x="5453998" y="2936878"/>
            <a:ext cx="1858950" cy="917284"/>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b="1" dirty="0">
                <a:solidFill>
                  <a:schemeClr val="tx1"/>
                </a:solidFill>
                <a:latin typeface="Cambria" panose="02040503050406030204" pitchFamily="18" charset="0"/>
                <a:ea typeface="Cambria" panose="02040503050406030204" pitchFamily="18" charset="0"/>
              </a:rPr>
              <a:t>Frozen LLM (SFT)</a:t>
            </a:r>
            <a:endParaRPr lang="zh-TW" altLang="en-US" sz="1600" b="1" dirty="0">
              <a:solidFill>
                <a:schemeClr val="tx1"/>
              </a:solidFill>
              <a:latin typeface="Cambria" panose="02040503050406030204" pitchFamily="18" charset="0"/>
            </a:endParaRPr>
          </a:p>
        </p:txBody>
      </p:sp>
      <p:sp>
        <p:nvSpPr>
          <p:cNvPr id="15" name="矩形: 圓角 14">
            <a:extLst>
              <a:ext uri="{FF2B5EF4-FFF2-40B4-BE49-F238E27FC236}">
                <a16:creationId xmlns:a16="http://schemas.microsoft.com/office/drawing/2014/main" id="{970FC365-4F6A-5C71-55D2-2F67C0E5419E}"/>
              </a:ext>
            </a:extLst>
          </p:cNvPr>
          <p:cNvSpPr/>
          <p:nvPr/>
        </p:nvSpPr>
        <p:spPr>
          <a:xfrm>
            <a:off x="5440350" y="3946103"/>
            <a:ext cx="1858950" cy="917284"/>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b="1" dirty="0">
                <a:solidFill>
                  <a:schemeClr val="tx1"/>
                </a:solidFill>
                <a:latin typeface="Cambria" panose="02040503050406030204" pitchFamily="18" charset="0"/>
                <a:ea typeface="Cambria" panose="02040503050406030204" pitchFamily="18" charset="0"/>
              </a:rPr>
              <a:t>BERT</a:t>
            </a:r>
            <a:br>
              <a:rPr lang="en-US" altLang="zh-TW" sz="1600" b="1" dirty="0">
                <a:solidFill>
                  <a:schemeClr val="tx1"/>
                </a:solidFill>
                <a:latin typeface="Cambria" panose="02040503050406030204" pitchFamily="18" charset="0"/>
                <a:ea typeface="Cambria" panose="02040503050406030204" pitchFamily="18" charset="0"/>
              </a:rPr>
            </a:br>
            <a:r>
              <a:rPr lang="en-US" altLang="zh-TW" sz="1600" b="1" dirty="0">
                <a:solidFill>
                  <a:schemeClr val="tx1"/>
                </a:solidFill>
                <a:latin typeface="Cambria" panose="02040503050406030204" pitchFamily="18" charset="0"/>
                <a:ea typeface="Cambria" panose="02040503050406030204" pitchFamily="18" charset="0"/>
              </a:rPr>
              <a:t> Reward Model</a:t>
            </a:r>
          </a:p>
        </p:txBody>
      </p:sp>
      <p:cxnSp>
        <p:nvCxnSpPr>
          <p:cNvPr id="16" name="接點: 弧形 15">
            <a:extLst>
              <a:ext uri="{FF2B5EF4-FFF2-40B4-BE49-F238E27FC236}">
                <a16:creationId xmlns:a16="http://schemas.microsoft.com/office/drawing/2014/main" id="{650F4EFF-0025-DC61-F998-766284A69317}"/>
              </a:ext>
            </a:extLst>
          </p:cNvPr>
          <p:cNvCxnSpPr>
            <a:cxnSpLocks/>
            <a:stCxn id="7" idx="3"/>
            <a:endCxn id="14" idx="1"/>
          </p:cNvCxnSpPr>
          <p:nvPr/>
        </p:nvCxnSpPr>
        <p:spPr>
          <a:xfrm flipV="1">
            <a:off x="5294241" y="3395520"/>
            <a:ext cx="159757" cy="500313"/>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接點: 弧形 16">
            <a:extLst>
              <a:ext uri="{FF2B5EF4-FFF2-40B4-BE49-F238E27FC236}">
                <a16:creationId xmlns:a16="http://schemas.microsoft.com/office/drawing/2014/main" id="{943EE728-5646-D392-EEA3-F0D5F55D8A81}"/>
              </a:ext>
            </a:extLst>
          </p:cNvPr>
          <p:cNvCxnSpPr>
            <a:cxnSpLocks/>
            <a:stCxn id="7" idx="3"/>
            <a:endCxn id="15" idx="1"/>
          </p:cNvCxnSpPr>
          <p:nvPr/>
        </p:nvCxnSpPr>
        <p:spPr>
          <a:xfrm>
            <a:off x="5294241" y="3895833"/>
            <a:ext cx="146109" cy="508912"/>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接點: 弧形 17">
            <a:extLst>
              <a:ext uri="{FF2B5EF4-FFF2-40B4-BE49-F238E27FC236}">
                <a16:creationId xmlns:a16="http://schemas.microsoft.com/office/drawing/2014/main" id="{19480036-2BDA-F757-DADD-23FAAF7FC668}"/>
              </a:ext>
            </a:extLst>
          </p:cNvPr>
          <p:cNvCxnSpPr>
            <a:stCxn id="14" idx="0"/>
            <a:endCxn id="5" idx="0"/>
          </p:cNvCxnSpPr>
          <p:nvPr/>
        </p:nvCxnSpPr>
        <p:spPr>
          <a:xfrm rot="16200000" flipH="1" flipV="1">
            <a:off x="4642266" y="1837874"/>
            <a:ext cx="642204" cy="2840211"/>
          </a:xfrm>
          <a:prstGeom prst="curvedConnector3">
            <a:avLst>
              <a:gd name="adj1" fmla="val -3559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矩形: 圓角 18">
            <a:extLst>
              <a:ext uri="{FF2B5EF4-FFF2-40B4-BE49-F238E27FC236}">
                <a16:creationId xmlns:a16="http://schemas.microsoft.com/office/drawing/2014/main" id="{65F8C13E-7FFA-62BB-B10B-956108C1AB23}"/>
              </a:ext>
            </a:extLst>
          </p:cNvPr>
          <p:cNvSpPr/>
          <p:nvPr/>
        </p:nvSpPr>
        <p:spPr>
          <a:xfrm>
            <a:off x="7524853" y="2945478"/>
            <a:ext cx="609600" cy="1917909"/>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20" name="矩形: 圓角 19">
                <a:extLst>
                  <a:ext uri="{FF2B5EF4-FFF2-40B4-BE49-F238E27FC236}">
                    <a16:creationId xmlns:a16="http://schemas.microsoft.com/office/drawing/2014/main" id="{3D78DBDC-5E54-17AF-3DF1-6C7215E48201}"/>
                  </a:ext>
                </a:extLst>
              </p:cNvPr>
              <p:cNvSpPr/>
              <p:nvPr/>
            </p:nvSpPr>
            <p:spPr>
              <a:xfrm>
                <a:off x="7596189" y="3109584"/>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𝑟</m:t>
                          </m:r>
                        </m:e>
                        <m:sub>
                          <m:r>
                            <a:rPr lang="en-US" altLang="zh-TW" sz="1600" b="0" i="0" dirty="0" smtClean="0">
                              <a:solidFill>
                                <a:schemeClr val="tx1"/>
                              </a:solidFill>
                              <a:latin typeface="Cambria Math" panose="02040503050406030204" pitchFamily="18" charset="0"/>
                            </a:rPr>
                            <m:t>1</m:t>
                          </m:r>
                        </m:sub>
                      </m:sSub>
                    </m:oMath>
                  </m:oMathPara>
                </a14:m>
                <a:endParaRPr/>
              </a:p>
            </p:txBody>
          </p:sp>
        </mc:Choice>
        <mc:Fallback xmlns="">
          <p:sp>
            <p:nvSpPr>
              <p:cNvPr id="20" name="矩形: 圓角 19">
                <a:extLst>
                  <a:ext uri="{FF2B5EF4-FFF2-40B4-BE49-F238E27FC236}">
                    <a16:creationId xmlns:a16="http://schemas.microsoft.com/office/drawing/2014/main" id="{3D78DBDC-5E54-17AF-3DF1-6C7215E48201}"/>
                  </a:ext>
                </a:extLst>
              </p:cNvPr>
              <p:cNvSpPr>
                <a:spLocks noRot="1" noChangeAspect="1" noMove="1" noResize="1" noEditPoints="1" noAdjustHandles="1" noChangeArrowheads="1" noChangeShapeType="1" noTextEdit="1"/>
              </p:cNvSpPr>
              <p:nvPr/>
            </p:nvSpPr>
            <p:spPr>
              <a:xfrm>
                <a:off x="7596189" y="3109584"/>
                <a:ext cx="486383" cy="276880"/>
              </a:xfrm>
              <a:prstGeom prst="roundRect">
                <a:avLst/>
              </a:prstGeom>
              <a:blipFill>
                <a:blip r:embed="rId6"/>
                <a:stretch>
                  <a:fillRect b="-4167"/>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21" name="文字方塊 20">
            <a:extLst>
              <a:ext uri="{FF2B5EF4-FFF2-40B4-BE49-F238E27FC236}">
                <a16:creationId xmlns:a16="http://schemas.microsoft.com/office/drawing/2014/main" id="{46EAECE9-2F15-8C9E-BF7B-FE72F1E0C8E3}"/>
              </a:ext>
            </a:extLst>
          </p:cNvPr>
          <p:cNvSpPr txBox="1"/>
          <p:nvPr/>
        </p:nvSpPr>
        <p:spPr>
          <a:xfrm>
            <a:off x="7638735" y="3954703"/>
            <a:ext cx="381836" cy="369332"/>
          </a:xfrm>
          <a:prstGeom prst="rect">
            <a:avLst/>
          </a:prstGeom>
          <a:noFill/>
          <a:ln>
            <a:noFill/>
          </a:ln>
        </p:spPr>
        <p:txBody>
          <a:bodyPr wrap="none" rtlCol="0">
            <a:spAutoFit/>
          </a:bodyPr>
          <a:lstStyle/>
          <a:p>
            <a:r>
              <a:rPr lang="en-US" altLang="zh-TW" dirty="0"/>
              <a:t>…</a:t>
            </a:r>
            <a:endParaRPr lang="zh-TW" altLang="en-US" dirty="0"/>
          </a:p>
        </p:txBody>
      </p:sp>
      <p:cxnSp>
        <p:nvCxnSpPr>
          <p:cNvPr id="22" name="接點: 弧形 21">
            <a:extLst>
              <a:ext uri="{FF2B5EF4-FFF2-40B4-BE49-F238E27FC236}">
                <a16:creationId xmlns:a16="http://schemas.microsoft.com/office/drawing/2014/main" id="{977F887D-C4FF-684A-9849-0EE2ACE889C7}"/>
              </a:ext>
            </a:extLst>
          </p:cNvPr>
          <p:cNvCxnSpPr>
            <a:cxnSpLocks/>
            <a:stCxn id="15" idx="3"/>
            <a:endCxn id="19" idx="1"/>
          </p:cNvCxnSpPr>
          <p:nvPr/>
        </p:nvCxnSpPr>
        <p:spPr>
          <a:xfrm flipV="1">
            <a:off x="7299300" y="3904433"/>
            <a:ext cx="225553" cy="500312"/>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矩形: 圓角 22">
                <a:extLst>
                  <a:ext uri="{FF2B5EF4-FFF2-40B4-BE49-F238E27FC236}">
                    <a16:creationId xmlns:a16="http://schemas.microsoft.com/office/drawing/2014/main" id="{0A2F344D-50C6-4368-CC58-31F831FD2060}"/>
                  </a:ext>
                </a:extLst>
              </p:cNvPr>
              <p:cNvSpPr/>
              <p:nvPr/>
            </p:nvSpPr>
            <p:spPr>
              <a:xfrm>
                <a:off x="7596188" y="3548328"/>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𝑟</m:t>
                          </m:r>
                        </m:e>
                        <m:sub>
                          <m:r>
                            <a:rPr lang="en-US" altLang="zh-TW" sz="1600" b="0" i="0" dirty="0" smtClean="0">
                              <a:solidFill>
                                <a:schemeClr val="tx1"/>
                              </a:solidFill>
                              <a:latin typeface="Cambria Math" panose="02040503050406030204" pitchFamily="18" charset="0"/>
                            </a:rPr>
                            <m:t>2</m:t>
                          </m:r>
                        </m:sub>
                      </m:sSub>
                    </m:oMath>
                  </m:oMathPara>
                </a14:m>
                <a:endParaRPr/>
              </a:p>
            </p:txBody>
          </p:sp>
        </mc:Choice>
        <mc:Fallback xmlns="">
          <p:sp>
            <p:nvSpPr>
              <p:cNvPr id="23" name="矩形: 圓角 22">
                <a:extLst>
                  <a:ext uri="{FF2B5EF4-FFF2-40B4-BE49-F238E27FC236}">
                    <a16:creationId xmlns:a16="http://schemas.microsoft.com/office/drawing/2014/main" id="{0A2F344D-50C6-4368-CC58-31F831FD2060}"/>
                  </a:ext>
                </a:extLst>
              </p:cNvPr>
              <p:cNvSpPr>
                <a:spLocks noRot="1" noChangeAspect="1" noMove="1" noResize="1" noEditPoints="1" noAdjustHandles="1" noChangeArrowheads="1" noChangeShapeType="1" noTextEdit="1"/>
              </p:cNvSpPr>
              <p:nvPr/>
            </p:nvSpPr>
            <p:spPr>
              <a:xfrm>
                <a:off x="7596188" y="3548328"/>
                <a:ext cx="486383" cy="276880"/>
              </a:xfrm>
              <a:prstGeom prst="roundRect">
                <a:avLst/>
              </a:prstGeom>
              <a:blipFill>
                <a:blip r:embed="rId7"/>
                <a:stretch>
                  <a:fillRect b="-6383"/>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矩形: 圓角 23">
                <a:extLst>
                  <a:ext uri="{FF2B5EF4-FFF2-40B4-BE49-F238E27FC236}">
                    <a16:creationId xmlns:a16="http://schemas.microsoft.com/office/drawing/2014/main" id="{95A2EA88-6E4A-414B-966C-8172694732CC}"/>
                  </a:ext>
                </a:extLst>
              </p:cNvPr>
              <p:cNvSpPr/>
              <p:nvPr/>
            </p:nvSpPr>
            <p:spPr>
              <a:xfrm>
                <a:off x="7596187" y="4457036"/>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a:rPr lang="en-US" altLang="zh-TW" sz="1600" b="0" i="0" dirty="0" smtClean="0">
                              <a:solidFill>
                                <a:schemeClr val="tx1"/>
                              </a:solidFill>
                              <a:latin typeface="Cambria Math" panose="02040503050406030204" pitchFamily="18" charset="0"/>
                            </a:rPr>
                            <m:t>𝑟</m:t>
                          </m:r>
                        </m:e>
                        <m:sub>
                          <m:r>
                            <m:rPr>
                              <m:sty m:val="p"/>
                            </m:rPr>
                            <a:rPr lang="en-US" altLang="zh-TW" sz="1600" b="0" i="0" dirty="0" smtClean="0">
                              <a:solidFill>
                                <a:schemeClr val="tx1"/>
                              </a:solidFill>
                              <a:latin typeface="Cambria Math" panose="02040503050406030204" pitchFamily="18" charset="0"/>
                            </a:rPr>
                            <m:t>G</m:t>
                          </m:r>
                        </m:sub>
                      </m:sSub>
                    </m:oMath>
                  </m:oMathPara>
                </a14:m>
                <a:endParaRPr/>
              </a:p>
            </p:txBody>
          </p:sp>
        </mc:Choice>
        <mc:Fallback xmlns="">
          <p:sp>
            <p:nvSpPr>
              <p:cNvPr id="24" name="矩形: 圓角 23">
                <a:extLst>
                  <a:ext uri="{FF2B5EF4-FFF2-40B4-BE49-F238E27FC236}">
                    <a16:creationId xmlns:a16="http://schemas.microsoft.com/office/drawing/2014/main" id="{95A2EA88-6E4A-414B-966C-8172694732CC}"/>
                  </a:ext>
                </a:extLst>
              </p:cNvPr>
              <p:cNvSpPr>
                <a:spLocks noRot="1" noChangeAspect="1" noMove="1" noResize="1" noEditPoints="1" noAdjustHandles="1" noChangeArrowheads="1" noChangeShapeType="1" noTextEdit="1"/>
              </p:cNvSpPr>
              <p:nvPr/>
            </p:nvSpPr>
            <p:spPr>
              <a:xfrm>
                <a:off x="7596187" y="4457036"/>
                <a:ext cx="486383" cy="276880"/>
              </a:xfrm>
              <a:prstGeom prst="roundRect">
                <a:avLst/>
              </a:prstGeom>
              <a:blipFill>
                <a:blip r:embed="rId8"/>
                <a:stretch>
                  <a:fillRect b="-4167"/>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B9CD24C9-431D-2182-02D5-2A765AC355D4}"/>
              </a:ext>
            </a:extLst>
          </p:cNvPr>
          <p:cNvSpPr txBox="1"/>
          <p:nvPr/>
        </p:nvSpPr>
        <p:spPr>
          <a:xfrm>
            <a:off x="5841114" y="2487753"/>
            <a:ext cx="505267" cy="369332"/>
          </a:xfrm>
          <a:prstGeom prst="rect">
            <a:avLst/>
          </a:prstGeom>
          <a:noFill/>
          <a:ln>
            <a:noFill/>
          </a:ln>
        </p:spPr>
        <p:txBody>
          <a:bodyPr wrap="none" rtlCol="0">
            <a:spAutoFit/>
          </a:bodyPr>
          <a:lstStyle/>
          <a:p>
            <a:r>
              <a:rPr lang="en-US" altLang="zh-TW" dirty="0">
                <a:latin typeface="Cambria" panose="02040503050406030204" pitchFamily="18" charset="0"/>
                <a:ea typeface="Cambria" panose="02040503050406030204" pitchFamily="18" charset="0"/>
              </a:rPr>
              <a:t>KL </a:t>
            </a:r>
            <a:endParaRPr lang="zh-TW" altLang="en-US" dirty="0">
              <a:latin typeface="Cambria" panose="02040503050406030204" pitchFamily="18" charset="0"/>
            </a:endParaRPr>
          </a:p>
        </p:txBody>
      </p:sp>
      <p:sp>
        <p:nvSpPr>
          <p:cNvPr id="26" name="矩形: 圓角 25">
            <a:extLst>
              <a:ext uri="{FF2B5EF4-FFF2-40B4-BE49-F238E27FC236}">
                <a16:creationId xmlns:a16="http://schemas.microsoft.com/office/drawing/2014/main" id="{AF706FC4-26C4-8B68-04B1-C78505F7D5C3}"/>
              </a:ext>
            </a:extLst>
          </p:cNvPr>
          <p:cNvSpPr/>
          <p:nvPr/>
        </p:nvSpPr>
        <p:spPr>
          <a:xfrm>
            <a:off x="8379894" y="3641874"/>
            <a:ext cx="1405721" cy="528916"/>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600" dirty="0">
                <a:solidFill>
                  <a:schemeClr val="tx1"/>
                </a:solidFill>
                <a:latin typeface="Cambria" panose="02040503050406030204" pitchFamily="18" charset="0"/>
                <a:ea typeface="Cambria" panose="02040503050406030204" pitchFamily="18" charset="0"/>
              </a:rPr>
              <a:t>Group Computation</a:t>
            </a:r>
            <a:endParaRPr lang="zh-TW" altLang="en-US" sz="1600" dirty="0">
              <a:solidFill>
                <a:schemeClr val="tx1"/>
              </a:solidFill>
              <a:latin typeface="Cambria" panose="02040503050406030204" pitchFamily="18" charset="0"/>
            </a:endParaRPr>
          </a:p>
        </p:txBody>
      </p:sp>
      <p:cxnSp>
        <p:nvCxnSpPr>
          <p:cNvPr id="27" name="直線單箭頭接點 26">
            <a:extLst>
              <a:ext uri="{FF2B5EF4-FFF2-40B4-BE49-F238E27FC236}">
                <a16:creationId xmlns:a16="http://schemas.microsoft.com/office/drawing/2014/main" id="{E53A96FB-F764-07E0-7940-107FDA694ED1}"/>
              </a:ext>
            </a:extLst>
          </p:cNvPr>
          <p:cNvCxnSpPr>
            <a:cxnSpLocks/>
            <a:stCxn id="19" idx="3"/>
            <a:endCxn id="26" idx="1"/>
          </p:cNvCxnSpPr>
          <p:nvPr/>
        </p:nvCxnSpPr>
        <p:spPr>
          <a:xfrm>
            <a:off x="8134453" y="3904433"/>
            <a:ext cx="245441" cy="18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直線單箭頭接點 27">
            <a:extLst>
              <a:ext uri="{FF2B5EF4-FFF2-40B4-BE49-F238E27FC236}">
                <a16:creationId xmlns:a16="http://schemas.microsoft.com/office/drawing/2014/main" id="{E8C7B27D-2673-2B8F-BA20-52C38D2897D9}"/>
              </a:ext>
            </a:extLst>
          </p:cNvPr>
          <p:cNvCxnSpPr>
            <a:cxnSpLocks/>
          </p:cNvCxnSpPr>
          <p:nvPr/>
        </p:nvCxnSpPr>
        <p:spPr>
          <a:xfrm>
            <a:off x="9785615" y="3907843"/>
            <a:ext cx="245441" cy="18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矩形: 圓角 28">
            <a:extLst>
              <a:ext uri="{FF2B5EF4-FFF2-40B4-BE49-F238E27FC236}">
                <a16:creationId xmlns:a16="http://schemas.microsoft.com/office/drawing/2014/main" id="{F472426B-0268-86BA-93AF-B025C3143C96}"/>
              </a:ext>
            </a:extLst>
          </p:cNvPr>
          <p:cNvSpPr/>
          <p:nvPr/>
        </p:nvSpPr>
        <p:spPr>
          <a:xfrm>
            <a:off x="10031056" y="2950525"/>
            <a:ext cx="609600" cy="1917909"/>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30" name="矩形: 圓角 29">
                <a:extLst>
                  <a:ext uri="{FF2B5EF4-FFF2-40B4-BE49-F238E27FC236}">
                    <a16:creationId xmlns:a16="http://schemas.microsoft.com/office/drawing/2014/main" id="{86D62D50-3BCF-5068-2027-10D635D88966}"/>
                  </a:ext>
                </a:extLst>
              </p:cNvPr>
              <p:cNvSpPr/>
              <p:nvPr/>
            </p:nvSpPr>
            <p:spPr>
              <a:xfrm>
                <a:off x="10102392" y="3100983"/>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m:rPr>
                              <m:sty m:val="p"/>
                            </m:rPr>
                            <a:rPr lang="en-US" altLang="zh-TW" sz="1600" b="0" i="0" dirty="0" smtClean="0">
                              <a:solidFill>
                                <a:schemeClr val="tx1"/>
                              </a:solidFill>
                              <a:latin typeface="Cambria Math" panose="02040503050406030204" pitchFamily="18" charset="0"/>
                            </a:rPr>
                            <m:t>A</m:t>
                          </m:r>
                        </m:e>
                        <m:sub>
                          <m:r>
                            <a:rPr lang="en-US" altLang="zh-TW" sz="1600" b="0" i="0" dirty="0" smtClean="0">
                              <a:solidFill>
                                <a:schemeClr val="tx1"/>
                              </a:solidFill>
                              <a:latin typeface="Cambria Math" panose="02040503050406030204" pitchFamily="18" charset="0"/>
                            </a:rPr>
                            <m:t>1</m:t>
                          </m:r>
                        </m:sub>
                      </m:sSub>
                    </m:oMath>
                  </m:oMathPara>
                </a14:m>
                <a:endParaRPr/>
              </a:p>
            </p:txBody>
          </p:sp>
        </mc:Choice>
        <mc:Fallback xmlns="">
          <p:sp>
            <p:nvSpPr>
              <p:cNvPr id="30" name="矩形: 圓角 29">
                <a:extLst>
                  <a:ext uri="{FF2B5EF4-FFF2-40B4-BE49-F238E27FC236}">
                    <a16:creationId xmlns:a16="http://schemas.microsoft.com/office/drawing/2014/main" id="{86D62D50-3BCF-5068-2027-10D635D88966}"/>
                  </a:ext>
                </a:extLst>
              </p:cNvPr>
              <p:cNvSpPr>
                <a:spLocks noRot="1" noChangeAspect="1" noMove="1" noResize="1" noEditPoints="1" noAdjustHandles="1" noChangeArrowheads="1" noChangeShapeType="1" noTextEdit="1"/>
              </p:cNvSpPr>
              <p:nvPr/>
            </p:nvSpPr>
            <p:spPr>
              <a:xfrm>
                <a:off x="10102392" y="3100983"/>
                <a:ext cx="486383" cy="276880"/>
              </a:xfrm>
              <a:prstGeom prst="roundRect">
                <a:avLst/>
              </a:prstGeom>
              <a:blipFill>
                <a:blip r:embed="rId9"/>
                <a:stretch>
                  <a:fillRect b="-4255"/>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sp>
        <p:nvSpPr>
          <p:cNvPr id="31" name="文字方塊 30">
            <a:extLst>
              <a:ext uri="{FF2B5EF4-FFF2-40B4-BE49-F238E27FC236}">
                <a16:creationId xmlns:a16="http://schemas.microsoft.com/office/drawing/2014/main" id="{5918B231-189B-A68E-E154-F03C8F6BDE55}"/>
              </a:ext>
            </a:extLst>
          </p:cNvPr>
          <p:cNvSpPr txBox="1"/>
          <p:nvPr/>
        </p:nvSpPr>
        <p:spPr>
          <a:xfrm>
            <a:off x="10144938" y="3946102"/>
            <a:ext cx="381836" cy="369332"/>
          </a:xfrm>
          <a:prstGeom prst="rect">
            <a:avLst/>
          </a:prstGeom>
          <a:noFill/>
          <a:ln>
            <a:noFill/>
          </a:ln>
        </p:spPr>
        <p:txBody>
          <a:bodyPr wrap="none" rtlCol="0">
            <a:spAutoFit/>
          </a:bodyPr>
          <a:lstStyle/>
          <a:p>
            <a:r>
              <a:rPr lang="en-US" altLang="zh-TW" dirty="0"/>
              <a:t>…</a:t>
            </a:r>
            <a:endParaRPr lang="zh-TW" altLang="en-US" dirty="0"/>
          </a:p>
        </p:txBody>
      </p:sp>
      <mc:AlternateContent xmlns:mc="http://schemas.openxmlformats.org/markup-compatibility/2006" xmlns:a14="http://schemas.microsoft.com/office/drawing/2010/main">
        <mc:Choice Requires="a14">
          <p:sp>
            <p:nvSpPr>
              <p:cNvPr id="32" name="矩形: 圓角 31">
                <a:extLst>
                  <a:ext uri="{FF2B5EF4-FFF2-40B4-BE49-F238E27FC236}">
                    <a16:creationId xmlns:a16="http://schemas.microsoft.com/office/drawing/2014/main" id="{C7C62947-17A3-3FD9-2268-41335E627620}"/>
                  </a:ext>
                </a:extLst>
              </p:cNvPr>
              <p:cNvSpPr/>
              <p:nvPr/>
            </p:nvSpPr>
            <p:spPr>
              <a:xfrm>
                <a:off x="10102391" y="3539727"/>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m:rPr>
                              <m:sty m:val="p"/>
                            </m:rPr>
                            <a:rPr lang="en-US" altLang="zh-TW" sz="1600" b="0" i="1" dirty="0" smtClean="0">
                              <a:solidFill>
                                <a:schemeClr val="tx1"/>
                              </a:solidFill>
                              <a:latin typeface="Cambria Math" panose="02040503050406030204" pitchFamily="18" charset="0"/>
                            </a:rPr>
                            <m:t>A</m:t>
                          </m:r>
                        </m:e>
                        <m:sub>
                          <m:r>
                            <a:rPr lang="en-US" altLang="zh-TW" sz="1600" b="0" i="0" dirty="0" smtClean="0">
                              <a:solidFill>
                                <a:schemeClr val="tx1"/>
                              </a:solidFill>
                              <a:latin typeface="Cambria Math" panose="02040503050406030204" pitchFamily="18" charset="0"/>
                            </a:rPr>
                            <m:t>2</m:t>
                          </m:r>
                        </m:sub>
                      </m:sSub>
                    </m:oMath>
                  </m:oMathPara>
                </a14:m>
                <a:endParaRPr/>
              </a:p>
            </p:txBody>
          </p:sp>
        </mc:Choice>
        <mc:Fallback xmlns="">
          <p:sp>
            <p:nvSpPr>
              <p:cNvPr id="32" name="矩形: 圓角 31">
                <a:extLst>
                  <a:ext uri="{FF2B5EF4-FFF2-40B4-BE49-F238E27FC236}">
                    <a16:creationId xmlns:a16="http://schemas.microsoft.com/office/drawing/2014/main" id="{C7C62947-17A3-3FD9-2268-41335E627620}"/>
                  </a:ext>
                </a:extLst>
              </p:cNvPr>
              <p:cNvSpPr>
                <a:spLocks noRot="1" noChangeAspect="1" noMove="1" noResize="1" noEditPoints="1" noAdjustHandles="1" noChangeArrowheads="1" noChangeShapeType="1" noTextEdit="1"/>
              </p:cNvSpPr>
              <p:nvPr/>
            </p:nvSpPr>
            <p:spPr>
              <a:xfrm>
                <a:off x="10102391" y="3539727"/>
                <a:ext cx="486383" cy="276880"/>
              </a:xfrm>
              <a:prstGeom prst="roundRect">
                <a:avLst/>
              </a:prstGeom>
              <a:blipFill>
                <a:blip r:embed="rId10"/>
                <a:stretch>
                  <a:fillRect b="-4255"/>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矩形: 圓角 32">
                <a:extLst>
                  <a:ext uri="{FF2B5EF4-FFF2-40B4-BE49-F238E27FC236}">
                    <a16:creationId xmlns:a16="http://schemas.microsoft.com/office/drawing/2014/main" id="{1BE0C6B7-D7DB-6284-A68F-3BFA5DE94912}"/>
                  </a:ext>
                </a:extLst>
              </p:cNvPr>
              <p:cNvSpPr/>
              <p:nvPr/>
            </p:nvSpPr>
            <p:spPr>
              <a:xfrm>
                <a:off x="10102390" y="4448435"/>
                <a:ext cx="486383" cy="276880"/>
              </a:xfrm>
              <a:prstGeom prst="round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600" b="0" i="1" dirty="0" smtClean="0">
                              <a:solidFill>
                                <a:schemeClr val="tx1"/>
                              </a:solidFill>
                              <a:latin typeface="Cambria Math" panose="02040503050406030204" pitchFamily="18" charset="0"/>
                            </a:rPr>
                          </m:ctrlPr>
                        </m:sSubPr>
                        <m:e>
                          <m:r>
                            <m:rPr>
                              <m:sty m:val="p"/>
                            </m:rPr>
                            <a:rPr lang="en-US" altLang="zh-TW" sz="1600" b="0" i="1" dirty="0" smtClean="0">
                              <a:solidFill>
                                <a:schemeClr val="tx1"/>
                              </a:solidFill>
                              <a:latin typeface="Cambria Math" panose="02040503050406030204" pitchFamily="18" charset="0"/>
                            </a:rPr>
                            <m:t>A</m:t>
                          </m:r>
                        </m:e>
                        <m:sub>
                          <m:r>
                            <m:rPr>
                              <m:sty m:val="p"/>
                            </m:rPr>
                            <a:rPr lang="en-US" altLang="zh-TW" sz="1600" b="0" i="0" dirty="0" smtClean="0">
                              <a:solidFill>
                                <a:schemeClr val="tx1"/>
                              </a:solidFill>
                              <a:latin typeface="Cambria Math" panose="02040503050406030204" pitchFamily="18" charset="0"/>
                            </a:rPr>
                            <m:t>G</m:t>
                          </m:r>
                        </m:sub>
                      </m:sSub>
                    </m:oMath>
                  </m:oMathPara>
                </a14:m>
                <a:endParaRPr/>
              </a:p>
            </p:txBody>
          </p:sp>
        </mc:Choice>
        <mc:Fallback xmlns="">
          <p:sp>
            <p:nvSpPr>
              <p:cNvPr id="33" name="矩形: 圓角 32">
                <a:extLst>
                  <a:ext uri="{FF2B5EF4-FFF2-40B4-BE49-F238E27FC236}">
                    <a16:creationId xmlns:a16="http://schemas.microsoft.com/office/drawing/2014/main" id="{1BE0C6B7-D7DB-6284-A68F-3BFA5DE94912}"/>
                  </a:ext>
                </a:extLst>
              </p:cNvPr>
              <p:cNvSpPr>
                <a:spLocks noRot="1" noChangeAspect="1" noMove="1" noResize="1" noEditPoints="1" noAdjustHandles="1" noChangeArrowheads="1" noChangeShapeType="1" noTextEdit="1"/>
              </p:cNvSpPr>
              <p:nvPr/>
            </p:nvSpPr>
            <p:spPr>
              <a:xfrm>
                <a:off x="10102390" y="4448435"/>
                <a:ext cx="486383" cy="276880"/>
              </a:xfrm>
              <a:prstGeom prst="roundRect">
                <a:avLst/>
              </a:prstGeom>
              <a:blipFill>
                <a:blip r:embed="rId11"/>
                <a:stretch>
                  <a:fillRect b="-6383"/>
                </a:stretch>
              </a:blipFill>
              <a:ln w="9525" cap="flat" cmpd="sng" algn="ctr">
                <a:solidFill>
                  <a:schemeClr val="tx1"/>
                </a:solidFill>
                <a:prstDash val="solid"/>
                <a:round/>
                <a:headEnd type="none" w="med" len="med"/>
                <a:tailEnd type="none" w="med" len="med"/>
              </a:ln>
            </p:spPr>
            <p:txBody>
              <a:bodyPr/>
              <a:lstStyle/>
              <a:p>
                <a:r>
                  <a:rPr lang="zh-TW" altLang="en-US">
                    <a:noFill/>
                  </a:rPr>
                  <a:t> </a:t>
                </a:r>
              </a:p>
            </p:txBody>
          </p:sp>
        </mc:Fallback>
      </mc:AlternateContent>
      <p:cxnSp>
        <p:nvCxnSpPr>
          <p:cNvPr id="34" name="直線單箭頭接點 33">
            <a:extLst>
              <a:ext uri="{FF2B5EF4-FFF2-40B4-BE49-F238E27FC236}">
                <a16:creationId xmlns:a16="http://schemas.microsoft.com/office/drawing/2014/main" id="{6D716F3E-0B6A-7E6A-8747-0F965D903A8B}"/>
              </a:ext>
            </a:extLst>
          </p:cNvPr>
          <p:cNvCxnSpPr>
            <a:cxnSpLocks/>
            <a:stCxn id="19" idx="3"/>
            <a:endCxn id="26" idx="1"/>
          </p:cNvCxnSpPr>
          <p:nvPr/>
        </p:nvCxnSpPr>
        <p:spPr>
          <a:xfrm>
            <a:off x="8134453" y="3904433"/>
            <a:ext cx="245441" cy="18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5" name="文字方塊 34">
            <a:extLst>
              <a:ext uri="{FF2B5EF4-FFF2-40B4-BE49-F238E27FC236}">
                <a16:creationId xmlns:a16="http://schemas.microsoft.com/office/drawing/2014/main" id="{620302D8-24AC-D0AF-1BC4-B5AF4A04B07A}"/>
              </a:ext>
            </a:extLst>
          </p:cNvPr>
          <p:cNvSpPr txBox="1"/>
          <p:nvPr/>
        </p:nvSpPr>
        <p:spPr>
          <a:xfrm>
            <a:off x="6074413" y="3512286"/>
            <a:ext cx="65" cy="276999"/>
          </a:xfrm>
          <a:prstGeom prst="rect">
            <a:avLst/>
          </a:prstGeom>
          <a:noFill/>
        </p:spPr>
        <p:txBody>
          <a:bodyPr wrap="none" lIns="0" tIns="0" rIns="0" bIns="0" rtlCol="0">
            <a:spAutoFit/>
          </a:bodyPr>
          <a:lstStyle/>
          <a:p>
            <a:endParaRPr lang="zh-TW" altLang="en-US" dirty="0"/>
          </a:p>
        </p:txBody>
      </p:sp>
      <p:cxnSp>
        <p:nvCxnSpPr>
          <p:cNvPr id="36" name="直線單箭頭接點 35">
            <a:extLst>
              <a:ext uri="{FF2B5EF4-FFF2-40B4-BE49-F238E27FC236}">
                <a16:creationId xmlns:a16="http://schemas.microsoft.com/office/drawing/2014/main" id="{9E75D789-04B2-C4C7-D0EC-14C79010EBEA}"/>
              </a:ext>
            </a:extLst>
          </p:cNvPr>
          <p:cNvCxnSpPr>
            <a:cxnSpLocks/>
            <a:stCxn id="26" idx="3"/>
            <a:endCxn id="29" idx="1"/>
          </p:cNvCxnSpPr>
          <p:nvPr/>
        </p:nvCxnSpPr>
        <p:spPr>
          <a:xfrm>
            <a:off x="9785615" y="3906332"/>
            <a:ext cx="245441" cy="31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接點: 弧形 36">
            <a:extLst>
              <a:ext uri="{FF2B5EF4-FFF2-40B4-BE49-F238E27FC236}">
                <a16:creationId xmlns:a16="http://schemas.microsoft.com/office/drawing/2014/main" id="{36AF326C-87A7-CDFE-BDAC-66721073B9DE}"/>
              </a:ext>
            </a:extLst>
          </p:cNvPr>
          <p:cNvCxnSpPr>
            <a:cxnSpLocks/>
            <a:stCxn id="29" idx="3"/>
            <a:endCxn id="5" idx="0"/>
          </p:cNvCxnSpPr>
          <p:nvPr/>
        </p:nvCxnSpPr>
        <p:spPr>
          <a:xfrm flipH="1" flipV="1">
            <a:off x="3543262" y="3579082"/>
            <a:ext cx="7097394" cy="330398"/>
          </a:xfrm>
          <a:prstGeom prst="curvedConnector4">
            <a:avLst>
              <a:gd name="adj1" fmla="val -3221"/>
              <a:gd name="adj2" fmla="val 508137"/>
            </a:avLst>
          </a:prstGeom>
          <a:ln>
            <a:tailEnd type="triangle"/>
          </a:ln>
        </p:spPr>
        <p:style>
          <a:lnRef idx="2">
            <a:schemeClr val="dk1"/>
          </a:lnRef>
          <a:fillRef idx="0">
            <a:schemeClr val="dk1"/>
          </a:fillRef>
          <a:effectRef idx="1">
            <a:schemeClr val="dk1"/>
          </a:effectRef>
          <a:fontRef idx="minor">
            <a:schemeClr val="tx1"/>
          </a:fontRef>
        </p:style>
      </p:cxnSp>
      <p:sp>
        <p:nvSpPr>
          <p:cNvPr id="38" name="文字方塊 37">
            <a:extLst>
              <a:ext uri="{FF2B5EF4-FFF2-40B4-BE49-F238E27FC236}">
                <a16:creationId xmlns:a16="http://schemas.microsoft.com/office/drawing/2014/main" id="{C2F83BB6-8B11-8B6C-C3D7-4D8359C4BB90}"/>
              </a:ext>
            </a:extLst>
          </p:cNvPr>
          <p:cNvSpPr txBox="1"/>
          <p:nvPr/>
        </p:nvSpPr>
        <p:spPr>
          <a:xfrm>
            <a:off x="9774391" y="2211441"/>
            <a:ext cx="1271374" cy="369332"/>
          </a:xfrm>
          <a:prstGeom prst="rect">
            <a:avLst/>
          </a:prstGeom>
          <a:noFill/>
          <a:ln>
            <a:noFill/>
          </a:ln>
        </p:spPr>
        <p:txBody>
          <a:bodyPr wrap="none" rtlCol="0">
            <a:spAutoFit/>
          </a:bodyPr>
          <a:lstStyle/>
          <a:p>
            <a:r>
              <a:rPr lang="en-US" altLang="zh-TW" dirty="0">
                <a:latin typeface="Cambria" panose="02040503050406030204" pitchFamily="18" charset="0"/>
                <a:ea typeface="Cambria" panose="02040503050406030204" pitchFamily="18" charset="0"/>
              </a:rPr>
              <a:t>Advantage </a:t>
            </a:r>
            <a:endParaRPr lang="zh-TW" altLang="en-US" dirty="0">
              <a:latin typeface="Cambria" panose="02040503050406030204" pitchFamily="18" charset="0"/>
            </a:endParaRPr>
          </a:p>
        </p:txBody>
      </p:sp>
    </p:spTree>
    <p:extLst>
      <p:ext uri="{BB962C8B-B14F-4D97-AF65-F5344CB8AC3E}">
        <p14:creationId xmlns:p14="http://schemas.microsoft.com/office/powerpoint/2010/main" val="1941315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99">
          <a:extLst>
            <a:ext uri="{FF2B5EF4-FFF2-40B4-BE49-F238E27FC236}">
              <a16:creationId xmlns:a16="http://schemas.microsoft.com/office/drawing/2014/main" id="{961D132C-BBBE-C7A7-9E73-3FD4A6706166}"/>
            </a:ext>
          </a:extLst>
        </p:cNvPr>
        <p:cNvGrpSpPr/>
        <p:nvPr/>
      </p:nvGrpSpPr>
      <p:grpSpPr>
        <a:xfrm>
          <a:off x="0" y="0"/>
          <a:ext cx="0" cy="0"/>
          <a:chOff x="0" y="0"/>
          <a:chExt cx="0" cy="0"/>
        </a:xfrm>
      </p:grpSpPr>
      <p:sp>
        <p:nvSpPr>
          <p:cNvPr id="402" name="Google Shape;402;p49">
            <a:extLst>
              <a:ext uri="{FF2B5EF4-FFF2-40B4-BE49-F238E27FC236}">
                <a16:creationId xmlns:a16="http://schemas.microsoft.com/office/drawing/2014/main" id="{9D2A577B-C525-BC44-6777-2D119CDC7A34}"/>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29</a:t>
            </a:fld>
            <a:endParaRPr dirty="0"/>
          </a:p>
        </p:txBody>
      </p:sp>
      <p:sp>
        <p:nvSpPr>
          <p:cNvPr id="403" name="Google Shape;403;p49">
            <a:extLst>
              <a:ext uri="{FF2B5EF4-FFF2-40B4-BE49-F238E27FC236}">
                <a16:creationId xmlns:a16="http://schemas.microsoft.com/office/drawing/2014/main" id="{0658123F-A44B-1E3D-B9B3-AC9B9D088E6E}"/>
              </a:ext>
            </a:extLst>
          </p:cNvPr>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Implementation – </a:t>
            </a:r>
            <a:r>
              <a:rPr lang="en-US" altLang="zh-TW" sz="4000" dirty="0">
                <a:latin typeface="Times New Roman"/>
                <a:ea typeface="Times New Roman"/>
                <a:cs typeface="Times New Roman"/>
                <a:sym typeface="Times New Roman"/>
              </a:rPr>
              <a:t>Open-source Tools and Library</a:t>
            </a:r>
            <a:endParaRPr sz="4000" dirty="0">
              <a:latin typeface="Times New Roman"/>
              <a:ea typeface="Times New Roman"/>
              <a:cs typeface="Times New Roman"/>
              <a:sym typeface="Times New Roman"/>
            </a:endParaRPr>
          </a:p>
        </p:txBody>
      </p:sp>
      <p:graphicFrame>
        <p:nvGraphicFramePr>
          <p:cNvPr id="2" name="表格 1">
            <a:extLst>
              <a:ext uri="{FF2B5EF4-FFF2-40B4-BE49-F238E27FC236}">
                <a16:creationId xmlns:a16="http://schemas.microsoft.com/office/drawing/2014/main" id="{D7A95F24-92A4-E72E-F3FC-18EF9B036EA3}"/>
              </a:ext>
            </a:extLst>
          </p:cNvPr>
          <p:cNvGraphicFramePr>
            <a:graphicFrameLocks noGrp="1"/>
          </p:cNvGraphicFramePr>
          <p:nvPr>
            <p:extLst>
              <p:ext uri="{D42A27DB-BD31-4B8C-83A1-F6EECF244321}">
                <p14:modId xmlns:p14="http://schemas.microsoft.com/office/powerpoint/2010/main" val="3868364692"/>
              </p:ext>
            </p:extLst>
          </p:nvPr>
        </p:nvGraphicFramePr>
        <p:xfrm>
          <a:off x="415667" y="1072706"/>
          <a:ext cx="11461142" cy="4324710"/>
        </p:xfrm>
        <a:graphic>
          <a:graphicData uri="http://schemas.openxmlformats.org/drawingml/2006/table">
            <a:tbl>
              <a:tblPr>
                <a:noFill/>
              </a:tblPr>
              <a:tblGrid>
                <a:gridCol w="1429386">
                  <a:extLst>
                    <a:ext uri="{9D8B030D-6E8A-4147-A177-3AD203B41FA5}">
                      <a16:colId xmlns:a16="http://schemas.microsoft.com/office/drawing/2014/main" val="4204537101"/>
                    </a:ext>
                  </a:extLst>
                </a:gridCol>
                <a:gridCol w="3322233">
                  <a:extLst>
                    <a:ext uri="{9D8B030D-6E8A-4147-A177-3AD203B41FA5}">
                      <a16:colId xmlns:a16="http://schemas.microsoft.com/office/drawing/2014/main" val="2229254716"/>
                    </a:ext>
                  </a:extLst>
                </a:gridCol>
                <a:gridCol w="6709523">
                  <a:extLst>
                    <a:ext uri="{9D8B030D-6E8A-4147-A177-3AD203B41FA5}">
                      <a16:colId xmlns:a16="http://schemas.microsoft.com/office/drawing/2014/main" val="1873043492"/>
                    </a:ext>
                  </a:extLst>
                </a:gridCol>
              </a:tblGrid>
              <a:tr h="668303">
                <a:tc>
                  <a:txBody>
                    <a:bodyPr/>
                    <a:lstStyle/>
                    <a:p>
                      <a:pPr marL="0" lvl="0" indent="0" algn="ctr" rtl="0">
                        <a:spcBef>
                          <a:spcPts val="0"/>
                        </a:spcBef>
                        <a:spcAft>
                          <a:spcPts val="0"/>
                        </a:spcAft>
                        <a:buNone/>
                      </a:pPr>
                      <a:r>
                        <a:rPr lang="zh-TW"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Category</a:t>
                      </a:r>
                      <a:endParaRPr sz="18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0" marR="0" marT="4800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ltLang="zh-TW" sz="1800" b="0" i="0" u="none" strike="noStrike" dirty="0">
                          <a:solidFill>
                            <a:schemeClr val="tx1"/>
                          </a:solidFill>
                          <a:effectLst/>
                          <a:latin typeface="Times New Roman" panose="02020603050405020304" pitchFamily="18" charset="0"/>
                          <a:cs typeface="Times New Roman" panose="02020603050405020304" pitchFamily="18" charset="0"/>
                        </a:rPr>
                        <a:t>Name</a:t>
                      </a:r>
                      <a:endParaRPr sz="18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0" marR="0" marT="4800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Functionality</a:t>
                      </a:r>
                      <a:endParaRPr sz="18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0" marR="0" marT="4800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792533854"/>
                  </a:ext>
                </a:extLst>
              </a:tr>
              <a:tr h="643244">
                <a:tc rowSpan="2">
                  <a:txBody>
                    <a:bodyPr/>
                    <a:lstStyle/>
                    <a:p>
                      <a:pPr algn="ctr"/>
                      <a:r>
                        <a:rPr lang="en-US" altLang="zh-TW" sz="1800" dirty="0">
                          <a:latin typeface="Times New Roman" panose="02020603050405020304" pitchFamily="18" charset="0"/>
                          <a:cs typeface="Times New Roman" panose="02020603050405020304" pitchFamily="18" charset="0"/>
                        </a:rPr>
                        <a:t>LLM</a:t>
                      </a:r>
                      <a:endParaRPr lang="zh-TW" altLang="en-US" sz="1800" dirty="0">
                        <a:latin typeface="Times New Roman" panose="02020603050405020304" pitchFamily="18" charset="0"/>
                        <a:cs typeface="Times New Roman" panose="02020603050405020304" pitchFamily="18" charset="0"/>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r>
                        <a:rPr lang="en-US" altLang="zh-TW" sz="1800" dirty="0" err="1">
                          <a:latin typeface="Times New Roman" panose="02020603050405020304" pitchFamily="18" charset="0"/>
                          <a:cs typeface="Times New Roman" panose="02020603050405020304" pitchFamily="18" charset="0"/>
                        </a:rPr>
                        <a:t>Openrouter</a:t>
                      </a:r>
                      <a:r>
                        <a:rPr lang="en-US" altLang="zh-TW" sz="1800" dirty="0">
                          <a:latin typeface="Times New Roman" panose="02020603050405020304" pitchFamily="18" charset="0"/>
                          <a:cs typeface="Times New Roman" panose="02020603050405020304" pitchFamily="18" charset="0"/>
                        </a:rPr>
                        <a:t> API</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gpt-5o</a:t>
                      </a:r>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lvl="0" algn="l"/>
                      <a:r>
                        <a:rPr lang="en-US" altLang="zh-TW" sz="1800" dirty="0">
                          <a:latin typeface="Times New Roman" panose="02020603050405020304" pitchFamily="18" charset="0"/>
                          <a:cs typeface="Times New Roman" panose="02020603050405020304" pitchFamily="18" charset="0"/>
                        </a:rPr>
                        <a:t>Attacker simulator &amp; evaluator to synthesize attacker </a:t>
                      </a:r>
                      <a:r>
                        <a:rPr lang="en-US" altLang="zh-TW" sz="1800" b="1" dirty="0">
                          <a:latin typeface="Times New Roman" panose="02020603050405020304" pitchFamily="18" charset="0"/>
                          <a:cs typeface="Times New Roman" panose="02020603050405020304" pitchFamily="18" charset="0"/>
                        </a:rPr>
                        <a:t>Intent</a:t>
                      </a:r>
                      <a:r>
                        <a:rPr lang="en-US" altLang="zh-TW" sz="1800" dirty="0">
                          <a:latin typeface="Times New Roman" panose="02020603050405020304" pitchFamily="18" charset="0"/>
                          <a:cs typeface="Times New Roman" panose="02020603050405020304" pitchFamily="18" charset="0"/>
                        </a:rPr>
                        <a:t> and </a:t>
                      </a:r>
                      <a:r>
                        <a:rPr lang="en-US" altLang="zh-TW" sz="1800" b="1" dirty="0">
                          <a:latin typeface="Times New Roman" panose="02020603050405020304" pitchFamily="18" charset="0"/>
                          <a:cs typeface="Times New Roman" panose="02020603050405020304" pitchFamily="18" charset="0"/>
                        </a:rPr>
                        <a:t>kill-chain narratives</a:t>
                      </a:r>
                      <a:r>
                        <a:rPr lang="en-US" altLang="zh-TW" sz="1800" dirty="0">
                          <a:latin typeface="Times New Roman" panose="02020603050405020304" pitchFamily="18" charset="0"/>
                          <a:cs typeface="Times New Roman" panose="02020603050405020304" pitchFamily="18" charset="0"/>
                        </a:rPr>
                        <a:t>, and to score/evaluate Strategist LLM outputs.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181384031"/>
                  </a:ext>
                </a:extLst>
              </a:tr>
              <a:tr h="611948">
                <a:tc vMerge="1">
                  <a:txBody>
                    <a:bodyPr/>
                    <a:lstStyle/>
                    <a:p>
                      <a:endParaRPr lang="zh-TW" altLang="en-US" sz="3200" dirty="0"/>
                    </a:p>
                  </a:txBody>
                  <a:tcPr anchor="ctr"/>
                </a:tc>
                <a:tc>
                  <a:txBody>
                    <a:bodyPr/>
                    <a:lstStyle/>
                    <a:p>
                      <a:r>
                        <a:rPr lang="en-US" altLang="zh-TW" sz="1800" dirty="0">
                          <a:latin typeface="Times New Roman" panose="02020603050405020304" pitchFamily="18" charset="0"/>
                          <a:cs typeface="Times New Roman" panose="02020603050405020304" pitchFamily="18" charset="0"/>
                        </a:rPr>
                        <a:t>LLaMa3-8B</a:t>
                      </a:r>
                      <a:endParaRPr lang="zh-TW" altLang="en-US" sz="1800" dirty="0">
                        <a:latin typeface="Times New Roman" panose="02020603050405020304" pitchFamily="18" charset="0"/>
                        <a:cs typeface="Times New Roman" panose="02020603050405020304" pitchFamily="18" charset="0"/>
                      </a:endParaRPr>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lvl="0" algn="l"/>
                      <a:r>
                        <a:rPr lang="en-US" altLang="zh-TW" sz="1800" b="1" dirty="0">
                          <a:latin typeface="Times New Roman" panose="02020603050405020304" pitchFamily="18" charset="0"/>
                          <a:cs typeface="Times New Roman" panose="02020603050405020304" pitchFamily="18" charset="0"/>
                        </a:rPr>
                        <a:t>Strategist LLM</a:t>
                      </a:r>
                      <a:r>
                        <a:rPr lang="en-US" altLang="zh-TW" sz="1800" dirty="0">
                          <a:latin typeface="Times New Roman" panose="02020603050405020304" pitchFamily="18" charset="0"/>
                          <a:cs typeface="Times New Roman" panose="02020603050405020304" pitchFamily="18" charset="0"/>
                        </a:rPr>
                        <a:t> that detect techniques and selects and composes engagement actions.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785492804"/>
                  </a:ext>
                </a:extLst>
              </a:tr>
              <a:tr h="611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Tools</a:t>
                      </a:r>
                      <a:endParaRPr lang="zh-TW" altLang="en-US" sz="1800" dirty="0">
                        <a:latin typeface="Times New Roman" panose="02020603050405020304" pitchFamily="18" charset="0"/>
                        <a:cs typeface="Times New Roman" panose="02020603050405020304" pitchFamily="18" charset="0"/>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r>
                        <a:rPr lang="en-US" altLang="zh-TW" sz="1800" dirty="0">
                          <a:latin typeface="Times New Roman" panose="02020603050405020304" pitchFamily="18" charset="0"/>
                          <a:cs typeface="Times New Roman" panose="02020603050405020304" pitchFamily="18" charset="0"/>
                        </a:rPr>
                        <a:t>Docker</a:t>
                      </a:r>
                      <a:endParaRPr lang="zh-TW" altLang="en-US" sz="1800" dirty="0">
                        <a:latin typeface="Times New Roman" panose="02020603050405020304" pitchFamily="18" charset="0"/>
                        <a:cs typeface="Times New Roman" panose="02020603050405020304" pitchFamily="18" charset="0"/>
                      </a:endParaRP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algn="l">
                        <a:buNone/>
                      </a:pPr>
                      <a:r>
                        <a:rPr lang="en-US" altLang="zh-TW" sz="1800" b="1" dirty="0">
                          <a:latin typeface="Times New Roman" panose="02020603050405020304" pitchFamily="18" charset="0"/>
                          <a:cs typeface="Times New Roman" panose="02020603050405020304" pitchFamily="18" charset="0"/>
                        </a:rPr>
                        <a:t>Container</a:t>
                      </a:r>
                      <a:r>
                        <a:rPr lang="en-US" altLang="zh-TW" sz="1800" dirty="0">
                          <a:latin typeface="Times New Roman" panose="02020603050405020304" pitchFamily="18" charset="0"/>
                          <a:cs typeface="Times New Roman" panose="02020603050405020304" pitchFamily="18" charset="0"/>
                        </a:rPr>
                        <a:t> platform to package and run honey services and orchestration tooling.</a:t>
                      </a:r>
                      <a:endParaRPr lang="zh-TW" altLang="en-US" sz="1800" dirty="0">
                        <a:latin typeface="Times New Roman" panose="02020603050405020304" pitchFamily="18" charset="0"/>
                        <a:cs typeface="Times New Roman" panose="02020603050405020304" pitchFamily="18" charset="0"/>
                      </a:endParaRP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484743102"/>
                  </a:ext>
                </a:extLst>
              </a:tr>
              <a:tr h="454295">
                <a:tc rowSpan="3">
                  <a:txBody>
                    <a:bodyPr/>
                    <a:lstStyle/>
                    <a:p>
                      <a:pPr algn="ctr"/>
                      <a:r>
                        <a:rPr lang="en-US" altLang="zh-TW" sz="1800" dirty="0">
                          <a:latin typeface="Times New Roman" panose="02020603050405020304" pitchFamily="18" charset="0"/>
                          <a:cs typeface="Times New Roman" panose="02020603050405020304" pitchFamily="18" charset="0"/>
                        </a:rPr>
                        <a:t>Python</a:t>
                      </a:r>
                      <a:endParaRPr lang="zh-TW" altLang="en-US" sz="1800" dirty="0">
                        <a:latin typeface="Times New Roman" panose="02020603050405020304" pitchFamily="18" charset="0"/>
                        <a:cs typeface="Times New Roman" panose="02020603050405020304" pitchFamily="18" charset="0"/>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r>
                        <a:rPr lang="en-US" altLang="zh-TW" sz="1800" dirty="0" err="1">
                          <a:latin typeface="Times New Roman" panose="02020603050405020304" pitchFamily="18" charset="0"/>
                          <a:cs typeface="Times New Roman" panose="02020603050405020304" pitchFamily="18" charset="0"/>
                        </a:rPr>
                        <a:t>Unsloth</a:t>
                      </a:r>
                      <a:endParaRPr lang="zh-TW" altLang="en-US" sz="1800" dirty="0">
                        <a:latin typeface="Times New Roman" panose="02020603050405020304" pitchFamily="18" charset="0"/>
                        <a:cs typeface="Times New Roman" panose="02020603050405020304" pitchFamily="18" charset="0"/>
                      </a:endParaRP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lvl="0" algn="l"/>
                      <a:r>
                        <a:rPr lang="en-US" altLang="zh-TW" sz="1800" dirty="0">
                          <a:latin typeface="Times New Roman" panose="02020603050405020304" pitchFamily="18" charset="0"/>
                          <a:cs typeface="Times New Roman" panose="02020603050405020304" pitchFamily="18" charset="0"/>
                        </a:rPr>
                        <a:t>Efficient fine-tuning framework for LLM.</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4122613962"/>
                  </a:ext>
                </a:extLst>
              </a:tr>
              <a:tr h="547188">
                <a:tc vMerge="1">
                  <a:txBody>
                    <a:bodyPr/>
                    <a:lstStyle/>
                    <a:p>
                      <a:pPr algn="ctr"/>
                      <a:endParaRPr lang="zh-TW" altLang="en-US" sz="1800" dirty="0">
                        <a:latin typeface="Times New Roman" panose="02020603050405020304" pitchFamily="18" charset="0"/>
                        <a:cs typeface="Times New Roman" panose="02020603050405020304" pitchFamily="18" charset="0"/>
                      </a:endParaRPr>
                    </a:p>
                  </a:txBody>
                  <a:tcPr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B w="9525" cap="flat" cmpd="sng">
                      <a:solidFill>
                        <a:schemeClr val="dk1"/>
                      </a:solidFill>
                      <a:prstDash val="solid"/>
                      <a:round/>
                      <a:headEnd type="none" w="sm" len="sm"/>
                      <a:tailEnd type="none" w="sm" len="sm"/>
                    </a:lnB>
                  </a:tcPr>
                </a:tc>
                <a:tc>
                  <a:txBody>
                    <a:bodyPr/>
                    <a:lstStyle/>
                    <a:p>
                      <a:r>
                        <a:rPr lang="en-US" altLang="zh-TW" sz="1800" dirty="0">
                          <a:latin typeface="Times New Roman" panose="02020603050405020304" pitchFamily="18" charset="0"/>
                          <a:cs typeface="Times New Roman" panose="02020603050405020304" pitchFamily="18" charset="0"/>
                        </a:rPr>
                        <a:t>Agent Reinforcement Training</a:t>
                      </a:r>
                      <a:endParaRPr lang="zh-TW" altLang="en-US" sz="1800" dirty="0">
                        <a:latin typeface="Times New Roman" panose="02020603050405020304" pitchFamily="18" charset="0"/>
                        <a:cs typeface="Times New Roman" panose="02020603050405020304" pitchFamily="18" charset="0"/>
                      </a:endParaRP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lvl="0" algn="l"/>
                      <a:r>
                        <a:rPr lang="en-US" altLang="zh-TW" sz="1800" dirty="0">
                          <a:latin typeface="Times New Roman" panose="02020603050405020304" pitchFamily="18" charset="0"/>
                          <a:cs typeface="Times New Roman" panose="02020603050405020304" pitchFamily="18" charset="0"/>
                        </a:rPr>
                        <a:t>Efficient Reinforcement Finetuning framework for LLM</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2467087582"/>
                  </a:ext>
                </a:extLst>
              </a:tr>
              <a:tr h="320040">
                <a:tc vMerge="1">
                  <a:txBody>
                    <a:bodyPr/>
                    <a:lstStyle/>
                    <a:p>
                      <a:endParaRPr lang="zh-TW" altLang="en-US"/>
                    </a:p>
                  </a:txBody>
                  <a:tcPr/>
                </a:tc>
                <a:tc>
                  <a:txBody>
                    <a:bodyPr/>
                    <a:lstStyle/>
                    <a:p>
                      <a:r>
                        <a:rPr lang="en-US" altLang="zh-TW" sz="1800" dirty="0" err="1">
                          <a:latin typeface="Times New Roman" panose="02020603050405020304" pitchFamily="18" charset="0"/>
                          <a:cs typeface="Times New Roman" panose="02020603050405020304" pitchFamily="18" charset="0"/>
                        </a:rPr>
                        <a:t>Paramiko</a:t>
                      </a:r>
                      <a:endParaRPr lang="zh-TW" altLang="en-US" sz="1800" dirty="0">
                        <a:latin typeface="Times New Roman" panose="02020603050405020304" pitchFamily="18" charset="0"/>
                        <a:cs typeface="Times New Roman" panose="02020603050405020304" pitchFamily="18" charset="0"/>
                      </a:endParaRPr>
                    </a:p>
                  </a:txBody>
                  <a:tcPr anchor="ctr">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Python </a:t>
                      </a:r>
                      <a:r>
                        <a:rPr lang="en-US" altLang="zh-TW" sz="1800" b="1" dirty="0">
                          <a:latin typeface="Times New Roman" panose="02020603050405020304" pitchFamily="18" charset="0"/>
                          <a:cs typeface="Times New Roman" panose="02020603050405020304" pitchFamily="18" charset="0"/>
                        </a:rPr>
                        <a:t>SSH client</a:t>
                      </a:r>
                      <a:r>
                        <a:rPr lang="en-US" altLang="zh-TW" sz="1800" dirty="0">
                          <a:latin typeface="Times New Roman" panose="02020603050405020304" pitchFamily="18" charset="0"/>
                          <a:cs typeface="Times New Roman" panose="02020603050405020304" pitchFamily="18" charset="0"/>
                        </a:rPr>
                        <a:t> for remote command execution and Simulate proxy</a:t>
                      </a: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884109068"/>
                  </a:ext>
                </a:extLst>
              </a:tr>
              <a:tr h="320040">
                <a:tc>
                  <a:txBody>
                    <a:bodyPr/>
                    <a:lstStyle/>
                    <a:p>
                      <a:pPr algn="ctr"/>
                      <a:r>
                        <a:rPr lang="en-US" altLang="zh-TW" sz="1800" dirty="0">
                          <a:latin typeface="Times New Roman" panose="02020603050405020304" pitchFamily="18" charset="0"/>
                          <a:cs typeface="Times New Roman" panose="02020603050405020304" pitchFamily="18" charset="0"/>
                        </a:rPr>
                        <a:t>GPU</a:t>
                      </a:r>
                      <a:endParaRPr lang="zh-TW" altLang="en-US" sz="1800" dirty="0">
                        <a:latin typeface="Times New Roman" panose="02020603050405020304" pitchFamily="18" charset="0"/>
                        <a:cs typeface="Times New Roman" panose="02020603050405020304" pitchFamily="18" charset="0"/>
                      </a:endParaRPr>
                    </a:p>
                  </a:txBody>
                  <a:tcPr anchor="ctr">
                    <a:lnL w="9525" cap="flat" cmpd="sng">
                      <a:solidFill>
                        <a:schemeClr val="dk1"/>
                      </a:solidFill>
                      <a:prstDash val="solid"/>
                      <a:round/>
                      <a:headEnd type="none" w="sm" len="sm"/>
                      <a:tailEnd type="none" w="sm" len="sm"/>
                    </a:lnL>
                    <a:lnT w="9525" cap="flat" cmpd="sng" algn="ctr">
                      <a:solidFill>
                        <a:schemeClr val="dk1"/>
                      </a:solidFill>
                      <a:prstDash val="solid"/>
                      <a:round/>
                      <a:headEnd type="none" w="sm" len="sm"/>
                      <a:tailEnd type="none" w="sm" len="sm"/>
                    </a:lnT>
                  </a:tcPr>
                </a:tc>
                <a:tc>
                  <a:txBody>
                    <a:bodyPr/>
                    <a:lstStyle/>
                    <a:p>
                      <a:r>
                        <a:rPr lang="en-US" altLang="zh-TW" sz="1800" dirty="0">
                          <a:latin typeface="Times New Roman" panose="02020603050405020304" pitchFamily="18" charset="0"/>
                          <a:cs typeface="Times New Roman" panose="02020603050405020304" pitchFamily="18" charset="0"/>
                        </a:rPr>
                        <a:t>RTX 5000 ADA</a:t>
                      </a:r>
                      <a:endParaRPr lang="zh-TW" altLang="en-US" sz="1800" dirty="0">
                        <a:latin typeface="Times New Roman" panose="02020603050405020304" pitchFamily="18" charset="0"/>
                        <a:cs typeface="Times New Roman" panose="02020603050405020304" pitchFamily="18" charset="0"/>
                      </a:endParaRPr>
                    </a:p>
                  </a:txBody>
                  <a:tcPr anchor="ctr">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Large VRAM GPU for training LLM.</a:t>
                      </a: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171416786"/>
                  </a:ext>
                </a:extLst>
              </a:tr>
            </a:tbl>
          </a:graphicData>
        </a:graphic>
      </p:graphicFrame>
    </p:spTree>
    <p:extLst>
      <p:ext uri="{BB962C8B-B14F-4D97-AF65-F5344CB8AC3E}">
        <p14:creationId xmlns:p14="http://schemas.microsoft.com/office/powerpoint/2010/main" val="1481904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8"/>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30</a:t>
            </a:fld>
            <a:endParaRPr dirty="0"/>
          </a:p>
        </p:txBody>
      </p:sp>
      <p:sp>
        <p:nvSpPr>
          <p:cNvPr id="321" name="Google Shape;321;p38"/>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Evaluation</a:t>
            </a:r>
            <a:r>
              <a:rPr lang="en-US" altLang="zh-TW" sz="4000" dirty="0">
                <a:latin typeface="Times New Roman"/>
                <a:ea typeface="Times New Roman"/>
                <a:cs typeface="Times New Roman"/>
                <a:sym typeface="Times New Roman"/>
              </a:rPr>
              <a:t> setup (1/2)</a:t>
            </a:r>
            <a:endParaRPr dirty="0">
              <a:latin typeface="Times New Roman"/>
              <a:ea typeface="Times New Roman"/>
              <a:cs typeface="Times New Roman"/>
              <a:sym typeface="Times New Roman"/>
            </a:endParaRPr>
          </a:p>
        </p:txBody>
      </p:sp>
      <p:sp>
        <p:nvSpPr>
          <p:cNvPr id="322" name="Google Shape;322;p38"/>
          <p:cNvSpPr txBox="1"/>
          <p:nvPr/>
        </p:nvSpPr>
        <p:spPr>
          <a:xfrm>
            <a:off x="415667" y="1147045"/>
            <a:ext cx="11565090" cy="5070578"/>
          </a:xfrm>
          <a:prstGeom prst="rect">
            <a:avLst/>
          </a:prstGeom>
          <a:noFill/>
          <a:ln>
            <a:noFill/>
          </a:ln>
        </p:spPr>
        <p:txBody>
          <a:bodyPr spcFirstLastPara="1" wrap="square" lIns="121900" tIns="121900" rIns="121900" bIns="121900" anchor="t" anchorCtr="0">
            <a:spAutoFit/>
          </a:bodyPr>
          <a:lstStyle/>
          <a:p>
            <a:pPr>
              <a:lnSpc>
                <a:spcPct val="90000"/>
              </a:lnSpc>
              <a:spcBef>
                <a:spcPts val="1333"/>
              </a:spcBef>
              <a:buClr>
                <a:schemeClr val="dk1"/>
              </a:buClr>
              <a:buSzPts val="1500"/>
            </a:pPr>
            <a:r>
              <a:rPr lang="en-US" altLang="zh-TW" sz="2400" dirty="0">
                <a:solidFill>
                  <a:schemeClr val="dk1"/>
                </a:solidFill>
                <a:latin typeface="Times New Roman"/>
                <a:ea typeface="Times New Roman"/>
                <a:cs typeface="Times New Roman"/>
                <a:sym typeface="Times New Roman"/>
              </a:rPr>
              <a:t>Attack Max depth : Ours vs Other honeypots</a:t>
            </a:r>
          </a:p>
          <a:p>
            <a:pPr marL="609585" indent="-431789">
              <a:lnSpc>
                <a:spcPct val="90000"/>
              </a:lnSpc>
              <a:spcBef>
                <a:spcPts val="1333"/>
              </a:spcBef>
              <a:buClr>
                <a:schemeClr val="dk1"/>
              </a:buClr>
              <a:buSzPts val="1500"/>
              <a:buFont typeface="Times New Roman"/>
              <a:buChar char="●"/>
            </a:pPr>
            <a:r>
              <a:rPr lang="en-US" altLang="zh-TW" sz="2400" dirty="0">
                <a:solidFill>
                  <a:schemeClr val="dk1"/>
                </a:solidFill>
                <a:latin typeface="Times New Roman"/>
                <a:ea typeface="Times New Roman"/>
                <a:cs typeface="Times New Roman"/>
                <a:sym typeface="Times New Roman"/>
              </a:rPr>
              <a:t>(issue-1) How deep can an attacker perform in our Honeypot System in one session</a:t>
            </a:r>
          </a:p>
          <a:p>
            <a:pPr marL="609585" indent="-431789">
              <a:lnSpc>
                <a:spcPct val="90000"/>
              </a:lnSpc>
              <a:spcBef>
                <a:spcPts val="1333"/>
              </a:spcBef>
              <a:buClr>
                <a:schemeClr val="dk1"/>
              </a:buClr>
              <a:buSzPts val="1500"/>
              <a:buFont typeface="Times New Roman"/>
              <a:buChar char="●"/>
            </a:pPr>
            <a:r>
              <a:rPr lang="en-US" sz="2400" dirty="0">
                <a:solidFill>
                  <a:schemeClr val="dk1"/>
                </a:solidFill>
                <a:latin typeface="Times New Roman"/>
                <a:ea typeface="Times New Roman"/>
                <a:cs typeface="Times New Roman"/>
                <a:sym typeface="Times New Roman"/>
              </a:rPr>
              <a:t>The maximum tactic phase occurs during the engagement.</a:t>
            </a:r>
          </a:p>
          <a:p>
            <a:pPr>
              <a:lnSpc>
                <a:spcPct val="90000"/>
              </a:lnSpc>
              <a:spcBef>
                <a:spcPts val="1333"/>
              </a:spcBef>
            </a:pPr>
            <a:r>
              <a:rPr lang="en-US" altLang="zh-TW" sz="2400" dirty="0">
                <a:solidFill>
                  <a:schemeClr val="dk1"/>
                </a:solidFill>
                <a:latin typeface="Times New Roman"/>
                <a:ea typeface="Times New Roman"/>
                <a:cs typeface="Times New Roman"/>
                <a:sym typeface="Times New Roman"/>
              </a:rPr>
              <a:t>Attack diversity : Ours vs Other honeypots</a:t>
            </a:r>
          </a:p>
          <a:p>
            <a:pPr marL="609585" indent="-431789">
              <a:lnSpc>
                <a:spcPct val="90000"/>
              </a:lnSpc>
              <a:spcBef>
                <a:spcPts val="1333"/>
              </a:spcBef>
              <a:buClr>
                <a:schemeClr val="dk1"/>
              </a:buClr>
              <a:buSzPts val="1500"/>
              <a:buFont typeface="Times New Roman"/>
              <a:buChar char="●"/>
            </a:pPr>
            <a:r>
              <a:rPr lang="en-US" altLang="zh-TW" sz="2400" dirty="0">
                <a:solidFill>
                  <a:schemeClr val="dk1"/>
                </a:solidFill>
                <a:latin typeface="Times New Roman"/>
                <a:ea typeface="Times New Roman"/>
                <a:cs typeface="Times New Roman"/>
                <a:sym typeface="Times New Roman"/>
              </a:rPr>
              <a:t>(issue-2) How diverse of  Techniques can an attacker perform in our Honeypot System in one session</a:t>
            </a:r>
          </a:p>
          <a:p>
            <a:pPr marL="609585" indent="-431789">
              <a:lnSpc>
                <a:spcPct val="90000"/>
              </a:lnSpc>
              <a:spcBef>
                <a:spcPts val="1333"/>
              </a:spcBef>
              <a:buClr>
                <a:schemeClr val="dk1"/>
              </a:buClr>
              <a:buSzPts val="1500"/>
              <a:buFont typeface="Times New Roman"/>
              <a:buChar char="●"/>
            </a:pPr>
            <a:r>
              <a:rPr lang="en-US" altLang="zh-TW" sz="2400" dirty="0">
                <a:latin typeface="Times New Roman" panose="02020603050405020304" pitchFamily="18" charset="0"/>
                <a:cs typeface="Times New Roman" panose="02020603050405020304" pitchFamily="18" charset="0"/>
              </a:rPr>
              <a:t>Number of unique techniques identified in during the engagement.</a:t>
            </a:r>
          </a:p>
          <a:p>
            <a:pPr>
              <a:lnSpc>
                <a:spcPct val="90000"/>
              </a:lnSpc>
              <a:spcBef>
                <a:spcPts val="1333"/>
              </a:spcBef>
            </a:pPr>
            <a:r>
              <a:rPr lang="en-US" altLang="zh-TW" sz="2400" dirty="0">
                <a:solidFill>
                  <a:schemeClr val="dk1"/>
                </a:solidFill>
                <a:latin typeface="Times New Roman"/>
                <a:ea typeface="Times New Roman"/>
                <a:cs typeface="Times New Roman"/>
                <a:sym typeface="Times New Roman"/>
              </a:rPr>
              <a:t>Intent Detection Rate — Our Finetuning LLM vs Base Model</a:t>
            </a:r>
          </a:p>
          <a:p>
            <a:pPr marL="609585" indent="-431789">
              <a:lnSpc>
                <a:spcPct val="90000"/>
              </a:lnSpc>
              <a:spcBef>
                <a:spcPts val="1333"/>
              </a:spcBef>
              <a:buClr>
                <a:schemeClr val="dk1"/>
              </a:buClr>
              <a:buSzPts val="1500"/>
              <a:buFont typeface="Times New Roman"/>
              <a:buChar char="●"/>
            </a:pPr>
            <a:r>
              <a:rPr lang="en-US" altLang="zh-TW" sz="2400" dirty="0">
                <a:solidFill>
                  <a:schemeClr val="dk1"/>
                </a:solidFill>
                <a:latin typeface="Times New Roman"/>
                <a:ea typeface="Times New Roman"/>
                <a:cs typeface="Times New Roman"/>
                <a:sym typeface="Times New Roman"/>
              </a:rPr>
              <a:t>(issue-3.1) Accuracy of detected </a:t>
            </a:r>
            <a:r>
              <a:rPr lang="en-US" altLang="zh-TW" sz="2400" b="1" dirty="0">
                <a:solidFill>
                  <a:schemeClr val="dk1"/>
                </a:solidFill>
                <a:latin typeface="Times New Roman"/>
                <a:ea typeface="Times New Roman"/>
                <a:cs typeface="Times New Roman"/>
                <a:sym typeface="Times New Roman"/>
              </a:rPr>
              <a:t>Intent</a:t>
            </a:r>
            <a:r>
              <a:rPr lang="en-US" altLang="zh-TW" sz="2400" dirty="0">
                <a:solidFill>
                  <a:schemeClr val="dk1"/>
                </a:solidFill>
                <a:latin typeface="Times New Roman"/>
                <a:ea typeface="Times New Roman"/>
                <a:cs typeface="Times New Roman"/>
                <a:sym typeface="Times New Roman"/>
              </a:rPr>
              <a:t> mapped to </a:t>
            </a:r>
            <a:r>
              <a:rPr lang="en-US" altLang="zh-TW" sz="2400" b="1" dirty="0">
                <a:solidFill>
                  <a:schemeClr val="dk1"/>
                </a:solidFill>
                <a:latin typeface="Times New Roman"/>
                <a:ea typeface="Times New Roman"/>
                <a:cs typeface="Times New Roman"/>
                <a:sym typeface="Times New Roman"/>
              </a:rPr>
              <a:t>Ground Truth Tactics</a:t>
            </a:r>
          </a:p>
          <a:p>
            <a:pPr marL="609585" indent="-431789">
              <a:lnSpc>
                <a:spcPct val="90000"/>
              </a:lnSpc>
              <a:spcBef>
                <a:spcPts val="1333"/>
              </a:spcBef>
              <a:buClr>
                <a:schemeClr val="dk1"/>
              </a:buClr>
              <a:buSzPts val="1500"/>
              <a:buFont typeface="Times New Roman"/>
              <a:buChar char="●"/>
            </a:pPr>
            <a:r>
              <a:rPr lang="en-US" altLang="zh-TW" sz="2400" dirty="0">
                <a:solidFill>
                  <a:schemeClr val="dk1"/>
                </a:solidFill>
                <a:latin typeface="Times New Roman"/>
                <a:ea typeface="Times New Roman"/>
                <a:cs typeface="Times New Roman"/>
                <a:sym typeface="Times New Roman"/>
              </a:rPr>
              <a:t>(issue-3.2) </a:t>
            </a:r>
            <a:r>
              <a:rPr lang="en-US" altLang="zh-TW" sz="2400" dirty="0">
                <a:solidFill>
                  <a:schemeClr val="dk1"/>
                </a:solidFill>
                <a:latin typeface="Times New Roman" panose="02020603050405020304" pitchFamily="18" charset="0"/>
                <a:ea typeface="Times New Roman"/>
                <a:cs typeface="Times New Roman" panose="02020603050405020304" pitchFamily="18" charset="0"/>
                <a:sym typeface="Times New Roman"/>
              </a:rPr>
              <a:t>Can Finetuning improve strategy alignment with attacker intent?</a:t>
            </a:r>
            <a:endParaRPr lang="en-US" altLang="zh-TW"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1ADA1EAB-3664-D9D0-7A85-1CB1EE4372CF}"/>
            </a:ext>
          </a:extLst>
        </p:cNvPr>
        <p:cNvGrpSpPr/>
        <p:nvPr/>
      </p:nvGrpSpPr>
      <p:grpSpPr>
        <a:xfrm>
          <a:off x="0" y="0"/>
          <a:ext cx="0" cy="0"/>
          <a:chOff x="0" y="0"/>
          <a:chExt cx="0" cy="0"/>
        </a:xfrm>
      </p:grpSpPr>
      <p:sp>
        <p:nvSpPr>
          <p:cNvPr id="83" name="Google Shape;83;p17">
            <a:extLst>
              <a:ext uri="{FF2B5EF4-FFF2-40B4-BE49-F238E27FC236}">
                <a16:creationId xmlns:a16="http://schemas.microsoft.com/office/drawing/2014/main" id="{401169E2-14DC-8E4A-F499-910C8BE482D3}"/>
              </a:ext>
            </a:extLst>
          </p:cNvPr>
          <p:cNvSpPr txBox="1">
            <a:spLocks noGrp="1"/>
          </p:cNvSpPr>
          <p:nvPr>
            <p:ph type="subTitle" idx="1"/>
          </p:nvPr>
        </p:nvSpPr>
        <p:spPr>
          <a:xfrm>
            <a:off x="256933" y="1038498"/>
            <a:ext cx="11669178" cy="5506400"/>
          </a:xfrm>
          <a:prstGeom prst="rect">
            <a:avLst/>
          </a:prstGeom>
        </p:spPr>
        <p:txBody>
          <a:bodyPr spcFirstLastPara="1" vert="horz" wrap="square" lIns="121900" tIns="121900" rIns="121900" bIns="121900" numCol="2" rtlCol="0" anchor="t" anchorCtr="0">
            <a:noAutofit/>
          </a:bodyPr>
          <a:lstStyle/>
          <a:p>
            <a:pPr marL="609585" indent="-423323" algn="l">
              <a:lnSpc>
                <a:spcPct val="115000"/>
              </a:lnSpc>
              <a:spcBef>
                <a:spcPts val="0"/>
              </a:spcBef>
              <a:buClr>
                <a:schemeClr val="dk1"/>
              </a:buClr>
              <a:buSzPts val="1400"/>
              <a:buFont typeface="Times New Roman"/>
              <a:buChar char="●"/>
            </a:pPr>
            <a:r>
              <a:rPr lang="en-US" sz="2200" dirty="0">
                <a:solidFill>
                  <a:schemeClr val="dk1"/>
                </a:solidFill>
                <a:latin typeface="Times New Roman"/>
                <a:ea typeface="Times New Roman"/>
                <a:cs typeface="Times New Roman"/>
                <a:sym typeface="Times New Roman"/>
              </a:rPr>
              <a:t>Baselines</a:t>
            </a:r>
          </a:p>
          <a:p>
            <a:pPr marL="1066785" lvl="1" indent="-423323" algn="l">
              <a:lnSpc>
                <a:spcPct val="115000"/>
              </a:lnSpc>
              <a:spcBef>
                <a:spcPts val="0"/>
              </a:spcBef>
              <a:buClr>
                <a:schemeClr val="dk1"/>
              </a:buClr>
              <a:buSzPts val="1400"/>
              <a:buFont typeface="Times New Roman"/>
              <a:buChar char="●"/>
            </a:pPr>
            <a:r>
              <a:rPr lang="en-US" altLang="zh-TW" sz="1800" dirty="0">
                <a:solidFill>
                  <a:schemeClr val="dk1"/>
                </a:solidFill>
                <a:latin typeface="Times New Roman"/>
                <a:ea typeface="Times New Roman"/>
                <a:cs typeface="Times New Roman"/>
                <a:sym typeface="Times New Roman"/>
              </a:rPr>
              <a:t>QRASSH</a:t>
            </a:r>
            <a:endParaRPr lang="en-US" sz="1800" dirty="0">
              <a:solidFill>
                <a:schemeClr val="dk1"/>
              </a:solidFill>
              <a:latin typeface="Times New Roman"/>
              <a:ea typeface="Times New Roman"/>
              <a:cs typeface="Times New Roman"/>
              <a:sym typeface="Times New Roman"/>
            </a:endParaRPr>
          </a:p>
          <a:p>
            <a:pPr marL="1066785" lvl="1" indent="-423323" algn="l">
              <a:lnSpc>
                <a:spcPct val="115000"/>
              </a:lnSpc>
              <a:spcBef>
                <a:spcPts val="0"/>
              </a:spcBef>
              <a:buClr>
                <a:schemeClr val="dk1"/>
              </a:buClr>
              <a:buSzPts val="1400"/>
              <a:buFont typeface="Times New Roman"/>
              <a:buChar char="●"/>
            </a:pPr>
            <a:r>
              <a:rPr lang="en-US" altLang="zh-TW" sz="1800" dirty="0">
                <a:solidFill>
                  <a:schemeClr val="dk1"/>
                </a:solidFill>
                <a:latin typeface="Times New Roman"/>
                <a:ea typeface="Times New Roman"/>
                <a:cs typeface="Times New Roman"/>
                <a:sym typeface="Times New Roman"/>
              </a:rPr>
              <a:t>LLM as Honeypot</a:t>
            </a:r>
            <a:endParaRPr lang="en-US" sz="1800" dirty="0">
              <a:solidFill>
                <a:schemeClr val="dk1"/>
              </a:solidFill>
              <a:latin typeface="Times New Roman"/>
              <a:ea typeface="Times New Roman"/>
              <a:cs typeface="Times New Roman"/>
              <a:sym typeface="Times New Roman"/>
            </a:endParaRPr>
          </a:p>
          <a:p>
            <a:pPr marL="1066785" lvl="1" indent="-423323" algn="l">
              <a:lnSpc>
                <a:spcPct val="115000"/>
              </a:lnSpc>
              <a:spcBef>
                <a:spcPts val="0"/>
              </a:spcBef>
              <a:buClr>
                <a:schemeClr val="dk1"/>
              </a:buClr>
              <a:buSzPts val="1400"/>
              <a:buFont typeface="Times New Roman"/>
              <a:buChar char="●"/>
            </a:pPr>
            <a:r>
              <a:rPr lang="en-US" sz="1800" dirty="0">
                <a:solidFill>
                  <a:schemeClr val="dk1"/>
                </a:solidFill>
                <a:latin typeface="Times New Roman"/>
                <a:ea typeface="Times New Roman"/>
                <a:cs typeface="Times New Roman"/>
                <a:sym typeface="Times New Roman"/>
              </a:rPr>
              <a:t>Base Model</a:t>
            </a:r>
          </a:p>
          <a:p>
            <a:pPr marL="1066785" lvl="1" indent="-423323" algn="l">
              <a:lnSpc>
                <a:spcPct val="115000"/>
              </a:lnSpc>
              <a:spcBef>
                <a:spcPts val="0"/>
              </a:spcBef>
              <a:buClr>
                <a:schemeClr val="dk1"/>
              </a:buClr>
              <a:buSzPts val="1400"/>
              <a:buFont typeface="Times New Roman"/>
              <a:buChar char="●"/>
            </a:pPr>
            <a:r>
              <a:rPr lang="en-US" sz="1800" dirty="0">
                <a:solidFill>
                  <a:schemeClr val="dk1"/>
                </a:solidFill>
                <a:latin typeface="Times New Roman"/>
                <a:ea typeface="Times New Roman"/>
                <a:cs typeface="Times New Roman"/>
                <a:sym typeface="Times New Roman"/>
              </a:rPr>
              <a:t>SFT-only Strategist</a:t>
            </a:r>
          </a:p>
          <a:p>
            <a:pPr marL="1066785" lvl="1" indent="-423323" algn="l">
              <a:lnSpc>
                <a:spcPct val="115000"/>
              </a:lnSpc>
              <a:spcBef>
                <a:spcPts val="0"/>
              </a:spcBef>
              <a:buClr>
                <a:schemeClr val="dk1"/>
              </a:buClr>
              <a:buSzPts val="1400"/>
              <a:buFont typeface="Times New Roman"/>
              <a:buChar char="●"/>
            </a:pPr>
            <a:r>
              <a:rPr lang="en-US" altLang="zh-TW" sz="1800" dirty="0">
                <a:solidFill>
                  <a:schemeClr val="dk1"/>
                </a:solidFill>
                <a:latin typeface="Times New Roman"/>
                <a:ea typeface="Times New Roman"/>
                <a:cs typeface="Times New Roman"/>
                <a:sym typeface="Times New Roman"/>
              </a:rPr>
              <a:t>SFT+RFT</a:t>
            </a:r>
            <a:r>
              <a:rPr lang="zh-TW" altLang="en-US" sz="1800" dirty="0">
                <a:solidFill>
                  <a:schemeClr val="dk1"/>
                </a:solidFill>
                <a:latin typeface="Times New Roman"/>
                <a:ea typeface="Times New Roman"/>
                <a:cs typeface="Times New Roman"/>
                <a:sym typeface="Times New Roman"/>
              </a:rPr>
              <a:t> </a:t>
            </a:r>
            <a:r>
              <a:rPr lang="en-US" altLang="zh-TW" sz="1800" dirty="0">
                <a:solidFill>
                  <a:schemeClr val="dk1"/>
                </a:solidFill>
                <a:latin typeface="Times New Roman"/>
                <a:ea typeface="Times New Roman"/>
                <a:cs typeface="Times New Roman"/>
                <a:sym typeface="Times New Roman"/>
              </a:rPr>
              <a:t>Strategist</a:t>
            </a:r>
          </a:p>
          <a:p>
            <a:pPr marL="609585" indent="-423323" algn="l">
              <a:lnSpc>
                <a:spcPct val="115000"/>
              </a:lnSpc>
              <a:spcBef>
                <a:spcPts val="0"/>
              </a:spcBef>
              <a:buClr>
                <a:schemeClr val="dk1"/>
              </a:buClr>
              <a:buSzPts val="1400"/>
              <a:buFont typeface="Times New Roman"/>
              <a:buChar char="●"/>
            </a:pPr>
            <a:r>
              <a:rPr lang="en-US" altLang="zh-TW" sz="2200" dirty="0">
                <a:solidFill>
                  <a:schemeClr val="dk1"/>
                </a:solidFill>
                <a:latin typeface="Times New Roman"/>
                <a:ea typeface="Times New Roman"/>
                <a:cs typeface="Times New Roman"/>
                <a:sym typeface="Times New Roman"/>
              </a:rPr>
              <a:t>Metric</a:t>
            </a:r>
          </a:p>
          <a:p>
            <a:pPr marL="1066785" lvl="1" indent="-423323" algn="l">
              <a:lnSpc>
                <a:spcPct val="115000"/>
              </a:lnSpc>
              <a:spcBef>
                <a:spcPts val="0"/>
              </a:spcBef>
              <a:buClr>
                <a:schemeClr val="dk1"/>
              </a:buClr>
              <a:buSzPts val="1400"/>
              <a:buFont typeface="Times New Roman"/>
              <a:buChar char="●"/>
            </a:pPr>
            <a:r>
              <a:rPr lang="en-US" altLang="zh-TW" sz="1800" dirty="0">
                <a:solidFill>
                  <a:schemeClr val="dk1"/>
                </a:solidFill>
                <a:latin typeface="Times New Roman"/>
                <a:ea typeface="Times New Roman"/>
                <a:cs typeface="Times New Roman"/>
                <a:sym typeface="Times New Roman"/>
              </a:rPr>
              <a:t>Attack depth</a:t>
            </a:r>
          </a:p>
          <a:p>
            <a:pPr marL="1066785" lvl="1" indent="-423323" algn="l">
              <a:lnSpc>
                <a:spcPct val="115000"/>
              </a:lnSpc>
              <a:spcBef>
                <a:spcPts val="0"/>
              </a:spcBef>
              <a:buClr>
                <a:schemeClr val="dk1"/>
              </a:buClr>
              <a:buSzPts val="1400"/>
              <a:buFont typeface="Times New Roman"/>
              <a:buChar char="●"/>
            </a:pPr>
            <a:r>
              <a:rPr lang="en-US" altLang="zh-TW" sz="1800" dirty="0">
                <a:solidFill>
                  <a:schemeClr val="dk1"/>
                </a:solidFill>
                <a:latin typeface="Times New Roman"/>
                <a:ea typeface="Times New Roman"/>
                <a:cs typeface="Times New Roman"/>
                <a:sym typeface="Times New Roman"/>
              </a:rPr>
              <a:t>Attack diversity</a:t>
            </a:r>
          </a:p>
          <a:p>
            <a:pPr marL="1066785" lvl="1" indent="-423323" algn="l">
              <a:lnSpc>
                <a:spcPct val="115000"/>
              </a:lnSpc>
              <a:spcBef>
                <a:spcPts val="0"/>
              </a:spcBef>
              <a:buClr>
                <a:schemeClr val="dk1"/>
              </a:buClr>
              <a:buSzPts val="1400"/>
              <a:buFont typeface="Times New Roman"/>
              <a:buChar char="●"/>
            </a:pPr>
            <a:r>
              <a:rPr lang="en-US" altLang="zh-TW" sz="1800" dirty="0">
                <a:solidFill>
                  <a:schemeClr val="dk1"/>
                </a:solidFill>
                <a:latin typeface="Times New Roman"/>
                <a:ea typeface="Times New Roman"/>
                <a:cs typeface="Times New Roman"/>
                <a:sym typeface="Times New Roman"/>
              </a:rPr>
              <a:t>Intent detection F1</a:t>
            </a:r>
          </a:p>
          <a:p>
            <a:pPr marL="1066785" lvl="1" indent="-423323" algn="l">
              <a:lnSpc>
                <a:spcPct val="115000"/>
              </a:lnSpc>
              <a:spcBef>
                <a:spcPts val="0"/>
              </a:spcBef>
              <a:buClr>
                <a:schemeClr val="dk1"/>
              </a:buClr>
              <a:buSzPts val="1400"/>
              <a:buFont typeface="Times New Roman"/>
              <a:buChar char="●"/>
            </a:pPr>
            <a:r>
              <a:rPr lang="en-US" altLang="zh-TW" sz="1800" dirty="0">
                <a:solidFill>
                  <a:schemeClr val="dk1"/>
                </a:solidFill>
                <a:latin typeface="Times New Roman"/>
                <a:ea typeface="Times New Roman"/>
                <a:cs typeface="Times New Roman"/>
                <a:sym typeface="Times New Roman"/>
              </a:rPr>
              <a:t>Strategy-intent alignment score</a:t>
            </a:r>
          </a:p>
          <a:p>
            <a:pPr marL="1066785" lvl="1" indent="-423323" algn="l">
              <a:lnSpc>
                <a:spcPct val="115000"/>
              </a:lnSpc>
              <a:spcBef>
                <a:spcPts val="0"/>
              </a:spcBef>
              <a:buClr>
                <a:schemeClr val="dk1"/>
              </a:buClr>
              <a:buSzPts val="1400"/>
              <a:buFont typeface="Times New Roman"/>
              <a:buChar char="●"/>
            </a:pPr>
            <a:endParaRPr lang="en-US" altLang="zh-TW" sz="1800" dirty="0">
              <a:solidFill>
                <a:schemeClr val="dk1"/>
              </a:solidFill>
              <a:latin typeface="Times New Roman"/>
              <a:ea typeface="Times New Roman"/>
              <a:cs typeface="Times New Roman"/>
              <a:sym typeface="Times New Roman"/>
            </a:endParaRPr>
          </a:p>
          <a:p>
            <a:pPr marL="186262" algn="l">
              <a:lnSpc>
                <a:spcPct val="115000"/>
              </a:lnSpc>
              <a:spcBef>
                <a:spcPts val="0"/>
              </a:spcBef>
              <a:buClr>
                <a:schemeClr val="dk1"/>
              </a:buClr>
              <a:buSzPts val="1400"/>
            </a:pPr>
            <a:endParaRPr lang="en-US" sz="2600" dirty="0">
              <a:solidFill>
                <a:schemeClr val="dk1"/>
              </a:solidFill>
              <a:latin typeface="Times New Roman"/>
              <a:ea typeface="Times New Roman"/>
              <a:cs typeface="Times New Roman"/>
              <a:sym typeface="Times New Roman"/>
            </a:endParaRPr>
          </a:p>
          <a:p>
            <a:pPr marL="186262" algn="l">
              <a:lnSpc>
                <a:spcPct val="115000"/>
              </a:lnSpc>
              <a:spcBef>
                <a:spcPts val="0"/>
              </a:spcBef>
              <a:buClr>
                <a:schemeClr val="dk1"/>
              </a:buClr>
              <a:buSzPts val="1400"/>
            </a:pPr>
            <a:endParaRPr lang="en-US" sz="2200" dirty="0">
              <a:solidFill>
                <a:schemeClr val="dk1"/>
              </a:solidFill>
              <a:latin typeface="Times New Roman"/>
              <a:ea typeface="Times New Roman"/>
              <a:cs typeface="Times New Roman"/>
              <a:sym typeface="Times New Roman"/>
            </a:endParaRPr>
          </a:p>
          <a:p>
            <a:pPr marL="186262" algn="l">
              <a:lnSpc>
                <a:spcPct val="115000"/>
              </a:lnSpc>
              <a:spcBef>
                <a:spcPts val="0"/>
              </a:spcBef>
              <a:buClr>
                <a:schemeClr val="dk1"/>
              </a:buClr>
              <a:buSzPts val="1400"/>
            </a:pPr>
            <a:endParaRPr lang="en-US" sz="2200" dirty="0">
              <a:solidFill>
                <a:schemeClr val="dk1"/>
              </a:solidFill>
              <a:latin typeface="Times New Roman"/>
              <a:ea typeface="Times New Roman"/>
              <a:cs typeface="Times New Roman"/>
              <a:sym typeface="Times New Roman"/>
            </a:endParaRPr>
          </a:p>
          <a:p>
            <a:pPr marL="609585" indent="-423323" algn="l">
              <a:lnSpc>
                <a:spcPct val="115000"/>
              </a:lnSpc>
              <a:spcBef>
                <a:spcPts val="0"/>
              </a:spcBef>
              <a:buClr>
                <a:schemeClr val="dk1"/>
              </a:buClr>
              <a:buSzPts val="1400"/>
              <a:buFont typeface="Times New Roman"/>
              <a:buChar char="●"/>
            </a:pPr>
            <a:r>
              <a:rPr lang="en-US" sz="2200" dirty="0">
                <a:solidFill>
                  <a:schemeClr val="dk1"/>
                </a:solidFill>
                <a:latin typeface="Times New Roman"/>
                <a:ea typeface="Times New Roman"/>
                <a:cs typeface="Times New Roman"/>
                <a:sym typeface="Times New Roman"/>
              </a:rPr>
              <a:t>Attacker </a:t>
            </a:r>
          </a:p>
          <a:p>
            <a:pPr marL="1066785" lvl="1" indent="-423323" algn="l">
              <a:lnSpc>
                <a:spcPct val="115000"/>
              </a:lnSpc>
              <a:spcBef>
                <a:spcPts val="0"/>
              </a:spcBef>
              <a:buClr>
                <a:schemeClr val="dk1"/>
              </a:buClr>
              <a:buSzPts val="1400"/>
              <a:buFont typeface="Times New Roman"/>
              <a:buChar char="●"/>
            </a:pPr>
            <a:r>
              <a:rPr lang="en-US" sz="1800" dirty="0">
                <a:solidFill>
                  <a:schemeClr val="dk1"/>
                </a:solidFill>
                <a:latin typeface="Times New Roman"/>
                <a:ea typeface="Times New Roman"/>
                <a:cs typeface="Times New Roman"/>
                <a:sym typeface="Times New Roman"/>
              </a:rPr>
              <a:t>Gemini </a:t>
            </a:r>
          </a:p>
          <a:p>
            <a:pPr marL="1066785" lvl="1" indent="-423323" algn="l">
              <a:lnSpc>
                <a:spcPct val="115000"/>
              </a:lnSpc>
              <a:spcBef>
                <a:spcPts val="0"/>
              </a:spcBef>
              <a:buClr>
                <a:schemeClr val="dk1"/>
              </a:buClr>
              <a:buSzPts val="1400"/>
              <a:buFont typeface="Times New Roman"/>
              <a:buChar char="●"/>
            </a:pPr>
            <a:r>
              <a:rPr lang="en-US" sz="1800" dirty="0">
                <a:solidFill>
                  <a:schemeClr val="dk1"/>
                </a:solidFill>
                <a:latin typeface="Times New Roman"/>
                <a:ea typeface="Times New Roman"/>
                <a:cs typeface="Times New Roman"/>
                <a:sym typeface="Times New Roman"/>
              </a:rPr>
              <a:t>Same prompt as training, which means Goals is same.</a:t>
            </a:r>
          </a:p>
          <a:p>
            <a:pPr marL="1066785" lvl="1" indent="-423323" algn="l">
              <a:lnSpc>
                <a:spcPct val="115000"/>
              </a:lnSpc>
              <a:spcBef>
                <a:spcPts val="0"/>
              </a:spcBef>
              <a:buClr>
                <a:schemeClr val="dk1"/>
              </a:buClr>
              <a:buSzPts val="1400"/>
              <a:buFont typeface="Times New Roman"/>
              <a:buChar char="●"/>
            </a:pPr>
            <a:r>
              <a:rPr lang="en-US" sz="1800" dirty="0">
                <a:solidFill>
                  <a:schemeClr val="dk1"/>
                </a:solidFill>
                <a:latin typeface="Times New Roman"/>
                <a:ea typeface="Times New Roman"/>
                <a:cs typeface="Times New Roman"/>
                <a:sym typeface="Times New Roman"/>
              </a:rPr>
              <a:t>Allow Early Stop while reach goal</a:t>
            </a:r>
          </a:p>
          <a:p>
            <a:pPr marL="1066785" lvl="1" indent="-423323" algn="l">
              <a:lnSpc>
                <a:spcPct val="115000"/>
              </a:lnSpc>
              <a:spcBef>
                <a:spcPts val="0"/>
              </a:spcBef>
              <a:buClr>
                <a:schemeClr val="dk1"/>
              </a:buClr>
              <a:buSzPts val="1400"/>
              <a:buFont typeface="Times New Roman"/>
              <a:buChar char="●"/>
            </a:pPr>
            <a:r>
              <a:rPr lang="en-US" sz="1800" dirty="0">
                <a:solidFill>
                  <a:schemeClr val="dk1"/>
                </a:solidFill>
                <a:latin typeface="Times New Roman"/>
                <a:ea typeface="Times New Roman"/>
                <a:cs typeface="Times New Roman"/>
                <a:sym typeface="Times New Roman"/>
              </a:rPr>
              <a:t>Max interaction steps</a:t>
            </a:r>
            <a:r>
              <a:rPr lang="en-US" altLang="zh-TW" sz="1800" dirty="0">
                <a:solidFill>
                  <a:schemeClr val="dk1"/>
                </a:solidFill>
                <a:latin typeface="Times New Roman"/>
                <a:ea typeface="Times New Roman"/>
                <a:cs typeface="Times New Roman"/>
                <a:sym typeface="Times New Roman"/>
              </a:rPr>
              <a:t>:</a:t>
            </a:r>
            <a:r>
              <a:rPr lang="en-US" sz="1800" dirty="0">
                <a:solidFill>
                  <a:schemeClr val="dk1"/>
                </a:solidFill>
                <a:latin typeface="Times New Roman"/>
                <a:ea typeface="Times New Roman"/>
                <a:cs typeface="Times New Roman"/>
                <a:sym typeface="Times New Roman"/>
              </a:rPr>
              <a:t> 32</a:t>
            </a:r>
          </a:p>
          <a:p>
            <a:pPr marL="1066785" lvl="1" indent="-423323" algn="l">
              <a:lnSpc>
                <a:spcPct val="115000"/>
              </a:lnSpc>
              <a:spcBef>
                <a:spcPts val="0"/>
              </a:spcBef>
              <a:buClr>
                <a:schemeClr val="dk1"/>
              </a:buClr>
              <a:buSzPts val="1400"/>
              <a:buFont typeface="Times New Roman"/>
              <a:buChar char="●"/>
            </a:pPr>
            <a:r>
              <a:rPr lang="en-US" sz="1800" dirty="0">
                <a:solidFill>
                  <a:schemeClr val="dk1"/>
                </a:solidFill>
                <a:latin typeface="Times New Roman"/>
                <a:ea typeface="Times New Roman"/>
                <a:cs typeface="Times New Roman"/>
                <a:sym typeface="Times New Roman"/>
              </a:rPr>
              <a:t>Reset container</a:t>
            </a:r>
          </a:p>
          <a:p>
            <a:pPr marL="1066785" lvl="1" indent="-423323" algn="l">
              <a:lnSpc>
                <a:spcPct val="115000"/>
              </a:lnSpc>
              <a:spcBef>
                <a:spcPts val="0"/>
              </a:spcBef>
              <a:buClr>
                <a:schemeClr val="dk1"/>
              </a:buClr>
              <a:buSzPts val="1400"/>
              <a:buFont typeface="Times New Roman"/>
              <a:buChar char="●"/>
            </a:pPr>
            <a:r>
              <a:rPr lang="en-US" sz="1800" dirty="0">
                <a:solidFill>
                  <a:schemeClr val="dk1"/>
                </a:solidFill>
                <a:latin typeface="Times New Roman"/>
                <a:ea typeface="Times New Roman"/>
                <a:cs typeface="Times New Roman"/>
                <a:sym typeface="Times New Roman"/>
              </a:rPr>
              <a:t>Fixed Initial environment</a:t>
            </a:r>
          </a:p>
        </p:txBody>
      </p:sp>
      <p:sp>
        <p:nvSpPr>
          <p:cNvPr id="84" name="Google Shape;84;p17">
            <a:extLst>
              <a:ext uri="{FF2B5EF4-FFF2-40B4-BE49-F238E27FC236}">
                <a16:creationId xmlns:a16="http://schemas.microsoft.com/office/drawing/2014/main" id="{ACFC9EB4-9C95-A1AE-53B9-541A5EEFE80C}"/>
              </a:ext>
            </a:extLst>
          </p:cNvPr>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31</a:t>
            </a:fld>
            <a:endParaRPr dirty="0"/>
          </a:p>
        </p:txBody>
      </p:sp>
      <p:sp>
        <p:nvSpPr>
          <p:cNvPr id="5" name="Google Shape;321;p38">
            <a:extLst>
              <a:ext uri="{FF2B5EF4-FFF2-40B4-BE49-F238E27FC236}">
                <a16:creationId xmlns:a16="http://schemas.microsoft.com/office/drawing/2014/main" id="{EAEB354D-9312-5F05-3027-3D2A8E0BD80D}"/>
              </a:ext>
            </a:extLst>
          </p:cNvPr>
          <p:cNvSpPr txBox="1">
            <a:spLocks/>
          </p:cNvSpPr>
          <p:nvPr/>
        </p:nvSpPr>
        <p:spPr>
          <a:xfrm>
            <a:off x="515933" y="275967"/>
            <a:ext cx="11260400" cy="10568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SzPts val="2700"/>
            </a:pPr>
            <a:r>
              <a:rPr lang="en-US" altLang="zh-TW" sz="4000" dirty="0">
                <a:latin typeface="Times New Roman"/>
                <a:ea typeface="Times New Roman"/>
                <a:cs typeface="Times New Roman"/>
                <a:sym typeface="Times New Roman"/>
              </a:rPr>
              <a:t>Evaluation setup (2/2)</a:t>
            </a:r>
            <a:endParaRPr lang="en-US"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575201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CE628-2706-51DE-BF7B-9362E393122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0B1AF3A-1F3E-F964-2432-4A0A80983804}"/>
              </a:ext>
            </a:extLst>
          </p:cNvPr>
          <p:cNvSpPr>
            <a:spLocks noGrp="1"/>
          </p:cNvSpPr>
          <p:nvPr>
            <p:ph type="title"/>
          </p:nvPr>
        </p:nvSpPr>
        <p:spPr>
          <a:xfrm>
            <a:off x="415600" y="272631"/>
            <a:ext cx="11360800" cy="929758"/>
          </a:xfrm>
        </p:spPr>
        <p:txBody>
          <a:bodyPr>
            <a:normAutofit fontScale="90000"/>
          </a:bodyPr>
          <a:lstStyle/>
          <a:p>
            <a:r>
              <a:rPr lang="en-US" altLang="zh-TW" sz="4000" dirty="0">
                <a:latin typeface="Times New Roman" panose="02020603050405020304" pitchFamily="18" charset="0"/>
                <a:cs typeface="Times New Roman" panose="02020603050405020304" pitchFamily="18" charset="0"/>
              </a:rPr>
              <a:t>Experiment Result – Attack Depth </a:t>
            </a:r>
            <a:br>
              <a:rPr lang="en-US" altLang="zh-TW" sz="40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Outperform QRASSH by 348% and LLM Honeypot by 97%</a:t>
            </a:r>
            <a:br>
              <a:rPr lang="en-US" altLang="zh-TW" sz="2200" dirty="0">
                <a:latin typeface="Times New Roman" panose="02020603050405020304" pitchFamily="18" charset="0"/>
                <a:cs typeface="Times New Roman" panose="02020603050405020304" pitchFamily="18" charset="0"/>
              </a:rPr>
            </a:br>
            <a:br>
              <a:rPr lang="en-US" altLang="zh-TW" sz="2200" dirty="0">
                <a:latin typeface="Times New Roman" panose="02020603050405020304" pitchFamily="18" charset="0"/>
                <a:cs typeface="Times New Roman" panose="02020603050405020304" pitchFamily="18" charset="0"/>
              </a:rPr>
            </a:br>
            <a:endParaRPr lang="zh-TW" altLang="en-US" sz="3600" dirty="0"/>
          </a:p>
        </p:txBody>
      </p:sp>
      <p:sp>
        <p:nvSpPr>
          <p:cNvPr id="4" name="投影片編號版面配置區 3">
            <a:extLst>
              <a:ext uri="{FF2B5EF4-FFF2-40B4-BE49-F238E27FC236}">
                <a16:creationId xmlns:a16="http://schemas.microsoft.com/office/drawing/2014/main" id="{307E524E-0E9C-40CB-57C0-2D2E0024BA71}"/>
              </a:ext>
            </a:extLst>
          </p:cNvPr>
          <p:cNvSpPr>
            <a:spLocks noGrp="1"/>
          </p:cNvSpPr>
          <p:nvPr>
            <p:ph type="sldNum" idx="12"/>
          </p:nvPr>
        </p:nvSpPr>
        <p:spPr/>
        <p:txBody>
          <a:bodyPr/>
          <a:lstStyle/>
          <a:p>
            <a:fld id="{00000000-1234-1234-1234-123412341234}" type="slidenum">
              <a:rPr lang="en-US" altLang="zh-TW" smtClean="0"/>
              <a:pPr/>
              <a:t>32</a:t>
            </a:fld>
            <a:endParaRPr lang="zh-TW" altLang="en-US" dirty="0"/>
          </a:p>
        </p:txBody>
      </p:sp>
      <p:graphicFrame>
        <p:nvGraphicFramePr>
          <p:cNvPr id="5" name="表格 4">
            <a:extLst>
              <a:ext uri="{FF2B5EF4-FFF2-40B4-BE49-F238E27FC236}">
                <a16:creationId xmlns:a16="http://schemas.microsoft.com/office/drawing/2014/main" id="{FFE32494-A1E9-41C3-5691-3A2DCA96D672}"/>
              </a:ext>
            </a:extLst>
          </p:cNvPr>
          <p:cNvGraphicFramePr>
            <a:graphicFrameLocks noGrp="1"/>
          </p:cNvGraphicFramePr>
          <p:nvPr>
            <p:extLst>
              <p:ext uri="{D42A27DB-BD31-4B8C-83A1-F6EECF244321}">
                <p14:modId xmlns:p14="http://schemas.microsoft.com/office/powerpoint/2010/main" val="2843557645"/>
              </p:ext>
            </p:extLst>
          </p:nvPr>
        </p:nvGraphicFramePr>
        <p:xfrm>
          <a:off x="104066" y="5412295"/>
          <a:ext cx="7231476" cy="854123"/>
        </p:xfrm>
        <a:graphic>
          <a:graphicData uri="http://schemas.openxmlformats.org/drawingml/2006/table">
            <a:tbl>
              <a:tblPr firstRow="1" bandRow="1">
                <a:tableStyleId>{2D5ABB26-0587-4C30-8999-92F81FD0307C}</a:tableStyleId>
              </a:tblPr>
              <a:tblGrid>
                <a:gridCol w="1033068">
                  <a:extLst>
                    <a:ext uri="{9D8B030D-6E8A-4147-A177-3AD203B41FA5}">
                      <a16:colId xmlns:a16="http://schemas.microsoft.com/office/drawing/2014/main" val="941483905"/>
                    </a:ext>
                  </a:extLst>
                </a:gridCol>
                <a:gridCol w="1033068">
                  <a:extLst>
                    <a:ext uri="{9D8B030D-6E8A-4147-A177-3AD203B41FA5}">
                      <a16:colId xmlns:a16="http://schemas.microsoft.com/office/drawing/2014/main" val="19903012"/>
                    </a:ext>
                  </a:extLst>
                </a:gridCol>
                <a:gridCol w="1033068">
                  <a:extLst>
                    <a:ext uri="{9D8B030D-6E8A-4147-A177-3AD203B41FA5}">
                      <a16:colId xmlns:a16="http://schemas.microsoft.com/office/drawing/2014/main" val="1375225440"/>
                    </a:ext>
                  </a:extLst>
                </a:gridCol>
                <a:gridCol w="1033068">
                  <a:extLst>
                    <a:ext uri="{9D8B030D-6E8A-4147-A177-3AD203B41FA5}">
                      <a16:colId xmlns:a16="http://schemas.microsoft.com/office/drawing/2014/main" val="370168814"/>
                    </a:ext>
                  </a:extLst>
                </a:gridCol>
                <a:gridCol w="1033068">
                  <a:extLst>
                    <a:ext uri="{9D8B030D-6E8A-4147-A177-3AD203B41FA5}">
                      <a16:colId xmlns:a16="http://schemas.microsoft.com/office/drawing/2014/main" val="2455561274"/>
                    </a:ext>
                  </a:extLst>
                </a:gridCol>
                <a:gridCol w="1033068">
                  <a:extLst>
                    <a:ext uri="{9D8B030D-6E8A-4147-A177-3AD203B41FA5}">
                      <a16:colId xmlns:a16="http://schemas.microsoft.com/office/drawing/2014/main" val="636926078"/>
                    </a:ext>
                  </a:extLst>
                </a:gridCol>
                <a:gridCol w="1033068">
                  <a:extLst>
                    <a:ext uri="{9D8B030D-6E8A-4147-A177-3AD203B41FA5}">
                      <a16:colId xmlns:a16="http://schemas.microsoft.com/office/drawing/2014/main" val="3813218938"/>
                    </a:ext>
                  </a:extLst>
                </a:gridCol>
              </a:tblGrid>
              <a:tr h="284707">
                <a:tc>
                  <a:txBody>
                    <a:bodyPr/>
                    <a:lstStyle/>
                    <a:p>
                      <a:pPr algn="ctr"/>
                      <a:r>
                        <a:rPr lang="en-US" altLang="zh-TW" sz="1600" dirty="0">
                          <a:latin typeface="Cambria" panose="02040503050406030204" pitchFamily="18" charset="0"/>
                          <a:ea typeface="Cambria" panose="02040503050406030204" pitchFamily="18" charset="0"/>
                        </a:rPr>
                        <a:t>1</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2</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3</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4</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5</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6</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7</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6815891"/>
                  </a:ext>
                </a:extLst>
              </a:tr>
              <a:tr h="569416">
                <a:tc>
                  <a:txBody>
                    <a:bodyPr/>
                    <a:lstStyle/>
                    <a:p>
                      <a:pPr algn="ctr"/>
                      <a:r>
                        <a:rPr lang="en-US" altLang="zh-TW" sz="1600" dirty="0">
                          <a:latin typeface="Cambria" panose="02040503050406030204" pitchFamily="18" charset="0"/>
                          <a:ea typeface="Cambria" panose="02040503050406030204" pitchFamily="18" charset="0"/>
                        </a:rPr>
                        <a:t>Discovery</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Collection</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Credential Access</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Privilege</a:t>
                      </a:r>
                    </a:p>
                    <a:p>
                      <a:pPr algn="ctr"/>
                      <a:r>
                        <a:rPr lang="en-US" altLang="zh-TW" sz="1600" dirty="0">
                          <a:latin typeface="Cambria" panose="02040503050406030204" pitchFamily="18" charset="0"/>
                          <a:ea typeface="Cambria" panose="02040503050406030204" pitchFamily="18" charset="0"/>
                        </a:rPr>
                        <a:t>escalation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Lateral</a:t>
                      </a:r>
                    </a:p>
                    <a:p>
                      <a:pPr algn="ctr"/>
                      <a:r>
                        <a:rPr lang="en-US" altLang="zh-TW" sz="1600" dirty="0">
                          <a:latin typeface="Cambria" panose="02040503050406030204" pitchFamily="18" charset="0"/>
                          <a:ea typeface="Cambria" panose="02040503050406030204" pitchFamily="18" charset="0"/>
                        </a:rPr>
                        <a:t>Movement</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Exfiltration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Impact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9905"/>
                  </a:ext>
                </a:extLst>
              </a:tr>
            </a:tbl>
          </a:graphicData>
        </a:graphic>
      </p:graphicFrame>
      <p:sp>
        <p:nvSpPr>
          <p:cNvPr id="6" name="文字版面配置區 2">
            <a:extLst>
              <a:ext uri="{FF2B5EF4-FFF2-40B4-BE49-F238E27FC236}">
                <a16:creationId xmlns:a16="http://schemas.microsoft.com/office/drawing/2014/main" id="{72264728-5F8E-F90B-C94F-2984EB0D6DCF}"/>
              </a:ext>
            </a:extLst>
          </p:cNvPr>
          <p:cNvSpPr txBox="1">
            <a:spLocks/>
          </p:cNvSpPr>
          <p:nvPr/>
        </p:nvSpPr>
        <p:spPr>
          <a:xfrm>
            <a:off x="7358606" y="439481"/>
            <a:ext cx="4729328" cy="6145888"/>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285750" indent="-285750">
              <a:spcBef>
                <a:spcPts val="200"/>
              </a:spcBef>
            </a:pPr>
            <a:r>
              <a:rPr lang="en-US" altLang="zh-TW" sz="2000" dirty="0">
                <a:latin typeface="Times New Roman" panose="02020603050405020304" pitchFamily="18" charset="0"/>
                <a:cs typeface="Times New Roman" panose="02020603050405020304" pitchFamily="18" charset="0"/>
              </a:rPr>
              <a:t>SFT+GRPO outperform others</a:t>
            </a:r>
          </a:p>
          <a:p>
            <a:pPr marL="538163" lvl="1" indent="-196850">
              <a:spcBef>
                <a:spcPts val="200"/>
              </a:spcBef>
            </a:pPr>
            <a:r>
              <a:rPr lang="en-US" altLang="zh-TW" sz="1900" dirty="0">
                <a:latin typeface="Times New Roman" panose="02020603050405020304" pitchFamily="18" charset="0"/>
                <a:cs typeface="Times New Roman" panose="02020603050405020304" pitchFamily="18" charset="0"/>
              </a:rPr>
              <a:t>Strategist select optimal strategy to guide attacker progress</a:t>
            </a:r>
            <a:br>
              <a:rPr lang="en-US" altLang="zh-TW" sz="1600" dirty="0">
                <a:latin typeface="Times New Roman" panose="02020603050405020304" pitchFamily="18" charset="0"/>
                <a:cs typeface="Times New Roman" panose="02020603050405020304" pitchFamily="18" charset="0"/>
              </a:rPr>
            </a:br>
            <a:endParaRPr lang="en-US" altLang="zh-TW" sz="1800" dirty="0">
              <a:latin typeface="Times New Roman" panose="02020603050405020304" pitchFamily="18" charset="0"/>
              <a:cs typeface="Times New Roman" panose="02020603050405020304" pitchFamily="18" charset="0"/>
            </a:endParaRPr>
          </a:p>
          <a:p>
            <a:pPr marL="0" indent="-268272">
              <a:spcBef>
                <a:spcPts val="200"/>
              </a:spcBef>
            </a:pPr>
            <a:r>
              <a:rPr lang="en-US" altLang="zh-TW" sz="2000" dirty="0">
                <a:latin typeface="Times New Roman" panose="02020603050405020304" pitchFamily="18" charset="0"/>
                <a:cs typeface="Times New Roman" panose="02020603050405020304" pitchFamily="18" charset="0"/>
              </a:rPr>
              <a:t>SFT-only beats Prompt-based</a:t>
            </a:r>
          </a:p>
          <a:p>
            <a:pPr marL="609585" lvl="1" indent="-268272">
              <a:spcBef>
                <a:spcPts val="200"/>
              </a:spcBef>
            </a:pPr>
            <a:r>
              <a:rPr lang="en-US" altLang="zh-TW" sz="1800" dirty="0">
                <a:latin typeface="Times New Roman" panose="02020603050405020304" pitchFamily="18" charset="0"/>
                <a:cs typeface="Times New Roman" panose="02020603050405020304" pitchFamily="18" charset="0"/>
              </a:rPr>
              <a:t>Prompt-based do not understand adversary</a:t>
            </a:r>
          </a:p>
          <a:p>
            <a:pPr marL="609585" lvl="1" indent="-268272">
              <a:spcBef>
                <a:spcPts val="200"/>
              </a:spcBef>
            </a:pPr>
            <a:r>
              <a:rPr lang="en-US" altLang="zh-TW" sz="1800" dirty="0">
                <a:latin typeface="Times New Roman" panose="02020603050405020304" pitchFamily="18" charset="0"/>
                <a:cs typeface="Times New Roman" panose="02020603050405020304" pitchFamily="18" charset="0"/>
              </a:rPr>
              <a:t>Tend to give safe strategy</a:t>
            </a:r>
          </a:p>
          <a:p>
            <a:pPr marL="285750" indent="-285750">
              <a:spcBef>
                <a:spcPts val="200"/>
              </a:spcBef>
            </a:pPr>
            <a:endParaRPr lang="en-US" altLang="zh-TW" sz="2000" dirty="0">
              <a:latin typeface="Times New Roman" panose="02020603050405020304" pitchFamily="18" charset="0"/>
              <a:cs typeface="Times New Roman" panose="02020603050405020304" pitchFamily="18" charset="0"/>
            </a:endParaRPr>
          </a:p>
          <a:p>
            <a:pPr marL="285750" indent="-285750">
              <a:spcBef>
                <a:spcPts val="200"/>
              </a:spcBef>
            </a:pPr>
            <a:r>
              <a:rPr lang="en-US" altLang="zh-TW" sz="2000" dirty="0">
                <a:latin typeface="Times New Roman" panose="02020603050405020304" pitchFamily="18" charset="0"/>
                <a:cs typeface="Times New Roman" panose="02020603050405020304" pitchFamily="18" charset="0"/>
              </a:rPr>
              <a:t>QRASSH and LLM Honeypot failed </a:t>
            </a:r>
            <a:br>
              <a:rPr lang="en-US" altLang="zh-TW" sz="2000" dirty="0">
                <a:latin typeface="Times New Roman" panose="02020603050405020304" pitchFamily="18" charset="0"/>
                <a:cs typeface="Times New Roman" panose="02020603050405020304" pitchFamily="18" charset="0"/>
              </a:rPr>
            </a:br>
            <a:r>
              <a:rPr lang="en-US" altLang="zh-TW" sz="2000" dirty="0">
                <a:latin typeface="Times New Roman" panose="02020603050405020304" pitchFamily="18" charset="0"/>
                <a:cs typeface="Times New Roman" panose="02020603050405020304" pitchFamily="18" charset="0"/>
              </a:rPr>
              <a:t>with fidelity</a:t>
            </a:r>
          </a:p>
          <a:p>
            <a:pPr marL="541338" lvl="1" indent="-201613">
              <a:spcBef>
                <a:spcPts val="200"/>
              </a:spcBef>
            </a:pPr>
            <a:r>
              <a:rPr lang="en-US" altLang="zh-TW" sz="1800" dirty="0">
                <a:latin typeface="Times New Roman" panose="02020603050405020304" pitchFamily="18" charset="0"/>
                <a:cs typeface="Times New Roman" panose="02020603050405020304" pitchFamily="18" charset="0"/>
              </a:rPr>
              <a:t>Easily to be detected</a:t>
            </a:r>
          </a:p>
          <a:p>
            <a:pPr marL="541338" lvl="1" indent="-201613">
              <a:spcBef>
                <a:spcPts val="200"/>
              </a:spcBef>
            </a:pPr>
            <a:r>
              <a:rPr lang="en-US" altLang="zh-TW" sz="1800" dirty="0">
                <a:latin typeface="Times New Roman" panose="02020603050405020304" pitchFamily="18" charset="0"/>
                <a:cs typeface="Times New Roman" panose="02020603050405020304" pitchFamily="18" charset="0"/>
              </a:rPr>
              <a:t>LLM Honeypot can simulated more but is still not enough</a:t>
            </a:r>
          </a:p>
          <a:p>
            <a:pPr marL="339725" lvl="1" indent="0">
              <a:spcBef>
                <a:spcPts val="200"/>
              </a:spcBef>
              <a:buNone/>
            </a:pPr>
            <a:endParaRPr lang="en-US" altLang="zh-TW" sz="2600" dirty="0">
              <a:latin typeface="Times New Roman" panose="02020603050405020304" pitchFamily="18" charset="0"/>
              <a:cs typeface="Times New Roman" panose="02020603050405020304" pitchFamily="18" charset="0"/>
            </a:endParaRPr>
          </a:p>
          <a:p>
            <a:pPr marL="20653" indent="-285750">
              <a:spcBef>
                <a:spcPts val="200"/>
              </a:spcBef>
            </a:pPr>
            <a:r>
              <a:rPr lang="en-US" altLang="zh-TW" sz="1800" dirty="0">
                <a:latin typeface="Times New Roman" panose="02020603050405020304" pitchFamily="18" charset="0"/>
                <a:cs typeface="Times New Roman" panose="02020603050405020304" pitchFamily="18" charset="0"/>
              </a:rPr>
              <a:t>Average Max Attack Depth:</a:t>
            </a:r>
          </a:p>
          <a:p>
            <a:pPr marL="630238" lvl="1" indent="-285750">
              <a:spcBef>
                <a:spcPts val="200"/>
              </a:spcBef>
            </a:pPr>
            <a:r>
              <a:rPr lang="en-US" altLang="zh-TW" sz="1800" dirty="0">
                <a:latin typeface="Times New Roman" panose="02020603050405020304" pitchFamily="18" charset="0"/>
                <a:cs typeface="Times New Roman" panose="02020603050405020304" pitchFamily="18" charset="0"/>
              </a:rPr>
              <a:t>SFT+GRPO: 5.92</a:t>
            </a:r>
          </a:p>
          <a:p>
            <a:pPr marL="630238" lvl="1" indent="-285750">
              <a:spcBef>
                <a:spcPts val="200"/>
              </a:spcBef>
            </a:pPr>
            <a:r>
              <a:rPr lang="en-US" altLang="zh-TW" sz="1800" dirty="0">
                <a:latin typeface="Times New Roman" panose="02020603050405020304" pitchFamily="18" charset="0"/>
                <a:cs typeface="Times New Roman" panose="02020603050405020304" pitchFamily="18" charset="0"/>
              </a:rPr>
              <a:t>SFT-only: 4.96</a:t>
            </a:r>
          </a:p>
          <a:p>
            <a:pPr marL="630238" lvl="1" indent="-285750">
              <a:spcBef>
                <a:spcPts val="200"/>
              </a:spcBef>
            </a:pPr>
            <a:r>
              <a:rPr lang="en-US" altLang="zh-TW" sz="1800" dirty="0">
                <a:latin typeface="Times New Roman" panose="02020603050405020304" pitchFamily="18" charset="0"/>
                <a:cs typeface="Times New Roman" panose="02020603050405020304" pitchFamily="18" charset="0"/>
              </a:rPr>
              <a:t>Prompt-based: 3.90</a:t>
            </a:r>
          </a:p>
          <a:p>
            <a:pPr marL="630238" lvl="1" indent="-285750">
              <a:spcBef>
                <a:spcPts val="200"/>
              </a:spcBef>
            </a:pPr>
            <a:r>
              <a:rPr lang="en-US" altLang="zh-TW" sz="1800" dirty="0">
                <a:latin typeface="Times New Roman" panose="02020603050405020304" pitchFamily="18" charset="0"/>
                <a:cs typeface="Times New Roman" panose="02020603050405020304" pitchFamily="18" charset="0"/>
              </a:rPr>
              <a:t>LLM Honeypot: 3.00</a:t>
            </a:r>
          </a:p>
          <a:p>
            <a:pPr marL="630238" lvl="1" indent="-285750">
              <a:spcBef>
                <a:spcPts val="200"/>
              </a:spcBef>
            </a:pPr>
            <a:r>
              <a:rPr lang="en-US" altLang="zh-TW" sz="1800" dirty="0">
                <a:latin typeface="Times New Roman" panose="02020603050405020304" pitchFamily="18" charset="0"/>
                <a:cs typeface="Times New Roman" panose="02020603050405020304" pitchFamily="18" charset="0"/>
              </a:rPr>
              <a:t>QRASSH: 1.32</a:t>
            </a:r>
          </a:p>
        </p:txBody>
      </p:sp>
      <p:pic>
        <p:nvPicPr>
          <p:cNvPr id="7" name="圖片 6">
            <a:extLst>
              <a:ext uri="{FF2B5EF4-FFF2-40B4-BE49-F238E27FC236}">
                <a16:creationId xmlns:a16="http://schemas.microsoft.com/office/drawing/2014/main" id="{2CA9B0F8-9C79-8CFF-F316-BFA4D21F7A68}"/>
              </a:ext>
            </a:extLst>
          </p:cNvPr>
          <p:cNvPicPr>
            <a:picLocks noChangeAspect="1"/>
          </p:cNvPicPr>
          <p:nvPr/>
        </p:nvPicPr>
        <p:blipFill>
          <a:blip r:embed="rId3"/>
          <a:stretch>
            <a:fillRect/>
          </a:stretch>
        </p:blipFill>
        <p:spPr>
          <a:xfrm>
            <a:off x="313869" y="1285933"/>
            <a:ext cx="6811870" cy="4042817"/>
          </a:xfrm>
          <a:prstGeom prst="rect">
            <a:avLst/>
          </a:prstGeom>
        </p:spPr>
      </p:pic>
    </p:spTree>
    <p:extLst>
      <p:ext uri="{BB962C8B-B14F-4D97-AF65-F5344CB8AC3E}">
        <p14:creationId xmlns:p14="http://schemas.microsoft.com/office/powerpoint/2010/main" val="2901542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7653-D7E4-B313-D99C-E4DCD6C7B8D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EE915C2-567B-F311-D70A-A5EFA9D28113}"/>
              </a:ext>
            </a:extLst>
          </p:cNvPr>
          <p:cNvSpPr>
            <a:spLocks noGrp="1"/>
          </p:cNvSpPr>
          <p:nvPr>
            <p:ph type="title"/>
          </p:nvPr>
        </p:nvSpPr>
        <p:spPr>
          <a:xfrm>
            <a:off x="415600" y="197776"/>
            <a:ext cx="11360800" cy="763600"/>
          </a:xfrm>
        </p:spPr>
        <p:txBody>
          <a:bodyPr>
            <a:normAutofit fontScale="90000"/>
          </a:bodyPr>
          <a:lstStyle/>
          <a:p>
            <a:r>
              <a:rPr lang="en-US" altLang="zh-TW" sz="4000" dirty="0">
                <a:latin typeface="Times New Roman" panose="02020603050405020304" pitchFamily="18" charset="0"/>
                <a:cs typeface="Times New Roman" panose="02020603050405020304" pitchFamily="18" charset="0"/>
              </a:rPr>
              <a:t>Experiment Result – Attack Diversity</a:t>
            </a:r>
            <a:br>
              <a:rPr lang="en-US" altLang="zh-TW" sz="36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Outperform QRASSH by 144% and LLM Honeypot by 75%</a:t>
            </a:r>
            <a:endParaRPr lang="zh-TW" altLang="en-US" sz="3600" dirty="0"/>
          </a:p>
        </p:txBody>
      </p:sp>
      <p:sp>
        <p:nvSpPr>
          <p:cNvPr id="4" name="投影片編號版面配置區 3">
            <a:extLst>
              <a:ext uri="{FF2B5EF4-FFF2-40B4-BE49-F238E27FC236}">
                <a16:creationId xmlns:a16="http://schemas.microsoft.com/office/drawing/2014/main" id="{FCE5C170-17F4-00BC-E98B-A05735E05352}"/>
              </a:ext>
            </a:extLst>
          </p:cNvPr>
          <p:cNvSpPr>
            <a:spLocks noGrp="1"/>
          </p:cNvSpPr>
          <p:nvPr>
            <p:ph type="sldNum" idx="12"/>
          </p:nvPr>
        </p:nvSpPr>
        <p:spPr/>
        <p:txBody>
          <a:bodyPr/>
          <a:lstStyle/>
          <a:p>
            <a:fld id="{00000000-1234-1234-1234-123412341234}" type="slidenum">
              <a:rPr lang="en-US" altLang="zh-TW" smtClean="0"/>
              <a:pPr/>
              <a:t>33</a:t>
            </a:fld>
            <a:endParaRPr lang="zh-TW" altLang="en-US" dirty="0"/>
          </a:p>
        </p:txBody>
      </p:sp>
      <p:sp>
        <p:nvSpPr>
          <p:cNvPr id="5" name="文字版面配置區 2">
            <a:extLst>
              <a:ext uri="{FF2B5EF4-FFF2-40B4-BE49-F238E27FC236}">
                <a16:creationId xmlns:a16="http://schemas.microsoft.com/office/drawing/2014/main" id="{B029A985-035D-5BE1-C9B2-ACC94773329A}"/>
              </a:ext>
            </a:extLst>
          </p:cNvPr>
          <p:cNvSpPr txBox="1">
            <a:spLocks/>
          </p:cNvSpPr>
          <p:nvPr/>
        </p:nvSpPr>
        <p:spPr>
          <a:xfrm>
            <a:off x="7413550" y="961376"/>
            <a:ext cx="4614661" cy="5938519"/>
          </a:xfrm>
          <a:prstGeom prst="rect">
            <a:avLst/>
          </a:prstGeom>
        </p:spPr>
        <p:txBody>
          <a:bodyPr spcFirstLastPara="1" vert="horz" wrap="square" lIns="91425" tIns="91425" rIns="91425" bIns="91425" rtlCol="0" anchor="t" anchorCtr="0">
            <a:normAutofit lnSpcReduction="10000"/>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altLang="zh-TW" sz="2000" dirty="0">
                <a:latin typeface="Times New Roman" panose="02020603050405020304" pitchFamily="18" charset="0"/>
                <a:cs typeface="Times New Roman" panose="02020603050405020304" pitchFamily="18" charset="0"/>
              </a:rPr>
              <a:t>SFT+GRPO slightly better others</a:t>
            </a:r>
          </a:p>
          <a:p>
            <a:pPr marL="627063" lvl="1" indent="-265113"/>
            <a:r>
              <a:rPr lang="en-US" altLang="zh-TW" sz="1800" dirty="0">
                <a:latin typeface="Times New Roman" panose="02020603050405020304" pitchFamily="18" charset="0"/>
                <a:cs typeface="Times New Roman" panose="02020603050405020304" pitchFamily="18" charset="0"/>
              </a:rPr>
              <a:t>Most of command are about data search and collection, shared common technique pool.</a:t>
            </a:r>
          </a:p>
          <a:p>
            <a:pPr marL="371475" lvl="1" indent="0">
              <a:buNone/>
            </a:pPr>
            <a:endParaRPr lang="en-US" altLang="zh-TW" sz="2400" dirty="0">
              <a:latin typeface="Times New Roman" panose="02020603050405020304" pitchFamily="18" charset="0"/>
              <a:cs typeface="Times New Roman" panose="02020603050405020304" pitchFamily="18" charset="0"/>
            </a:endParaRPr>
          </a:p>
          <a:p>
            <a:pPr marL="330200" indent="-330200"/>
            <a:r>
              <a:rPr lang="en-US" altLang="zh-TW" sz="2000" dirty="0">
                <a:latin typeface="Times New Roman" panose="02020603050405020304" pitchFamily="18" charset="0"/>
                <a:cs typeface="Times New Roman" panose="02020603050405020304" pitchFamily="18" charset="0"/>
              </a:rPr>
              <a:t>SFT-only beats prompt-based</a:t>
            </a:r>
          </a:p>
          <a:p>
            <a:pPr marL="627063" lvl="1" indent="-285750">
              <a:spcBef>
                <a:spcPts val="200"/>
              </a:spcBef>
            </a:pPr>
            <a:r>
              <a:rPr lang="en-US" altLang="zh-TW" sz="1800" dirty="0">
                <a:latin typeface="Times New Roman" panose="02020603050405020304" pitchFamily="18" charset="0"/>
                <a:cs typeface="Times New Roman" panose="02020603050405020304" pitchFamily="18" charset="0"/>
              </a:rPr>
              <a:t>Prompt-based keep generate same artifacts</a:t>
            </a:r>
            <a:endParaRPr lang="en-US" altLang="zh-TW" sz="1600" dirty="0">
              <a:latin typeface="Times New Roman" panose="02020603050405020304" pitchFamily="18" charset="0"/>
              <a:cs typeface="Times New Roman" panose="02020603050405020304" pitchFamily="18" charset="0"/>
            </a:endParaRPr>
          </a:p>
          <a:p>
            <a:pPr marL="344488" lvl="1" indent="0">
              <a:buNone/>
              <a:tabLst>
                <a:tab pos="630238" algn="l"/>
              </a:tabLst>
            </a:pPr>
            <a:endParaRPr lang="en-US" altLang="zh-TW" sz="2000" dirty="0">
              <a:latin typeface="Times New Roman" panose="02020603050405020304" pitchFamily="18" charset="0"/>
              <a:cs typeface="Times New Roman" panose="02020603050405020304" pitchFamily="18" charset="0"/>
            </a:endParaRPr>
          </a:p>
          <a:p>
            <a:pPr marL="285750" indent="-285750"/>
            <a:r>
              <a:rPr lang="en-US" altLang="zh-TW" sz="2000" dirty="0">
                <a:latin typeface="Times New Roman" panose="02020603050405020304" pitchFamily="18" charset="0"/>
                <a:cs typeface="Times New Roman" panose="02020603050405020304" pitchFamily="18" charset="0"/>
              </a:rPr>
              <a:t>QRASSH</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and LLM Honeypot are similar </a:t>
            </a:r>
          </a:p>
          <a:p>
            <a:pPr marL="630238" lvl="1" indent="-285750"/>
            <a:r>
              <a:rPr lang="en-US" altLang="zh-TW" sz="1800" dirty="0">
                <a:latin typeface="Times New Roman" panose="02020603050405020304" pitchFamily="18" charset="0"/>
                <a:cs typeface="Times New Roman" panose="02020603050405020304" pitchFamily="18" charset="0"/>
              </a:rPr>
              <a:t>QRASSH: RL agent tend to reply with impossible response</a:t>
            </a:r>
            <a:endParaRPr lang="en-US" altLang="zh-TW" dirty="0">
              <a:latin typeface="Times New Roman" panose="02020603050405020304" pitchFamily="18" charset="0"/>
              <a:cs typeface="Times New Roman" panose="02020603050405020304" pitchFamily="18" charset="0"/>
            </a:endParaRPr>
          </a:p>
          <a:p>
            <a:pPr marL="630238" lvl="1" indent="-285750"/>
            <a:r>
              <a:rPr lang="en-US" altLang="zh-TW" sz="1800" dirty="0">
                <a:latin typeface="Times New Roman" panose="02020603050405020304" pitchFamily="18" charset="0"/>
                <a:cs typeface="Times New Roman" panose="02020603050405020304" pitchFamily="18" charset="0"/>
              </a:rPr>
              <a:t>LLM Honeypot: Simulation only, without guidance. </a:t>
            </a:r>
            <a:br>
              <a:rPr lang="en-US" altLang="zh-TW" sz="1800" dirty="0">
                <a:latin typeface="Times New Roman" panose="02020603050405020304" pitchFamily="18" charset="0"/>
                <a:cs typeface="Times New Roman" panose="02020603050405020304" pitchFamily="18" charset="0"/>
              </a:rPr>
            </a:br>
            <a:endParaRPr lang="en-US" altLang="zh-TW" sz="2600" dirty="0">
              <a:latin typeface="Times New Roman" panose="02020603050405020304" pitchFamily="18" charset="0"/>
              <a:cs typeface="Times New Roman" panose="02020603050405020304" pitchFamily="18" charset="0"/>
            </a:endParaRPr>
          </a:p>
          <a:p>
            <a:pPr marL="20653" indent="-285750"/>
            <a:r>
              <a:rPr lang="en-US" altLang="zh-TW" sz="2000" dirty="0">
                <a:latin typeface="Times New Roman" panose="02020603050405020304" pitchFamily="18" charset="0"/>
                <a:cs typeface="Times New Roman" panose="02020603050405020304" pitchFamily="18" charset="0"/>
              </a:rPr>
              <a:t>Average Unique techniques count</a:t>
            </a:r>
          </a:p>
          <a:p>
            <a:pPr marL="630238" lvl="1" indent="-285750"/>
            <a:r>
              <a:rPr lang="en-US" altLang="zh-TW" sz="1800" dirty="0">
                <a:latin typeface="Times New Roman" panose="02020603050405020304" pitchFamily="18" charset="0"/>
                <a:cs typeface="Times New Roman" panose="02020603050405020304" pitchFamily="18" charset="0"/>
              </a:rPr>
              <a:t>SFT+GRPO: 8.96</a:t>
            </a:r>
          </a:p>
          <a:p>
            <a:pPr marL="630238" lvl="1" indent="-285750"/>
            <a:r>
              <a:rPr lang="en-US" altLang="zh-TW" sz="1800" dirty="0">
                <a:latin typeface="Times New Roman" panose="02020603050405020304" pitchFamily="18" charset="0"/>
                <a:cs typeface="Times New Roman" panose="02020603050405020304" pitchFamily="18" charset="0"/>
              </a:rPr>
              <a:t>SFT-only: 8.48</a:t>
            </a:r>
          </a:p>
          <a:p>
            <a:pPr marL="630238" lvl="1" indent="-285750"/>
            <a:r>
              <a:rPr lang="en-US" altLang="zh-TW" sz="1800" dirty="0">
                <a:latin typeface="Times New Roman" panose="02020603050405020304" pitchFamily="18" charset="0"/>
                <a:cs typeface="Times New Roman" panose="02020603050405020304" pitchFamily="18" charset="0"/>
              </a:rPr>
              <a:t>Prompt-based: 7.74</a:t>
            </a:r>
          </a:p>
          <a:p>
            <a:pPr marL="630238" lvl="1" indent="-285750"/>
            <a:r>
              <a:rPr lang="en-US" altLang="zh-TW" sz="1800" dirty="0">
                <a:latin typeface="Times New Roman" panose="02020603050405020304" pitchFamily="18" charset="0"/>
                <a:cs typeface="Times New Roman" panose="02020603050405020304" pitchFamily="18" charset="0"/>
              </a:rPr>
              <a:t>LLM Honeypot: 5.1</a:t>
            </a:r>
          </a:p>
          <a:p>
            <a:pPr marL="630238" lvl="1" indent="-285750"/>
            <a:r>
              <a:rPr lang="en-US" altLang="zh-TW" sz="1800" dirty="0">
                <a:latin typeface="Times New Roman" panose="02020603050405020304" pitchFamily="18" charset="0"/>
                <a:cs typeface="Times New Roman" panose="02020603050405020304" pitchFamily="18" charset="0"/>
              </a:rPr>
              <a:t>QRASSH: 3.66</a:t>
            </a:r>
          </a:p>
        </p:txBody>
      </p:sp>
      <p:pic>
        <p:nvPicPr>
          <p:cNvPr id="9" name="圖片 8">
            <a:extLst>
              <a:ext uri="{FF2B5EF4-FFF2-40B4-BE49-F238E27FC236}">
                <a16:creationId xmlns:a16="http://schemas.microsoft.com/office/drawing/2014/main" id="{3A3DB19B-5A82-B061-FE52-1764FD4BA5AD}"/>
              </a:ext>
            </a:extLst>
          </p:cNvPr>
          <p:cNvPicPr>
            <a:picLocks noChangeAspect="1"/>
          </p:cNvPicPr>
          <p:nvPr/>
        </p:nvPicPr>
        <p:blipFill>
          <a:blip r:embed="rId3"/>
          <a:stretch>
            <a:fillRect/>
          </a:stretch>
        </p:blipFill>
        <p:spPr>
          <a:xfrm>
            <a:off x="0" y="1478332"/>
            <a:ext cx="7376156" cy="4377719"/>
          </a:xfrm>
          <a:prstGeom prst="rect">
            <a:avLst/>
          </a:prstGeom>
        </p:spPr>
      </p:pic>
    </p:spTree>
    <p:extLst>
      <p:ext uri="{BB962C8B-B14F-4D97-AF65-F5344CB8AC3E}">
        <p14:creationId xmlns:p14="http://schemas.microsoft.com/office/powerpoint/2010/main" val="16651596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FFFA5-D572-FE19-D051-DAA947A40E0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8379DDF-AE78-8534-CFD6-B4FF491864D4}"/>
              </a:ext>
            </a:extLst>
          </p:cNvPr>
          <p:cNvSpPr>
            <a:spLocks noGrp="1"/>
          </p:cNvSpPr>
          <p:nvPr>
            <p:ph type="title"/>
          </p:nvPr>
        </p:nvSpPr>
        <p:spPr>
          <a:xfrm>
            <a:off x="427597" y="432680"/>
            <a:ext cx="11517970" cy="894950"/>
          </a:xfrm>
        </p:spPr>
        <p:txBody>
          <a:bodyPr>
            <a:normAutofit fontScale="90000"/>
          </a:bodyPr>
          <a:lstStyle/>
          <a:p>
            <a:r>
              <a:rPr lang="en-US" altLang="zh-TW" sz="2700" dirty="0">
                <a:latin typeface="Times New Roman" panose="02020603050405020304" pitchFamily="18" charset="0"/>
                <a:cs typeface="Times New Roman" panose="02020603050405020304" pitchFamily="18" charset="0"/>
              </a:rPr>
              <a:t>Experiment Result</a:t>
            </a:r>
            <a:r>
              <a:rPr lang="zh-TW" altLang="en-US" sz="2700" dirty="0">
                <a:latin typeface="Times New Roman" panose="02020603050405020304" pitchFamily="18" charset="0"/>
                <a:cs typeface="Times New Roman" panose="02020603050405020304" pitchFamily="18" charset="0"/>
              </a:rPr>
              <a:t> </a:t>
            </a:r>
            <a:r>
              <a:rPr lang="en-US" altLang="zh-TW" sz="2700" dirty="0">
                <a:latin typeface="Times New Roman" panose="02020603050405020304" pitchFamily="18" charset="0"/>
                <a:cs typeface="Times New Roman" panose="02020603050405020304" pitchFamily="18" charset="0"/>
              </a:rPr>
              <a:t>: Intent detection rate: Ours </a:t>
            </a:r>
            <a:r>
              <a:rPr lang="en-US" altLang="zh-TW" sz="2700" dirty="0" err="1">
                <a:latin typeface="Times New Roman" panose="02020603050405020304" pitchFamily="18" charset="0"/>
                <a:cs typeface="Times New Roman" panose="02020603050405020304" pitchFamily="18" charset="0"/>
              </a:rPr>
              <a:t>v.s</a:t>
            </a:r>
            <a:r>
              <a:rPr lang="en-US" altLang="zh-TW" sz="2700" dirty="0">
                <a:latin typeface="Times New Roman" panose="02020603050405020304" pitchFamily="18" charset="0"/>
                <a:cs typeface="Times New Roman" panose="02020603050405020304" pitchFamily="18" charset="0"/>
              </a:rPr>
              <a:t>. base model</a:t>
            </a:r>
            <a:r>
              <a:rPr lang="zh-TW" altLang="en-US" sz="2700" dirty="0">
                <a:latin typeface="Times New Roman" panose="02020603050405020304" pitchFamily="18" charset="0"/>
                <a:cs typeface="Times New Roman" panose="02020603050405020304" pitchFamily="18" charset="0"/>
              </a:rPr>
              <a:t> </a:t>
            </a:r>
            <a:r>
              <a:rPr lang="en-US" altLang="zh-TW" sz="2700" dirty="0" err="1">
                <a:latin typeface="Times New Roman" panose="02020603050405020304" pitchFamily="18" charset="0"/>
                <a:cs typeface="Times New Roman" panose="02020603050405020304" pitchFamily="18" charset="0"/>
              </a:rPr>
              <a:t>v.s</a:t>
            </a:r>
            <a:r>
              <a:rPr lang="en-US" altLang="zh-TW" sz="2700" dirty="0">
                <a:latin typeface="Times New Roman" panose="02020603050405020304" pitchFamily="18" charset="0"/>
                <a:cs typeface="Times New Roman" panose="02020603050405020304" pitchFamily="18" charset="0"/>
              </a:rPr>
              <a:t>. BERT </a:t>
            </a:r>
            <a:r>
              <a:rPr lang="en-US" altLang="zh-TW" sz="2700" dirty="0" err="1">
                <a:latin typeface="Times New Roman" panose="02020603050405020304" pitchFamily="18" charset="0"/>
                <a:cs typeface="Times New Roman" panose="02020603050405020304" pitchFamily="18" charset="0"/>
              </a:rPr>
              <a:t>v.s</a:t>
            </a:r>
            <a:r>
              <a:rPr lang="en-US" altLang="zh-TW" sz="2700" dirty="0">
                <a:latin typeface="Times New Roman" panose="02020603050405020304" pitchFamily="18" charset="0"/>
                <a:cs typeface="Times New Roman" panose="02020603050405020304" pitchFamily="18" charset="0"/>
              </a:rPr>
              <a:t>. </a:t>
            </a:r>
            <a:r>
              <a:rPr lang="en-US" altLang="zh-TW" sz="2700" dirty="0" err="1">
                <a:latin typeface="Times New Roman" panose="02020603050405020304" pitchFamily="18" charset="0"/>
                <a:cs typeface="Times New Roman" panose="02020603050405020304" pitchFamily="18" charset="0"/>
              </a:rPr>
              <a:t>Wazuh</a:t>
            </a:r>
            <a:br>
              <a:rPr lang="en-US" altLang="zh-TW" sz="36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Finetuned LLM beat baseline LLM from about 189%</a:t>
            </a:r>
            <a:br>
              <a:rPr lang="en-US" altLang="zh-TW" sz="3600" dirty="0">
                <a:latin typeface="Times New Roman" panose="02020603050405020304" pitchFamily="18" charset="0"/>
                <a:cs typeface="Times New Roman" panose="02020603050405020304" pitchFamily="18" charset="0"/>
              </a:rPr>
            </a:br>
            <a:endParaRPr lang="zh-TW" altLang="en-US" sz="3600" dirty="0"/>
          </a:p>
        </p:txBody>
      </p:sp>
      <p:sp>
        <p:nvSpPr>
          <p:cNvPr id="4" name="投影片編號版面配置區 3">
            <a:extLst>
              <a:ext uri="{FF2B5EF4-FFF2-40B4-BE49-F238E27FC236}">
                <a16:creationId xmlns:a16="http://schemas.microsoft.com/office/drawing/2014/main" id="{117EAF52-0322-4168-2D8E-EF27511191DA}"/>
              </a:ext>
            </a:extLst>
          </p:cNvPr>
          <p:cNvSpPr>
            <a:spLocks noGrp="1"/>
          </p:cNvSpPr>
          <p:nvPr>
            <p:ph type="sldNum" idx="12"/>
          </p:nvPr>
        </p:nvSpPr>
        <p:spPr>
          <a:xfrm>
            <a:off x="11609295" y="6217623"/>
            <a:ext cx="418916" cy="524800"/>
          </a:xfrm>
        </p:spPr>
        <p:txBody>
          <a:bodyPr>
            <a:normAutofit/>
          </a:bodyPr>
          <a:lstStyle/>
          <a:p>
            <a:fld id="{00000000-1234-1234-1234-123412341234}" type="slidenum">
              <a:rPr lang="en-US" altLang="zh-TW" smtClean="0"/>
              <a:pPr/>
              <a:t>34</a:t>
            </a:fld>
            <a:endParaRPr lang="zh-TW" altLang="en-US" dirty="0"/>
          </a:p>
        </p:txBody>
      </p:sp>
      <p:sp>
        <p:nvSpPr>
          <p:cNvPr id="16" name="文字版面配置區 2">
            <a:extLst>
              <a:ext uri="{FF2B5EF4-FFF2-40B4-BE49-F238E27FC236}">
                <a16:creationId xmlns:a16="http://schemas.microsoft.com/office/drawing/2014/main" id="{979BA80A-85BF-8E64-041F-37892984D355}"/>
              </a:ext>
            </a:extLst>
          </p:cNvPr>
          <p:cNvSpPr>
            <a:spLocks noGrp="1"/>
          </p:cNvSpPr>
          <p:nvPr>
            <p:ph type="body" idx="1"/>
          </p:nvPr>
        </p:nvSpPr>
        <p:spPr>
          <a:xfrm>
            <a:off x="7347581" y="1445675"/>
            <a:ext cx="4753091" cy="5171549"/>
          </a:xfrm>
        </p:spPr>
        <p:txBody>
          <a:bodyPr>
            <a:normAutofit/>
          </a:bodyPr>
          <a:lstStyle/>
          <a:p>
            <a:pPr marL="265113" indent="-265113"/>
            <a:r>
              <a:rPr lang="en-US" altLang="zh-TW" sz="2200" dirty="0">
                <a:latin typeface="Times New Roman" panose="02020603050405020304" pitchFamily="18" charset="0"/>
                <a:cs typeface="Times New Roman" panose="02020603050405020304" pitchFamily="18" charset="0"/>
              </a:rPr>
              <a:t>Finetuning can large improve base model Intent detection rate </a:t>
            </a:r>
            <a:br>
              <a:rPr lang="en-US" altLang="zh-TW" sz="22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(0.29 to 0.84)</a:t>
            </a:r>
          </a:p>
          <a:p>
            <a:pPr marL="628650" lvl="1" indent="-265113"/>
            <a:r>
              <a:rPr lang="en-US" altLang="zh-TW" sz="2000" dirty="0">
                <a:latin typeface="Times New Roman" panose="02020603050405020304" pitchFamily="18" charset="0"/>
                <a:cs typeface="Times New Roman" panose="02020603050405020304" pitchFamily="18" charset="0"/>
              </a:rPr>
              <a:t>Domain knowledge is needed</a:t>
            </a:r>
          </a:p>
          <a:p>
            <a:pPr marL="628650" lvl="1" indent="-265113"/>
            <a:r>
              <a:rPr lang="en-US" altLang="zh-TW" sz="2000" dirty="0">
                <a:latin typeface="Times New Roman" panose="02020603050405020304" pitchFamily="18" charset="0"/>
                <a:cs typeface="Times New Roman" panose="02020603050405020304" pitchFamily="18" charset="0"/>
              </a:rPr>
              <a:t>Can do other task but without lose many accuracy.</a:t>
            </a:r>
          </a:p>
          <a:p>
            <a:pPr marL="19065" indent="-265113"/>
            <a:endParaRPr lang="en-US" altLang="zh-TW" sz="2400" dirty="0">
              <a:latin typeface="Times New Roman" panose="02020603050405020304" pitchFamily="18" charset="0"/>
              <a:cs typeface="Times New Roman" panose="02020603050405020304" pitchFamily="18" charset="0"/>
            </a:endParaRPr>
          </a:p>
          <a:p>
            <a:pPr marL="19065" indent="-265113"/>
            <a:r>
              <a:rPr lang="en-US" altLang="zh-TW" sz="2200" dirty="0" err="1">
                <a:latin typeface="Times New Roman" panose="02020603050405020304" pitchFamily="18" charset="0"/>
                <a:cs typeface="Times New Roman" panose="02020603050405020304" pitchFamily="18" charset="0"/>
              </a:rPr>
              <a:t>SecBERT</a:t>
            </a:r>
            <a:r>
              <a:rPr lang="en-US" altLang="zh-TW" sz="2200" dirty="0">
                <a:latin typeface="Times New Roman" panose="02020603050405020304" pitchFamily="18" charset="0"/>
                <a:cs typeface="Times New Roman" panose="02020603050405020304" pitchFamily="18" charset="0"/>
              </a:rPr>
              <a:t> is worse after training</a:t>
            </a:r>
            <a:endParaRPr lang="en-US" altLang="zh-TW" sz="1800" dirty="0">
              <a:latin typeface="Times New Roman" panose="02020603050405020304" pitchFamily="18" charset="0"/>
              <a:cs typeface="Times New Roman" panose="02020603050405020304" pitchFamily="18" charset="0"/>
            </a:endParaRPr>
          </a:p>
          <a:p>
            <a:pPr marL="628650" lvl="1" indent="-265113"/>
            <a:r>
              <a:rPr lang="en-US" altLang="zh-TW" sz="2000" dirty="0">
                <a:latin typeface="Times New Roman" panose="02020603050405020304" pitchFamily="18" charset="0"/>
                <a:cs typeface="Times New Roman" panose="02020603050405020304" pitchFamily="18" charset="0"/>
              </a:rPr>
              <a:t>Task is sequence to Multi-label </a:t>
            </a:r>
          </a:p>
          <a:p>
            <a:pPr marL="628650" lvl="1" indent="-265113"/>
            <a:r>
              <a:rPr lang="en-US" altLang="zh-TW" sz="2000" dirty="0">
                <a:latin typeface="Times New Roman" panose="02020603050405020304" pitchFamily="18" charset="0"/>
                <a:cs typeface="Times New Roman" panose="02020603050405020304" pitchFamily="18" charset="0"/>
              </a:rPr>
              <a:t>Confuse on some similar command sequence but different tactics</a:t>
            </a:r>
          </a:p>
          <a:p>
            <a:pPr marL="0" indent="0">
              <a:buNone/>
            </a:pPr>
            <a:endParaRPr lang="en-US" altLang="zh-TW" sz="2400" dirty="0">
              <a:latin typeface="Times New Roman" panose="02020603050405020304" pitchFamily="18" charset="0"/>
              <a:cs typeface="Times New Roman" panose="02020603050405020304" pitchFamily="18" charset="0"/>
            </a:endParaRPr>
          </a:p>
          <a:p>
            <a:pPr marL="19065" indent="-265113"/>
            <a:r>
              <a:rPr lang="en-US" altLang="zh-TW" sz="2200" dirty="0" err="1">
                <a:latin typeface="Times New Roman" panose="02020603050405020304" pitchFamily="18" charset="0"/>
                <a:cs typeface="Times New Roman" panose="02020603050405020304" pitchFamily="18" charset="0"/>
              </a:rPr>
              <a:t>Wazuh</a:t>
            </a:r>
            <a:r>
              <a:rPr lang="en-US" altLang="zh-TW" sz="2200" dirty="0">
                <a:latin typeface="Times New Roman" panose="02020603050405020304" pitchFamily="18" charset="0"/>
                <a:cs typeface="Times New Roman" panose="02020603050405020304" pitchFamily="18" charset="0"/>
              </a:rPr>
              <a:t> is worst at mapping</a:t>
            </a:r>
          </a:p>
          <a:p>
            <a:pPr marL="628650" lvl="1" indent="-265113"/>
            <a:r>
              <a:rPr lang="en-US" altLang="zh-TW" sz="2000" dirty="0">
                <a:latin typeface="Times New Roman" panose="02020603050405020304" pitchFamily="18" charset="0"/>
                <a:cs typeface="Times New Roman" panose="02020603050405020304" pitchFamily="18" charset="0"/>
              </a:rPr>
              <a:t>Need extra manually rules</a:t>
            </a:r>
          </a:p>
          <a:p>
            <a:pPr marL="628650" lvl="1" indent="-265113"/>
            <a:r>
              <a:rPr lang="en-US" altLang="zh-TW" sz="2000" dirty="0">
                <a:latin typeface="Times New Roman" panose="02020603050405020304" pitchFamily="18" charset="0"/>
                <a:cs typeface="Times New Roman" panose="02020603050405020304" pitchFamily="18" charset="0"/>
              </a:rPr>
              <a:t>But still can not handle context-aware tactics.</a:t>
            </a:r>
            <a:endParaRPr lang="en-US" altLang="zh-TW" sz="2400" dirty="0">
              <a:latin typeface="Times New Roman" panose="02020603050405020304" pitchFamily="18" charset="0"/>
              <a:cs typeface="Times New Roman" panose="02020603050405020304" pitchFamily="18" charset="0"/>
            </a:endParaRPr>
          </a:p>
          <a:p>
            <a:pPr marL="628650" lvl="1" indent="-265113"/>
            <a:endParaRPr lang="en-US" altLang="zh-TW" sz="1600" dirty="0">
              <a:latin typeface="Times New Roman" panose="02020603050405020304" pitchFamily="18" charset="0"/>
              <a:cs typeface="Times New Roman" panose="02020603050405020304" pitchFamily="18" charset="0"/>
            </a:endParaRPr>
          </a:p>
          <a:p>
            <a:pPr marL="19065" indent="-265113"/>
            <a:endParaRPr lang="en-US" altLang="zh-TW" sz="2000"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B692311B-088C-3B6F-1089-C9FB49A927F6}"/>
              </a:ext>
            </a:extLst>
          </p:cNvPr>
          <p:cNvPicPr>
            <a:picLocks noChangeAspect="1"/>
          </p:cNvPicPr>
          <p:nvPr/>
        </p:nvPicPr>
        <p:blipFill>
          <a:blip r:embed="rId3"/>
          <a:stretch>
            <a:fillRect/>
          </a:stretch>
        </p:blipFill>
        <p:spPr>
          <a:xfrm>
            <a:off x="0" y="1543050"/>
            <a:ext cx="7182589" cy="4149401"/>
          </a:xfrm>
          <a:prstGeom prst="rect">
            <a:avLst/>
          </a:prstGeom>
        </p:spPr>
      </p:pic>
    </p:spTree>
    <p:extLst>
      <p:ext uri="{BB962C8B-B14F-4D97-AF65-F5344CB8AC3E}">
        <p14:creationId xmlns:p14="http://schemas.microsoft.com/office/powerpoint/2010/main" val="4178674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F203C-CE2C-3BA2-7A1C-AC8EAB889ED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E2A2719-E955-AB0A-C8A8-827CD7822451}"/>
              </a:ext>
            </a:extLst>
          </p:cNvPr>
          <p:cNvSpPr>
            <a:spLocks noGrp="1"/>
          </p:cNvSpPr>
          <p:nvPr>
            <p:ph type="title"/>
          </p:nvPr>
        </p:nvSpPr>
        <p:spPr>
          <a:xfrm>
            <a:off x="415600" y="288566"/>
            <a:ext cx="11502080" cy="908221"/>
          </a:xfrm>
        </p:spPr>
        <p:txBody>
          <a:bodyPr>
            <a:noAutofit/>
          </a:bodyPr>
          <a:lstStyle/>
          <a:p>
            <a:r>
              <a:rPr lang="en-US" altLang="zh-TW" sz="3200" dirty="0">
                <a:latin typeface="Times New Roman" panose="02020603050405020304" pitchFamily="18" charset="0"/>
                <a:cs typeface="Times New Roman" panose="02020603050405020304" pitchFamily="18" charset="0"/>
              </a:rPr>
              <a:t>Experiment Result:</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Intent-Strategy alignment</a:t>
            </a:r>
            <a:br>
              <a:rPr lang="en-US" altLang="zh-TW" sz="3600" dirty="0">
                <a:latin typeface="Times New Roman" panose="02020603050405020304" pitchFamily="18" charset="0"/>
                <a:cs typeface="Times New Roman" panose="02020603050405020304" pitchFamily="18" charset="0"/>
              </a:rPr>
            </a:br>
            <a:r>
              <a:rPr lang="en-US" altLang="zh-TW" sz="2000" dirty="0">
                <a:latin typeface="Times New Roman" panose="02020603050405020304" pitchFamily="18" charset="0"/>
                <a:cs typeface="Times New Roman" panose="02020603050405020304" pitchFamily="18" charset="0"/>
              </a:rPr>
              <a:t>Intent is helpful for strategy inference (score from 0.54 to 0.78)</a:t>
            </a:r>
            <a:endParaRPr lang="zh-TW" altLang="en-US" sz="36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3D2E0383-34E4-A9BA-CF0E-32C4C2DAC34A}"/>
              </a:ext>
            </a:extLst>
          </p:cNvPr>
          <p:cNvSpPr>
            <a:spLocks noGrp="1"/>
          </p:cNvSpPr>
          <p:nvPr>
            <p:ph type="sldNum" idx="12"/>
          </p:nvPr>
        </p:nvSpPr>
        <p:spPr/>
        <p:txBody>
          <a:bodyPr/>
          <a:lstStyle/>
          <a:p>
            <a:fld id="{00000000-1234-1234-1234-123412341234}" type="slidenum">
              <a:rPr lang="en-US" altLang="zh-TW" smtClean="0"/>
              <a:pPr/>
              <a:t>35</a:t>
            </a:fld>
            <a:endParaRPr lang="zh-TW" altLang="en-US" dirty="0"/>
          </a:p>
        </p:txBody>
      </p:sp>
      <p:sp>
        <p:nvSpPr>
          <p:cNvPr id="5" name="文字版面配置區 2">
            <a:extLst>
              <a:ext uri="{FF2B5EF4-FFF2-40B4-BE49-F238E27FC236}">
                <a16:creationId xmlns:a16="http://schemas.microsoft.com/office/drawing/2014/main" id="{0982DD5D-25E7-C15E-346D-1ADF8F5375D4}"/>
              </a:ext>
            </a:extLst>
          </p:cNvPr>
          <p:cNvSpPr txBox="1">
            <a:spLocks/>
          </p:cNvSpPr>
          <p:nvPr/>
        </p:nvSpPr>
        <p:spPr>
          <a:xfrm>
            <a:off x="7223934" y="1542104"/>
            <a:ext cx="4614661" cy="4977895"/>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265113" indent="-265113"/>
            <a:r>
              <a:rPr lang="en-US" altLang="zh-TW" sz="2200" dirty="0">
                <a:latin typeface="Times New Roman" panose="02020603050405020304" pitchFamily="18" charset="0"/>
                <a:cs typeface="Times New Roman" panose="02020603050405020304" pitchFamily="18" charset="0"/>
              </a:rPr>
              <a:t>Inference without intent degrades strategy and tool selection quality</a:t>
            </a:r>
          </a:p>
          <a:p>
            <a:pPr marL="625475" lvl="1" indent="-265113"/>
            <a:r>
              <a:rPr lang="en-US" altLang="zh-TW" sz="1800" dirty="0">
                <a:latin typeface="Times New Roman" panose="02020603050405020304" pitchFamily="18" charset="0"/>
                <a:cs typeface="Times New Roman" panose="02020603050405020304" pitchFamily="18" charset="0"/>
              </a:rPr>
              <a:t>LLMs are generally intent-aware</a:t>
            </a:r>
          </a:p>
          <a:p>
            <a:pPr marL="15890" indent="-265113"/>
            <a:endParaRPr lang="en-US" altLang="zh-TW" sz="2200" dirty="0">
              <a:latin typeface="Times New Roman" panose="02020603050405020304" pitchFamily="18" charset="0"/>
              <a:cs typeface="Times New Roman" panose="02020603050405020304" pitchFamily="18" charset="0"/>
            </a:endParaRPr>
          </a:p>
          <a:p>
            <a:pPr marL="15890" indent="-265113"/>
            <a:r>
              <a:rPr lang="en-US" altLang="zh-TW" sz="2200" dirty="0">
                <a:latin typeface="Times New Roman" panose="02020603050405020304" pitchFamily="18" charset="0"/>
                <a:cs typeface="Times New Roman" panose="02020603050405020304" pitchFamily="18" charset="0"/>
              </a:rPr>
              <a:t>SFT further increase alignment score</a:t>
            </a:r>
            <a:r>
              <a:rPr lang="zh-TW" altLang="en-US" sz="2200" dirty="0">
                <a:latin typeface="Times New Roman" panose="02020603050405020304" pitchFamily="18" charset="0"/>
                <a:cs typeface="Times New Roman" panose="02020603050405020304" pitchFamily="18" charset="0"/>
              </a:rPr>
              <a:t> </a:t>
            </a:r>
            <a:endParaRPr lang="en-US" altLang="zh-TW" sz="2200" dirty="0">
              <a:latin typeface="Times New Roman" panose="02020603050405020304" pitchFamily="18" charset="0"/>
              <a:cs typeface="Times New Roman" panose="02020603050405020304" pitchFamily="18" charset="0"/>
            </a:endParaRPr>
          </a:p>
          <a:p>
            <a:pPr marL="625475" lvl="1" indent="-265113"/>
            <a:r>
              <a:rPr lang="en-US" altLang="zh-TW" sz="1800" dirty="0">
                <a:latin typeface="Times New Roman" panose="02020603050405020304" pitchFamily="18" charset="0"/>
                <a:cs typeface="Times New Roman" panose="02020603050405020304" pitchFamily="18" charset="0"/>
              </a:rPr>
              <a:t>Internalized inference skills from teacher</a:t>
            </a:r>
          </a:p>
          <a:p>
            <a:pPr marL="625475" lvl="1" indent="-265113"/>
            <a:r>
              <a:rPr lang="en-US" altLang="zh-TW" sz="1800" dirty="0">
                <a:latin typeface="Times New Roman" panose="02020603050405020304" pitchFamily="18" charset="0"/>
                <a:cs typeface="Times New Roman" panose="02020603050405020304" pitchFamily="18" charset="0"/>
              </a:rPr>
              <a:t>Semantic intent and Deployment </a:t>
            </a:r>
            <a:r>
              <a:rPr lang="en-US" altLang="zh-TW" sz="1800" dirty="0" err="1">
                <a:latin typeface="Times New Roman" panose="02020603050405020304" pitchFamily="18" charset="0"/>
                <a:cs typeface="Times New Roman" panose="02020603050405020304" pitchFamily="18" charset="0"/>
              </a:rPr>
              <a:t>trategy</a:t>
            </a:r>
            <a:r>
              <a:rPr lang="en-US" altLang="zh-TW" sz="1800" dirty="0">
                <a:latin typeface="Times New Roman" panose="02020603050405020304" pitchFamily="18" charset="0"/>
                <a:cs typeface="Times New Roman" panose="02020603050405020304" pitchFamily="18" charset="0"/>
              </a:rPr>
              <a:t> is much match.</a:t>
            </a:r>
          </a:p>
          <a:p>
            <a:pPr marL="625475" lvl="1" indent="-265113"/>
            <a:endParaRPr lang="en-US" altLang="zh-TW" sz="1800" dirty="0">
              <a:latin typeface="Times New Roman" panose="02020603050405020304" pitchFamily="18" charset="0"/>
              <a:cs typeface="Times New Roman" panose="02020603050405020304" pitchFamily="18" charset="0"/>
            </a:endParaRPr>
          </a:p>
          <a:p>
            <a:pPr marL="15890" indent="-265113"/>
            <a:endParaRPr lang="en-US" altLang="zh-TW" sz="26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5C9181A2-6405-DE64-70DA-EC120310E829}"/>
              </a:ext>
            </a:extLst>
          </p:cNvPr>
          <p:cNvPicPr>
            <a:picLocks noChangeAspect="1"/>
          </p:cNvPicPr>
          <p:nvPr/>
        </p:nvPicPr>
        <p:blipFill>
          <a:blip r:embed="rId3"/>
          <a:stretch>
            <a:fillRect/>
          </a:stretch>
        </p:blipFill>
        <p:spPr>
          <a:xfrm>
            <a:off x="531336" y="1220304"/>
            <a:ext cx="6614527" cy="5522119"/>
          </a:xfrm>
          <a:prstGeom prst="rect">
            <a:avLst/>
          </a:prstGeom>
        </p:spPr>
      </p:pic>
    </p:spTree>
    <p:extLst>
      <p:ext uri="{BB962C8B-B14F-4D97-AF65-F5344CB8AC3E}">
        <p14:creationId xmlns:p14="http://schemas.microsoft.com/office/powerpoint/2010/main" val="2985519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AAFC9-170A-125C-627A-B2FBF3E50B8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8D475D2-BF8B-41D8-CCAB-C76BEDC81097}"/>
              </a:ext>
            </a:extLst>
          </p:cNvPr>
          <p:cNvSpPr>
            <a:spLocks noGrp="1"/>
          </p:cNvSpPr>
          <p:nvPr>
            <p:ph type="title"/>
          </p:nvPr>
        </p:nvSpPr>
        <p:spPr>
          <a:xfrm>
            <a:off x="667411" y="251503"/>
            <a:ext cx="11360800" cy="843868"/>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Experiment Result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 Reward Model Training</a:t>
            </a:r>
            <a:br>
              <a:rPr lang="en-US" altLang="zh-TW" sz="3600" dirty="0">
                <a:latin typeface="Times New Roman" panose="02020603050405020304" pitchFamily="18" charset="0"/>
                <a:cs typeface="Times New Roman" panose="02020603050405020304" pitchFamily="18" charset="0"/>
              </a:rPr>
            </a:br>
            <a:endParaRPr lang="zh-TW" altLang="en-US" sz="3100" dirty="0"/>
          </a:p>
        </p:txBody>
      </p:sp>
      <p:sp>
        <p:nvSpPr>
          <p:cNvPr id="4" name="投影片編號版面配置區 3">
            <a:extLst>
              <a:ext uri="{FF2B5EF4-FFF2-40B4-BE49-F238E27FC236}">
                <a16:creationId xmlns:a16="http://schemas.microsoft.com/office/drawing/2014/main" id="{E036742B-387A-7735-0C30-B9901071B12C}"/>
              </a:ext>
            </a:extLst>
          </p:cNvPr>
          <p:cNvSpPr>
            <a:spLocks noGrp="1"/>
          </p:cNvSpPr>
          <p:nvPr>
            <p:ph type="sldNum" idx="12"/>
          </p:nvPr>
        </p:nvSpPr>
        <p:spPr/>
        <p:txBody>
          <a:bodyPr/>
          <a:lstStyle/>
          <a:p>
            <a:fld id="{00000000-1234-1234-1234-123412341234}" type="slidenum">
              <a:rPr lang="en-US" altLang="zh-TW" smtClean="0"/>
              <a:pPr/>
              <a:t>36</a:t>
            </a:fld>
            <a:endParaRPr lang="zh-TW" altLang="en-US" dirty="0"/>
          </a:p>
        </p:txBody>
      </p:sp>
      <p:pic>
        <p:nvPicPr>
          <p:cNvPr id="5" name="圖片 4">
            <a:extLst>
              <a:ext uri="{FF2B5EF4-FFF2-40B4-BE49-F238E27FC236}">
                <a16:creationId xmlns:a16="http://schemas.microsoft.com/office/drawing/2014/main" id="{B2D5196A-F29B-A5FF-4A05-D77DE5684B99}"/>
              </a:ext>
            </a:extLst>
          </p:cNvPr>
          <p:cNvPicPr>
            <a:picLocks noChangeAspect="1"/>
          </p:cNvPicPr>
          <p:nvPr/>
        </p:nvPicPr>
        <p:blipFill>
          <a:blip r:embed="rId3"/>
          <a:stretch>
            <a:fillRect/>
          </a:stretch>
        </p:blipFill>
        <p:spPr>
          <a:xfrm>
            <a:off x="102358" y="1417531"/>
            <a:ext cx="7133580" cy="4477932"/>
          </a:xfrm>
          <a:prstGeom prst="rect">
            <a:avLst/>
          </a:prstGeom>
        </p:spPr>
      </p:pic>
      <p:sp>
        <p:nvSpPr>
          <p:cNvPr id="6" name="文字版面配置區 2">
            <a:extLst>
              <a:ext uri="{FF2B5EF4-FFF2-40B4-BE49-F238E27FC236}">
                <a16:creationId xmlns:a16="http://schemas.microsoft.com/office/drawing/2014/main" id="{6E7991B1-786C-EB1F-1B33-2FE7E2A1B211}"/>
              </a:ext>
            </a:extLst>
          </p:cNvPr>
          <p:cNvSpPr txBox="1">
            <a:spLocks/>
          </p:cNvSpPr>
          <p:nvPr/>
        </p:nvSpPr>
        <p:spPr>
          <a:xfrm>
            <a:off x="7413550" y="961376"/>
            <a:ext cx="4614661" cy="5938519"/>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361950" indent="-361950"/>
            <a:r>
              <a:rPr lang="en-US" altLang="zh-TW" sz="2400" dirty="0">
                <a:latin typeface="Times New Roman" panose="02020603050405020304" pitchFamily="18" charset="0"/>
                <a:cs typeface="Times New Roman" panose="02020603050405020304" pitchFamily="18" charset="0"/>
              </a:rPr>
              <a:t>Loss converges around step 30</a:t>
            </a:r>
          </a:p>
          <a:p>
            <a:pPr marL="714375" lvl="1" indent="-352425"/>
            <a:r>
              <a:rPr lang="en-US" altLang="zh-TW" sz="1900" dirty="0">
                <a:latin typeface="Times New Roman" panose="02020603050405020304" pitchFamily="18" charset="0"/>
                <a:cs typeface="Times New Roman" panose="02020603050405020304" pitchFamily="18" charset="0"/>
              </a:rPr>
              <a:t>Model fits the (command, primitive) to outcome mapping cleanly</a:t>
            </a:r>
          </a:p>
          <a:p>
            <a:pPr marL="714375" lvl="1" indent="-352425"/>
            <a:endParaRPr lang="en-US" altLang="zh-TW" dirty="0">
              <a:latin typeface="Times New Roman" panose="02020603050405020304" pitchFamily="18" charset="0"/>
              <a:cs typeface="Times New Roman" panose="02020603050405020304" pitchFamily="18" charset="0"/>
            </a:endParaRPr>
          </a:p>
          <a:p>
            <a:pPr marL="285750" indent="-285750"/>
            <a:r>
              <a:rPr lang="en-US" altLang="zh-TW" sz="2400" dirty="0">
                <a:latin typeface="Times New Roman" panose="02020603050405020304" pitchFamily="18" charset="0"/>
                <a:cs typeface="Times New Roman" panose="02020603050405020304" pitchFamily="18" charset="0"/>
              </a:rPr>
              <a:t>Per-primitive rewards spread out and settle into a stable ordering</a:t>
            </a:r>
          </a:p>
          <a:p>
            <a:pPr marL="714375" lvl="1" indent="-352425"/>
            <a:r>
              <a:rPr lang="en-US" altLang="zh-TW" sz="1800" dirty="0">
                <a:latin typeface="Times New Roman" panose="02020603050405020304" pitchFamily="18" charset="0"/>
                <a:cs typeface="Times New Roman" panose="02020603050405020304" pitchFamily="18" charset="0"/>
              </a:rPr>
              <a:t>Distinguishable values across primitives</a:t>
            </a:r>
          </a:p>
          <a:p>
            <a:pPr marL="714375" lvl="1" indent="-352425"/>
            <a:r>
              <a:rPr lang="en-US" altLang="zh-TW" sz="1800" dirty="0">
                <a:latin typeface="Times New Roman" panose="02020603050405020304" pitchFamily="18" charset="0"/>
                <a:cs typeface="Times New Roman" panose="02020603050405020304" pitchFamily="18" charset="0"/>
              </a:rPr>
              <a:t>Usable preference signal extracted</a:t>
            </a:r>
          </a:p>
          <a:p>
            <a:pPr marL="285750" indent="-285750"/>
            <a:endParaRPr lang="en-US" altLang="zh-TW" dirty="0">
              <a:latin typeface="Times New Roman" panose="02020603050405020304" pitchFamily="18" charset="0"/>
              <a:cs typeface="Times New Roman" panose="02020603050405020304" pitchFamily="18" charset="0"/>
            </a:endParaRPr>
          </a:p>
          <a:p>
            <a:pPr marL="285750" indent="-285750"/>
            <a:r>
              <a:rPr lang="en-US" altLang="zh-TW" sz="2200" dirty="0">
                <a:latin typeface="Times New Roman" panose="02020603050405020304" pitchFamily="18" charset="0"/>
                <a:cs typeface="Times New Roman" panose="02020603050405020304" pitchFamily="18" charset="0"/>
              </a:rPr>
              <a:t>Clear separation between highest- and lowest-ranked primitives</a:t>
            </a:r>
          </a:p>
          <a:p>
            <a:pPr marL="714375" lvl="1" indent="-352425" defTabSz="714375"/>
            <a:r>
              <a:rPr lang="en-US" altLang="zh-TW" sz="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Relative order Sufficient for GRPO’s credit assignment</a:t>
            </a:r>
          </a:p>
          <a:p>
            <a:pPr marL="715963" lvl="1" indent="-342900"/>
            <a:endParaRPr lang="en-US" altLang="zh-TW"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420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2781F9-5DD0-D265-C4DB-6D34B692013E}"/>
              </a:ext>
            </a:extLst>
          </p:cNvPr>
          <p:cNvSpPr>
            <a:spLocks noGrp="1"/>
          </p:cNvSpPr>
          <p:nvPr>
            <p:ph type="title"/>
          </p:nvPr>
        </p:nvSpPr>
        <p:spPr>
          <a:xfrm>
            <a:off x="415600" y="115577"/>
            <a:ext cx="11360800" cy="936590"/>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Experiment Result : GRPO Training</a:t>
            </a:r>
            <a:br>
              <a:rPr lang="en-US" altLang="zh-TW" sz="3600" dirty="0">
                <a:latin typeface="Times New Roman" panose="02020603050405020304" pitchFamily="18" charset="0"/>
                <a:cs typeface="Times New Roman" panose="02020603050405020304" pitchFamily="18" charset="0"/>
              </a:rPr>
            </a:br>
            <a:endParaRPr lang="zh-TW" altLang="en-US" sz="36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95DFC2AC-6E5C-D628-4790-68C832D0F744}"/>
              </a:ext>
            </a:extLst>
          </p:cNvPr>
          <p:cNvSpPr>
            <a:spLocks noGrp="1"/>
          </p:cNvSpPr>
          <p:nvPr>
            <p:ph type="sldNum" idx="12"/>
          </p:nvPr>
        </p:nvSpPr>
        <p:spPr/>
        <p:txBody>
          <a:bodyPr/>
          <a:lstStyle/>
          <a:p>
            <a:fld id="{00000000-1234-1234-1234-123412341234}" type="slidenum">
              <a:rPr lang="en-US" altLang="zh-TW" smtClean="0"/>
              <a:pPr/>
              <a:t>37</a:t>
            </a:fld>
            <a:endParaRPr lang="zh-TW" altLang="en-US" dirty="0"/>
          </a:p>
        </p:txBody>
      </p:sp>
      <p:sp>
        <p:nvSpPr>
          <p:cNvPr id="7" name="文字版面配置區 2">
            <a:extLst>
              <a:ext uri="{FF2B5EF4-FFF2-40B4-BE49-F238E27FC236}">
                <a16:creationId xmlns:a16="http://schemas.microsoft.com/office/drawing/2014/main" id="{771D7E08-1588-D5D3-BEE3-34872BE4A1B1}"/>
              </a:ext>
            </a:extLst>
          </p:cNvPr>
          <p:cNvSpPr txBox="1">
            <a:spLocks/>
          </p:cNvSpPr>
          <p:nvPr/>
        </p:nvSpPr>
        <p:spPr>
          <a:xfrm>
            <a:off x="7376156" y="1186776"/>
            <a:ext cx="4614661" cy="5478074"/>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342900" indent="-342900"/>
            <a:endParaRPr lang="en-US" altLang="zh-TW" sz="2000" dirty="0">
              <a:latin typeface="Times New Roman" panose="02020603050405020304" pitchFamily="18" charset="0"/>
              <a:cs typeface="Times New Roman" panose="02020603050405020304" pitchFamily="18" charset="0"/>
            </a:endParaRPr>
          </a:p>
        </p:txBody>
      </p:sp>
      <p:sp>
        <p:nvSpPr>
          <p:cNvPr id="8" name="文字版面配置區 2">
            <a:extLst>
              <a:ext uri="{FF2B5EF4-FFF2-40B4-BE49-F238E27FC236}">
                <a16:creationId xmlns:a16="http://schemas.microsoft.com/office/drawing/2014/main" id="{890EE551-BEF6-A839-0279-576E31806589}"/>
              </a:ext>
            </a:extLst>
          </p:cNvPr>
          <p:cNvSpPr txBox="1">
            <a:spLocks/>
          </p:cNvSpPr>
          <p:nvPr/>
        </p:nvSpPr>
        <p:spPr>
          <a:xfrm>
            <a:off x="7226854" y="1154350"/>
            <a:ext cx="4763963" cy="5478074"/>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TW" sz="2000" dirty="0">
              <a:latin typeface="Times New Roman" panose="02020603050405020304" pitchFamily="18" charset="0"/>
              <a:cs typeface="Times New Roman" panose="02020603050405020304" pitchFamily="18" charset="0"/>
            </a:endParaRPr>
          </a:p>
          <a:p>
            <a:pPr marL="109553" indent="-342900"/>
            <a:endParaRPr lang="en-US" altLang="zh-TW" sz="2000" dirty="0">
              <a:latin typeface="Times New Roman" panose="02020603050405020304" pitchFamily="18" charset="0"/>
              <a:cs typeface="Times New Roman" panose="02020603050405020304" pitchFamily="18" charset="0"/>
            </a:endParaRPr>
          </a:p>
          <a:p>
            <a:pPr marL="719138" lvl="1" indent="-342900"/>
            <a:endParaRPr lang="en-US" altLang="zh-TW" sz="1600" dirty="0">
              <a:latin typeface="Times New Roman" panose="02020603050405020304" pitchFamily="18" charset="0"/>
              <a:cs typeface="Times New Roman" panose="02020603050405020304" pitchFamily="18" charset="0"/>
            </a:endParaRPr>
          </a:p>
        </p:txBody>
      </p:sp>
      <p:pic>
        <p:nvPicPr>
          <p:cNvPr id="17" name="圖片 16">
            <a:extLst>
              <a:ext uri="{FF2B5EF4-FFF2-40B4-BE49-F238E27FC236}">
                <a16:creationId xmlns:a16="http://schemas.microsoft.com/office/drawing/2014/main" id="{D557E55F-0723-A8A0-EDC1-53C197E72922}"/>
              </a:ext>
            </a:extLst>
          </p:cNvPr>
          <p:cNvPicPr>
            <a:picLocks noChangeAspect="1"/>
          </p:cNvPicPr>
          <p:nvPr/>
        </p:nvPicPr>
        <p:blipFill>
          <a:blip r:embed="rId3"/>
          <a:stretch>
            <a:fillRect/>
          </a:stretch>
        </p:blipFill>
        <p:spPr>
          <a:xfrm>
            <a:off x="258745" y="1719618"/>
            <a:ext cx="6841176" cy="4060210"/>
          </a:xfrm>
          <a:prstGeom prst="rect">
            <a:avLst/>
          </a:prstGeom>
        </p:spPr>
      </p:pic>
      <p:sp>
        <p:nvSpPr>
          <p:cNvPr id="4" name="文字版面配置區 2">
            <a:extLst>
              <a:ext uri="{FF2B5EF4-FFF2-40B4-BE49-F238E27FC236}">
                <a16:creationId xmlns:a16="http://schemas.microsoft.com/office/drawing/2014/main" id="{C41C3821-F966-F95B-1DB6-118284E5DC5E}"/>
              </a:ext>
            </a:extLst>
          </p:cNvPr>
          <p:cNvSpPr txBox="1">
            <a:spLocks/>
          </p:cNvSpPr>
          <p:nvPr/>
        </p:nvSpPr>
        <p:spPr>
          <a:xfrm>
            <a:off x="7413550" y="961376"/>
            <a:ext cx="4614661" cy="5938519"/>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104790" indent="-361950"/>
            <a:endParaRPr lang="en-US" altLang="zh-TW" sz="2400" dirty="0">
              <a:latin typeface="Times New Roman" panose="02020603050405020304" pitchFamily="18" charset="0"/>
              <a:cs typeface="Times New Roman" panose="02020603050405020304" pitchFamily="18" charset="0"/>
            </a:endParaRPr>
          </a:p>
          <a:p>
            <a:pPr marL="361950" indent="-361950"/>
            <a:r>
              <a:rPr lang="en-US" altLang="zh-TW" sz="2200" dirty="0">
                <a:latin typeface="Times New Roman" panose="02020603050405020304" pitchFamily="18" charset="0"/>
                <a:cs typeface="Times New Roman" panose="02020603050405020304" pitchFamily="18" charset="0"/>
              </a:rPr>
              <a:t>Consistent primitive distribution as RM but not collapsed</a:t>
            </a:r>
          </a:p>
          <a:p>
            <a:pPr marL="714375" lvl="1" indent="-361950"/>
            <a:r>
              <a:rPr lang="en-US" altLang="zh-TW" sz="2000" dirty="0">
                <a:latin typeface="Times New Roman" panose="02020603050405020304" pitchFamily="18" charset="0"/>
                <a:cs typeface="Times New Roman" panose="02020603050405020304" pitchFamily="18" charset="0"/>
              </a:rPr>
              <a:t>Learned how to choose strategy to best affect attacker due to different intent and command sequence</a:t>
            </a:r>
          </a:p>
          <a:p>
            <a:pPr marL="714375" lvl="1" indent="-361950"/>
            <a:br>
              <a:rPr lang="en-US" altLang="zh-TW" sz="2000" dirty="0">
                <a:latin typeface="Times New Roman" panose="02020603050405020304" pitchFamily="18" charset="0"/>
                <a:cs typeface="Times New Roman" panose="02020603050405020304" pitchFamily="18" charset="0"/>
              </a:rPr>
            </a:br>
            <a:endParaRPr lang="en-US" altLang="zh-TW" sz="2200" dirty="0">
              <a:latin typeface="Times New Roman" panose="02020603050405020304" pitchFamily="18" charset="0"/>
              <a:cs typeface="Times New Roman" panose="02020603050405020304" pitchFamily="18" charset="0"/>
            </a:endParaRPr>
          </a:p>
          <a:p>
            <a:pPr marL="104790" indent="-352425" defTabSz="714375"/>
            <a:r>
              <a:rPr lang="en-US" altLang="zh-TW" sz="2200" dirty="0">
                <a:latin typeface="Times New Roman" panose="02020603050405020304" pitchFamily="18" charset="0"/>
                <a:cs typeface="Times New Roman" panose="02020603050405020304" pitchFamily="18" charset="0"/>
              </a:rPr>
              <a:t>Two-stage pipeline as designed</a:t>
            </a:r>
          </a:p>
          <a:p>
            <a:pPr marL="714375" lvl="1" indent="-352425" defTabSz="714375"/>
            <a:r>
              <a:rPr lang="en-US" altLang="zh-TW" sz="1800" dirty="0">
                <a:latin typeface="Times New Roman" panose="02020603050405020304" pitchFamily="18" charset="0"/>
                <a:cs typeface="Times New Roman" panose="02020603050405020304" pitchFamily="18" charset="0"/>
              </a:rPr>
              <a:t>SFT: learned intent and strategy mapping</a:t>
            </a:r>
          </a:p>
          <a:p>
            <a:pPr marL="714375" lvl="1" indent="-352425" defTabSz="714375"/>
            <a:r>
              <a:rPr lang="en-US" altLang="zh-TW" sz="1800" dirty="0">
                <a:latin typeface="Times New Roman" panose="02020603050405020304" pitchFamily="18" charset="0"/>
                <a:cs typeface="Times New Roman" panose="02020603050405020304" pitchFamily="18" charset="0"/>
              </a:rPr>
              <a:t>GRPO: shift toward effective strategy</a:t>
            </a:r>
          </a:p>
        </p:txBody>
      </p:sp>
    </p:spTree>
    <p:extLst>
      <p:ext uri="{BB962C8B-B14F-4D97-AF65-F5344CB8AC3E}">
        <p14:creationId xmlns:p14="http://schemas.microsoft.com/office/powerpoint/2010/main" val="2570323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16F17B-B392-B45B-3D2C-88314476CD2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1F4E079-2410-9701-40EC-CC6FE4F3122F}"/>
              </a:ext>
            </a:extLst>
          </p:cNvPr>
          <p:cNvSpPr>
            <a:spLocks noGrp="1"/>
          </p:cNvSpPr>
          <p:nvPr>
            <p:ph type="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Conclusion</a:t>
            </a:r>
            <a:endParaRPr lang="zh-TW" altLang="en-US" dirty="0"/>
          </a:p>
        </p:txBody>
      </p:sp>
      <p:sp>
        <p:nvSpPr>
          <p:cNvPr id="7" name="Google Shape;464;p52">
            <a:extLst>
              <a:ext uri="{FF2B5EF4-FFF2-40B4-BE49-F238E27FC236}">
                <a16:creationId xmlns:a16="http://schemas.microsoft.com/office/drawing/2014/main" id="{7A23962F-A6B8-8E87-0CA9-EA779B48DA42}"/>
              </a:ext>
            </a:extLst>
          </p:cNvPr>
          <p:cNvSpPr txBox="1">
            <a:spLocks/>
          </p:cNvSpPr>
          <p:nvPr/>
        </p:nvSpPr>
        <p:spPr>
          <a:xfrm>
            <a:off x="302386" y="1106231"/>
            <a:ext cx="11587228" cy="533014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66797" indent="-457200">
              <a:lnSpc>
                <a:spcPct val="200000"/>
              </a:lnSpc>
              <a:spcBef>
                <a:spcPts val="0"/>
              </a:spcBef>
              <a:buClr>
                <a:schemeClr val="dk1"/>
              </a:buClr>
              <a:buSzPts val="1200"/>
              <a:buFont typeface="Wingdings" panose="05000000000000000000" pitchFamily="2" charset="2"/>
              <a:buChar char="l"/>
            </a:pPr>
            <a:endParaRPr lang="en-US" altLang="zh-TW"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投影片編號版面配置區 2">
            <a:extLst>
              <a:ext uri="{FF2B5EF4-FFF2-40B4-BE49-F238E27FC236}">
                <a16:creationId xmlns:a16="http://schemas.microsoft.com/office/drawing/2014/main" id="{C32BE0EC-024B-7098-54E5-D8AB07EAD85F}"/>
              </a:ext>
            </a:extLst>
          </p:cNvPr>
          <p:cNvSpPr>
            <a:spLocks noGrp="1"/>
          </p:cNvSpPr>
          <p:nvPr>
            <p:ph type="sldNum" idx="12"/>
          </p:nvPr>
        </p:nvSpPr>
        <p:spPr/>
        <p:txBody>
          <a:bodyPr/>
          <a:lstStyle/>
          <a:p>
            <a:fld id="{00000000-1234-1234-1234-123412341234}" type="slidenum">
              <a:rPr lang="en-US" altLang="zh-TW" smtClean="0"/>
              <a:pPr/>
              <a:t>38</a:t>
            </a:fld>
            <a:endParaRPr lang="zh-TW" altLang="en-US" dirty="0"/>
          </a:p>
        </p:txBody>
      </p:sp>
    </p:spTree>
    <p:extLst>
      <p:ext uri="{BB962C8B-B14F-4D97-AF65-F5344CB8AC3E}">
        <p14:creationId xmlns:p14="http://schemas.microsoft.com/office/powerpoint/2010/main" val="2594559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21B0B4-3561-4061-8E0B-656ED1050E3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76FA21C-D5F8-C06A-5A0C-2A2A045BDD80}"/>
              </a:ext>
            </a:extLst>
          </p:cNvPr>
          <p:cNvSpPr>
            <a:spLocks noGrp="1"/>
          </p:cNvSpPr>
          <p:nvPr>
            <p:ph type="title"/>
          </p:nvPr>
        </p:nvSpPr>
        <p:spPr>
          <a:xfrm>
            <a:off x="415600" y="197775"/>
            <a:ext cx="11360800" cy="934833"/>
          </a:xfrm>
        </p:spPr>
        <p:txBody>
          <a:bodyPr>
            <a:normAutofit fontScale="90000"/>
          </a:bodyPr>
          <a:lstStyle/>
          <a:p>
            <a:r>
              <a:rPr lang="en-US" altLang="zh-TW" sz="4000" dirty="0">
                <a:latin typeface="Times New Roman" panose="02020603050405020304" pitchFamily="18" charset="0"/>
                <a:cs typeface="Times New Roman" panose="02020603050405020304" pitchFamily="18" charset="0"/>
              </a:rPr>
              <a:t>Experiment Result – Commands count per episode</a:t>
            </a:r>
            <a:br>
              <a:rPr lang="en-US" altLang="zh-TW" sz="36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a:t>
            </a:r>
            <a:endParaRPr lang="zh-TW" altLang="en-US" sz="3600" dirty="0"/>
          </a:p>
        </p:txBody>
      </p:sp>
      <p:sp>
        <p:nvSpPr>
          <p:cNvPr id="4" name="投影片編號版面配置區 3">
            <a:extLst>
              <a:ext uri="{FF2B5EF4-FFF2-40B4-BE49-F238E27FC236}">
                <a16:creationId xmlns:a16="http://schemas.microsoft.com/office/drawing/2014/main" id="{E90D41B6-8838-47C0-156F-2FA72643D716}"/>
              </a:ext>
            </a:extLst>
          </p:cNvPr>
          <p:cNvSpPr>
            <a:spLocks noGrp="1"/>
          </p:cNvSpPr>
          <p:nvPr>
            <p:ph type="sldNum" idx="12"/>
          </p:nvPr>
        </p:nvSpPr>
        <p:spPr/>
        <p:txBody>
          <a:bodyPr/>
          <a:lstStyle/>
          <a:p>
            <a:fld id="{00000000-1234-1234-1234-123412341234}" type="slidenum">
              <a:rPr lang="en-US" altLang="zh-TW" smtClean="0"/>
              <a:pPr/>
              <a:t>39</a:t>
            </a:fld>
            <a:endParaRPr lang="zh-TW" altLang="en-US" dirty="0"/>
          </a:p>
        </p:txBody>
      </p:sp>
      <p:sp>
        <p:nvSpPr>
          <p:cNvPr id="5" name="文字版面配置區 2">
            <a:extLst>
              <a:ext uri="{FF2B5EF4-FFF2-40B4-BE49-F238E27FC236}">
                <a16:creationId xmlns:a16="http://schemas.microsoft.com/office/drawing/2014/main" id="{4FD0E716-82BA-9815-EDC7-95383006B610}"/>
              </a:ext>
            </a:extLst>
          </p:cNvPr>
          <p:cNvSpPr txBox="1">
            <a:spLocks/>
          </p:cNvSpPr>
          <p:nvPr/>
        </p:nvSpPr>
        <p:spPr>
          <a:xfrm>
            <a:off x="7376156" y="726332"/>
            <a:ext cx="4614661" cy="5938519"/>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TW" sz="2600" dirty="0">
              <a:latin typeface="Times New Roman" panose="02020603050405020304" pitchFamily="18" charset="0"/>
              <a:cs typeface="Times New Roman" panose="02020603050405020304" pitchFamily="18" charset="0"/>
            </a:endParaRPr>
          </a:p>
          <a:p>
            <a:pPr marL="20653" indent="-285750"/>
            <a:r>
              <a:rPr lang="en-US" altLang="zh-TW" sz="2000" dirty="0">
                <a:latin typeface="Times New Roman" panose="02020603050405020304" pitchFamily="18" charset="0"/>
                <a:cs typeface="Times New Roman" panose="02020603050405020304" pitchFamily="18" charset="0"/>
              </a:rPr>
              <a:t>Average session length</a:t>
            </a:r>
          </a:p>
          <a:p>
            <a:pPr marL="630238" lvl="1" indent="-285750"/>
            <a:r>
              <a:rPr lang="en-US" altLang="zh-TW" sz="1800" dirty="0">
                <a:latin typeface="Times New Roman" panose="02020603050405020304" pitchFamily="18" charset="0"/>
                <a:cs typeface="Times New Roman" panose="02020603050405020304" pitchFamily="18" charset="0"/>
              </a:rPr>
              <a:t>SFT+GRPO: 23.66</a:t>
            </a:r>
          </a:p>
          <a:p>
            <a:pPr marL="630238" lvl="1" indent="-285750"/>
            <a:r>
              <a:rPr lang="en-US" altLang="zh-TW" sz="1800" dirty="0">
                <a:latin typeface="Times New Roman" panose="02020603050405020304" pitchFamily="18" charset="0"/>
                <a:cs typeface="Times New Roman" panose="02020603050405020304" pitchFamily="18" charset="0"/>
              </a:rPr>
              <a:t>SFT: 27.88</a:t>
            </a:r>
          </a:p>
          <a:p>
            <a:pPr marL="630238" lvl="1" indent="-285750"/>
            <a:r>
              <a:rPr lang="en-US" altLang="zh-TW" sz="1800" dirty="0">
                <a:latin typeface="Times New Roman" panose="02020603050405020304" pitchFamily="18" charset="0"/>
                <a:cs typeface="Times New Roman" panose="02020603050405020304" pitchFamily="18" charset="0"/>
              </a:rPr>
              <a:t>GPT-5o (Aware): 29.26</a:t>
            </a:r>
          </a:p>
          <a:p>
            <a:pPr marL="630238" lvl="1" indent="-285750"/>
            <a:r>
              <a:rPr lang="en-US" altLang="zh-TW" sz="1800" dirty="0">
                <a:latin typeface="Times New Roman" panose="02020603050405020304" pitchFamily="18" charset="0"/>
                <a:cs typeface="Times New Roman" panose="02020603050405020304" pitchFamily="18" charset="0"/>
              </a:rPr>
              <a:t>Base Model: 29.70</a:t>
            </a:r>
          </a:p>
          <a:p>
            <a:pPr marL="630238" lvl="1" indent="-285750"/>
            <a:r>
              <a:rPr lang="en-US" altLang="zh-TW" sz="1800" dirty="0">
                <a:latin typeface="Times New Roman" panose="02020603050405020304" pitchFamily="18" charset="0"/>
                <a:cs typeface="Times New Roman" panose="02020603050405020304" pitchFamily="18" charset="0"/>
              </a:rPr>
              <a:t>LLM Honeypot: 11.10</a:t>
            </a:r>
          </a:p>
          <a:p>
            <a:pPr marL="630238" lvl="1" indent="-285750"/>
            <a:r>
              <a:rPr lang="en-US" altLang="zh-TW" sz="1800" dirty="0">
                <a:latin typeface="Times New Roman" panose="02020603050405020304" pitchFamily="18" charset="0"/>
                <a:cs typeface="Times New Roman" panose="02020603050405020304" pitchFamily="18" charset="0"/>
              </a:rPr>
              <a:t>QRASSH: 6.16</a:t>
            </a:r>
          </a:p>
        </p:txBody>
      </p:sp>
      <p:pic>
        <p:nvPicPr>
          <p:cNvPr id="7" name="圖片 6">
            <a:extLst>
              <a:ext uri="{FF2B5EF4-FFF2-40B4-BE49-F238E27FC236}">
                <a16:creationId xmlns:a16="http://schemas.microsoft.com/office/drawing/2014/main" id="{7B4FA605-5E5C-23E5-07A9-258BDCB84311}"/>
              </a:ext>
            </a:extLst>
          </p:cNvPr>
          <p:cNvPicPr>
            <a:picLocks noChangeAspect="1"/>
          </p:cNvPicPr>
          <p:nvPr/>
        </p:nvPicPr>
        <p:blipFill>
          <a:blip r:embed="rId3"/>
          <a:stretch>
            <a:fillRect/>
          </a:stretch>
        </p:blipFill>
        <p:spPr>
          <a:xfrm>
            <a:off x="238577" y="1219644"/>
            <a:ext cx="7137579" cy="4236124"/>
          </a:xfrm>
          <a:prstGeom prst="rect">
            <a:avLst/>
          </a:prstGeom>
        </p:spPr>
      </p:pic>
    </p:spTree>
    <p:extLst>
      <p:ext uri="{BB962C8B-B14F-4D97-AF65-F5344CB8AC3E}">
        <p14:creationId xmlns:p14="http://schemas.microsoft.com/office/powerpoint/2010/main" val="2630492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1"/>
          <p:cNvSpPr txBox="1">
            <a:spLocks noGrp="1"/>
          </p:cNvSpPr>
          <p:nvPr>
            <p:ph type="title"/>
          </p:nvPr>
        </p:nvSpPr>
        <p:spPr>
          <a:xfrm>
            <a:off x="620333" y="690567"/>
            <a:ext cx="10007600" cy="807600"/>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buClr>
                <a:srgbClr val="000000"/>
              </a:buClr>
              <a:buSzPct val="96428"/>
            </a:pPr>
            <a:r>
              <a:rPr lang="zh-TW" dirty="0">
                <a:latin typeface="Times New Roman"/>
                <a:ea typeface="Times New Roman"/>
                <a:cs typeface="Times New Roman"/>
                <a:sym typeface="Times New Roman"/>
              </a:rPr>
              <a:t>References</a:t>
            </a:r>
            <a:endParaRPr dirty="0">
              <a:latin typeface="Times New Roman"/>
              <a:ea typeface="Times New Roman"/>
              <a:cs typeface="Times New Roman"/>
              <a:sym typeface="Times New Roman"/>
            </a:endParaRPr>
          </a:p>
        </p:txBody>
      </p:sp>
      <p:sp>
        <p:nvSpPr>
          <p:cNvPr id="342" name="Google Shape;342;p41"/>
          <p:cNvSpPr txBox="1">
            <a:spLocks noGrp="1"/>
          </p:cNvSpPr>
          <p:nvPr>
            <p:ph type="body" idx="1"/>
          </p:nvPr>
        </p:nvSpPr>
        <p:spPr>
          <a:xfrm>
            <a:off x="620333" y="1658155"/>
            <a:ext cx="11176800" cy="4978390"/>
          </a:xfrm>
          <a:prstGeom prst="rect">
            <a:avLst/>
          </a:prstGeom>
          <a:noFill/>
          <a:ln>
            <a:noFill/>
          </a:ln>
        </p:spPr>
        <p:txBody>
          <a:bodyPr spcFirstLastPara="1" vert="horz" wrap="square" lIns="48000" tIns="48000" rIns="48000" bIns="48000" rtlCol="0" anchor="t" anchorCtr="0">
            <a:noAutofit/>
          </a:bodyPr>
          <a:lstStyle/>
          <a:p>
            <a:pPr marL="389457" indent="-338658">
              <a:lnSpc>
                <a:spcPct val="115000"/>
              </a:lnSpc>
              <a:buClr>
                <a:schemeClr val="dk1"/>
              </a:buClr>
              <a:buSzPts val="1200"/>
              <a:buFont typeface="Times New Roman"/>
              <a:buChar char="●"/>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[1] Ren-Hung Hwang, Jiao-Chuan Huang, Yuan-Cheng Lai, Ying-Dar Lin, : "Leveraging Reinforcement Learning for LLM-based Generic Honeypots with MITRE Engage Framework", </a:t>
            </a:r>
            <a:r>
              <a:rPr lang="en-US" altLang="zh-TW" sz="2000" dirty="0">
                <a:solidFill>
                  <a:schemeClr val="bg2"/>
                </a:solidFill>
                <a:latin typeface="Times New Roman" panose="02020603050405020304" pitchFamily="18" charset="0"/>
                <a:ea typeface="Times New Roman"/>
                <a:cs typeface="Times New Roman" panose="02020603050405020304" pitchFamily="18" charset="0"/>
                <a:sym typeface="Times New Roman"/>
              </a:rPr>
              <a:t>Published at IEEE</a:t>
            </a:r>
          </a:p>
          <a:p>
            <a:pPr marL="389457" indent="-338658">
              <a:lnSpc>
                <a:spcPct val="115000"/>
              </a:lnSpc>
              <a:buClr>
                <a:schemeClr val="dk1"/>
              </a:buClr>
              <a:buSzPts val="1200"/>
              <a:buFont typeface="Times New Roman"/>
              <a:buChar char="●"/>
            </a:pPr>
            <a:r>
              <a:rPr 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[2] </a:t>
            </a: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Ren-Hung Hwang, Chun-</a:t>
            </a:r>
            <a:r>
              <a:rPr lang="en-US" altLang="zh-TW" sz="2000" dirty="0" err="1">
                <a:solidFill>
                  <a:schemeClr val="dk1"/>
                </a:solidFill>
                <a:latin typeface="Times New Roman" panose="02020603050405020304" pitchFamily="18" charset="0"/>
                <a:ea typeface="Times New Roman"/>
                <a:cs typeface="Times New Roman" panose="02020603050405020304" pitchFamily="18" charset="0"/>
                <a:sym typeface="Times New Roman"/>
              </a:rPr>
              <a:t>yu</a:t>
            </a: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 Hsieh, Yuan-Cheng Lai, Ying-Dar Lin, "Active Directory Deception: A Reinforcement Learning</a:t>
            </a:r>
            <a:r>
              <a:rPr lang="zh-TW" alt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Honeypot Aligned with MITRE Engage", </a:t>
            </a:r>
            <a:r>
              <a:rPr lang="en-US" altLang="zh-TW" sz="2000" dirty="0">
                <a:solidFill>
                  <a:schemeClr val="bg2"/>
                </a:solidFill>
                <a:latin typeface="Times New Roman" panose="02020603050405020304" pitchFamily="18" charset="0"/>
                <a:ea typeface="Times New Roman"/>
                <a:cs typeface="Times New Roman" panose="02020603050405020304" pitchFamily="18" charset="0"/>
                <a:sym typeface="Times New Roman"/>
              </a:rPr>
              <a:t>Published at IEEE.</a:t>
            </a:r>
          </a:p>
          <a:p>
            <a:pPr marL="389457" indent="-338658">
              <a:lnSpc>
                <a:spcPct val="115000"/>
              </a:lnSpc>
              <a:buClr>
                <a:schemeClr val="dk1"/>
              </a:buClr>
              <a:buSzPts val="1200"/>
              <a:buFont typeface="Times New Roman"/>
              <a:buChar char="●"/>
            </a:pPr>
            <a:r>
              <a:rPr lang="en-US" altLang="zh-TW" sz="2000" dirty="0">
                <a:latin typeface="Times New Roman" panose="02020603050405020304" pitchFamily="18" charset="0"/>
                <a:cs typeface="Times New Roman" panose="02020603050405020304" pitchFamily="18" charset="0"/>
              </a:rPr>
              <a:t>[3] Ying-Dar Lin, Rasul </a:t>
            </a:r>
            <a:r>
              <a:rPr lang="en-US" altLang="zh-TW" sz="2000" dirty="0" err="1">
                <a:latin typeface="Times New Roman" panose="02020603050405020304" pitchFamily="18" charset="0"/>
                <a:cs typeface="Times New Roman" panose="02020603050405020304" pitchFamily="18" charset="0"/>
              </a:rPr>
              <a:t>Mankaev</a:t>
            </a:r>
            <a:r>
              <a:rPr lang="en-US" altLang="zh-TW" sz="2000" dirty="0">
                <a:latin typeface="Times New Roman" panose="02020603050405020304" pitchFamily="18" charset="0"/>
                <a:cs typeface="Times New Roman" panose="02020603050405020304" pitchFamily="18" charset="0"/>
              </a:rPr>
              <a:t>, Ren-Hung Hwang, Yuan-Cheng Lai, Didik </a:t>
            </a:r>
            <a:r>
              <a:rPr lang="en-US" altLang="zh-TW" sz="2000" dirty="0" err="1">
                <a:latin typeface="Times New Roman" panose="02020603050405020304" pitchFamily="18" charset="0"/>
                <a:cs typeface="Times New Roman" panose="02020603050405020304" pitchFamily="18" charset="0"/>
              </a:rPr>
              <a:t>Sudyana</a:t>
            </a:r>
            <a:r>
              <a:rPr lang="en-US" altLang="zh-TW" sz="2000" dirty="0">
                <a:latin typeface="Times New Roman" panose="02020603050405020304" pitchFamily="18" charset="0"/>
                <a:cs typeface="Times New Roman" panose="02020603050405020304" pitchFamily="18" charset="0"/>
              </a:rPr>
              <a:t>, "Reinforcement Learning-Driven Honeypots: Tactic-Based Defense for Industrial Control Systems", </a:t>
            </a:r>
            <a:r>
              <a:rPr lang="en-US" altLang="zh-TW" sz="2000" dirty="0">
                <a:solidFill>
                  <a:schemeClr val="bg2"/>
                </a:solidFill>
                <a:latin typeface="Times New Roman" panose="02020603050405020304" pitchFamily="18" charset="0"/>
                <a:ea typeface="Times New Roman"/>
                <a:cs typeface="Times New Roman" panose="02020603050405020304" pitchFamily="18" charset="0"/>
                <a:sym typeface="Times New Roman"/>
              </a:rPr>
              <a:t>Published at IEEE</a:t>
            </a:r>
            <a:endParaRPr lang="en-US" altLang="zh-TW" sz="2000" dirty="0">
              <a:solidFill>
                <a:schemeClr val="bg2"/>
              </a:solidFill>
              <a:latin typeface="Times New Roman" panose="02020603050405020304" pitchFamily="18" charset="0"/>
              <a:cs typeface="Times New Roman" panose="02020603050405020304" pitchFamily="18" charset="0"/>
            </a:endParaRPr>
          </a:p>
          <a:p>
            <a:pPr marL="389457" indent="-338658">
              <a:lnSpc>
                <a:spcPct val="115000"/>
              </a:lnSpc>
              <a:buClr>
                <a:schemeClr val="dk1"/>
              </a:buClr>
              <a:buSzPts val="1200"/>
              <a:buFont typeface="Times New Roman"/>
              <a:buChar char="●"/>
            </a:pPr>
            <a:r>
              <a:rPr 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[4] P. Prasad, N. Girish, S. V, A. Vh and P. K. S, "Generative AI SSH Honeypot With Reinforcement Learning," 2025 IEEE 14th International Conference on Communication Systems and Network Technologies (CSNT), Bhopal, India, 2025, pp. 770-775, doi: 10.1109/CSNT64827.2025.10968591.</a:t>
            </a:r>
            <a:endPar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89457" indent="-338658">
              <a:lnSpc>
                <a:spcPct val="115000"/>
              </a:lnSpc>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[5] </a:t>
            </a:r>
            <a:r>
              <a:rPr lang="en-US" altLang="zh-TW" sz="2000" dirty="0" err="1">
                <a:solidFill>
                  <a:schemeClr val="dk1"/>
                </a:solidFill>
                <a:latin typeface="Times New Roman"/>
                <a:ea typeface="Times New Roman"/>
                <a:cs typeface="Times New Roman"/>
                <a:sym typeface="Times New Roman"/>
              </a:rPr>
              <a:t>Sladić</a:t>
            </a:r>
            <a:r>
              <a:rPr lang="en-US" altLang="zh-TW" sz="2000" dirty="0">
                <a:solidFill>
                  <a:schemeClr val="dk1"/>
                </a:solidFill>
                <a:latin typeface="Times New Roman"/>
                <a:ea typeface="Times New Roman"/>
                <a:cs typeface="Times New Roman"/>
                <a:sym typeface="Times New Roman"/>
              </a:rPr>
              <a:t>, M., Valeros, V., Catania, C., Garcia, S. (2023). LLM in the Shell: Generative Honeypots. </a:t>
            </a:r>
            <a:r>
              <a:rPr lang="en-US" altLang="zh-TW" sz="2000" dirty="0" err="1">
                <a:solidFill>
                  <a:schemeClr val="dk1"/>
                </a:solidFill>
                <a:latin typeface="Times New Roman"/>
                <a:ea typeface="Times New Roman"/>
                <a:cs typeface="Times New Roman"/>
                <a:sym typeface="Times New Roman"/>
              </a:rPr>
              <a:t>arXiv</a:t>
            </a:r>
            <a:r>
              <a:rPr lang="en-US" altLang="zh-TW" sz="2000" dirty="0">
                <a:solidFill>
                  <a:schemeClr val="dk1"/>
                </a:solidFill>
                <a:latin typeface="Times New Roman"/>
                <a:ea typeface="Times New Roman"/>
                <a:cs typeface="Times New Roman"/>
                <a:sym typeface="Times New Roman"/>
              </a:rPr>
              <a:t> preprint arXiv:2309.00155.</a:t>
            </a:r>
          </a:p>
          <a:p>
            <a:pPr marL="389457" indent="-338658">
              <a:lnSpc>
                <a:spcPct val="115000"/>
              </a:lnSpc>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[6] L. O. P. Childs and M. A. Wood, "Hypnotic Honey: Adaptive Honeypots Managed by Local Large Language Models," 2024 Cyber Research Conference - Ireland (Cyber-RCI), Carlow, Ireland, 2024, pp. 1-8, </a:t>
            </a:r>
            <a:r>
              <a:rPr lang="en-US" altLang="zh-TW" sz="2000" dirty="0" err="1">
                <a:solidFill>
                  <a:schemeClr val="dk1"/>
                </a:solidFill>
                <a:latin typeface="Times New Roman"/>
                <a:ea typeface="Times New Roman"/>
                <a:cs typeface="Times New Roman"/>
                <a:sym typeface="Times New Roman"/>
              </a:rPr>
              <a:t>doi</a:t>
            </a:r>
            <a:r>
              <a:rPr lang="en-US" altLang="zh-TW" sz="2000" dirty="0">
                <a:solidFill>
                  <a:schemeClr val="dk1"/>
                </a:solidFill>
                <a:latin typeface="Times New Roman"/>
                <a:ea typeface="Times New Roman"/>
                <a:cs typeface="Times New Roman"/>
                <a:sym typeface="Times New Roman"/>
              </a:rPr>
              <a:t>: 10.1109/Cyber-RCI60769.2024.10941449. </a:t>
            </a:r>
          </a:p>
          <a:p>
            <a:pPr marL="389457" indent="-338658">
              <a:lnSpc>
                <a:spcPct val="115000"/>
              </a:lnSpc>
              <a:buClr>
                <a:schemeClr val="dk1"/>
              </a:buClr>
              <a:buSzPts val="1200"/>
              <a:buFont typeface="Times New Roman"/>
              <a:buChar char="●"/>
            </a:pPr>
            <a:endParaRPr lang="en-US" altLang="zh-TW" sz="2000" dirty="0">
              <a:solidFill>
                <a:schemeClr val="dk1"/>
              </a:solidFill>
              <a:latin typeface="Times New Roman"/>
              <a:ea typeface="Times New Roman"/>
              <a:cs typeface="Times New Roman"/>
              <a:sym typeface="Times New Roman"/>
            </a:endParaRPr>
          </a:p>
        </p:txBody>
      </p:sp>
      <p:sp>
        <p:nvSpPr>
          <p:cNvPr id="343" name="Google Shape;343;p41"/>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40</a:t>
            </a:fld>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2"/>
          <p:cNvSpPr txBox="1">
            <a:spLocks noGrp="1"/>
          </p:cNvSpPr>
          <p:nvPr>
            <p:ph type="title"/>
          </p:nvPr>
        </p:nvSpPr>
        <p:spPr>
          <a:xfrm>
            <a:off x="620333" y="690567"/>
            <a:ext cx="10007600" cy="807600"/>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buClr>
                <a:srgbClr val="000000"/>
              </a:buClr>
              <a:buSzPct val="96428"/>
            </a:pPr>
            <a:r>
              <a:rPr lang="zh-TW">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349" name="Google Shape;349;p42"/>
          <p:cNvSpPr txBox="1">
            <a:spLocks noGrp="1"/>
          </p:cNvSpPr>
          <p:nvPr>
            <p:ph type="body" idx="1"/>
          </p:nvPr>
        </p:nvSpPr>
        <p:spPr>
          <a:xfrm>
            <a:off x="620333" y="1764033"/>
            <a:ext cx="11176800" cy="4601200"/>
          </a:xfrm>
          <a:prstGeom prst="rect">
            <a:avLst/>
          </a:prstGeom>
          <a:noFill/>
          <a:ln>
            <a:noFill/>
          </a:ln>
        </p:spPr>
        <p:txBody>
          <a:bodyPr spcFirstLastPara="1" vert="horz" wrap="square" lIns="48000" tIns="48000" rIns="48000" bIns="48000" rtlCol="0" anchor="t" anchorCtr="0">
            <a:noAutofit/>
          </a:bodyPr>
          <a:lstStyle/>
          <a:p>
            <a:pPr marL="389457" indent="-338658">
              <a:lnSpc>
                <a:spcPct val="115000"/>
              </a:lnSpc>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[7] </a:t>
            </a:r>
            <a:r>
              <a:rPr lang="en-US" altLang="zh-TW" sz="2000" dirty="0" err="1">
                <a:solidFill>
                  <a:schemeClr val="dk1"/>
                </a:solidFill>
                <a:latin typeface="Times New Roman"/>
                <a:ea typeface="Times New Roman"/>
                <a:cs typeface="Times New Roman"/>
                <a:sym typeface="Times New Roman"/>
              </a:rPr>
              <a:t>Reworr</a:t>
            </a:r>
            <a:r>
              <a:rPr lang="en-US" altLang="zh-TW" sz="2000" dirty="0">
                <a:solidFill>
                  <a:schemeClr val="dk1"/>
                </a:solidFill>
                <a:latin typeface="Times New Roman"/>
                <a:ea typeface="Times New Roman"/>
                <a:cs typeface="Times New Roman"/>
                <a:sym typeface="Times New Roman"/>
              </a:rPr>
              <a:t>, Dmitrii Volkov, D. 2024, 'LLM Agent Honeypot: Monitoring AI Hacking Agents in the Wild', </a:t>
            </a:r>
            <a:r>
              <a:rPr lang="en-US" altLang="zh-TW" sz="2000" dirty="0" err="1">
                <a:solidFill>
                  <a:schemeClr val="dk1"/>
                </a:solidFill>
                <a:latin typeface="Times New Roman"/>
                <a:ea typeface="Times New Roman"/>
                <a:cs typeface="Times New Roman"/>
                <a:sym typeface="Times New Roman"/>
              </a:rPr>
              <a:t>arXiv</a:t>
            </a:r>
            <a:r>
              <a:rPr lang="en-US" altLang="zh-TW" sz="2000" dirty="0">
                <a:solidFill>
                  <a:schemeClr val="dk1"/>
                </a:solidFill>
                <a:latin typeface="Times New Roman"/>
                <a:ea typeface="Times New Roman"/>
                <a:cs typeface="Times New Roman"/>
                <a:sym typeface="Times New Roman"/>
              </a:rPr>
              <a:t> preprint arXiv:2410.13919.</a:t>
            </a:r>
          </a:p>
          <a:p>
            <a:pPr marL="389457" indent="-338658">
              <a:lnSpc>
                <a:spcPct val="115000"/>
              </a:lnSpc>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[8] El Kamel, Nadiya, </a:t>
            </a:r>
            <a:r>
              <a:rPr lang="en-US" altLang="zh-TW" sz="2000" dirty="0" err="1">
                <a:solidFill>
                  <a:schemeClr val="dk1"/>
                </a:solidFill>
                <a:latin typeface="Times New Roman"/>
                <a:ea typeface="Times New Roman"/>
                <a:cs typeface="Times New Roman"/>
                <a:sym typeface="Times New Roman"/>
              </a:rPr>
              <a:t>Eddabbah</a:t>
            </a:r>
            <a:r>
              <a:rPr lang="en-US" altLang="zh-TW" sz="2000" dirty="0">
                <a:solidFill>
                  <a:schemeClr val="dk1"/>
                </a:solidFill>
                <a:latin typeface="Times New Roman"/>
                <a:ea typeface="Times New Roman"/>
                <a:cs typeface="Times New Roman"/>
                <a:sym typeface="Times New Roman"/>
              </a:rPr>
              <a:t>, Mohamed, </a:t>
            </a:r>
            <a:r>
              <a:rPr lang="en-US" altLang="zh-TW" sz="2000" dirty="0" err="1">
                <a:solidFill>
                  <a:schemeClr val="dk1"/>
                </a:solidFill>
                <a:latin typeface="Times New Roman"/>
                <a:ea typeface="Times New Roman"/>
                <a:cs typeface="Times New Roman"/>
                <a:sym typeface="Times New Roman"/>
              </a:rPr>
              <a:t>Lmoumen</a:t>
            </a:r>
            <a:r>
              <a:rPr lang="en-US" altLang="zh-TW" sz="2000" dirty="0">
                <a:solidFill>
                  <a:schemeClr val="dk1"/>
                </a:solidFill>
                <a:latin typeface="Times New Roman"/>
                <a:ea typeface="Times New Roman"/>
                <a:cs typeface="Times New Roman"/>
                <a:sym typeface="Times New Roman"/>
              </a:rPr>
              <a:t>, Youssef, </a:t>
            </a:r>
            <a:r>
              <a:rPr lang="en-US" altLang="zh-TW" sz="2000" dirty="0" err="1">
                <a:solidFill>
                  <a:schemeClr val="dk1"/>
                </a:solidFill>
                <a:latin typeface="Times New Roman"/>
                <a:ea typeface="Times New Roman"/>
                <a:cs typeface="Times New Roman"/>
                <a:sym typeface="Times New Roman"/>
              </a:rPr>
              <a:t>Touahni</a:t>
            </a:r>
            <a:r>
              <a:rPr lang="en-US" altLang="zh-TW" sz="2000" dirty="0">
                <a:solidFill>
                  <a:schemeClr val="dk1"/>
                </a:solidFill>
                <a:latin typeface="Times New Roman"/>
                <a:ea typeface="Times New Roman"/>
                <a:cs typeface="Times New Roman"/>
                <a:sym typeface="Times New Roman"/>
              </a:rPr>
              <a:t>, Raja, A Smart Agent Design for Cyber Security Based on Honeypot and Machine Learning, Security and Communication Networks, 2020, 8865474, 9 pages, 2020. </a:t>
            </a:r>
            <a:r>
              <a:rPr lang="en-US" altLang="zh-TW" sz="2000" dirty="0" err="1">
                <a:solidFill>
                  <a:schemeClr val="dk1"/>
                </a:solidFill>
                <a:latin typeface="Times New Roman"/>
                <a:ea typeface="Times New Roman"/>
                <a:cs typeface="Times New Roman"/>
                <a:sym typeface="Times New Roman"/>
              </a:rPr>
              <a:t>doi</a:t>
            </a:r>
            <a:r>
              <a:rPr lang="en-US" altLang="zh-TW" sz="2000" dirty="0">
                <a:solidFill>
                  <a:schemeClr val="dk1"/>
                </a:solidFill>
                <a:latin typeface="Times New Roman"/>
                <a:ea typeface="Times New Roman"/>
                <a:cs typeface="Times New Roman"/>
                <a:sym typeface="Times New Roman"/>
              </a:rPr>
              <a:t>: 10.1155/2020/8865474</a:t>
            </a:r>
          </a:p>
          <a:p>
            <a:pPr marL="389457" indent="-338658">
              <a:lnSpc>
                <a:spcPct val="115000"/>
              </a:lnSpc>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[9] Guan, C., Liu, H., Cao, G., Zhu, S., Porta, T.L. (2023). </a:t>
            </a:r>
            <a:r>
              <a:rPr lang="en-US" altLang="zh-TW" sz="2000" dirty="0" err="1">
                <a:solidFill>
                  <a:schemeClr val="dk1"/>
                </a:solidFill>
                <a:latin typeface="Times New Roman"/>
                <a:ea typeface="Times New Roman"/>
                <a:cs typeface="Times New Roman"/>
                <a:sym typeface="Times New Roman"/>
              </a:rPr>
              <a:t>HoneyIoT</a:t>
            </a:r>
            <a:r>
              <a:rPr lang="en-US" altLang="zh-TW" sz="2000" dirty="0">
                <a:solidFill>
                  <a:schemeClr val="dk1"/>
                </a:solidFill>
                <a:latin typeface="Times New Roman"/>
                <a:ea typeface="Times New Roman"/>
                <a:cs typeface="Times New Roman"/>
                <a:sym typeface="Times New Roman"/>
              </a:rPr>
              <a:t>: Adaptive High-Interaction Honeypot for IoT Devices Through Reinforcement Learning. </a:t>
            </a:r>
            <a:r>
              <a:rPr lang="en-US" altLang="zh-TW" sz="2000" dirty="0" err="1">
                <a:solidFill>
                  <a:schemeClr val="dk1"/>
                </a:solidFill>
                <a:latin typeface="Times New Roman"/>
                <a:ea typeface="Times New Roman"/>
                <a:cs typeface="Times New Roman"/>
                <a:sym typeface="Times New Roman"/>
              </a:rPr>
              <a:t>arXiv</a:t>
            </a:r>
            <a:r>
              <a:rPr lang="en-US" altLang="zh-TW" sz="2000" dirty="0">
                <a:solidFill>
                  <a:schemeClr val="dk1"/>
                </a:solidFill>
                <a:latin typeface="Times New Roman"/>
                <a:ea typeface="Times New Roman"/>
                <a:cs typeface="Times New Roman"/>
                <a:sym typeface="Times New Roman"/>
              </a:rPr>
              <a:t> preprint arXiv:2305.06430.</a:t>
            </a:r>
          </a:p>
          <a:p>
            <a:pPr marL="389457" indent="-338658">
              <a:lnSpc>
                <a:spcPct val="115000"/>
              </a:lnSpc>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[10] J. A. </a:t>
            </a:r>
            <a:r>
              <a:rPr lang="en-US" altLang="zh-TW" sz="2000" dirty="0" err="1">
                <a:solidFill>
                  <a:schemeClr val="dk1"/>
                </a:solidFill>
                <a:latin typeface="Times New Roman"/>
                <a:ea typeface="Times New Roman"/>
                <a:cs typeface="Times New Roman"/>
                <a:sym typeface="Times New Roman"/>
              </a:rPr>
              <a:t>Christli</a:t>
            </a:r>
            <a:r>
              <a:rPr lang="en-US" altLang="zh-TW" sz="2000" dirty="0">
                <a:solidFill>
                  <a:schemeClr val="dk1"/>
                </a:solidFill>
                <a:latin typeface="Times New Roman"/>
                <a:ea typeface="Times New Roman"/>
                <a:cs typeface="Times New Roman"/>
                <a:sym typeface="Times New Roman"/>
              </a:rPr>
              <a:t>, C. Lim and Y. Andrew, "AI-Enhanced Honeypots: Leveraging LLM for Adaptive Cybersecurity Responses," 2024 16th International Conference on Information Technology and Electrical Engineering (ICITEE), Bali, Indonesia, 2024, pp. 451-456, </a:t>
            </a:r>
            <a:r>
              <a:rPr lang="en-US" altLang="zh-TW" sz="2000" dirty="0" err="1">
                <a:solidFill>
                  <a:schemeClr val="dk1"/>
                </a:solidFill>
                <a:latin typeface="Times New Roman"/>
                <a:ea typeface="Times New Roman"/>
                <a:cs typeface="Times New Roman"/>
                <a:sym typeface="Times New Roman"/>
              </a:rPr>
              <a:t>doi</a:t>
            </a:r>
            <a:r>
              <a:rPr lang="en-US" altLang="zh-TW" sz="2000" dirty="0">
                <a:solidFill>
                  <a:schemeClr val="dk1"/>
                </a:solidFill>
                <a:latin typeface="Times New Roman"/>
                <a:ea typeface="Times New Roman"/>
                <a:cs typeface="Times New Roman"/>
                <a:sym typeface="Times New Roman"/>
              </a:rPr>
              <a:t>: 10.1109/ICITEE62483.2024.10808265.</a:t>
            </a: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p:txBody>
      </p:sp>
      <p:sp>
        <p:nvSpPr>
          <p:cNvPr id="350" name="Google Shape;350;p42"/>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41</a:t>
            </a:fld>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3"/>
          <p:cNvSpPr txBox="1">
            <a:spLocks noGrp="1"/>
          </p:cNvSpPr>
          <p:nvPr>
            <p:ph type="title"/>
          </p:nvPr>
        </p:nvSpPr>
        <p:spPr>
          <a:xfrm>
            <a:off x="620333" y="690567"/>
            <a:ext cx="10007600" cy="807600"/>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buClr>
                <a:srgbClr val="000000"/>
              </a:buClr>
              <a:buSzPct val="96428"/>
            </a:pPr>
            <a:r>
              <a:rPr lang="zh-TW">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356" name="Google Shape;356;p43"/>
          <p:cNvSpPr txBox="1">
            <a:spLocks noGrp="1"/>
          </p:cNvSpPr>
          <p:nvPr>
            <p:ph type="body" idx="1"/>
          </p:nvPr>
        </p:nvSpPr>
        <p:spPr>
          <a:xfrm>
            <a:off x="620333" y="1764033"/>
            <a:ext cx="11176800" cy="4601200"/>
          </a:xfrm>
          <a:prstGeom prst="rect">
            <a:avLst/>
          </a:prstGeom>
          <a:noFill/>
          <a:ln>
            <a:noFill/>
          </a:ln>
        </p:spPr>
        <p:txBody>
          <a:bodyPr spcFirstLastPara="1" vert="horz" wrap="square" lIns="48000" tIns="48000" rIns="48000" bIns="48000" rtlCol="0" anchor="t" anchorCtr="0">
            <a:noAutofit/>
          </a:bodyPr>
          <a:lstStyle/>
          <a:p>
            <a:pPr marL="389457" indent="-338658">
              <a:lnSpc>
                <a:spcPct val="115000"/>
              </a:lnSpc>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[11] Reinforcement Fine-Tuning. (n.d.). OpenAI API. (2025). </a:t>
            </a:r>
            <a:r>
              <a:rPr lang="en-US" altLang="zh-TW" sz="2000" u="sng" dirty="0">
                <a:solidFill>
                  <a:srgbClr val="3C78D8"/>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https://platform.openai.com/docs/guides/reinforcement-fine-tuning</a:t>
            </a:r>
            <a:endParaRPr lang="en-US" altLang="zh-TW" sz="2000" dirty="0">
              <a:solidFill>
                <a:srgbClr val="3C78D8"/>
              </a:solidFill>
              <a:latin typeface="Times New Roman"/>
              <a:ea typeface="Times New Roman"/>
              <a:cs typeface="Times New Roman"/>
              <a:sym typeface="Times New Roman"/>
            </a:endParaRPr>
          </a:p>
          <a:p>
            <a:pPr marL="389457" indent="-338658">
              <a:lnSpc>
                <a:spcPct val="115000"/>
              </a:lnSpc>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[12] Daniel Han, Michael Han &amp; </a:t>
            </a:r>
            <a:r>
              <a:rPr lang="en-US" altLang="zh-TW" sz="2000" dirty="0" err="1">
                <a:solidFill>
                  <a:schemeClr val="dk1"/>
                </a:solidFill>
                <a:latin typeface="Times New Roman"/>
                <a:ea typeface="Times New Roman"/>
                <a:cs typeface="Times New Roman"/>
                <a:sym typeface="Times New Roman"/>
              </a:rPr>
              <a:t>Unsloth</a:t>
            </a:r>
            <a:r>
              <a:rPr lang="en-US" altLang="zh-TW" sz="2000" dirty="0">
                <a:solidFill>
                  <a:schemeClr val="dk1"/>
                </a:solidFill>
                <a:latin typeface="Times New Roman"/>
                <a:ea typeface="Times New Roman"/>
                <a:cs typeface="Times New Roman"/>
                <a:sym typeface="Times New Roman"/>
              </a:rPr>
              <a:t> team. (2023). </a:t>
            </a:r>
            <a:r>
              <a:rPr lang="en-US" altLang="zh-TW" sz="2000" dirty="0" err="1">
                <a:solidFill>
                  <a:schemeClr val="dk1"/>
                </a:solidFill>
                <a:latin typeface="Times New Roman"/>
                <a:ea typeface="Times New Roman"/>
                <a:cs typeface="Times New Roman"/>
                <a:sym typeface="Times New Roman"/>
              </a:rPr>
              <a:t>Unsloth</a:t>
            </a:r>
            <a:r>
              <a:rPr lang="en-US" altLang="zh-TW" sz="2000" dirty="0">
                <a:solidFill>
                  <a:schemeClr val="dk1"/>
                </a:solidFill>
                <a:latin typeface="Times New Roman"/>
                <a:ea typeface="Times New Roman"/>
                <a:cs typeface="Times New Roman"/>
                <a:sym typeface="Times New Roman"/>
              </a:rPr>
              <a:t>. Retrieved from </a:t>
            </a:r>
            <a:r>
              <a:rPr lang="en-US" altLang="zh-TW" sz="2000" u="sng" dirty="0">
                <a:solidFill>
                  <a:srgbClr val="3D85C6"/>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http://github.com/unslothai/unsloth</a:t>
            </a:r>
            <a:endParaRPr lang="en-US" altLang="zh-TW" sz="2000" u="sng" dirty="0">
              <a:solidFill>
                <a:srgbClr val="3D85C6"/>
              </a:solidFill>
              <a:latin typeface="Times New Roman"/>
              <a:ea typeface="Times New Roman"/>
              <a:cs typeface="Times New Roman"/>
              <a:sym typeface="Times New Roman"/>
            </a:endParaRPr>
          </a:p>
          <a:p>
            <a:pPr marL="389457" indent="-338658">
              <a:lnSpc>
                <a:spcPct val="115000"/>
              </a:lnSpc>
              <a:buClr>
                <a:schemeClr val="dk1"/>
              </a:buClr>
              <a:buSzPts val="1200"/>
            </a:pPr>
            <a:r>
              <a:rPr lang="en-US" altLang="zh-TW" sz="2000" dirty="0">
                <a:solidFill>
                  <a:schemeClr val="dk1"/>
                </a:solidFill>
                <a:latin typeface="Times New Roman"/>
                <a:ea typeface="Times New Roman"/>
                <a:cs typeface="Times New Roman"/>
                <a:sym typeface="Times New Roman"/>
              </a:rPr>
              <a:t>[13] Schmied, T., Bornschein, J., Grau-Moya, J., </a:t>
            </a:r>
            <a:r>
              <a:rPr lang="en-US" altLang="zh-TW" sz="2000" dirty="0" err="1">
                <a:solidFill>
                  <a:schemeClr val="dk1"/>
                </a:solidFill>
                <a:latin typeface="Times New Roman"/>
                <a:ea typeface="Times New Roman"/>
                <a:cs typeface="Times New Roman"/>
                <a:sym typeface="Times New Roman"/>
              </a:rPr>
              <a:t>Wulfmeier</a:t>
            </a:r>
            <a:r>
              <a:rPr lang="en-US" altLang="zh-TW" sz="2000" dirty="0">
                <a:solidFill>
                  <a:schemeClr val="dk1"/>
                </a:solidFill>
                <a:latin typeface="Times New Roman"/>
                <a:ea typeface="Times New Roman"/>
                <a:cs typeface="Times New Roman"/>
                <a:sym typeface="Times New Roman"/>
              </a:rPr>
              <a:t>, M., </a:t>
            </a:r>
            <a:r>
              <a:rPr lang="en-US" altLang="zh-TW" sz="2000" dirty="0" err="1">
                <a:solidFill>
                  <a:schemeClr val="dk1"/>
                </a:solidFill>
                <a:latin typeface="Times New Roman"/>
                <a:ea typeface="Times New Roman"/>
                <a:cs typeface="Times New Roman"/>
                <a:sym typeface="Times New Roman"/>
              </a:rPr>
              <a:t>Pascanu</a:t>
            </a:r>
            <a:r>
              <a:rPr lang="en-US" altLang="zh-TW" sz="2000" dirty="0">
                <a:solidFill>
                  <a:schemeClr val="dk1"/>
                </a:solidFill>
                <a:latin typeface="Times New Roman"/>
                <a:ea typeface="Times New Roman"/>
                <a:cs typeface="Times New Roman"/>
                <a:sym typeface="Times New Roman"/>
              </a:rPr>
              <a:t>, R. (2025). LLMs are Greedy Agents: Effects of RL Fine-tuning on Decision-Making  Abilities. </a:t>
            </a:r>
            <a:r>
              <a:rPr lang="en-US" altLang="zh-TW" sz="2000" dirty="0" err="1">
                <a:solidFill>
                  <a:schemeClr val="dk1"/>
                </a:solidFill>
                <a:latin typeface="Times New Roman"/>
                <a:ea typeface="Times New Roman"/>
                <a:cs typeface="Times New Roman"/>
                <a:sym typeface="Times New Roman"/>
              </a:rPr>
              <a:t>arXiv</a:t>
            </a:r>
            <a:r>
              <a:rPr lang="en-US" altLang="zh-TW" sz="2000" dirty="0">
                <a:solidFill>
                  <a:schemeClr val="dk1"/>
                </a:solidFill>
                <a:latin typeface="Times New Roman"/>
                <a:ea typeface="Times New Roman"/>
                <a:cs typeface="Times New Roman"/>
                <a:sym typeface="Times New Roman"/>
              </a:rPr>
              <a:t> preprint arXiv:2504.16078.</a:t>
            </a:r>
            <a:endParaRPr lang="en-US" altLang="zh-TW" sz="2000" dirty="0">
              <a:solidFill>
                <a:schemeClr val="dk1"/>
              </a:solidFill>
            </a:endParaRPr>
          </a:p>
          <a:p>
            <a:pPr marL="389457" indent="-338658">
              <a:lnSpc>
                <a:spcPct val="115000"/>
              </a:lnSpc>
              <a:buClr>
                <a:schemeClr val="dk1"/>
              </a:buClr>
              <a:buSzPts val="1200"/>
            </a:pPr>
            <a:r>
              <a:rPr lang="en-US" altLang="zh-TW" sz="2000" dirty="0">
                <a:solidFill>
                  <a:schemeClr val="dk1"/>
                </a:solidFill>
                <a:latin typeface="Times New Roman"/>
                <a:ea typeface="Times New Roman"/>
                <a:cs typeface="Times New Roman"/>
                <a:sym typeface="Times New Roman"/>
              </a:rPr>
              <a:t>[14] Shao, Z., Wang, P., Zhu, Q., Xu, R., Song, J., Bi, X., Zhang, H., Zhang, M., Li, Y.K., Wu, Y., Guo, D. (2024). </a:t>
            </a:r>
            <a:r>
              <a:rPr lang="en-US" altLang="zh-TW" sz="2000" dirty="0" err="1">
                <a:solidFill>
                  <a:schemeClr val="dk1"/>
                </a:solidFill>
                <a:latin typeface="Times New Roman"/>
                <a:ea typeface="Times New Roman"/>
                <a:cs typeface="Times New Roman"/>
                <a:sym typeface="Times New Roman"/>
              </a:rPr>
              <a:t>DeepSeekMath</a:t>
            </a:r>
            <a:r>
              <a:rPr lang="en-US" altLang="zh-TW" sz="2000" dirty="0">
                <a:solidFill>
                  <a:schemeClr val="dk1"/>
                </a:solidFill>
                <a:latin typeface="Times New Roman"/>
                <a:ea typeface="Times New Roman"/>
                <a:cs typeface="Times New Roman"/>
                <a:sym typeface="Times New Roman"/>
              </a:rPr>
              <a:t>: Pushing the Limits of Mathematical Reasoning in Open  Language Models. </a:t>
            </a:r>
            <a:r>
              <a:rPr lang="en-US" altLang="zh-TW" sz="2000" dirty="0" err="1">
                <a:solidFill>
                  <a:schemeClr val="dk1"/>
                </a:solidFill>
                <a:latin typeface="Times New Roman"/>
                <a:ea typeface="Times New Roman"/>
                <a:cs typeface="Times New Roman"/>
                <a:sym typeface="Times New Roman"/>
              </a:rPr>
              <a:t>arXiv</a:t>
            </a:r>
            <a:r>
              <a:rPr lang="en-US" altLang="zh-TW" sz="2000" dirty="0">
                <a:solidFill>
                  <a:schemeClr val="dk1"/>
                </a:solidFill>
                <a:latin typeface="Times New Roman"/>
                <a:ea typeface="Times New Roman"/>
                <a:cs typeface="Times New Roman"/>
                <a:sym typeface="Times New Roman"/>
              </a:rPr>
              <a:t> preprint arXiv:2402.03300.</a:t>
            </a:r>
            <a:endParaRPr lang="en-US" altLang="zh-TW" sz="2000" dirty="0">
              <a:solidFill>
                <a:schemeClr val="dk1"/>
              </a:solidFill>
            </a:endParaRPr>
          </a:p>
          <a:p>
            <a:pPr marL="389457" indent="-338658">
              <a:lnSpc>
                <a:spcPct val="115000"/>
              </a:lnSpc>
              <a:buClr>
                <a:schemeClr val="dk1"/>
              </a:buClr>
              <a:buSzPts val="1200"/>
            </a:pPr>
            <a:r>
              <a:rPr lang="en-US" altLang="zh-TW" sz="2000" dirty="0">
                <a:solidFill>
                  <a:schemeClr val="dk1"/>
                </a:solidFill>
                <a:latin typeface="Times New Roman"/>
                <a:ea typeface="Times New Roman"/>
                <a:cs typeface="Times New Roman"/>
                <a:sym typeface="Times New Roman"/>
              </a:rPr>
              <a:t>[15] Model context protocol (MCP). Anthropic. (n.d.). https://docs.anthropic.com/en/docs/claude-code/mcp </a:t>
            </a:r>
            <a:endParaRPr lang="en-US" altLang="zh-TW" sz="2000" dirty="0">
              <a:solidFill>
                <a:schemeClr val="dk1"/>
              </a:solidFill>
            </a:endParaRPr>
          </a:p>
          <a:p>
            <a:pPr marL="389457" indent="-338658">
              <a:lnSpc>
                <a:spcPct val="115000"/>
              </a:lnSpc>
              <a:buClr>
                <a:schemeClr val="dk1"/>
              </a:buClr>
              <a:buSzPts val="1200"/>
            </a:pPr>
            <a:r>
              <a:rPr lang="en-US" altLang="zh-TW" sz="2000" dirty="0">
                <a:solidFill>
                  <a:schemeClr val="dk1"/>
                </a:solidFill>
                <a:latin typeface="Times New Roman"/>
                <a:ea typeface="Times New Roman"/>
                <a:cs typeface="Times New Roman"/>
                <a:sym typeface="Times New Roman"/>
              </a:rPr>
              <a:t>[16] MITRE. (n.d.). </a:t>
            </a:r>
            <a:r>
              <a:rPr lang="en-US" altLang="zh-TW" sz="2000" i="1" dirty="0">
                <a:solidFill>
                  <a:schemeClr val="dk1"/>
                </a:solidFill>
                <a:latin typeface="Times New Roman"/>
                <a:ea typeface="Times New Roman"/>
                <a:cs typeface="Times New Roman"/>
                <a:sym typeface="Times New Roman"/>
              </a:rPr>
              <a:t>MITRE ATT&amp;CK: A knowledge base of adversary tactics and techniques based on real-world observations</a:t>
            </a:r>
            <a:r>
              <a:rPr lang="en-US" altLang="zh-TW" sz="2000" dirty="0">
                <a:solidFill>
                  <a:schemeClr val="dk1"/>
                </a:solidFill>
                <a:latin typeface="Times New Roman"/>
                <a:ea typeface="Times New Roman"/>
                <a:cs typeface="Times New Roman"/>
                <a:sym typeface="Times New Roman"/>
              </a:rPr>
              <a:t>. MITRE. </a:t>
            </a:r>
            <a:r>
              <a:rPr lang="en-US" altLang="zh-TW" sz="2000" u="sng" dirty="0">
                <a:solidFill>
                  <a:srgbClr val="3C78D8"/>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https://attack.mitre.org/</a:t>
            </a:r>
            <a:endParaRPr lang="en-US" altLang="zh-TW" sz="2000" dirty="0">
              <a:solidFill>
                <a:srgbClr val="3C78D8"/>
              </a:solidFill>
              <a:latin typeface="Times New Roman"/>
              <a:ea typeface="Times New Roman"/>
              <a:cs typeface="Times New Roman"/>
              <a:sym typeface="Times New Roman"/>
            </a:endParaRPr>
          </a:p>
          <a:p>
            <a:pPr marL="389457" indent="-338658">
              <a:lnSpc>
                <a:spcPct val="115000"/>
              </a:lnSpc>
              <a:buClr>
                <a:schemeClr val="dk1"/>
              </a:buClr>
              <a:buSzPts val="1200"/>
              <a:buFont typeface="Times New Roman"/>
              <a:buChar char="●"/>
            </a:pPr>
            <a:endParaRPr lang="en-US" altLang="zh-TW" sz="2000" dirty="0">
              <a:solidFill>
                <a:schemeClr val="dk1"/>
              </a:solidFill>
              <a:latin typeface="Times New Roman"/>
              <a:ea typeface="Times New Roman"/>
              <a:cs typeface="Times New Roman"/>
              <a:sym typeface="Times New Roman"/>
            </a:endParaRPr>
          </a:p>
          <a:p>
            <a:pPr marL="389457" indent="-338658">
              <a:lnSpc>
                <a:spcPct val="115000"/>
              </a:lnSpc>
              <a:buClr>
                <a:schemeClr val="dk1"/>
              </a:buClr>
              <a:buSzPts val="1200"/>
              <a:buFont typeface="Times New Roman"/>
              <a:buChar char="●"/>
            </a:pPr>
            <a:endParaRPr sz="2000" dirty="0">
              <a:solidFill>
                <a:schemeClr val="dk1"/>
              </a:solidFill>
              <a:latin typeface="Times New Roman"/>
              <a:ea typeface="Times New Roman"/>
              <a:cs typeface="Times New Roman"/>
              <a:sym typeface="Times New Roman"/>
            </a:endParaRPr>
          </a:p>
        </p:txBody>
      </p:sp>
      <p:sp>
        <p:nvSpPr>
          <p:cNvPr id="357" name="Google Shape;357;p4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42</a:t>
            </a:fld>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5"/>
          <p:cNvSpPr txBox="1">
            <a:spLocks noGrp="1"/>
          </p:cNvSpPr>
          <p:nvPr>
            <p:ph type="title"/>
          </p:nvPr>
        </p:nvSpPr>
        <p:spPr>
          <a:xfrm>
            <a:off x="620333" y="690567"/>
            <a:ext cx="10007600" cy="807600"/>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buClr>
                <a:srgbClr val="000000"/>
              </a:buClr>
              <a:buSzPct val="96428"/>
            </a:pPr>
            <a:r>
              <a:rPr lang="zh-TW" dirty="0">
                <a:latin typeface="Times New Roman"/>
                <a:ea typeface="Times New Roman"/>
                <a:cs typeface="Times New Roman"/>
                <a:sym typeface="Times New Roman"/>
              </a:rPr>
              <a:t>References</a:t>
            </a:r>
            <a:endParaRPr dirty="0">
              <a:latin typeface="Times New Roman"/>
              <a:ea typeface="Times New Roman"/>
              <a:cs typeface="Times New Roman"/>
              <a:sym typeface="Times New Roman"/>
            </a:endParaRPr>
          </a:p>
        </p:txBody>
      </p:sp>
      <p:sp>
        <p:nvSpPr>
          <p:cNvPr id="370" name="Google Shape;370;p45"/>
          <p:cNvSpPr txBox="1">
            <a:spLocks noGrp="1"/>
          </p:cNvSpPr>
          <p:nvPr>
            <p:ph type="body" idx="1"/>
          </p:nvPr>
        </p:nvSpPr>
        <p:spPr>
          <a:xfrm>
            <a:off x="620333" y="1764033"/>
            <a:ext cx="11176800" cy="4601200"/>
          </a:xfrm>
          <a:prstGeom prst="rect">
            <a:avLst/>
          </a:prstGeom>
          <a:noFill/>
          <a:ln>
            <a:noFill/>
          </a:ln>
        </p:spPr>
        <p:txBody>
          <a:bodyPr spcFirstLastPara="1" vert="horz" wrap="square" lIns="48000" tIns="48000" rIns="48000" bIns="48000" rtlCol="0" anchor="t" anchorCtr="0">
            <a:noAutofit/>
          </a:bodyPr>
          <a:lstStyle/>
          <a:p>
            <a:pPr marL="389457" indent="-338658">
              <a:lnSpc>
                <a:spcPct val="115000"/>
              </a:lnSpc>
              <a:buClr>
                <a:schemeClr val="dk1"/>
              </a:buClr>
              <a:buSzPts val="1200"/>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[17] MITRE. (n.d.). </a:t>
            </a:r>
            <a:r>
              <a:rPr lang="en-US" altLang="zh-TW" sz="2000" i="1" dirty="0">
                <a:solidFill>
                  <a:schemeClr val="dk1"/>
                </a:solidFill>
                <a:latin typeface="Times New Roman" panose="02020603050405020304" pitchFamily="18" charset="0"/>
                <a:ea typeface="Times New Roman"/>
                <a:cs typeface="Times New Roman" panose="02020603050405020304" pitchFamily="18" charset="0"/>
                <a:sym typeface="Times New Roman"/>
              </a:rPr>
              <a:t>MITRE Engage: A framework for engaging adversaries to gather intelligence and inform defense</a:t>
            </a: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 MITRE. </a:t>
            </a:r>
            <a:r>
              <a:rPr lang="en-US" altLang="zh-TW" sz="2000" u="sng" dirty="0">
                <a:solidFill>
                  <a:srgbClr val="3C78D8"/>
                </a:solidFill>
                <a:latin typeface="Times New Roman" panose="02020603050405020304" pitchFamily="18" charset="0"/>
                <a:ea typeface="Times New Roman"/>
                <a:cs typeface="Times New Roman" panose="02020603050405020304" pitchFamily="18" charset="0"/>
                <a:sym typeface="Times New Roman"/>
                <a:hlinkClick r:id="rId3">
                  <a:extLst>
                    <a:ext uri="{A12FA001-AC4F-418D-AE19-62706E023703}">
                      <ahyp:hlinkClr xmlns:ahyp="http://schemas.microsoft.com/office/drawing/2018/hyperlinkcolor" val="tx"/>
                    </a:ext>
                  </a:extLst>
                </a:hlinkClick>
              </a:rPr>
              <a:t>https://engage.mitre.org/</a:t>
            </a:r>
            <a:endParaRPr lang="en-US" altLang="zh-TW" sz="2000" dirty="0">
              <a:solidFill>
                <a:schemeClr val="dk1"/>
              </a:solidFill>
              <a:latin typeface="Times New Roman" panose="02020603050405020304" pitchFamily="18" charset="0"/>
              <a:cs typeface="Times New Roman" panose="02020603050405020304" pitchFamily="18" charset="0"/>
            </a:endParaRPr>
          </a:p>
          <a:p>
            <a:pPr marL="389457" indent="-338658">
              <a:lnSpc>
                <a:spcPct val="115000"/>
              </a:lnSpc>
              <a:buClr>
                <a:schemeClr val="dk1"/>
              </a:buClr>
              <a:buSzPts val="1200"/>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[18] Sladić, M., Valeros, V., Catania, C., Garcia, S. (2023). LLM in the Shell: Generative Honeypots. arXiv preprint arXiv:2309.00155.</a:t>
            </a:r>
            <a:endParaRPr sz="2000" dirty="0">
              <a:solidFill>
                <a:schemeClr val="dk1"/>
              </a:solidFill>
              <a:latin typeface="Times New Roman" panose="02020603050405020304" pitchFamily="18" charset="0"/>
              <a:cs typeface="Times New Roman" panose="02020603050405020304" pitchFamily="18" charset="0"/>
            </a:endParaRPr>
          </a:p>
          <a:p>
            <a:pPr marL="389457" indent="-338658">
              <a:lnSpc>
                <a:spcPct val="115000"/>
              </a:lnSpc>
              <a:buClr>
                <a:schemeClr val="dk1"/>
              </a:buClr>
              <a:buSzPts val="1200"/>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[19] Huang, S., Yang, C., Lin, C., Huang, C. (2024). CmdCaliper: A Semantic-Aware Command-Line Embedding Model and Dataset  for Security Research. arXiv preprint arXiv:2411.01176.</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89457" indent="-338658">
              <a:buClr>
                <a:schemeClr val="dk1"/>
              </a:buClr>
              <a:buSzPts val="1200"/>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[20] Noguerol, Dr. L. O. (2025, June 26). Ai-generated honeypots that learn and adapt. Cyber Security Tribe - Insight for Cyber Professionals. </a:t>
            </a:r>
            <a:r>
              <a:rPr lang="en-US" altLang="zh-TW" sz="2000" u="sng" dirty="0">
                <a:solidFill>
                  <a:schemeClr val="hlink"/>
                </a:solidFill>
                <a:latin typeface="Times New Roman" panose="02020603050405020304" pitchFamily="18" charset="0"/>
                <a:ea typeface="Times New Roman"/>
                <a:cs typeface="Times New Roman" panose="02020603050405020304" pitchFamily="18" charset="0"/>
                <a:sym typeface="Times New Roman"/>
                <a:hlinkClick r:id="rId4"/>
              </a:rPr>
              <a:t>https://www.cybersecuritytribe.com/articles/ai-generated-honeypots-that-learn-and-adapt</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89457" indent="-338658">
              <a:buClr>
                <a:schemeClr val="dk1"/>
              </a:buClr>
              <a:buSzPts val="1200"/>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[21] Asogwa, T. C., &amp; Onah, C. B. (2025). Reinforced honeypot technique integrated with game theory and reinforcement learning to enhance cyber defence mechanisms. </a:t>
            </a:r>
            <a:r>
              <a:rPr lang="en-US" altLang="zh-TW" sz="2000" i="1" dirty="0">
                <a:solidFill>
                  <a:schemeClr val="dk1"/>
                </a:solidFill>
                <a:latin typeface="Times New Roman" panose="02020603050405020304" pitchFamily="18" charset="0"/>
                <a:ea typeface="Times New Roman"/>
                <a:cs typeface="Times New Roman" panose="02020603050405020304" pitchFamily="18" charset="0"/>
                <a:sym typeface="Times New Roman"/>
              </a:rPr>
              <a:t>IOSR Journal of Computer Engineering (IOSR-JCE)</a:t>
            </a: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 27(4, Ser. I), 01–09. </a:t>
            </a:r>
            <a:r>
              <a:rPr lang="en-US" altLang="zh-TW" sz="2000" u="sng" dirty="0">
                <a:solidFill>
                  <a:schemeClr val="hlink"/>
                </a:solidFill>
                <a:latin typeface="Times New Roman" panose="02020603050405020304" pitchFamily="18" charset="0"/>
                <a:ea typeface="Times New Roman"/>
                <a:cs typeface="Times New Roman" panose="02020603050405020304" pitchFamily="18" charset="0"/>
                <a:sym typeface="Times New Roman"/>
                <a:hlinkClick r:id="rId5"/>
              </a:rPr>
              <a:t>https://doi.org/10.9790/0661-2704010109</a:t>
            </a:r>
            <a:endParaRPr lang="en-US" altLang="zh-TW" sz="2000" u="sng" dirty="0">
              <a:solidFill>
                <a:schemeClr val="hlink"/>
              </a:solidFill>
              <a:latin typeface="Times New Roman" panose="02020603050405020304" pitchFamily="18" charset="0"/>
              <a:ea typeface="Times New Roman"/>
              <a:cs typeface="Times New Roman" panose="02020603050405020304" pitchFamily="18" charset="0"/>
              <a:sym typeface="Times New Roman"/>
            </a:endParaRPr>
          </a:p>
          <a:p>
            <a:pPr marL="389457" indent="-338658">
              <a:buClr>
                <a:schemeClr val="dk1"/>
              </a:buClr>
              <a:buSzPts val="1200"/>
            </a:pP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[22] Zhang, J., Bu, H., Wen, H., Liu, Y., Fei, H., Xi, R., Li, L., Yang, Y., Zhu, H., Meng, D. (2024). When LLMs Meet Cybersecurity: A Systematic Literature Review. </a:t>
            </a:r>
            <a:r>
              <a:rPr lang="en-US" altLang="zh-TW" sz="2000" dirty="0" err="1">
                <a:solidFill>
                  <a:schemeClr val="dk1"/>
                </a:solidFill>
                <a:latin typeface="Times New Roman" panose="02020603050405020304" pitchFamily="18" charset="0"/>
                <a:ea typeface="Times New Roman"/>
                <a:cs typeface="Times New Roman" panose="02020603050405020304" pitchFamily="18" charset="0"/>
                <a:sym typeface="Times New Roman"/>
              </a:rPr>
              <a:t>arXiv</a:t>
            </a:r>
            <a:r>
              <a:rPr lang="en-US" altLang="zh-TW" sz="2000" dirty="0">
                <a:solidFill>
                  <a:schemeClr val="dk1"/>
                </a:solidFill>
                <a:latin typeface="Times New Roman" panose="02020603050405020304" pitchFamily="18" charset="0"/>
                <a:ea typeface="Times New Roman"/>
                <a:cs typeface="Times New Roman" panose="02020603050405020304" pitchFamily="18" charset="0"/>
                <a:sym typeface="Times New Roman"/>
              </a:rPr>
              <a:t> preprint arXiv:2405.03644.</a:t>
            </a:r>
          </a:p>
        </p:txBody>
      </p:sp>
      <p:sp>
        <p:nvSpPr>
          <p:cNvPr id="371" name="Google Shape;371;p45"/>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43</a:t>
            </a:fld>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6"/>
          <p:cNvSpPr txBox="1">
            <a:spLocks noGrp="1"/>
          </p:cNvSpPr>
          <p:nvPr>
            <p:ph type="title"/>
          </p:nvPr>
        </p:nvSpPr>
        <p:spPr>
          <a:xfrm>
            <a:off x="620333" y="690567"/>
            <a:ext cx="10007600" cy="807600"/>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buClr>
                <a:srgbClr val="000000"/>
              </a:buClr>
              <a:buSzPct val="96428"/>
            </a:pPr>
            <a:r>
              <a:rPr lang="zh-TW" dirty="0">
                <a:latin typeface="Times New Roman"/>
                <a:ea typeface="Times New Roman"/>
                <a:cs typeface="Times New Roman"/>
                <a:sym typeface="Times New Roman"/>
              </a:rPr>
              <a:t>References</a:t>
            </a:r>
            <a:endParaRPr dirty="0">
              <a:latin typeface="Times New Roman"/>
              <a:ea typeface="Times New Roman"/>
              <a:cs typeface="Times New Roman"/>
              <a:sym typeface="Times New Roman"/>
            </a:endParaRPr>
          </a:p>
        </p:txBody>
      </p:sp>
      <p:sp>
        <p:nvSpPr>
          <p:cNvPr id="377" name="Google Shape;377;p46"/>
          <p:cNvSpPr txBox="1">
            <a:spLocks noGrp="1"/>
          </p:cNvSpPr>
          <p:nvPr>
            <p:ph type="body" idx="1"/>
          </p:nvPr>
        </p:nvSpPr>
        <p:spPr>
          <a:xfrm>
            <a:off x="620333" y="1764033"/>
            <a:ext cx="11176800" cy="4601200"/>
          </a:xfrm>
          <a:prstGeom prst="rect">
            <a:avLst/>
          </a:prstGeom>
          <a:noFill/>
          <a:ln>
            <a:noFill/>
          </a:ln>
        </p:spPr>
        <p:txBody>
          <a:bodyPr spcFirstLastPara="1" vert="horz" wrap="square" lIns="48000" tIns="48000" rIns="48000" bIns="48000" rtlCol="0" anchor="t" anchorCtr="0">
            <a:noAutofit/>
          </a:bodyPr>
          <a:lstStyle/>
          <a:p>
            <a:pPr marL="389457" indent="-338658">
              <a:lnSpc>
                <a:spcPct val="115000"/>
              </a:lnSpc>
              <a:buClr>
                <a:schemeClr val="dk1"/>
              </a:buClr>
              <a:buSzPts val="1200"/>
            </a:pPr>
            <a:r>
              <a:rPr lang="en-US" altLang="zh-TW" sz="2000" dirty="0">
                <a:solidFill>
                  <a:schemeClr val="dk1"/>
                </a:solidFill>
                <a:latin typeface="Times New Roman"/>
                <a:ea typeface="Times New Roman"/>
                <a:cs typeface="Times New Roman"/>
                <a:sym typeface="Times New Roman"/>
              </a:rPr>
              <a:t>[26] </a:t>
            </a:r>
            <a:r>
              <a:rPr lang="en-US" altLang="zh-TW" sz="2000" dirty="0" err="1">
                <a:solidFill>
                  <a:schemeClr val="dk1"/>
                </a:solidFill>
                <a:latin typeface="Times New Roman"/>
                <a:ea typeface="Times New Roman"/>
                <a:cs typeface="Times New Roman"/>
                <a:sym typeface="Times New Roman"/>
              </a:rPr>
              <a:t>Tshimula</a:t>
            </a:r>
            <a:r>
              <a:rPr lang="en-US" altLang="zh-TW" sz="2000" dirty="0">
                <a:solidFill>
                  <a:schemeClr val="dk1"/>
                </a:solidFill>
                <a:latin typeface="Times New Roman"/>
                <a:ea typeface="Times New Roman"/>
                <a:cs typeface="Times New Roman"/>
                <a:sym typeface="Times New Roman"/>
              </a:rPr>
              <a:t>, J.M., Nkashama, D.K., </a:t>
            </a:r>
            <a:r>
              <a:rPr lang="en-US" altLang="zh-TW" sz="2000" dirty="0" err="1">
                <a:solidFill>
                  <a:schemeClr val="dk1"/>
                </a:solidFill>
                <a:latin typeface="Times New Roman"/>
                <a:ea typeface="Times New Roman"/>
                <a:cs typeface="Times New Roman"/>
                <a:sym typeface="Times New Roman"/>
              </a:rPr>
              <a:t>Muabila</a:t>
            </a:r>
            <a:r>
              <a:rPr lang="en-US" altLang="zh-TW" sz="2000" dirty="0">
                <a:solidFill>
                  <a:schemeClr val="dk1"/>
                </a:solidFill>
                <a:latin typeface="Times New Roman"/>
                <a:ea typeface="Times New Roman"/>
                <a:cs typeface="Times New Roman"/>
                <a:sym typeface="Times New Roman"/>
              </a:rPr>
              <a:t>, J.T., </a:t>
            </a:r>
            <a:r>
              <a:rPr lang="en-US" altLang="zh-TW" sz="2000" dirty="0" err="1">
                <a:solidFill>
                  <a:schemeClr val="dk1"/>
                </a:solidFill>
                <a:latin typeface="Times New Roman"/>
                <a:ea typeface="Times New Roman"/>
                <a:cs typeface="Times New Roman"/>
                <a:sym typeface="Times New Roman"/>
              </a:rPr>
              <a:t>Galekwa</a:t>
            </a:r>
            <a:r>
              <a:rPr lang="en-US" altLang="zh-TW" sz="2000" dirty="0">
                <a:solidFill>
                  <a:schemeClr val="dk1"/>
                </a:solidFill>
                <a:latin typeface="Times New Roman"/>
                <a:ea typeface="Times New Roman"/>
                <a:cs typeface="Times New Roman"/>
                <a:sym typeface="Times New Roman"/>
              </a:rPr>
              <a:t>, R.M., Kanda, H., </a:t>
            </a:r>
            <a:r>
              <a:rPr lang="en-US" altLang="zh-TW" sz="2000" dirty="0" err="1">
                <a:solidFill>
                  <a:schemeClr val="dk1"/>
                </a:solidFill>
                <a:latin typeface="Times New Roman"/>
                <a:ea typeface="Times New Roman"/>
                <a:cs typeface="Times New Roman"/>
                <a:sym typeface="Times New Roman"/>
              </a:rPr>
              <a:t>Dialufuma</a:t>
            </a:r>
            <a:r>
              <a:rPr lang="en-US" altLang="zh-TW" sz="2000" dirty="0">
                <a:solidFill>
                  <a:schemeClr val="dk1"/>
                </a:solidFill>
                <a:latin typeface="Times New Roman"/>
                <a:ea typeface="Times New Roman"/>
                <a:cs typeface="Times New Roman"/>
                <a:sym typeface="Times New Roman"/>
              </a:rPr>
              <a:t>, M.V., Didier, M.M., Kalala, K., </a:t>
            </a:r>
            <a:r>
              <a:rPr lang="en-US" altLang="zh-TW" sz="2000" dirty="0" err="1">
                <a:solidFill>
                  <a:schemeClr val="dk1"/>
                </a:solidFill>
                <a:latin typeface="Times New Roman"/>
                <a:ea typeface="Times New Roman"/>
                <a:cs typeface="Times New Roman"/>
                <a:sym typeface="Times New Roman"/>
              </a:rPr>
              <a:t>Mundele</a:t>
            </a:r>
            <a:r>
              <a:rPr lang="en-US" altLang="zh-TW" sz="2000" dirty="0">
                <a:solidFill>
                  <a:schemeClr val="dk1"/>
                </a:solidFill>
                <a:latin typeface="Times New Roman"/>
                <a:ea typeface="Times New Roman"/>
                <a:cs typeface="Times New Roman"/>
                <a:sym typeface="Times New Roman"/>
              </a:rPr>
              <a:t>, S., Lenye, P.K., Basele, T.W., Ilunga, A., Mayemba, C.N., </a:t>
            </a:r>
            <a:r>
              <a:rPr lang="en-US" altLang="zh-TW" sz="2000" dirty="0" err="1">
                <a:solidFill>
                  <a:schemeClr val="dk1"/>
                </a:solidFill>
                <a:latin typeface="Times New Roman"/>
                <a:ea typeface="Times New Roman"/>
                <a:cs typeface="Times New Roman"/>
                <a:sym typeface="Times New Roman"/>
              </a:rPr>
              <a:t>Kasoro</a:t>
            </a:r>
            <a:r>
              <a:rPr lang="en-US" altLang="zh-TW" sz="2000" dirty="0">
                <a:solidFill>
                  <a:schemeClr val="dk1"/>
                </a:solidFill>
                <a:latin typeface="Times New Roman"/>
                <a:ea typeface="Times New Roman"/>
                <a:cs typeface="Times New Roman"/>
                <a:sym typeface="Times New Roman"/>
              </a:rPr>
              <a:t>, N.M., </a:t>
            </a:r>
            <a:r>
              <a:rPr lang="en-US" altLang="zh-TW" sz="2000" dirty="0" err="1">
                <a:solidFill>
                  <a:schemeClr val="dk1"/>
                </a:solidFill>
                <a:latin typeface="Times New Roman"/>
                <a:ea typeface="Times New Roman"/>
                <a:cs typeface="Times New Roman"/>
                <a:sym typeface="Times New Roman"/>
              </a:rPr>
              <a:t>Kasereka</a:t>
            </a:r>
            <a:r>
              <a:rPr lang="en-US" altLang="zh-TW" sz="2000" dirty="0">
                <a:solidFill>
                  <a:schemeClr val="dk1"/>
                </a:solidFill>
                <a:latin typeface="Times New Roman"/>
                <a:ea typeface="Times New Roman"/>
                <a:cs typeface="Times New Roman"/>
                <a:sym typeface="Times New Roman"/>
              </a:rPr>
              <a:t>, S.K., </a:t>
            </a:r>
            <a:r>
              <a:rPr lang="en-US" altLang="zh-TW" sz="2000" dirty="0" err="1">
                <a:solidFill>
                  <a:schemeClr val="dk1"/>
                </a:solidFill>
                <a:latin typeface="Times New Roman"/>
                <a:ea typeface="Times New Roman"/>
                <a:cs typeface="Times New Roman"/>
                <a:sym typeface="Times New Roman"/>
              </a:rPr>
              <a:t>Mikese</a:t>
            </a:r>
            <a:r>
              <a:rPr lang="en-US" altLang="zh-TW" sz="2000" dirty="0">
                <a:solidFill>
                  <a:schemeClr val="dk1"/>
                </a:solidFill>
                <a:latin typeface="Times New Roman"/>
                <a:ea typeface="Times New Roman"/>
                <a:cs typeface="Times New Roman"/>
                <a:sym typeface="Times New Roman"/>
              </a:rPr>
              <a:t>, H., Tardif, P., Frappier, M., </a:t>
            </a:r>
            <a:r>
              <a:rPr lang="en-US" altLang="zh-TW" sz="2000" dirty="0" err="1">
                <a:solidFill>
                  <a:schemeClr val="dk1"/>
                </a:solidFill>
                <a:latin typeface="Times New Roman"/>
                <a:ea typeface="Times New Roman"/>
                <a:cs typeface="Times New Roman"/>
                <a:sym typeface="Times New Roman"/>
              </a:rPr>
              <a:t>Kabanza</a:t>
            </a:r>
            <a:r>
              <a:rPr lang="en-US" altLang="zh-TW" sz="2000" dirty="0">
                <a:solidFill>
                  <a:schemeClr val="dk1"/>
                </a:solidFill>
                <a:latin typeface="Times New Roman"/>
                <a:ea typeface="Times New Roman"/>
                <a:cs typeface="Times New Roman"/>
                <a:sym typeface="Times New Roman"/>
              </a:rPr>
              <a:t>, F., Chikhaoui, B., Wang, S., </a:t>
            </a:r>
            <a:r>
              <a:rPr lang="en-US" altLang="zh-TW" sz="2000" dirty="0" err="1">
                <a:solidFill>
                  <a:schemeClr val="dk1"/>
                </a:solidFill>
                <a:latin typeface="Times New Roman"/>
                <a:ea typeface="Times New Roman"/>
                <a:cs typeface="Times New Roman"/>
                <a:sym typeface="Times New Roman"/>
              </a:rPr>
              <a:t>Sumbu</a:t>
            </a:r>
            <a:r>
              <a:rPr lang="en-US" altLang="zh-TW" sz="2000" dirty="0">
                <a:solidFill>
                  <a:schemeClr val="dk1"/>
                </a:solidFill>
                <a:latin typeface="Times New Roman"/>
                <a:ea typeface="Times New Roman"/>
                <a:cs typeface="Times New Roman"/>
                <a:sym typeface="Times New Roman"/>
              </a:rPr>
              <a:t>, A.M., Ndona, X., </a:t>
            </a:r>
            <a:r>
              <a:rPr lang="en-US" altLang="zh-TW" sz="2000" dirty="0" err="1">
                <a:solidFill>
                  <a:schemeClr val="dk1"/>
                </a:solidFill>
                <a:latin typeface="Times New Roman"/>
                <a:ea typeface="Times New Roman"/>
                <a:cs typeface="Times New Roman"/>
                <a:sym typeface="Times New Roman"/>
              </a:rPr>
              <a:t>Intudi</a:t>
            </a:r>
            <a:r>
              <a:rPr lang="en-US" altLang="zh-TW" sz="2000" dirty="0">
                <a:solidFill>
                  <a:schemeClr val="dk1"/>
                </a:solidFill>
                <a:latin typeface="Times New Roman"/>
                <a:ea typeface="Times New Roman"/>
                <a:cs typeface="Times New Roman"/>
                <a:sym typeface="Times New Roman"/>
              </a:rPr>
              <a:t>, R.K. (2024). Psychological Profiling in Cybersecurity: A Look at LLMs and Psycholinguistic Features. </a:t>
            </a:r>
            <a:r>
              <a:rPr lang="en-US" altLang="zh-TW" sz="2000" dirty="0" err="1">
                <a:solidFill>
                  <a:schemeClr val="dk1"/>
                </a:solidFill>
                <a:latin typeface="Times New Roman"/>
                <a:ea typeface="Times New Roman"/>
                <a:cs typeface="Times New Roman"/>
                <a:sym typeface="Times New Roman"/>
              </a:rPr>
              <a:t>arXiv</a:t>
            </a:r>
            <a:r>
              <a:rPr lang="en-US" altLang="zh-TW" sz="2000" dirty="0">
                <a:solidFill>
                  <a:schemeClr val="dk1"/>
                </a:solidFill>
                <a:latin typeface="Times New Roman"/>
                <a:ea typeface="Times New Roman"/>
                <a:cs typeface="Times New Roman"/>
                <a:sym typeface="Times New Roman"/>
              </a:rPr>
              <a:t> preprint arXiv:2406.18783.</a:t>
            </a:r>
          </a:p>
          <a:p>
            <a:pPr marL="389457" indent="-338658">
              <a:lnSpc>
                <a:spcPct val="115000"/>
              </a:lnSpc>
              <a:buClr>
                <a:schemeClr val="dk1"/>
              </a:buClr>
              <a:buSzPts val="1200"/>
            </a:pPr>
            <a:r>
              <a:rPr lang="en-US" altLang="zh-TW" sz="2000" dirty="0">
                <a:solidFill>
                  <a:schemeClr val="dk1"/>
                </a:solidFill>
                <a:latin typeface="Times New Roman"/>
                <a:ea typeface="Times New Roman"/>
                <a:cs typeface="Times New Roman"/>
                <a:sym typeface="Times New Roman"/>
              </a:rPr>
              <a:t>[27] Á. Balogh, M. </a:t>
            </a:r>
            <a:r>
              <a:rPr lang="en-US" altLang="zh-TW" sz="2000" dirty="0" err="1">
                <a:solidFill>
                  <a:schemeClr val="dk1"/>
                </a:solidFill>
                <a:latin typeface="Times New Roman"/>
                <a:ea typeface="Times New Roman"/>
                <a:cs typeface="Times New Roman"/>
                <a:sym typeface="Times New Roman"/>
              </a:rPr>
              <a:t>Érsok</a:t>
            </a:r>
            <a:r>
              <a:rPr lang="en-US" altLang="zh-TW" sz="2000" dirty="0">
                <a:solidFill>
                  <a:schemeClr val="dk1"/>
                </a:solidFill>
                <a:latin typeface="Times New Roman"/>
                <a:ea typeface="Times New Roman"/>
                <a:cs typeface="Times New Roman"/>
                <a:sym typeface="Times New Roman"/>
              </a:rPr>
              <a:t>, L. Erdődi, A. Szarvák, E. Kail and A. Bánáti, "Honeypot optimization based on CTF game," 2022 IEEE 20th Jubilee World Symposium on Applied Machine Intelligence and Informatics (SAMI), </a:t>
            </a:r>
            <a:r>
              <a:rPr lang="en-US" altLang="zh-TW" sz="2000" dirty="0" err="1">
                <a:solidFill>
                  <a:schemeClr val="dk1"/>
                </a:solidFill>
                <a:latin typeface="Times New Roman"/>
                <a:ea typeface="Times New Roman"/>
                <a:cs typeface="Times New Roman"/>
                <a:sym typeface="Times New Roman"/>
              </a:rPr>
              <a:t>Poprad</a:t>
            </a:r>
            <a:r>
              <a:rPr lang="en-US" altLang="zh-TW" sz="2000" dirty="0">
                <a:solidFill>
                  <a:schemeClr val="dk1"/>
                </a:solidFill>
                <a:latin typeface="Times New Roman"/>
                <a:ea typeface="Times New Roman"/>
                <a:cs typeface="Times New Roman"/>
                <a:sym typeface="Times New Roman"/>
              </a:rPr>
              <a:t>, Slovakia, 2022, pp. 000153-000158, </a:t>
            </a:r>
            <a:r>
              <a:rPr lang="en-US" altLang="zh-TW" sz="2000" dirty="0" err="1">
                <a:solidFill>
                  <a:schemeClr val="dk1"/>
                </a:solidFill>
                <a:latin typeface="Times New Roman"/>
                <a:ea typeface="Times New Roman"/>
                <a:cs typeface="Times New Roman"/>
                <a:sym typeface="Times New Roman"/>
              </a:rPr>
              <a:t>doi</a:t>
            </a:r>
            <a:r>
              <a:rPr lang="en-US" altLang="zh-TW" sz="2000" dirty="0">
                <a:solidFill>
                  <a:schemeClr val="dk1"/>
                </a:solidFill>
                <a:latin typeface="Times New Roman"/>
                <a:ea typeface="Times New Roman"/>
                <a:cs typeface="Times New Roman"/>
                <a:sym typeface="Times New Roman"/>
              </a:rPr>
              <a:t>: 10.1109/SAMI54271.2022.9780835. [25] Á. Balogh, M. </a:t>
            </a:r>
            <a:r>
              <a:rPr lang="en-US" altLang="zh-TW" sz="2000" dirty="0" err="1">
                <a:solidFill>
                  <a:schemeClr val="dk1"/>
                </a:solidFill>
                <a:latin typeface="Times New Roman"/>
                <a:ea typeface="Times New Roman"/>
                <a:cs typeface="Times New Roman"/>
                <a:sym typeface="Times New Roman"/>
              </a:rPr>
              <a:t>Érsok</a:t>
            </a:r>
            <a:r>
              <a:rPr lang="en-US" altLang="zh-TW" sz="2000" dirty="0">
                <a:solidFill>
                  <a:schemeClr val="dk1"/>
                </a:solidFill>
                <a:latin typeface="Times New Roman"/>
                <a:ea typeface="Times New Roman"/>
                <a:cs typeface="Times New Roman"/>
                <a:sym typeface="Times New Roman"/>
              </a:rPr>
              <a:t>, A. Bánáti and L. Erdődi, "Concept for real time attacker profiling with honeypots, by skill based attacker maturity model," 2024 IEEE 22nd World Symposium on Applied Machine Intelligence and Informatics (SAMI), Stará </a:t>
            </a:r>
            <a:r>
              <a:rPr lang="en-US" altLang="zh-TW" sz="2000" dirty="0" err="1">
                <a:solidFill>
                  <a:schemeClr val="dk1"/>
                </a:solidFill>
                <a:latin typeface="Times New Roman"/>
                <a:ea typeface="Times New Roman"/>
                <a:cs typeface="Times New Roman"/>
                <a:sym typeface="Times New Roman"/>
              </a:rPr>
              <a:t>Lesná</a:t>
            </a:r>
            <a:r>
              <a:rPr lang="en-US" altLang="zh-TW" sz="2000" dirty="0">
                <a:solidFill>
                  <a:schemeClr val="dk1"/>
                </a:solidFill>
                <a:latin typeface="Times New Roman"/>
                <a:ea typeface="Times New Roman"/>
                <a:cs typeface="Times New Roman"/>
                <a:sym typeface="Times New Roman"/>
              </a:rPr>
              <a:t>, Slovakia, 2024, pp. 000175-000180, </a:t>
            </a:r>
            <a:r>
              <a:rPr lang="en-US" altLang="zh-TW" sz="2000" dirty="0" err="1">
                <a:solidFill>
                  <a:schemeClr val="dk1"/>
                </a:solidFill>
                <a:latin typeface="Times New Roman"/>
                <a:ea typeface="Times New Roman"/>
                <a:cs typeface="Times New Roman"/>
                <a:sym typeface="Times New Roman"/>
              </a:rPr>
              <a:t>doi</a:t>
            </a:r>
            <a:r>
              <a:rPr lang="en-US" altLang="zh-TW" sz="2000" dirty="0">
                <a:solidFill>
                  <a:schemeClr val="dk1"/>
                </a:solidFill>
                <a:latin typeface="Times New Roman"/>
                <a:ea typeface="Times New Roman"/>
                <a:cs typeface="Times New Roman"/>
                <a:sym typeface="Times New Roman"/>
              </a:rPr>
              <a:t>: 10.1109/SAMI60510.2024.10432876. </a:t>
            </a:r>
          </a:p>
        </p:txBody>
      </p:sp>
      <p:sp>
        <p:nvSpPr>
          <p:cNvPr id="378" name="Google Shape;378;p4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44</a:t>
            </a:fld>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BFF647-8A19-67B6-15E9-4D6DED4229A6}"/>
              </a:ext>
            </a:extLst>
          </p:cNvPr>
          <p:cNvSpPr>
            <a:spLocks noGrp="1"/>
          </p:cNvSpPr>
          <p:nvPr>
            <p:ph type="title"/>
          </p:nvPr>
        </p:nvSpPr>
        <p:spPr/>
        <p:txBody>
          <a:bodyPr>
            <a:normAutofit fontScale="90000"/>
          </a:bodyPr>
          <a:lstStyle/>
          <a:p>
            <a:r>
              <a:rPr lang="en-US" altLang="zh-TW" dirty="0"/>
              <a:t>References</a:t>
            </a:r>
            <a:endParaRPr lang="zh-TW" altLang="en-US" dirty="0"/>
          </a:p>
        </p:txBody>
      </p:sp>
      <p:sp>
        <p:nvSpPr>
          <p:cNvPr id="3" name="文字版面配置區 2">
            <a:extLst>
              <a:ext uri="{FF2B5EF4-FFF2-40B4-BE49-F238E27FC236}">
                <a16:creationId xmlns:a16="http://schemas.microsoft.com/office/drawing/2014/main" id="{50345B26-63AD-5712-52DB-4005621069C3}"/>
              </a:ext>
            </a:extLst>
          </p:cNvPr>
          <p:cNvSpPr>
            <a:spLocks noGrp="1"/>
          </p:cNvSpPr>
          <p:nvPr>
            <p:ph type="body" idx="1"/>
          </p:nvPr>
        </p:nvSpPr>
        <p:spPr/>
        <p:txBody>
          <a:bodyPr>
            <a:normAutofit/>
          </a:bodyPr>
          <a:lstStyle/>
          <a:p>
            <a:r>
              <a:rPr lang="en-US" altLang="zh-TW" sz="2000" dirty="0">
                <a:latin typeface="Times New Roman" panose="02020603050405020304" pitchFamily="18" charset="0"/>
                <a:cs typeface="Times New Roman" panose="02020603050405020304" pitchFamily="18" charset="0"/>
              </a:rPr>
              <a:t>[25] A. Pauna, A. -C. Iacob and I. Bica, "QRASSH - A Self-Adaptive SSH Honeypot Driven by Q-Learning," 2018 International Conference on Communications (COMM), Bucharest, Romania, 2018, pp. 441-446, </a:t>
            </a:r>
            <a:r>
              <a:rPr lang="en-US" altLang="zh-TW" sz="2000" dirty="0" err="1">
                <a:latin typeface="Times New Roman" panose="02020603050405020304" pitchFamily="18" charset="0"/>
                <a:cs typeface="Times New Roman" panose="02020603050405020304" pitchFamily="18" charset="0"/>
              </a:rPr>
              <a:t>doi</a:t>
            </a:r>
            <a:r>
              <a:rPr lang="en-US" altLang="zh-TW" sz="2000" dirty="0">
                <a:latin typeface="Times New Roman" panose="02020603050405020304" pitchFamily="18" charset="0"/>
                <a:cs typeface="Times New Roman" panose="02020603050405020304" pitchFamily="18" charset="0"/>
              </a:rPr>
              <a:t>: 10.1109/ICComm.2018.8484261. keywords: {Neural </a:t>
            </a:r>
            <a:r>
              <a:rPr lang="en-US" altLang="zh-TW" sz="2000" dirty="0" err="1">
                <a:latin typeface="Times New Roman" panose="02020603050405020304" pitchFamily="18" charset="0"/>
                <a:cs typeface="Times New Roman" panose="02020603050405020304" pitchFamily="18" charset="0"/>
              </a:rPr>
              <a:t>networks;Learning</a:t>
            </a:r>
            <a:r>
              <a:rPr lang="en-US" altLang="zh-TW" sz="2000" dirty="0">
                <a:latin typeface="Times New Roman" panose="02020603050405020304" pitchFamily="18" charset="0"/>
                <a:cs typeface="Times New Roman" panose="02020603050405020304" pitchFamily="18" charset="0"/>
              </a:rPr>
              <a:t> (artificial intelligence);</a:t>
            </a:r>
            <a:r>
              <a:rPr lang="en-US" altLang="zh-TW" sz="2000" dirty="0" err="1">
                <a:latin typeface="Times New Roman" panose="02020603050405020304" pitchFamily="18" charset="0"/>
                <a:cs typeface="Times New Roman" panose="02020603050405020304" pitchFamily="18" charset="0"/>
              </a:rPr>
              <a:t>Linux;Machine</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learning;Malware;Machine</a:t>
            </a:r>
            <a:r>
              <a:rPr lang="en-US" altLang="zh-TW" sz="2000" dirty="0">
                <a:latin typeface="Times New Roman" panose="02020603050405020304" pitchFamily="18" charset="0"/>
                <a:cs typeface="Times New Roman" panose="02020603050405020304" pitchFamily="18" charset="0"/>
              </a:rPr>
              <a:t> learning </a:t>
            </a:r>
            <a:r>
              <a:rPr lang="en-US" altLang="zh-TW" sz="2000" dirty="0" err="1">
                <a:latin typeface="Times New Roman" panose="02020603050405020304" pitchFamily="18" charset="0"/>
                <a:cs typeface="Times New Roman" panose="02020603050405020304" pitchFamily="18" charset="0"/>
              </a:rPr>
              <a:t>algorithms;Games;honeypot</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systems;neural</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network;reinforcement</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learning;information</a:t>
            </a:r>
            <a:r>
              <a:rPr lang="en-US" altLang="zh-TW" sz="2000" dirty="0">
                <a:latin typeface="Times New Roman" panose="02020603050405020304" pitchFamily="18" charset="0"/>
                <a:cs typeface="Times New Roman" panose="02020603050405020304" pitchFamily="18" charset="0"/>
              </a:rPr>
              <a:t> security},</a:t>
            </a:r>
          </a:p>
          <a:p>
            <a:r>
              <a:rPr lang="en-US" altLang="zh-TW" sz="2000" dirty="0">
                <a:latin typeface="Times New Roman" panose="02020603050405020304" pitchFamily="18" charset="0"/>
                <a:cs typeface="Times New Roman" panose="02020603050405020304" pitchFamily="18" charset="0"/>
              </a:rPr>
              <a:t>[26] COWRIE, </a:t>
            </a:r>
            <a:r>
              <a:rPr lang="en-US" altLang="zh-TW" sz="2000" dirty="0">
                <a:latin typeface="Times New Roman" panose="02020603050405020304" pitchFamily="18" charset="0"/>
                <a:cs typeface="Times New Roman" panose="02020603050405020304" pitchFamily="18" charset="0"/>
                <a:hlinkClick r:id="rId2"/>
              </a:rPr>
              <a:t>https://www.cowrie.org/</a:t>
            </a:r>
            <a:endParaRPr lang="en-US" altLang="zh-TW" sz="2000" dirty="0">
              <a:latin typeface="Times New Roman" panose="02020603050405020304" pitchFamily="18" charset="0"/>
              <a:cs typeface="Times New Roman" panose="02020603050405020304" pitchFamily="18" charset="0"/>
            </a:endParaRPr>
          </a:p>
          <a:p>
            <a:r>
              <a:rPr lang="en-US" altLang="zh-TW" sz="2000" dirty="0">
                <a:latin typeface="Times New Roman" panose="02020603050405020304" pitchFamily="18" charset="0"/>
                <a:cs typeface="Times New Roman" panose="02020603050405020304" pitchFamily="18" charset="0"/>
              </a:rPr>
              <a:t>[27] </a:t>
            </a:r>
            <a:r>
              <a:rPr lang="en-US" altLang="zh-TW" sz="2000" dirty="0" err="1">
                <a:latin typeface="Times New Roman" panose="02020603050405020304" pitchFamily="18" charset="0"/>
                <a:cs typeface="Times New Roman" panose="02020603050405020304" pitchFamily="18" charset="0"/>
              </a:rPr>
              <a:t>Kippo</a:t>
            </a:r>
            <a:r>
              <a:rPr lang="en-US" altLang="zh-TW" sz="2000" dirty="0">
                <a:latin typeface="Times New Roman" panose="02020603050405020304" pitchFamily="18" charset="0"/>
                <a:cs typeface="Times New Roman" panose="02020603050405020304" pitchFamily="18" charset="0"/>
              </a:rPr>
              <a:t>, https://github.com/desaster/kippo</a:t>
            </a:r>
            <a:endParaRPr lang="zh-TW" altLang="en-US" sz="2000" dirty="0">
              <a:latin typeface="Times New Roman" panose="02020603050405020304" pitchFamily="18" charset="0"/>
              <a:cs typeface="Times New Roman" panose="02020603050405020304" pitchFamily="18" charset="0"/>
            </a:endParaRPr>
          </a:p>
          <a:p>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7AA14EDA-D2CD-99E8-C58A-A2D719816749}"/>
              </a:ext>
            </a:extLst>
          </p:cNvPr>
          <p:cNvSpPr>
            <a:spLocks noGrp="1"/>
          </p:cNvSpPr>
          <p:nvPr>
            <p:ph type="sldNum" idx="12"/>
          </p:nvPr>
        </p:nvSpPr>
        <p:spPr/>
        <p:txBody>
          <a:bodyPr/>
          <a:lstStyle/>
          <a:p>
            <a:fld id="{00000000-1234-1234-1234-123412341234}" type="slidenum">
              <a:rPr lang="en-US" altLang="zh-TW" smtClean="0"/>
              <a:pPr/>
              <a:t>45</a:t>
            </a:fld>
            <a:endParaRPr lang="zh-TW" altLang="en-US" dirty="0"/>
          </a:p>
        </p:txBody>
      </p:sp>
    </p:spTree>
    <p:extLst>
      <p:ext uri="{BB962C8B-B14F-4D97-AF65-F5344CB8AC3E}">
        <p14:creationId xmlns:p14="http://schemas.microsoft.com/office/powerpoint/2010/main" val="481833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F94122-4750-E14C-8270-0E01185B08DC}"/>
              </a:ext>
            </a:extLst>
          </p:cNvPr>
          <p:cNvSpPr>
            <a:spLocks noGrp="1"/>
          </p:cNvSpPr>
          <p:nvPr>
            <p:ph type="title"/>
          </p:nvPr>
        </p:nvSpPr>
        <p:spPr/>
        <p:txBody>
          <a:bodyPr>
            <a:normAutofit/>
          </a:bodyPr>
          <a:lstStyle/>
          <a:p>
            <a:r>
              <a:rPr lang="en-US" altLang="zh-TW" sz="4200" dirty="0">
                <a:latin typeface="Times New Roman" panose="02020603050405020304" pitchFamily="18" charset="0"/>
                <a:cs typeface="Times New Roman" panose="02020603050405020304" pitchFamily="18" charset="0"/>
              </a:rPr>
              <a:t>Appendix – Distribution comparison over 2-models</a:t>
            </a:r>
            <a:endParaRPr lang="zh-TW" altLang="en-US" sz="4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708E478-D3C8-7DF3-DE1A-CBF280E732DF}"/>
              </a:ext>
            </a:extLst>
          </p:cNvPr>
          <p:cNvSpPr>
            <a:spLocks noGrp="1"/>
          </p:cNvSpPr>
          <p:nvPr>
            <p:ph type="sldNum" idx="12"/>
          </p:nvPr>
        </p:nvSpPr>
        <p:spPr/>
        <p:txBody>
          <a:bodyPr/>
          <a:lstStyle/>
          <a:p>
            <a:fld id="{00000000-1234-1234-1234-123412341234}" type="slidenum">
              <a:rPr lang="en-US" altLang="zh-TW" smtClean="0"/>
              <a:pPr/>
              <a:t>46</a:t>
            </a:fld>
            <a:endParaRPr lang="zh-TW" altLang="en-US" dirty="0"/>
          </a:p>
        </p:txBody>
      </p:sp>
      <p:sp>
        <p:nvSpPr>
          <p:cNvPr id="7" name="文字方塊 6">
            <a:extLst>
              <a:ext uri="{FF2B5EF4-FFF2-40B4-BE49-F238E27FC236}">
                <a16:creationId xmlns:a16="http://schemas.microsoft.com/office/drawing/2014/main" id="{458F8540-AC68-B7A3-D1B8-9A8A51832B43}"/>
              </a:ext>
            </a:extLst>
          </p:cNvPr>
          <p:cNvSpPr txBox="1"/>
          <p:nvPr/>
        </p:nvSpPr>
        <p:spPr>
          <a:xfrm>
            <a:off x="5886450" y="2620029"/>
            <a:ext cx="883575"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Ours</a:t>
            </a:r>
            <a:endParaRPr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0ADFEB12-A55D-5F96-A44F-B387CA6E8E1B}"/>
              </a:ext>
            </a:extLst>
          </p:cNvPr>
          <p:cNvPicPr>
            <a:picLocks noChangeAspect="1"/>
          </p:cNvPicPr>
          <p:nvPr/>
        </p:nvPicPr>
        <p:blipFill>
          <a:blip r:embed="rId2"/>
          <a:stretch>
            <a:fillRect/>
          </a:stretch>
        </p:blipFill>
        <p:spPr>
          <a:xfrm>
            <a:off x="1471612" y="1595437"/>
            <a:ext cx="9248775" cy="3667125"/>
          </a:xfrm>
          <a:prstGeom prst="rect">
            <a:avLst/>
          </a:prstGeom>
        </p:spPr>
      </p:pic>
    </p:spTree>
    <p:extLst>
      <p:ext uri="{BB962C8B-B14F-4D97-AF65-F5344CB8AC3E}">
        <p14:creationId xmlns:p14="http://schemas.microsoft.com/office/powerpoint/2010/main" val="2851587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434DA5A-9E42-6AC3-7C29-CD78F639FDB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209BF22-01E2-1151-B8F1-E5454AAF4A27}"/>
              </a:ext>
            </a:extLst>
          </p:cNvPr>
          <p:cNvSpPr>
            <a:spLocks noGrp="1"/>
          </p:cNvSpPr>
          <p:nvPr>
            <p:ph type="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Appendix – Reward Evaluation</a:t>
            </a:r>
            <a:br>
              <a:rPr lang="en-US" altLang="zh-TW" dirty="0">
                <a:latin typeface="Times New Roman" panose="02020603050405020304" pitchFamily="18" charset="0"/>
                <a:cs typeface="Times New Roman" panose="02020603050405020304" pitchFamily="18" charset="0"/>
              </a:rPr>
            </a:br>
            <a:r>
              <a:rPr lang="en-US" altLang="zh-TW" sz="2700" dirty="0">
                <a:latin typeface="Times New Roman" panose="02020603050405020304" pitchFamily="18" charset="0"/>
                <a:cs typeface="Times New Roman" panose="02020603050405020304" pitchFamily="18" charset="0"/>
              </a:rPr>
              <a:t>Outperform QRASSH by 820% and GPT-5o by 48%</a:t>
            </a:r>
            <a:endParaRPr lang="zh-TW" altLang="en-US" dirty="0"/>
          </a:p>
        </p:txBody>
      </p:sp>
      <p:sp>
        <p:nvSpPr>
          <p:cNvPr id="4" name="投影片編號版面配置區 3">
            <a:extLst>
              <a:ext uri="{FF2B5EF4-FFF2-40B4-BE49-F238E27FC236}">
                <a16:creationId xmlns:a16="http://schemas.microsoft.com/office/drawing/2014/main" id="{B15F88A1-4F67-7EC2-5962-E1159A1C0AD8}"/>
              </a:ext>
            </a:extLst>
          </p:cNvPr>
          <p:cNvSpPr>
            <a:spLocks noGrp="1"/>
          </p:cNvSpPr>
          <p:nvPr>
            <p:ph type="sldNum" idx="12"/>
          </p:nvPr>
        </p:nvSpPr>
        <p:spPr/>
        <p:txBody>
          <a:bodyPr/>
          <a:lstStyle/>
          <a:p>
            <a:fld id="{00000000-1234-1234-1234-123412341234}" type="slidenum">
              <a:rPr lang="en-US" altLang="zh-TW" smtClean="0"/>
              <a:pPr/>
              <a:t>47</a:t>
            </a:fld>
            <a:endParaRPr lang="zh-TW" altLang="en-US" dirty="0"/>
          </a:p>
        </p:txBody>
      </p:sp>
      <p:sp>
        <p:nvSpPr>
          <p:cNvPr id="11" name="文字方塊 10">
            <a:extLst>
              <a:ext uri="{FF2B5EF4-FFF2-40B4-BE49-F238E27FC236}">
                <a16:creationId xmlns:a16="http://schemas.microsoft.com/office/drawing/2014/main" id="{449891E3-19E1-2C53-27B1-F5A42DA3F64D}"/>
              </a:ext>
            </a:extLst>
          </p:cNvPr>
          <p:cNvSpPr txBox="1"/>
          <p:nvPr/>
        </p:nvSpPr>
        <p:spPr>
          <a:xfrm>
            <a:off x="8187072" y="1973296"/>
            <a:ext cx="3841139" cy="2031325"/>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Average Reward:</a:t>
            </a: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SFT+GRPO: 0.46</a:t>
            </a: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SFT: 0.32</a:t>
            </a: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GPT-5o:</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0.31</a:t>
            </a:r>
            <a:endParaRPr lang="en-US" altLang="zh-TW" baseline="30000" dirty="0">
              <a:latin typeface="Times New Roman" panose="02020603050405020304" pitchFamily="18" charset="0"/>
              <a:cs typeface="Times New Roman" panose="02020603050405020304" pitchFamily="18" charset="0"/>
            </a:endParaRP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LLM honeypot: 0.13</a:t>
            </a: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QRASSH: 0.05</a:t>
            </a:r>
          </a:p>
          <a:p>
            <a:endParaRPr lang="en-US" altLang="zh-TW" dirty="0">
              <a:latin typeface="Times New Roman" panose="02020603050405020304" pitchFamily="18" charset="0"/>
              <a:cs typeface="Times New Roman" panose="02020603050405020304" pitchFamily="18" charset="0"/>
            </a:endParaRPr>
          </a:p>
        </p:txBody>
      </p:sp>
      <p:pic>
        <p:nvPicPr>
          <p:cNvPr id="15" name="圖片 14">
            <a:extLst>
              <a:ext uri="{FF2B5EF4-FFF2-40B4-BE49-F238E27FC236}">
                <a16:creationId xmlns:a16="http://schemas.microsoft.com/office/drawing/2014/main" id="{418D43B2-26D2-F019-442A-77A0D0043306}"/>
              </a:ext>
            </a:extLst>
          </p:cNvPr>
          <p:cNvPicPr>
            <a:picLocks noChangeAspect="1"/>
          </p:cNvPicPr>
          <p:nvPr/>
        </p:nvPicPr>
        <p:blipFill>
          <a:blip r:embed="rId2"/>
          <a:stretch>
            <a:fillRect/>
          </a:stretch>
        </p:blipFill>
        <p:spPr>
          <a:xfrm>
            <a:off x="0" y="1776822"/>
            <a:ext cx="8035031" cy="4768758"/>
          </a:xfrm>
          <a:prstGeom prst="rect">
            <a:avLst/>
          </a:prstGeom>
        </p:spPr>
      </p:pic>
    </p:spTree>
    <p:extLst>
      <p:ext uri="{BB962C8B-B14F-4D97-AF65-F5344CB8AC3E}">
        <p14:creationId xmlns:p14="http://schemas.microsoft.com/office/powerpoint/2010/main" val="2316417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 name="圖片 23">
            <a:extLst>
              <a:ext uri="{FF2B5EF4-FFF2-40B4-BE49-F238E27FC236}">
                <a16:creationId xmlns:a16="http://schemas.microsoft.com/office/drawing/2014/main" id="{4B6D33C9-6935-A87E-2DE7-09B89C1FD322}"/>
              </a:ext>
            </a:extLst>
          </p:cNvPr>
          <p:cNvPicPr>
            <a:picLocks noChangeAspect="1"/>
          </p:cNvPicPr>
          <p:nvPr/>
        </p:nvPicPr>
        <p:blipFill>
          <a:blip r:embed="rId2"/>
          <a:stretch>
            <a:fillRect/>
          </a:stretch>
        </p:blipFill>
        <p:spPr>
          <a:xfrm>
            <a:off x="529589" y="1362135"/>
            <a:ext cx="10991729" cy="5495865"/>
          </a:xfrm>
          <a:prstGeom prst="rect">
            <a:avLst/>
          </a:prstGeom>
        </p:spPr>
      </p:pic>
      <p:sp>
        <p:nvSpPr>
          <p:cNvPr id="3" name="投影片編號版面配置區 2">
            <a:extLst>
              <a:ext uri="{FF2B5EF4-FFF2-40B4-BE49-F238E27FC236}">
                <a16:creationId xmlns:a16="http://schemas.microsoft.com/office/drawing/2014/main" id="{B1A20F23-1AC8-CB8A-CEA0-63EC08A30075}"/>
              </a:ext>
            </a:extLst>
          </p:cNvPr>
          <p:cNvSpPr>
            <a:spLocks noGrp="1"/>
          </p:cNvSpPr>
          <p:nvPr>
            <p:ph type="sldNum" idx="12"/>
          </p:nvPr>
        </p:nvSpPr>
        <p:spPr/>
        <p:txBody>
          <a:bodyPr/>
          <a:lstStyle/>
          <a:p>
            <a:fld id="{00000000-1234-1234-1234-123412341234}" type="slidenum">
              <a:rPr lang="en-US" altLang="zh-TW" smtClean="0"/>
              <a:pPr/>
              <a:t>48</a:t>
            </a:fld>
            <a:endParaRPr lang="zh-TW" altLang="en-US" dirty="0"/>
          </a:p>
        </p:txBody>
      </p:sp>
      <p:sp>
        <p:nvSpPr>
          <p:cNvPr id="13" name="標題 1">
            <a:extLst>
              <a:ext uri="{FF2B5EF4-FFF2-40B4-BE49-F238E27FC236}">
                <a16:creationId xmlns:a16="http://schemas.microsoft.com/office/drawing/2014/main" id="{C4DCB61F-A60B-77B2-C058-2A92E9F99FC3}"/>
              </a:ext>
            </a:extLst>
          </p:cNvPr>
          <p:cNvSpPr txBox="1">
            <a:spLocks/>
          </p:cNvSpPr>
          <p:nvPr/>
        </p:nvSpPr>
        <p:spPr>
          <a:xfrm>
            <a:off x="415600" y="603095"/>
            <a:ext cx="11360800" cy="763600"/>
          </a:xfrm>
          <a:prstGeom prst="rect">
            <a:avLst/>
          </a:prstGeom>
        </p:spPr>
        <p:txBody>
          <a:bodyPr spcFirstLastPara="1" vert="horz" wrap="square" lIns="91425" tIns="91425" rIns="91425" bIns="91425" rtlCol="0" anchor="ctr" anchorCtr="0">
            <a:normAutofit fontScale="97500"/>
          </a:bodyPr>
          <a:lstStyle>
            <a:lvl1pPr lvl="0" algn="ctr" defTabSz="914400" rtl="0" eaLnBrk="1" latinLnBrk="0" hangingPunct="1">
              <a:lnSpc>
                <a:spcPct val="90000"/>
              </a:lnSpc>
              <a:spcBef>
                <a:spcPts val="0"/>
              </a:spcBef>
              <a:spcAft>
                <a:spcPts val="0"/>
              </a:spcAft>
              <a:buSzPts val="3600"/>
              <a:buNone/>
              <a:defRPr sz="4800" kern="1200">
                <a:solidFill>
                  <a:schemeClr val="tx1"/>
                </a:solidFill>
                <a:latin typeface="+mj-lt"/>
                <a:ea typeface="+mj-ea"/>
                <a:cs typeface="+mj-cs"/>
              </a:defRPr>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pPr algn="l"/>
            <a:r>
              <a:rPr lang="en-US" altLang="zh-TW" sz="4200" dirty="0">
                <a:latin typeface="Times New Roman" panose="02020603050405020304" pitchFamily="18" charset="0"/>
                <a:cs typeface="Times New Roman" panose="02020603050405020304" pitchFamily="18" charset="0"/>
              </a:rPr>
              <a:t>Appendix – Command distribution </a:t>
            </a:r>
            <a:endParaRPr lang="zh-TW" altLang="en-US" sz="42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066051C3-27EE-6FA1-5041-FFC8C734312E}"/>
              </a:ext>
            </a:extLst>
          </p:cNvPr>
          <p:cNvSpPr txBox="1"/>
          <p:nvPr/>
        </p:nvSpPr>
        <p:spPr>
          <a:xfrm>
            <a:off x="9026215" y="2373487"/>
            <a:ext cx="2383277" cy="830997"/>
          </a:xfrm>
          <a:prstGeom prst="rect">
            <a:avLst/>
          </a:prstGeom>
          <a:noFill/>
        </p:spPr>
        <p:txBody>
          <a:bodyPr wrap="square" rtlCol="0">
            <a:spAutoFit/>
          </a:bodyPr>
          <a:lstStyle/>
          <a:p>
            <a:pPr algn="r"/>
            <a:r>
              <a:rPr lang="en-US" altLang="zh-TW" sz="2400" dirty="0">
                <a:latin typeface="Times New Roman" panose="02020603050405020304" pitchFamily="18" charset="0"/>
                <a:cs typeface="Times New Roman" panose="02020603050405020304" pitchFamily="18" charset="0"/>
              </a:rPr>
              <a:t>Train: GPT</a:t>
            </a:r>
          </a:p>
          <a:p>
            <a:pPr algn="r"/>
            <a:r>
              <a:rPr lang="en-US" altLang="zh-TW" sz="2400" dirty="0">
                <a:latin typeface="Times New Roman" panose="02020603050405020304" pitchFamily="18" charset="0"/>
                <a:cs typeface="Times New Roman" panose="02020603050405020304" pitchFamily="18" charset="0"/>
              </a:rPr>
              <a:t>Eval: Gemini</a:t>
            </a:r>
          </a:p>
        </p:txBody>
      </p:sp>
    </p:spTree>
    <p:extLst>
      <p:ext uri="{BB962C8B-B14F-4D97-AF65-F5344CB8AC3E}">
        <p14:creationId xmlns:p14="http://schemas.microsoft.com/office/powerpoint/2010/main" val="13676867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7"/>
          <p:cNvSpPr txBox="1">
            <a:spLocks noGrp="1"/>
          </p:cNvSpPr>
          <p:nvPr>
            <p:ph type="title"/>
          </p:nvPr>
        </p:nvSpPr>
        <p:spPr>
          <a:xfrm>
            <a:off x="415600" y="2867800"/>
            <a:ext cx="11360800" cy="1122400"/>
          </a:xfrm>
          <a:prstGeom prst="rect">
            <a:avLst/>
          </a:prstGeom>
          <a:noFill/>
          <a:ln>
            <a:noFill/>
          </a:ln>
        </p:spPr>
        <p:txBody>
          <a:bodyPr spcFirstLastPara="1" vert="horz" wrap="square" lIns="121900" tIns="121900" rIns="121900" bIns="121900" rtlCol="0" anchor="t" anchorCtr="0">
            <a:normAutofit/>
          </a:bodyPr>
          <a:lstStyle/>
          <a:p>
            <a:pPr>
              <a:lnSpc>
                <a:spcPct val="100000"/>
              </a:lnSpc>
              <a:buClr>
                <a:srgbClr val="000000"/>
              </a:buClr>
              <a:buSzPts val="2700"/>
            </a:pPr>
            <a:r>
              <a:rPr lang="zh-TW">
                <a:latin typeface="Times New Roman"/>
                <a:ea typeface="Times New Roman"/>
                <a:cs typeface="Times New Roman"/>
                <a:sym typeface="Times New Roman"/>
              </a:rPr>
              <a:t>Thank you for listening</a:t>
            </a:r>
            <a:endParaRPr>
              <a:latin typeface="Times New Roman"/>
              <a:ea typeface="Times New Roman"/>
              <a:cs typeface="Times New Roman"/>
              <a:sym typeface="Times New Roman"/>
            </a:endParaRPr>
          </a:p>
        </p:txBody>
      </p:sp>
      <p:sp>
        <p:nvSpPr>
          <p:cNvPr id="384" name="Google Shape;384;p47"/>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49</a:t>
            </a:fld>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333"/>
        <p:cNvGrpSpPr/>
        <p:nvPr/>
      </p:nvGrpSpPr>
      <p:grpSpPr>
        <a:xfrm>
          <a:off x="0" y="0"/>
          <a:ext cx="0" cy="0"/>
          <a:chOff x="0" y="0"/>
          <a:chExt cx="0" cy="0"/>
        </a:xfrm>
      </p:grpSpPr>
      <p:sp>
        <p:nvSpPr>
          <p:cNvPr id="334" name="Google Shape;334;p40"/>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50</a:t>
            </a:fld>
            <a:endParaRPr dirty="0"/>
          </a:p>
        </p:txBody>
      </p:sp>
      <p:graphicFrame>
        <p:nvGraphicFramePr>
          <p:cNvPr id="335" name="Google Shape;335;p40"/>
          <p:cNvGraphicFramePr/>
          <p:nvPr/>
        </p:nvGraphicFramePr>
        <p:xfrm>
          <a:off x="465001" y="949401"/>
          <a:ext cx="10560029" cy="4855605"/>
        </p:xfrm>
        <a:graphic>
          <a:graphicData uri="http://schemas.openxmlformats.org/drawingml/2006/table">
            <a:tbl>
              <a:tblPr>
                <a:noFill/>
              </a:tblPr>
              <a:tblGrid>
                <a:gridCol w="2135633">
                  <a:extLst>
                    <a:ext uri="{9D8B030D-6E8A-4147-A177-3AD203B41FA5}">
                      <a16:colId xmlns:a16="http://schemas.microsoft.com/office/drawing/2014/main" val="20000"/>
                    </a:ext>
                  </a:extLst>
                </a:gridCol>
                <a:gridCol w="702033">
                  <a:extLst>
                    <a:ext uri="{9D8B030D-6E8A-4147-A177-3AD203B41FA5}">
                      <a16:colId xmlns:a16="http://schemas.microsoft.com/office/drawing/2014/main" val="20001"/>
                    </a:ext>
                  </a:extLst>
                </a:gridCol>
                <a:gridCol w="702033">
                  <a:extLst>
                    <a:ext uri="{9D8B030D-6E8A-4147-A177-3AD203B41FA5}">
                      <a16:colId xmlns:a16="http://schemas.microsoft.com/office/drawing/2014/main" val="20002"/>
                    </a:ext>
                  </a:extLst>
                </a:gridCol>
                <a:gridCol w="702033">
                  <a:extLst>
                    <a:ext uri="{9D8B030D-6E8A-4147-A177-3AD203B41FA5}">
                      <a16:colId xmlns:a16="http://schemas.microsoft.com/office/drawing/2014/main" val="20003"/>
                    </a:ext>
                  </a:extLst>
                </a:gridCol>
                <a:gridCol w="702033">
                  <a:extLst>
                    <a:ext uri="{9D8B030D-6E8A-4147-A177-3AD203B41FA5}">
                      <a16:colId xmlns:a16="http://schemas.microsoft.com/office/drawing/2014/main" val="20004"/>
                    </a:ext>
                  </a:extLst>
                </a:gridCol>
                <a:gridCol w="702033">
                  <a:extLst>
                    <a:ext uri="{9D8B030D-6E8A-4147-A177-3AD203B41FA5}">
                      <a16:colId xmlns:a16="http://schemas.microsoft.com/office/drawing/2014/main" val="20005"/>
                    </a:ext>
                  </a:extLst>
                </a:gridCol>
                <a:gridCol w="702033">
                  <a:extLst>
                    <a:ext uri="{9D8B030D-6E8A-4147-A177-3AD203B41FA5}">
                      <a16:colId xmlns:a16="http://schemas.microsoft.com/office/drawing/2014/main" val="20006"/>
                    </a:ext>
                  </a:extLst>
                </a:gridCol>
                <a:gridCol w="702033">
                  <a:extLst>
                    <a:ext uri="{9D8B030D-6E8A-4147-A177-3AD203B41FA5}">
                      <a16:colId xmlns:a16="http://schemas.microsoft.com/office/drawing/2014/main" val="20007"/>
                    </a:ext>
                  </a:extLst>
                </a:gridCol>
                <a:gridCol w="702033">
                  <a:extLst>
                    <a:ext uri="{9D8B030D-6E8A-4147-A177-3AD203B41FA5}">
                      <a16:colId xmlns:a16="http://schemas.microsoft.com/office/drawing/2014/main" val="20008"/>
                    </a:ext>
                  </a:extLst>
                </a:gridCol>
                <a:gridCol w="702033">
                  <a:extLst>
                    <a:ext uri="{9D8B030D-6E8A-4147-A177-3AD203B41FA5}">
                      <a16:colId xmlns:a16="http://schemas.microsoft.com/office/drawing/2014/main" val="20009"/>
                    </a:ext>
                  </a:extLst>
                </a:gridCol>
                <a:gridCol w="702033">
                  <a:extLst>
                    <a:ext uri="{9D8B030D-6E8A-4147-A177-3AD203B41FA5}">
                      <a16:colId xmlns:a16="http://schemas.microsoft.com/office/drawing/2014/main" val="20010"/>
                    </a:ext>
                  </a:extLst>
                </a:gridCol>
                <a:gridCol w="702033">
                  <a:extLst>
                    <a:ext uri="{9D8B030D-6E8A-4147-A177-3AD203B41FA5}">
                      <a16:colId xmlns:a16="http://schemas.microsoft.com/office/drawing/2014/main" val="20011"/>
                    </a:ext>
                  </a:extLst>
                </a:gridCol>
                <a:gridCol w="702033">
                  <a:extLst>
                    <a:ext uri="{9D8B030D-6E8A-4147-A177-3AD203B41FA5}">
                      <a16:colId xmlns:a16="http://schemas.microsoft.com/office/drawing/2014/main" val="20012"/>
                    </a:ext>
                  </a:extLst>
                </a:gridCol>
              </a:tblGrid>
              <a:tr h="665633">
                <a:tc>
                  <a:txBody>
                    <a:bodyPr/>
                    <a:lstStyle/>
                    <a:p>
                      <a:pPr marL="0" lvl="0" indent="0" algn="ctr" rtl="0">
                        <a:spcBef>
                          <a:spcPts val="0"/>
                        </a:spcBef>
                        <a:spcAft>
                          <a:spcPts val="0"/>
                        </a:spcAft>
                        <a:buNone/>
                      </a:pPr>
                      <a:endParaRPr sz="2400" dirty="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7</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8</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9</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10</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11</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12</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4</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5</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6</a:t>
                      </a: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57733">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Proposal Writing</a:t>
                      </a:r>
                      <a:endParaRPr sz="2400">
                        <a:latin typeface="Times New Roman"/>
                        <a:ea typeface="Times New Roman"/>
                        <a:cs typeface="Times New Roman"/>
                        <a:sym typeface="Times New Roman"/>
                      </a:endParaRPr>
                    </a:p>
                  </a:txBody>
                  <a:tcPr marL="0" marR="0" marT="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57733">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Thesis Survey</a:t>
                      </a:r>
                      <a:endParaRPr sz="2400">
                        <a:latin typeface="Times New Roman"/>
                        <a:ea typeface="Times New Roman"/>
                        <a:cs typeface="Times New Roman"/>
                        <a:sym typeface="Times New Roman"/>
                      </a:endParaRPr>
                    </a:p>
                  </a:txBody>
                  <a:tcPr marL="0" marR="0" marT="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79520">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Environment Implementation</a:t>
                      </a:r>
                      <a:endParaRPr sz="2400">
                        <a:latin typeface="Times New Roman"/>
                        <a:ea typeface="Times New Roman"/>
                        <a:cs typeface="Times New Roman"/>
                        <a:sym typeface="Times New Roman"/>
                      </a:endParaRPr>
                    </a:p>
                  </a:txBody>
                  <a:tcPr marL="0" marR="0" marT="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79520">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Modules Implementation</a:t>
                      </a:r>
                      <a:endParaRPr sz="2400">
                        <a:latin typeface="Times New Roman"/>
                        <a:ea typeface="Times New Roman"/>
                        <a:cs typeface="Times New Roman"/>
                        <a:sym typeface="Times New Roman"/>
                      </a:endParaRPr>
                    </a:p>
                  </a:txBody>
                  <a:tcPr marL="0" marR="0" marT="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57733">
                <a:tc>
                  <a:txBody>
                    <a:bodyPr/>
                    <a:lstStyle/>
                    <a:p>
                      <a:pPr marL="0" lvl="0" indent="0" algn="ctr" rtl="0">
                        <a:spcBef>
                          <a:spcPts val="0"/>
                        </a:spcBef>
                        <a:spcAft>
                          <a:spcPts val="0"/>
                        </a:spcAft>
                        <a:buNone/>
                      </a:pPr>
                      <a:r>
                        <a:rPr lang="zh-TW" sz="2400" dirty="0">
                          <a:latin typeface="Times New Roman"/>
                          <a:ea typeface="Times New Roman"/>
                          <a:cs typeface="Times New Roman"/>
                          <a:sym typeface="Times New Roman"/>
                        </a:rPr>
                        <a:t>Experiment</a:t>
                      </a:r>
                      <a:endParaRPr sz="2400" dirty="0">
                        <a:latin typeface="Times New Roman"/>
                        <a:ea typeface="Times New Roman"/>
                        <a:cs typeface="Times New Roman"/>
                        <a:sym typeface="Times New Roman"/>
                      </a:endParaRPr>
                    </a:p>
                  </a:txBody>
                  <a:tcPr marL="0" marR="0" marT="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extLst>
                  <a:ext uri="{0D108BD9-81ED-4DB2-BD59-A6C34878D82A}">
                    <a16:rowId xmlns:a16="http://schemas.microsoft.com/office/drawing/2014/main" val="10005"/>
                  </a:ext>
                </a:extLst>
              </a:tr>
              <a:tr h="657733">
                <a:tc>
                  <a:txBody>
                    <a:bodyPr/>
                    <a:lstStyle/>
                    <a:p>
                      <a:pPr marL="0" lvl="0" indent="0" algn="ctr" rtl="0">
                        <a:spcBef>
                          <a:spcPts val="0"/>
                        </a:spcBef>
                        <a:spcAft>
                          <a:spcPts val="0"/>
                        </a:spcAft>
                        <a:buNone/>
                      </a:pPr>
                      <a:r>
                        <a:rPr lang="zh-TW" sz="2400">
                          <a:latin typeface="Times New Roman"/>
                          <a:ea typeface="Times New Roman"/>
                          <a:cs typeface="Times New Roman"/>
                          <a:sym typeface="Times New Roman"/>
                        </a:rPr>
                        <a:t>Thesis Writing</a:t>
                      </a:r>
                      <a:endParaRPr sz="2400">
                        <a:latin typeface="Times New Roman"/>
                        <a:ea typeface="Times New Roman"/>
                        <a:cs typeface="Times New Roman"/>
                        <a:sym typeface="Times New Roman"/>
                      </a:endParaRPr>
                    </a:p>
                  </a:txBody>
                  <a:tcPr marL="0" marR="0" marT="0" marB="480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endParaRPr sz="2400">
                        <a:solidFill>
                          <a:srgbClr val="FF9900"/>
                        </a:solidFill>
                        <a:latin typeface="Times New Roman"/>
                        <a:ea typeface="Times New Roman"/>
                        <a:cs typeface="Times New Roman"/>
                        <a:sym typeface="Times New Roman"/>
                      </a:endParaRPr>
                    </a:p>
                  </a:txBody>
                  <a:tcPr marL="121900" marR="121900" marT="121900" marB="1219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extLst>
                  <a:ext uri="{0D108BD9-81ED-4DB2-BD59-A6C34878D82A}">
                    <a16:rowId xmlns:a16="http://schemas.microsoft.com/office/drawing/2014/main" val="10006"/>
                  </a:ext>
                </a:extLst>
              </a:tr>
            </a:tbl>
          </a:graphicData>
        </a:graphic>
      </p:graphicFrame>
      <p:sp>
        <p:nvSpPr>
          <p:cNvPr id="336" name="Google Shape;336;p40"/>
          <p:cNvSpPr txBox="1">
            <a:spLocks noGrp="1"/>
          </p:cNvSpPr>
          <p:nvPr>
            <p:ph type="title"/>
          </p:nvPr>
        </p:nvSpPr>
        <p:spPr>
          <a:xfrm>
            <a:off x="865735" y="156800"/>
            <a:ext cx="7866400" cy="731200"/>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buClr>
                <a:srgbClr val="000000"/>
              </a:buClr>
              <a:buSzPct val="96428"/>
            </a:pPr>
            <a:r>
              <a:rPr lang="zh-TW">
                <a:latin typeface="Times New Roman"/>
                <a:ea typeface="Times New Roman"/>
                <a:cs typeface="Times New Roman"/>
                <a:sym typeface="Times New Roman"/>
              </a:rPr>
              <a:t>Schedule</a:t>
            </a:r>
            <a:endParaRPr>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399"/>
        <p:cNvGrpSpPr/>
        <p:nvPr/>
      </p:nvGrpSpPr>
      <p:grpSpPr>
        <a:xfrm>
          <a:off x="0" y="0"/>
          <a:ext cx="0" cy="0"/>
          <a:chOff x="0" y="0"/>
          <a:chExt cx="0" cy="0"/>
        </a:xfrm>
      </p:grpSpPr>
      <p:sp>
        <p:nvSpPr>
          <p:cNvPr id="400" name="Google Shape;400;p49"/>
          <p:cNvSpPr/>
          <p:nvPr/>
        </p:nvSpPr>
        <p:spPr>
          <a:xfrm>
            <a:off x="3813933" y="4058833"/>
            <a:ext cx="7948000" cy="1551200"/>
          </a:xfrm>
          <a:prstGeom prst="rect">
            <a:avLst/>
          </a:prstGeom>
          <a:noFill/>
          <a:ln w="19050" cap="flat" cmpd="sng">
            <a:solidFill>
              <a:schemeClr val="dk1"/>
            </a:solidFill>
            <a:prstDash val="lgDash"/>
            <a:round/>
            <a:headEnd type="none" w="sm" len="sm"/>
            <a:tailEnd type="none" w="sm" len="sm"/>
          </a:ln>
        </p:spPr>
        <p:txBody>
          <a:bodyPr spcFirstLastPara="1" wrap="square" lIns="121900" tIns="48000" rIns="121900" bIns="121900" anchor="t" anchorCtr="0">
            <a:noAutofit/>
          </a:bodyPr>
          <a:lstStyle/>
          <a:p>
            <a:pPr algn="r"/>
            <a:r>
              <a:rPr lang="zh-TW" altLang="en-US" sz="2400" dirty="0">
                <a:latin typeface="Abadi" panose="020B0604020104020204" pitchFamily="34" charset="0"/>
              </a:rPr>
              <a:t> </a:t>
            </a:r>
            <a:r>
              <a:rPr lang="en-US" altLang="zh-TW" sz="2400" b="1" i="1" dirty="0">
                <a:solidFill>
                  <a:schemeClr val="dk1"/>
                </a:solidFill>
                <a:latin typeface="Times New Roman"/>
                <a:ea typeface="Times New Roman"/>
                <a:cs typeface="Times New Roman"/>
                <a:sym typeface="Times New Roman"/>
              </a:rPr>
              <a:t>Strategist LLM</a:t>
            </a:r>
            <a:endParaRPr sz="2400" b="1" i="1" dirty="0">
              <a:solidFill>
                <a:schemeClr val="dk1"/>
              </a:solidFill>
              <a:latin typeface="Times New Roman"/>
              <a:ea typeface="Times New Roman"/>
              <a:cs typeface="Times New Roman"/>
              <a:sym typeface="Times New Roman"/>
            </a:endParaRPr>
          </a:p>
        </p:txBody>
      </p:sp>
      <p:sp>
        <p:nvSpPr>
          <p:cNvPr id="401" name="Google Shape;401;p49"/>
          <p:cNvSpPr txBox="1"/>
          <p:nvPr/>
        </p:nvSpPr>
        <p:spPr>
          <a:xfrm>
            <a:off x="8658861" y="4599929"/>
            <a:ext cx="628000" cy="512857"/>
          </a:xfrm>
          <a:prstGeom prst="rect">
            <a:avLst/>
          </a:prstGeom>
          <a:noFill/>
          <a:ln>
            <a:noFill/>
          </a:ln>
        </p:spPr>
        <p:txBody>
          <a:bodyPr spcFirstLastPara="1" wrap="square" lIns="121900" tIns="121900" rIns="121900" bIns="121900" anchor="t" anchorCtr="0">
            <a:spAutoFit/>
          </a:bodyPr>
          <a:lstStyle/>
          <a:p>
            <a:r>
              <a:rPr lang="en-US" altLang="zh-TW" sz="1733" dirty="0">
                <a:solidFill>
                  <a:schemeClr val="dk1"/>
                </a:solidFill>
                <a:latin typeface="Times New Roman"/>
                <a:ea typeface="Times New Roman"/>
                <a:cs typeface="Times New Roman"/>
                <a:sym typeface="Times New Roman"/>
              </a:rPr>
              <a:t>Yes</a:t>
            </a:r>
            <a:endParaRPr sz="1733" dirty="0">
              <a:solidFill>
                <a:schemeClr val="dk1"/>
              </a:solidFill>
              <a:latin typeface="Times New Roman"/>
              <a:ea typeface="Times New Roman"/>
              <a:cs typeface="Times New Roman"/>
              <a:sym typeface="Times New Roman"/>
            </a:endParaRPr>
          </a:p>
        </p:txBody>
      </p:sp>
      <p:sp>
        <p:nvSpPr>
          <p:cNvPr id="402" name="Google Shape;402;p49"/>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51</a:t>
            </a:fld>
            <a:endParaRPr dirty="0"/>
          </a:p>
        </p:txBody>
      </p:sp>
      <p:sp>
        <p:nvSpPr>
          <p:cNvPr id="403" name="Google Shape;403;p49"/>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Implementation – Fast/Slow-Path Gating</a:t>
            </a:r>
            <a:endParaRPr sz="4000" dirty="0">
              <a:latin typeface="Times New Roman"/>
              <a:ea typeface="Times New Roman"/>
              <a:cs typeface="Times New Roman"/>
              <a:sym typeface="Times New Roman"/>
            </a:endParaRPr>
          </a:p>
        </p:txBody>
      </p:sp>
      <p:sp>
        <p:nvSpPr>
          <p:cNvPr id="404" name="Google Shape;404;p49"/>
          <p:cNvSpPr txBox="1">
            <a:spLocks noGrp="1"/>
          </p:cNvSpPr>
          <p:nvPr>
            <p:ph type="subTitle" idx="4294967295"/>
          </p:nvPr>
        </p:nvSpPr>
        <p:spPr>
          <a:xfrm>
            <a:off x="0" y="1332767"/>
            <a:ext cx="11762000" cy="1832400"/>
          </a:xfrm>
          <a:prstGeom prst="rect">
            <a:avLst/>
          </a:prstGeom>
        </p:spPr>
        <p:txBody>
          <a:bodyPr spcFirstLastPara="1" vert="horz" wrap="square" lIns="121900" tIns="121900" rIns="121900" bIns="121900" rtlCol="0" anchor="t" anchorCtr="0">
            <a:noAutofit/>
          </a:bodyPr>
          <a:lstStyle/>
          <a:p>
            <a:pPr marL="518387" indent="-408790">
              <a:lnSpc>
                <a:spcPct val="115000"/>
              </a:lnSpc>
              <a:spcBef>
                <a:spcPts val="0"/>
              </a:spcBef>
              <a:buClr>
                <a:schemeClr val="dk1"/>
              </a:buClr>
              <a:buSzPts val="1200"/>
              <a:buFont typeface="Times New Roman"/>
              <a:buChar char="●"/>
            </a:pPr>
            <a:r>
              <a:rPr lang="zh-TW" sz="2400" dirty="0">
                <a:solidFill>
                  <a:schemeClr val="dk1"/>
                </a:solidFill>
                <a:latin typeface="Times New Roman"/>
                <a:ea typeface="Times New Roman"/>
                <a:cs typeface="Times New Roman"/>
                <a:sym typeface="Times New Roman"/>
              </a:rPr>
              <a:t>Balance real-time responsiveness with selective LLM reasoning in a honeypot.</a:t>
            </a:r>
            <a:endParaRPr sz="24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zh-TW" sz="2400" dirty="0">
                <a:solidFill>
                  <a:schemeClr val="dk1"/>
                </a:solidFill>
                <a:latin typeface="Times New Roman"/>
                <a:ea typeface="Times New Roman"/>
                <a:cs typeface="Times New Roman"/>
                <a:sym typeface="Times New Roman"/>
              </a:rPr>
              <a:t>Fast Path: No technique detected → execute in sandbox &amp; reply immediately </a:t>
            </a:r>
            <a:endParaRPr sz="24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zh-TW" sz="2400" dirty="0">
                <a:solidFill>
                  <a:schemeClr val="dk1"/>
                </a:solidFill>
                <a:latin typeface="Times New Roman"/>
                <a:ea typeface="Times New Roman"/>
                <a:cs typeface="Times New Roman"/>
                <a:sym typeface="Times New Roman"/>
              </a:rPr>
              <a:t>Slow Path : Technique detected → LLM reason &amp; generate engagement strategy via Toolkit, then reply.</a:t>
            </a:r>
            <a:endParaRPr sz="2400" dirty="0">
              <a:solidFill>
                <a:schemeClr val="dk1"/>
              </a:solidFill>
              <a:latin typeface="Times New Roman"/>
              <a:ea typeface="Times New Roman"/>
              <a:cs typeface="Times New Roman"/>
              <a:sym typeface="Times New Roman"/>
            </a:endParaRPr>
          </a:p>
          <a:p>
            <a:pPr marL="0" indent="0">
              <a:lnSpc>
                <a:spcPct val="115000"/>
              </a:lnSpc>
              <a:spcBef>
                <a:spcPts val="0"/>
              </a:spcBef>
              <a:buNone/>
            </a:pPr>
            <a:endParaRPr dirty="0">
              <a:solidFill>
                <a:schemeClr val="dk1"/>
              </a:solidFill>
              <a:latin typeface="Times New Roman"/>
              <a:ea typeface="Times New Roman"/>
              <a:cs typeface="Times New Roman"/>
              <a:sym typeface="Times New Roman"/>
            </a:endParaRPr>
          </a:p>
        </p:txBody>
      </p:sp>
      <p:sp>
        <p:nvSpPr>
          <p:cNvPr id="405" name="Google Shape;405;p49"/>
          <p:cNvSpPr/>
          <p:nvPr/>
        </p:nvSpPr>
        <p:spPr>
          <a:xfrm>
            <a:off x="4090067" y="4585400"/>
            <a:ext cx="1752000" cy="8264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Command </a:t>
            </a:r>
            <a:endParaRPr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algn="ctr"/>
            <a:r>
              <a:rPr lang="en-US" altLang="zh-TW"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&amp; Response</a:t>
            </a:r>
            <a:endParaRPr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406" name="Google Shape;406;p49"/>
          <p:cNvSpPr/>
          <p:nvPr/>
        </p:nvSpPr>
        <p:spPr>
          <a:xfrm>
            <a:off x="2299867" y="4657067"/>
            <a:ext cx="1304400" cy="681600"/>
          </a:xfrm>
          <a:prstGeom prst="roundRect">
            <a:avLst>
              <a:gd name="adj" fmla="val 16667"/>
            </a:avLst>
          </a:prstGeom>
          <a:solidFill>
            <a:srgbClr val="C2DDDA"/>
          </a:solid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dirty="0">
                <a:solidFill>
                  <a:schemeClr val="dk1"/>
                </a:solidFill>
                <a:latin typeface="Calibri"/>
                <a:ea typeface="Calibri"/>
                <a:cs typeface="Calibri"/>
                <a:sym typeface="Calibri"/>
              </a:rPr>
              <a:t>Sandbox</a:t>
            </a:r>
            <a:endParaRPr dirty="0">
              <a:solidFill>
                <a:schemeClr val="dk1"/>
              </a:solidFill>
              <a:latin typeface="Calibri"/>
              <a:ea typeface="Calibri"/>
              <a:cs typeface="Calibri"/>
              <a:sym typeface="Calibri"/>
            </a:endParaRPr>
          </a:p>
        </p:txBody>
      </p:sp>
      <p:cxnSp>
        <p:nvCxnSpPr>
          <p:cNvPr id="407" name="Google Shape;407;p49"/>
          <p:cNvCxnSpPr>
            <a:stCxn id="405" idx="1"/>
            <a:endCxn id="406" idx="3"/>
          </p:cNvCxnSpPr>
          <p:nvPr/>
        </p:nvCxnSpPr>
        <p:spPr>
          <a:xfrm rot="10800000">
            <a:off x="3604467" y="4997800"/>
            <a:ext cx="485600" cy="800"/>
          </a:xfrm>
          <a:prstGeom prst="straightConnector1">
            <a:avLst/>
          </a:prstGeom>
          <a:noFill/>
          <a:ln w="19050" cap="flat" cmpd="sng">
            <a:solidFill>
              <a:schemeClr val="dk1"/>
            </a:solidFill>
            <a:prstDash val="solid"/>
            <a:round/>
            <a:headEnd type="triangle" w="med" len="med"/>
            <a:tailEnd type="none" w="sm" len="sm"/>
          </a:ln>
        </p:spPr>
      </p:cxnSp>
      <p:sp>
        <p:nvSpPr>
          <p:cNvPr id="408" name="Google Shape;408;p49"/>
          <p:cNvSpPr/>
          <p:nvPr/>
        </p:nvSpPr>
        <p:spPr>
          <a:xfrm>
            <a:off x="6415100" y="4559267"/>
            <a:ext cx="2287200" cy="877200"/>
          </a:xfrm>
          <a:prstGeom prst="diamond">
            <a:avLst/>
          </a:prstGeom>
          <a:solidFill>
            <a:schemeClr val="lt2"/>
          </a:solidFill>
          <a:ln w="19050" cap="flat" cmpd="sng">
            <a:solidFill>
              <a:schemeClr val="dk1"/>
            </a:solidFill>
            <a:prstDash val="solid"/>
            <a:round/>
            <a:headEnd type="none" w="sm" len="sm"/>
            <a:tailEnd type="none" w="sm" len="sm"/>
          </a:ln>
        </p:spPr>
        <p:txBody>
          <a:bodyPr spcFirstLastPara="1" wrap="square" lIns="0" tIns="0" rIns="0" bIns="144000" anchor="ctr" anchorCtr="0">
            <a:noAutofit/>
          </a:bodyPr>
          <a:lstStyle/>
          <a:p>
            <a:pPr algn="ctr"/>
            <a:r>
              <a:rPr lang="en-US" altLang="zh-TW" dirty="0">
                <a:latin typeface="Calibri" panose="020F0502020204030204" pitchFamily="34" charset="0"/>
                <a:ea typeface="Calibri" panose="020F0502020204030204" pitchFamily="34" charset="0"/>
                <a:cs typeface="Calibri" panose="020F0502020204030204" pitchFamily="34" charset="0"/>
                <a:sym typeface="Times New Roman"/>
              </a:rPr>
              <a:t>Is a technique?</a:t>
            </a:r>
            <a:endParaRPr dirty="0">
              <a:latin typeface="Calibri" panose="020F0502020204030204" pitchFamily="34" charset="0"/>
              <a:ea typeface="Calibri" panose="020F0502020204030204" pitchFamily="34" charset="0"/>
              <a:cs typeface="Calibri" panose="020F0502020204030204" pitchFamily="34" charset="0"/>
              <a:sym typeface="Times New Roman"/>
            </a:endParaRPr>
          </a:p>
        </p:txBody>
      </p:sp>
      <p:cxnSp>
        <p:nvCxnSpPr>
          <p:cNvPr id="409" name="Google Shape;409;p49"/>
          <p:cNvCxnSpPr>
            <a:stCxn id="408" idx="1"/>
            <a:endCxn id="405" idx="3"/>
          </p:cNvCxnSpPr>
          <p:nvPr/>
        </p:nvCxnSpPr>
        <p:spPr>
          <a:xfrm flipH="1">
            <a:off x="5841900" y="4997867"/>
            <a:ext cx="573200" cy="800"/>
          </a:xfrm>
          <a:prstGeom prst="straightConnector1">
            <a:avLst/>
          </a:prstGeom>
          <a:noFill/>
          <a:ln w="19050" cap="flat" cmpd="sng">
            <a:solidFill>
              <a:schemeClr val="dk1"/>
            </a:solidFill>
            <a:prstDash val="solid"/>
            <a:round/>
            <a:headEnd type="triangle" w="med" len="med"/>
            <a:tailEnd type="none" w="sm" len="sm"/>
          </a:ln>
        </p:spPr>
      </p:cxnSp>
      <p:cxnSp>
        <p:nvCxnSpPr>
          <p:cNvPr id="410" name="Google Shape;410;p49"/>
          <p:cNvCxnSpPr>
            <a:stCxn id="411" idx="1"/>
            <a:endCxn id="408" idx="3"/>
          </p:cNvCxnSpPr>
          <p:nvPr/>
        </p:nvCxnSpPr>
        <p:spPr>
          <a:xfrm flipH="1">
            <a:off x="8702300" y="4992833"/>
            <a:ext cx="628000" cy="5200"/>
          </a:xfrm>
          <a:prstGeom prst="straightConnector1">
            <a:avLst/>
          </a:prstGeom>
          <a:noFill/>
          <a:ln w="19050" cap="flat" cmpd="sng">
            <a:solidFill>
              <a:schemeClr val="dk1"/>
            </a:solidFill>
            <a:prstDash val="solid"/>
            <a:round/>
            <a:headEnd type="triangle" w="med" len="med"/>
            <a:tailEnd type="none" w="sm" len="sm"/>
          </a:ln>
        </p:spPr>
      </p:cxnSp>
      <p:sp>
        <p:nvSpPr>
          <p:cNvPr id="412" name="Google Shape;412;p49"/>
          <p:cNvSpPr txBox="1"/>
          <p:nvPr/>
        </p:nvSpPr>
        <p:spPr>
          <a:xfrm>
            <a:off x="7558700" y="4237601"/>
            <a:ext cx="573200" cy="512857"/>
          </a:xfrm>
          <a:prstGeom prst="rect">
            <a:avLst/>
          </a:prstGeom>
          <a:noFill/>
          <a:ln>
            <a:noFill/>
          </a:ln>
        </p:spPr>
        <p:txBody>
          <a:bodyPr spcFirstLastPara="1" wrap="square" lIns="121900" tIns="121900" rIns="121900" bIns="121900" anchor="t" anchorCtr="0">
            <a:spAutoFit/>
          </a:bodyPr>
          <a:lstStyle/>
          <a:p>
            <a:r>
              <a:rPr lang="en-US" altLang="zh-TW" sz="1733" dirty="0">
                <a:solidFill>
                  <a:schemeClr val="dk1"/>
                </a:solidFill>
                <a:latin typeface="Times New Roman"/>
                <a:ea typeface="Times New Roman"/>
                <a:cs typeface="Times New Roman"/>
                <a:sym typeface="Times New Roman"/>
              </a:rPr>
              <a:t>No</a:t>
            </a:r>
            <a:endParaRPr sz="1733" dirty="0">
              <a:solidFill>
                <a:schemeClr val="dk1"/>
              </a:solidFill>
              <a:latin typeface="Times New Roman"/>
              <a:ea typeface="Times New Roman"/>
              <a:cs typeface="Times New Roman"/>
              <a:sym typeface="Times New Roman"/>
            </a:endParaRPr>
          </a:p>
        </p:txBody>
      </p:sp>
      <p:sp>
        <p:nvSpPr>
          <p:cNvPr id="411" name="Google Shape;411;p49"/>
          <p:cNvSpPr/>
          <p:nvPr/>
        </p:nvSpPr>
        <p:spPr>
          <a:xfrm>
            <a:off x="9330300" y="4579633"/>
            <a:ext cx="2287200" cy="8264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Reasoning and Spawn Strategy</a:t>
            </a:r>
            <a:endParaRPr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413" name="Google Shape;413;p49"/>
          <p:cNvSpPr/>
          <p:nvPr/>
        </p:nvSpPr>
        <p:spPr>
          <a:xfrm>
            <a:off x="6682700" y="5809583"/>
            <a:ext cx="1752000" cy="604000"/>
          </a:xfrm>
          <a:prstGeom prst="roundRect">
            <a:avLst>
              <a:gd name="adj" fmla="val 16667"/>
            </a:avLst>
          </a:prstGeom>
          <a:solidFill>
            <a:srgbClr val="C2DDDA"/>
          </a:solid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1867" dirty="0">
                <a:solidFill>
                  <a:schemeClr val="dk1"/>
                </a:solidFill>
                <a:latin typeface="Calibri"/>
                <a:ea typeface="Calibri"/>
                <a:cs typeface="Calibri"/>
                <a:sym typeface="Calibri"/>
              </a:rPr>
              <a:t>Toolkit</a:t>
            </a:r>
            <a:endParaRPr sz="1867" dirty="0">
              <a:solidFill>
                <a:schemeClr val="dk1"/>
              </a:solidFill>
              <a:latin typeface="Calibri"/>
              <a:ea typeface="Calibri"/>
              <a:cs typeface="Calibri"/>
              <a:sym typeface="Calibri"/>
            </a:endParaRPr>
          </a:p>
        </p:txBody>
      </p:sp>
      <p:cxnSp>
        <p:nvCxnSpPr>
          <p:cNvPr id="414" name="Google Shape;414;p49"/>
          <p:cNvCxnSpPr>
            <a:stCxn id="411" idx="2"/>
            <a:endCxn id="413" idx="3"/>
          </p:cNvCxnSpPr>
          <p:nvPr/>
        </p:nvCxnSpPr>
        <p:spPr>
          <a:xfrm rot="5400000">
            <a:off x="9101525" y="4739208"/>
            <a:ext cx="705550" cy="2039200"/>
          </a:xfrm>
          <a:prstGeom prst="bentConnector2">
            <a:avLst/>
          </a:prstGeom>
          <a:noFill/>
          <a:ln w="19050" cap="flat" cmpd="sng">
            <a:solidFill>
              <a:schemeClr val="dk1"/>
            </a:solidFill>
            <a:prstDash val="solid"/>
            <a:round/>
            <a:headEnd type="none" w="med" len="med"/>
            <a:tailEnd type="stealth" w="med" len="med"/>
          </a:ln>
        </p:spPr>
      </p:cxnSp>
      <p:sp>
        <p:nvSpPr>
          <p:cNvPr id="415" name="Google Shape;415;p49"/>
          <p:cNvSpPr/>
          <p:nvPr/>
        </p:nvSpPr>
        <p:spPr>
          <a:xfrm>
            <a:off x="335197" y="4585400"/>
            <a:ext cx="1304400" cy="826400"/>
          </a:xfrm>
          <a:prstGeom prst="roundRect">
            <a:avLst>
              <a:gd name="adj" fmla="val 16667"/>
            </a:avLst>
          </a:prstGeom>
          <a:solidFill>
            <a:srgbClr val="C2DDDA"/>
          </a:solid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dirty="0">
                <a:solidFill>
                  <a:schemeClr val="dk1"/>
                </a:solidFill>
                <a:latin typeface="Calibri"/>
                <a:ea typeface="Calibri"/>
                <a:cs typeface="Calibri"/>
                <a:sym typeface="Calibri"/>
              </a:rPr>
              <a:t>Attacker</a:t>
            </a:r>
            <a:endParaRPr dirty="0">
              <a:solidFill>
                <a:schemeClr val="dk1"/>
              </a:solidFill>
              <a:latin typeface="Calibri"/>
              <a:ea typeface="Calibri"/>
              <a:cs typeface="Calibri"/>
              <a:sym typeface="Calibri"/>
            </a:endParaRPr>
          </a:p>
        </p:txBody>
      </p:sp>
      <p:cxnSp>
        <p:nvCxnSpPr>
          <p:cNvPr id="416" name="Google Shape;416;p49"/>
          <p:cNvCxnSpPr>
            <a:stCxn id="415" idx="3"/>
            <a:endCxn id="406" idx="1"/>
          </p:cNvCxnSpPr>
          <p:nvPr/>
        </p:nvCxnSpPr>
        <p:spPr>
          <a:xfrm rot="10800000" flipH="1">
            <a:off x="1639597" y="4997800"/>
            <a:ext cx="660400" cy="800"/>
          </a:xfrm>
          <a:prstGeom prst="straightConnector1">
            <a:avLst/>
          </a:prstGeom>
          <a:noFill/>
          <a:ln w="19050" cap="flat" cmpd="sng">
            <a:solidFill>
              <a:schemeClr val="dk1"/>
            </a:solidFill>
            <a:prstDash val="solid"/>
            <a:round/>
            <a:headEnd type="stealth" w="med" len="med"/>
            <a:tailEnd type="stealth" w="med" len="med"/>
          </a:ln>
        </p:spPr>
      </p:cxnSp>
      <p:cxnSp>
        <p:nvCxnSpPr>
          <p:cNvPr id="417" name="Google Shape;417;p49"/>
          <p:cNvCxnSpPr>
            <a:stCxn id="413" idx="1"/>
            <a:endCxn id="406" idx="2"/>
          </p:cNvCxnSpPr>
          <p:nvPr/>
        </p:nvCxnSpPr>
        <p:spPr>
          <a:xfrm rot="10800000">
            <a:off x="2952068" y="5338667"/>
            <a:ext cx="3730633" cy="772916"/>
          </a:xfrm>
          <a:prstGeom prst="bentConnector2">
            <a:avLst/>
          </a:prstGeom>
          <a:noFill/>
          <a:ln w="19050" cap="flat" cmpd="sng">
            <a:solidFill>
              <a:schemeClr val="dk1"/>
            </a:solidFill>
            <a:prstDash val="solid"/>
            <a:round/>
            <a:headEnd type="none" w="med" len="med"/>
            <a:tailEnd type="stealth" w="med" len="med"/>
          </a:ln>
        </p:spPr>
      </p:cxnSp>
      <p:cxnSp>
        <p:nvCxnSpPr>
          <p:cNvPr id="418" name="Google Shape;418;p49"/>
          <p:cNvCxnSpPr>
            <a:stCxn id="408" idx="0"/>
            <a:endCxn id="406" idx="0"/>
          </p:cNvCxnSpPr>
          <p:nvPr/>
        </p:nvCxnSpPr>
        <p:spPr>
          <a:xfrm rot="5400000">
            <a:off x="5206300" y="2304867"/>
            <a:ext cx="98000" cy="4606800"/>
          </a:xfrm>
          <a:prstGeom prst="bentConnector3">
            <a:avLst>
              <a:gd name="adj1" fmla="val -777755"/>
            </a:avLst>
          </a:prstGeom>
          <a:noFill/>
          <a:ln w="19050" cap="flat" cmpd="sng">
            <a:solidFill>
              <a:schemeClr val="dk1"/>
            </a:solidFill>
            <a:prstDash val="solid"/>
            <a:round/>
            <a:headEnd type="none" w="med" len="med"/>
            <a:tailEnd type="stealth" w="med" len="med"/>
          </a:ln>
        </p:spPr>
      </p:cxnSp>
    </p:spTree>
    <p:extLst>
      <p:ext uri="{BB962C8B-B14F-4D97-AF65-F5344CB8AC3E}">
        <p14:creationId xmlns:p14="http://schemas.microsoft.com/office/powerpoint/2010/main" val="385621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422"/>
        <p:cNvGrpSpPr/>
        <p:nvPr/>
      </p:nvGrpSpPr>
      <p:grpSpPr>
        <a:xfrm>
          <a:off x="0" y="0"/>
          <a:ext cx="0" cy="0"/>
          <a:chOff x="0" y="0"/>
          <a:chExt cx="0" cy="0"/>
        </a:xfrm>
      </p:grpSpPr>
      <p:sp>
        <p:nvSpPr>
          <p:cNvPr id="423" name="Google Shape;423;p50"/>
          <p:cNvSpPr/>
          <p:nvPr/>
        </p:nvSpPr>
        <p:spPr>
          <a:xfrm>
            <a:off x="3752333" y="2660100"/>
            <a:ext cx="6063600" cy="3440450"/>
          </a:xfrm>
          <a:prstGeom prst="rect">
            <a:avLst/>
          </a:prstGeom>
          <a:noFill/>
          <a:ln w="19050" cap="flat" cmpd="sng">
            <a:solidFill>
              <a:schemeClr val="dk1"/>
            </a:solidFill>
            <a:prstDash val="dash"/>
            <a:round/>
            <a:headEnd type="none" w="sm" len="sm"/>
            <a:tailEnd type="none" w="sm" len="sm"/>
          </a:ln>
        </p:spPr>
        <p:txBody>
          <a:bodyPr spcFirstLastPara="1" wrap="square" lIns="121900" tIns="121900" rIns="121900" bIns="36000" anchor="b" anchorCtr="0">
            <a:noAutofit/>
          </a:bodyPr>
          <a:lstStyle/>
          <a:p>
            <a:pPr algn="r"/>
            <a:r>
              <a:rPr lang="zh-TW" altLang="en-US" sz="2400" dirty="0">
                <a:latin typeface="Times New Roman"/>
                <a:ea typeface="Times New Roman"/>
                <a:cs typeface="Times New Roman"/>
                <a:sym typeface="Times New Roman"/>
              </a:rPr>
              <a:t>                                                                          </a:t>
            </a:r>
            <a:r>
              <a:rPr lang="en-US" altLang="zh-TW" sz="2400" b="1" dirty="0">
                <a:latin typeface="Times New Roman"/>
                <a:ea typeface="Times New Roman"/>
                <a:cs typeface="Times New Roman"/>
                <a:sym typeface="Times New Roman"/>
              </a:rPr>
              <a:t>Honeypot</a:t>
            </a:r>
            <a:endParaRPr sz="2400" b="1" dirty="0">
              <a:latin typeface="Times New Roman"/>
              <a:ea typeface="Times New Roman"/>
              <a:cs typeface="Times New Roman"/>
              <a:sym typeface="Times New Roman"/>
            </a:endParaRPr>
          </a:p>
        </p:txBody>
      </p:sp>
      <p:sp>
        <p:nvSpPr>
          <p:cNvPr id="424" name="Google Shape;424;p50"/>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52</a:t>
            </a:fld>
            <a:endParaRPr dirty="0"/>
          </a:p>
        </p:txBody>
      </p:sp>
      <p:sp>
        <p:nvSpPr>
          <p:cNvPr id="425" name="Google Shape;425;p50"/>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Implementation</a:t>
            </a:r>
            <a:r>
              <a:rPr lang="zh-TW" altLang="en-US" sz="4000" dirty="0">
                <a:latin typeface="Times New Roman"/>
                <a:ea typeface="Times New Roman"/>
                <a:cs typeface="Times New Roman"/>
                <a:sym typeface="Times New Roman"/>
              </a:rPr>
              <a:t> </a:t>
            </a:r>
            <a:r>
              <a:rPr lang="zh-TW" sz="4000" dirty="0">
                <a:latin typeface="Times New Roman"/>
                <a:ea typeface="Times New Roman"/>
                <a:cs typeface="Times New Roman"/>
                <a:sym typeface="Times New Roman"/>
              </a:rPr>
              <a:t>–</a:t>
            </a:r>
            <a:r>
              <a:rPr lang="zh-TW" altLang="en-US" sz="4000" dirty="0">
                <a:latin typeface="Times New Roman"/>
                <a:ea typeface="Times New Roman"/>
                <a:cs typeface="Times New Roman"/>
                <a:sym typeface="Times New Roman"/>
              </a:rPr>
              <a:t> </a:t>
            </a:r>
            <a:r>
              <a:rPr lang="zh-TW" sz="4000" dirty="0">
                <a:latin typeface="Times New Roman"/>
                <a:ea typeface="Times New Roman"/>
                <a:cs typeface="Times New Roman"/>
                <a:sym typeface="Times New Roman"/>
              </a:rPr>
              <a:t>Sandbox and Honeypot</a:t>
            </a:r>
            <a:r>
              <a:rPr lang="zh-TW" altLang="en-US" sz="4000" dirty="0">
                <a:latin typeface="Times New Roman"/>
                <a:ea typeface="Times New Roman"/>
                <a:cs typeface="Times New Roman"/>
                <a:sym typeface="Times New Roman"/>
              </a:rPr>
              <a:t> </a:t>
            </a:r>
            <a:r>
              <a:rPr lang="zh-TW" sz="4000" dirty="0">
                <a:latin typeface="Times New Roman"/>
                <a:ea typeface="Times New Roman"/>
                <a:cs typeface="Times New Roman"/>
                <a:sym typeface="Times New Roman"/>
              </a:rPr>
              <a:t>Entrypoint</a:t>
            </a:r>
            <a:endParaRPr sz="4000" dirty="0">
              <a:latin typeface="Times New Roman"/>
              <a:ea typeface="Times New Roman"/>
              <a:cs typeface="Times New Roman"/>
              <a:sym typeface="Times New Roman"/>
            </a:endParaRPr>
          </a:p>
        </p:txBody>
      </p:sp>
      <p:sp>
        <p:nvSpPr>
          <p:cNvPr id="426" name="Google Shape;426;p50"/>
          <p:cNvSpPr txBox="1">
            <a:spLocks noGrp="1"/>
          </p:cNvSpPr>
          <p:nvPr>
            <p:ph type="subTitle" idx="4294967295"/>
          </p:nvPr>
        </p:nvSpPr>
        <p:spPr>
          <a:xfrm>
            <a:off x="123367" y="1220333"/>
            <a:ext cx="11762000" cy="1832400"/>
          </a:xfrm>
          <a:prstGeom prst="rect">
            <a:avLst/>
          </a:prstGeom>
        </p:spPr>
        <p:txBody>
          <a:bodyPr spcFirstLastPara="1" vert="horz" wrap="square" lIns="121900" tIns="121900" rIns="121900" bIns="121900" rtlCol="0" anchor="t" anchorCtr="0">
            <a:noAutofit/>
          </a:bodyPr>
          <a:lstStyle/>
          <a:p>
            <a:pPr marL="518387" indent="-408790">
              <a:lnSpc>
                <a:spcPct val="115000"/>
              </a:lnSpc>
              <a:spcBef>
                <a:spcPts val="0"/>
              </a:spcBef>
              <a:buClr>
                <a:schemeClr val="dk1"/>
              </a:buClr>
              <a:buSzPts val="1200"/>
              <a:buFont typeface="Times New Roman"/>
              <a:buChar char="●"/>
            </a:pPr>
            <a:r>
              <a:rPr lang="zh-TW" dirty="0">
                <a:solidFill>
                  <a:schemeClr val="dk1"/>
                </a:solidFill>
                <a:latin typeface="Times New Roman"/>
                <a:ea typeface="Times New Roman"/>
                <a:cs typeface="Times New Roman"/>
                <a:sym typeface="Times New Roman"/>
              </a:rPr>
              <a:t>Proxy must intercept attacker’s commands and system’s response</a:t>
            </a:r>
            <a:endParaRPr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zh-TW" dirty="0">
                <a:solidFill>
                  <a:schemeClr val="dk1"/>
                </a:solidFill>
                <a:latin typeface="Times New Roman"/>
                <a:ea typeface="Times New Roman"/>
                <a:cs typeface="Times New Roman"/>
                <a:sym typeface="Times New Roman"/>
              </a:rPr>
              <a:t>Allows attacker to do Lateral</a:t>
            </a:r>
            <a:r>
              <a:rPr lang="zh-TW" b="1" dirty="0">
                <a:solidFill>
                  <a:schemeClr val="dk1"/>
                </a:solidFill>
                <a:latin typeface="Times New Roman"/>
                <a:ea typeface="Times New Roman"/>
                <a:cs typeface="Times New Roman"/>
                <a:sym typeface="Times New Roman"/>
              </a:rPr>
              <a:t> </a:t>
            </a:r>
            <a:r>
              <a:rPr lang="zh-TW" dirty="0">
                <a:solidFill>
                  <a:schemeClr val="dk1"/>
                </a:solidFill>
                <a:latin typeface="Times New Roman"/>
                <a:ea typeface="Times New Roman"/>
                <a:cs typeface="Times New Roman"/>
                <a:sym typeface="Times New Roman"/>
              </a:rPr>
              <a:t>Movement.</a:t>
            </a:r>
            <a:endParaRPr dirty="0">
              <a:solidFill>
                <a:schemeClr val="dk1"/>
              </a:solidFill>
              <a:latin typeface="Times New Roman"/>
              <a:ea typeface="Times New Roman"/>
              <a:cs typeface="Times New Roman"/>
              <a:sym typeface="Times New Roman"/>
            </a:endParaRPr>
          </a:p>
        </p:txBody>
      </p:sp>
      <p:sp>
        <p:nvSpPr>
          <p:cNvPr id="427" name="Google Shape;427;p50"/>
          <p:cNvSpPr/>
          <p:nvPr/>
        </p:nvSpPr>
        <p:spPr>
          <a:xfrm>
            <a:off x="6892400" y="2909905"/>
            <a:ext cx="2586000" cy="1245200"/>
          </a:xfrm>
          <a:prstGeom prst="roundRect">
            <a:avLst>
              <a:gd name="adj" fmla="val 16667"/>
            </a:avLst>
          </a:prstGeom>
          <a:solidFill>
            <a:srgbClr val="C2DDDA"/>
          </a:solid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2000" dirty="0">
                <a:solidFill>
                  <a:schemeClr val="dk1"/>
                </a:solidFill>
                <a:latin typeface="Calibri"/>
                <a:ea typeface="Calibri"/>
                <a:cs typeface="Calibri"/>
                <a:sym typeface="Calibri"/>
              </a:rPr>
              <a:t>Real system sandbox </a:t>
            </a:r>
            <a:endParaRPr sz="2000" dirty="0">
              <a:solidFill>
                <a:schemeClr val="dk1"/>
              </a:solidFill>
              <a:latin typeface="Calibri"/>
              <a:ea typeface="Calibri"/>
              <a:cs typeface="Calibri"/>
              <a:sym typeface="Calibri"/>
            </a:endParaRPr>
          </a:p>
          <a:p>
            <a:pPr algn="ctr"/>
            <a:r>
              <a:rPr lang="en-US" altLang="zh-TW" sz="2000" dirty="0">
                <a:solidFill>
                  <a:schemeClr val="dk1"/>
                </a:solidFill>
                <a:latin typeface="Calibri"/>
                <a:ea typeface="Calibri"/>
                <a:cs typeface="Calibri"/>
                <a:sym typeface="Calibri"/>
              </a:rPr>
              <a:t>in honeypot</a:t>
            </a:r>
            <a:endParaRPr sz="2000" dirty="0">
              <a:solidFill>
                <a:schemeClr val="dk1"/>
              </a:solidFill>
              <a:latin typeface="Calibri"/>
              <a:ea typeface="Calibri"/>
              <a:cs typeface="Calibri"/>
              <a:sym typeface="Calibri"/>
            </a:endParaRPr>
          </a:p>
        </p:txBody>
      </p:sp>
      <p:sp>
        <p:nvSpPr>
          <p:cNvPr id="428" name="Google Shape;428;p50"/>
          <p:cNvSpPr/>
          <p:nvPr/>
        </p:nvSpPr>
        <p:spPr>
          <a:xfrm>
            <a:off x="4193133" y="2849300"/>
            <a:ext cx="1543600" cy="2694000"/>
          </a:xfrm>
          <a:prstGeom prst="roundRect">
            <a:avLst>
              <a:gd name="adj" fmla="val 16667"/>
            </a:avLst>
          </a:prstGeom>
          <a:solidFill>
            <a:schemeClr val="lt1"/>
          </a:solid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2000" dirty="0">
                <a:solidFill>
                  <a:schemeClr val="dk1"/>
                </a:solidFill>
                <a:latin typeface="Calibri"/>
                <a:ea typeface="Calibri"/>
                <a:cs typeface="Calibri"/>
                <a:sym typeface="Calibri"/>
              </a:rPr>
              <a:t>Proxy </a:t>
            </a:r>
            <a:r>
              <a:rPr lang="en-US" altLang="zh-TW" sz="2000" dirty="0" err="1">
                <a:solidFill>
                  <a:schemeClr val="dk1"/>
                </a:solidFill>
                <a:latin typeface="Calibri"/>
                <a:ea typeface="Calibri"/>
                <a:cs typeface="Calibri"/>
                <a:sym typeface="Calibri"/>
              </a:rPr>
              <a:t>deamon</a:t>
            </a:r>
            <a:endParaRPr sz="2000" dirty="0">
              <a:solidFill>
                <a:schemeClr val="dk1"/>
              </a:solidFill>
              <a:latin typeface="Calibri"/>
              <a:ea typeface="Calibri"/>
              <a:cs typeface="Calibri"/>
              <a:sym typeface="Calibri"/>
            </a:endParaRPr>
          </a:p>
        </p:txBody>
      </p:sp>
      <p:sp>
        <p:nvSpPr>
          <p:cNvPr id="429" name="Google Shape;429;p50"/>
          <p:cNvSpPr/>
          <p:nvPr/>
        </p:nvSpPr>
        <p:spPr>
          <a:xfrm>
            <a:off x="1101067" y="3801905"/>
            <a:ext cx="1936400" cy="706400"/>
          </a:xfrm>
          <a:prstGeom prst="roundRect">
            <a:avLst>
              <a:gd name="adj" fmla="val 16667"/>
            </a:avLst>
          </a:prstGeom>
          <a:solidFill>
            <a:srgbClr val="C2DDDA"/>
          </a:solid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2000">
                <a:solidFill>
                  <a:schemeClr val="dk1"/>
                </a:solidFill>
                <a:latin typeface="Calibri"/>
                <a:ea typeface="Calibri"/>
                <a:cs typeface="Calibri"/>
                <a:sym typeface="Calibri"/>
              </a:rPr>
              <a:t>Attacker (LLM)</a:t>
            </a:r>
            <a:endParaRPr sz="2000">
              <a:solidFill>
                <a:schemeClr val="dk1"/>
              </a:solidFill>
              <a:latin typeface="Calibri"/>
              <a:ea typeface="Calibri"/>
              <a:cs typeface="Calibri"/>
              <a:sym typeface="Calibri"/>
            </a:endParaRPr>
          </a:p>
        </p:txBody>
      </p:sp>
      <p:cxnSp>
        <p:nvCxnSpPr>
          <p:cNvPr id="430" name="Google Shape;430;p50"/>
          <p:cNvCxnSpPr/>
          <p:nvPr/>
        </p:nvCxnSpPr>
        <p:spPr>
          <a:xfrm rot="10800000" flipH="1">
            <a:off x="3037467" y="4154705"/>
            <a:ext cx="1155600" cy="800"/>
          </a:xfrm>
          <a:prstGeom prst="straightConnector1">
            <a:avLst/>
          </a:prstGeom>
          <a:noFill/>
          <a:ln w="19050" cap="flat" cmpd="sng">
            <a:solidFill>
              <a:schemeClr val="dk1"/>
            </a:solidFill>
            <a:prstDash val="solid"/>
            <a:round/>
            <a:headEnd type="stealth" w="med" len="med"/>
            <a:tailEnd type="stealth" w="med" len="med"/>
          </a:ln>
        </p:spPr>
      </p:cxnSp>
      <p:cxnSp>
        <p:nvCxnSpPr>
          <p:cNvPr id="431" name="Google Shape;431;p50"/>
          <p:cNvCxnSpPr>
            <a:endCxn id="427" idx="1"/>
          </p:cNvCxnSpPr>
          <p:nvPr/>
        </p:nvCxnSpPr>
        <p:spPr>
          <a:xfrm>
            <a:off x="5756800" y="3532505"/>
            <a:ext cx="1135600" cy="0"/>
          </a:xfrm>
          <a:prstGeom prst="straightConnector1">
            <a:avLst/>
          </a:prstGeom>
          <a:noFill/>
          <a:ln w="19050" cap="flat" cmpd="sng">
            <a:solidFill>
              <a:schemeClr val="dk1"/>
            </a:solidFill>
            <a:prstDash val="solid"/>
            <a:round/>
            <a:headEnd type="stealth" w="med" len="med"/>
            <a:tailEnd type="stealth" w="med" len="med"/>
          </a:ln>
        </p:spPr>
      </p:cxnSp>
      <p:sp>
        <p:nvSpPr>
          <p:cNvPr id="432" name="Google Shape;432;p50"/>
          <p:cNvSpPr/>
          <p:nvPr/>
        </p:nvSpPr>
        <p:spPr>
          <a:xfrm>
            <a:off x="6892400" y="4686572"/>
            <a:ext cx="2586000" cy="856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2000">
                <a:solidFill>
                  <a:schemeClr val="dk1"/>
                </a:solidFill>
                <a:latin typeface="Calibri"/>
                <a:ea typeface="Calibri"/>
                <a:cs typeface="Calibri"/>
                <a:sym typeface="Calibri"/>
              </a:rPr>
              <a:t>Strategist (LLM)</a:t>
            </a:r>
            <a:endParaRPr sz="2000">
              <a:solidFill>
                <a:schemeClr val="dk1"/>
              </a:solidFill>
              <a:latin typeface="Calibri"/>
              <a:ea typeface="Calibri"/>
              <a:cs typeface="Calibri"/>
              <a:sym typeface="Calibri"/>
            </a:endParaRPr>
          </a:p>
        </p:txBody>
      </p:sp>
      <p:cxnSp>
        <p:nvCxnSpPr>
          <p:cNvPr id="433" name="Google Shape;433;p50"/>
          <p:cNvCxnSpPr>
            <a:stCxn id="432" idx="0"/>
            <a:endCxn id="427" idx="2"/>
          </p:cNvCxnSpPr>
          <p:nvPr/>
        </p:nvCxnSpPr>
        <p:spPr>
          <a:xfrm rot="10800000">
            <a:off x="8185400" y="4154972"/>
            <a:ext cx="0" cy="531600"/>
          </a:xfrm>
          <a:prstGeom prst="straightConnector1">
            <a:avLst/>
          </a:prstGeom>
          <a:noFill/>
          <a:ln w="19050" cap="flat" cmpd="sng">
            <a:solidFill>
              <a:schemeClr val="dk1"/>
            </a:solidFill>
            <a:prstDash val="solid"/>
            <a:round/>
            <a:headEnd type="stealth" w="med" len="med"/>
            <a:tailEnd type="stealth" w="med" len="med"/>
          </a:ln>
        </p:spPr>
      </p:cxnSp>
    </p:spTree>
    <p:extLst>
      <p:ext uri="{BB962C8B-B14F-4D97-AF65-F5344CB8AC3E}">
        <p14:creationId xmlns:p14="http://schemas.microsoft.com/office/powerpoint/2010/main" val="8391850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481"/>
        <p:cNvGrpSpPr/>
        <p:nvPr/>
      </p:nvGrpSpPr>
      <p:grpSpPr>
        <a:xfrm>
          <a:off x="0" y="0"/>
          <a:ext cx="0" cy="0"/>
          <a:chOff x="0" y="0"/>
          <a:chExt cx="0" cy="0"/>
        </a:xfrm>
      </p:grpSpPr>
      <p:pic>
        <p:nvPicPr>
          <p:cNvPr id="482" name="Google Shape;482;p54"/>
          <p:cNvPicPr preferRelativeResize="0"/>
          <p:nvPr/>
        </p:nvPicPr>
        <p:blipFill>
          <a:blip r:embed="rId3">
            <a:alphaModFix/>
          </a:blip>
          <a:stretch>
            <a:fillRect/>
          </a:stretch>
        </p:blipFill>
        <p:spPr>
          <a:xfrm>
            <a:off x="330167" y="3047667"/>
            <a:ext cx="9461261" cy="3694767"/>
          </a:xfrm>
          <a:prstGeom prst="rect">
            <a:avLst/>
          </a:prstGeom>
          <a:noFill/>
          <a:ln>
            <a:noFill/>
          </a:ln>
        </p:spPr>
      </p:pic>
      <p:sp>
        <p:nvSpPr>
          <p:cNvPr id="483" name="Google Shape;483;p54"/>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53</a:t>
            </a:fld>
            <a:endParaRPr dirty="0"/>
          </a:p>
        </p:txBody>
      </p:sp>
      <p:sp>
        <p:nvSpPr>
          <p:cNvPr id="484" name="Google Shape;484;p54"/>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Implementation</a:t>
            </a:r>
            <a:r>
              <a:rPr lang="zh-TW" dirty="0">
                <a:latin typeface="Times New Roman"/>
                <a:ea typeface="Times New Roman"/>
                <a:cs typeface="Times New Roman"/>
                <a:sym typeface="Times New Roman"/>
              </a:rPr>
              <a:t> – Engagement Activities</a:t>
            </a:r>
            <a:endParaRPr dirty="0">
              <a:latin typeface="Times New Roman"/>
              <a:ea typeface="Times New Roman"/>
              <a:cs typeface="Times New Roman"/>
              <a:sym typeface="Times New Roman"/>
            </a:endParaRPr>
          </a:p>
        </p:txBody>
      </p:sp>
      <p:sp>
        <p:nvSpPr>
          <p:cNvPr id="485" name="Google Shape;485;p54"/>
          <p:cNvSpPr txBox="1">
            <a:spLocks noGrp="1"/>
          </p:cNvSpPr>
          <p:nvPr>
            <p:ph type="subTitle" idx="4294967295"/>
          </p:nvPr>
        </p:nvSpPr>
        <p:spPr>
          <a:xfrm>
            <a:off x="123367" y="1101233"/>
            <a:ext cx="11762000" cy="1707200"/>
          </a:xfrm>
          <a:prstGeom prst="rect">
            <a:avLst/>
          </a:prstGeom>
        </p:spPr>
        <p:txBody>
          <a:bodyPr spcFirstLastPara="1" vert="horz" wrap="square" lIns="121900" tIns="121900" rIns="121900" bIns="121900" rtlCol="0" anchor="t" anchorCtr="0">
            <a:noAutofit/>
          </a:bodyPr>
          <a:lstStyle/>
          <a:p>
            <a:pPr marL="518387" indent="-408790">
              <a:lnSpc>
                <a:spcPct val="115000"/>
              </a:lnSpc>
              <a:spcBef>
                <a:spcPts val="0"/>
              </a:spcBef>
              <a:buClr>
                <a:schemeClr val="dk1"/>
              </a:buClr>
              <a:buSzPts val="1200"/>
              <a:buFont typeface="Times New Roman"/>
              <a:buChar char="●"/>
            </a:pPr>
            <a:r>
              <a:rPr lang="zh-TW" sz="2400" dirty="0">
                <a:solidFill>
                  <a:schemeClr val="dk1"/>
                </a:solidFill>
                <a:latin typeface="Times New Roman"/>
                <a:ea typeface="Times New Roman"/>
                <a:cs typeface="Times New Roman"/>
                <a:sym typeface="Times New Roman"/>
              </a:rPr>
              <a:t>Although giving the LLM full freedom allows creativity, it doesn’t quickly focus on the engagement activities most likely to draw attackers in.</a:t>
            </a:r>
            <a:endParaRPr sz="24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zh-TW" sz="2400" dirty="0">
                <a:solidFill>
                  <a:schemeClr val="dk1"/>
                </a:solidFill>
                <a:latin typeface="Times New Roman"/>
                <a:ea typeface="Times New Roman"/>
                <a:cs typeface="Times New Roman"/>
                <a:sym typeface="Times New Roman"/>
              </a:rPr>
              <a:t>According to MITRE’s Engagement description, we should emphasize </a:t>
            </a:r>
            <a:r>
              <a:rPr lang="zh-TW" sz="2400" b="1" dirty="0">
                <a:solidFill>
                  <a:schemeClr val="dk1"/>
                </a:solidFill>
                <a:latin typeface="Times New Roman"/>
                <a:ea typeface="Times New Roman"/>
                <a:cs typeface="Times New Roman"/>
                <a:sym typeface="Times New Roman"/>
              </a:rPr>
              <a:t>Direct</a:t>
            </a:r>
            <a:r>
              <a:rPr lang="zh-TW" sz="2400" dirty="0">
                <a:solidFill>
                  <a:schemeClr val="dk1"/>
                </a:solidFill>
                <a:latin typeface="Times New Roman"/>
                <a:ea typeface="Times New Roman"/>
                <a:cs typeface="Times New Roman"/>
                <a:sym typeface="Times New Roman"/>
              </a:rPr>
              <a:t>, </a:t>
            </a:r>
            <a:r>
              <a:rPr lang="zh-TW" sz="2400" b="1" dirty="0">
                <a:solidFill>
                  <a:schemeClr val="dk1"/>
                </a:solidFill>
                <a:latin typeface="Times New Roman"/>
                <a:ea typeface="Times New Roman"/>
                <a:cs typeface="Times New Roman"/>
                <a:sym typeface="Times New Roman"/>
              </a:rPr>
              <a:t>Reassure</a:t>
            </a:r>
            <a:r>
              <a:rPr lang="zh-TW" sz="2400" dirty="0">
                <a:solidFill>
                  <a:schemeClr val="dk1"/>
                </a:solidFill>
                <a:latin typeface="Times New Roman"/>
                <a:ea typeface="Times New Roman"/>
                <a:cs typeface="Times New Roman"/>
                <a:sym typeface="Times New Roman"/>
              </a:rPr>
              <a:t>, and </a:t>
            </a:r>
            <a:r>
              <a:rPr lang="zh-TW" sz="2400" b="1" dirty="0">
                <a:solidFill>
                  <a:schemeClr val="dk1"/>
                </a:solidFill>
                <a:latin typeface="Times New Roman"/>
                <a:ea typeface="Times New Roman"/>
                <a:cs typeface="Times New Roman"/>
                <a:sym typeface="Times New Roman"/>
              </a:rPr>
              <a:t>Disrupt, Motivate</a:t>
            </a:r>
            <a:r>
              <a:rPr lang="zh-TW"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p:txBody>
      </p:sp>
      <p:sp>
        <p:nvSpPr>
          <p:cNvPr id="486" name="Google Shape;486;p54"/>
          <p:cNvSpPr/>
          <p:nvPr/>
        </p:nvSpPr>
        <p:spPr>
          <a:xfrm>
            <a:off x="2051667" y="3079633"/>
            <a:ext cx="7943600" cy="36148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dirty="0">
              <a:solidFill>
                <a:srgbClr val="FF0000"/>
              </a:solidFill>
              <a:latin typeface="Abadi" panose="020B0604020104020204" pitchFamily="34" charset="0"/>
            </a:endParaRPr>
          </a:p>
        </p:txBody>
      </p:sp>
      <p:sp>
        <p:nvSpPr>
          <p:cNvPr id="487" name="Google Shape;487;p54"/>
          <p:cNvSpPr txBox="1"/>
          <p:nvPr/>
        </p:nvSpPr>
        <p:spPr>
          <a:xfrm>
            <a:off x="10924667" y="-295033"/>
            <a:ext cx="4000000" cy="800179"/>
          </a:xfrm>
          <a:prstGeom prst="rect">
            <a:avLst/>
          </a:prstGeom>
          <a:noFill/>
          <a:ln>
            <a:noFill/>
          </a:ln>
        </p:spPr>
        <p:txBody>
          <a:bodyPr spcFirstLastPara="1" wrap="square" lIns="121900" tIns="121900" rIns="121900" bIns="121900" anchor="t" anchorCtr="0">
            <a:spAutoFit/>
          </a:bodyPr>
          <a:lstStyle/>
          <a:p>
            <a:r>
              <a:rPr lang="en-US" altLang="zh-TW" sz="2000" i="1" dirty="0">
                <a:solidFill>
                  <a:srgbClr val="434343"/>
                </a:solidFill>
                <a:latin typeface="Times New Roman"/>
                <a:ea typeface="Times New Roman"/>
                <a:cs typeface="Times New Roman"/>
                <a:sym typeface="Times New Roman"/>
              </a:rPr>
              <a:t>( Actions )</a:t>
            </a:r>
            <a:r>
              <a:rPr lang="zh-TW" altLang="en-US" sz="3600" dirty="0">
                <a:solidFill>
                  <a:schemeClr val="dk1"/>
                </a:solidFill>
                <a:latin typeface="Times New Roman"/>
                <a:ea typeface="Times New Roman"/>
                <a:cs typeface="Times New Roman"/>
                <a:sym typeface="Times New Roman"/>
              </a:rPr>
              <a:t> </a:t>
            </a:r>
            <a:endParaRPr sz="2000" dirty="0">
              <a:latin typeface="Abadi" panose="020B0604020104020204" pitchFamily="34" charset="0"/>
            </a:endParaRPr>
          </a:p>
        </p:txBody>
      </p:sp>
    </p:spTree>
    <p:extLst>
      <p:ext uri="{BB962C8B-B14F-4D97-AF65-F5344CB8AC3E}">
        <p14:creationId xmlns:p14="http://schemas.microsoft.com/office/powerpoint/2010/main" val="30446411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437"/>
        <p:cNvGrpSpPr/>
        <p:nvPr/>
      </p:nvGrpSpPr>
      <p:grpSpPr>
        <a:xfrm>
          <a:off x="0" y="0"/>
          <a:ext cx="0" cy="0"/>
          <a:chOff x="0" y="0"/>
          <a:chExt cx="0" cy="0"/>
        </a:xfrm>
      </p:grpSpPr>
      <p:sp>
        <p:nvSpPr>
          <p:cNvPr id="438" name="Google Shape;438;p51"/>
          <p:cNvSpPr txBox="1"/>
          <p:nvPr/>
        </p:nvSpPr>
        <p:spPr>
          <a:xfrm>
            <a:off x="2858000" y="2930467"/>
            <a:ext cx="1218400" cy="512857"/>
          </a:xfrm>
          <a:prstGeom prst="rect">
            <a:avLst/>
          </a:prstGeom>
          <a:noFill/>
          <a:ln>
            <a:noFill/>
          </a:ln>
        </p:spPr>
        <p:txBody>
          <a:bodyPr spcFirstLastPara="1" wrap="square" lIns="121900" tIns="121900" rIns="121900" bIns="121900" anchor="t" anchorCtr="0">
            <a:spAutoFit/>
          </a:bodyPr>
          <a:lstStyle/>
          <a:p>
            <a:r>
              <a:rPr lang="en-US" altLang="zh-TW" sz="1733">
                <a:solidFill>
                  <a:schemeClr val="dk1"/>
                </a:solidFill>
                <a:latin typeface="Times New Roman"/>
                <a:ea typeface="Times New Roman"/>
                <a:cs typeface="Times New Roman"/>
                <a:sym typeface="Times New Roman"/>
              </a:rPr>
              <a:t>1. Prompt</a:t>
            </a:r>
            <a:endParaRPr sz="1733">
              <a:solidFill>
                <a:schemeClr val="dk1"/>
              </a:solidFill>
              <a:latin typeface="Times New Roman"/>
              <a:ea typeface="Times New Roman"/>
              <a:cs typeface="Times New Roman"/>
              <a:sym typeface="Times New Roman"/>
            </a:endParaRPr>
          </a:p>
        </p:txBody>
      </p:sp>
      <p:sp>
        <p:nvSpPr>
          <p:cNvPr id="439" name="Google Shape;439;p51"/>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54</a:t>
            </a:fld>
            <a:endParaRPr dirty="0"/>
          </a:p>
        </p:txBody>
      </p:sp>
      <p:sp>
        <p:nvSpPr>
          <p:cNvPr id="440" name="Google Shape;440;p51"/>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a:latin typeface="Times New Roman"/>
                <a:ea typeface="Times New Roman"/>
                <a:cs typeface="Times New Roman"/>
                <a:sym typeface="Times New Roman"/>
              </a:rPr>
              <a:t>Implementation – Toolkit (one example)</a:t>
            </a:r>
            <a:endParaRPr sz="4000">
              <a:latin typeface="Times New Roman"/>
              <a:ea typeface="Times New Roman"/>
              <a:cs typeface="Times New Roman"/>
              <a:sym typeface="Times New Roman"/>
            </a:endParaRPr>
          </a:p>
        </p:txBody>
      </p:sp>
      <p:sp>
        <p:nvSpPr>
          <p:cNvPr id="441" name="Google Shape;441;p51"/>
          <p:cNvSpPr/>
          <p:nvPr/>
        </p:nvSpPr>
        <p:spPr>
          <a:xfrm>
            <a:off x="976533" y="2836433"/>
            <a:ext cx="1752000" cy="994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2000">
                <a:solidFill>
                  <a:schemeClr val="dk1"/>
                </a:solidFill>
                <a:latin typeface="Times New Roman"/>
                <a:ea typeface="Times New Roman"/>
                <a:cs typeface="Times New Roman"/>
                <a:sym typeface="Times New Roman"/>
              </a:rPr>
              <a:t>LLM</a:t>
            </a:r>
            <a:endParaRPr sz="2000">
              <a:solidFill>
                <a:schemeClr val="dk1"/>
              </a:solidFill>
              <a:latin typeface="Times New Roman"/>
              <a:ea typeface="Times New Roman"/>
              <a:cs typeface="Times New Roman"/>
              <a:sym typeface="Times New Roman"/>
            </a:endParaRPr>
          </a:p>
        </p:txBody>
      </p:sp>
      <p:cxnSp>
        <p:nvCxnSpPr>
          <p:cNvPr id="442" name="Google Shape;442;p51"/>
          <p:cNvCxnSpPr>
            <a:stCxn id="441" idx="3"/>
            <a:endCxn id="443" idx="1"/>
          </p:cNvCxnSpPr>
          <p:nvPr/>
        </p:nvCxnSpPr>
        <p:spPr>
          <a:xfrm>
            <a:off x="2728533" y="3333833"/>
            <a:ext cx="1492000" cy="0"/>
          </a:xfrm>
          <a:prstGeom prst="straightConnector1">
            <a:avLst/>
          </a:prstGeom>
          <a:noFill/>
          <a:ln w="19050" cap="flat" cmpd="sng">
            <a:solidFill>
              <a:schemeClr val="dk1"/>
            </a:solidFill>
            <a:prstDash val="solid"/>
            <a:round/>
            <a:headEnd type="none" w="med" len="med"/>
            <a:tailEnd type="triangle" w="med" len="med"/>
          </a:ln>
        </p:spPr>
      </p:cxnSp>
      <p:sp>
        <p:nvSpPr>
          <p:cNvPr id="443" name="Google Shape;443;p51"/>
          <p:cNvSpPr/>
          <p:nvPr/>
        </p:nvSpPr>
        <p:spPr>
          <a:xfrm>
            <a:off x="4220633" y="2836300"/>
            <a:ext cx="1752000" cy="994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2000">
                <a:solidFill>
                  <a:schemeClr val="dk1"/>
                </a:solidFill>
                <a:latin typeface="Times New Roman"/>
                <a:ea typeface="Times New Roman"/>
                <a:cs typeface="Times New Roman"/>
                <a:sym typeface="Times New Roman"/>
              </a:rPr>
              <a:t>Strategy </a:t>
            </a:r>
            <a:endParaRPr sz="2000">
              <a:solidFill>
                <a:schemeClr val="dk1"/>
              </a:solidFill>
              <a:latin typeface="Times New Roman"/>
              <a:ea typeface="Times New Roman"/>
              <a:cs typeface="Times New Roman"/>
              <a:sym typeface="Times New Roman"/>
            </a:endParaRPr>
          </a:p>
        </p:txBody>
      </p:sp>
      <p:sp>
        <p:nvSpPr>
          <p:cNvPr id="444" name="Google Shape;444;p51"/>
          <p:cNvSpPr/>
          <p:nvPr/>
        </p:nvSpPr>
        <p:spPr>
          <a:xfrm>
            <a:off x="6470467" y="2756833"/>
            <a:ext cx="5275200" cy="1477600"/>
          </a:xfrm>
          <a:prstGeom prst="roundRect">
            <a:avLst>
              <a:gd name="adj" fmla="val 16667"/>
            </a:avLst>
          </a:prstGeom>
          <a:solidFill>
            <a:srgbClr val="F3F3F3"/>
          </a:solidFill>
          <a:ln>
            <a:noFill/>
          </a:ln>
        </p:spPr>
        <p:txBody>
          <a:bodyPr spcFirstLastPara="1" wrap="square" lIns="91433" tIns="384000" rIns="91433" bIns="96000" anchor="ctr" anchorCtr="0">
            <a:noAutofit/>
          </a:bodyPr>
          <a:lstStyle/>
          <a:p>
            <a:pPr>
              <a:buClr>
                <a:schemeClr val="dk1"/>
              </a:buClr>
              <a:buSzPts val="1100"/>
            </a:pPr>
            <a:r>
              <a:rPr lang="en-US" altLang="zh-TW" sz="1467" dirty="0">
                <a:solidFill>
                  <a:srgbClr val="38761D"/>
                </a:solidFill>
                <a:latin typeface="Cambria Math"/>
                <a:ea typeface="Cambria Math"/>
                <a:cs typeface="Cambria Math"/>
                <a:sym typeface="Cambria Math"/>
              </a:rPr>
              <a:t>… explain why, and I will do following </a:t>
            </a:r>
            <a:endParaRPr sz="1467" dirty="0">
              <a:solidFill>
                <a:srgbClr val="38761D"/>
              </a:solidFill>
              <a:latin typeface="Cambria Math"/>
              <a:ea typeface="Cambria Math"/>
              <a:cs typeface="Cambria Math"/>
              <a:sym typeface="Cambria Math"/>
            </a:endParaRPr>
          </a:p>
          <a:p>
            <a:pPr>
              <a:buClr>
                <a:schemeClr val="dk1"/>
              </a:buClr>
              <a:buSzPts val="1100"/>
            </a:pPr>
            <a:r>
              <a:rPr lang="en-US" altLang="zh-TW" sz="1467" dirty="0">
                <a:solidFill>
                  <a:srgbClr val="38761D"/>
                </a:solidFill>
                <a:latin typeface="Cambria Math"/>
                <a:ea typeface="Cambria Math"/>
                <a:cs typeface="Cambria Math"/>
                <a:sym typeface="Cambria Math"/>
              </a:rPr>
              <a:t>{</a:t>
            </a:r>
            <a:endParaRPr sz="1467" dirty="0">
              <a:solidFill>
                <a:srgbClr val="38761D"/>
              </a:solidFill>
              <a:latin typeface="Cambria Math"/>
              <a:ea typeface="Cambria Math"/>
              <a:cs typeface="Cambria Math"/>
              <a:sym typeface="Cambria Math"/>
            </a:endParaRPr>
          </a:p>
          <a:p>
            <a:pPr>
              <a:buClr>
                <a:schemeClr val="dk1"/>
              </a:buClr>
              <a:buSzPts val="1100"/>
            </a:pPr>
            <a:r>
              <a:rPr lang="zh-TW" altLang="en-US" sz="1467" dirty="0">
                <a:solidFill>
                  <a:srgbClr val="38761D"/>
                </a:solidFill>
                <a:latin typeface="Cambria Math"/>
                <a:ea typeface="Cambria Math"/>
                <a:cs typeface="Cambria Math"/>
                <a:sym typeface="Cambria Math"/>
              </a:rPr>
              <a:t>   </a:t>
            </a:r>
            <a:r>
              <a:rPr lang="en-US" altLang="zh-TW" sz="1467" dirty="0">
                <a:solidFill>
                  <a:srgbClr val="38761D"/>
                </a:solidFill>
                <a:latin typeface="Cambria Math"/>
                <a:ea typeface="Cambria Math"/>
                <a:cs typeface="Cambria Math"/>
                <a:sym typeface="Cambria Math"/>
              </a:rPr>
              <a:t>"generate </a:t>
            </a:r>
            <a:r>
              <a:rPr lang="en-US" altLang="zh-TW" sz="1467" dirty="0" err="1">
                <a:solidFill>
                  <a:srgbClr val="38761D"/>
                </a:solidFill>
                <a:latin typeface="Cambria Math"/>
                <a:ea typeface="Cambria Math"/>
                <a:cs typeface="Cambria Math"/>
                <a:sym typeface="Cambria Math"/>
              </a:rPr>
              <a:t>dir</a:t>
            </a:r>
            <a:r>
              <a:rPr lang="en-US" altLang="zh-TW" sz="1467" dirty="0">
                <a:solidFill>
                  <a:srgbClr val="38761D"/>
                </a:solidFill>
                <a:latin typeface="Cambria Math"/>
                <a:ea typeface="Cambria Math"/>
                <a:cs typeface="Cambria Math"/>
                <a:sym typeface="Cambria Math"/>
              </a:rPr>
              <a:t> /var/log for recent auth failures",  </a:t>
            </a:r>
            <a:endParaRPr sz="1467" dirty="0">
              <a:solidFill>
                <a:srgbClr val="38761D"/>
              </a:solidFill>
              <a:latin typeface="Cambria Math"/>
              <a:ea typeface="Cambria Math"/>
              <a:cs typeface="Cambria Math"/>
              <a:sym typeface="Cambria Math"/>
            </a:endParaRPr>
          </a:p>
          <a:p>
            <a:pPr>
              <a:buClr>
                <a:schemeClr val="dk1"/>
              </a:buClr>
              <a:buSzPts val="1100"/>
            </a:pPr>
            <a:r>
              <a:rPr lang="zh-TW" altLang="en-US" sz="1467" dirty="0">
                <a:solidFill>
                  <a:srgbClr val="38761D"/>
                </a:solidFill>
                <a:latin typeface="Cambria Math"/>
                <a:ea typeface="Cambria Math"/>
                <a:cs typeface="Cambria Math"/>
                <a:sym typeface="Cambria Math"/>
              </a:rPr>
              <a:t>   </a:t>
            </a:r>
            <a:r>
              <a:rPr lang="en-US" altLang="zh-TW" sz="1467" dirty="0">
                <a:solidFill>
                  <a:srgbClr val="38761D"/>
                </a:solidFill>
                <a:latin typeface="Cambria Math"/>
                <a:ea typeface="Cambria Math"/>
                <a:cs typeface="Cambria Math"/>
                <a:sym typeface="Cambria Math"/>
              </a:rPr>
              <a:t>"create decoy file /var/log/secure.log with fake credentials",</a:t>
            </a:r>
            <a:endParaRPr sz="1467" dirty="0">
              <a:solidFill>
                <a:srgbClr val="38761D"/>
              </a:solidFill>
              <a:latin typeface="Cambria Math"/>
              <a:ea typeface="Cambria Math"/>
              <a:cs typeface="Cambria Math"/>
              <a:sym typeface="Cambria Math"/>
            </a:endParaRPr>
          </a:p>
          <a:p>
            <a:pPr>
              <a:buClr>
                <a:schemeClr val="dk1"/>
              </a:buClr>
              <a:buSzPts val="1100"/>
            </a:pPr>
            <a:r>
              <a:rPr lang="zh-TW" altLang="en-US" sz="1467" dirty="0">
                <a:solidFill>
                  <a:srgbClr val="38761D"/>
                </a:solidFill>
                <a:latin typeface="Cambria Math"/>
                <a:ea typeface="Cambria Math"/>
                <a:cs typeface="Cambria Math"/>
                <a:sym typeface="Cambria Math"/>
              </a:rPr>
              <a:t>   </a:t>
            </a:r>
            <a:r>
              <a:rPr lang="en-US" altLang="zh-TW" sz="1467" dirty="0">
                <a:solidFill>
                  <a:srgbClr val="38761D"/>
                </a:solidFill>
                <a:latin typeface="Cambria Math"/>
                <a:ea typeface="Cambria Math"/>
                <a:cs typeface="Cambria Math"/>
                <a:sym typeface="Cambria Math"/>
              </a:rPr>
              <a:t>…</a:t>
            </a:r>
            <a:endParaRPr sz="1467" dirty="0">
              <a:solidFill>
                <a:srgbClr val="38761D"/>
              </a:solidFill>
              <a:latin typeface="Cambria Math"/>
              <a:ea typeface="Cambria Math"/>
              <a:cs typeface="Cambria Math"/>
              <a:sym typeface="Cambria Math"/>
            </a:endParaRPr>
          </a:p>
          <a:p>
            <a:pPr>
              <a:buClr>
                <a:schemeClr val="dk1"/>
              </a:buClr>
              <a:buSzPts val="1100"/>
            </a:pPr>
            <a:r>
              <a:rPr lang="en-US" altLang="zh-TW" sz="1467" dirty="0">
                <a:solidFill>
                  <a:srgbClr val="38761D"/>
                </a:solidFill>
                <a:latin typeface="Cambria Math"/>
                <a:ea typeface="Cambria Math"/>
                <a:cs typeface="Cambria Math"/>
                <a:sym typeface="Cambria Math"/>
              </a:rPr>
              <a:t>}</a:t>
            </a:r>
            <a:endParaRPr sz="1467" dirty="0">
              <a:solidFill>
                <a:srgbClr val="38761D"/>
              </a:solidFill>
              <a:latin typeface="Cambria Math"/>
              <a:ea typeface="Cambria Math"/>
              <a:cs typeface="Cambria Math"/>
              <a:sym typeface="Cambria Math"/>
            </a:endParaRPr>
          </a:p>
          <a:p>
            <a:pPr algn="ctr"/>
            <a:endParaRPr sz="2000" dirty="0">
              <a:solidFill>
                <a:schemeClr val="dk1"/>
              </a:solidFill>
              <a:latin typeface="Cambria Math"/>
              <a:ea typeface="Cambria Math"/>
              <a:cs typeface="Cambria Math"/>
              <a:sym typeface="Cambria Math"/>
            </a:endParaRPr>
          </a:p>
        </p:txBody>
      </p:sp>
      <p:sp>
        <p:nvSpPr>
          <p:cNvPr id="445" name="Google Shape;445;p51"/>
          <p:cNvSpPr/>
          <p:nvPr/>
        </p:nvSpPr>
        <p:spPr>
          <a:xfrm>
            <a:off x="6470467" y="4813233"/>
            <a:ext cx="5275200" cy="1477600"/>
          </a:xfrm>
          <a:prstGeom prst="roundRect">
            <a:avLst>
              <a:gd name="adj" fmla="val 16667"/>
            </a:avLst>
          </a:prstGeom>
          <a:solidFill>
            <a:srgbClr val="F3F3F3"/>
          </a:solidFill>
          <a:ln>
            <a:noFill/>
          </a:ln>
        </p:spPr>
        <p:txBody>
          <a:bodyPr spcFirstLastPara="1" wrap="square" lIns="91433" tIns="384000" rIns="91433" bIns="96000" anchor="ctr" anchorCtr="0">
            <a:noAutofit/>
          </a:bodyPr>
          <a:lstStyle/>
          <a:p>
            <a:pPr>
              <a:buClr>
                <a:schemeClr val="dk1"/>
              </a:buClr>
              <a:buSzPts val="1100"/>
            </a:pPr>
            <a:r>
              <a:rPr lang="en-US" altLang="zh-TW" sz="1467" dirty="0">
                <a:solidFill>
                  <a:srgbClr val="38761D"/>
                </a:solidFill>
                <a:latin typeface="Cambria Math"/>
                <a:ea typeface="Cambria Math"/>
                <a:cs typeface="Cambria Math"/>
                <a:sym typeface="Cambria Math"/>
              </a:rPr>
              <a:t>ls: { </a:t>
            </a:r>
            <a:br>
              <a:rPr lang="en-US" altLang="zh-TW" sz="1467" dirty="0">
                <a:solidFill>
                  <a:srgbClr val="38761D"/>
                </a:solidFill>
                <a:latin typeface="Cambria Math"/>
                <a:ea typeface="Cambria Math"/>
                <a:cs typeface="Cambria Math"/>
                <a:sym typeface="Cambria Math"/>
              </a:rPr>
            </a:br>
            <a:r>
              <a:rPr lang="en-US" altLang="zh-TW" sz="1467" dirty="0">
                <a:solidFill>
                  <a:srgbClr val="38761D"/>
                </a:solidFill>
                <a:latin typeface="Cambria Math"/>
                <a:ea typeface="Cambria Math"/>
                <a:cs typeface="Cambria Math"/>
                <a:sym typeface="Cambria Math"/>
              </a:rPr>
              <a:t>    description: "list directory contents",</a:t>
            </a:r>
            <a:endParaRPr sz="1467" dirty="0">
              <a:solidFill>
                <a:srgbClr val="38761D"/>
              </a:solidFill>
              <a:latin typeface="Cambria Math"/>
              <a:ea typeface="Cambria Math"/>
              <a:cs typeface="Cambria Math"/>
              <a:sym typeface="Cambria Math"/>
            </a:endParaRPr>
          </a:p>
          <a:p>
            <a:pPr>
              <a:buClr>
                <a:schemeClr val="dk1"/>
              </a:buClr>
              <a:buSzPts val="1100"/>
            </a:pPr>
            <a:r>
              <a:rPr lang="zh-TW" altLang="en-US" sz="1467" dirty="0">
                <a:solidFill>
                  <a:srgbClr val="38761D"/>
                </a:solidFill>
                <a:latin typeface="Cambria Math"/>
                <a:ea typeface="Cambria Math"/>
                <a:cs typeface="Cambria Math"/>
                <a:sym typeface="Cambria Math"/>
              </a:rPr>
              <a:t>    </a:t>
            </a:r>
            <a:r>
              <a:rPr lang="en-US" altLang="zh-TW" sz="1467" dirty="0">
                <a:solidFill>
                  <a:srgbClr val="38761D"/>
                </a:solidFill>
                <a:latin typeface="Cambria Math"/>
                <a:ea typeface="Cambria Math"/>
                <a:cs typeface="Cambria Math"/>
                <a:sym typeface="Cambria Math"/>
              </a:rPr>
              <a:t>usage : &lt;content in man page&gt;</a:t>
            </a:r>
            <a:endParaRPr sz="1467" dirty="0">
              <a:solidFill>
                <a:srgbClr val="38761D"/>
              </a:solidFill>
              <a:latin typeface="Cambria Math"/>
              <a:ea typeface="Cambria Math"/>
              <a:cs typeface="Cambria Math"/>
              <a:sym typeface="Cambria Math"/>
            </a:endParaRPr>
          </a:p>
          <a:p>
            <a:pPr>
              <a:buClr>
                <a:schemeClr val="dk1"/>
              </a:buClr>
              <a:buSzPts val="1100"/>
            </a:pPr>
            <a:r>
              <a:rPr lang="zh-TW" altLang="en-US" sz="1467" dirty="0">
                <a:solidFill>
                  <a:srgbClr val="38761D"/>
                </a:solidFill>
                <a:latin typeface="Cambria Math"/>
                <a:ea typeface="Cambria Math"/>
                <a:cs typeface="Cambria Math"/>
                <a:sym typeface="Cambria Math"/>
              </a:rPr>
              <a:t>  </a:t>
            </a:r>
            <a:r>
              <a:rPr lang="en-US" altLang="zh-TW" sz="1467" dirty="0">
                <a:solidFill>
                  <a:srgbClr val="38761D"/>
                </a:solidFill>
                <a:latin typeface="Cambria Math"/>
                <a:ea typeface="Cambria Math"/>
                <a:cs typeface="Cambria Math"/>
                <a:sym typeface="Cambria Math"/>
              </a:rPr>
              <a:t>} </a:t>
            </a:r>
            <a:endParaRPr sz="1467" dirty="0">
              <a:solidFill>
                <a:srgbClr val="38761D"/>
              </a:solidFill>
              <a:latin typeface="Cambria Math"/>
              <a:ea typeface="Cambria Math"/>
              <a:cs typeface="Cambria Math"/>
              <a:sym typeface="Cambria Math"/>
            </a:endParaRPr>
          </a:p>
          <a:p>
            <a:pPr>
              <a:buClr>
                <a:schemeClr val="dk1"/>
              </a:buClr>
              <a:buSzPts val="1100"/>
            </a:pPr>
            <a:r>
              <a:rPr lang="en-US" altLang="zh-TW" sz="1467" dirty="0">
                <a:solidFill>
                  <a:srgbClr val="38761D"/>
                </a:solidFill>
                <a:latin typeface="Cambria Math"/>
                <a:ea typeface="Cambria Math"/>
                <a:cs typeface="Cambria Math"/>
                <a:sym typeface="Cambria Math"/>
              </a:rPr>
              <a:t>echo: { … }</a:t>
            </a:r>
            <a:endParaRPr sz="1467" dirty="0">
              <a:solidFill>
                <a:srgbClr val="38761D"/>
              </a:solidFill>
              <a:latin typeface="Cambria Math"/>
              <a:ea typeface="Cambria Math"/>
              <a:cs typeface="Cambria Math"/>
              <a:sym typeface="Cambria Math"/>
            </a:endParaRPr>
          </a:p>
          <a:p>
            <a:pPr>
              <a:buClr>
                <a:schemeClr val="dk1"/>
              </a:buClr>
              <a:buSzPts val="1100"/>
            </a:pPr>
            <a:r>
              <a:rPr lang="en-US" altLang="zh-TW" sz="1467" dirty="0">
                <a:solidFill>
                  <a:srgbClr val="38761D"/>
                </a:solidFill>
                <a:latin typeface="Cambria Math"/>
                <a:ea typeface="Cambria Math"/>
                <a:cs typeface="Cambria Math"/>
                <a:sym typeface="Cambria Math"/>
              </a:rPr>
              <a:t>…</a:t>
            </a:r>
            <a:endParaRPr sz="1467" dirty="0">
              <a:solidFill>
                <a:srgbClr val="38761D"/>
              </a:solidFill>
              <a:latin typeface="Cambria Math"/>
              <a:ea typeface="Cambria Math"/>
              <a:cs typeface="Cambria Math"/>
              <a:sym typeface="Cambria Math"/>
            </a:endParaRPr>
          </a:p>
          <a:p>
            <a:pPr algn="ctr"/>
            <a:endParaRPr sz="1467" dirty="0">
              <a:solidFill>
                <a:srgbClr val="38761D"/>
              </a:solidFill>
              <a:latin typeface="Cambria Math"/>
              <a:ea typeface="Cambria Math"/>
              <a:cs typeface="Cambria Math"/>
              <a:sym typeface="Cambria Math"/>
            </a:endParaRPr>
          </a:p>
        </p:txBody>
      </p:sp>
      <p:cxnSp>
        <p:nvCxnSpPr>
          <p:cNvPr id="446" name="Google Shape;446;p51"/>
          <p:cNvCxnSpPr>
            <a:stCxn id="443" idx="2"/>
            <a:endCxn id="447" idx="0"/>
          </p:cNvCxnSpPr>
          <p:nvPr/>
        </p:nvCxnSpPr>
        <p:spPr>
          <a:xfrm>
            <a:off x="5096633" y="3831100"/>
            <a:ext cx="0" cy="935600"/>
          </a:xfrm>
          <a:prstGeom prst="straightConnector1">
            <a:avLst/>
          </a:prstGeom>
          <a:noFill/>
          <a:ln w="19050" cap="flat" cmpd="sng">
            <a:solidFill>
              <a:schemeClr val="dk1"/>
            </a:solidFill>
            <a:prstDash val="solid"/>
            <a:round/>
            <a:headEnd type="none" w="med" len="med"/>
            <a:tailEnd type="stealth" w="med" len="med"/>
          </a:ln>
        </p:spPr>
      </p:cxnSp>
      <p:sp>
        <p:nvSpPr>
          <p:cNvPr id="447" name="Google Shape;447;p51"/>
          <p:cNvSpPr/>
          <p:nvPr/>
        </p:nvSpPr>
        <p:spPr>
          <a:xfrm>
            <a:off x="4220633" y="4766833"/>
            <a:ext cx="1752000" cy="994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2000">
                <a:solidFill>
                  <a:schemeClr val="dk1"/>
                </a:solidFill>
                <a:latin typeface="Times New Roman"/>
                <a:ea typeface="Times New Roman"/>
                <a:cs typeface="Times New Roman"/>
                <a:sym typeface="Times New Roman"/>
              </a:rPr>
              <a:t>Toolkit</a:t>
            </a:r>
            <a:endParaRPr sz="2000">
              <a:solidFill>
                <a:schemeClr val="dk1"/>
              </a:solidFill>
              <a:latin typeface="Times New Roman"/>
              <a:ea typeface="Times New Roman"/>
              <a:cs typeface="Times New Roman"/>
              <a:sym typeface="Times New Roman"/>
            </a:endParaRPr>
          </a:p>
        </p:txBody>
      </p:sp>
      <p:sp>
        <p:nvSpPr>
          <p:cNvPr id="448" name="Google Shape;448;p51"/>
          <p:cNvSpPr txBox="1"/>
          <p:nvPr/>
        </p:nvSpPr>
        <p:spPr>
          <a:xfrm>
            <a:off x="5119767" y="4042367"/>
            <a:ext cx="1267600" cy="512857"/>
          </a:xfrm>
          <a:prstGeom prst="rect">
            <a:avLst/>
          </a:prstGeom>
          <a:noFill/>
          <a:ln>
            <a:noFill/>
          </a:ln>
        </p:spPr>
        <p:txBody>
          <a:bodyPr spcFirstLastPara="1" wrap="square" lIns="121900" tIns="121900" rIns="121900" bIns="121900" anchor="t" anchorCtr="0">
            <a:spAutoFit/>
          </a:bodyPr>
          <a:lstStyle/>
          <a:p>
            <a:r>
              <a:rPr lang="en-US" altLang="zh-TW" sz="1733">
                <a:solidFill>
                  <a:schemeClr val="dk1"/>
                </a:solidFill>
                <a:latin typeface="Times New Roman"/>
                <a:ea typeface="Times New Roman"/>
                <a:cs typeface="Times New Roman"/>
                <a:sym typeface="Times New Roman"/>
              </a:rPr>
              <a:t>Retrieval</a:t>
            </a:r>
            <a:endParaRPr sz="1733">
              <a:solidFill>
                <a:schemeClr val="dk1"/>
              </a:solidFill>
              <a:latin typeface="Times New Roman"/>
              <a:ea typeface="Times New Roman"/>
              <a:cs typeface="Times New Roman"/>
              <a:sym typeface="Times New Roman"/>
            </a:endParaRPr>
          </a:p>
        </p:txBody>
      </p:sp>
      <p:sp>
        <p:nvSpPr>
          <p:cNvPr id="449" name="Google Shape;449;p51"/>
          <p:cNvSpPr txBox="1"/>
          <p:nvPr/>
        </p:nvSpPr>
        <p:spPr>
          <a:xfrm>
            <a:off x="3233400" y="4042367"/>
            <a:ext cx="1134000" cy="512857"/>
          </a:xfrm>
          <a:prstGeom prst="rect">
            <a:avLst/>
          </a:prstGeom>
          <a:noFill/>
          <a:ln>
            <a:noFill/>
          </a:ln>
        </p:spPr>
        <p:txBody>
          <a:bodyPr spcFirstLastPara="1" wrap="square" lIns="121900" tIns="121900" rIns="121900" bIns="121900" anchor="t" anchorCtr="0">
            <a:spAutoFit/>
          </a:bodyPr>
          <a:lstStyle/>
          <a:p>
            <a:r>
              <a:rPr lang="en-US" altLang="zh-TW" sz="1733">
                <a:solidFill>
                  <a:schemeClr val="dk1"/>
                </a:solidFill>
                <a:latin typeface="Times New Roman"/>
                <a:ea typeface="Times New Roman"/>
                <a:cs typeface="Times New Roman"/>
                <a:sym typeface="Times New Roman"/>
              </a:rPr>
              <a:t>Augment</a:t>
            </a:r>
            <a:endParaRPr sz="1733">
              <a:solidFill>
                <a:schemeClr val="dk1"/>
              </a:solidFill>
              <a:latin typeface="Times New Roman"/>
              <a:ea typeface="Times New Roman"/>
              <a:cs typeface="Times New Roman"/>
              <a:sym typeface="Times New Roman"/>
            </a:endParaRPr>
          </a:p>
        </p:txBody>
      </p:sp>
      <p:cxnSp>
        <p:nvCxnSpPr>
          <p:cNvPr id="450" name="Google Shape;450;p51"/>
          <p:cNvCxnSpPr/>
          <p:nvPr/>
        </p:nvCxnSpPr>
        <p:spPr>
          <a:xfrm rot="10800000">
            <a:off x="2580633" y="3831633"/>
            <a:ext cx="1640000" cy="1238000"/>
          </a:xfrm>
          <a:prstGeom prst="straightConnector1">
            <a:avLst/>
          </a:prstGeom>
          <a:noFill/>
          <a:ln w="19050" cap="flat" cmpd="sng">
            <a:solidFill>
              <a:schemeClr val="dk1"/>
            </a:solidFill>
            <a:prstDash val="solid"/>
            <a:round/>
            <a:headEnd type="none" w="med" len="med"/>
            <a:tailEnd type="stealth" w="med" len="med"/>
          </a:ln>
        </p:spPr>
      </p:cxnSp>
      <p:sp>
        <p:nvSpPr>
          <p:cNvPr id="451" name="Google Shape;451;p51"/>
          <p:cNvSpPr/>
          <p:nvPr/>
        </p:nvSpPr>
        <p:spPr>
          <a:xfrm>
            <a:off x="976533" y="4766833"/>
            <a:ext cx="1752000" cy="994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33" tIns="45700" rIns="91433" bIns="45700" anchor="ctr" anchorCtr="0">
            <a:noAutofit/>
          </a:bodyPr>
          <a:lstStyle/>
          <a:p>
            <a:pPr algn="ctr"/>
            <a:r>
              <a:rPr lang="en-US" altLang="zh-TW" sz="2000">
                <a:solidFill>
                  <a:schemeClr val="dk1"/>
                </a:solidFill>
                <a:latin typeface="Times New Roman"/>
                <a:ea typeface="Times New Roman"/>
                <a:cs typeface="Times New Roman"/>
                <a:sym typeface="Times New Roman"/>
              </a:rPr>
              <a:t>Commands</a:t>
            </a:r>
            <a:endParaRPr sz="2000">
              <a:solidFill>
                <a:schemeClr val="dk1"/>
              </a:solidFill>
              <a:latin typeface="Times New Roman"/>
              <a:ea typeface="Times New Roman"/>
              <a:cs typeface="Times New Roman"/>
              <a:sym typeface="Times New Roman"/>
            </a:endParaRPr>
          </a:p>
        </p:txBody>
      </p:sp>
      <p:cxnSp>
        <p:nvCxnSpPr>
          <p:cNvPr id="452" name="Google Shape;452;p51"/>
          <p:cNvCxnSpPr>
            <a:stCxn id="441" idx="2"/>
            <a:endCxn id="451" idx="0"/>
          </p:cNvCxnSpPr>
          <p:nvPr/>
        </p:nvCxnSpPr>
        <p:spPr>
          <a:xfrm>
            <a:off x="1852533" y="3831233"/>
            <a:ext cx="0" cy="935600"/>
          </a:xfrm>
          <a:prstGeom prst="straightConnector1">
            <a:avLst/>
          </a:prstGeom>
          <a:noFill/>
          <a:ln w="19050" cap="flat" cmpd="sng">
            <a:solidFill>
              <a:schemeClr val="dk1"/>
            </a:solidFill>
            <a:prstDash val="solid"/>
            <a:round/>
            <a:headEnd type="none" w="med" len="med"/>
            <a:tailEnd type="stealth" w="med" len="med"/>
          </a:ln>
        </p:spPr>
      </p:cxnSp>
      <p:sp>
        <p:nvSpPr>
          <p:cNvPr id="453" name="Google Shape;453;p51"/>
          <p:cNvSpPr txBox="1"/>
          <p:nvPr/>
        </p:nvSpPr>
        <p:spPr>
          <a:xfrm>
            <a:off x="617533" y="4042434"/>
            <a:ext cx="1436000" cy="512857"/>
          </a:xfrm>
          <a:prstGeom prst="rect">
            <a:avLst/>
          </a:prstGeom>
          <a:noFill/>
          <a:ln>
            <a:noFill/>
          </a:ln>
        </p:spPr>
        <p:txBody>
          <a:bodyPr spcFirstLastPara="1" wrap="square" lIns="121900" tIns="121900" rIns="121900" bIns="121900" anchor="t" anchorCtr="0">
            <a:spAutoFit/>
          </a:bodyPr>
          <a:lstStyle/>
          <a:p>
            <a:r>
              <a:rPr lang="en-US" altLang="zh-TW" sz="1733">
                <a:solidFill>
                  <a:schemeClr val="dk1"/>
                </a:solidFill>
                <a:latin typeface="Times New Roman"/>
                <a:ea typeface="Times New Roman"/>
                <a:cs typeface="Times New Roman"/>
                <a:sym typeface="Times New Roman"/>
              </a:rPr>
              <a:t>Generation</a:t>
            </a:r>
            <a:endParaRPr sz="1733">
              <a:solidFill>
                <a:schemeClr val="dk1"/>
              </a:solidFill>
              <a:latin typeface="Times New Roman"/>
              <a:ea typeface="Times New Roman"/>
              <a:cs typeface="Times New Roman"/>
              <a:sym typeface="Times New Roman"/>
            </a:endParaRPr>
          </a:p>
        </p:txBody>
      </p:sp>
      <p:sp>
        <p:nvSpPr>
          <p:cNvPr id="454" name="Google Shape;454;p51"/>
          <p:cNvSpPr txBox="1"/>
          <p:nvPr/>
        </p:nvSpPr>
        <p:spPr>
          <a:xfrm>
            <a:off x="10644367" y="2675333"/>
            <a:ext cx="2430000" cy="523180"/>
          </a:xfrm>
          <a:prstGeom prst="rect">
            <a:avLst/>
          </a:prstGeom>
          <a:noFill/>
          <a:ln>
            <a:noFill/>
          </a:ln>
        </p:spPr>
        <p:txBody>
          <a:bodyPr spcFirstLastPara="1" wrap="square" lIns="121900" tIns="121900" rIns="121900" bIns="121900" anchor="t" anchorCtr="0">
            <a:spAutoFit/>
          </a:bodyPr>
          <a:lstStyle/>
          <a:p>
            <a:r>
              <a:rPr lang="en-US" altLang="zh-TW" dirty="0">
                <a:solidFill>
                  <a:schemeClr val="dk1"/>
                </a:solidFill>
                <a:latin typeface="Cambria Math"/>
                <a:ea typeface="Cambria Math"/>
                <a:cs typeface="Cambria Math"/>
                <a:sym typeface="Cambria Math"/>
              </a:rPr>
              <a:t>Strategy</a:t>
            </a:r>
            <a:endParaRPr dirty="0">
              <a:solidFill>
                <a:schemeClr val="dk1"/>
              </a:solidFill>
              <a:latin typeface="Cambria Math"/>
              <a:ea typeface="Cambria Math"/>
              <a:cs typeface="Cambria Math"/>
              <a:sym typeface="Cambria Math"/>
            </a:endParaRPr>
          </a:p>
        </p:txBody>
      </p:sp>
      <p:sp>
        <p:nvSpPr>
          <p:cNvPr id="455" name="Google Shape;455;p51"/>
          <p:cNvSpPr txBox="1"/>
          <p:nvPr/>
        </p:nvSpPr>
        <p:spPr>
          <a:xfrm>
            <a:off x="10644367" y="4766685"/>
            <a:ext cx="1341600" cy="523180"/>
          </a:xfrm>
          <a:prstGeom prst="rect">
            <a:avLst/>
          </a:prstGeom>
          <a:noFill/>
          <a:ln>
            <a:noFill/>
          </a:ln>
        </p:spPr>
        <p:txBody>
          <a:bodyPr spcFirstLastPara="1" wrap="square" lIns="121900" tIns="121900" rIns="121900" bIns="121900" anchor="t" anchorCtr="0">
            <a:spAutoFit/>
          </a:bodyPr>
          <a:lstStyle/>
          <a:p>
            <a:r>
              <a:rPr lang="en-US" altLang="zh-TW" dirty="0">
                <a:solidFill>
                  <a:schemeClr val="dk1"/>
                </a:solidFill>
                <a:latin typeface="Cambria Math"/>
                <a:ea typeface="Cambria Math"/>
                <a:cs typeface="Cambria Math"/>
                <a:sym typeface="Cambria Math"/>
              </a:rPr>
              <a:t>Toolkit</a:t>
            </a:r>
            <a:endParaRPr dirty="0">
              <a:solidFill>
                <a:schemeClr val="dk1"/>
              </a:solidFill>
              <a:latin typeface="Cambria Math"/>
              <a:ea typeface="Cambria Math"/>
              <a:cs typeface="Cambria Math"/>
              <a:sym typeface="Cambria Math"/>
            </a:endParaRPr>
          </a:p>
        </p:txBody>
      </p:sp>
      <p:sp>
        <p:nvSpPr>
          <p:cNvPr id="456" name="Google Shape;456;p51"/>
          <p:cNvSpPr txBox="1">
            <a:spLocks noGrp="1"/>
          </p:cNvSpPr>
          <p:nvPr>
            <p:ph type="subTitle" idx="4294967295"/>
          </p:nvPr>
        </p:nvSpPr>
        <p:spPr>
          <a:xfrm>
            <a:off x="123367" y="1101233"/>
            <a:ext cx="11762000" cy="1655600"/>
          </a:xfrm>
          <a:prstGeom prst="rect">
            <a:avLst/>
          </a:prstGeom>
        </p:spPr>
        <p:txBody>
          <a:bodyPr spcFirstLastPara="1" vert="horz" wrap="square" lIns="121900" tIns="121900" rIns="121900" bIns="121900" rtlCol="0" anchor="t" anchorCtr="0">
            <a:noAutofit/>
          </a:bodyPr>
          <a:lstStyle/>
          <a:p>
            <a:pPr marL="518387" indent="-408790">
              <a:lnSpc>
                <a:spcPct val="115000"/>
              </a:lnSpc>
              <a:spcBef>
                <a:spcPts val="0"/>
              </a:spcBef>
              <a:buClr>
                <a:schemeClr val="dk1"/>
              </a:buClr>
              <a:buSzPts val="1200"/>
              <a:buFont typeface="Times New Roman"/>
              <a:buChar char="●"/>
            </a:pPr>
            <a:r>
              <a:rPr lang="zh-TW" sz="2400" dirty="0">
                <a:solidFill>
                  <a:schemeClr val="dk1"/>
                </a:solidFill>
                <a:latin typeface="Times New Roman"/>
                <a:ea typeface="Times New Roman"/>
                <a:cs typeface="Times New Roman"/>
                <a:sym typeface="Times New Roman"/>
              </a:rPr>
              <a:t>The toolkit must include native system commands along with their descriptions.</a:t>
            </a:r>
            <a:endParaRPr sz="24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zh-TW" sz="2400" dirty="0">
                <a:solidFill>
                  <a:schemeClr val="dk1"/>
                </a:solidFill>
                <a:latin typeface="Times New Roman"/>
                <a:ea typeface="Times New Roman"/>
                <a:cs typeface="Times New Roman"/>
                <a:sym typeface="Times New Roman"/>
              </a:rPr>
              <a:t>The LLM will generate strategy that are semantically related to the tools descriptions.</a:t>
            </a:r>
            <a:endParaRPr sz="24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zh-TW" sz="2400" dirty="0">
                <a:solidFill>
                  <a:schemeClr val="dk1"/>
                </a:solidFill>
                <a:latin typeface="Times New Roman"/>
                <a:ea typeface="Times New Roman"/>
                <a:cs typeface="Times New Roman"/>
                <a:sym typeface="Times New Roman"/>
              </a:rPr>
              <a:t>After applying RAG, the LLM can use system tools more accurately</a:t>
            </a:r>
            <a:endParaRPr sz="2400" dirty="0">
              <a:solidFill>
                <a:schemeClr val="dk1"/>
              </a:solidFill>
              <a:latin typeface="Times New Roman"/>
              <a:ea typeface="Times New Roman"/>
              <a:cs typeface="Times New Roman"/>
              <a:sym typeface="Times New Roman"/>
            </a:endParaRPr>
          </a:p>
        </p:txBody>
      </p:sp>
      <p:sp>
        <p:nvSpPr>
          <p:cNvPr id="457" name="Google Shape;457;p51"/>
          <p:cNvSpPr/>
          <p:nvPr/>
        </p:nvSpPr>
        <p:spPr>
          <a:xfrm>
            <a:off x="435200" y="5920733"/>
            <a:ext cx="5660800" cy="674000"/>
          </a:xfrm>
          <a:prstGeom prst="roundRect">
            <a:avLst>
              <a:gd name="adj" fmla="val 16667"/>
            </a:avLst>
          </a:prstGeom>
          <a:solidFill>
            <a:srgbClr val="F3F3F3"/>
          </a:solidFill>
          <a:ln>
            <a:noFill/>
          </a:ln>
        </p:spPr>
        <p:txBody>
          <a:bodyPr spcFirstLastPara="1" wrap="square" lIns="91433" tIns="0" rIns="91433" bIns="0" anchor="ctr" anchorCtr="0">
            <a:noAutofit/>
          </a:bodyPr>
          <a:lstStyle/>
          <a:p>
            <a:r>
              <a:rPr lang="en-US" altLang="zh-TW" sz="1467">
                <a:solidFill>
                  <a:srgbClr val="38761D"/>
                </a:solidFill>
                <a:latin typeface="Cambria Math"/>
                <a:ea typeface="Cambria Math"/>
                <a:cs typeface="Cambria Math"/>
                <a:sym typeface="Cambria Math"/>
              </a:rPr>
              <a:t>mkdir -p /var/log ;</a:t>
            </a:r>
            <a:br>
              <a:rPr lang="en-US" altLang="zh-TW" sz="1467">
                <a:solidFill>
                  <a:srgbClr val="38761D"/>
                </a:solidFill>
                <a:latin typeface="Cambria Math"/>
                <a:ea typeface="Cambria Math"/>
                <a:cs typeface="Cambria Math"/>
                <a:sym typeface="Cambria Math"/>
              </a:rPr>
            </a:br>
            <a:r>
              <a:rPr lang="en-US" altLang="zh-TW" sz="1467">
                <a:solidFill>
                  <a:srgbClr val="38761D"/>
                </a:solidFill>
                <a:latin typeface="Cambria Math"/>
                <a:ea typeface="Cambria Math"/>
                <a:cs typeface="Cambria Math"/>
                <a:sym typeface="Cambria Math"/>
              </a:rPr>
              <a:t>echo "username: snoopy, password: trylogin" </a:t>
            </a:r>
            <a:r>
              <a:rPr lang="en-US" altLang="zh-TW" sz="1467">
                <a:solidFill>
                  <a:srgbClr val="38761D"/>
                </a:solidFill>
                <a:latin typeface="Times New Roman"/>
                <a:ea typeface="Times New Roman"/>
                <a:cs typeface="Times New Roman"/>
                <a:sym typeface="Times New Roman"/>
              </a:rPr>
              <a:t>&gt;</a:t>
            </a:r>
            <a:r>
              <a:rPr lang="zh-TW" altLang="en-US" sz="1467">
                <a:solidFill>
                  <a:srgbClr val="38761D"/>
                </a:solidFill>
                <a:latin typeface="Cambria Math"/>
                <a:ea typeface="Cambria Math"/>
                <a:cs typeface="Cambria Math"/>
                <a:sym typeface="Cambria Math"/>
              </a:rPr>
              <a:t> </a:t>
            </a:r>
            <a:r>
              <a:rPr lang="en-US" altLang="zh-TW" sz="1467">
                <a:solidFill>
                  <a:srgbClr val="38761D"/>
                </a:solidFill>
                <a:latin typeface="Cambria Math"/>
                <a:ea typeface="Cambria Math"/>
                <a:cs typeface="Cambria Math"/>
                <a:sym typeface="Cambria Math"/>
              </a:rPr>
              <a:t>/var/log/secure.log</a:t>
            </a:r>
            <a:endParaRPr sz="1467">
              <a:solidFill>
                <a:srgbClr val="38761D"/>
              </a:solidFill>
              <a:latin typeface="Cambria Math"/>
              <a:ea typeface="Cambria Math"/>
              <a:cs typeface="Cambria Math"/>
              <a:sym typeface="Cambria Math"/>
            </a:endParaRPr>
          </a:p>
        </p:txBody>
      </p:sp>
      <p:sp>
        <p:nvSpPr>
          <p:cNvPr id="458" name="Google Shape;458;p51"/>
          <p:cNvSpPr txBox="1"/>
          <p:nvPr/>
        </p:nvSpPr>
        <p:spPr>
          <a:xfrm>
            <a:off x="4837975" y="5798889"/>
            <a:ext cx="1831200" cy="492402"/>
          </a:xfrm>
          <a:prstGeom prst="rect">
            <a:avLst/>
          </a:prstGeom>
          <a:noFill/>
          <a:ln>
            <a:noFill/>
          </a:ln>
        </p:spPr>
        <p:txBody>
          <a:bodyPr spcFirstLastPara="1" wrap="square" lIns="121900" tIns="121900" rIns="121900" bIns="121900" anchor="t" anchorCtr="0">
            <a:spAutoFit/>
          </a:bodyPr>
          <a:lstStyle/>
          <a:p>
            <a:r>
              <a:rPr lang="en-US" altLang="zh-TW" sz="1600" dirty="0">
                <a:solidFill>
                  <a:schemeClr val="dk1"/>
                </a:solidFill>
                <a:latin typeface="Cambria Math"/>
                <a:ea typeface="Cambria Math"/>
                <a:cs typeface="Cambria Math"/>
                <a:sym typeface="Cambria Math"/>
              </a:rPr>
              <a:t>Procedure</a:t>
            </a:r>
            <a:endParaRPr sz="1600" dirty="0">
              <a:solidFill>
                <a:schemeClr val="dk1"/>
              </a:solidFill>
              <a:latin typeface="Cambria Math"/>
              <a:ea typeface="Cambria Math"/>
              <a:cs typeface="Cambria Math"/>
              <a:sym typeface="Cambria Math"/>
            </a:endParaRPr>
          </a:p>
        </p:txBody>
      </p:sp>
    </p:spTree>
    <p:extLst>
      <p:ext uri="{BB962C8B-B14F-4D97-AF65-F5344CB8AC3E}">
        <p14:creationId xmlns:p14="http://schemas.microsoft.com/office/powerpoint/2010/main" val="31571632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471"/>
        <p:cNvGrpSpPr/>
        <p:nvPr/>
      </p:nvGrpSpPr>
      <p:grpSpPr>
        <a:xfrm>
          <a:off x="0" y="0"/>
          <a:ext cx="0" cy="0"/>
          <a:chOff x="0" y="0"/>
          <a:chExt cx="0" cy="0"/>
        </a:xfrm>
      </p:grpSpPr>
      <p:sp>
        <p:nvSpPr>
          <p:cNvPr id="472" name="Google Shape;472;p53"/>
          <p:cNvSpPr txBox="1">
            <a:spLocks noGrp="1"/>
          </p:cNvSpPr>
          <p:nvPr>
            <p:ph type="subTitle" idx="4294967295"/>
          </p:nvPr>
        </p:nvSpPr>
        <p:spPr>
          <a:xfrm>
            <a:off x="68367" y="1119600"/>
            <a:ext cx="11126000" cy="5115200"/>
          </a:xfrm>
          <a:prstGeom prst="rect">
            <a:avLst/>
          </a:prstGeom>
        </p:spPr>
        <p:txBody>
          <a:bodyPr spcFirstLastPara="1" vert="horz" wrap="square" lIns="121900" tIns="121900" rIns="121900" bIns="121900" rtlCol="0" anchor="t" anchorCtr="0">
            <a:noAutofit/>
          </a:bodyPr>
          <a:lstStyle/>
          <a:p>
            <a:pPr marL="518387" indent="-408790">
              <a:spcBef>
                <a:spcPts val="0"/>
              </a:spcBef>
              <a:buClr>
                <a:schemeClr val="dk1"/>
              </a:buClr>
              <a:buSzPts val="1200"/>
              <a:buFont typeface="Times New Roman"/>
              <a:buChar char="●"/>
            </a:pPr>
            <a:r>
              <a:rPr lang="zh-TW">
                <a:solidFill>
                  <a:schemeClr val="dk1"/>
                </a:solidFill>
                <a:latin typeface="Times New Roman"/>
                <a:ea typeface="Times New Roman"/>
                <a:cs typeface="Times New Roman"/>
                <a:sym typeface="Times New Roman"/>
              </a:rPr>
              <a:t>Reference to Chris Huang’s solution :  </a:t>
            </a:r>
            <a:endParaRPr>
              <a:solidFill>
                <a:schemeClr val="dk1"/>
              </a:solidFill>
              <a:latin typeface="Times New Roman"/>
              <a:ea typeface="Times New Roman"/>
              <a:cs typeface="Times New Roman"/>
              <a:sym typeface="Times New Roman"/>
            </a:endParaRPr>
          </a:p>
          <a:p>
            <a:pPr marL="1219170" lvl="1" indent="-406390">
              <a:spcBef>
                <a:spcPts val="0"/>
              </a:spcBef>
              <a:buClr>
                <a:schemeClr val="dk1"/>
              </a:buClr>
              <a:buSzPts val="1200"/>
              <a:buFont typeface="Times New Roman"/>
              <a:buChar char="○"/>
            </a:pPr>
            <a:r>
              <a:rPr lang="zh-TW">
                <a:solidFill>
                  <a:schemeClr val="dk1"/>
                </a:solidFill>
                <a:latin typeface="Times New Roman"/>
                <a:ea typeface="Times New Roman"/>
                <a:cs typeface="Times New Roman"/>
                <a:sym typeface="Times New Roman"/>
              </a:rPr>
              <a:t>To make attack trajectory dynamic </a:t>
            </a:r>
            <a:br>
              <a:rPr lang="zh-TW">
                <a:solidFill>
                  <a:schemeClr val="dk1"/>
                </a:solidFill>
                <a:latin typeface="Times New Roman"/>
                <a:ea typeface="Times New Roman"/>
                <a:cs typeface="Times New Roman"/>
                <a:sym typeface="Times New Roman"/>
              </a:rPr>
            </a:br>
            <a:r>
              <a:rPr lang="zh-TW">
                <a:solidFill>
                  <a:schemeClr val="dk1"/>
                </a:solidFill>
                <a:latin typeface="Times New Roman"/>
                <a:ea typeface="Times New Roman"/>
                <a:cs typeface="Times New Roman"/>
                <a:sym typeface="Times New Roman"/>
              </a:rPr>
              <a:t>→ Using LLM decide next technique attacker should use</a:t>
            </a:r>
            <a:endParaRPr>
              <a:solidFill>
                <a:schemeClr val="dk1"/>
              </a:solidFill>
              <a:latin typeface="Times New Roman"/>
              <a:ea typeface="Times New Roman"/>
              <a:cs typeface="Times New Roman"/>
              <a:sym typeface="Times New Roman"/>
            </a:endParaRPr>
          </a:p>
          <a:p>
            <a:pPr marL="518387" indent="-408790">
              <a:spcBef>
                <a:spcPts val="0"/>
              </a:spcBef>
              <a:buClr>
                <a:schemeClr val="dk1"/>
              </a:buClr>
              <a:buSzPts val="1200"/>
              <a:buFont typeface="Times New Roman"/>
              <a:buChar char="●"/>
            </a:pPr>
            <a:r>
              <a:rPr lang="zh-TW">
                <a:solidFill>
                  <a:schemeClr val="dk1"/>
                </a:solidFill>
                <a:latin typeface="Times New Roman"/>
                <a:ea typeface="Times New Roman"/>
                <a:cs typeface="Times New Roman"/>
                <a:sym typeface="Times New Roman"/>
              </a:rPr>
              <a:t>Try to cover some techniques do not have implementation</a:t>
            </a:r>
            <a:endParaRPr>
              <a:solidFill>
                <a:schemeClr val="dk1"/>
              </a:solidFill>
              <a:latin typeface="Times New Roman"/>
              <a:ea typeface="Times New Roman"/>
              <a:cs typeface="Times New Roman"/>
              <a:sym typeface="Times New Roman"/>
            </a:endParaRPr>
          </a:p>
          <a:p>
            <a:pPr marL="1219170" lvl="1" indent="-406390">
              <a:spcBef>
                <a:spcPts val="0"/>
              </a:spcBef>
              <a:buClr>
                <a:schemeClr val="dk1"/>
              </a:buClr>
              <a:buSzPts val="1200"/>
              <a:buFont typeface="Times New Roman"/>
              <a:buChar char="○"/>
            </a:pPr>
            <a:r>
              <a:rPr lang="zh-TW">
                <a:solidFill>
                  <a:schemeClr val="dk1"/>
                </a:solidFill>
                <a:latin typeface="Times New Roman"/>
                <a:ea typeface="Times New Roman"/>
                <a:cs typeface="Times New Roman"/>
                <a:sym typeface="Times New Roman"/>
              </a:rPr>
              <a:t>LLM can use toolkit to compose some missing procedures</a:t>
            </a:r>
            <a:br>
              <a:rPr lang="zh-TW">
                <a:solidFill>
                  <a:schemeClr val="dk1"/>
                </a:solidFill>
                <a:latin typeface="Times New Roman"/>
                <a:ea typeface="Times New Roman"/>
                <a:cs typeface="Times New Roman"/>
                <a:sym typeface="Times New Roman"/>
              </a:rPr>
            </a:br>
            <a:r>
              <a:rPr lang="zh-TW">
                <a:solidFill>
                  <a:schemeClr val="dk1"/>
                </a:solidFill>
                <a:latin typeface="Times New Roman"/>
                <a:ea typeface="Times New Roman"/>
                <a:cs typeface="Times New Roman"/>
                <a:sym typeface="Times New Roman"/>
              </a:rPr>
              <a:t>→ Enrich training dataset, but still within the scope of real TTPs.</a:t>
            </a:r>
            <a:endParaRPr>
              <a:solidFill>
                <a:schemeClr val="dk1"/>
              </a:solidFill>
              <a:latin typeface="Times New Roman"/>
              <a:ea typeface="Times New Roman"/>
              <a:cs typeface="Times New Roman"/>
              <a:sym typeface="Times New Roman"/>
            </a:endParaRPr>
          </a:p>
        </p:txBody>
      </p:sp>
      <p:pic>
        <p:nvPicPr>
          <p:cNvPr id="473" name="Google Shape;473;p53"/>
          <p:cNvPicPr preferRelativeResize="0"/>
          <p:nvPr/>
        </p:nvPicPr>
        <p:blipFill>
          <a:blip r:embed="rId3">
            <a:alphaModFix/>
          </a:blip>
          <a:stretch>
            <a:fillRect/>
          </a:stretch>
        </p:blipFill>
        <p:spPr>
          <a:xfrm>
            <a:off x="1014133" y="3685168"/>
            <a:ext cx="7272720" cy="2956033"/>
          </a:xfrm>
          <a:prstGeom prst="rect">
            <a:avLst/>
          </a:prstGeom>
          <a:noFill/>
          <a:ln>
            <a:noFill/>
          </a:ln>
        </p:spPr>
      </p:pic>
      <p:sp>
        <p:nvSpPr>
          <p:cNvPr id="474" name="Google Shape;474;p53"/>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55</a:t>
            </a:fld>
            <a:endParaRPr dirty="0"/>
          </a:p>
        </p:txBody>
      </p:sp>
      <p:sp>
        <p:nvSpPr>
          <p:cNvPr id="475" name="Google Shape;475;p53"/>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a:latin typeface="Times New Roman"/>
                <a:ea typeface="Times New Roman"/>
                <a:cs typeface="Times New Roman"/>
                <a:sym typeface="Times New Roman"/>
              </a:rPr>
              <a:t>Implementation – Attack Generation (cont.)</a:t>
            </a:r>
            <a:endParaRPr sz="4000">
              <a:latin typeface="Times New Roman"/>
              <a:ea typeface="Times New Roman"/>
              <a:cs typeface="Times New Roman"/>
              <a:sym typeface="Times New Roman"/>
            </a:endParaRPr>
          </a:p>
        </p:txBody>
      </p:sp>
      <p:sp>
        <p:nvSpPr>
          <p:cNvPr id="476" name="Google Shape;476;p53"/>
          <p:cNvSpPr/>
          <p:nvPr/>
        </p:nvSpPr>
        <p:spPr>
          <a:xfrm>
            <a:off x="6632352" y="4352433"/>
            <a:ext cx="1372800" cy="21048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altLang="zh-TW" sz="2400" dirty="0">
                <a:solidFill>
                  <a:srgbClr val="FF0000"/>
                </a:solidFill>
                <a:latin typeface="Abadi" panose="020B0604020104020204" pitchFamily="34" charset="0"/>
              </a:rPr>
              <a:t>Missing? </a:t>
            </a:r>
            <a:endParaRPr sz="2400" dirty="0">
              <a:solidFill>
                <a:srgbClr val="FF0000"/>
              </a:solidFill>
              <a:latin typeface="Abadi" panose="020B0604020104020204" pitchFamily="34" charset="0"/>
            </a:endParaRPr>
          </a:p>
        </p:txBody>
      </p:sp>
      <p:sp>
        <p:nvSpPr>
          <p:cNvPr id="477" name="Google Shape;477;p53"/>
          <p:cNvSpPr txBox="1"/>
          <p:nvPr/>
        </p:nvSpPr>
        <p:spPr>
          <a:xfrm>
            <a:off x="9830133" y="1"/>
            <a:ext cx="2518400" cy="523180"/>
          </a:xfrm>
          <a:prstGeom prst="rect">
            <a:avLst/>
          </a:prstGeom>
          <a:noFill/>
          <a:ln>
            <a:noFill/>
          </a:ln>
        </p:spPr>
        <p:txBody>
          <a:bodyPr spcFirstLastPara="1" wrap="square" lIns="121900" tIns="121900" rIns="121900" bIns="121900" anchor="t" anchorCtr="0">
            <a:spAutoFit/>
          </a:bodyPr>
          <a:lstStyle/>
          <a:p>
            <a:r>
              <a:rPr lang="en-US" altLang="zh-TW" i="1" dirty="0">
                <a:solidFill>
                  <a:srgbClr val="434343"/>
                </a:solidFill>
                <a:latin typeface="Times New Roman"/>
                <a:ea typeface="Times New Roman"/>
                <a:cs typeface="Times New Roman"/>
                <a:sym typeface="Times New Roman"/>
              </a:rPr>
              <a:t>( Dataset Generation )</a:t>
            </a:r>
            <a:endParaRPr b="1" i="1" dirty="0">
              <a:solidFill>
                <a:srgbClr val="C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519391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326"/>
        <p:cNvGrpSpPr/>
        <p:nvPr/>
      </p:nvGrpSpPr>
      <p:grpSpPr>
        <a:xfrm>
          <a:off x="0" y="0"/>
          <a:ext cx="0" cy="0"/>
          <a:chOff x="0" y="0"/>
          <a:chExt cx="0" cy="0"/>
        </a:xfrm>
      </p:grpSpPr>
      <p:sp>
        <p:nvSpPr>
          <p:cNvPr id="327" name="Google Shape;327;p39"/>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56</a:t>
            </a:fld>
            <a:endParaRPr dirty="0"/>
          </a:p>
        </p:txBody>
      </p:sp>
      <p:sp>
        <p:nvSpPr>
          <p:cNvPr id="328" name="Google Shape;328;p39"/>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Conclusion</a:t>
            </a:r>
            <a:endParaRPr dirty="0">
              <a:latin typeface="Times New Roman"/>
              <a:ea typeface="Times New Roman"/>
              <a:cs typeface="Times New Roman"/>
              <a:sym typeface="Times New Roman"/>
            </a:endParaRPr>
          </a:p>
        </p:txBody>
      </p:sp>
      <p:sp>
        <p:nvSpPr>
          <p:cNvPr id="329" name="Google Shape;329;p39"/>
          <p:cNvSpPr txBox="1"/>
          <p:nvPr/>
        </p:nvSpPr>
        <p:spPr>
          <a:xfrm>
            <a:off x="762000" y="1258800"/>
            <a:ext cx="10668000" cy="3736816"/>
          </a:xfrm>
          <a:prstGeom prst="rect">
            <a:avLst/>
          </a:prstGeom>
          <a:noFill/>
          <a:ln>
            <a:noFill/>
          </a:ln>
        </p:spPr>
        <p:txBody>
          <a:bodyPr spcFirstLastPara="1" wrap="square" lIns="121900" tIns="121900" rIns="121900" bIns="121900" anchor="t" anchorCtr="0">
            <a:spAutoFit/>
          </a:bodyPr>
          <a:lstStyle/>
          <a:p>
            <a:pPr>
              <a:lnSpc>
                <a:spcPct val="90000"/>
              </a:lnSpc>
              <a:spcBef>
                <a:spcPts val="1333"/>
              </a:spcBef>
            </a:pPr>
            <a:r>
              <a:rPr lang="en-US" altLang="zh-TW" sz="2533" dirty="0">
                <a:solidFill>
                  <a:schemeClr val="dk1"/>
                </a:solidFill>
                <a:latin typeface="Times New Roman"/>
                <a:ea typeface="Times New Roman"/>
                <a:cs typeface="Times New Roman"/>
                <a:sym typeface="Times New Roman"/>
              </a:rPr>
              <a:t>Goals</a:t>
            </a:r>
            <a:endParaRPr sz="2533" dirty="0">
              <a:solidFill>
                <a:schemeClr val="dk1"/>
              </a:solidFill>
              <a:latin typeface="Times New Roman"/>
              <a:ea typeface="Times New Roman"/>
              <a:cs typeface="Times New Roman"/>
              <a:sym typeface="Times New Roman"/>
            </a:endParaRPr>
          </a:p>
          <a:p>
            <a:pPr marL="609585" indent="-465655">
              <a:lnSpc>
                <a:spcPct val="90000"/>
              </a:lnSpc>
              <a:spcBef>
                <a:spcPts val="1333"/>
              </a:spcBef>
              <a:buClr>
                <a:schemeClr val="dk1"/>
              </a:buClr>
              <a:buSzPts val="1900"/>
              <a:buFont typeface="Times New Roman"/>
              <a:buChar char="-"/>
            </a:pPr>
            <a:r>
              <a:rPr lang="en-US" altLang="zh-TW" sz="2533" dirty="0">
                <a:solidFill>
                  <a:schemeClr val="dk1"/>
                </a:solidFill>
                <a:latin typeface="Times New Roman"/>
                <a:ea typeface="Times New Roman"/>
                <a:cs typeface="Times New Roman"/>
                <a:sym typeface="Times New Roman"/>
              </a:rPr>
              <a:t>Bridge the gap between detection and active engagement through profile-driven reinforcement fine-tuning.</a:t>
            </a:r>
            <a:br>
              <a:rPr lang="en-US" altLang="zh-TW" sz="2533" dirty="0">
                <a:solidFill>
                  <a:schemeClr val="dk1"/>
                </a:solidFill>
                <a:latin typeface="Times New Roman"/>
                <a:ea typeface="Times New Roman"/>
                <a:cs typeface="Times New Roman"/>
                <a:sym typeface="Times New Roman"/>
              </a:rPr>
            </a:br>
            <a:endParaRPr sz="2533" dirty="0">
              <a:solidFill>
                <a:schemeClr val="dk1"/>
              </a:solidFill>
              <a:latin typeface="Times New Roman"/>
              <a:ea typeface="Times New Roman"/>
              <a:cs typeface="Times New Roman"/>
              <a:sym typeface="Times New Roman"/>
            </a:endParaRPr>
          </a:p>
          <a:p>
            <a:pPr marL="609585" indent="-465655">
              <a:lnSpc>
                <a:spcPct val="90000"/>
              </a:lnSpc>
              <a:buClr>
                <a:schemeClr val="dk1"/>
              </a:buClr>
              <a:buSzPts val="1900"/>
              <a:buFont typeface="Times New Roman"/>
              <a:buChar char="-"/>
            </a:pPr>
            <a:r>
              <a:rPr lang="en-US" altLang="zh-TW" sz="2533" dirty="0">
                <a:solidFill>
                  <a:schemeClr val="dk1"/>
                </a:solidFill>
                <a:latin typeface="Times New Roman"/>
                <a:ea typeface="Times New Roman"/>
                <a:cs typeface="Times New Roman"/>
                <a:sym typeface="Times New Roman"/>
              </a:rPr>
              <a:t>Enhance honeypot realism by generating dynamic strategies that sustain attacker interaction.</a:t>
            </a:r>
            <a:br>
              <a:rPr lang="en-US" altLang="zh-TW" sz="2533" dirty="0">
                <a:solidFill>
                  <a:schemeClr val="dk1"/>
                </a:solidFill>
                <a:latin typeface="Times New Roman"/>
                <a:ea typeface="Times New Roman"/>
                <a:cs typeface="Times New Roman"/>
                <a:sym typeface="Times New Roman"/>
              </a:rPr>
            </a:br>
            <a:endParaRPr sz="2533" dirty="0">
              <a:solidFill>
                <a:schemeClr val="dk1"/>
              </a:solidFill>
              <a:latin typeface="Times New Roman"/>
              <a:ea typeface="Times New Roman"/>
              <a:cs typeface="Times New Roman"/>
              <a:sym typeface="Times New Roman"/>
            </a:endParaRPr>
          </a:p>
          <a:p>
            <a:pPr marL="609585" indent="-465655">
              <a:lnSpc>
                <a:spcPct val="90000"/>
              </a:lnSpc>
              <a:buClr>
                <a:schemeClr val="dk1"/>
              </a:buClr>
              <a:buSzPts val="1900"/>
              <a:buFont typeface="Times New Roman"/>
              <a:buChar char="-"/>
            </a:pPr>
            <a:r>
              <a:rPr lang="en-US" altLang="zh-TW" sz="2533" dirty="0">
                <a:solidFill>
                  <a:schemeClr val="dk1"/>
                </a:solidFill>
                <a:latin typeface="Times New Roman"/>
                <a:ea typeface="Times New Roman"/>
                <a:cs typeface="Times New Roman"/>
                <a:sym typeface="Times New Roman"/>
              </a:rPr>
              <a:t>Contribute an extensible paradigm that can be applied to future honeypot systems, regardless of toolkit differences.</a:t>
            </a:r>
            <a:endParaRPr sz="2533" dirty="0">
              <a:solidFill>
                <a:schemeClr val="dk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Shape 245">
          <a:extLst>
            <a:ext uri="{FF2B5EF4-FFF2-40B4-BE49-F238E27FC236}">
              <a16:creationId xmlns:a16="http://schemas.microsoft.com/office/drawing/2014/main" id="{0DB0B0C5-77C5-83E3-20F6-82EFEFBF52D2}"/>
            </a:ext>
          </a:extLst>
        </p:cNvPr>
        <p:cNvGrpSpPr/>
        <p:nvPr/>
      </p:nvGrpSpPr>
      <p:grpSpPr>
        <a:xfrm>
          <a:off x="0" y="0"/>
          <a:ext cx="0" cy="0"/>
          <a:chOff x="0" y="0"/>
          <a:chExt cx="0" cy="0"/>
        </a:xfrm>
      </p:grpSpPr>
      <p:sp>
        <p:nvSpPr>
          <p:cNvPr id="246" name="Google Shape;246;p30">
            <a:extLst>
              <a:ext uri="{FF2B5EF4-FFF2-40B4-BE49-F238E27FC236}">
                <a16:creationId xmlns:a16="http://schemas.microsoft.com/office/drawing/2014/main" id="{833E6E14-D480-FAE5-578E-29CC36C22187}"/>
              </a:ext>
            </a:extLst>
          </p:cNvPr>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Solution Overview – Training </a:t>
            </a:r>
            <a:endParaRPr sz="4000" dirty="0">
              <a:latin typeface="Times New Roman"/>
              <a:ea typeface="Times New Roman"/>
              <a:cs typeface="Times New Roman"/>
              <a:sym typeface="Times New Roman"/>
            </a:endParaRPr>
          </a:p>
        </p:txBody>
      </p:sp>
      <p:sp>
        <p:nvSpPr>
          <p:cNvPr id="247" name="Google Shape;247;p30">
            <a:extLst>
              <a:ext uri="{FF2B5EF4-FFF2-40B4-BE49-F238E27FC236}">
                <a16:creationId xmlns:a16="http://schemas.microsoft.com/office/drawing/2014/main" id="{8442B618-1E28-D008-042F-39DACC863CE1}"/>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57</a:t>
            </a:fld>
            <a:endParaRPr dirty="0"/>
          </a:p>
        </p:txBody>
      </p:sp>
      <p:sp>
        <p:nvSpPr>
          <p:cNvPr id="248" name="Google Shape;248;p30">
            <a:extLst>
              <a:ext uri="{FF2B5EF4-FFF2-40B4-BE49-F238E27FC236}">
                <a16:creationId xmlns:a16="http://schemas.microsoft.com/office/drawing/2014/main" id="{C5A9ECE8-095C-FC84-4EAF-654A52F85627}"/>
              </a:ext>
            </a:extLst>
          </p:cNvPr>
          <p:cNvSpPr txBox="1"/>
          <p:nvPr/>
        </p:nvSpPr>
        <p:spPr>
          <a:xfrm>
            <a:off x="8534400" y="1"/>
            <a:ext cx="3633600" cy="523180"/>
          </a:xfrm>
          <a:prstGeom prst="rect">
            <a:avLst/>
          </a:prstGeom>
          <a:noFill/>
          <a:ln>
            <a:noFill/>
          </a:ln>
        </p:spPr>
        <p:txBody>
          <a:bodyPr spcFirstLastPara="1" wrap="square" lIns="121900" tIns="121900" rIns="121900" bIns="121900" anchor="t" anchorCtr="0">
            <a:spAutoFit/>
          </a:bodyPr>
          <a:lstStyle/>
          <a:p>
            <a:r>
              <a:rPr lang="en-US" altLang="zh-TW" i="1" dirty="0">
                <a:solidFill>
                  <a:srgbClr val="434343"/>
                </a:solidFill>
                <a:latin typeface="Times New Roman"/>
                <a:ea typeface="Times New Roman"/>
                <a:cs typeface="Times New Roman"/>
                <a:sym typeface="Times New Roman"/>
              </a:rPr>
              <a:t>RFT : </a:t>
            </a:r>
            <a:r>
              <a:rPr lang="en-US" altLang="zh-TW" b="1" i="1" dirty="0">
                <a:solidFill>
                  <a:srgbClr val="434343"/>
                </a:solidFill>
                <a:latin typeface="Times New Roman"/>
                <a:ea typeface="Times New Roman"/>
                <a:cs typeface="Times New Roman"/>
                <a:sym typeface="Times New Roman"/>
              </a:rPr>
              <a:t>R</a:t>
            </a:r>
            <a:r>
              <a:rPr lang="en-US" altLang="zh-TW" i="1" dirty="0">
                <a:solidFill>
                  <a:srgbClr val="434343"/>
                </a:solidFill>
                <a:latin typeface="Times New Roman"/>
                <a:ea typeface="Times New Roman"/>
                <a:cs typeface="Times New Roman"/>
                <a:sym typeface="Times New Roman"/>
              </a:rPr>
              <a:t>einforcement </a:t>
            </a:r>
            <a:r>
              <a:rPr lang="en-US" altLang="zh-TW" b="1" i="1" dirty="0">
                <a:solidFill>
                  <a:srgbClr val="434343"/>
                </a:solidFill>
                <a:latin typeface="Times New Roman"/>
                <a:ea typeface="Times New Roman"/>
                <a:cs typeface="Times New Roman"/>
                <a:sym typeface="Times New Roman"/>
              </a:rPr>
              <a:t>F</a:t>
            </a:r>
            <a:r>
              <a:rPr lang="en-US" altLang="zh-TW" i="1" dirty="0">
                <a:solidFill>
                  <a:srgbClr val="434343"/>
                </a:solidFill>
                <a:latin typeface="Times New Roman"/>
                <a:ea typeface="Times New Roman"/>
                <a:cs typeface="Times New Roman"/>
                <a:sym typeface="Times New Roman"/>
              </a:rPr>
              <a:t>ine </a:t>
            </a:r>
            <a:r>
              <a:rPr lang="en-US" altLang="zh-TW" b="1" i="1" dirty="0">
                <a:solidFill>
                  <a:srgbClr val="434343"/>
                </a:solidFill>
                <a:latin typeface="Times New Roman"/>
                <a:ea typeface="Times New Roman"/>
                <a:cs typeface="Times New Roman"/>
                <a:sym typeface="Times New Roman"/>
              </a:rPr>
              <a:t>T</a:t>
            </a:r>
            <a:r>
              <a:rPr lang="en-US" altLang="zh-TW" i="1" dirty="0">
                <a:solidFill>
                  <a:srgbClr val="434343"/>
                </a:solidFill>
                <a:latin typeface="Times New Roman"/>
                <a:ea typeface="Times New Roman"/>
                <a:cs typeface="Times New Roman"/>
                <a:sym typeface="Times New Roman"/>
              </a:rPr>
              <a:t>uning</a:t>
            </a:r>
            <a:endParaRPr i="1" dirty="0">
              <a:solidFill>
                <a:srgbClr val="434343"/>
              </a:solidFill>
              <a:latin typeface="Times New Roman"/>
              <a:ea typeface="Times New Roman"/>
              <a:cs typeface="Times New Roman"/>
              <a:sym typeface="Times New Roman"/>
            </a:endParaRPr>
          </a:p>
        </p:txBody>
      </p:sp>
      <p:pic>
        <p:nvPicPr>
          <p:cNvPr id="1030" name="Picture 6">
            <a:extLst>
              <a:ext uri="{FF2B5EF4-FFF2-40B4-BE49-F238E27FC236}">
                <a16:creationId xmlns:a16="http://schemas.microsoft.com/office/drawing/2014/main" id="{4F3C4884-F45C-231F-1829-3B962FAD81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588" y="1060707"/>
            <a:ext cx="9577749" cy="568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1025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DAB8FA-222C-5139-5207-0C8FD4E2034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D4647C2-AEDF-84D6-E7DB-A72DC9D50846}"/>
              </a:ext>
            </a:extLst>
          </p:cNvPr>
          <p:cNvSpPr>
            <a:spLocks noGrp="1"/>
          </p:cNvSpPr>
          <p:nvPr>
            <p:ph type="title"/>
          </p:nvPr>
        </p:nvSpPr>
        <p:spPr>
          <a:xfrm>
            <a:off x="415600" y="429406"/>
            <a:ext cx="11360800" cy="763600"/>
          </a:xfrm>
        </p:spPr>
        <p:txBody>
          <a:bodyPr>
            <a:normAutofit fontScale="90000"/>
          </a:bodyPr>
          <a:lstStyle/>
          <a:p>
            <a:r>
              <a:rPr lang="zh-TW" altLang="zh-TW" dirty="0">
                <a:latin typeface="Times New Roman"/>
                <a:ea typeface="Times New Roman"/>
                <a:cs typeface="Times New Roman"/>
                <a:sym typeface="Times New Roman"/>
              </a:rPr>
              <a:t>Solution – </a:t>
            </a:r>
            <a:r>
              <a:rPr lang="en-US" altLang="zh-TW" dirty="0">
                <a:latin typeface="Times New Roman"/>
                <a:ea typeface="Times New Roman"/>
                <a:cs typeface="Times New Roman"/>
                <a:sym typeface="Times New Roman"/>
              </a:rPr>
              <a:t>Action Space (3/4)</a:t>
            </a:r>
            <a:endParaRPr lang="zh-TW" altLang="en-US" dirty="0"/>
          </a:p>
        </p:txBody>
      </p:sp>
      <p:sp>
        <p:nvSpPr>
          <p:cNvPr id="3" name="文字版面配置區 2">
            <a:extLst>
              <a:ext uri="{FF2B5EF4-FFF2-40B4-BE49-F238E27FC236}">
                <a16:creationId xmlns:a16="http://schemas.microsoft.com/office/drawing/2014/main" id="{AD27AC04-C8C7-33B9-E2C7-8F514728A5E3}"/>
              </a:ext>
            </a:extLst>
          </p:cNvPr>
          <p:cNvSpPr>
            <a:spLocks noGrp="1"/>
          </p:cNvSpPr>
          <p:nvPr>
            <p:ph type="body" idx="1"/>
          </p:nvPr>
        </p:nvSpPr>
        <p:spPr>
          <a:xfrm>
            <a:off x="415600" y="1261241"/>
            <a:ext cx="11360800" cy="5360276"/>
          </a:xfrm>
        </p:spPr>
        <p:txBody>
          <a:bodyPr>
            <a:normAutofit lnSpcReduction="10000"/>
          </a:bodyPr>
          <a:lstStyle/>
          <a:p>
            <a:r>
              <a:rPr lang="en-US" altLang="zh-TW" sz="2400" dirty="0">
                <a:latin typeface="Times New Roman" panose="02020603050405020304" pitchFamily="18" charset="0"/>
                <a:cs typeface="Times New Roman" panose="02020603050405020304" pitchFamily="18" charset="0"/>
              </a:rPr>
              <a:t>PARTIAL_FAIL - Affect (Deny &amp; Disrupt)</a:t>
            </a:r>
          </a:p>
          <a:p>
            <a:pPr lvl="1"/>
            <a:r>
              <a:rPr lang="en-US" altLang="zh-TW" sz="2000" dirty="0">
                <a:latin typeface="Times New Roman" panose="02020603050405020304" pitchFamily="18" charset="0"/>
                <a:cs typeface="Times New Roman" panose="02020603050405020304" pitchFamily="18" charset="0"/>
              </a:rPr>
              <a:t>Introduces technical friction to consume adversary resources, disrupt automated scripts, and force tool switching.</a:t>
            </a:r>
          </a:p>
          <a:p>
            <a:pPr lvl="1"/>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ARTIFACT_TRAIL - Expose (Data/File Decoys) </a:t>
            </a:r>
          </a:p>
          <a:p>
            <a:pPr lvl="1"/>
            <a:r>
              <a:rPr lang="en-US" altLang="zh-TW" sz="2000" dirty="0">
                <a:latin typeface="Times New Roman" panose="02020603050405020304" pitchFamily="18" charset="0"/>
                <a:cs typeface="Times New Roman" panose="02020603050405020304" pitchFamily="18" charset="0"/>
              </a:rPr>
              <a:t>Deploys simulated system traces to pollute the adversary's situational awareness and explicitly expose </a:t>
            </a:r>
            <a:r>
              <a:rPr lang="en-US" altLang="zh-TW" sz="2000" i="1" dirty="0">
                <a:latin typeface="Times New Roman" panose="02020603050405020304" pitchFamily="18" charset="0"/>
                <a:cs typeface="Times New Roman" panose="02020603050405020304" pitchFamily="18" charset="0"/>
              </a:rPr>
              <a:t>Discovery</a:t>
            </a:r>
            <a:r>
              <a:rPr lang="en-US" altLang="zh-TW" sz="2000" dirty="0">
                <a:latin typeface="Times New Roman" panose="02020603050405020304" pitchFamily="18" charset="0"/>
                <a:cs typeface="Times New Roman" panose="02020603050405020304" pitchFamily="18" charset="0"/>
              </a:rPr>
              <a:t> activities.</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INERT_ADMIN_SERFACE - Expose (Network/Service Decoys)</a:t>
            </a:r>
          </a:p>
          <a:p>
            <a:pPr lvl="1"/>
            <a:r>
              <a:rPr lang="en-US" altLang="zh-TW" sz="2000" dirty="0">
                <a:latin typeface="Times New Roman" panose="02020603050405020304" pitchFamily="18" charset="0"/>
                <a:cs typeface="Times New Roman" panose="02020603050405020304" pitchFamily="18" charset="0"/>
              </a:rPr>
              <a:t>Projects legitimate-looking operational endpoints to divert malicious attention away from genuine production assets.</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CREDENTIAL_BREADCRUMBS - Elicit (Identity Decoys &amp; Honeytokens)</a:t>
            </a:r>
          </a:p>
          <a:p>
            <a:pPr lvl="1"/>
            <a:r>
              <a:rPr lang="en-US" altLang="zh-TW" sz="2000" dirty="0">
                <a:latin typeface="Times New Roman" panose="02020603050405020304" pitchFamily="18" charset="0"/>
                <a:cs typeface="Times New Roman" panose="02020603050405020304" pitchFamily="18" charset="0"/>
              </a:rPr>
              <a:t>Plants functional bait to safely induce, monitor, and track the adversary's </a:t>
            </a:r>
            <a:r>
              <a:rPr lang="en-US" altLang="zh-TW" sz="2000" i="1" dirty="0">
                <a:latin typeface="Times New Roman" panose="02020603050405020304" pitchFamily="18" charset="0"/>
                <a:cs typeface="Times New Roman" panose="02020603050405020304" pitchFamily="18" charset="0"/>
              </a:rPr>
              <a:t>Lateral Movement</a:t>
            </a:r>
            <a:r>
              <a:rPr lang="en-US" altLang="zh-TW" sz="2000" dirty="0">
                <a:latin typeface="Times New Roman" panose="02020603050405020304" pitchFamily="18" charset="0"/>
                <a:cs typeface="Times New Roman" panose="02020603050405020304" pitchFamily="18" charset="0"/>
              </a:rPr>
              <a:t> trajectory.</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ACCESS_CONTROL_TRAP - Elicit (Vulnerability/Flaw Decoys)</a:t>
            </a:r>
          </a:p>
          <a:p>
            <a:pPr lvl="1"/>
            <a:r>
              <a:rPr lang="en-US" altLang="zh-TW" sz="2000" dirty="0">
                <a:latin typeface="Times New Roman" panose="02020603050405020304" pitchFamily="18" charset="0"/>
                <a:cs typeface="Times New Roman" panose="02020603050405020304" pitchFamily="18" charset="0"/>
              </a:rPr>
              <a:t>Fabricates operational misconfigurations specifically designed to draw out advanced </a:t>
            </a:r>
            <a:r>
              <a:rPr lang="en-US" altLang="zh-TW" sz="2000" i="1" dirty="0">
                <a:latin typeface="Times New Roman" panose="02020603050405020304" pitchFamily="18" charset="0"/>
                <a:cs typeface="Times New Roman" panose="02020603050405020304" pitchFamily="18" charset="0"/>
              </a:rPr>
              <a:t>Privilege Escalation</a:t>
            </a:r>
            <a:r>
              <a:rPr lang="en-US" altLang="zh-TW" sz="2000" dirty="0">
                <a:latin typeface="Times New Roman" panose="02020603050405020304" pitchFamily="18" charset="0"/>
                <a:cs typeface="Times New Roman" panose="02020603050405020304" pitchFamily="18" charset="0"/>
              </a:rPr>
              <a:t> TTPs</a:t>
            </a:r>
          </a:p>
        </p:txBody>
      </p:sp>
      <p:sp>
        <p:nvSpPr>
          <p:cNvPr id="4" name="投影片編號版面配置區 3">
            <a:extLst>
              <a:ext uri="{FF2B5EF4-FFF2-40B4-BE49-F238E27FC236}">
                <a16:creationId xmlns:a16="http://schemas.microsoft.com/office/drawing/2014/main" id="{28CF520C-FE11-B79D-F8E3-01DA1B74D88D}"/>
              </a:ext>
            </a:extLst>
          </p:cNvPr>
          <p:cNvSpPr>
            <a:spLocks noGrp="1"/>
          </p:cNvSpPr>
          <p:nvPr>
            <p:ph type="sldNum" idx="12"/>
          </p:nvPr>
        </p:nvSpPr>
        <p:spPr/>
        <p:txBody>
          <a:bodyPr/>
          <a:lstStyle/>
          <a:p>
            <a:fld id="{00000000-1234-1234-1234-123412341234}" type="slidenum">
              <a:rPr lang="en-US" altLang="zh-TW" smtClean="0"/>
              <a:pPr/>
              <a:t>58</a:t>
            </a:fld>
            <a:endParaRPr lang="zh-TW" altLang="en-US" dirty="0"/>
          </a:p>
        </p:txBody>
      </p:sp>
    </p:spTree>
    <p:extLst>
      <p:ext uri="{BB962C8B-B14F-4D97-AF65-F5344CB8AC3E}">
        <p14:creationId xmlns:p14="http://schemas.microsoft.com/office/powerpoint/2010/main" val="15443974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0735CE-5707-6784-88A8-A0DE53FC607B}"/>
            </a:ext>
          </a:extLst>
        </p:cNvPr>
        <p:cNvGrpSpPr/>
        <p:nvPr/>
      </p:nvGrpSpPr>
      <p:grpSpPr>
        <a:xfrm>
          <a:off x="0" y="0"/>
          <a:ext cx="0" cy="0"/>
          <a:chOff x="0" y="0"/>
          <a:chExt cx="0" cy="0"/>
        </a:xfrm>
      </p:grpSpPr>
      <p:sp>
        <p:nvSpPr>
          <p:cNvPr id="7" name="標題 6">
            <a:extLst>
              <a:ext uri="{FF2B5EF4-FFF2-40B4-BE49-F238E27FC236}">
                <a16:creationId xmlns:a16="http://schemas.microsoft.com/office/drawing/2014/main" id="{FE511F10-8539-9FFC-C9D2-B73C6652F52E}"/>
              </a:ext>
            </a:extLst>
          </p:cNvPr>
          <p:cNvSpPr>
            <a:spLocks noGrp="1"/>
          </p:cNvSpPr>
          <p:nvPr>
            <p:ph type="title"/>
          </p:nvPr>
        </p:nvSpPr>
        <p:spPr>
          <a:xfrm>
            <a:off x="838200" y="365126"/>
            <a:ext cx="10515600" cy="939800"/>
          </a:xfrm>
        </p:spPr>
        <p:txBody>
          <a:bodyPr/>
          <a:lstStyle/>
          <a:p>
            <a:r>
              <a:rPr lang="en-US" altLang="zh-TW" dirty="0"/>
              <a:t>Progress (~11/25)</a:t>
            </a:r>
            <a:endParaRPr lang="zh-TW" altLang="en-US" dirty="0"/>
          </a:p>
        </p:txBody>
      </p:sp>
      <mc:AlternateContent xmlns:mc="http://schemas.openxmlformats.org/markup-compatibility/2006" xmlns:a14="http://schemas.microsoft.com/office/drawing/2010/main">
        <mc:Choice Requires="a14">
          <p:sp>
            <p:nvSpPr>
              <p:cNvPr id="4" name="內容版面配置區 1">
                <a:extLst>
                  <a:ext uri="{FF2B5EF4-FFF2-40B4-BE49-F238E27FC236}">
                    <a16:creationId xmlns:a16="http://schemas.microsoft.com/office/drawing/2014/main" id="{9D6208BE-07A1-EA88-6C02-ED955CFAF2FA}"/>
                  </a:ext>
                </a:extLst>
              </p:cNvPr>
              <p:cNvSpPr txBox="1">
                <a:spLocks/>
              </p:cNvSpPr>
              <p:nvPr/>
            </p:nvSpPr>
            <p:spPr>
              <a:xfrm>
                <a:off x="838200" y="1442130"/>
                <a:ext cx="10515600" cy="3268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TW" smtClean="0">
                          <a:latin typeface="Cambria Math" panose="02040503050406030204" pitchFamily="18" charset="0"/>
                        </a:rPr>
                        <m:t>𝑆</m:t>
                      </m:r>
                      <m:r>
                        <a:rPr lang="en-US" altLang="zh-TW" smtClean="0">
                          <a:latin typeface="Cambria Math" panose="02040503050406030204" pitchFamily="18" charset="0"/>
                        </a:rPr>
                        <m:t> = </m:t>
                      </m:r>
                      <m:r>
                        <a:rPr lang="en-US" altLang="zh-TW" i="1" smtClean="0">
                          <a:latin typeface="Cambria Math" panose="02040503050406030204" pitchFamily="18" charset="0"/>
                        </a:rPr>
                        <m:t>𝑆𝑡𝑟𝑎𝑡𝑒𝑔𝑦</m:t>
                      </m:r>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smtClean="0">
                              <a:latin typeface="Cambria Math" panose="02040503050406030204" pitchFamily="18" charset="0"/>
                            </a:rPr>
                            <m:t>𝐹</m:t>
                          </m:r>
                        </m:e>
                        <m:sub>
                          <m:r>
                            <a:rPr lang="en-US" altLang="zh-TW" i="1" smtClean="0">
                              <a:latin typeface="Cambria Math" panose="02040503050406030204" pitchFamily="18" charset="0"/>
                            </a:rPr>
                            <m:t>𝜃</m:t>
                          </m:r>
                        </m:sub>
                      </m:sSub>
                      <m:d>
                        <m:dPr>
                          <m:ctrlPr>
                            <a:rPr lang="en-US" altLang="zh-TW" i="1" smtClean="0">
                              <a:latin typeface="Cambria Math" panose="02040503050406030204" pitchFamily="18" charset="0"/>
                            </a:rPr>
                          </m:ctrlPr>
                        </m:dPr>
                        <m:e>
                          <m:r>
                            <a:rPr lang="en-US" altLang="zh-TW" i="1" smtClean="0">
                              <a:latin typeface="Cambria Math" panose="02040503050406030204" pitchFamily="18" charset="0"/>
                            </a:rPr>
                            <m:t>𝑃</m:t>
                          </m:r>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smtClean="0">
                                  <a:latin typeface="Cambria Math" panose="02040503050406030204" pitchFamily="18" charset="0"/>
                                </a:rPr>
                                <m:t>𝐷</m:t>
                              </m:r>
                            </m:e>
                            <m:sub>
                              <m:r>
                                <a:rPr lang="en-US" altLang="zh-TW" i="1" smtClean="0">
                                  <a:latin typeface="Cambria Math" panose="02040503050406030204" pitchFamily="18" charset="0"/>
                                </a:rPr>
                                <m:t>𝑚</m:t>
                              </m:r>
                            </m:sub>
                          </m:sSub>
                        </m:e>
                      </m:d>
                    </m:oMath>
                  </m:oMathPara>
                </a14:m>
                <a:endParaRPr lang="en-US" altLang="zh-TW" dirty="0"/>
              </a:p>
              <a:p>
                <a:pPr marL="514350" indent="-514350">
                  <a:buFont typeface="Arial" panose="020B0604020202020204" pitchFamily="34" charset="0"/>
                  <a:buAutoNum type="arabicPeriod"/>
                </a:pPr>
                <a:r>
                  <a:rPr lang="en-US" altLang="zh-TW" dirty="0"/>
                  <a:t>Because we do Async Process, our modification will not influence attack immediately</a:t>
                </a:r>
              </a:p>
              <a:p>
                <a:pPr marL="514350" indent="-514350">
                  <a:buFont typeface="Arial" panose="020B0604020202020204" pitchFamily="34" charset="0"/>
                  <a:buAutoNum type="arabicPeriod"/>
                </a:pPr>
                <a:r>
                  <a:rPr lang="en-US" altLang="zh-TW" dirty="0"/>
                  <a:t>How to evaluate a strategy is good or not ?</a:t>
                </a:r>
              </a:p>
              <a:p>
                <a:pPr marL="971550" lvl="1" indent="-514350">
                  <a:buFont typeface="Arial" panose="020B0604020202020204" pitchFamily="34" charset="0"/>
                  <a:buAutoNum type="arabicPeriod"/>
                </a:pPr>
                <a:r>
                  <a:rPr lang="en-US" altLang="zh-TW" dirty="0"/>
                  <a:t>Use ChatGPT as a Reward Model to justify ? (Distillation)</a:t>
                </a:r>
              </a:p>
              <a:p>
                <a:pPr marL="971550" lvl="1" indent="-514350">
                  <a:buFont typeface="Arial" panose="020B0604020202020204" pitchFamily="34" charset="0"/>
                  <a:buAutoNum type="arabicPeriod"/>
                </a:pPr>
                <a:r>
                  <a:rPr lang="en-US" altLang="zh-TW" dirty="0"/>
                  <a:t>Relation of MITRE Engage and Strategy ?</a:t>
                </a:r>
              </a:p>
              <a:p>
                <a:pPr marL="971550" lvl="1" indent="-514350">
                  <a:buFont typeface="Arial" panose="020B0604020202020204" pitchFamily="34" charset="0"/>
                  <a:buAutoNum type="arabicPeriod"/>
                </a:pPr>
                <a:endParaRPr lang="en-US" altLang="zh-TW" dirty="0"/>
              </a:p>
              <a:p>
                <a:pPr marL="0" indent="0">
                  <a:buFont typeface="Arial" panose="020B0604020202020204" pitchFamily="34" charset="0"/>
                  <a:buNone/>
                </a:pPr>
                <a:endParaRPr lang="en-US" altLang="zh-TW" dirty="0"/>
              </a:p>
              <a:p>
                <a:pPr marL="0" indent="0">
                  <a:buFont typeface="Arial" panose="020B0604020202020204" pitchFamily="34" charset="0"/>
                  <a:buNone/>
                </a:pPr>
                <a:endParaRPr lang="en-US" altLang="zh-TW" dirty="0"/>
              </a:p>
            </p:txBody>
          </p:sp>
        </mc:Choice>
        <mc:Fallback xmlns="">
          <p:sp>
            <p:nvSpPr>
              <p:cNvPr id="4" name="內容版面配置區 1">
                <a:extLst>
                  <a:ext uri="{FF2B5EF4-FFF2-40B4-BE49-F238E27FC236}">
                    <a16:creationId xmlns:a16="http://schemas.microsoft.com/office/drawing/2014/main" id="{9D6208BE-07A1-EA88-6C02-ED955CFAF2FA}"/>
                  </a:ext>
                </a:extLst>
              </p:cNvPr>
              <p:cNvSpPr txBox="1">
                <a:spLocks noRot="1" noChangeAspect="1" noMove="1" noResize="1" noEditPoints="1" noAdjustHandles="1" noChangeArrowheads="1" noChangeShapeType="1" noTextEdit="1"/>
              </p:cNvSpPr>
              <p:nvPr/>
            </p:nvSpPr>
            <p:spPr>
              <a:xfrm>
                <a:off x="838200" y="1442130"/>
                <a:ext cx="10515600" cy="3268890"/>
              </a:xfrm>
              <a:prstGeom prst="rect">
                <a:avLst/>
              </a:prstGeom>
              <a:blipFill>
                <a:blip r:embed="rId3"/>
                <a:stretch>
                  <a:fillRect l="-1217"/>
                </a:stretch>
              </a:blipFill>
            </p:spPr>
            <p:txBody>
              <a:bodyPr/>
              <a:lstStyle/>
              <a:p>
                <a:r>
                  <a:rPr lang="zh-TW" altLang="en-US">
                    <a:noFill/>
                  </a:rPr>
                  <a:t> </a:t>
                </a:r>
              </a:p>
            </p:txBody>
          </p:sp>
        </mc:Fallback>
      </mc:AlternateContent>
      <p:sp>
        <p:nvSpPr>
          <p:cNvPr id="2" name="投影片編號版面配置區 1">
            <a:extLst>
              <a:ext uri="{FF2B5EF4-FFF2-40B4-BE49-F238E27FC236}">
                <a16:creationId xmlns:a16="http://schemas.microsoft.com/office/drawing/2014/main" id="{9CB8BA82-17C3-FA01-334B-BC092D84D39E}"/>
              </a:ext>
            </a:extLst>
          </p:cNvPr>
          <p:cNvSpPr>
            <a:spLocks noGrp="1"/>
          </p:cNvSpPr>
          <p:nvPr>
            <p:ph type="sldNum" sz="quarter" idx="12"/>
          </p:nvPr>
        </p:nvSpPr>
        <p:spPr/>
        <p:txBody>
          <a:bodyPr/>
          <a:lstStyle/>
          <a:p>
            <a:fld id="{A77C0D7D-0012-4121-A723-8C8932C81B39}" type="slidenum">
              <a:rPr lang="zh-TW" altLang="en-US" smtClean="0"/>
              <a:t>59</a:t>
            </a:fld>
            <a:endParaRPr lang="zh-TW" altLang="en-US"/>
          </a:p>
        </p:txBody>
      </p:sp>
    </p:spTree>
    <p:extLst>
      <p:ext uri="{BB962C8B-B14F-4D97-AF65-F5344CB8AC3E}">
        <p14:creationId xmlns:p14="http://schemas.microsoft.com/office/powerpoint/2010/main" val="24213532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462">
          <a:extLst>
            <a:ext uri="{FF2B5EF4-FFF2-40B4-BE49-F238E27FC236}">
              <a16:creationId xmlns:a16="http://schemas.microsoft.com/office/drawing/2014/main" id="{BDFCBE6C-B995-9ED2-FF25-14531D08BD10}"/>
            </a:ext>
          </a:extLst>
        </p:cNvPr>
        <p:cNvGrpSpPr/>
        <p:nvPr/>
      </p:nvGrpSpPr>
      <p:grpSpPr>
        <a:xfrm>
          <a:off x="0" y="0"/>
          <a:ext cx="0" cy="0"/>
          <a:chOff x="0" y="0"/>
          <a:chExt cx="0" cy="0"/>
        </a:xfrm>
      </p:grpSpPr>
      <p:sp>
        <p:nvSpPr>
          <p:cNvPr id="463" name="Google Shape;463;p52">
            <a:extLst>
              <a:ext uri="{FF2B5EF4-FFF2-40B4-BE49-F238E27FC236}">
                <a16:creationId xmlns:a16="http://schemas.microsoft.com/office/drawing/2014/main" id="{D0005595-6083-7472-02FD-6ED99F585771}"/>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60</a:t>
            </a:fld>
            <a:endParaRPr dirty="0"/>
          </a:p>
        </p:txBody>
      </p:sp>
      <p:sp>
        <p:nvSpPr>
          <p:cNvPr id="465" name="Google Shape;465;p52">
            <a:extLst>
              <a:ext uri="{FF2B5EF4-FFF2-40B4-BE49-F238E27FC236}">
                <a16:creationId xmlns:a16="http://schemas.microsoft.com/office/drawing/2014/main" id="{594009CB-15C9-8FCA-79BA-C7D91E88E128}"/>
              </a:ext>
            </a:extLst>
          </p:cNvPr>
          <p:cNvSpPr txBox="1">
            <a:spLocks noGrp="1"/>
          </p:cNvSpPr>
          <p:nvPr>
            <p:ph type="ctrTitle" idx="4294967295"/>
          </p:nvPr>
        </p:nvSpPr>
        <p:spPr>
          <a:xfrm>
            <a:off x="536405" y="275967"/>
            <a:ext cx="11260400" cy="900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Implementation – </a:t>
            </a:r>
            <a:r>
              <a:rPr lang="en-US" altLang="zh-TW" sz="4000" dirty="0">
                <a:latin typeface="Times New Roman"/>
                <a:ea typeface="Times New Roman"/>
                <a:cs typeface="Times New Roman"/>
                <a:sym typeface="Times New Roman"/>
              </a:rPr>
              <a:t>Toolkit spaces</a:t>
            </a:r>
            <a:r>
              <a:rPr lang="zh-TW" altLang="en-US" sz="4000" dirty="0">
                <a:latin typeface="Times New Roman"/>
                <a:ea typeface="Times New Roman"/>
                <a:cs typeface="Times New Roman"/>
                <a:sym typeface="Times New Roman"/>
              </a:rPr>
              <a:t> </a:t>
            </a:r>
            <a:endParaRPr sz="4000" baseline="50000" dirty="0">
              <a:latin typeface="Times New Roman"/>
              <a:ea typeface="Times New Roman"/>
              <a:cs typeface="Times New Roman"/>
              <a:sym typeface="Times New Roman"/>
            </a:endParaRPr>
          </a:p>
        </p:txBody>
      </p:sp>
      <p:sp>
        <p:nvSpPr>
          <p:cNvPr id="8" name="Google Shape;464;p52">
            <a:extLst>
              <a:ext uri="{FF2B5EF4-FFF2-40B4-BE49-F238E27FC236}">
                <a16:creationId xmlns:a16="http://schemas.microsoft.com/office/drawing/2014/main" id="{66659A89-1EA6-96AA-4F11-6A38734E8CE5}"/>
              </a:ext>
            </a:extLst>
          </p:cNvPr>
          <p:cNvSpPr txBox="1">
            <a:spLocks/>
          </p:cNvSpPr>
          <p:nvPr/>
        </p:nvSpPr>
        <p:spPr>
          <a:xfrm>
            <a:off x="302386" y="1106231"/>
            <a:ext cx="11587228" cy="533014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66797" indent="-457200">
              <a:lnSpc>
                <a:spcPct val="200000"/>
              </a:lnSpc>
              <a:spcBef>
                <a:spcPts val="0"/>
              </a:spcBef>
              <a:buClr>
                <a:schemeClr val="dk1"/>
              </a:buClr>
              <a:buSzPts val="1200"/>
              <a:buFont typeface="Wingdings" panose="05000000000000000000" pitchFamily="2" charset="2"/>
              <a:buChar char="l"/>
            </a:pPr>
            <a:endParaRPr lang="en-US" altLang="zh-TW"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Google Shape;464;p52">
            <a:extLst>
              <a:ext uri="{FF2B5EF4-FFF2-40B4-BE49-F238E27FC236}">
                <a16:creationId xmlns:a16="http://schemas.microsoft.com/office/drawing/2014/main" id="{E01A7D0B-131F-776B-2176-E7D3E824517C}"/>
              </a:ext>
            </a:extLst>
          </p:cNvPr>
          <p:cNvSpPr txBox="1">
            <a:spLocks/>
          </p:cNvSpPr>
          <p:nvPr/>
        </p:nvSpPr>
        <p:spPr>
          <a:xfrm>
            <a:off x="395195" y="878599"/>
            <a:ext cx="11587228" cy="533014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Red Team (LLM)</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a:t>
            </a:r>
          </a:p>
          <a:p>
            <a:pPr lvl="1"/>
            <a:r>
              <a:rPr lang="en-US" altLang="zh-TW" sz="2000" dirty="0">
                <a:latin typeface="Times New Roman" panose="02020603050405020304" pitchFamily="18" charset="0"/>
                <a:cs typeface="Times New Roman" panose="02020603050405020304" pitchFamily="18" charset="0"/>
              </a:rPr>
              <a:t>Tactic covered (10) :</a:t>
            </a:r>
          </a:p>
          <a:p>
            <a:pPr lvl="2"/>
            <a:r>
              <a:rPr lang="en-US" altLang="zh-TW" sz="1600" dirty="0">
                <a:latin typeface="Times New Roman" panose="02020603050405020304" pitchFamily="18" charset="0"/>
                <a:cs typeface="Times New Roman" panose="02020603050405020304" pitchFamily="18" charset="0"/>
              </a:rPr>
              <a:t>Phase A – </a:t>
            </a:r>
            <a:r>
              <a:rPr lang="en-US" altLang="zh-TW" sz="1600" b="1" dirty="0">
                <a:latin typeface="Times New Roman" panose="02020603050405020304" pitchFamily="18" charset="0"/>
                <a:cs typeface="Times New Roman" panose="02020603050405020304" pitchFamily="18" charset="0"/>
              </a:rPr>
              <a:t>Reconnaissance</a:t>
            </a:r>
            <a:r>
              <a:rPr lang="en-US" altLang="zh-TW" sz="1600" dirty="0">
                <a:latin typeface="Times New Roman" panose="02020603050405020304" pitchFamily="18" charset="0"/>
                <a:cs typeface="Times New Roman" panose="02020603050405020304" pitchFamily="18" charset="0"/>
              </a:rPr>
              <a:t> : </a:t>
            </a:r>
          </a:p>
          <a:p>
            <a:pPr lvl="3"/>
            <a:r>
              <a:rPr lang="en-US" altLang="zh-TW" sz="1400" dirty="0">
                <a:latin typeface="Times New Roman" panose="02020603050405020304" pitchFamily="18" charset="0"/>
                <a:cs typeface="Times New Roman" panose="02020603050405020304" pitchFamily="18" charset="0"/>
              </a:rPr>
              <a:t>Recon / Discovery / Credential Access / Collection</a:t>
            </a:r>
          </a:p>
          <a:p>
            <a:pPr lvl="2"/>
            <a:r>
              <a:rPr lang="en-US" altLang="zh-TW" sz="1600" dirty="0">
                <a:latin typeface="Times New Roman" panose="02020603050405020304" pitchFamily="18" charset="0"/>
                <a:cs typeface="Times New Roman" panose="02020603050405020304" pitchFamily="18" charset="0"/>
              </a:rPr>
              <a:t>Phase B – </a:t>
            </a:r>
            <a:r>
              <a:rPr lang="en-US" altLang="zh-TW" sz="1600" b="1" dirty="0">
                <a:latin typeface="Times New Roman" panose="02020603050405020304" pitchFamily="18" charset="0"/>
                <a:cs typeface="Times New Roman" panose="02020603050405020304" pitchFamily="18" charset="0"/>
              </a:rPr>
              <a:t>Weaponized</a:t>
            </a:r>
            <a:r>
              <a:rPr lang="zh-TW" altLang="en-US" sz="1600"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 </a:t>
            </a:r>
          </a:p>
          <a:p>
            <a:pPr lvl="3"/>
            <a:r>
              <a:rPr lang="en-US" altLang="zh-TW" sz="1400" dirty="0">
                <a:latin typeface="Times New Roman" panose="02020603050405020304" pitchFamily="18" charset="0"/>
                <a:cs typeface="Times New Roman" panose="02020603050405020304" pitchFamily="18" charset="0"/>
              </a:rPr>
              <a:t>Privilege Escalation / Persistence / Execution</a:t>
            </a:r>
          </a:p>
          <a:p>
            <a:pPr lvl="2"/>
            <a:r>
              <a:rPr lang="en-US" altLang="zh-TW" sz="1600" dirty="0">
                <a:latin typeface="Times New Roman" panose="02020603050405020304" pitchFamily="18" charset="0"/>
                <a:cs typeface="Times New Roman" panose="02020603050405020304" pitchFamily="18" charset="0"/>
              </a:rPr>
              <a:t>Phase C – </a:t>
            </a:r>
            <a:r>
              <a:rPr lang="en-US" altLang="zh-TW" sz="1600" b="1" dirty="0">
                <a:latin typeface="Times New Roman" panose="02020603050405020304" pitchFamily="18" charset="0"/>
                <a:cs typeface="Times New Roman" panose="02020603050405020304" pitchFamily="18" charset="0"/>
              </a:rPr>
              <a:t>Lateral Movement </a:t>
            </a:r>
            <a:r>
              <a:rPr lang="en-US" altLang="zh-TW" sz="1600" dirty="0">
                <a:latin typeface="Times New Roman" panose="02020603050405020304" pitchFamily="18" charset="0"/>
                <a:cs typeface="Times New Roman" panose="02020603050405020304" pitchFamily="18" charset="0"/>
              </a:rPr>
              <a:t>: Lateral Movement </a:t>
            </a:r>
          </a:p>
          <a:p>
            <a:pPr lvl="2"/>
            <a:r>
              <a:rPr lang="en-US" altLang="zh-TW" sz="1600" dirty="0">
                <a:latin typeface="Times New Roman" panose="02020603050405020304" pitchFamily="18" charset="0"/>
                <a:cs typeface="Times New Roman" panose="02020603050405020304" pitchFamily="18" charset="0"/>
              </a:rPr>
              <a:t>Phase D – </a:t>
            </a:r>
            <a:r>
              <a:rPr lang="en-US" altLang="zh-TW" sz="1600" b="1" dirty="0">
                <a:latin typeface="Times New Roman" panose="02020603050405020304" pitchFamily="18" charset="0"/>
                <a:cs typeface="Times New Roman" panose="02020603050405020304" pitchFamily="18" charset="0"/>
              </a:rPr>
              <a:t>Impact </a:t>
            </a:r>
            <a:r>
              <a:rPr lang="en-US" altLang="zh-TW" sz="1600" dirty="0">
                <a:latin typeface="Times New Roman" panose="02020603050405020304" pitchFamily="18" charset="0"/>
                <a:cs typeface="Times New Roman" panose="02020603050405020304" pitchFamily="18" charset="0"/>
              </a:rPr>
              <a:t>: Exfiltration / Impact </a:t>
            </a:r>
          </a:p>
          <a:p>
            <a:r>
              <a:rPr lang="en-US" altLang="zh-TW" sz="2400" dirty="0">
                <a:latin typeface="Times New Roman" panose="02020603050405020304" pitchFamily="18" charset="0"/>
                <a:cs typeface="Times New Roman" panose="02020603050405020304" pitchFamily="18" charset="0"/>
              </a:rPr>
              <a:t>Blue Team (5 tools) :</a:t>
            </a:r>
          </a:p>
          <a:p>
            <a:pPr lvl="1"/>
            <a:r>
              <a:rPr lang="en-US" altLang="zh-TW" sz="2000" dirty="0">
                <a:latin typeface="Times New Roman" panose="02020603050405020304" pitchFamily="18" charset="0"/>
                <a:cs typeface="Times New Roman" panose="02020603050405020304" pitchFamily="18" charset="0"/>
              </a:rPr>
              <a:t>Activity covered</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(8):</a:t>
            </a:r>
            <a:endParaRPr lang="en-US" altLang="zh-TW" sz="1600" dirty="0">
              <a:latin typeface="Times New Roman" panose="02020603050405020304" pitchFamily="18" charset="0"/>
              <a:cs typeface="Times New Roman" panose="02020603050405020304" pitchFamily="18" charset="0"/>
            </a:endParaRPr>
          </a:p>
          <a:p>
            <a:pPr lvl="2"/>
            <a:r>
              <a:rPr lang="en-US" altLang="zh-TW" sz="1600" dirty="0">
                <a:latin typeface="Times New Roman" panose="02020603050405020304" pitchFamily="18" charset="0"/>
                <a:cs typeface="Times New Roman" panose="02020603050405020304" pitchFamily="18" charset="0"/>
              </a:rPr>
              <a:t>Lures </a:t>
            </a:r>
          </a:p>
          <a:p>
            <a:pPr lvl="2"/>
            <a:r>
              <a:rPr lang="en-US" altLang="zh-TW" sz="1600" dirty="0">
                <a:latin typeface="Times New Roman" panose="02020603050405020304" pitchFamily="18" charset="0"/>
                <a:cs typeface="Times New Roman" panose="02020603050405020304" pitchFamily="18" charset="0"/>
              </a:rPr>
              <a:t>Pocket Litter</a:t>
            </a:r>
          </a:p>
          <a:p>
            <a:pPr lvl="2"/>
            <a:r>
              <a:rPr lang="en-US" altLang="zh-TW" sz="1600" dirty="0">
                <a:latin typeface="Times New Roman" panose="02020603050405020304" pitchFamily="18" charset="0"/>
                <a:cs typeface="Times New Roman" panose="02020603050405020304" pitchFamily="18" charset="0"/>
              </a:rPr>
              <a:t>Artifact Diversity</a:t>
            </a:r>
          </a:p>
          <a:p>
            <a:pPr lvl="2"/>
            <a:r>
              <a:rPr lang="en-US" altLang="zh-TW" sz="1600" dirty="0">
                <a:latin typeface="Times New Roman" panose="02020603050405020304" pitchFamily="18" charset="0"/>
                <a:cs typeface="Times New Roman" panose="02020603050405020304" pitchFamily="18" charset="0"/>
              </a:rPr>
              <a:t>Introduced Vulnerabilities</a:t>
            </a:r>
            <a:endParaRPr lang="en-US" altLang="zh-TW" dirty="0">
              <a:latin typeface="Times New Roman" panose="02020603050405020304" pitchFamily="18" charset="0"/>
              <a:cs typeface="Times New Roman" panose="02020603050405020304" pitchFamily="18" charset="0"/>
            </a:endParaRPr>
          </a:p>
          <a:p>
            <a:pPr lvl="2"/>
            <a:r>
              <a:rPr lang="en-US" altLang="zh-TW" sz="1600" dirty="0">
                <a:latin typeface="Times New Roman" panose="02020603050405020304" pitchFamily="18" charset="0"/>
                <a:cs typeface="Times New Roman" panose="02020603050405020304" pitchFamily="18" charset="0"/>
              </a:rPr>
              <a:t>Network Manipulation</a:t>
            </a:r>
          </a:p>
          <a:p>
            <a:pPr lvl="2"/>
            <a:r>
              <a:rPr lang="en-US" altLang="zh-TW" sz="1600" dirty="0">
                <a:latin typeface="Times New Roman" panose="02020603050405020304" pitchFamily="18" charset="0"/>
                <a:cs typeface="Times New Roman" panose="02020603050405020304" pitchFamily="18" charset="0"/>
              </a:rPr>
              <a:t>Network Diversity</a:t>
            </a:r>
          </a:p>
          <a:p>
            <a:pPr lvl="2"/>
            <a:r>
              <a:rPr lang="en-US" altLang="zh-TW" sz="1600" dirty="0">
                <a:latin typeface="Times New Roman" panose="02020603050405020304" pitchFamily="18" charset="0"/>
                <a:cs typeface="Times New Roman" panose="02020603050405020304" pitchFamily="18" charset="0"/>
              </a:rPr>
              <a:t>Application Diversity</a:t>
            </a:r>
          </a:p>
          <a:p>
            <a:pPr lvl="2"/>
            <a:r>
              <a:rPr lang="en-US" altLang="zh-TW" sz="1600" dirty="0">
                <a:latin typeface="Times New Roman" panose="02020603050405020304" pitchFamily="18" charset="0"/>
                <a:cs typeface="Times New Roman" panose="02020603050405020304" pitchFamily="18" charset="0"/>
              </a:rPr>
              <a:t>Software Manipulation</a:t>
            </a:r>
          </a:p>
          <a:p>
            <a:pPr marL="914400" lvl="2" indent="0">
              <a:buNone/>
            </a:pPr>
            <a:endParaRPr lang="en-US" altLang="zh-TW" sz="1600" dirty="0">
              <a:latin typeface="Times New Roman" panose="02020603050405020304" pitchFamily="18" charset="0"/>
              <a:cs typeface="Times New Roman" panose="02020603050405020304" pitchFamily="18" charset="0"/>
            </a:endParaRPr>
          </a:p>
        </p:txBody>
      </p:sp>
      <p:pic>
        <p:nvPicPr>
          <p:cNvPr id="3" name="圖片 2" descr="一張含有 文字, 螢幕擷取畫面, 字型 的圖片&#10;&#10;AI 產生的內容可能不正確。">
            <a:extLst>
              <a:ext uri="{FF2B5EF4-FFF2-40B4-BE49-F238E27FC236}">
                <a16:creationId xmlns:a16="http://schemas.microsoft.com/office/drawing/2014/main" id="{18DFB884-554F-BB3A-A27D-598688EDE4C2}"/>
              </a:ext>
            </a:extLst>
          </p:cNvPr>
          <p:cNvPicPr>
            <a:picLocks noChangeAspect="1"/>
          </p:cNvPicPr>
          <p:nvPr/>
        </p:nvPicPr>
        <p:blipFill>
          <a:blip r:embed="rId3"/>
          <a:stretch>
            <a:fillRect/>
          </a:stretch>
        </p:blipFill>
        <p:spPr>
          <a:xfrm>
            <a:off x="6096000" y="1134487"/>
            <a:ext cx="4342521" cy="2133358"/>
          </a:xfrm>
          <a:prstGeom prst="rect">
            <a:avLst/>
          </a:prstGeom>
        </p:spPr>
      </p:pic>
      <p:pic>
        <p:nvPicPr>
          <p:cNvPr id="6" name="圖片 5" descr="一張含有 文字, 螢幕擷取畫面, 字型, 數字 的圖片&#10;&#10;AI 產生的內容可能不正確。">
            <a:extLst>
              <a:ext uri="{FF2B5EF4-FFF2-40B4-BE49-F238E27FC236}">
                <a16:creationId xmlns:a16="http://schemas.microsoft.com/office/drawing/2014/main" id="{CC5485FF-CD4A-D888-D10B-6D99D9959EEA}"/>
              </a:ext>
            </a:extLst>
          </p:cNvPr>
          <p:cNvPicPr>
            <a:picLocks noChangeAspect="1"/>
          </p:cNvPicPr>
          <p:nvPr/>
        </p:nvPicPr>
        <p:blipFill>
          <a:blip r:embed="rId4"/>
          <a:stretch>
            <a:fillRect/>
          </a:stretch>
        </p:blipFill>
        <p:spPr>
          <a:xfrm>
            <a:off x="6188809" y="3537465"/>
            <a:ext cx="4548729" cy="3126546"/>
          </a:xfrm>
          <a:prstGeom prst="rect">
            <a:avLst/>
          </a:prstGeom>
        </p:spPr>
      </p:pic>
      <p:cxnSp>
        <p:nvCxnSpPr>
          <p:cNvPr id="10" name="直線接點 9">
            <a:extLst>
              <a:ext uri="{FF2B5EF4-FFF2-40B4-BE49-F238E27FC236}">
                <a16:creationId xmlns:a16="http://schemas.microsoft.com/office/drawing/2014/main" id="{86A97D8E-D11B-38E5-0081-C45E6AF40D2F}"/>
              </a:ext>
            </a:extLst>
          </p:cNvPr>
          <p:cNvCxnSpPr>
            <a:cxnSpLocks/>
          </p:cNvCxnSpPr>
          <p:nvPr/>
        </p:nvCxnSpPr>
        <p:spPr>
          <a:xfrm flipV="1">
            <a:off x="441599" y="3505130"/>
            <a:ext cx="11494419" cy="6208"/>
          </a:xfrm>
          <a:prstGeom prst="line">
            <a:avLst/>
          </a:prstGeom>
          <a:ln w="38100">
            <a:solidFill>
              <a:schemeClr val="accent1"/>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9660822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AB1E7102-32ED-4ADA-F079-AD486FC13077}"/>
              </a:ext>
            </a:extLst>
          </p:cNvPr>
          <p:cNvSpPr>
            <a:spLocks noGrp="1"/>
          </p:cNvSpPr>
          <p:nvPr>
            <p:ph type="title"/>
          </p:nvPr>
        </p:nvSpPr>
        <p:spPr/>
        <p:txBody>
          <a:bodyPr/>
          <a:lstStyle/>
          <a:p>
            <a:r>
              <a:rPr lang="en-US" altLang="zh-TW" dirty="0"/>
              <a:t>Progress ~1230</a:t>
            </a:r>
            <a:endParaRPr lang="zh-TW" altLang="en-US" dirty="0"/>
          </a:p>
        </p:txBody>
      </p:sp>
      <p:sp>
        <p:nvSpPr>
          <p:cNvPr id="6" name="內容版面配置區 5">
            <a:extLst>
              <a:ext uri="{FF2B5EF4-FFF2-40B4-BE49-F238E27FC236}">
                <a16:creationId xmlns:a16="http://schemas.microsoft.com/office/drawing/2014/main" id="{A9B31633-22F9-6478-FA68-8C358C3A19AA}"/>
              </a:ext>
            </a:extLst>
          </p:cNvPr>
          <p:cNvSpPr>
            <a:spLocks noGrp="1"/>
          </p:cNvSpPr>
          <p:nvPr>
            <p:ph idx="1"/>
          </p:nvPr>
        </p:nvSpPr>
        <p:spPr>
          <a:xfrm>
            <a:off x="841310" y="1576873"/>
            <a:ext cx="10515600" cy="5057192"/>
          </a:xfrm>
        </p:spPr>
        <p:txBody>
          <a:bodyPr>
            <a:normAutofit lnSpcReduction="10000"/>
          </a:bodyPr>
          <a:lstStyle/>
          <a:p>
            <a:r>
              <a:rPr lang="en-US" altLang="zh-TW" dirty="0"/>
              <a:t>Revise Simulated Attacker</a:t>
            </a:r>
          </a:p>
          <a:p>
            <a:pPr lvl="1"/>
            <a:r>
              <a:rPr lang="en-US" altLang="zh-TW" dirty="0"/>
              <a:t>(TODO) Use Qwen-3-8B to train our Strategist LLM</a:t>
            </a:r>
          </a:p>
          <a:p>
            <a:pPr lvl="1"/>
            <a:r>
              <a:rPr lang="en-US" altLang="zh-TW" dirty="0"/>
              <a:t>(TODO) Use another to evaluate our Strategist LLM</a:t>
            </a:r>
          </a:p>
          <a:p>
            <a:r>
              <a:rPr lang="en-US" altLang="zh-TW" dirty="0"/>
              <a:t>Strategist LLM Goals:</a:t>
            </a:r>
          </a:p>
          <a:p>
            <a:pPr lvl="1"/>
            <a:r>
              <a:rPr lang="en-US" altLang="zh-TW" dirty="0"/>
              <a:t>Pushing</a:t>
            </a:r>
            <a:r>
              <a:rPr lang="zh-TW" altLang="en-US" dirty="0"/>
              <a:t> </a:t>
            </a:r>
            <a:r>
              <a:rPr lang="en-US" altLang="zh-TW" dirty="0"/>
              <a:t>:</a:t>
            </a:r>
            <a:r>
              <a:rPr lang="zh-TW" altLang="en-US" dirty="0"/>
              <a:t> </a:t>
            </a:r>
            <a:br>
              <a:rPr lang="en-US" altLang="zh-TW" dirty="0"/>
            </a:br>
            <a:r>
              <a:rPr lang="en-US" altLang="zh-TW" dirty="0"/>
              <a:t>BREADCRUMB | HONEY_TOKEN | HUMAN_FACTOR</a:t>
            </a:r>
          </a:p>
          <a:p>
            <a:pPr lvl="2"/>
            <a:r>
              <a:rPr lang="en-US" altLang="zh-TW" dirty="0"/>
              <a:t>As attackers just random walking or lose interest, they are pushed toward new objects.</a:t>
            </a:r>
          </a:p>
          <a:p>
            <a:pPr lvl="2"/>
            <a:r>
              <a:rPr lang="en-US" altLang="zh-TW" dirty="0"/>
              <a:t>Leak fake, or Real information.</a:t>
            </a:r>
            <a:br>
              <a:rPr lang="en-US" altLang="zh-TW" dirty="0"/>
            </a:br>
            <a:endParaRPr lang="en-US" altLang="zh-TW" dirty="0"/>
          </a:p>
          <a:p>
            <a:pPr lvl="1"/>
            <a:r>
              <a:rPr lang="en-US" altLang="zh-TW" dirty="0"/>
              <a:t>Friction :</a:t>
            </a:r>
            <a:br>
              <a:rPr lang="en-US" altLang="zh-TW" dirty="0"/>
            </a:br>
            <a:r>
              <a:rPr lang="en-US" altLang="zh-TW" dirty="0"/>
              <a:t>SOFT_BLOCK | NOISE_INJECTION </a:t>
            </a:r>
          </a:p>
          <a:p>
            <a:pPr lvl="2"/>
            <a:r>
              <a:rPr lang="en-US" altLang="zh-TW" dirty="0"/>
              <a:t>When attacker want to advance, make some obstacles.</a:t>
            </a:r>
          </a:p>
          <a:p>
            <a:pPr lvl="2"/>
            <a:r>
              <a:rPr lang="en-US" altLang="zh-TW" dirty="0"/>
              <a:t>Temporarily modify the permissions of some shared executable files</a:t>
            </a:r>
          </a:p>
        </p:txBody>
      </p:sp>
      <p:sp>
        <p:nvSpPr>
          <p:cNvPr id="2" name="投影片編號版面配置區 1">
            <a:extLst>
              <a:ext uri="{FF2B5EF4-FFF2-40B4-BE49-F238E27FC236}">
                <a16:creationId xmlns:a16="http://schemas.microsoft.com/office/drawing/2014/main" id="{26FF3BD7-E883-1B44-C3BA-1AF8CB7A91FC}"/>
              </a:ext>
            </a:extLst>
          </p:cNvPr>
          <p:cNvSpPr>
            <a:spLocks noGrp="1"/>
          </p:cNvSpPr>
          <p:nvPr>
            <p:ph type="sldNum" sz="quarter" idx="12"/>
          </p:nvPr>
        </p:nvSpPr>
        <p:spPr/>
        <p:txBody>
          <a:bodyPr/>
          <a:lstStyle/>
          <a:p>
            <a:fld id="{A77C0D7D-0012-4121-A723-8C8932C81B39}" type="slidenum">
              <a:rPr lang="zh-TW" altLang="en-US" smtClean="0"/>
              <a:t>61</a:t>
            </a:fld>
            <a:endParaRPr lang="zh-TW" altLang="en-US"/>
          </a:p>
        </p:txBody>
      </p:sp>
    </p:spTree>
    <p:extLst>
      <p:ext uri="{BB962C8B-B14F-4D97-AF65-F5344CB8AC3E}">
        <p14:creationId xmlns:p14="http://schemas.microsoft.com/office/powerpoint/2010/main" val="15114436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15A0141-FB57-93AB-B79B-49E7B62C4C5D}"/>
            </a:ext>
          </a:extLst>
        </p:cNvPr>
        <p:cNvGrpSpPr/>
        <p:nvPr/>
      </p:nvGrpSpPr>
      <p:grpSpPr>
        <a:xfrm>
          <a:off x="0" y="0"/>
          <a:ext cx="0" cy="0"/>
          <a:chOff x="0" y="0"/>
          <a:chExt cx="0" cy="0"/>
        </a:xfrm>
      </p:grpSpPr>
      <p:sp>
        <p:nvSpPr>
          <p:cNvPr id="6" name="內容版面配置區 5">
            <a:extLst>
              <a:ext uri="{FF2B5EF4-FFF2-40B4-BE49-F238E27FC236}">
                <a16:creationId xmlns:a16="http://schemas.microsoft.com/office/drawing/2014/main" id="{82CBC115-8892-5F68-ED5B-290BEAEE4B6E}"/>
              </a:ext>
            </a:extLst>
          </p:cNvPr>
          <p:cNvSpPr>
            <a:spLocks noGrp="1"/>
          </p:cNvSpPr>
          <p:nvPr>
            <p:ph idx="1"/>
          </p:nvPr>
        </p:nvSpPr>
        <p:spPr>
          <a:xfrm>
            <a:off x="838200" y="1784569"/>
            <a:ext cx="10515600" cy="4572687"/>
          </a:xfrm>
        </p:spPr>
        <p:txBody>
          <a:bodyPr>
            <a:normAutofit/>
          </a:bodyPr>
          <a:lstStyle/>
          <a:p>
            <a:r>
              <a:rPr lang="en-US" altLang="zh-TW" dirty="0"/>
              <a:t>Training environment Implementation and Debugging</a:t>
            </a:r>
          </a:p>
          <a:p>
            <a:pPr lvl="1"/>
            <a:r>
              <a:rPr lang="en-US" altLang="zh-TW" dirty="0"/>
              <a:t>Red Team (8)</a:t>
            </a:r>
          </a:p>
          <a:p>
            <a:pPr lvl="1"/>
            <a:r>
              <a:rPr lang="en-US" altLang="zh-TW" dirty="0"/>
              <a:t>Blue Team (5)</a:t>
            </a:r>
          </a:p>
          <a:p>
            <a:r>
              <a:rPr lang="en-US" altLang="zh-TW" dirty="0"/>
              <a:t>NOW Verified – Allow ATTACKER can do Lateral Movement and continue its attack.</a:t>
            </a:r>
          </a:p>
          <a:p>
            <a:r>
              <a:rPr lang="en-US" altLang="zh-TW" dirty="0"/>
              <a:t>Architecture – One LLM integrate Toolkit Document.</a:t>
            </a:r>
          </a:p>
          <a:p>
            <a:r>
              <a:rPr lang="en-US" altLang="zh-TW" dirty="0"/>
              <a:t>NOW Defender Strategist can know </a:t>
            </a:r>
            <a:r>
              <a:rPr lang="en-US" altLang="zh-TW" b="1" dirty="0"/>
              <a:t>Why to do </a:t>
            </a:r>
            <a:r>
              <a:rPr lang="en-US" altLang="zh-TW" dirty="0"/>
              <a:t>and</a:t>
            </a:r>
            <a:r>
              <a:rPr lang="en-US" altLang="zh-TW" b="1" dirty="0"/>
              <a:t> What to do</a:t>
            </a:r>
            <a:endParaRPr lang="en-US" altLang="zh-TW" dirty="0"/>
          </a:p>
          <a:p>
            <a:r>
              <a:rPr lang="en-US" altLang="zh-TW" dirty="0"/>
              <a:t>Defender still need to guess attacker’s </a:t>
            </a:r>
            <a:r>
              <a:rPr lang="en-US" altLang="zh-TW" b="1" dirty="0"/>
              <a:t>Intent </a:t>
            </a:r>
            <a:r>
              <a:rPr lang="en-US" altLang="zh-TW" dirty="0"/>
              <a:t>and </a:t>
            </a:r>
            <a:r>
              <a:rPr lang="en-US" altLang="zh-TW" b="1" dirty="0"/>
              <a:t>Deploy Best Strategy</a:t>
            </a:r>
            <a:r>
              <a:rPr lang="en-US" altLang="zh-TW" dirty="0"/>
              <a:t>. </a:t>
            </a:r>
          </a:p>
        </p:txBody>
      </p:sp>
      <p:sp>
        <p:nvSpPr>
          <p:cNvPr id="5" name="標題 4">
            <a:extLst>
              <a:ext uri="{FF2B5EF4-FFF2-40B4-BE49-F238E27FC236}">
                <a16:creationId xmlns:a16="http://schemas.microsoft.com/office/drawing/2014/main" id="{AF75B2A8-4326-DC4A-E6CB-134AD203509A}"/>
              </a:ext>
            </a:extLst>
          </p:cNvPr>
          <p:cNvSpPr>
            <a:spLocks noGrp="1"/>
          </p:cNvSpPr>
          <p:nvPr>
            <p:ph type="title"/>
          </p:nvPr>
        </p:nvSpPr>
        <p:spPr/>
        <p:txBody>
          <a:bodyPr/>
          <a:lstStyle/>
          <a:p>
            <a:r>
              <a:rPr lang="en-US" altLang="zh-TW" dirty="0"/>
              <a:t>Progress ~ 1/13</a:t>
            </a:r>
            <a:endParaRPr lang="zh-TW" altLang="en-US" dirty="0"/>
          </a:p>
        </p:txBody>
      </p:sp>
      <p:sp>
        <p:nvSpPr>
          <p:cNvPr id="2" name="投影片編號版面配置區 1">
            <a:extLst>
              <a:ext uri="{FF2B5EF4-FFF2-40B4-BE49-F238E27FC236}">
                <a16:creationId xmlns:a16="http://schemas.microsoft.com/office/drawing/2014/main" id="{185C0D59-DBEF-24D6-9648-AB550358B498}"/>
              </a:ext>
            </a:extLst>
          </p:cNvPr>
          <p:cNvSpPr>
            <a:spLocks noGrp="1"/>
          </p:cNvSpPr>
          <p:nvPr>
            <p:ph type="sldNum" sz="quarter" idx="12"/>
          </p:nvPr>
        </p:nvSpPr>
        <p:spPr/>
        <p:txBody>
          <a:bodyPr/>
          <a:lstStyle/>
          <a:p>
            <a:fld id="{A77C0D7D-0012-4121-A723-8C8932C81B39}" type="slidenum">
              <a:rPr lang="zh-TW" altLang="en-US" smtClean="0"/>
              <a:t>62</a:t>
            </a:fld>
            <a:endParaRPr lang="zh-TW" altLang="en-US"/>
          </a:p>
        </p:txBody>
      </p:sp>
    </p:spTree>
    <p:extLst>
      <p:ext uri="{BB962C8B-B14F-4D97-AF65-F5344CB8AC3E}">
        <p14:creationId xmlns:p14="http://schemas.microsoft.com/office/powerpoint/2010/main" val="6551979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8601493-569E-34C1-6D37-820D8004E93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CDBFF0E-3CB8-F81D-E24E-6C051A740EFC}"/>
              </a:ext>
            </a:extLst>
          </p:cNvPr>
          <p:cNvSpPr>
            <a:spLocks noGrp="1"/>
          </p:cNvSpPr>
          <p:nvPr>
            <p:ph type="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Experiment Result : Training analysis</a:t>
            </a:r>
            <a:endParaRPr lang="zh-TW" altLang="en-US" dirty="0">
              <a:latin typeface="Times New Roman" panose="02020603050405020304" pitchFamily="18" charset="0"/>
              <a:cs typeface="Times New Roman" panose="02020603050405020304" pitchFamily="18" charset="0"/>
            </a:endParaRPr>
          </a:p>
        </p:txBody>
      </p:sp>
      <p:pic>
        <p:nvPicPr>
          <p:cNvPr id="8" name="圖片 7" descr="一張含有 文字, 繪圖, 字型, 行 的圖片&#10;&#10;AI 產生的內容可能不正確。">
            <a:extLst>
              <a:ext uri="{FF2B5EF4-FFF2-40B4-BE49-F238E27FC236}">
                <a16:creationId xmlns:a16="http://schemas.microsoft.com/office/drawing/2014/main" id="{4DE1F666-934D-82C4-9C71-3FECDFAF7E0B}"/>
              </a:ext>
            </a:extLst>
          </p:cNvPr>
          <p:cNvPicPr>
            <a:picLocks noChangeAspect="1"/>
          </p:cNvPicPr>
          <p:nvPr/>
        </p:nvPicPr>
        <p:blipFill>
          <a:blip r:embed="rId3"/>
          <a:stretch>
            <a:fillRect/>
          </a:stretch>
        </p:blipFill>
        <p:spPr>
          <a:xfrm>
            <a:off x="6892075" y="3900209"/>
            <a:ext cx="4285187" cy="2543242"/>
          </a:xfrm>
          <a:prstGeom prst="rect">
            <a:avLst/>
          </a:prstGeom>
        </p:spPr>
      </p:pic>
      <p:pic>
        <p:nvPicPr>
          <p:cNvPr id="12" name="圖片 11" descr="一張含有 文字, 螢幕擷取畫面, 繪圖, 行 的圖片&#10;&#10;AI 產生的內容可能不正確。">
            <a:extLst>
              <a:ext uri="{FF2B5EF4-FFF2-40B4-BE49-F238E27FC236}">
                <a16:creationId xmlns:a16="http://schemas.microsoft.com/office/drawing/2014/main" id="{EB77A8B5-C58B-2EDB-DFDC-C6322E31DB20}"/>
              </a:ext>
            </a:extLst>
          </p:cNvPr>
          <p:cNvPicPr>
            <a:picLocks noChangeAspect="1"/>
          </p:cNvPicPr>
          <p:nvPr/>
        </p:nvPicPr>
        <p:blipFill>
          <a:blip r:embed="rId4"/>
          <a:stretch>
            <a:fillRect/>
          </a:stretch>
        </p:blipFill>
        <p:spPr>
          <a:xfrm>
            <a:off x="6892074" y="1356967"/>
            <a:ext cx="4285188" cy="2543242"/>
          </a:xfrm>
          <a:prstGeom prst="rect">
            <a:avLst/>
          </a:prstGeom>
        </p:spPr>
      </p:pic>
      <p:sp>
        <p:nvSpPr>
          <p:cNvPr id="13" name="文字版面配置區 2">
            <a:extLst>
              <a:ext uri="{FF2B5EF4-FFF2-40B4-BE49-F238E27FC236}">
                <a16:creationId xmlns:a16="http://schemas.microsoft.com/office/drawing/2014/main" id="{F63A36C0-8760-A319-81EA-65FE734204FD}"/>
              </a:ext>
            </a:extLst>
          </p:cNvPr>
          <p:cNvSpPr>
            <a:spLocks noGrp="1"/>
          </p:cNvSpPr>
          <p:nvPr>
            <p:ph type="body" idx="1"/>
          </p:nvPr>
        </p:nvSpPr>
        <p:spPr>
          <a:xfrm>
            <a:off x="554336" y="1622609"/>
            <a:ext cx="6062977" cy="4555200"/>
          </a:xfrm>
        </p:spPr>
        <p:txBody>
          <a:bodyPr/>
          <a:lstStyle/>
          <a:p>
            <a:r>
              <a:rPr lang="en-US" altLang="zh-TW" dirty="0">
                <a:latin typeface="Times New Roman" panose="02020603050405020304" pitchFamily="18" charset="0"/>
                <a:cs typeface="Times New Roman" panose="02020603050405020304" pitchFamily="18" charset="0"/>
              </a:rPr>
              <a:t>Reward :</a:t>
            </a:r>
          </a:p>
          <a:p>
            <a:pPr lvl="1"/>
            <a:r>
              <a:rPr lang="en-US" altLang="zh-TW" dirty="0">
                <a:latin typeface="Times New Roman" panose="02020603050405020304" pitchFamily="18" charset="0"/>
                <a:cs typeface="Times New Roman" panose="02020603050405020304" pitchFamily="18" charset="0"/>
              </a:rPr>
              <a:t>Upward trend with high variance, indicating active exploration of strategies.</a:t>
            </a:r>
          </a:p>
          <a:p>
            <a:pPr lvl="1"/>
            <a:r>
              <a:rPr lang="en-US" altLang="zh-TW" dirty="0">
                <a:latin typeface="Times New Roman" panose="02020603050405020304" pitchFamily="18" charset="0"/>
                <a:cs typeface="Times New Roman" panose="02020603050405020304" pitchFamily="18" charset="0"/>
              </a:rPr>
              <a:t>The model quickly learns to avoid low-reward actions.</a:t>
            </a:r>
          </a:p>
          <a:p>
            <a:pPr lvl="1"/>
            <a:r>
              <a:rPr lang="en-US" altLang="zh-TW" dirty="0">
                <a:latin typeface="Times New Roman" panose="02020603050405020304" pitchFamily="18" charset="0"/>
                <a:cs typeface="Times New Roman" panose="02020603050405020304" pitchFamily="18" charset="0"/>
              </a:rPr>
              <a:t>After steps 100 : Mode Collapse (bad)</a:t>
            </a:r>
          </a:p>
          <a:p>
            <a:pPr marL="152396"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KL Divergence :</a:t>
            </a:r>
          </a:p>
          <a:p>
            <a:pPr lvl="1"/>
            <a:r>
              <a:rPr lang="en-US" altLang="zh-TW" dirty="0">
                <a:latin typeface="Times New Roman" panose="02020603050405020304" pitchFamily="18" charset="0"/>
                <a:cs typeface="Times New Roman" panose="02020603050405020304" pitchFamily="18" charset="0"/>
              </a:rPr>
              <a:t>Model policy shift greatly at step 60 - </a:t>
            </a:r>
            <a:r>
              <a:rPr lang="en-US" altLang="zh-TW" sz="2000" dirty="0">
                <a:latin typeface="Times New Roman" panose="02020603050405020304" pitchFamily="18" charset="0"/>
                <a:cs typeface="Times New Roman" panose="02020603050405020304" pitchFamily="18" charset="0"/>
              </a:rPr>
              <a:t>This represents a significant reorganization of the policy's probability distribution.</a:t>
            </a:r>
            <a:endParaRPr lang="en-US" altLang="zh-TW"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AB86266-121A-4794-F83A-4735AA402F71}"/>
              </a:ext>
            </a:extLst>
          </p:cNvPr>
          <p:cNvSpPr>
            <a:spLocks noGrp="1"/>
          </p:cNvSpPr>
          <p:nvPr>
            <p:ph type="sldNum" idx="12"/>
          </p:nvPr>
        </p:nvSpPr>
        <p:spPr/>
        <p:txBody>
          <a:bodyPr/>
          <a:lstStyle/>
          <a:p>
            <a:fld id="{00000000-1234-1234-1234-123412341234}" type="slidenum">
              <a:rPr lang="en-US" altLang="zh-TW" smtClean="0"/>
              <a:pPr/>
              <a:t>63</a:t>
            </a:fld>
            <a:endParaRPr lang="zh-TW" altLang="en-US" dirty="0"/>
          </a:p>
        </p:txBody>
      </p:sp>
    </p:spTree>
    <p:extLst>
      <p:ext uri="{BB962C8B-B14F-4D97-AF65-F5344CB8AC3E}">
        <p14:creationId xmlns:p14="http://schemas.microsoft.com/office/powerpoint/2010/main" val="34365663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935986-5387-D3E8-17A5-7E70EEBF38B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52FA620-9DBD-7C16-2C66-48A4396974DF}"/>
              </a:ext>
            </a:extLst>
          </p:cNvPr>
          <p:cNvSpPr>
            <a:spLocks noGrp="1"/>
          </p:cNvSpPr>
          <p:nvPr>
            <p:ph type="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Experiment Result – Attack Diversity</a:t>
            </a:r>
            <a:endParaRPr lang="zh-TW" altLang="en-US" dirty="0"/>
          </a:p>
        </p:txBody>
      </p:sp>
      <mc:AlternateContent xmlns:mc="http://schemas.openxmlformats.org/markup-compatibility/2006" xmlns:a14="http://schemas.microsoft.com/office/drawing/2010/main">
        <mc:Choice Requires="a14">
          <p:sp>
            <p:nvSpPr>
              <p:cNvPr id="3" name="文字版面配置區 2">
                <a:extLst>
                  <a:ext uri="{FF2B5EF4-FFF2-40B4-BE49-F238E27FC236}">
                    <a16:creationId xmlns:a16="http://schemas.microsoft.com/office/drawing/2014/main" id="{75EC675F-F1FF-2FE4-C72E-89A6D6EDEE66}"/>
                  </a:ext>
                </a:extLst>
              </p:cNvPr>
              <p:cNvSpPr>
                <a:spLocks noGrp="1"/>
              </p:cNvSpPr>
              <p:nvPr>
                <p:ph type="body" idx="1"/>
              </p:nvPr>
            </p:nvSpPr>
            <p:spPr>
              <a:xfrm>
                <a:off x="7282777" y="1536633"/>
                <a:ext cx="4556994" cy="4555200"/>
              </a:xfrm>
            </p:spPr>
            <p:txBody>
              <a:bodyPr>
                <a:normAutofit/>
              </a:bodyPr>
              <a:lstStyle/>
              <a:p>
                <a:pPr marL="152396" indent="0">
                  <a:buNone/>
                </a:pPr>
                <a:r>
                  <a:rPr lang="en-US" altLang="zh-TW" sz="2200" dirty="0">
                    <a:latin typeface="Times New Roman" panose="02020603050405020304" pitchFamily="18" charset="0"/>
                    <a:cs typeface="Times New Roman" panose="02020603050405020304" pitchFamily="18" charset="0"/>
                  </a:rPr>
                  <a:t>Engage Diversity</a:t>
                </a:r>
              </a:p>
              <a:p>
                <a:endParaRPr lang="en-US" altLang="zh-TW" sz="2200" dirty="0">
                  <a:latin typeface="Times New Roman" panose="02020603050405020304" pitchFamily="18" charset="0"/>
                  <a:cs typeface="Times New Roman" panose="02020603050405020304" pitchFamily="18" charset="0"/>
                </a:endParaRPr>
              </a:p>
              <a:p>
                <a:r>
                  <a:rPr lang="en-US" altLang="zh-TW" sz="2200" dirty="0">
                    <a:latin typeface="Times New Roman" panose="02020603050405020304" pitchFamily="18" charset="0"/>
                    <a:cs typeface="Times New Roman" panose="02020603050405020304" pitchFamily="18" charset="0"/>
                  </a:rPr>
                  <a:t>Base Model and Tuned model  difference is </a:t>
                </a:r>
                <a14:m>
                  <m:oMath xmlns:m="http://schemas.openxmlformats.org/officeDocument/2006/math">
                    <m:r>
                      <a:rPr lang="en-US" altLang="zh-TW" sz="2200" b="0" i="1" smtClean="0">
                        <a:latin typeface="Cambria Math" panose="02040503050406030204" pitchFamily="18" charset="0"/>
                        <a:cs typeface="Times New Roman" panose="02020603050405020304" pitchFamily="18" charset="0"/>
                      </a:rPr>
                      <m:t>±</m:t>
                    </m:r>
                    <m:r>
                      <a:rPr lang="en-US" altLang="zh-TW" sz="2200" b="0" i="1" smtClean="0">
                        <a:latin typeface="Cambria Math" panose="02040503050406030204" pitchFamily="18" charset="0"/>
                        <a:cs typeface="Times New Roman" panose="02020603050405020304" pitchFamily="18" charset="0"/>
                      </a:rPr>
                      <m:t>8</m:t>
                    </m:r>
                    <m:r>
                      <a:rPr lang="en-US" altLang="zh-TW" sz="2200" b="0" i="1" smtClean="0">
                        <a:latin typeface="Cambria Math" panose="02040503050406030204" pitchFamily="18" charset="0"/>
                        <a:cs typeface="Times New Roman" panose="02020603050405020304" pitchFamily="18" charset="0"/>
                      </a:rPr>
                      <m:t>%</m:t>
                    </m:r>
                  </m:oMath>
                </a14:m>
                <a:endParaRPr lang="en-US" altLang="zh-TW" sz="2200" b="0" dirty="0">
                  <a:latin typeface="Times New Roman" panose="02020603050405020304" pitchFamily="18" charset="0"/>
                  <a:cs typeface="Times New Roman" panose="02020603050405020304" pitchFamily="18" charset="0"/>
                </a:endParaRPr>
              </a:p>
              <a:p>
                <a:endParaRPr lang="en-US" altLang="zh-TW" sz="2200" dirty="0">
                  <a:latin typeface="Times New Roman" panose="02020603050405020304" pitchFamily="18" charset="0"/>
                  <a:cs typeface="Times New Roman" panose="02020603050405020304" pitchFamily="18" charset="0"/>
                </a:endParaRPr>
              </a:p>
              <a:p>
                <a:pPr marL="152396" indent="0">
                  <a:buNone/>
                </a:pPr>
                <a:endParaRPr lang="en-US" altLang="zh-TW" sz="2200" dirty="0">
                  <a:latin typeface="Times New Roman" panose="02020603050405020304" pitchFamily="18" charset="0"/>
                  <a:cs typeface="Times New Roman" panose="02020603050405020304" pitchFamily="18" charset="0"/>
                </a:endParaRPr>
              </a:p>
              <a:p>
                <a:endParaRPr lang="en-US" altLang="zh-TW" sz="2200" dirty="0">
                  <a:latin typeface="Times New Roman" panose="02020603050405020304" pitchFamily="18" charset="0"/>
                  <a:cs typeface="Times New Roman" panose="02020603050405020304" pitchFamily="18" charset="0"/>
                </a:endParaRPr>
              </a:p>
              <a:p>
                <a:pPr marL="152396" indent="0">
                  <a:buNone/>
                </a:pPr>
                <a:endParaRPr lang="en-US" altLang="zh-TW" sz="2200" dirty="0">
                  <a:latin typeface="Times New Roman" panose="02020603050405020304" pitchFamily="18" charset="0"/>
                  <a:cs typeface="Times New Roman" panose="02020603050405020304" pitchFamily="18" charset="0"/>
                </a:endParaRPr>
              </a:p>
            </p:txBody>
          </p:sp>
        </mc:Choice>
        <mc:Fallback xmlns="">
          <p:sp>
            <p:nvSpPr>
              <p:cNvPr id="3" name="文字版面配置區 2">
                <a:extLst>
                  <a:ext uri="{FF2B5EF4-FFF2-40B4-BE49-F238E27FC236}">
                    <a16:creationId xmlns:a16="http://schemas.microsoft.com/office/drawing/2014/main" id="{75EC675F-F1FF-2FE4-C72E-89A6D6EDEE66}"/>
                  </a:ext>
                </a:extLst>
              </p:cNvPr>
              <p:cNvSpPr>
                <a:spLocks noGrp="1" noRot="1" noChangeAspect="1" noMove="1" noResize="1" noEditPoints="1" noAdjustHandles="1" noChangeArrowheads="1" noChangeShapeType="1" noTextEdit="1"/>
              </p:cNvSpPr>
              <p:nvPr>
                <p:ph type="body" idx="1"/>
              </p:nvPr>
            </p:nvSpPr>
            <p:spPr>
              <a:xfrm>
                <a:off x="7282777" y="1536633"/>
                <a:ext cx="4556994" cy="4555200"/>
              </a:xfrm>
              <a:blipFill>
                <a:blip r:embed="rId2"/>
                <a:stretch>
                  <a:fillRect t="-535"/>
                </a:stretch>
              </a:blipFill>
            </p:spPr>
            <p:txBody>
              <a:bodyPr/>
              <a:lstStyle/>
              <a:p>
                <a:r>
                  <a:rPr lang="zh-TW" altLang="en-US">
                    <a:noFill/>
                  </a:rPr>
                  <a:t> </a:t>
                </a:r>
              </a:p>
            </p:txBody>
          </p:sp>
        </mc:Fallback>
      </mc:AlternateContent>
      <p:pic>
        <p:nvPicPr>
          <p:cNvPr id="6" name="圖片 5" descr="一張含有 文字, 行, 圖表, 繪圖 的圖片&#10;&#10;AI 產生的內容可能不正確。">
            <a:extLst>
              <a:ext uri="{FF2B5EF4-FFF2-40B4-BE49-F238E27FC236}">
                <a16:creationId xmlns:a16="http://schemas.microsoft.com/office/drawing/2014/main" id="{C1003359-BB26-B75E-6682-36466F294E4F}"/>
              </a:ext>
            </a:extLst>
          </p:cNvPr>
          <p:cNvPicPr>
            <a:picLocks noChangeAspect="1"/>
          </p:cNvPicPr>
          <p:nvPr/>
        </p:nvPicPr>
        <p:blipFill>
          <a:blip r:embed="rId3"/>
          <a:stretch>
            <a:fillRect/>
          </a:stretch>
        </p:blipFill>
        <p:spPr>
          <a:xfrm>
            <a:off x="234277" y="2052108"/>
            <a:ext cx="7048500" cy="3524250"/>
          </a:xfrm>
          <a:prstGeom prst="rect">
            <a:avLst/>
          </a:prstGeom>
        </p:spPr>
      </p:pic>
      <p:sp>
        <p:nvSpPr>
          <p:cNvPr id="4" name="投影片編號版面配置區 3">
            <a:extLst>
              <a:ext uri="{FF2B5EF4-FFF2-40B4-BE49-F238E27FC236}">
                <a16:creationId xmlns:a16="http://schemas.microsoft.com/office/drawing/2014/main" id="{3AA4B601-18CD-4FC9-9023-6D0D5D5AE3ED}"/>
              </a:ext>
            </a:extLst>
          </p:cNvPr>
          <p:cNvSpPr>
            <a:spLocks noGrp="1"/>
          </p:cNvSpPr>
          <p:nvPr>
            <p:ph type="sldNum" idx="12"/>
          </p:nvPr>
        </p:nvSpPr>
        <p:spPr/>
        <p:txBody>
          <a:bodyPr/>
          <a:lstStyle/>
          <a:p>
            <a:fld id="{00000000-1234-1234-1234-123412341234}" type="slidenum">
              <a:rPr lang="en-US" altLang="zh-TW" smtClean="0"/>
              <a:pPr/>
              <a:t>64</a:t>
            </a:fld>
            <a:endParaRPr lang="zh-TW" altLang="en-US" dirty="0"/>
          </a:p>
        </p:txBody>
      </p:sp>
    </p:spTree>
    <p:extLst>
      <p:ext uri="{BB962C8B-B14F-4D97-AF65-F5344CB8AC3E}">
        <p14:creationId xmlns:p14="http://schemas.microsoft.com/office/powerpoint/2010/main" val="2411595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4EE9AAD-F83E-FBB8-5FE3-CCAFD632922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5A39C6C-9C99-8D17-C42F-A6966E0C53D1}"/>
              </a:ext>
            </a:extLst>
          </p:cNvPr>
          <p:cNvSpPr>
            <a:spLocks noGrp="1"/>
          </p:cNvSpPr>
          <p:nvPr>
            <p:ph type="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Experiment Result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Intent coverage rate</a:t>
            </a:r>
            <a:endParaRPr lang="zh-TW" altLang="en-US" dirty="0"/>
          </a:p>
        </p:txBody>
      </p:sp>
      <p:sp>
        <p:nvSpPr>
          <p:cNvPr id="3" name="文字版面配置區 2">
            <a:extLst>
              <a:ext uri="{FF2B5EF4-FFF2-40B4-BE49-F238E27FC236}">
                <a16:creationId xmlns:a16="http://schemas.microsoft.com/office/drawing/2014/main" id="{9E4CBEB1-4C20-FE57-3324-A229AA1327AB}"/>
              </a:ext>
            </a:extLst>
          </p:cNvPr>
          <p:cNvSpPr>
            <a:spLocks noGrp="1"/>
          </p:cNvSpPr>
          <p:nvPr>
            <p:ph type="body" idx="1"/>
          </p:nvPr>
        </p:nvSpPr>
        <p:spPr>
          <a:xfrm>
            <a:off x="7080068" y="1536633"/>
            <a:ext cx="4696331" cy="4555200"/>
          </a:xfrm>
        </p:spPr>
        <p:txBody>
          <a:bodyPr>
            <a:normAutofit/>
          </a:bodyPr>
          <a:lstStyle/>
          <a:p>
            <a:pPr marL="666746" indent="-514350">
              <a:buAutoNum type="arabicPeriod"/>
            </a:pPr>
            <a:r>
              <a:rPr lang="en-US" altLang="zh-TW" sz="2200" dirty="0">
                <a:latin typeface="Times New Roman" panose="02020603050405020304" pitchFamily="18" charset="0"/>
                <a:cs typeface="Times New Roman" panose="02020603050405020304" pitchFamily="18" charset="0"/>
              </a:rPr>
              <a:t>Defender detect Attack Intent</a:t>
            </a:r>
          </a:p>
          <a:p>
            <a:pPr marL="666746" indent="-514350">
              <a:buAutoNum type="arabicPeriod"/>
            </a:pPr>
            <a:endParaRPr lang="en-US" altLang="zh-TW" sz="2200" dirty="0">
              <a:latin typeface="Times New Roman" panose="02020603050405020304" pitchFamily="18" charset="0"/>
              <a:cs typeface="Times New Roman" panose="02020603050405020304" pitchFamily="18" charset="0"/>
            </a:endParaRPr>
          </a:p>
          <a:p>
            <a:pPr marL="666746" indent="-514350">
              <a:buAutoNum type="arabicPeriod"/>
            </a:pPr>
            <a:r>
              <a:rPr lang="en-US" altLang="zh-TW" sz="2200" dirty="0">
                <a:latin typeface="Times New Roman" panose="02020603050405020304" pitchFamily="18" charset="0"/>
                <a:cs typeface="Times New Roman" panose="02020603050405020304" pitchFamily="18" charset="0"/>
              </a:rPr>
              <a:t>GPT Convert Predict </a:t>
            </a:r>
            <a:br>
              <a:rPr lang="en-US" altLang="zh-TW" sz="22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Intent to Tactics</a:t>
            </a:r>
          </a:p>
          <a:p>
            <a:pPr marL="666746" indent="-514350">
              <a:buAutoNum type="arabicPeriod"/>
            </a:pPr>
            <a:endParaRPr lang="en-US" altLang="zh-TW" sz="2200" dirty="0">
              <a:latin typeface="Times New Roman" panose="02020603050405020304" pitchFamily="18" charset="0"/>
              <a:cs typeface="Times New Roman" panose="02020603050405020304" pitchFamily="18" charset="0"/>
            </a:endParaRPr>
          </a:p>
          <a:p>
            <a:pPr marL="666746" indent="-514350">
              <a:buAutoNum type="arabicPeriod"/>
            </a:pPr>
            <a:r>
              <a:rPr lang="en-US" altLang="zh-TW" sz="2200" dirty="0">
                <a:latin typeface="Times New Roman" panose="02020603050405020304" pitchFamily="18" charset="0"/>
                <a:cs typeface="Times New Roman" panose="02020603050405020304" pitchFamily="18" charset="0"/>
              </a:rPr>
              <a:t>Compare </a:t>
            </a:r>
            <a:r>
              <a:rPr lang="en-US" altLang="zh-TW" sz="2200" dirty="0">
                <a:solidFill>
                  <a:srgbClr val="FF0000"/>
                </a:solidFill>
                <a:latin typeface="Times New Roman" panose="02020603050405020304" pitchFamily="18" charset="0"/>
                <a:cs typeface="Times New Roman" panose="02020603050405020304" pitchFamily="18" charset="0"/>
              </a:rPr>
              <a:t>Attack tactics </a:t>
            </a:r>
            <a:br>
              <a:rPr lang="en-US" altLang="zh-TW" sz="22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and </a:t>
            </a:r>
            <a:r>
              <a:rPr lang="en-US" altLang="zh-TW" sz="2200" dirty="0">
                <a:solidFill>
                  <a:srgbClr val="0070C0"/>
                </a:solidFill>
                <a:latin typeface="Times New Roman" panose="02020603050405020304" pitchFamily="18" charset="0"/>
                <a:cs typeface="Times New Roman" panose="02020603050405020304" pitchFamily="18" charset="0"/>
              </a:rPr>
              <a:t>Detect Tactics</a:t>
            </a:r>
          </a:p>
          <a:p>
            <a:pPr marL="666746" indent="-514350">
              <a:buAutoNum type="arabicPeriod"/>
            </a:pPr>
            <a:endParaRPr lang="en-US" altLang="zh-TW" sz="2200" dirty="0">
              <a:latin typeface="Times New Roman" panose="02020603050405020304" pitchFamily="18" charset="0"/>
              <a:cs typeface="Times New Roman" panose="02020603050405020304" pitchFamily="18" charset="0"/>
            </a:endParaRPr>
          </a:p>
          <a:p>
            <a:pPr marL="666746" indent="-514350">
              <a:buAutoNum type="arabicPeriod"/>
            </a:pPr>
            <a:r>
              <a:rPr lang="en-US" altLang="zh-TW" sz="2200" dirty="0">
                <a:latin typeface="Times New Roman" panose="02020603050405020304" pitchFamily="18" charset="0"/>
                <a:cs typeface="Times New Roman" panose="02020603050405020304" pitchFamily="18" charset="0"/>
              </a:rPr>
              <a:t>Higher Coverage rate means</a:t>
            </a:r>
            <a:br>
              <a:rPr lang="en-US" altLang="zh-TW" sz="22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Defender has more confidence</a:t>
            </a:r>
            <a:br>
              <a:rPr lang="en-US" altLang="zh-TW" sz="22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to choose Strategy.</a:t>
            </a:r>
          </a:p>
          <a:p>
            <a:pPr marL="666746" indent="-514350">
              <a:buAutoNum type="arabicPeriod"/>
            </a:pPr>
            <a:endParaRPr lang="en-US" altLang="zh-TW" sz="2200" dirty="0">
              <a:latin typeface="Times New Roman" panose="02020603050405020304" pitchFamily="18" charset="0"/>
              <a:cs typeface="Times New Roman" panose="02020603050405020304" pitchFamily="18" charset="0"/>
            </a:endParaRPr>
          </a:p>
          <a:p>
            <a:pPr marL="666746" indent="-514350">
              <a:buAutoNum type="arabicPeriod"/>
            </a:pPr>
            <a:r>
              <a:rPr lang="en-US" altLang="zh-TW" sz="2200" dirty="0">
                <a:latin typeface="Times New Roman" panose="02020603050405020304" pitchFamily="18" charset="0"/>
                <a:cs typeface="Times New Roman" panose="02020603050405020304" pitchFamily="18" charset="0"/>
              </a:rPr>
              <a:t>Cover 5.58 commands</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in Avg.</a:t>
            </a:r>
          </a:p>
        </p:txBody>
      </p:sp>
      <p:pic>
        <p:nvPicPr>
          <p:cNvPr id="7" name="圖片 6" descr="一張含有 文字, 行, 繪圖, 圖表 的圖片&#10;&#10;AI 產生的內容可能不正確。">
            <a:extLst>
              <a:ext uri="{FF2B5EF4-FFF2-40B4-BE49-F238E27FC236}">
                <a16:creationId xmlns:a16="http://schemas.microsoft.com/office/drawing/2014/main" id="{1FDBA6A3-59B4-4946-165C-7FE4A8718711}"/>
              </a:ext>
            </a:extLst>
          </p:cNvPr>
          <p:cNvPicPr>
            <a:picLocks noChangeAspect="1"/>
          </p:cNvPicPr>
          <p:nvPr/>
        </p:nvPicPr>
        <p:blipFill>
          <a:blip r:embed="rId3"/>
          <a:stretch>
            <a:fillRect/>
          </a:stretch>
        </p:blipFill>
        <p:spPr>
          <a:xfrm>
            <a:off x="181351" y="1747820"/>
            <a:ext cx="6968385" cy="4132826"/>
          </a:xfrm>
          <a:prstGeom prst="rect">
            <a:avLst/>
          </a:prstGeom>
        </p:spPr>
      </p:pic>
      <p:sp>
        <p:nvSpPr>
          <p:cNvPr id="4" name="投影片編號版面配置區 3">
            <a:extLst>
              <a:ext uri="{FF2B5EF4-FFF2-40B4-BE49-F238E27FC236}">
                <a16:creationId xmlns:a16="http://schemas.microsoft.com/office/drawing/2014/main" id="{C38FB120-465A-AFED-E225-0DBE328F90F8}"/>
              </a:ext>
            </a:extLst>
          </p:cNvPr>
          <p:cNvSpPr>
            <a:spLocks noGrp="1"/>
          </p:cNvSpPr>
          <p:nvPr>
            <p:ph type="sldNum" idx="12"/>
          </p:nvPr>
        </p:nvSpPr>
        <p:spPr/>
        <p:txBody>
          <a:bodyPr/>
          <a:lstStyle/>
          <a:p>
            <a:fld id="{00000000-1234-1234-1234-123412341234}" type="slidenum">
              <a:rPr lang="en-US" altLang="zh-TW" smtClean="0"/>
              <a:pPr/>
              <a:t>65</a:t>
            </a:fld>
            <a:endParaRPr lang="zh-TW" altLang="en-US" dirty="0"/>
          </a:p>
        </p:txBody>
      </p:sp>
    </p:spTree>
    <p:extLst>
      <p:ext uri="{BB962C8B-B14F-4D97-AF65-F5344CB8AC3E}">
        <p14:creationId xmlns:p14="http://schemas.microsoft.com/office/powerpoint/2010/main" val="2393656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D4EAA57-A9F8-0137-E444-1C0F3E385C5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6649302-B87E-19E1-07BB-9D1A48DEB177}"/>
              </a:ext>
            </a:extLst>
          </p:cNvPr>
          <p:cNvSpPr>
            <a:spLocks noGrp="1"/>
          </p:cNvSpPr>
          <p:nvPr>
            <p:ph type="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Experiment Result : Training analysis (Heuristic)</a:t>
            </a:r>
            <a:endParaRPr lang="zh-TW" altLang="en-US" dirty="0">
              <a:latin typeface="Times New Roman" panose="02020603050405020304" pitchFamily="18" charset="0"/>
              <a:cs typeface="Times New Roman" panose="02020603050405020304" pitchFamily="18" charset="0"/>
            </a:endParaRPr>
          </a:p>
        </p:txBody>
      </p:sp>
      <p:sp>
        <p:nvSpPr>
          <p:cNvPr id="13" name="文字版面配置區 2">
            <a:extLst>
              <a:ext uri="{FF2B5EF4-FFF2-40B4-BE49-F238E27FC236}">
                <a16:creationId xmlns:a16="http://schemas.microsoft.com/office/drawing/2014/main" id="{DC676BCE-A819-71C7-EC8E-7340A92ED7CD}"/>
              </a:ext>
            </a:extLst>
          </p:cNvPr>
          <p:cNvSpPr>
            <a:spLocks noGrp="1"/>
          </p:cNvSpPr>
          <p:nvPr>
            <p:ph type="body" idx="1"/>
          </p:nvPr>
        </p:nvSpPr>
        <p:spPr>
          <a:xfrm>
            <a:off x="5713423" y="1657820"/>
            <a:ext cx="6062977" cy="4555200"/>
          </a:xfrm>
        </p:spPr>
        <p:txBody>
          <a:bodyPr>
            <a:normAutofit/>
          </a:bodyPr>
          <a:lstStyle/>
          <a:p>
            <a:pPr marL="152396" indent="0">
              <a:buNone/>
            </a:pPr>
            <a:r>
              <a:rPr lang="en-US" altLang="zh-TW" dirty="0">
                <a:latin typeface="Times New Roman" panose="02020603050405020304" pitchFamily="18" charset="0"/>
                <a:cs typeface="Times New Roman" panose="02020603050405020304" pitchFamily="18" charset="0"/>
              </a:rPr>
              <a:t>Reward :</a:t>
            </a:r>
          </a:p>
          <a:p>
            <a:pPr marL="643462" indent="-457200"/>
            <a:r>
              <a:rPr lang="en-US" altLang="zh-TW" sz="2200" dirty="0">
                <a:latin typeface="Times New Roman" panose="02020603050405020304" pitchFamily="18" charset="0"/>
                <a:cs typeface="Times New Roman" panose="02020603050405020304" pitchFamily="18" charset="0"/>
              </a:rPr>
              <a:t>Our Training Method can lead the LLM Model to get the higher reward.</a:t>
            </a:r>
          </a:p>
          <a:p>
            <a:pPr marL="643462" indent="-457200"/>
            <a:endParaRPr lang="en-US" altLang="zh-TW" sz="2200" dirty="0">
              <a:latin typeface="Times New Roman" panose="02020603050405020304" pitchFamily="18" charset="0"/>
              <a:cs typeface="Times New Roman" panose="02020603050405020304" pitchFamily="18" charset="0"/>
            </a:endParaRPr>
          </a:p>
          <a:p>
            <a:pPr marL="643462" indent="-457200"/>
            <a:r>
              <a:rPr lang="en-US" altLang="zh-TW" sz="2200" dirty="0">
                <a:latin typeface="Times New Roman" panose="02020603050405020304" pitchFamily="18" charset="0"/>
                <a:cs typeface="Times New Roman" panose="02020603050405020304" pitchFamily="18" charset="0"/>
              </a:rPr>
              <a:t>The higher Reward Means We can collect deeper / more diversity Red Team Behaviors.</a:t>
            </a:r>
          </a:p>
          <a:p>
            <a:pPr marL="795847" lvl="1" indent="0">
              <a:buNone/>
            </a:pPr>
            <a:endParaRPr lang="en-US" altLang="zh-TW" dirty="0">
              <a:latin typeface="Times New Roman" panose="02020603050405020304" pitchFamily="18" charset="0"/>
              <a:cs typeface="Times New Roman" panose="02020603050405020304" pitchFamily="18" charset="0"/>
            </a:endParaRPr>
          </a:p>
          <a:p>
            <a:pPr marL="152396" indent="0">
              <a:buNone/>
            </a:pPr>
            <a:r>
              <a:rPr lang="en-US" altLang="zh-TW" sz="2400" dirty="0">
                <a:latin typeface="Times New Roman" panose="02020603050405020304" pitchFamily="18" charset="0"/>
                <a:cs typeface="Times New Roman" panose="02020603050405020304" pitchFamily="18" charset="0"/>
              </a:rPr>
              <a:t>KL</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Divergence:</a:t>
            </a:r>
          </a:p>
          <a:p>
            <a:r>
              <a:rPr lang="en-US" altLang="zh-TW" sz="2200" dirty="0">
                <a:latin typeface="Times New Roman" panose="02020603050405020304" pitchFamily="18" charset="0"/>
                <a:cs typeface="Times New Roman" panose="02020603050405020304" pitchFamily="18" charset="0"/>
              </a:rPr>
              <a:t>Here the divergence is compared to Base Model. </a:t>
            </a:r>
          </a:p>
          <a:p>
            <a:r>
              <a:rPr lang="en-US" altLang="zh-TW" sz="2200" dirty="0">
                <a:latin typeface="Times New Roman" panose="02020603050405020304" pitchFamily="18" charset="0"/>
                <a:cs typeface="Times New Roman" panose="02020603050405020304" pitchFamily="18" charset="0"/>
              </a:rPr>
              <a:t>We can see Trained model behavior is different from Base Model</a:t>
            </a:r>
          </a:p>
        </p:txBody>
      </p:sp>
      <p:pic>
        <p:nvPicPr>
          <p:cNvPr id="6" name="圖片 5" descr="一張含有 文字, 行, 繪圖, 圖表 的圖片&#10;&#10;AI 產生的內容可能不正確。">
            <a:extLst>
              <a:ext uri="{FF2B5EF4-FFF2-40B4-BE49-F238E27FC236}">
                <a16:creationId xmlns:a16="http://schemas.microsoft.com/office/drawing/2014/main" id="{16D1A296-4819-30C1-D705-7E336A64827B}"/>
              </a:ext>
            </a:extLst>
          </p:cNvPr>
          <p:cNvPicPr>
            <a:picLocks noChangeAspect="1"/>
          </p:cNvPicPr>
          <p:nvPr/>
        </p:nvPicPr>
        <p:blipFill>
          <a:blip r:embed="rId3"/>
          <a:stretch>
            <a:fillRect/>
          </a:stretch>
        </p:blipFill>
        <p:spPr>
          <a:xfrm>
            <a:off x="696283" y="1184693"/>
            <a:ext cx="4634787" cy="2750727"/>
          </a:xfrm>
          <a:prstGeom prst="rect">
            <a:avLst/>
          </a:prstGeom>
        </p:spPr>
      </p:pic>
      <p:pic>
        <p:nvPicPr>
          <p:cNvPr id="9" name="圖片 8" descr="一張含有 文字, 繪圖, 圖表, 行 的圖片&#10;&#10;AI 產生的內容可能不正確。">
            <a:extLst>
              <a:ext uri="{FF2B5EF4-FFF2-40B4-BE49-F238E27FC236}">
                <a16:creationId xmlns:a16="http://schemas.microsoft.com/office/drawing/2014/main" id="{CEAC823F-A558-FF50-28B2-B561A074FBFC}"/>
              </a:ext>
            </a:extLst>
          </p:cNvPr>
          <p:cNvPicPr>
            <a:picLocks noChangeAspect="1"/>
          </p:cNvPicPr>
          <p:nvPr/>
        </p:nvPicPr>
        <p:blipFill>
          <a:blip r:embed="rId4"/>
          <a:stretch>
            <a:fillRect/>
          </a:stretch>
        </p:blipFill>
        <p:spPr>
          <a:xfrm>
            <a:off x="696283" y="3935420"/>
            <a:ext cx="4684190" cy="2780048"/>
          </a:xfrm>
          <a:prstGeom prst="rect">
            <a:avLst/>
          </a:prstGeom>
        </p:spPr>
      </p:pic>
      <p:cxnSp>
        <p:nvCxnSpPr>
          <p:cNvPr id="11" name="直線接點 10">
            <a:extLst>
              <a:ext uri="{FF2B5EF4-FFF2-40B4-BE49-F238E27FC236}">
                <a16:creationId xmlns:a16="http://schemas.microsoft.com/office/drawing/2014/main" id="{22B5540E-FCEF-7F9C-85AE-ED5D388479FF}"/>
              </a:ext>
            </a:extLst>
          </p:cNvPr>
          <p:cNvCxnSpPr/>
          <p:nvPr/>
        </p:nvCxnSpPr>
        <p:spPr>
          <a:xfrm>
            <a:off x="3648891" y="4153988"/>
            <a:ext cx="0" cy="2177143"/>
          </a:xfrm>
          <a:prstGeom prst="line">
            <a:avLst/>
          </a:prstGeom>
          <a:ln w="28575">
            <a:solidFill>
              <a:srgbClr val="0070C0"/>
            </a:solidFill>
            <a:prstDash val="dash"/>
          </a:ln>
        </p:spPr>
        <p:style>
          <a:lnRef idx="2">
            <a:schemeClr val="accent1"/>
          </a:lnRef>
          <a:fillRef idx="0">
            <a:schemeClr val="accent1"/>
          </a:fillRef>
          <a:effectRef idx="1">
            <a:schemeClr val="accent1"/>
          </a:effectRef>
          <a:fontRef idx="minor">
            <a:schemeClr val="tx1"/>
          </a:fontRef>
        </p:style>
      </p:cxnSp>
      <p:cxnSp>
        <p:nvCxnSpPr>
          <p:cNvPr id="14" name="直線接點 13">
            <a:extLst>
              <a:ext uri="{FF2B5EF4-FFF2-40B4-BE49-F238E27FC236}">
                <a16:creationId xmlns:a16="http://schemas.microsoft.com/office/drawing/2014/main" id="{09584C0E-E050-69C1-D8FA-997351771AA5}"/>
              </a:ext>
            </a:extLst>
          </p:cNvPr>
          <p:cNvCxnSpPr/>
          <p:nvPr/>
        </p:nvCxnSpPr>
        <p:spPr>
          <a:xfrm>
            <a:off x="3666309" y="1476102"/>
            <a:ext cx="0" cy="2177143"/>
          </a:xfrm>
          <a:prstGeom prst="line">
            <a:avLst/>
          </a:prstGeom>
          <a:ln w="28575">
            <a:solidFill>
              <a:srgbClr val="0070C0"/>
            </a:solidFill>
            <a:prstDash val="dash"/>
          </a:ln>
        </p:spPr>
        <p:style>
          <a:lnRef idx="2">
            <a:schemeClr val="accent1"/>
          </a:lnRef>
          <a:fillRef idx="0">
            <a:schemeClr val="accent1"/>
          </a:fillRef>
          <a:effectRef idx="1">
            <a:schemeClr val="accent1"/>
          </a:effectRef>
          <a:fontRef idx="minor">
            <a:schemeClr val="tx1"/>
          </a:fontRef>
        </p:style>
      </p:cxnSp>
      <p:sp>
        <p:nvSpPr>
          <p:cNvPr id="3" name="投影片編號版面配置區 2">
            <a:extLst>
              <a:ext uri="{FF2B5EF4-FFF2-40B4-BE49-F238E27FC236}">
                <a16:creationId xmlns:a16="http://schemas.microsoft.com/office/drawing/2014/main" id="{67E3A018-5273-A63B-F8E4-AFB5BC19E25E}"/>
              </a:ext>
            </a:extLst>
          </p:cNvPr>
          <p:cNvSpPr>
            <a:spLocks noGrp="1"/>
          </p:cNvSpPr>
          <p:nvPr>
            <p:ph type="sldNum" idx="12"/>
          </p:nvPr>
        </p:nvSpPr>
        <p:spPr/>
        <p:txBody>
          <a:bodyPr/>
          <a:lstStyle/>
          <a:p>
            <a:fld id="{00000000-1234-1234-1234-123412341234}" type="slidenum">
              <a:rPr lang="en-US" altLang="zh-TW" smtClean="0"/>
              <a:pPr/>
              <a:t>66</a:t>
            </a:fld>
            <a:endParaRPr lang="zh-TW" altLang="en-US" dirty="0"/>
          </a:p>
        </p:txBody>
      </p:sp>
    </p:spTree>
    <p:extLst>
      <p:ext uri="{BB962C8B-B14F-4D97-AF65-F5344CB8AC3E}">
        <p14:creationId xmlns:p14="http://schemas.microsoft.com/office/powerpoint/2010/main" val="17262665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5BCD33-1DBC-A63F-6FB4-A93A609EA98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C4BCC93-6488-2731-9510-7EF502D42DF6}"/>
              </a:ext>
            </a:extLst>
          </p:cNvPr>
          <p:cNvSpPr>
            <a:spLocks noGrp="1"/>
          </p:cNvSpPr>
          <p:nvPr>
            <p:ph type="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Experiment Result: Behavior Drift (Heuristic)</a:t>
            </a:r>
            <a:endParaRPr lang="zh-TW" altLang="en-US" dirty="0"/>
          </a:p>
        </p:txBody>
      </p:sp>
      <p:sp>
        <p:nvSpPr>
          <p:cNvPr id="4" name="投影片編號版面配置區 3">
            <a:extLst>
              <a:ext uri="{FF2B5EF4-FFF2-40B4-BE49-F238E27FC236}">
                <a16:creationId xmlns:a16="http://schemas.microsoft.com/office/drawing/2014/main" id="{833FF06F-F9E1-537C-FE97-AA00B3A8B029}"/>
              </a:ext>
            </a:extLst>
          </p:cNvPr>
          <p:cNvSpPr>
            <a:spLocks noGrp="1"/>
          </p:cNvSpPr>
          <p:nvPr>
            <p:ph type="sldNum" idx="12"/>
          </p:nvPr>
        </p:nvSpPr>
        <p:spPr/>
        <p:txBody>
          <a:bodyPr/>
          <a:lstStyle/>
          <a:p>
            <a:fld id="{00000000-1234-1234-1234-123412341234}" type="slidenum">
              <a:rPr lang="en-US" altLang="zh-TW" smtClean="0"/>
              <a:pPr/>
              <a:t>67</a:t>
            </a:fld>
            <a:endParaRPr lang="zh-TW" altLang="en-US" dirty="0"/>
          </a:p>
        </p:txBody>
      </p:sp>
      <p:pic>
        <p:nvPicPr>
          <p:cNvPr id="7" name="圖片 6">
            <a:extLst>
              <a:ext uri="{FF2B5EF4-FFF2-40B4-BE49-F238E27FC236}">
                <a16:creationId xmlns:a16="http://schemas.microsoft.com/office/drawing/2014/main" id="{FC948A46-7740-C2ED-696E-EEE766E50831}"/>
              </a:ext>
            </a:extLst>
          </p:cNvPr>
          <p:cNvPicPr>
            <a:picLocks noChangeAspect="1"/>
          </p:cNvPicPr>
          <p:nvPr/>
        </p:nvPicPr>
        <p:blipFill>
          <a:blip r:embed="rId3"/>
          <a:stretch>
            <a:fillRect/>
          </a:stretch>
        </p:blipFill>
        <p:spPr>
          <a:xfrm>
            <a:off x="689731" y="1466873"/>
            <a:ext cx="6763682" cy="5013150"/>
          </a:xfrm>
          <a:prstGeom prst="rect">
            <a:avLst/>
          </a:prstGeom>
        </p:spPr>
      </p:pic>
      <p:sp>
        <p:nvSpPr>
          <p:cNvPr id="8" name="文字版面配置區 2">
            <a:extLst>
              <a:ext uri="{FF2B5EF4-FFF2-40B4-BE49-F238E27FC236}">
                <a16:creationId xmlns:a16="http://schemas.microsoft.com/office/drawing/2014/main" id="{379BF9AE-DDA7-0A90-A8E0-ED53FC858F8B}"/>
              </a:ext>
            </a:extLst>
          </p:cNvPr>
          <p:cNvSpPr txBox="1">
            <a:spLocks/>
          </p:cNvSpPr>
          <p:nvPr/>
        </p:nvSpPr>
        <p:spPr>
          <a:xfrm>
            <a:off x="7341326" y="1536633"/>
            <a:ext cx="4435073" cy="4555200"/>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r>
              <a:rPr lang="en-US" altLang="zh-TW" sz="2200" dirty="0">
                <a:latin typeface="Times New Roman" panose="02020603050405020304" pitchFamily="18" charset="0"/>
                <a:cs typeface="Times New Roman" panose="02020603050405020304" pitchFamily="18" charset="0"/>
              </a:rPr>
              <a:t>Description : </a:t>
            </a:r>
            <a:br>
              <a:rPr lang="en-US" altLang="zh-TW" sz="22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Evolution of strategic behavior distribution over training progression.</a:t>
            </a:r>
          </a:p>
          <a:p>
            <a:pPr marL="152396" indent="0">
              <a:buFont typeface="Arial" panose="020B0604020202020204" pitchFamily="34" charset="0"/>
              <a:buNone/>
            </a:pPr>
            <a:endParaRPr lang="en-US" altLang="zh-TW" sz="2200" dirty="0">
              <a:latin typeface="Times New Roman" panose="02020603050405020304" pitchFamily="18" charset="0"/>
              <a:cs typeface="Times New Roman" panose="02020603050405020304" pitchFamily="18" charset="0"/>
            </a:endParaRPr>
          </a:p>
          <a:p>
            <a:r>
              <a:rPr lang="en-US" altLang="zh-TW" sz="2200" dirty="0">
                <a:latin typeface="Times New Roman" panose="02020603050405020304" pitchFamily="18" charset="0"/>
                <a:cs typeface="Times New Roman" panose="02020603050405020304" pitchFamily="18" charset="0"/>
              </a:rPr>
              <a:t>Sampling Number : 1600</a:t>
            </a:r>
          </a:p>
          <a:p>
            <a:endParaRPr lang="en-US" altLang="zh-TW" sz="2200" dirty="0">
              <a:latin typeface="Times New Roman" panose="02020603050405020304" pitchFamily="18" charset="0"/>
              <a:cs typeface="Times New Roman" panose="02020603050405020304" pitchFamily="18" charset="0"/>
            </a:endParaRPr>
          </a:p>
          <a:p>
            <a:r>
              <a:rPr lang="en-US" altLang="zh-TW" sz="2200" dirty="0">
                <a:latin typeface="Times New Roman" panose="02020603050405020304" pitchFamily="18" charset="0"/>
                <a:cs typeface="Times New Roman" panose="02020603050405020304" pitchFamily="18" charset="0"/>
              </a:rPr>
              <a:t>Manually specified reward functions often lead to skewed distributions.</a:t>
            </a:r>
          </a:p>
        </p:txBody>
      </p:sp>
    </p:spTree>
    <p:extLst>
      <p:ext uri="{BB962C8B-B14F-4D97-AF65-F5344CB8AC3E}">
        <p14:creationId xmlns:p14="http://schemas.microsoft.com/office/powerpoint/2010/main" val="40430348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068482B-A869-8527-FC06-3DB37F5AB147}"/>
              </a:ext>
            </a:extLst>
          </p:cNvPr>
          <p:cNvSpPr>
            <a:spLocks noGrp="1"/>
          </p:cNvSpPr>
          <p:nvPr>
            <p:ph type="sldNum" idx="12"/>
          </p:nvPr>
        </p:nvSpPr>
        <p:spPr/>
        <p:txBody>
          <a:bodyPr/>
          <a:lstStyle/>
          <a:p>
            <a:fld id="{00000000-1234-1234-1234-123412341234}" type="slidenum">
              <a:rPr lang="en-US" altLang="zh-TW" smtClean="0"/>
              <a:pPr/>
              <a:t>68</a:t>
            </a:fld>
            <a:endParaRPr lang="zh-TW" altLang="en-US" dirty="0"/>
          </a:p>
        </p:txBody>
      </p:sp>
      <p:graphicFrame>
        <p:nvGraphicFramePr>
          <p:cNvPr id="5" name="表格 4">
            <a:extLst>
              <a:ext uri="{FF2B5EF4-FFF2-40B4-BE49-F238E27FC236}">
                <a16:creationId xmlns:a16="http://schemas.microsoft.com/office/drawing/2014/main" id="{DB0C80D5-9FF5-A940-EA0C-49DE128FADC2}"/>
              </a:ext>
            </a:extLst>
          </p:cNvPr>
          <p:cNvGraphicFramePr>
            <a:graphicFrameLocks noGrp="1"/>
          </p:cNvGraphicFramePr>
          <p:nvPr>
            <p:extLst>
              <p:ext uri="{D42A27DB-BD31-4B8C-83A1-F6EECF244321}">
                <p14:modId xmlns:p14="http://schemas.microsoft.com/office/powerpoint/2010/main" val="3297576592"/>
              </p:ext>
            </p:extLst>
          </p:nvPr>
        </p:nvGraphicFramePr>
        <p:xfrm>
          <a:off x="1285008" y="2112048"/>
          <a:ext cx="9621984" cy="1651000"/>
        </p:xfrm>
        <a:graphic>
          <a:graphicData uri="http://schemas.openxmlformats.org/drawingml/2006/table">
            <a:tbl>
              <a:tblPr firstRow="1" bandRow="1">
                <a:tableStyleId>{2D5ABB26-0587-4C30-8999-92F81FD0307C}</a:tableStyleId>
              </a:tblPr>
              <a:tblGrid>
                <a:gridCol w="1603664">
                  <a:extLst>
                    <a:ext uri="{9D8B030D-6E8A-4147-A177-3AD203B41FA5}">
                      <a16:colId xmlns:a16="http://schemas.microsoft.com/office/drawing/2014/main" val="3950336079"/>
                    </a:ext>
                  </a:extLst>
                </a:gridCol>
                <a:gridCol w="1751436">
                  <a:extLst>
                    <a:ext uri="{9D8B030D-6E8A-4147-A177-3AD203B41FA5}">
                      <a16:colId xmlns:a16="http://schemas.microsoft.com/office/drawing/2014/main" val="1229639734"/>
                    </a:ext>
                  </a:extLst>
                </a:gridCol>
                <a:gridCol w="1702737">
                  <a:extLst>
                    <a:ext uri="{9D8B030D-6E8A-4147-A177-3AD203B41FA5}">
                      <a16:colId xmlns:a16="http://schemas.microsoft.com/office/drawing/2014/main" val="907598482"/>
                    </a:ext>
                  </a:extLst>
                </a:gridCol>
                <a:gridCol w="1356819">
                  <a:extLst>
                    <a:ext uri="{9D8B030D-6E8A-4147-A177-3AD203B41FA5}">
                      <a16:colId xmlns:a16="http://schemas.microsoft.com/office/drawing/2014/main" val="39983560"/>
                    </a:ext>
                  </a:extLst>
                </a:gridCol>
                <a:gridCol w="1603664">
                  <a:extLst>
                    <a:ext uri="{9D8B030D-6E8A-4147-A177-3AD203B41FA5}">
                      <a16:colId xmlns:a16="http://schemas.microsoft.com/office/drawing/2014/main" val="916165020"/>
                    </a:ext>
                  </a:extLst>
                </a:gridCol>
                <a:gridCol w="1603664">
                  <a:extLst>
                    <a:ext uri="{9D8B030D-6E8A-4147-A177-3AD203B41FA5}">
                      <a16:colId xmlns:a16="http://schemas.microsoft.com/office/drawing/2014/main" val="3156849094"/>
                    </a:ext>
                  </a:extLst>
                </a:gridCol>
              </a:tblGrid>
              <a:tr h="370840">
                <a:tc>
                  <a:txBody>
                    <a:bodyPr/>
                    <a:lstStyle/>
                    <a:p>
                      <a:pPr algn="ctr"/>
                      <a:r>
                        <a:rPr lang="en-US" altLang="zh-TW" b="1" dirty="0">
                          <a:solidFill>
                            <a:schemeClr val="tx1"/>
                          </a:solidFill>
                        </a:rPr>
                        <a:t>1</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solidFill>
                            <a:schemeClr val="tx1"/>
                          </a:solidFill>
                        </a:rPr>
                        <a:t>2</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solidFill>
                            <a:schemeClr val="tx1"/>
                          </a:solidFill>
                        </a:rPr>
                        <a:t>3</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tx1"/>
                          </a:solidFill>
                        </a:rPr>
                        <a:t>4</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solidFill>
                            <a:schemeClr val="tx1"/>
                          </a:solidFill>
                        </a:rPr>
                        <a:t>5</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1" dirty="0">
                          <a:solidFill>
                            <a:schemeClr val="tx1"/>
                          </a:solidFill>
                        </a:rPr>
                        <a:t>6</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9824832"/>
                  </a:ext>
                </a:extLst>
              </a:tr>
              <a:tr h="370840">
                <a:tc>
                  <a:txBody>
                    <a:bodyPr/>
                    <a:lstStyle/>
                    <a:p>
                      <a:pPr algn="ctr"/>
                      <a:r>
                        <a:rPr lang="en-US" altLang="zh-TW" sz="1800" kern="1200" dirty="0">
                          <a:solidFill>
                            <a:schemeClr val="tx1"/>
                          </a:solidFill>
                          <a:effectLst/>
                          <a:latin typeface="+mn-lt"/>
                          <a:ea typeface="+mn-ea"/>
                          <a:cs typeface="+mn-cs"/>
                        </a:rPr>
                        <a:t>Discovery</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kern="1200" dirty="0">
                          <a:solidFill>
                            <a:schemeClr val="tx1"/>
                          </a:solidFill>
                          <a:effectLst/>
                          <a:latin typeface="+mn-lt"/>
                          <a:ea typeface="+mn-ea"/>
                          <a:cs typeface="+mn-cs"/>
                        </a:rPr>
                        <a:t>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Credential</a:t>
                      </a:r>
                    </a:p>
                    <a:p>
                      <a:pPr algn="ctr"/>
                      <a:r>
                        <a:rPr lang="en-US" altLang="zh-TW" dirty="0"/>
                        <a:t>Access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Privilege </a:t>
                      </a:r>
                      <a:r>
                        <a:rPr lang="en-US" altLang="zh-TW" dirty="0"/>
                        <a:t>escalation</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Lateral </a:t>
                      </a:r>
                      <a:br>
                        <a:rPr lang="en-US" altLang="zh-TW" dirty="0"/>
                      </a:br>
                      <a:r>
                        <a:rPr lang="en-US" altLang="zh-TW" dirty="0"/>
                        <a:t>Movement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Exfiltration</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3164721"/>
                  </a:ext>
                </a:extLst>
              </a:tr>
              <a:tr h="370840">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200" dirty="0">
                          <a:solidFill>
                            <a:schemeClr val="tx1"/>
                          </a:solidFill>
                          <a:effectLst/>
                          <a:latin typeface="+mn-lt"/>
                          <a:ea typeface="+mn-ea"/>
                          <a:cs typeface="+mn-cs"/>
                        </a:rPr>
                        <a:t>Defense</a:t>
                      </a:r>
                      <a:r>
                        <a:rPr lang="zh-TW" altLang="en-US" sz="1800" kern="1200" dirty="0">
                          <a:solidFill>
                            <a:schemeClr val="tx1"/>
                          </a:solidFill>
                          <a:effectLst/>
                          <a:latin typeface="+mn-lt"/>
                          <a:ea typeface="+mn-ea"/>
                          <a:cs typeface="+mn-cs"/>
                        </a:rPr>
                        <a:t> </a:t>
                      </a:r>
                      <a:r>
                        <a:rPr lang="en-US" altLang="zh-TW" sz="1800" kern="1200" dirty="0">
                          <a:solidFill>
                            <a:schemeClr val="tx1"/>
                          </a:solidFill>
                          <a:effectLst/>
                          <a:latin typeface="+mn-lt"/>
                          <a:ea typeface="+mn-ea"/>
                          <a:cs typeface="+mn-cs"/>
                        </a:rPr>
                        <a:t>Evasion</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Persistence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Impact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092913"/>
                  </a:ext>
                </a:extLst>
              </a:tr>
            </a:tbl>
          </a:graphicData>
        </a:graphic>
      </p:graphicFrame>
    </p:spTree>
    <p:extLst>
      <p:ext uri="{BB962C8B-B14F-4D97-AF65-F5344CB8AC3E}">
        <p14:creationId xmlns:p14="http://schemas.microsoft.com/office/powerpoint/2010/main" val="24328343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Shape 462">
          <a:extLst>
            <a:ext uri="{FF2B5EF4-FFF2-40B4-BE49-F238E27FC236}">
              <a16:creationId xmlns:a16="http://schemas.microsoft.com/office/drawing/2014/main" id="{60E2508C-500A-03DF-A431-3541A8217E73}"/>
            </a:ext>
          </a:extLst>
        </p:cNvPr>
        <p:cNvGrpSpPr/>
        <p:nvPr/>
      </p:nvGrpSpPr>
      <p:grpSpPr>
        <a:xfrm>
          <a:off x="0" y="0"/>
          <a:ext cx="0" cy="0"/>
          <a:chOff x="0" y="0"/>
          <a:chExt cx="0" cy="0"/>
        </a:xfrm>
      </p:grpSpPr>
      <p:sp>
        <p:nvSpPr>
          <p:cNvPr id="463" name="Google Shape;463;p52">
            <a:extLst>
              <a:ext uri="{FF2B5EF4-FFF2-40B4-BE49-F238E27FC236}">
                <a16:creationId xmlns:a16="http://schemas.microsoft.com/office/drawing/2014/main" id="{F21F5BBF-F697-6660-BE18-D84CD1CCCA4D}"/>
              </a:ext>
            </a:extLst>
          </p:cNvPr>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US" altLang="zh-TW"/>
              <a:pPr/>
              <a:t>69</a:t>
            </a:fld>
            <a:endParaRPr dirty="0"/>
          </a:p>
        </p:txBody>
      </p:sp>
      <p:sp>
        <p:nvSpPr>
          <p:cNvPr id="465" name="Google Shape;465;p52">
            <a:extLst>
              <a:ext uri="{FF2B5EF4-FFF2-40B4-BE49-F238E27FC236}">
                <a16:creationId xmlns:a16="http://schemas.microsoft.com/office/drawing/2014/main" id="{B9D6CAE0-6667-5D9D-119F-498A0A52A411}"/>
              </a:ext>
            </a:extLst>
          </p:cNvPr>
          <p:cNvSpPr txBox="1">
            <a:spLocks noGrp="1"/>
          </p:cNvSpPr>
          <p:nvPr>
            <p:ph type="ctrTitle" idx="4294967295"/>
          </p:nvPr>
        </p:nvSpPr>
        <p:spPr>
          <a:xfrm>
            <a:off x="558609" y="580919"/>
            <a:ext cx="11260400" cy="900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altLang="zh-TW" sz="3600" dirty="0">
                <a:latin typeface="Times New Roman"/>
                <a:ea typeface="Times New Roman"/>
                <a:cs typeface="Times New Roman"/>
                <a:sym typeface="Times New Roman"/>
              </a:rPr>
              <a:t>Implementation – </a:t>
            </a:r>
            <a:r>
              <a:rPr lang="en-US" altLang="zh-TW" sz="3600" dirty="0">
                <a:latin typeface="Times New Roman"/>
                <a:ea typeface="Times New Roman"/>
                <a:cs typeface="Times New Roman"/>
                <a:sym typeface="Times New Roman"/>
              </a:rPr>
              <a:t>Optimize LLM from offline data (3/3)</a:t>
            </a:r>
            <a:endParaRPr sz="3600" baseline="50000" dirty="0">
              <a:latin typeface="Times New Roman"/>
              <a:ea typeface="Times New Roman"/>
              <a:cs typeface="Times New Roman"/>
              <a:sym typeface="Times New Roman"/>
            </a:endParaRPr>
          </a:p>
        </p:txBody>
      </p:sp>
      <p:sp>
        <p:nvSpPr>
          <p:cNvPr id="8" name="Google Shape;464;p52">
            <a:extLst>
              <a:ext uri="{FF2B5EF4-FFF2-40B4-BE49-F238E27FC236}">
                <a16:creationId xmlns:a16="http://schemas.microsoft.com/office/drawing/2014/main" id="{9157C1EC-0802-03B2-F896-C8083812704A}"/>
              </a:ext>
            </a:extLst>
          </p:cNvPr>
          <p:cNvSpPr txBox="1">
            <a:spLocks/>
          </p:cNvSpPr>
          <p:nvPr/>
        </p:nvSpPr>
        <p:spPr>
          <a:xfrm>
            <a:off x="302386" y="1106231"/>
            <a:ext cx="11587228" cy="533014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66797" indent="-457200">
              <a:lnSpc>
                <a:spcPct val="200000"/>
              </a:lnSpc>
              <a:spcBef>
                <a:spcPts val="0"/>
              </a:spcBef>
              <a:buClr>
                <a:schemeClr val="dk1"/>
              </a:buClr>
              <a:buSzPts val="1200"/>
              <a:buFont typeface="Wingdings" panose="05000000000000000000" pitchFamily="2" charset="2"/>
              <a:buChar char="l"/>
            </a:pPr>
            <a:endParaRPr lang="en-US" altLang="zh-TW"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Google Shape;464;p52">
            <a:extLst>
              <a:ext uri="{FF2B5EF4-FFF2-40B4-BE49-F238E27FC236}">
                <a16:creationId xmlns:a16="http://schemas.microsoft.com/office/drawing/2014/main" id="{37C2C2A8-1C36-AFEE-6EEE-FD69B5E91538}"/>
              </a:ext>
            </a:extLst>
          </p:cNvPr>
          <p:cNvSpPr txBox="1">
            <a:spLocks/>
          </p:cNvSpPr>
          <p:nvPr/>
        </p:nvSpPr>
        <p:spPr>
          <a:xfrm>
            <a:off x="395195" y="878599"/>
            <a:ext cx="11587228" cy="5703434"/>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sz="2400" dirty="0">
              <a:latin typeface="Times New Roman" panose="02020603050405020304" pitchFamily="18" charset="0"/>
              <a:cs typeface="Times New Roman" panose="02020603050405020304" pitchFamily="18" charset="0"/>
            </a:endParaRPr>
          </a:p>
        </p:txBody>
      </p:sp>
      <p:sp>
        <p:nvSpPr>
          <p:cNvPr id="3" name="Google Shape;464;p52">
            <a:extLst>
              <a:ext uri="{FF2B5EF4-FFF2-40B4-BE49-F238E27FC236}">
                <a16:creationId xmlns:a16="http://schemas.microsoft.com/office/drawing/2014/main" id="{3E6962FA-D21B-F88C-8B48-7B0DADE50A21}"/>
              </a:ext>
            </a:extLst>
          </p:cNvPr>
          <p:cNvSpPr txBox="1">
            <a:spLocks/>
          </p:cNvSpPr>
          <p:nvPr/>
        </p:nvSpPr>
        <p:spPr>
          <a:xfrm>
            <a:off x="547595" y="1595535"/>
            <a:ext cx="11587228" cy="513889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Benefits : Trajectory Harvesting for Offline Training</a:t>
            </a:r>
          </a:p>
          <a:p>
            <a:pPr lvl="1"/>
            <a:r>
              <a:rPr lang="en-US" altLang="zh-TW" b="1" dirty="0">
                <a:latin typeface="Times New Roman" panose="02020603050405020304" pitchFamily="18" charset="0"/>
                <a:cs typeface="Times New Roman" panose="02020603050405020304" pitchFamily="18" charset="0"/>
              </a:rPr>
              <a:t>Historical Data Retention</a:t>
            </a:r>
            <a:r>
              <a:rPr lang="en-US" altLang="zh-TW" dirty="0">
                <a:latin typeface="Times New Roman" panose="02020603050405020304" pitchFamily="18" charset="0"/>
                <a:cs typeface="Times New Roman" panose="02020603050405020304" pitchFamily="18" charset="0"/>
              </a:rPr>
              <a:t>: Instead of discarding episodes, we archive every trajectory (interaction sequence) into a permanent dataset.</a:t>
            </a:r>
          </a:p>
          <a:p>
            <a:pPr lvl="1"/>
            <a:r>
              <a:rPr lang="en-US" altLang="zh-TW" b="1" dirty="0">
                <a:latin typeface="Times New Roman" panose="02020603050405020304" pitchFamily="18" charset="0"/>
                <a:cs typeface="Times New Roman" panose="02020603050405020304" pitchFamily="18" charset="0"/>
              </a:rPr>
              <a:t>Offline Optimization</a:t>
            </a:r>
            <a:r>
              <a:rPr lang="en-US" altLang="zh-TW" dirty="0">
                <a:latin typeface="Times New Roman" panose="02020603050405020304" pitchFamily="18" charset="0"/>
                <a:cs typeface="Times New Roman" panose="02020603050405020304" pitchFamily="18" charset="0"/>
              </a:rPr>
              <a:t>: Decouples "Experience Collection" from "Model Training," allowing multiple gradient steps on the same high-value interactions.</a:t>
            </a:r>
          </a:p>
          <a:p>
            <a:pPr lvl="1"/>
            <a:r>
              <a:rPr lang="en-US" altLang="zh-TW" b="1" dirty="0">
                <a:latin typeface="Times New Roman" panose="02020603050405020304" pitchFamily="18" charset="0"/>
                <a:cs typeface="Times New Roman" panose="02020603050405020304" pitchFamily="18" charset="0"/>
              </a:rPr>
              <a:t>Mitigating Reward Hacking</a:t>
            </a:r>
            <a:r>
              <a:rPr lang="en-US" altLang="zh-TW" dirty="0">
                <a:latin typeface="Times New Roman" panose="02020603050405020304" pitchFamily="18" charset="0"/>
                <a:cs typeface="Times New Roman" panose="02020603050405020304" pitchFamily="18" charset="0"/>
              </a:rPr>
              <a:t>: BERT model distinguishes the tactical effectiveness of a defense strategy based on the specific attack context, effectively preventing state-agnostic exploitation.</a:t>
            </a:r>
          </a:p>
          <a:p>
            <a:pPr lvl="1"/>
            <a:r>
              <a:rPr lang="en-US" altLang="zh-TW" b="1" dirty="0">
                <a:latin typeface="Times New Roman" panose="02020603050405020304" pitchFamily="18" charset="0"/>
                <a:cs typeface="Times New Roman" panose="02020603050405020304" pitchFamily="18" charset="0"/>
              </a:rPr>
              <a:t>Robustness </a:t>
            </a:r>
            <a:r>
              <a:rPr lang="en-US" altLang="zh-TW" dirty="0">
                <a:latin typeface="Times New Roman" panose="02020603050405020304" pitchFamily="18" charset="0"/>
                <a:cs typeface="Times New Roman" panose="02020603050405020304" pitchFamily="18" charset="0"/>
              </a:rPr>
              <a:t>: Distills consistent tactical patterns from noisy historical trajectories via BERT’s semantic filtering.</a:t>
            </a:r>
          </a:p>
        </p:txBody>
      </p:sp>
    </p:spTree>
    <p:extLst>
      <p:ext uri="{BB962C8B-B14F-4D97-AF65-F5344CB8AC3E}">
        <p14:creationId xmlns:p14="http://schemas.microsoft.com/office/powerpoint/2010/main" val="26891070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C3BF1F-EE0B-D25B-BA11-1179C66E409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BBF70F1-71E2-9A6B-FA22-011ED68C02DD}"/>
              </a:ext>
            </a:extLst>
          </p:cNvPr>
          <p:cNvSpPr>
            <a:spLocks noGrp="1"/>
          </p:cNvSpPr>
          <p:nvPr>
            <p:ph type="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Experiment Result – Attack Depth (6/7)</a:t>
            </a:r>
            <a:endParaRPr lang="zh-TW" altLang="en-US" dirty="0"/>
          </a:p>
        </p:txBody>
      </p:sp>
      <p:sp>
        <p:nvSpPr>
          <p:cNvPr id="4" name="投影片編號版面配置區 3">
            <a:extLst>
              <a:ext uri="{FF2B5EF4-FFF2-40B4-BE49-F238E27FC236}">
                <a16:creationId xmlns:a16="http://schemas.microsoft.com/office/drawing/2014/main" id="{4BBCFB25-C7B6-9F79-4873-85F4C02E6FF4}"/>
              </a:ext>
            </a:extLst>
          </p:cNvPr>
          <p:cNvSpPr>
            <a:spLocks noGrp="1"/>
          </p:cNvSpPr>
          <p:nvPr>
            <p:ph type="sldNum" idx="12"/>
          </p:nvPr>
        </p:nvSpPr>
        <p:spPr/>
        <p:txBody>
          <a:bodyPr/>
          <a:lstStyle/>
          <a:p>
            <a:fld id="{00000000-1234-1234-1234-123412341234}" type="slidenum">
              <a:rPr lang="en-US" altLang="zh-TW" smtClean="0"/>
              <a:pPr/>
              <a:t>70</a:t>
            </a:fld>
            <a:endParaRPr lang="zh-TW" altLang="en-US" dirty="0"/>
          </a:p>
        </p:txBody>
      </p:sp>
      <p:sp>
        <p:nvSpPr>
          <p:cNvPr id="3" name="文字方塊 2">
            <a:extLst>
              <a:ext uri="{FF2B5EF4-FFF2-40B4-BE49-F238E27FC236}">
                <a16:creationId xmlns:a16="http://schemas.microsoft.com/office/drawing/2014/main" id="{5761FCE6-3BFD-7932-CB20-A2173F1B41B2}"/>
              </a:ext>
            </a:extLst>
          </p:cNvPr>
          <p:cNvSpPr txBox="1"/>
          <p:nvPr/>
        </p:nvSpPr>
        <p:spPr>
          <a:xfrm>
            <a:off x="7946539" y="1516070"/>
            <a:ext cx="3829861" cy="2759730"/>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Description : </a:t>
            </a:r>
            <a:br>
              <a:rPr lang="en-US" altLang="zh-TW" sz="2000" dirty="0">
                <a:latin typeface="Times New Roman" panose="02020603050405020304" pitchFamily="18" charset="0"/>
                <a:cs typeface="Times New Roman" panose="02020603050405020304" pitchFamily="18" charset="0"/>
              </a:rPr>
            </a:br>
            <a:r>
              <a:rPr lang="en-US" altLang="zh-TW" sz="2000" dirty="0">
                <a:latin typeface="Times New Roman" panose="02020603050405020304" pitchFamily="18" charset="0"/>
                <a:cs typeface="Times New Roman" panose="02020603050405020304" pitchFamily="18" charset="0"/>
              </a:rPr>
              <a:t>Max tactic id refer to MITRE ATT&amp;CK (max: 6)</a:t>
            </a:r>
          </a:p>
          <a:p>
            <a:endParaRPr lang="en-US" altLang="zh-TW" sz="2000" baseline="30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altLang="zh-TW" sz="2000" dirty="0">
                <a:latin typeface="Times New Roman" panose="02020603050405020304" pitchFamily="18" charset="0"/>
                <a:cs typeface="Times New Roman" panose="02020603050405020304" pitchFamily="18" charset="0"/>
              </a:rPr>
              <a:t>Aware + FT : 3.94</a:t>
            </a:r>
          </a:p>
          <a:p>
            <a:pPr marL="342900" indent="-342900">
              <a:buFont typeface="Wingdings" panose="05000000000000000000" pitchFamily="2" charset="2"/>
              <a:buChar char=""/>
            </a:pPr>
            <a:r>
              <a:rPr lang="en-US" altLang="zh-TW" sz="2000" dirty="0">
                <a:latin typeface="Times New Roman" panose="02020603050405020304" pitchFamily="18" charset="0"/>
                <a:cs typeface="Times New Roman" panose="02020603050405020304" pitchFamily="18" charset="0"/>
              </a:rPr>
              <a:t>Aware only :3.26</a:t>
            </a:r>
            <a:endParaRPr lang="en-US" altLang="zh-TW" sz="2000" baseline="30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altLang="zh-TW" sz="2000" dirty="0">
                <a:latin typeface="Times New Roman" panose="02020603050405020304" pitchFamily="18" charset="0"/>
                <a:cs typeface="Times New Roman" panose="02020603050405020304" pitchFamily="18" charset="0"/>
              </a:rPr>
              <a:t>Base Model : 3.03</a:t>
            </a:r>
            <a:r>
              <a:rPr lang="en-US" altLang="zh-TW" sz="2000" baseline="300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altLang="zh-TW" sz="2000" dirty="0">
                <a:latin typeface="Times New Roman" panose="02020603050405020304" pitchFamily="18" charset="0"/>
                <a:cs typeface="Times New Roman" panose="02020603050405020304" pitchFamily="18" charset="0"/>
              </a:rPr>
              <a:t>GPT-5o (aware): 2.62</a:t>
            </a:r>
          </a:p>
          <a:p>
            <a:pPr marL="342900" indent="-342900">
              <a:buFont typeface="Wingdings" panose="05000000000000000000" pitchFamily="2" charset="2"/>
              <a:buChar char=""/>
            </a:pPr>
            <a:r>
              <a:rPr lang="en-US" altLang="zh-TW" sz="2000" dirty="0">
                <a:latin typeface="Times New Roman" panose="02020603050405020304" pitchFamily="18" charset="0"/>
                <a:cs typeface="Times New Roman" panose="02020603050405020304" pitchFamily="18" charset="0"/>
              </a:rPr>
              <a:t>QRASSH : 1.74</a:t>
            </a:r>
          </a:p>
        </p:txBody>
      </p:sp>
      <p:pic>
        <p:nvPicPr>
          <p:cNvPr id="6" name="圖片 5">
            <a:extLst>
              <a:ext uri="{FF2B5EF4-FFF2-40B4-BE49-F238E27FC236}">
                <a16:creationId xmlns:a16="http://schemas.microsoft.com/office/drawing/2014/main" id="{02E6CBF1-0BA0-A781-99E3-23930B339819}"/>
              </a:ext>
            </a:extLst>
          </p:cNvPr>
          <p:cNvPicPr>
            <a:picLocks noChangeAspect="1"/>
          </p:cNvPicPr>
          <p:nvPr/>
        </p:nvPicPr>
        <p:blipFill>
          <a:blip r:embed="rId3"/>
          <a:stretch>
            <a:fillRect/>
          </a:stretch>
        </p:blipFill>
        <p:spPr>
          <a:xfrm>
            <a:off x="241115" y="1676326"/>
            <a:ext cx="7705424" cy="3800648"/>
          </a:xfrm>
          <a:prstGeom prst="rect">
            <a:avLst/>
          </a:prstGeom>
        </p:spPr>
      </p:pic>
    </p:spTree>
    <p:extLst>
      <p:ext uri="{BB962C8B-B14F-4D97-AF65-F5344CB8AC3E}">
        <p14:creationId xmlns:p14="http://schemas.microsoft.com/office/powerpoint/2010/main" val="9199687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Shape 267">
          <a:extLst>
            <a:ext uri="{FF2B5EF4-FFF2-40B4-BE49-F238E27FC236}">
              <a16:creationId xmlns:a16="http://schemas.microsoft.com/office/drawing/2014/main" id="{90C07666-3C60-ED62-5C40-471E979C7688}"/>
            </a:ext>
          </a:extLst>
        </p:cNvPr>
        <p:cNvGrpSpPr/>
        <p:nvPr/>
      </p:nvGrpSpPr>
      <p:grpSpPr>
        <a:xfrm>
          <a:off x="0" y="0"/>
          <a:ext cx="0" cy="0"/>
          <a:chOff x="0" y="0"/>
          <a:chExt cx="0" cy="0"/>
        </a:xfrm>
      </p:grpSpPr>
      <p:sp>
        <p:nvSpPr>
          <p:cNvPr id="268" name="Google Shape;268;p33">
            <a:extLst>
              <a:ext uri="{FF2B5EF4-FFF2-40B4-BE49-F238E27FC236}">
                <a16:creationId xmlns:a16="http://schemas.microsoft.com/office/drawing/2014/main" id="{BFDCC18A-6E65-93B7-988A-31E562B65E14}"/>
              </a:ext>
            </a:extLst>
          </p:cNvPr>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Solution – </a:t>
            </a:r>
            <a:r>
              <a:rPr lang="en-US" altLang="zh-TW" sz="4000" dirty="0">
                <a:latin typeface="Times New Roman"/>
                <a:ea typeface="Times New Roman"/>
                <a:cs typeface="Times New Roman"/>
                <a:sym typeface="Times New Roman"/>
              </a:rPr>
              <a:t>GRPO for Engagement Intuition</a:t>
            </a:r>
            <a:r>
              <a:rPr lang="zh-TW" altLang="en-US" sz="4000" dirty="0">
                <a:latin typeface="Times New Roman"/>
                <a:ea typeface="Times New Roman"/>
                <a:cs typeface="Times New Roman"/>
                <a:sym typeface="Times New Roman"/>
              </a:rPr>
              <a:t> </a:t>
            </a:r>
            <a:r>
              <a:rPr lang="en-US" altLang="zh-TW" sz="4000" dirty="0">
                <a:latin typeface="Times New Roman"/>
                <a:ea typeface="Times New Roman"/>
                <a:cs typeface="Times New Roman"/>
                <a:sym typeface="Times New Roman"/>
              </a:rPr>
              <a:t>(1/2)</a:t>
            </a:r>
            <a:endParaRPr sz="4000" dirty="0">
              <a:latin typeface="Times New Roman"/>
              <a:ea typeface="Times New Roman"/>
              <a:cs typeface="Times New Roman"/>
              <a:sym typeface="Times New Roman"/>
            </a:endParaRPr>
          </a:p>
        </p:txBody>
      </p:sp>
      <p:sp>
        <p:nvSpPr>
          <p:cNvPr id="273" name="Google Shape;273;p33">
            <a:extLst>
              <a:ext uri="{FF2B5EF4-FFF2-40B4-BE49-F238E27FC236}">
                <a16:creationId xmlns:a16="http://schemas.microsoft.com/office/drawing/2014/main" id="{8E3B1CE8-F0DA-9BE3-5283-BEA4238546F4}"/>
              </a:ext>
            </a:extLst>
          </p:cNvPr>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zh-TW"/>
              <a:pPr/>
              <a:t>71</a:t>
            </a:fld>
            <a:endParaRPr dirty="0"/>
          </a:p>
        </p:txBody>
      </p:sp>
      <p:sp>
        <p:nvSpPr>
          <p:cNvPr id="4" name="Google Shape;261;p32">
            <a:extLst>
              <a:ext uri="{FF2B5EF4-FFF2-40B4-BE49-F238E27FC236}">
                <a16:creationId xmlns:a16="http://schemas.microsoft.com/office/drawing/2014/main" id="{4726D2EF-96F4-0332-300A-638D5E6B0A99}"/>
              </a:ext>
            </a:extLst>
          </p:cNvPr>
          <p:cNvSpPr txBox="1">
            <a:spLocks/>
          </p:cNvSpPr>
          <p:nvPr/>
        </p:nvSpPr>
        <p:spPr>
          <a:xfrm>
            <a:off x="49448" y="1119600"/>
            <a:ext cx="11126000" cy="55192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3195" indent="0">
              <a:spcBef>
                <a:spcPts val="0"/>
              </a:spcBef>
              <a:buClr>
                <a:schemeClr val="dk1"/>
              </a:buClr>
              <a:buSzPts val="1200"/>
              <a:buNone/>
            </a:pPr>
            <a:endParaRPr lang="en-US" altLang="zh-TW" dirty="0">
              <a:solidFill>
                <a:schemeClr val="dk1"/>
              </a:solidFill>
              <a:latin typeface="Times New Roman"/>
              <a:ea typeface="Times New Roman"/>
              <a:cs typeface="Times New Roman"/>
              <a:sym typeface="Wingdings" panose="05000000000000000000" pitchFamily="2" charset="2"/>
            </a:endParaRPr>
          </a:p>
          <a:p>
            <a:pPr marL="203195" indent="0">
              <a:spcBef>
                <a:spcPts val="0"/>
              </a:spcBef>
              <a:buClr>
                <a:schemeClr val="dk1"/>
              </a:buClr>
              <a:buSzPts val="1200"/>
              <a:buNone/>
            </a:pPr>
            <a:endParaRPr lang="en-US" altLang="zh-TW" dirty="0">
              <a:solidFill>
                <a:schemeClr val="dk1"/>
              </a:solidFill>
              <a:latin typeface="Times New Roman"/>
              <a:ea typeface="Times New Roman"/>
              <a:cs typeface="Times New Roman"/>
              <a:sym typeface="Wingdings" panose="05000000000000000000" pitchFamily="2" charset="2"/>
            </a:endParaRPr>
          </a:p>
          <a:p>
            <a:pPr marL="203195" indent="0">
              <a:spcBef>
                <a:spcPts val="0"/>
              </a:spcBef>
              <a:buClr>
                <a:schemeClr val="dk1"/>
              </a:buClr>
              <a:buSzPts val="1200"/>
              <a:buNone/>
            </a:pPr>
            <a:endParaRPr lang="en-US" altLang="zh-TW" dirty="0">
              <a:solidFill>
                <a:schemeClr val="dk1"/>
              </a:solidFill>
              <a:latin typeface="Times New Roman"/>
              <a:ea typeface="Times New Roman"/>
              <a:cs typeface="Times New Roman"/>
              <a:sym typeface="Wingdings" panose="05000000000000000000" pitchFamily="2" charset="2"/>
            </a:endParaRPr>
          </a:p>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Wingdings" panose="05000000000000000000" pitchFamily="2" charset="2"/>
            </a:endParaRPr>
          </a:p>
          <a:p>
            <a:pPr marL="203195" indent="0">
              <a:spcBef>
                <a:spcPts val="0"/>
              </a:spcBef>
              <a:buClr>
                <a:schemeClr val="dk1"/>
              </a:buClr>
              <a:buSzPts val="1200"/>
              <a:buNone/>
            </a:pPr>
            <a:endParaRPr lang="en-US" altLang="zh-TW" dirty="0">
              <a:solidFill>
                <a:schemeClr val="dk1"/>
              </a:solidFill>
              <a:latin typeface="Times New Roman"/>
              <a:ea typeface="Times New Roman"/>
              <a:cs typeface="Times New Roman"/>
              <a:sym typeface="Times New Roman"/>
            </a:endParaRPr>
          </a:p>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Times New Roman"/>
            </a:endParaRPr>
          </a:p>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Times New Roman"/>
            </a:endParaRPr>
          </a:p>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Times New Roman"/>
            </a:endParaRPr>
          </a:p>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Times New Roman"/>
            </a:endParaRPr>
          </a:p>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Times New Roman"/>
            </a:endParaRPr>
          </a:p>
        </p:txBody>
      </p:sp>
      <p:sp>
        <p:nvSpPr>
          <p:cNvPr id="2" name="Google Shape;261;p32">
            <a:extLst>
              <a:ext uri="{FF2B5EF4-FFF2-40B4-BE49-F238E27FC236}">
                <a16:creationId xmlns:a16="http://schemas.microsoft.com/office/drawing/2014/main" id="{DFB31260-1081-B61B-D758-830461ACAAC2}"/>
              </a:ext>
            </a:extLst>
          </p:cNvPr>
          <p:cNvSpPr txBox="1">
            <a:spLocks/>
          </p:cNvSpPr>
          <p:nvPr/>
        </p:nvSpPr>
        <p:spPr>
          <a:xfrm>
            <a:off x="349891" y="1226184"/>
            <a:ext cx="11126000" cy="55192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3" name="Google Shape;287;p35">
                <a:extLst>
                  <a:ext uri="{FF2B5EF4-FFF2-40B4-BE49-F238E27FC236}">
                    <a16:creationId xmlns:a16="http://schemas.microsoft.com/office/drawing/2014/main" id="{829853EC-167E-477B-0D19-E94BEB9533D0}"/>
                  </a:ext>
                </a:extLst>
              </p:cNvPr>
              <p:cNvSpPr txBox="1">
                <a:spLocks/>
              </p:cNvSpPr>
              <p:nvPr/>
            </p:nvSpPr>
            <p:spPr>
              <a:xfrm>
                <a:off x="7210410" y="1191872"/>
                <a:ext cx="4708442" cy="4838331"/>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8387" indent="-408790">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Red Team LLM try to exploit our system through monitored proxy</a:t>
                </a:r>
              </a:p>
              <a:p>
                <a:pPr marL="518387" indent="-408790">
                  <a:lnSpc>
                    <a:spcPct val="115000"/>
                  </a:lnSpc>
                  <a:spcBef>
                    <a:spcPts val="0"/>
                  </a:spcBef>
                  <a:buClr>
                    <a:schemeClr val="dk1"/>
                  </a:buClr>
                  <a:buSzPts val="1200"/>
                  <a:buFont typeface="Times New Roman"/>
                  <a:buChar char="●"/>
                </a:pPr>
                <a:endParaRPr lang="en-US" altLang="zh-TW" sz="24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Blue Team LLM triggered at multiple of </a:t>
                </a:r>
                <a14:m>
                  <m:oMath xmlns:m="http://schemas.openxmlformats.org/officeDocument/2006/math">
                    <m:r>
                      <a:rPr lang="en-US" altLang="zh-TW" sz="2400" b="0" i="1" smtClean="0">
                        <a:solidFill>
                          <a:schemeClr val="dk1"/>
                        </a:solidFill>
                        <a:latin typeface="Cambria Math" panose="02040503050406030204" pitchFamily="18" charset="0"/>
                        <a:ea typeface="Times New Roman"/>
                        <a:cs typeface="Times New Roman"/>
                        <a:sym typeface="Times New Roman"/>
                      </a:rPr>
                      <m:t>𝑁</m:t>
                    </m:r>
                  </m:oMath>
                </a14:m>
                <a:endParaRPr lang="en-US" altLang="zh-TW" sz="2400" dirty="0">
                  <a:solidFill>
                    <a:schemeClr val="dk1"/>
                  </a:solidFill>
                  <a:latin typeface="Times New Roman"/>
                  <a:ea typeface="Times New Roman"/>
                  <a:cs typeface="Times New Roman"/>
                  <a:sym typeface="Times New Roman"/>
                </a:endParaRPr>
              </a:p>
              <a:p>
                <a:pPr marL="975587" lvl="1" indent="-408790">
                  <a:lnSpc>
                    <a:spcPct val="115000"/>
                  </a:lnSpc>
                  <a:spcBef>
                    <a:spcPts val="0"/>
                  </a:spcBef>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Detect Intent</a:t>
                </a:r>
              </a:p>
              <a:p>
                <a:pPr marL="975587" lvl="1" indent="-408790">
                  <a:lnSpc>
                    <a:spcPct val="115000"/>
                  </a:lnSpc>
                  <a:spcBef>
                    <a:spcPts val="0"/>
                  </a:spcBef>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Apply strategy</a:t>
                </a:r>
              </a:p>
              <a:p>
                <a:pPr marL="975587" lvl="1" indent="-408790">
                  <a:lnSpc>
                    <a:spcPct val="115000"/>
                  </a:lnSpc>
                  <a:spcBef>
                    <a:spcPts val="0"/>
                  </a:spcBef>
                  <a:buClr>
                    <a:schemeClr val="dk1"/>
                  </a:buClr>
                  <a:buSzPts val="1200"/>
                  <a:buFont typeface="Times New Roman"/>
                  <a:buChar char="●"/>
                </a:pPr>
                <a:endParaRPr lang="en-US" altLang="zh-TW" sz="20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End of episode, an evaluator will assign reward to trajectory.</a:t>
                </a:r>
              </a:p>
              <a:p>
                <a:pPr marL="975587" lvl="1" indent="-408790">
                  <a:lnSpc>
                    <a:spcPct val="115000"/>
                  </a:lnSpc>
                  <a:spcBef>
                    <a:spcPts val="0"/>
                  </a:spcBef>
                  <a:buClr>
                    <a:schemeClr val="dk1"/>
                  </a:buClr>
                  <a:buSzPts val="1200"/>
                  <a:buFont typeface="Times New Roman"/>
                  <a:buChar char="●"/>
                </a:pPr>
                <a:endParaRPr lang="en-US" altLang="zh-TW" sz="2000" dirty="0">
                  <a:solidFill>
                    <a:schemeClr val="dk1"/>
                  </a:solidFill>
                  <a:latin typeface="Times New Roman"/>
                  <a:ea typeface="Times New Roman"/>
                  <a:cs typeface="Times New Roman"/>
                  <a:sym typeface="Times New Roman"/>
                </a:endParaRPr>
              </a:p>
            </p:txBody>
          </p:sp>
        </mc:Choice>
        <mc:Fallback xmlns="">
          <p:sp>
            <p:nvSpPr>
              <p:cNvPr id="3" name="Google Shape;287;p35">
                <a:extLst>
                  <a:ext uri="{FF2B5EF4-FFF2-40B4-BE49-F238E27FC236}">
                    <a16:creationId xmlns:a16="http://schemas.microsoft.com/office/drawing/2014/main" id="{829853EC-167E-477B-0D19-E94BEB9533D0}"/>
                  </a:ext>
                </a:extLst>
              </p:cNvPr>
              <p:cNvSpPr txBox="1">
                <a:spLocks noRot="1" noChangeAspect="1" noMove="1" noResize="1" noEditPoints="1" noAdjustHandles="1" noChangeArrowheads="1" noChangeShapeType="1" noTextEdit="1"/>
              </p:cNvSpPr>
              <p:nvPr/>
            </p:nvSpPr>
            <p:spPr>
              <a:xfrm>
                <a:off x="7210410" y="1191872"/>
                <a:ext cx="4708442" cy="4838331"/>
              </a:xfrm>
              <a:prstGeom prst="rect">
                <a:avLst/>
              </a:prstGeom>
              <a:blipFill>
                <a:blip r:embed="rId3"/>
                <a:stretch>
                  <a:fillRect/>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445006EB-1FF6-A664-D481-EAFDF9D6B2DE}"/>
              </a:ext>
            </a:extLst>
          </p:cNvPr>
          <p:cNvPicPr>
            <a:picLocks noChangeAspect="1"/>
          </p:cNvPicPr>
          <p:nvPr/>
        </p:nvPicPr>
        <p:blipFill>
          <a:blip r:embed="rId4"/>
          <a:stretch>
            <a:fillRect/>
          </a:stretch>
        </p:blipFill>
        <p:spPr>
          <a:xfrm>
            <a:off x="398068" y="986405"/>
            <a:ext cx="6930207" cy="5390161"/>
          </a:xfrm>
          <a:prstGeom prst="rect">
            <a:avLst/>
          </a:prstGeom>
        </p:spPr>
      </p:pic>
    </p:spTree>
    <p:extLst>
      <p:ext uri="{BB962C8B-B14F-4D97-AF65-F5344CB8AC3E}">
        <p14:creationId xmlns:p14="http://schemas.microsoft.com/office/powerpoint/2010/main" val="5361494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Shape 267">
          <a:extLst>
            <a:ext uri="{FF2B5EF4-FFF2-40B4-BE49-F238E27FC236}">
              <a16:creationId xmlns:a16="http://schemas.microsoft.com/office/drawing/2014/main" id="{F6F410DD-623F-93B5-2EE4-8E5853852A43}"/>
            </a:ext>
          </a:extLst>
        </p:cNvPr>
        <p:cNvGrpSpPr/>
        <p:nvPr/>
      </p:nvGrpSpPr>
      <p:grpSpPr>
        <a:xfrm>
          <a:off x="0" y="0"/>
          <a:ext cx="0" cy="0"/>
          <a:chOff x="0" y="0"/>
          <a:chExt cx="0" cy="0"/>
        </a:xfrm>
      </p:grpSpPr>
      <p:sp>
        <p:nvSpPr>
          <p:cNvPr id="268" name="Google Shape;268;p33">
            <a:extLst>
              <a:ext uri="{FF2B5EF4-FFF2-40B4-BE49-F238E27FC236}">
                <a16:creationId xmlns:a16="http://schemas.microsoft.com/office/drawing/2014/main" id="{59CA3262-80DB-5FD0-B501-5FDA49F235DD}"/>
              </a:ext>
            </a:extLst>
          </p:cNvPr>
          <p:cNvSpPr txBox="1">
            <a:spLocks noGrp="1"/>
          </p:cNvSpPr>
          <p:nvPr>
            <p:ph type="ctrTitle" idx="4294967295"/>
          </p:nvPr>
        </p:nvSpPr>
        <p:spPr>
          <a:xfrm>
            <a:off x="515933" y="275967"/>
            <a:ext cx="11260400" cy="1056800"/>
          </a:xfrm>
          <a:prstGeom prst="rect">
            <a:avLst/>
          </a:prstGeom>
        </p:spPr>
        <p:txBody>
          <a:bodyPr spcFirstLastPara="1" vert="horz" wrap="square" lIns="121900" tIns="121900" rIns="121900" bIns="121900" rtlCol="0" anchor="t" anchorCtr="0">
            <a:noAutofit/>
          </a:bodyPr>
          <a:lstStyle/>
          <a:p>
            <a:pPr>
              <a:spcBef>
                <a:spcPts val="0"/>
              </a:spcBef>
              <a:buSzPts val="2700"/>
            </a:pPr>
            <a:r>
              <a:rPr lang="zh-TW" sz="4000" dirty="0">
                <a:latin typeface="Times New Roman"/>
                <a:ea typeface="Times New Roman"/>
                <a:cs typeface="Times New Roman"/>
                <a:sym typeface="Times New Roman"/>
              </a:rPr>
              <a:t>Solution – </a:t>
            </a:r>
            <a:r>
              <a:rPr lang="en-US" altLang="zh-TW" sz="4000" dirty="0">
                <a:latin typeface="Times New Roman"/>
                <a:ea typeface="Times New Roman"/>
                <a:cs typeface="Times New Roman"/>
                <a:sym typeface="Times New Roman"/>
              </a:rPr>
              <a:t>GRPO for Engagement Intuition</a:t>
            </a:r>
            <a:r>
              <a:rPr lang="zh-TW" altLang="en-US" sz="4000" dirty="0">
                <a:latin typeface="Times New Roman"/>
                <a:ea typeface="Times New Roman"/>
                <a:cs typeface="Times New Roman"/>
                <a:sym typeface="Times New Roman"/>
              </a:rPr>
              <a:t> </a:t>
            </a:r>
            <a:r>
              <a:rPr lang="en-US" altLang="zh-TW" sz="4000" dirty="0">
                <a:latin typeface="Times New Roman"/>
                <a:ea typeface="Times New Roman"/>
                <a:cs typeface="Times New Roman"/>
                <a:sym typeface="Times New Roman"/>
              </a:rPr>
              <a:t>(2/2)</a:t>
            </a:r>
            <a:endParaRPr sz="4000" dirty="0">
              <a:latin typeface="Times New Roman"/>
              <a:ea typeface="Times New Roman"/>
              <a:cs typeface="Times New Roman"/>
              <a:sym typeface="Times New Roman"/>
            </a:endParaRPr>
          </a:p>
        </p:txBody>
      </p:sp>
      <p:sp>
        <p:nvSpPr>
          <p:cNvPr id="2" name="Google Shape;261;p32">
            <a:extLst>
              <a:ext uri="{FF2B5EF4-FFF2-40B4-BE49-F238E27FC236}">
                <a16:creationId xmlns:a16="http://schemas.microsoft.com/office/drawing/2014/main" id="{3278E0AC-B1EB-51C1-F7D6-2B8395C5E388}"/>
              </a:ext>
            </a:extLst>
          </p:cNvPr>
          <p:cNvSpPr txBox="1">
            <a:spLocks/>
          </p:cNvSpPr>
          <p:nvPr/>
        </p:nvSpPr>
        <p:spPr>
          <a:xfrm>
            <a:off x="349891" y="1226184"/>
            <a:ext cx="11126000" cy="55192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585" indent="-406390">
              <a:spcBef>
                <a:spcPts val="0"/>
              </a:spcBef>
              <a:buClr>
                <a:schemeClr val="dk1"/>
              </a:buClr>
              <a:buSzPts val="1200"/>
              <a:buFont typeface="Times New Roman"/>
              <a:buChar char="●"/>
            </a:pPr>
            <a:endParaRPr lang="en-US" altLang="zh-TW" dirty="0">
              <a:solidFill>
                <a:schemeClr val="dk1"/>
              </a:solidFill>
              <a:latin typeface="Times New Roman"/>
              <a:ea typeface="Times New Roman"/>
              <a:cs typeface="Times New Roman"/>
              <a:sym typeface="Times New Roman"/>
            </a:endParaRPr>
          </a:p>
        </p:txBody>
      </p:sp>
      <p:sp>
        <p:nvSpPr>
          <p:cNvPr id="3" name="Google Shape;287;p35">
            <a:extLst>
              <a:ext uri="{FF2B5EF4-FFF2-40B4-BE49-F238E27FC236}">
                <a16:creationId xmlns:a16="http://schemas.microsoft.com/office/drawing/2014/main" id="{28FBC81D-D2DD-ACEF-ACC7-DF00642E9EF3}"/>
              </a:ext>
            </a:extLst>
          </p:cNvPr>
          <p:cNvSpPr txBox="1">
            <a:spLocks/>
          </p:cNvSpPr>
          <p:nvPr/>
        </p:nvSpPr>
        <p:spPr>
          <a:xfrm>
            <a:off x="3235084" y="1013016"/>
            <a:ext cx="8683768" cy="5369124"/>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9597" indent="0">
              <a:lnSpc>
                <a:spcPct val="115000"/>
              </a:lnSpc>
              <a:spcBef>
                <a:spcPts val="0"/>
              </a:spcBef>
              <a:buClr>
                <a:schemeClr val="dk1"/>
              </a:buClr>
              <a:buSzPts val="1200"/>
              <a:buNone/>
            </a:pPr>
            <a:endParaRPr lang="en-US" altLang="zh-TW" sz="24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After the episode is completed :</a:t>
            </a:r>
          </a:p>
          <a:p>
            <a:pPr marL="975587" lvl="1" indent="-408790">
              <a:lnSpc>
                <a:spcPct val="115000"/>
              </a:lnSpc>
              <a:spcBef>
                <a:spcPts val="0"/>
              </a:spcBef>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We leverage SOTA LLM (e.g. gpt-5) to evaluate commands issue by red team LLM.</a:t>
            </a:r>
          </a:p>
          <a:p>
            <a:pPr marL="975587" lvl="1" indent="-408790">
              <a:lnSpc>
                <a:spcPct val="115000"/>
              </a:lnSpc>
              <a:spcBef>
                <a:spcPts val="0"/>
              </a:spcBef>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For each command step, we force LLM to label </a:t>
            </a:r>
          </a:p>
          <a:p>
            <a:pPr marL="975587" lvl="1" indent="-408790">
              <a:lnSpc>
                <a:spcPct val="115000"/>
              </a:lnSpc>
              <a:spcBef>
                <a:spcPts val="0"/>
              </a:spcBef>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Tactic Level</a:t>
            </a:r>
          </a:p>
          <a:p>
            <a:pPr marL="975587" lvl="1" indent="-408790">
              <a:lnSpc>
                <a:spcPct val="115000"/>
              </a:lnSpc>
              <a:spcBef>
                <a:spcPts val="0"/>
              </a:spcBef>
              <a:buClr>
                <a:schemeClr val="dk1"/>
              </a:buClr>
              <a:buSzPts val="1200"/>
              <a:buFont typeface="Times New Roman"/>
              <a:buChar char="●"/>
            </a:pPr>
            <a:r>
              <a:rPr lang="en-US" altLang="zh-TW" sz="2000" dirty="0">
                <a:solidFill>
                  <a:schemeClr val="dk1"/>
                </a:solidFill>
                <a:latin typeface="Times New Roman"/>
                <a:ea typeface="Times New Roman"/>
                <a:cs typeface="Times New Roman"/>
                <a:sym typeface="Times New Roman"/>
              </a:rPr>
              <a:t>Success or not</a:t>
            </a:r>
          </a:p>
          <a:p>
            <a:pPr marL="518387" indent="-408790">
              <a:lnSpc>
                <a:spcPct val="115000"/>
              </a:lnSpc>
              <a:spcBef>
                <a:spcPts val="0"/>
              </a:spcBef>
              <a:buClr>
                <a:schemeClr val="dk1"/>
              </a:buClr>
              <a:buSzPts val="1200"/>
              <a:buFont typeface="Times New Roman"/>
              <a:buChar char="●"/>
            </a:pPr>
            <a:endParaRPr lang="en-US" altLang="zh-TW" sz="16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Calculate the reward from the labels. </a:t>
            </a:r>
          </a:p>
          <a:p>
            <a:pPr marL="109597" indent="0">
              <a:lnSpc>
                <a:spcPct val="115000"/>
              </a:lnSpc>
              <a:spcBef>
                <a:spcPts val="0"/>
              </a:spcBef>
              <a:buClr>
                <a:schemeClr val="dk1"/>
              </a:buClr>
              <a:buSzPts val="1200"/>
              <a:buNone/>
            </a:pPr>
            <a:endParaRPr lang="en-US" altLang="zh-TW" sz="2400" dirty="0">
              <a:solidFill>
                <a:schemeClr val="dk1"/>
              </a:solidFill>
              <a:latin typeface="Times New Roman"/>
              <a:ea typeface="Times New Roman"/>
              <a:cs typeface="Times New Roman"/>
              <a:sym typeface="Times New Roman"/>
            </a:endParaRPr>
          </a:p>
          <a:p>
            <a:pPr marL="518387" indent="-408790">
              <a:lnSpc>
                <a:spcPct val="115000"/>
              </a:lnSpc>
              <a:spcBef>
                <a:spcPts val="0"/>
              </a:spcBef>
              <a:buClr>
                <a:schemeClr val="dk1"/>
              </a:buClr>
              <a:buSzPts val="1200"/>
              <a:buFont typeface="Times New Roman"/>
              <a:buChar char="●"/>
            </a:pPr>
            <a:r>
              <a:rPr lang="en-US" altLang="zh-TW" sz="2400" dirty="0">
                <a:solidFill>
                  <a:schemeClr val="dk1"/>
                </a:solidFill>
                <a:latin typeface="Times New Roman"/>
                <a:ea typeface="Times New Roman"/>
                <a:cs typeface="Times New Roman"/>
                <a:sym typeface="Times New Roman"/>
              </a:rPr>
              <a:t>Finally, we will use these trajectories to finetune the LLM.</a:t>
            </a:r>
            <a:endParaRPr lang="en-US" altLang="zh-TW" sz="1600" dirty="0">
              <a:solidFill>
                <a:schemeClr val="dk1"/>
              </a:solidFill>
              <a:latin typeface="Times New Roman"/>
              <a:ea typeface="Times New Roman"/>
              <a:cs typeface="Times New Roman"/>
              <a:sym typeface="Times New Roman"/>
            </a:endParaRPr>
          </a:p>
          <a:p>
            <a:pPr marL="975587" lvl="1" indent="-408790">
              <a:lnSpc>
                <a:spcPct val="115000"/>
              </a:lnSpc>
              <a:spcBef>
                <a:spcPts val="0"/>
              </a:spcBef>
              <a:buClr>
                <a:schemeClr val="dk1"/>
              </a:buClr>
              <a:buSzPts val="1200"/>
              <a:buFont typeface="Times New Roman"/>
              <a:buChar char="●"/>
            </a:pPr>
            <a:endParaRPr lang="en-US" altLang="zh-TW" sz="2000" dirty="0">
              <a:solidFill>
                <a:schemeClr val="dk1"/>
              </a:solidFill>
              <a:latin typeface="Times New Roman"/>
              <a:ea typeface="Times New Roman"/>
              <a:cs typeface="Times New Roman"/>
              <a:sym typeface="Times New Roman"/>
            </a:endParaRPr>
          </a:p>
        </p:txBody>
      </p:sp>
      <p:pic>
        <p:nvPicPr>
          <p:cNvPr id="3076" name="Picture 4">
            <a:extLst>
              <a:ext uri="{FF2B5EF4-FFF2-40B4-BE49-F238E27FC236}">
                <a16:creationId xmlns:a16="http://schemas.microsoft.com/office/drawing/2014/main" id="{AB27FC5D-4832-5003-C316-645158734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789" y="1013016"/>
            <a:ext cx="3322834" cy="5492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5770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167D75-C65F-8F9F-ACC1-8C08C015DF4E}"/>
              </a:ext>
            </a:extLst>
          </p:cNvPr>
          <p:cNvSpPr>
            <a:spLocks noGrp="1"/>
          </p:cNvSpPr>
          <p:nvPr>
            <p:ph type="title"/>
          </p:nvPr>
        </p:nvSpPr>
        <p:spPr>
          <a:xfrm>
            <a:off x="152400" y="136525"/>
            <a:ext cx="11684000" cy="434975"/>
          </a:xfrm>
        </p:spPr>
        <p:txBody>
          <a:bodyPr>
            <a:normAutofit fontScale="90000"/>
          </a:bodyPr>
          <a:lstStyle/>
          <a:p>
            <a:r>
              <a:rPr lang="en-US" altLang="zh-TW" dirty="0"/>
              <a:t>Formulas</a:t>
            </a:r>
            <a:endParaRPr lang="zh-TW" altLang="en-US" dirty="0"/>
          </a:p>
        </p:txBody>
      </p:sp>
      <p:sp>
        <p:nvSpPr>
          <p:cNvPr id="4" name="投影片編號版面配置區 3">
            <a:extLst>
              <a:ext uri="{FF2B5EF4-FFF2-40B4-BE49-F238E27FC236}">
                <a16:creationId xmlns:a16="http://schemas.microsoft.com/office/drawing/2014/main" id="{A5AEA300-C51F-18AF-30B2-EB292994EA35}"/>
              </a:ext>
            </a:extLst>
          </p:cNvPr>
          <p:cNvSpPr>
            <a:spLocks noGrp="1"/>
          </p:cNvSpPr>
          <p:nvPr>
            <p:ph type="sldNum" sz="quarter" idx="12"/>
          </p:nvPr>
        </p:nvSpPr>
        <p:spPr/>
        <p:txBody>
          <a:bodyPr/>
          <a:lstStyle/>
          <a:p>
            <a:fld id="{A77C0D7D-0012-4121-A723-8C8932C81B39}" type="slidenum">
              <a:rPr lang="zh-TW" altLang="en-US" smtClean="0"/>
              <a:t>73</a:t>
            </a:fld>
            <a:endParaRPr lang="zh-TW" altLang="en-US"/>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A57AFDFD-FD38-8E74-1056-78F3694BB41F}"/>
                  </a:ext>
                </a:extLst>
              </p:cNvPr>
              <p:cNvSpPr txBox="1"/>
              <p:nvPr/>
            </p:nvSpPr>
            <p:spPr>
              <a:xfrm>
                <a:off x="-533400" y="571500"/>
                <a:ext cx="10515600" cy="994311"/>
              </a:xfrm>
              <a:prstGeom prst="rect">
                <a:avLst/>
              </a:prstGeom>
              <a:noFill/>
            </p:spPr>
            <p:txBody>
              <a:bodyPr wrap="square">
                <a:sp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zh-TW" altLang="en-US" sz="4800" b="0" i="1" smtClean="0">
                          <a:solidFill>
                            <a:schemeClr val="dk1"/>
                          </a:solidFill>
                          <a:latin typeface="Cambria Math" panose="02040503050406030204" pitchFamily="18" charset="0"/>
                          <a:sym typeface="Libertinus Math"/>
                        </a:rPr>
                        <m:t>𝒯</m:t>
                      </m:r>
                      <m:r>
                        <a:rPr lang="zh-TW" altLang="en-US" sz="4800" b="0" i="1" smtClean="0">
                          <a:solidFill>
                            <a:schemeClr val="dk1"/>
                          </a:solidFill>
                          <a:latin typeface="Cambria Math" panose="02040503050406030204" pitchFamily="18" charset="0"/>
                          <a:sym typeface="Libertinus Math"/>
                        </a:rPr>
                        <m:t>=</m:t>
                      </m:r>
                      <m:d>
                        <m:dPr>
                          <m:ctrlPr>
                            <a:rPr lang="zh-TW" altLang="en-US" sz="4800" b="0" i="1" smtClean="0">
                              <a:solidFill>
                                <a:schemeClr val="dk1"/>
                              </a:solidFill>
                              <a:latin typeface="Cambria Math" panose="02040503050406030204" pitchFamily="18" charset="0"/>
                              <a:sym typeface="Libertinus Math"/>
                            </a:rPr>
                          </m:ctrlPr>
                        </m:dPr>
                        <m:e>
                          <m:r>
                            <m:rPr>
                              <m:lit/>
                            </m:rPr>
                            <a:rPr lang="zh-TW" altLang="en-US" sz="4800" b="0" i="1" smtClean="0">
                              <a:solidFill>
                                <a:schemeClr val="dk1"/>
                              </a:solidFill>
                              <a:latin typeface="Cambria Math" panose="02040503050406030204" pitchFamily="18" charset="0"/>
                              <a:sym typeface="Libertinus Math"/>
                            </a:rPr>
                            <m:t>{</m:t>
                          </m:r>
                          <m:d>
                            <m:dPr>
                              <m:ctrlPr>
                                <a:rPr lang="zh-TW" altLang="en-US" sz="4800" b="0" i="1" smtClean="0">
                                  <a:solidFill>
                                    <a:schemeClr val="dk1"/>
                                  </a:solidFill>
                                  <a:latin typeface="Cambria Math" panose="02040503050406030204" pitchFamily="18" charset="0"/>
                                  <a:sym typeface="Libertinus Math"/>
                                </a:rPr>
                              </m:ctrlPr>
                            </m:dPr>
                            <m:e>
                              <m:sSub>
                                <m:sSubPr>
                                  <m:ctrlPr>
                                    <a:rPr lang="zh-TW" altLang="en-US" sz="4800" b="0" i="1" smtClean="0">
                                      <a:solidFill>
                                        <a:schemeClr val="dk1"/>
                                      </a:solidFill>
                                      <a:latin typeface="Cambria Math" panose="02040503050406030204" pitchFamily="18" charset="0"/>
                                      <a:sym typeface="Libertinus Math"/>
                                    </a:rPr>
                                  </m:ctrlPr>
                                </m:sSubPr>
                                <m:e>
                                  <m:r>
                                    <a:rPr lang="zh-TW" altLang="en-US" sz="4800" b="0" i="1" smtClean="0">
                                      <a:solidFill>
                                        <a:schemeClr val="dk1"/>
                                      </a:solidFill>
                                      <a:latin typeface="Cambria Math" panose="02040503050406030204" pitchFamily="18" charset="0"/>
                                      <a:sym typeface="Libertinus Math"/>
                                    </a:rPr>
                                    <m:t>𝐶</m:t>
                                  </m:r>
                                </m:e>
                                <m:sub>
                                  <m:r>
                                    <a:rPr lang="zh-TW" altLang="en-US" sz="4800" b="0" i="1" smtClean="0">
                                      <a:solidFill>
                                        <a:schemeClr val="dk1"/>
                                      </a:solidFill>
                                      <a:latin typeface="Cambria Math" panose="02040503050406030204" pitchFamily="18" charset="0"/>
                                      <a:sym typeface="Libertinus Math"/>
                                    </a:rPr>
                                    <m:t>𝑖</m:t>
                                  </m:r>
                                </m:sub>
                              </m:sSub>
                              <m:r>
                                <a:rPr lang="zh-TW" altLang="en-US" sz="4800" b="0" i="1" smtClean="0">
                                  <a:solidFill>
                                    <a:schemeClr val="dk1"/>
                                  </a:solidFill>
                                  <a:latin typeface="Cambria Math" panose="02040503050406030204" pitchFamily="18" charset="0"/>
                                  <a:sym typeface="Libertinus Math"/>
                                </a:rPr>
                                <m:t>,</m:t>
                              </m:r>
                              <m:sSub>
                                <m:sSubPr>
                                  <m:ctrlPr>
                                    <a:rPr lang="zh-TW" altLang="en-US" sz="4800" b="0" i="1" smtClean="0">
                                      <a:solidFill>
                                        <a:schemeClr val="dk1"/>
                                      </a:solidFill>
                                      <a:latin typeface="Cambria Math" panose="02040503050406030204" pitchFamily="18" charset="0"/>
                                      <a:sym typeface="Libertinus Math"/>
                                    </a:rPr>
                                  </m:ctrlPr>
                                </m:sSubPr>
                                <m:e>
                                  <m:r>
                                    <a:rPr lang="zh-TW" altLang="en-US" sz="4800" b="0" i="1" smtClean="0">
                                      <a:solidFill>
                                        <a:schemeClr val="dk1"/>
                                      </a:solidFill>
                                      <a:latin typeface="Cambria Math" panose="02040503050406030204" pitchFamily="18" charset="0"/>
                                      <a:sym typeface="Libertinus Math"/>
                                    </a:rPr>
                                    <m:t>𝑧</m:t>
                                  </m:r>
                                </m:e>
                                <m:sub>
                                  <m:r>
                                    <a:rPr lang="en-US" altLang="zh-TW" sz="4800" b="0" i="1" smtClean="0">
                                      <a:solidFill>
                                        <a:schemeClr val="dk1"/>
                                      </a:solidFill>
                                      <a:latin typeface="Cambria Math" panose="02040503050406030204" pitchFamily="18" charset="0"/>
                                      <a:sym typeface="Libertinus Math"/>
                                    </a:rPr>
                                    <m:t>𝑖</m:t>
                                  </m:r>
                                </m:sub>
                              </m:sSub>
                              <m:r>
                                <a:rPr lang="en-US" altLang="zh-TW" sz="4800" b="0" i="1" smtClean="0">
                                  <a:solidFill>
                                    <a:schemeClr val="dk1"/>
                                  </a:solidFill>
                                  <a:latin typeface="Cambria Math" panose="02040503050406030204" pitchFamily="18" charset="0"/>
                                  <a:sym typeface="Libertinus Math"/>
                                </a:rPr>
                                <m:t>,</m:t>
                              </m:r>
                              <m:r>
                                <a:rPr lang="zh-TW" altLang="en-US" sz="4800" b="0" i="1" smtClean="0">
                                  <a:solidFill>
                                    <a:schemeClr val="dk1"/>
                                  </a:solidFill>
                                  <a:latin typeface="Cambria Math" panose="02040503050406030204" pitchFamily="18" charset="0"/>
                                  <a:sym typeface="Libertinus Math"/>
                                </a:rPr>
                                <m:t>𝑧</m:t>
                              </m:r>
                              <m:sSub>
                                <m:sSubPr>
                                  <m:ctrlPr>
                                    <a:rPr lang="zh-TW" altLang="en-US" sz="4800" b="0" i="1" smtClean="0">
                                      <a:solidFill>
                                        <a:schemeClr val="dk1"/>
                                      </a:solidFill>
                                      <a:latin typeface="Cambria Math" panose="02040503050406030204" pitchFamily="18" charset="0"/>
                                      <a:sym typeface="Libertinus Math"/>
                                    </a:rPr>
                                  </m:ctrlPr>
                                </m:sSubPr>
                                <m:e>
                                  <m:r>
                                    <a:rPr lang="en-US" altLang="zh-TW" sz="4800" b="0" i="1" smtClean="0">
                                      <a:solidFill>
                                        <a:schemeClr val="dk1"/>
                                      </a:solidFill>
                                      <a:latin typeface="Cambria Math" panose="02040503050406030204" pitchFamily="18" charset="0"/>
                                      <a:sym typeface="Libertinus Math"/>
                                    </a:rPr>
                                    <m:t>̂</m:t>
                                  </m:r>
                                </m:e>
                                <m:sub>
                                  <m:r>
                                    <a:rPr lang="zh-TW" altLang="en-US" sz="4800" b="0" i="1" smtClean="0">
                                      <a:solidFill>
                                        <a:schemeClr val="dk1"/>
                                      </a:solidFill>
                                      <a:latin typeface="Cambria Math" panose="02040503050406030204" pitchFamily="18" charset="0"/>
                                      <a:sym typeface="Libertinus Math"/>
                                    </a:rPr>
                                    <m:t>𝑖</m:t>
                                  </m:r>
                                </m:sub>
                              </m:sSub>
                              <m:r>
                                <a:rPr lang="zh-TW" altLang="en-US" sz="4800" b="0" i="1" smtClean="0">
                                  <a:solidFill>
                                    <a:schemeClr val="dk1"/>
                                  </a:solidFill>
                                  <a:latin typeface="Cambria Math" panose="02040503050406030204" pitchFamily="18" charset="0"/>
                                  <a:sym typeface="Libertinus Math"/>
                                </a:rPr>
                                <m:t>,</m:t>
                              </m:r>
                              <m:sSub>
                                <m:sSubPr>
                                  <m:ctrlPr>
                                    <a:rPr lang="zh-TW" altLang="en-US" sz="4800" b="0" i="1" smtClean="0">
                                      <a:solidFill>
                                        <a:schemeClr val="dk1"/>
                                      </a:solidFill>
                                      <a:latin typeface="Cambria Math" panose="02040503050406030204" pitchFamily="18" charset="0"/>
                                      <a:sym typeface="Libertinus Math"/>
                                    </a:rPr>
                                  </m:ctrlPr>
                                </m:sSubPr>
                                <m:e>
                                  <m:r>
                                    <a:rPr lang="zh-TW" altLang="en-US" sz="4800" b="0" i="1" smtClean="0">
                                      <a:solidFill>
                                        <a:schemeClr val="dk1"/>
                                      </a:solidFill>
                                      <a:latin typeface="Cambria Math" panose="02040503050406030204" pitchFamily="18" charset="0"/>
                                      <a:sym typeface="Libertinus Math"/>
                                    </a:rPr>
                                    <m:t>𝑎</m:t>
                                  </m:r>
                                </m:e>
                                <m:sub>
                                  <m:r>
                                    <a:rPr lang="zh-TW" altLang="en-US" sz="4800" b="0" i="1" smtClean="0">
                                      <a:solidFill>
                                        <a:schemeClr val="dk1"/>
                                      </a:solidFill>
                                      <a:latin typeface="Cambria Math" panose="02040503050406030204" pitchFamily="18" charset="0"/>
                                      <a:sym typeface="Libertinus Math"/>
                                    </a:rPr>
                                    <m:t>𝑖</m:t>
                                  </m:r>
                                </m:sub>
                              </m:sSub>
                              <m:r>
                                <a:rPr lang="zh-TW" altLang="en-US" sz="4800" b="0" i="1" smtClean="0">
                                  <a:solidFill>
                                    <a:schemeClr val="dk1"/>
                                  </a:solidFill>
                                  <a:latin typeface="Cambria Math" panose="02040503050406030204" pitchFamily="18" charset="0"/>
                                  <a:sym typeface="Libertinus Math"/>
                                </a:rPr>
                                <m:t>,</m:t>
                              </m:r>
                              <m:sSub>
                                <m:sSubPr>
                                  <m:ctrlPr>
                                    <a:rPr lang="zh-TW" altLang="en-US" sz="4800" b="0" i="1" smtClean="0">
                                      <a:solidFill>
                                        <a:schemeClr val="dk1"/>
                                      </a:solidFill>
                                      <a:latin typeface="Cambria Math" panose="02040503050406030204" pitchFamily="18" charset="0"/>
                                      <a:sym typeface="Libertinus Math"/>
                                    </a:rPr>
                                  </m:ctrlPr>
                                </m:sSubPr>
                                <m:e>
                                  <m:r>
                                    <a:rPr lang="zh-TW" altLang="en-US" sz="4800" b="0" i="1" smtClean="0">
                                      <a:solidFill>
                                        <a:schemeClr val="dk1"/>
                                      </a:solidFill>
                                      <a:latin typeface="Cambria Math" panose="02040503050406030204" pitchFamily="18" charset="0"/>
                                      <a:sym typeface="Libertinus Math"/>
                                    </a:rPr>
                                    <m:t>𝑅</m:t>
                                  </m:r>
                                </m:e>
                                <m:sub>
                                  <m:r>
                                    <a:rPr lang="zh-TW" altLang="en-US" sz="4800" b="0" i="1" smtClean="0">
                                      <a:solidFill>
                                        <a:schemeClr val="dk1"/>
                                      </a:solidFill>
                                      <a:latin typeface="Cambria Math" panose="02040503050406030204" pitchFamily="18" charset="0"/>
                                      <a:sym typeface="Libertinus Math"/>
                                    </a:rPr>
                                    <m:t>𝑖</m:t>
                                  </m:r>
                                </m:sub>
                              </m:sSub>
                            </m:e>
                          </m:d>
                          <m:sSubSup>
                            <m:sSubSupPr>
                              <m:ctrlPr>
                                <a:rPr lang="zh-TW" altLang="en-US" sz="4800" b="0" i="1" smtClean="0">
                                  <a:solidFill>
                                    <a:schemeClr val="dk1"/>
                                  </a:solidFill>
                                  <a:latin typeface="Cambria Math" panose="02040503050406030204" pitchFamily="18" charset="0"/>
                                  <a:sym typeface="Libertinus Math"/>
                                </a:rPr>
                              </m:ctrlPr>
                            </m:sSubSupPr>
                            <m:e>
                              <m:r>
                                <m:rPr>
                                  <m:lit/>
                                </m:rPr>
                                <a:rPr lang="zh-TW" altLang="en-US" sz="4800" b="0" i="1" smtClean="0">
                                  <a:solidFill>
                                    <a:schemeClr val="dk1"/>
                                  </a:solidFill>
                                  <a:latin typeface="Cambria Math" panose="02040503050406030204" pitchFamily="18" charset="0"/>
                                  <a:sym typeface="Libertinus Math"/>
                                </a:rPr>
                                <m:t>}</m:t>
                              </m:r>
                            </m:e>
                            <m:sub>
                              <m:r>
                                <a:rPr lang="zh-TW" altLang="en-US" sz="4800" b="0" i="1" smtClean="0">
                                  <a:solidFill>
                                    <a:schemeClr val="dk1"/>
                                  </a:solidFill>
                                  <a:latin typeface="Cambria Math" panose="02040503050406030204" pitchFamily="18" charset="0"/>
                                  <a:sym typeface="Libertinus Math"/>
                                </a:rPr>
                                <m:t>𝑖</m:t>
                              </m:r>
                              <m:r>
                                <a:rPr lang="zh-TW" altLang="en-US" sz="4800" b="0" i="1" smtClean="0">
                                  <a:solidFill>
                                    <a:schemeClr val="dk1"/>
                                  </a:solidFill>
                                  <a:latin typeface="Cambria Math" panose="02040503050406030204" pitchFamily="18" charset="0"/>
                                  <a:sym typeface="Libertinus Math"/>
                                </a:rPr>
                                <m:t>=</m:t>
                              </m:r>
                              <m:r>
                                <a:rPr lang="zh-TW" altLang="en-US" sz="4800" b="0" i="1" smtClean="0">
                                  <a:solidFill>
                                    <a:schemeClr val="dk1"/>
                                  </a:solidFill>
                                  <a:latin typeface="Cambria Math" panose="02040503050406030204" pitchFamily="18" charset="0"/>
                                  <a:sym typeface="Libertinus Math"/>
                                </a:rPr>
                                <m:t>1</m:t>
                              </m:r>
                            </m:sub>
                            <m:sup>
                              <m:sSub>
                                <m:sSubPr>
                                  <m:ctrlPr>
                                    <a:rPr lang="zh-TW" altLang="en-US" sz="4800" b="0" i="1" smtClean="0">
                                      <a:solidFill>
                                        <a:schemeClr val="dk1"/>
                                      </a:solidFill>
                                      <a:latin typeface="Cambria Math" panose="02040503050406030204" pitchFamily="18" charset="0"/>
                                      <a:sym typeface="Libertinus Math"/>
                                    </a:rPr>
                                  </m:ctrlPr>
                                </m:sSubPr>
                                <m:e>
                                  <m:r>
                                    <a:rPr lang="zh-TW" altLang="en-US" sz="4800" b="0" i="1" smtClean="0">
                                      <a:solidFill>
                                        <a:schemeClr val="dk1"/>
                                      </a:solidFill>
                                      <a:latin typeface="Cambria Math" panose="02040503050406030204" pitchFamily="18" charset="0"/>
                                      <a:sym typeface="Libertinus Math"/>
                                    </a:rPr>
                                    <m:t>𝑁</m:t>
                                  </m:r>
                                </m:e>
                                <m:sub>
                                  <m:r>
                                    <a:rPr lang="zh-TW" altLang="en-US" sz="4800" b="0" i="1" smtClean="0">
                                      <a:solidFill>
                                        <a:schemeClr val="dk1"/>
                                      </a:solidFill>
                                      <a:latin typeface="Cambria Math" panose="02040503050406030204" pitchFamily="18" charset="0"/>
                                      <a:sym typeface="Libertinus Math"/>
                                    </a:rPr>
                                    <m:t>𝑐</m:t>
                                  </m:r>
                                </m:sub>
                              </m:sSub>
                            </m:sup>
                          </m:sSubSup>
                          <m:r>
                            <a:rPr lang="zh-TW" altLang="en-US" sz="4800" b="0" i="1" smtClean="0">
                              <a:solidFill>
                                <a:schemeClr val="dk1"/>
                              </a:solidFill>
                              <a:latin typeface="Cambria Math" panose="02040503050406030204" pitchFamily="18" charset="0"/>
                              <a:sym typeface="Libertinus Math"/>
                            </a:rPr>
                            <m:t>,</m:t>
                          </m:r>
                          <m:sSub>
                            <m:sSubPr>
                              <m:ctrlPr>
                                <a:rPr lang="zh-TW" altLang="en-US" sz="4800" b="0" i="1" smtClean="0">
                                  <a:solidFill>
                                    <a:schemeClr val="dk1"/>
                                  </a:solidFill>
                                  <a:latin typeface="Cambria Math" panose="02040503050406030204" pitchFamily="18" charset="0"/>
                                  <a:sym typeface="Libertinus Math"/>
                                </a:rPr>
                              </m:ctrlPr>
                            </m:sSubPr>
                            <m:e>
                              <m:r>
                                <a:rPr lang="zh-TW" altLang="en-US" sz="4800" b="0" i="1" smtClean="0">
                                  <a:solidFill>
                                    <a:schemeClr val="dk1"/>
                                  </a:solidFill>
                                  <a:latin typeface="Cambria Math" panose="02040503050406030204" pitchFamily="18" charset="0"/>
                                  <a:sym typeface="Libertinus Math"/>
                                </a:rPr>
                                <m:t>𝑅</m:t>
                              </m:r>
                            </m:e>
                            <m:sub>
                              <m:r>
                                <m:rPr>
                                  <m:nor/>
                                </m:rPr>
                                <a:rPr lang="zh-TW" altLang="en-US" sz="4800" b="0" i="0" smtClean="0">
                                  <a:solidFill>
                                    <a:schemeClr val="dk1"/>
                                  </a:solidFill>
                                  <a:latin typeface="Cambria Math" panose="02040503050406030204" pitchFamily="18" charset="0"/>
                                  <a:sym typeface="Libertinus Math"/>
                                </a:rPr>
                                <m:t>env</m:t>
                              </m:r>
                            </m:sub>
                          </m:sSub>
                        </m:e>
                      </m:d>
                    </m:oMath>
                  </m:oMathPara>
                </a14:m>
                <a:endParaRPr lang="en-US" altLang="zh-TW" sz="4800" dirty="0">
                  <a:solidFill>
                    <a:schemeClr val="dk1"/>
                  </a:solidFill>
                  <a:latin typeface="Libertinus Math"/>
                  <a:ea typeface="Libertinus Math"/>
                  <a:cs typeface="Libertinus Math"/>
                  <a:sym typeface="Libertinus Math"/>
                </a:endParaRPr>
              </a:p>
            </p:txBody>
          </p:sp>
        </mc:Choice>
        <mc:Fallback xmlns="">
          <p:sp>
            <p:nvSpPr>
              <p:cNvPr id="5" name="文字方塊 4">
                <a:extLst>
                  <a:ext uri="{FF2B5EF4-FFF2-40B4-BE49-F238E27FC236}">
                    <a16:creationId xmlns:a16="http://schemas.microsoft.com/office/drawing/2014/main" id="{A57AFDFD-FD38-8E74-1056-78F3694BB41F}"/>
                  </a:ext>
                </a:extLst>
              </p:cNvPr>
              <p:cNvSpPr txBox="1">
                <a:spLocks noRot="1" noChangeAspect="1" noMove="1" noResize="1" noEditPoints="1" noAdjustHandles="1" noChangeArrowheads="1" noChangeShapeType="1" noTextEdit="1"/>
              </p:cNvSpPr>
              <p:nvPr/>
            </p:nvSpPr>
            <p:spPr>
              <a:xfrm>
                <a:off x="-533400" y="571500"/>
                <a:ext cx="10515600" cy="994311"/>
              </a:xfrm>
              <a:prstGeom prst="rect">
                <a:avLst/>
              </a:prstGeom>
              <a:blipFill>
                <a:blip r:embed="rId2"/>
                <a:stretch>
                  <a:fillRect/>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F2FF37E3-2E4F-CAB4-6928-9D6DBA895A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70686"/>
            <a:ext cx="6833140" cy="1332055"/>
          </a:xfrm>
          <a:prstGeom prst="rect">
            <a:avLst/>
          </a:prstGeom>
        </p:spPr>
      </p:pic>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3132E388-42F7-621B-7B68-EDE4457DDB30}"/>
                  </a:ext>
                </a:extLst>
              </p:cNvPr>
              <p:cNvSpPr txBox="1"/>
              <p:nvPr/>
            </p:nvSpPr>
            <p:spPr>
              <a:xfrm>
                <a:off x="-372035" y="2702741"/>
                <a:ext cx="10515600" cy="830997"/>
              </a:xfrm>
              <a:prstGeom prst="rect">
                <a:avLst/>
              </a:prstGeom>
              <a:noFill/>
            </p:spPr>
            <p:txBody>
              <a:bodyPr wrap="square">
                <a:sp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TW" sz="4800" i="1" smtClean="0">
                          <a:solidFill>
                            <a:schemeClr val="dk1"/>
                          </a:solidFill>
                          <a:latin typeface="Cambria Math" panose="02040503050406030204" pitchFamily="18" charset="0"/>
                          <a:ea typeface="Libertinus Math"/>
                          <a:cs typeface="Libertinus Math"/>
                          <a:sym typeface="Libertinus Math"/>
                        </a:rPr>
                        <m:t>𝑁</m:t>
                      </m:r>
                      <m:r>
                        <a:rPr lang="en-US" altLang="zh-TW" sz="4800" b="0" i="0" smtClean="0">
                          <a:solidFill>
                            <a:schemeClr val="dk1"/>
                          </a:solidFill>
                          <a:latin typeface="Cambria Math" panose="02040503050406030204" pitchFamily="18" charset="0"/>
                          <a:ea typeface="Libertinus Math"/>
                          <a:cs typeface="Libertinus Math"/>
                          <a:sym typeface="Libertinus Math"/>
                        </a:rPr>
                        <m:t>𝑜𝑟𝑚</m:t>
                      </m:r>
                      <m:d>
                        <m:dPr>
                          <m:ctrlPr>
                            <a:rPr lang="en-US" altLang="zh-TW" sz="4800" b="0" i="1" smtClean="0">
                              <a:solidFill>
                                <a:schemeClr val="dk1"/>
                              </a:solidFill>
                              <a:latin typeface="Cambria Math" panose="02040503050406030204" pitchFamily="18" charset="0"/>
                              <a:ea typeface="Libertinus Math"/>
                              <a:cs typeface="Libertinus Math"/>
                              <a:sym typeface="Libertinus Math"/>
                            </a:rPr>
                          </m:ctrlPr>
                        </m:dPr>
                        <m:e>
                          <m:r>
                            <a:rPr lang="en-US" altLang="zh-TW" sz="4800" b="0" i="1" smtClean="0">
                              <a:solidFill>
                                <a:schemeClr val="dk1"/>
                              </a:solidFill>
                              <a:latin typeface="Cambria Math" panose="02040503050406030204" pitchFamily="18" charset="0"/>
                              <a:ea typeface="Libertinus Math"/>
                              <a:cs typeface="Libertinus Math"/>
                              <a:sym typeface="Libertinus Math"/>
                            </a:rPr>
                            <m:t>⋅</m:t>
                          </m:r>
                        </m:e>
                      </m:d>
                      <m:r>
                        <a:rPr lang="en-US" altLang="zh-TW" sz="4800" b="0" i="1" smtClean="0">
                          <a:solidFill>
                            <a:schemeClr val="dk1"/>
                          </a:solidFill>
                          <a:latin typeface="Cambria Math" panose="02040503050406030204" pitchFamily="18" charset="0"/>
                          <a:ea typeface="Libertinus Math"/>
                          <a:cs typeface="Libertinus Math"/>
                          <a:sym typeface="Libertinus Math"/>
                        </a:rPr>
                        <m:t>=</m:t>
                      </m:r>
                      <m:r>
                        <a:rPr lang="en-US" altLang="zh-TW" sz="4800" b="0" i="1" smtClean="0">
                          <a:solidFill>
                            <a:schemeClr val="dk1"/>
                          </a:solidFill>
                          <a:latin typeface="Cambria Math" panose="02040503050406030204" pitchFamily="18" charset="0"/>
                          <a:ea typeface="Libertinus Math"/>
                          <a:cs typeface="Libertinus Math"/>
                          <a:sym typeface="Libertinus Math"/>
                        </a:rPr>
                        <m:t>𝑚𝑖𝑛</m:t>
                      </m:r>
                      <m:d>
                        <m:dPr>
                          <m:ctrlPr>
                            <a:rPr lang="en-US" altLang="zh-TW" sz="4800" b="0" i="1" smtClean="0">
                              <a:solidFill>
                                <a:schemeClr val="dk1"/>
                              </a:solidFill>
                              <a:latin typeface="Cambria Math" panose="02040503050406030204" pitchFamily="18" charset="0"/>
                              <a:ea typeface="Libertinus Math"/>
                              <a:cs typeface="Libertinus Math"/>
                              <a:sym typeface="Libertinus Math"/>
                            </a:rPr>
                          </m:ctrlPr>
                        </m:dPr>
                        <m:e>
                          <m:r>
                            <a:rPr lang="en-US" altLang="zh-TW" sz="4800" b="0" i="1" smtClean="0">
                              <a:solidFill>
                                <a:schemeClr val="dk1"/>
                              </a:solidFill>
                              <a:latin typeface="Cambria Math" panose="02040503050406030204" pitchFamily="18" charset="0"/>
                              <a:ea typeface="Libertinus Math"/>
                              <a:cs typeface="Libertinus Math"/>
                              <a:sym typeface="Libertinus Math"/>
                            </a:rPr>
                            <m:t>1</m:t>
                          </m:r>
                          <m:r>
                            <a:rPr lang="en-US" altLang="zh-TW" sz="4800" b="0" i="1" smtClean="0">
                              <a:solidFill>
                                <a:schemeClr val="dk1"/>
                              </a:solidFill>
                              <a:latin typeface="Cambria Math" panose="02040503050406030204" pitchFamily="18" charset="0"/>
                              <a:ea typeface="Libertinus Math"/>
                              <a:cs typeface="Libertinus Math"/>
                              <a:sym typeface="Libertinus Math"/>
                            </a:rPr>
                            <m:t>,</m:t>
                          </m:r>
                          <m:r>
                            <a:rPr lang="en-US" altLang="zh-TW" sz="4800" b="0" i="1" smtClean="0">
                              <a:solidFill>
                                <a:schemeClr val="dk1"/>
                              </a:solidFill>
                              <a:latin typeface="Cambria Math" panose="02040503050406030204" pitchFamily="18" charset="0"/>
                              <a:ea typeface="Libertinus Math"/>
                              <a:cs typeface="Libertinus Math"/>
                              <a:sym typeface="Libertinus Math"/>
                            </a:rPr>
                            <m:t>𝑐</m:t>
                          </m:r>
                          <m:r>
                            <a:rPr lang="en-US" altLang="zh-TW" sz="4800" b="0" i="1" smtClean="0">
                              <a:solidFill>
                                <a:schemeClr val="dk1"/>
                              </a:solidFill>
                              <a:latin typeface="Cambria Math" panose="02040503050406030204" pitchFamily="18" charset="0"/>
                              <a:ea typeface="Libertinus Math"/>
                              <a:cs typeface="Libertinus Math"/>
                              <a:sym typeface="Libertinus Math"/>
                            </a:rPr>
                            <m:t>/</m:t>
                          </m:r>
                          <m:sSub>
                            <m:sSubPr>
                              <m:ctrlPr>
                                <a:rPr lang="en-US" altLang="zh-TW" sz="4800" b="0" i="1" smtClean="0">
                                  <a:solidFill>
                                    <a:schemeClr val="dk1"/>
                                  </a:solidFill>
                                  <a:latin typeface="Cambria Math" panose="02040503050406030204" pitchFamily="18" charset="0"/>
                                  <a:ea typeface="Libertinus Math"/>
                                  <a:cs typeface="Libertinus Math"/>
                                  <a:sym typeface="Libertinus Math"/>
                                </a:rPr>
                              </m:ctrlPr>
                            </m:sSubPr>
                            <m:e>
                              <m:r>
                                <a:rPr lang="en-US" altLang="zh-TW" sz="4800" b="0" i="1" smtClean="0">
                                  <a:solidFill>
                                    <a:schemeClr val="dk1"/>
                                  </a:solidFill>
                                  <a:latin typeface="Cambria Math" panose="02040503050406030204" pitchFamily="18" charset="0"/>
                                  <a:ea typeface="Libertinus Math"/>
                                  <a:cs typeface="Libertinus Math"/>
                                  <a:sym typeface="Libertinus Math"/>
                                </a:rPr>
                                <m:t>𝑐</m:t>
                              </m:r>
                            </m:e>
                            <m:sub>
                              <m:r>
                                <a:rPr lang="en-US" altLang="zh-TW" sz="4800" b="0" i="1" smtClean="0">
                                  <a:solidFill>
                                    <a:schemeClr val="dk1"/>
                                  </a:solidFill>
                                  <a:latin typeface="Cambria Math" panose="02040503050406030204" pitchFamily="18" charset="0"/>
                                  <a:ea typeface="Libertinus Math"/>
                                  <a:cs typeface="Libertinus Math"/>
                                  <a:sym typeface="Libertinus Math"/>
                                </a:rPr>
                                <m:t>𝑚𝑎𝑥</m:t>
                              </m:r>
                            </m:sub>
                          </m:sSub>
                        </m:e>
                      </m:d>
                    </m:oMath>
                  </m:oMathPara>
                </a14:m>
                <a:endParaRPr lang="en-US" altLang="zh-TW" sz="4800" dirty="0">
                  <a:solidFill>
                    <a:schemeClr val="dk1"/>
                  </a:solidFill>
                  <a:latin typeface="Libertinus Math"/>
                  <a:ea typeface="Libertinus Math"/>
                  <a:cs typeface="Libertinus Math"/>
                  <a:sym typeface="Libertinus Math"/>
                </a:endParaRPr>
              </a:p>
            </p:txBody>
          </p:sp>
        </mc:Choice>
        <mc:Fallback xmlns="">
          <p:sp>
            <p:nvSpPr>
              <p:cNvPr id="3" name="文字方塊 2">
                <a:extLst>
                  <a:ext uri="{FF2B5EF4-FFF2-40B4-BE49-F238E27FC236}">
                    <a16:creationId xmlns:a16="http://schemas.microsoft.com/office/drawing/2014/main" id="{3132E388-42F7-621B-7B68-EDE4457DDB30}"/>
                  </a:ext>
                </a:extLst>
              </p:cNvPr>
              <p:cNvSpPr txBox="1">
                <a:spLocks noRot="1" noChangeAspect="1" noMove="1" noResize="1" noEditPoints="1" noAdjustHandles="1" noChangeArrowheads="1" noChangeShapeType="1" noTextEdit="1"/>
              </p:cNvSpPr>
              <p:nvPr/>
            </p:nvSpPr>
            <p:spPr>
              <a:xfrm>
                <a:off x="-372035" y="2702741"/>
                <a:ext cx="10515600" cy="830997"/>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674087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97D2AE-90E2-AC4F-0713-A87587EC7E51}"/>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F4992CF5-96A4-ACEA-8FF2-CC513887E1B5}"/>
              </a:ext>
            </a:extLst>
          </p:cNvPr>
          <p:cNvPicPr>
            <a:picLocks noChangeAspect="1"/>
          </p:cNvPicPr>
          <p:nvPr/>
        </p:nvPicPr>
        <p:blipFill>
          <a:blip r:embed="rId3"/>
          <a:stretch>
            <a:fillRect/>
          </a:stretch>
        </p:blipFill>
        <p:spPr>
          <a:xfrm>
            <a:off x="581295" y="836787"/>
            <a:ext cx="6016168" cy="5858616"/>
          </a:xfrm>
          <a:prstGeom prst="rect">
            <a:avLst/>
          </a:prstGeom>
        </p:spPr>
      </p:pic>
      <p:sp>
        <p:nvSpPr>
          <p:cNvPr id="2" name="標題 1">
            <a:extLst>
              <a:ext uri="{FF2B5EF4-FFF2-40B4-BE49-F238E27FC236}">
                <a16:creationId xmlns:a16="http://schemas.microsoft.com/office/drawing/2014/main" id="{E0A4EEBC-6521-218B-88E1-866805E2E11F}"/>
              </a:ext>
            </a:extLst>
          </p:cNvPr>
          <p:cNvSpPr>
            <a:spLocks noGrp="1"/>
          </p:cNvSpPr>
          <p:nvPr>
            <p:ph type="title"/>
          </p:nvPr>
        </p:nvSpPr>
        <p:spPr>
          <a:xfrm>
            <a:off x="415600" y="288567"/>
            <a:ext cx="11360800" cy="763600"/>
          </a:xfrm>
        </p:spPr>
        <p:txBody>
          <a:bodyPr>
            <a:noAutofit/>
          </a:bodyPr>
          <a:lstStyle/>
          <a:p>
            <a:r>
              <a:rPr lang="en-US" altLang="zh-TW" sz="3600" dirty="0">
                <a:latin typeface="Times New Roman" panose="02020603050405020304" pitchFamily="18" charset="0"/>
                <a:cs typeface="Times New Roman" panose="02020603050405020304" pitchFamily="18" charset="0"/>
              </a:rPr>
              <a:t>Experiment Result : Intent-Strategy Relevance Probing (5/7)</a:t>
            </a:r>
            <a:endParaRPr lang="zh-TW" altLang="en-US" sz="36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9939AFB-12EE-C1D6-1EA0-69BC2DBC428A}"/>
              </a:ext>
            </a:extLst>
          </p:cNvPr>
          <p:cNvSpPr>
            <a:spLocks noGrp="1"/>
          </p:cNvSpPr>
          <p:nvPr>
            <p:ph type="sldNum" idx="12"/>
          </p:nvPr>
        </p:nvSpPr>
        <p:spPr/>
        <p:txBody>
          <a:bodyPr/>
          <a:lstStyle/>
          <a:p>
            <a:fld id="{00000000-1234-1234-1234-123412341234}" type="slidenum">
              <a:rPr lang="en-US" altLang="zh-TW" smtClean="0"/>
              <a:pPr/>
              <a:t>74</a:t>
            </a:fld>
            <a:endParaRPr lang="zh-TW" altLang="en-US" dirty="0"/>
          </a:p>
        </p:txBody>
      </p:sp>
      <p:sp>
        <p:nvSpPr>
          <p:cNvPr id="9" name="文字版面配置區 2">
            <a:extLst>
              <a:ext uri="{FF2B5EF4-FFF2-40B4-BE49-F238E27FC236}">
                <a16:creationId xmlns:a16="http://schemas.microsoft.com/office/drawing/2014/main" id="{1E6BBDF1-0FF5-9B1B-A758-B80515323F72}"/>
              </a:ext>
            </a:extLst>
          </p:cNvPr>
          <p:cNvSpPr>
            <a:spLocks noGrp="1"/>
          </p:cNvSpPr>
          <p:nvPr>
            <p:ph type="body" idx="1"/>
          </p:nvPr>
        </p:nvSpPr>
        <p:spPr>
          <a:xfrm>
            <a:off x="7503936" y="1066837"/>
            <a:ext cx="4597009" cy="5474654"/>
          </a:xfrm>
        </p:spPr>
        <p:txBody>
          <a:bodyPr>
            <a:normAutofit/>
          </a:bodyPr>
          <a:lstStyle/>
          <a:p>
            <a:pPr marL="0" indent="0">
              <a:buNone/>
            </a:pPr>
            <a:r>
              <a:rPr lang="en-US" altLang="zh-TW" sz="1800" dirty="0">
                <a:latin typeface="Times New Roman" panose="02020603050405020304" pitchFamily="18" charset="0"/>
                <a:cs typeface="Times New Roman" panose="02020603050405020304" pitchFamily="18" charset="0"/>
              </a:rPr>
              <a:t>Description:</a:t>
            </a: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Score</a:t>
            </a:r>
          </a:p>
          <a:p>
            <a:pPr marL="285750" indent="-285750">
              <a:buFont typeface="Wingdings" panose="05000000000000000000" pitchFamily="2" charset="2"/>
              <a:buChar char=""/>
            </a:pPr>
            <a:endParaRPr lang="en-US" altLang="zh-TW" sz="1800" dirty="0">
              <a:latin typeface="Times New Roman" panose="02020603050405020304" pitchFamily="18" charset="0"/>
              <a:cs typeface="Times New Roman" panose="02020603050405020304" pitchFamily="18" charset="0"/>
            </a:endParaRPr>
          </a:p>
          <a:p>
            <a:pPr marL="0" indent="0">
              <a:buNone/>
            </a:pPr>
            <a:r>
              <a:rPr lang="en-US" altLang="zh-TW" sz="1800" dirty="0">
                <a:latin typeface="Times New Roman" panose="02020603050405020304" pitchFamily="18" charset="0"/>
                <a:cs typeface="Times New Roman" panose="02020603050405020304" pitchFamily="18" charset="0"/>
              </a:rPr>
              <a:t>Discussion:</a:t>
            </a: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Confirms</a:t>
            </a:r>
          </a:p>
        </p:txBody>
      </p:sp>
      <p:sp>
        <p:nvSpPr>
          <p:cNvPr id="6" name="文字方塊 5">
            <a:extLst>
              <a:ext uri="{FF2B5EF4-FFF2-40B4-BE49-F238E27FC236}">
                <a16:creationId xmlns:a16="http://schemas.microsoft.com/office/drawing/2014/main" id="{01A7A600-94FF-4A14-2DB0-DAF0B1A7DBE9}"/>
              </a:ext>
            </a:extLst>
          </p:cNvPr>
          <p:cNvSpPr txBox="1"/>
          <p:nvPr/>
        </p:nvSpPr>
        <p:spPr>
          <a:xfrm>
            <a:off x="6096000" y="6480023"/>
            <a:ext cx="763351" cy="307777"/>
          </a:xfrm>
          <a:prstGeom prst="rect">
            <a:avLst/>
          </a:prstGeom>
          <a:noFill/>
        </p:spPr>
        <p:txBody>
          <a:bodyPr wrap="none" rtlCol="0">
            <a:spAutoFit/>
          </a:bodyPr>
          <a:lstStyle/>
          <a:p>
            <a:r>
              <a:rPr lang="en-US" altLang="zh-TW" sz="1400" dirty="0">
                <a:latin typeface="Times New Roman" panose="02020603050405020304" pitchFamily="18" charset="0"/>
                <a:cs typeface="Times New Roman" panose="02020603050405020304" pitchFamily="18" charset="0"/>
              </a:rPr>
              <a:t>Qwen-3</a:t>
            </a:r>
            <a:endParaRPr lang="zh-TW"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6478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9C8536-E1A7-448A-ACBB-8117533C646B}"/>
            </a:ext>
          </a:extLst>
        </p:cNvPr>
        <p:cNvGrpSpPr/>
        <p:nvPr/>
      </p:nvGrpSpPr>
      <p:grpSpPr>
        <a:xfrm>
          <a:off x="0" y="0"/>
          <a:ext cx="0" cy="0"/>
          <a:chOff x="0" y="0"/>
          <a:chExt cx="0" cy="0"/>
        </a:xfrm>
      </p:grpSpPr>
      <p:pic>
        <p:nvPicPr>
          <p:cNvPr id="40" name="圖片 39">
            <a:extLst>
              <a:ext uri="{FF2B5EF4-FFF2-40B4-BE49-F238E27FC236}">
                <a16:creationId xmlns:a16="http://schemas.microsoft.com/office/drawing/2014/main" id="{D9795B7C-2039-F39F-BFFE-D78969E9EC62}"/>
              </a:ext>
            </a:extLst>
          </p:cNvPr>
          <p:cNvPicPr>
            <a:picLocks noChangeAspect="1"/>
          </p:cNvPicPr>
          <p:nvPr/>
        </p:nvPicPr>
        <p:blipFill>
          <a:blip r:embed="rId3"/>
          <a:stretch>
            <a:fillRect/>
          </a:stretch>
        </p:blipFill>
        <p:spPr>
          <a:xfrm>
            <a:off x="752" y="1408124"/>
            <a:ext cx="7772400" cy="5081658"/>
          </a:xfrm>
          <a:prstGeom prst="rect">
            <a:avLst/>
          </a:prstGeom>
        </p:spPr>
      </p:pic>
      <p:pic>
        <p:nvPicPr>
          <p:cNvPr id="38" name="圖片 37">
            <a:extLst>
              <a:ext uri="{FF2B5EF4-FFF2-40B4-BE49-F238E27FC236}">
                <a16:creationId xmlns:a16="http://schemas.microsoft.com/office/drawing/2014/main" id="{7E305173-272A-CE05-3D66-DA42E97C6F09}"/>
              </a:ext>
            </a:extLst>
          </p:cNvPr>
          <p:cNvPicPr>
            <a:picLocks noChangeAspect="1"/>
          </p:cNvPicPr>
          <p:nvPr/>
        </p:nvPicPr>
        <p:blipFill>
          <a:blip r:embed="rId4"/>
          <a:stretch>
            <a:fillRect/>
          </a:stretch>
        </p:blipFill>
        <p:spPr>
          <a:xfrm>
            <a:off x="2257" y="1437650"/>
            <a:ext cx="7770895" cy="5080674"/>
          </a:xfrm>
          <a:prstGeom prst="rect">
            <a:avLst/>
          </a:prstGeom>
        </p:spPr>
      </p:pic>
      <p:sp>
        <p:nvSpPr>
          <p:cNvPr id="2" name="標題 1">
            <a:extLst>
              <a:ext uri="{FF2B5EF4-FFF2-40B4-BE49-F238E27FC236}">
                <a16:creationId xmlns:a16="http://schemas.microsoft.com/office/drawing/2014/main" id="{3253A977-C562-D5D5-6098-9214507C1E7E}"/>
              </a:ext>
            </a:extLst>
          </p:cNvPr>
          <p:cNvSpPr>
            <a:spLocks noGrp="1"/>
          </p:cNvSpPr>
          <p:nvPr>
            <p:ph type="title"/>
          </p:nvPr>
        </p:nvSpPr>
        <p:spPr>
          <a:xfrm>
            <a:off x="415600" y="288567"/>
            <a:ext cx="11360800" cy="763600"/>
          </a:xfrm>
        </p:spPr>
        <p:txBody>
          <a:bodyPr>
            <a:noAutofit/>
          </a:bodyPr>
          <a:lstStyle/>
          <a:p>
            <a:r>
              <a:rPr lang="en-US" altLang="zh-TW" sz="3600" dirty="0">
                <a:latin typeface="Times New Roman" panose="02020603050405020304" pitchFamily="18" charset="0"/>
                <a:cs typeface="Times New Roman" panose="02020603050405020304" pitchFamily="18" charset="0"/>
              </a:rPr>
              <a:t>Experiment Result : Intent-Strategy Relevance Probing (2/2)</a:t>
            </a:r>
            <a:br>
              <a:rPr lang="en-US" altLang="zh-TW" sz="36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Intent contribution percentage - 36% to 53%</a:t>
            </a:r>
            <a:endParaRPr lang="zh-TW" altLang="en-US" sz="36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DE2EDFFD-4DD5-2765-6153-4485A5A82FBB}"/>
              </a:ext>
            </a:extLst>
          </p:cNvPr>
          <p:cNvSpPr>
            <a:spLocks noGrp="1"/>
          </p:cNvSpPr>
          <p:nvPr>
            <p:ph type="sldNum" idx="12"/>
          </p:nvPr>
        </p:nvSpPr>
        <p:spPr/>
        <p:txBody>
          <a:bodyPr/>
          <a:lstStyle/>
          <a:p>
            <a:fld id="{00000000-1234-1234-1234-123412341234}" type="slidenum">
              <a:rPr lang="en-US" altLang="zh-TW" smtClean="0"/>
              <a:pPr/>
              <a:t>75</a:t>
            </a:fld>
            <a:endParaRPr lang="zh-TW" altLang="en-US" dirty="0"/>
          </a:p>
        </p:txBody>
      </p:sp>
      <p:sp>
        <p:nvSpPr>
          <p:cNvPr id="9" name="文字版面配置區 2">
            <a:extLst>
              <a:ext uri="{FF2B5EF4-FFF2-40B4-BE49-F238E27FC236}">
                <a16:creationId xmlns:a16="http://schemas.microsoft.com/office/drawing/2014/main" id="{BF105C89-7BD2-72C1-5356-68309AF7C94E}"/>
              </a:ext>
            </a:extLst>
          </p:cNvPr>
          <p:cNvSpPr>
            <a:spLocks noGrp="1"/>
          </p:cNvSpPr>
          <p:nvPr>
            <p:ph type="body" idx="1"/>
          </p:nvPr>
        </p:nvSpPr>
        <p:spPr>
          <a:xfrm>
            <a:off x="7742062" y="953311"/>
            <a:ext cx="4343300" cy="5789112"/>
          </a:xfrm>
        </p:spPr>
        <p:txBody>
          <a:bodyPr>
            <a:normAutofit/>
          </a:bodyPr>
          <a:lstStyle/>
          <a:p>
            <a:pPr marL="0" indent="0">
              <a:buNone/>
            </a:pPr>
            <a:r>
              <a:rPr lang="en-US" altLang="zh-TW" sz="1800" dirty="0">
                <a:latin typeface="Times New Roman" panose="02020603050405020304" pitchFamily="18" charset="0"/>
                <a:cs typeface="Times New Roman" panose="02020603050405020304" pitchFamily="18" charset="0"/>
              </a:rPr>
              <a:t>Description:</a:t>
            </a:r>
          </a:p>
          <a:p>
            <a:pPr marL="0" indent="0">
              <a:buNone/>
            </a:pPr>
            <a:r>
              <a:rPr lang="en-US" altLang="zh-TW" sz="1800" dirty="0">
                <a:latin typeface="Times New Roman" panose="02020603050405020304" pitchFamily="18" charset="0"/>
                <a:cs typeface="Times New Roman" panose="02020603050405020304" pitchFamily="18" charset="0"/>
              </a:rPr>
              <a:t>Assess how inferred intent and command sequences each contribute to truth intent and strategy relevance. </a:t>
            </a:r>
          </a:p>
          <a:p>
            <a:pPr marL="0" indent="0">
              <a:buNone/>
            </a:pPr>
            <a:endParaRPr lang="en-US" altLang="zh-TW"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M0: Baseline</a:t>
            </a: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M1: Skip inferring intent with commands</a:t>
            </a: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M2: No commands but provided baseline Intent.</a:t>
            </a:r>
          </a:p>
          <a:p>
            <a:pPr marL="0" indent="0">
              <a:buNone/>
            </a:pPr>
            <a:endParaRPr lang="en-US" altLang="zh-TW" sz="1800" dirty="0">
              <a:latin typeface="Times New Roman" panose="02020603050405020304" pitchFamily="18" charset="0"/>
              <a:cs typeface="Times New Roman" panose="02020603050405020304" pitchFamily="18" charset="0"/>
            </a:endParaRPr>
          </a:p>
          <a:p>
            <a:pPr marL="0" indent="0">
              <a:buNone/>
            </a:pPr>
            <a:r>
              <a:rPr lang="en-US" altLang="zh-TW" sz="1800" dirty="0">
                <a:latin typeface="Times New Roman" panose="02020603050405020304" pitchFamily="18" charset="0"/>
                <a:cs typeface="Times New Roman" panose="02020603050405020304" pitchFamily="18" charset="0"/>
              </a:rPr>
              <a:t>Discussion:</a:t>
            </a: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Combined commands and inferred intent is still the best configuration.</a:t>
            </a:r>
          </a:p>
          <a:p>
            <a:pPr marL="285750" indent="-285750">
              <a:buFont typeface="Wingdings" panose="05000000000000000000" pitchFamily="2" charset="2"/>
              <a:buChar char=""/>
            </a:pPr>
            <a:endParaRPr lang="en-US" altLang="zh-TW"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Lack of intent has a greater impact than the lack of commands.</a:t>
            </a:r>
          </a:p>
          <a:p>
            <a:pPr marL="285750" indent="-285750">
              <a:buFont typeface="Wingdings" panose="05000000000000000000" pitchFamily="2" charset="2"/>
              <a:buChar char=""/>
            </a:pPr>
            <a:endParaRPr lang="en-US" altLang="zh-TW"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After training, our model can inference more relevance strategy with intent-only. </a:t>
            </a:r>
          </a:p>
          <a:p>
            <a:pPr marL="0" indent="0">
              <a:buNone/>
            </a:pPr>
            <a:endParaRPr lang="en-US" altLang="zh-TW"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0540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0B5391-9528-34E3-2314-A48327D445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8FBD945-F7BF-711D-B24F-8D3DFAB6196B}"/>
              </a:ext>
            </a:extLst>
          </p:cNvPr>
          <p:cNvSpPr>
            <a:spLocks noGrp="1"/>
          </p:cNvSpPr>
          <p:nvPr>
            <p:ph type="title"/>
          </p:nvPr>
        </p:nvSpPr>
        <p:spPr>
          <a:xfrm>
            <a:off x="415600" y="288567"/>
            <a:ext cx="11360800" cy="763600"/>
          </a:xfrm>
        </p:spPr>
        <p:txBody>
          <a:bodyPr>
            <a:noAutofit/>
          </a:bodyPr>
          <a:lstStyle/>
          <a:p>
            <a:r>
              <a:rPr lang="en-US" altLang="zh-TW" sz="3600" dirty="0">
                <a:latin typeface="Times New Roman" panose="02020603050405020304" pitchFamily="18" charset="0"/>
                <a:cs typeface="Times New Roman" panose="02020603050405020304" pitchFamily="18" charset="0"/>
              </a:rPr>
              <a:t>Experiment Result : Intent-Strategy Relevance Probing </a:t>
            </a:r>
            <a:br>
              <a:rPr lang="en-US" altLang="zh-TW" sz="36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Intent contribution percentage - 36% to 53%</a:t>
            </a:r>
            <a:endParaRPr lang="zh-TW" altLang="en-US" sz="36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2F731582-8729-405A-5C02-1DBAD9473EE8}"/>
              </a:ext>
            </a:extLst>
          </p:cNvPr>
          <p:cNvSpPr>
            <a:spLocks noGrp="1"/>
          </p:cNvSpPr>
          <p:nvPr>
            <p:ph type="sldNum" idx="12"/>
          </p:nvPr>
        </p:nvSpPr>
        <p:spPr/>
        <p:txBody>
          <a:bodyPr/>
          <a:lstStyle/>
          <a:p>
            <a:fld id="{00000000-1234-1234-1234-123412341234}" type="slidenum">
              <a:rPr lang="en-US" altLang="zh-TW" smtClean="0"/>
              <a:pPr/>
              <a:t>76</a:t>
            </a:fld>
            <a:endParaRPr lang="zh-TW" altLang="en-US" dirty="0"/>
          </a:p>
        </p:txBody>
      </p:sp>
      <p:sp>
        <p:nvSpPr>
          <p:cNvPr id="9" name="文字版面配置區 2">
            <a:extLst>
              <a:ext uri="{FF2B5EF4-FFF2-40B4-BE49-F238E27FC236}">
                <a16:creationId xmlns:a16="http://schemas.microsoft.com/office/drawing/2014/main" id="{A83C9EB0-98AA-5567-FD02-2B508AFBF2AC}"/>
              </a:ext>
            </a:extLst>
          </p:cNvPr>
          <p:cNvSpPr>
            <a:spLocks noGrp="1"/>
          </p:cNvSpPr>
          <p:nvPr>
            <p:ph type="body" idx="1"/>
          </p:nvPr>
        </p:nvSpPr>
        <p:spPr>
          <a:xfrm>
            <a:off x="7690432" y="953311"/>
            <a:ext cx="4343300" cy="5789112"/>
          </a:xfrm>
        </p:spPr>
        <p:txBody>
          <a:bodyPr>
            <a:normAutofit/>
          </a:bodyPr>
          <a:lstStyle/>
          <a:p>
            <a:pPr marL="0" indent="0">
              <a:buNone/>
            </a:pPr>
            <a:r>
              <a:rPr lang="en-US" altLang="zh-TW" sz="1800" dirty="0">
                <a:latin typeface="Times New Roman" panose="02020603050405020304" pitchFamily="18" charset="0"/>
                <a:cs typeface="Times New Roman" panose="02020603050405020304" pitchFamily="18" charset="0"/>
              </a:rPr>
              <a:t>Description:</a:t>
            </a:r>
          </a:p>
          <a:p>
            <a:pPr marL="0" indent="0">
              <a:buNone/>
            </a:pPr>
            <a:r>
              <a:rPr lang="en-US" altLang="zh-TW" sz="1800" dirty="0">
                <a:latin typeface="Times New Roman" panose="02020603050405020304" pitchFamily="18" charset="0"/>
                <a:cs typeface="Times New Roman" panose="02020603050405020304" pitchFamily="18" charset="0"/>
              </a:rPr>
              <a:t>Assess how inferred intent and command sequences each contribute to </a:t>
            </a:r>
            <a:r>
              <a:rPr lang="en-US" altLang="zh-TW" sz="1800" b="1" dirty="0">
                <a:latin typeface="Times New Roman" panose="02020603050405020304" pitchFamily="18" charset="0"/>
                <a:cs typeface="Times New Roman" panose="02020603050405020304" pitchFamily="18" charset="0"/>
              </a:rPr>
              <a:t>ground truth intent and strategy relevance</a:t>
            </a:r>
            <a:r>
              <a:rPr lang="en-US" altLang="zh-TW" sz="1800" dirty="0">
                <a:latin typeface="Times New Roman" panose="02020603050405020304" pitchFamily="18" charset="0"/>
                <a:cs typeface="Times New Roman" panose="02020603050405020304" pitchFamily="18" charset="0"/>
              </a:rPr>
              <a:t>. </a:t>
            </a:r>
          </a:p>
          <a:p>
            <a:pPr marL="0" indent="0">
              <a:buNone/>
            </a:pPr>
            <a:endParaRPr lang="en-US" altLang="zh-TW" sz="1800" dirty="0">
              <a:latin typeface="Times New Roman" panose="02020603050405020304" pitchFamily="18" charset="0"/>
              <a:cs typeface="Times New Roman" panose="02020603050405020304" pitchFamily="18" charset="0"/>
            </a:endParaRPr>
          </a:p>
          <a:p>
            <a:pPr marL="0" indent="0">
              <a:buNone/>
            </a:pPr>
            <a:r>
              <a:rPr lang="en-US" altLang="zh-TW" sz="1800" dirty="0">
                <a:latin typeface="Times New Roman" panose="02020603050405020304" pitchFamily="18" charset="0"/>
                <a:cs typeface="Times New Roman" panose="02020603050405020304" pitchFamily="18" charset="0"/>
              </a:rPr>
              <a:t>Discussion:</a:t>
            </a: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Combined commands and inferred intent is still the best configuration.</a:t>
            </a:r>
          </a:p>
          <a:p>
            <a:pPr marL="285750" indent="-285750">
              <a:buFont typeface="Wingdings" panose="05000000000000000000" pitchFamily="2" charset="2"/>
              <a:buChar char=""/>
            </a:pPr>
            <a:endParaRPr lang="en-US" altLang="zh-TW"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Lack of intent has a greater impact than the lack of commands.</a:t>
            </a:r>
          </a:p>
          <a:p>
            <a:pPr marL="285750" indent="-285750">
              <a:buFont typeface="Wingdings" panose="05000000000000000000" pitchFamily="2" charset="2"/>
              <a:buChar char=""/>
            </a:pPr>
            <a:endParaRPr lang="en-US" altLang="zh-TW"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Before SFT, although we forced the LLM model to retain Chain-of-thought, it still generally produced a generic policy description because the model failed to understand the correlation between intent and strategy. </a:t>
            </a:r>
          </a:p>
        </p:txBody>
      </p:sp>
      <p:graphicFrame>
        <p:nvGraphicFramePr>
          <p:cNvPr id="10" name="表格 9">
            <a:extLst>
              <a:ext uri="{FF2B5EF4-FFF2-40B4-BE49-F238E27FC236}">
                <a16:creationId xmlns:a16="http://schemas.microsoft.com/office/drawing/2014/main" id="{99CDB7A0-4755-CDD6-2688-4AF4FBEDF26A}"/>
              </a:ext>
            </a:extLst>
          </p:cNvPr>
          <p:cNvGraphicFramePr>
            <a:graphicFrameLocks noGrp="1"/>
          </p:cNvGraphicFramePr>
          <p:nvPr/>
        </p:nvGraphicFramePr>
        <p:xfrm>
          <a:off x="1621978" y="4710568"/>
          <a:ext cx="5394644" cy="1341120"/>
        </p:xfrm>
        <a:graphic>
          <a:graphicData uri="http://schemas.openxmlformats.org/drawingml/2006/table">
            <a:tbl>
              <a:tblPr firstRow="1" bandRow="1">
                <a:tableStyleId>{2D5ABB26-0587-4C30-8999-92F81FD0307C}</a:tableStyleId>
              </a:tblPr>
              <a:tblGrid>
                <a:gridCol w="969119">
                  <a:extLst>
                    <a:ext uri="{9D8B030D-6E8A-4147-A177-3AD203B41FA5}">
                      <a16:colId xmlns:a16="http://schemas.microsoft.com/office/drawing/2014/main" val="2754915559"/>
                    </a:ext>
                  </a:extLst>
                </a:gridCol>
                <a:gridCol w="728693">
                  <a:extLst>
                    <a:ext uri="{9D8B030D-6E8A-4147-A177-3AD203B41FA5}">
                      <a16:colId xmlns:a16="http://schemas.microsoft.com/office/drawing/2014/main" val="951991860"/>
                    </a:ext>
                  </a:extLst>
                </a:gridCol>
                <a:gridCol w="1165379">
                  <a:extLst>
                    <a:ext uri="{9D8B030D-6E8A-4147-A177-3AD203B41FA5}">
                      <a16:colId xmlns:a16="http://schemas.microsoft.com/office/drawing/2014/main" val="4228033156"/>
                    </a:ext>
                  </a:extLst>
                </a:gridCol>
                <a:gridCol w="1222632">
                  <a:extLst>
                    <a:ext uri="{9D8B030D-6E8A-4147-A177-3AD203B41FA5}">
                      <a16:colId xmlns:a16="http://schemas.microsoft.com/office/drawing/2014/main" val="4079588478"/>
                    </a:ext>
                  </a:extLst>
                </a:gridCol>
                <a:gridCol w="1308821">
                  <a:extLst>
                    <a:ext uri="{9D8B030D-6E8A-4147-A177-3AD203B41FA5}">
                      <a16:colId xmlns:a16="http://schemas.microsoft.com/office/drawing/2014/main" val="1307573061"/>
                    </a:ext>
                  </a:extLst>
                </a:gridCol>
              </a:tblGrid>
              <a:tr h="240183">
                <a:tc>
                  <a:txBody>
                    <a:bodyPr/>
                    <a:lstStyle/>
                    <a:p>
                      <a:pPr algn="ctr"/>
                      <a:r>
                        <a:rPr lang="en-US" altLang="zh-TW" sz="1600" dirty="0">
                          <a:latin typeface="Cambria" panose="02040503050406030204" pitchFamily="18" charset="0"/>
                          <a:ea typeface="Cambria" panose="02040503050406030204" pitchFamily="18" charset="0"/>
                        </a:rPr>
                        <a:t>Category</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Intent</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Commands</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Drop rate</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Contribution</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8851553"/>
                  </a:ext>
                </a:extLst>
              </a:tr>
              <a:tr h="238010">
                <a:tc>
                  <a:txBody>
                    <a:bodyPr/>
                    <a:lstStyle/>
                    <a:p>
                      <a:pPr algn="ctr"/>
                      <a:r>
                        <a:rPr lang="en-US" altLang="zh-TW" sz="1600" dirty="0">
                          <a:solidFill>
                            <a:srgbClr val="00B0F0"/>
                          </a:solidFill>
                          <a:latin typeface="Cambria" panose="02040503050406030204" pitchFamily="18" charset="0"/>
                          <a:ea typeface="Cambria" panose="02040503050406030204" pitchFamily="18" charset="0"/>
                          <a:sym typeface="Wingdings" panose="05000000000000000000" pitchFamily="2" charset="2"/>
                        </a:rPr>
                        <a:t> </a:t>
                      </a:r>
                      <a:r>
                        <a:rPr lang="en-US" altLang="zh-TW" sz="1600" dirty="0">
                          <a:latin typeface="Cambria" panose="02040503050406030204" pitchFamily="18" charset="0"/>
                          <a:ea typeface="Cambria" panose="02040503050406030204" pitchFamily="18" charset="0"/>
                        </a:rPr>
                        <a:t>M0</a:t>
                      </a:r>
                      <a:endParaRPr lang="zh-TW" altLang="en-US" sz="1600" dirty="0">
                        <a:solidFill>
                          <a:srgbClr val="00B0F0"/>
                        </a:solidFill>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7732636"/>
                  </a:ext>
                </a:extLst>
              </a:tr>
              <a:tr h="277266">
                <a:tc>
                  <a:txBody>
                    <a:bodyPr/>
                    <a:lstStyle/>
                    <a:p>
                      <a:pPr algn="ctr"/>
                      <a:r>
                        <a:rPr lang="en-US" altLang="zh-TW" sz="1600" dirty="0">
                          <a:solidFill>
                            <a:srgbClr val="7030A0"/>
                          </a:solidFill>
                          <a:latin typeface="Cambria" panose="02040503050406030204" pitchFamily="18" charset="0"/>
                          <a:ea typeface="Cambria" panose="02040503050406030204" pitchFamily="18" charset="0"/>
                          <a:sym typeface="Wingdings" panose="05000000000000000000" pitchFamily="2" charset="2"/>
                        </a:rPr>
                        <a:t></a:t>
                      </a:r>
                      <a:r>
                        <a:rPr lang="en-US" altLang="zh-TW" sz="1600" dirty="0">
                          <a:solidFill>
                            <a:srgbClr val="00B0F0"/>
                          </a:solidFill>
                          <a:latin typeface="Cambria" panose="02040503050406030204" pitchFamily="18" charset="0"/>
                          <a:ea typeface="Cambria" panose="02040503050406030204" pitchFamily="18" charset="0"/>
                          <a:sym typeface="Wingdings" panose="05000000000000000000" pitchFamily="2" charset="2"/>
                        </a:rPr>
                        <a:t> </a:t>
                      </a:r>
                      <a:r>
                        <a:rPr lang="en-US" altLang="zh-TW" sz="1600" dirty="0">
                          <a:latin typeface="Cambria" panose="02040503050406030204" pitchFamily="18" charset="0"/>
                          <a:ea typeface="Cambria" panose="02040503050406030204" pitchFamily="18" charset="0"/>
                        </a:rPr>
                        <a:t>M1</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x</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Cambria" panose="02040503050406030204" pitchFamily="18" charset="0"/>
                        </a:rPr>
                        <a:t>0.18 -&gt; 0.35</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Cambria" panose="02040503050406030204" pitchFamily="18" charset="0"/>
                        </a:rPr>
                        <a:t>0.36</a:t>
                      </a:r>
                      <a:r>
                        <a:rPr lang="zh-TW" altLang="en-US" sz="1600" dirty="0">
                          <a:latin typeface="Cambria" panose="02040503050406030204" pitchFamily="18" charset="0"/>
                        </a:rPr>
                        <a:t> </a:t>
                      </a:r>
                      <a:r>
                        <a:rPr lang="en-US" altLang="zh-TW" sz="1600" dirty="0">
                          <a:latin typeface="Cambria" panose="02040503050406030204" pitchFamily="18" charset="0"/>
                        </a:rPr>
                        <a:t>-&gt; 0.53</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3754604"/>
                  </a:ext>
                </a:extLst>
              </a:tr>
              <a:tr h="240183">
                <a:tc>
                  <a:txBody>
                    <a:bodyPr/>
                    <a:lstStyle/>
                    <a:p>
                      <a:pPr algn="ctr"/>
                      <a:r>
                        <a:rPr lang="en-US" altLang="zh-TW" sz="1600" dirty="0">
                          <a:solidFill>
                            <a:schemeClr val="accent6"/>
                          </a:solidFill>
                          <a:latin typeface="Cambria" panose="02040503050406030204" pitchFamily="18" charset="0"/>
                          <a:ea typeface="Cambria" panose="02040503050406030204" pitchFamily="18" charset="0"/>
                          <a:sym typeface="Wingdings" panose="05000000000000000000" pitchFamily="2" charset="2"/>
                        </a:rPr>
                        <a:t></a:t>
                      </a:r>
                      <a:r>
                        <a:rPr lang="en-US" altLang="zh-TW" sz="1600" dirty="0">
                          <a:solidFill>
                            <a:srgbClr val="00B0F0"/>
                          </a:solidFill>
                          <a:latin typeface="Cambria" panose="02040503050406030204" pitchFamily="18" charset="0"/>
                          <a:ea typeface="Cambria" panose="02040503050406030204" pitchFamily="18" charset="0"/>
                          <a:sym typeface="Wingdings" panose="05000000000000000000" pitchFamily="2" charset="2"/>
                        </a:rPr>
                        <a:t> </a:t>
                      </a:r>
                      <a:r>
                        <a:rPr lang="en-US" altLang="zh-TW" sz="1600" dirty="0">
                          <a:latin typeface="Cambria" panose="02040503050406030204" pitchFamily="18" charset="0"/>
                          <a:ea typeface="Cambria" panose="02040503050406030204" pitchFamily="18" charset="0"/>
                        </a:rPr>
                        <a:t>M2 </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x</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0.21 -&gt; 0.22</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Cambria" panose="02040503050406030204" pitchFamily="18" charset="0"/>
                        </a:rPr>
                        <a:t>0.42 -&gt; 0.33</a:t>
                      </a:r>
                      <a:endParaRPr lang="zh-TW" altLang="en-US" sz="1600" dirty="0">
                        <a:latin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7154697"/>
                  </a:ext>
                </a:extLst>
              </a:tr>
            </a:tbl>
          </a:graphicData>
        </a:graphic>
      </p:graphicFrame>
      <p:sp>
        <p:nvSpPr>
          <p:cNvPr id="12" name="文字方塊 11">
            <a:extLst>
              <a:ext uri="{FF2B5EF4-FFF2-40B4-BE49-F238E27FC236}">
                <a16:creationId xmlns:a16="http://schemas.microsoft.com/office/drawing/2014/main" id="{AB097EBA-E23C-41C6-AFE6-C7AE594808E7}"/>
              </a:ext>
            </a:extLst>
          </p:cNvPr>
          <p:cNvSpPr txBox="1"/>
          <p:nvPr/>
        </p:nvSpPr>
        <p:spPr>
          <a:xfrm>
            <a:off x="1720762" y="6021359"/>
            <a:ext cx="5705003" cy="338554"/>
          </a:xfrm>
          <a:prstGeom prst="rect">
            <a:avLst/>
          </a:prstGeom>
          <a:noFill/>
        </p:spPr>
        <p:txBody>
          <a:bodyPr wrap="square">
            <a:spAutoFit/>
          </a:bodyPr>
          <a:lstStyle/>
          <a:p>
            <a:r>
              <a:rPr lang="en-US" altLang="zh-TW" sz="1600" dirty="0">
                <a:latin typeface="Cambria" panose="02040503050406030204" pitchFamily="18" charset="0"/>
                <a:ea typeface="Cambria" panose="02040503050406030204" pitchFamily="18" charset="0"/>
                <a:cs typeface="Times New Roman" panose="02020603050405020304" pitchFamily="18" charset="0"/>
              </a:rPr>
              <a:t>※ M2: continue infer from baseline inferred intent</a:t>
            </a:r>
          </a:p>
        </p:txBody>
      </p:sp>
      <p:pic>
        <p:nvPicPr>
          <p:cNvPr id="11" name="圖片 10">
            <a:extLst>
              <a:ext uri="{FF2B5EF4-FFF2-40B4-BE49-F238E27FC236}">
                <a16:creationId xmlns:a16="http://schemas.microsoft.com/office/drawing/2014/main" id="{17E5E9D6-3F6F-DE41-6AC5-B9ADF571792B}"/>
              </a:ext>
            </a:extLst>
          </p:cNvPr>
          <p:cNvPicPr>
            <a:picLocks noChangeAspect="1"/>
          </p:cNvPicPr>
          <p:nvPr/>
        </p:nvPicPr>
        <p:blipFill>
          <a:blip r:embed="rId3"/>
          <a:stretch>
            <a:fillRect/>
          </a:stretch>
        </p:blipFill>
        <p:spPr>
          <a:xfrm>
            <a:off x="1196118" y="1197211"/>
            <a:ext cx="5947050" cy="3380505"/>
          </a:xfrm>
          <a:prstGeom prst="rect">
            <a:avLst/>
          </a:prstGeom>
        </p:spPr>
      </p:pic>
      <p:sp>
        <p:nvSpPr>
          <p:cNvPr id="4" name="文字方塊 3">
            <a:extLst>
              <a:ext uri="{FF2B5EF4-FFF2-40B4-BE49-F238E27FC236}">
                <a16:creationId xmlns:a16="http://schemas.microsoft.com/office/drawing/2014/main" id="{F7A8CCE1-615E-B38F-C358-687A05FA0CA7}"/>
              </a:ext>
            </a:extLst>
          </p:cNvPr>
          <p:cNvSpPr txBox="1"/>
          <p:nvPr/>
        </p:nvSpPr>
        <p:spPr>
          <a:xfrm>
            <a:off x="8280400" y="5652027"/>
            <a:ext cx="2987356" cy="923330"/>
          </a:xfrm>
          <a:prstGeom prst="rect">
            <a:avLst/>
          </a:prstGeom>
          <a:noFill/>
        </p:spPr>
        <p:txBody>
          <a:bodyPr wrap="none" rtlCol="0">
            <a:spAutoFit/>
          </a:bodyPr>
          <a:lstStyle/>
          <a:p>
            <a:r>
              <a:rPr lang="en-US" altLang="zh-TW" dirty="0">
                <a:solidFill>
                  <a:srgbClr val="FF0000"/>
                </a:solidFill>
              </a:rPr>
              <a:t>Keywords -&gt; not sentence</a:t>
            </a:r>
            <a:br>
              <a:rPr lang="en-US" altLang="zh-TW" dirty="0">
                <a:solidFill>
                  <a:srgbClr val="FF0000"/>
                </a:solidFill>
              </a:rPr>
            </a:br>
            <a:r>
              <a:rPr lang="en-US" altLang="zh-TW" dirty="0">
                <a:solidFill>
                  <a:srgbClr val="FF0000"/>
                </a:solidFill>
              </a:rPr>
              <a:t>Result -&gt; why -&gt; observation</a:t>
            </a:r>
          </a:p>
          <a:p>
            <a:r>
              <a:rPr lang="en-US" altLang="zh-TW" dirty="0">
                <a:solidFill>
                  <a:srgbClr val="FF0000"/>
                </a:solidFill>
              </a:rPr>
              <a:t>Interleave draw</a:t>
            </a:r>
          </a:p>
        </p:txBody>
      </p:sp>
    </p:spTree>
    <p:extLst>
      <p:ext uri="{BB962C8B-B14F-4D97-AF65-F5344CB8AC3E}">
        <p14:creationId xmlns:p14="http://schemas.microsoft.com/office/powerpoint/2010/main" val="27425383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2A3044-FD75-31C7-9196-758CBB85E64D}"/>
              </a:ext>
            </a:extLst>
          </p:cNvPr>
          <p:cNvSpPr>
            <a:spLocks noGrp="1"/>
          </p:cNvSpPr>
          <p:nvPr>
            <p:ph type="title"/>
          </p:nvPr>
        </p:nvSpPr>
        <p:spPr>
          <a:xfrm>
            <a:off x="415600" y="347680"/>
            <a:ext cx="11360800" cy="763600"/>
          </a:xfrm>
        </p:spPr>
        <p:txBody>
          <a:bodyPr>
            <a:normAutofit/>
          </a:bodyPr>
          <a:lstStyle/>
          <a:p>
            <a:r>
              <a:rPr lang="en-US" altLang="zh-TW" sz="3600" dirty="0">
                <a:latin typeface="Times New Roman" panose="02020603050405020304" pitchFamily="18" charset="0"/>
                <a:cs typeface="Times New Roman" panose="02020603050405020304" pitchFamily="18" charset="0"/>
              </a:rPr>
              <a:t>Experiment Result – Reward-based evaluation</a:t>
            </a:r>
            <a:endParaRPr lang="zh-TW" altLang="en-US" sz="3600" dirty="0"/>
          </a:p>
        </p:txBody>
      </p:sp>
      <p:sp>
        <p:nvSpPr>
          <p:cNvPr id="3" name="文字版面配置區 2">
            <a:extLst>
              <a:ext uri="{FF2B5EF4-FFF2-40B4-BE49-F238E27FC236}">
                <a16:creationId xmlns:a16="http://schemas.microsoft.com/office/drawing/2014/main" id="{202F067E-F586-9EA6-1F09-7947E295549D}"/>
              </a:ext>
            </a:extLst>
          </p:cNvPr>
          <p:cNvSpPr>
            <a:spLocks noGrp="1"/>
          </p:cNvSpPr>
          <p:nvPr>
            <p:ph type="body" idx="1"/>
          </p:nvPr>
        </p:nvSpPr>
        <p:spPr>
          <a:xfrm>
            <a:off x="6308020" y="1323663"/>
            <a:ext cx="5737411" cy="4681577"/>
          </a:xfrm>
        </p:spPr>
        <p:txBody>
          <a:bodyPr>
            <a:normAutofit/>
          </a:bodyPr>
          <a:lstStyle/>
          <a:p>
            <a:pPr marL="0" indent="0">
              <a:buNone/>
            </a:pPr>
            <a:r>
              <a:rPr lang="en-US" altLang="zh-TW" sz="1800" dirty="0">
                <a:latin typeface="Times New Roman" panose="02020603050405020304" pitchFamily="18" charset="0"/>
                <a:cs typeface="Times New Roman" panose="02020603050405020304" pitchFamily="18" charset="0"/>
              </a:rPr>
              <a:t>Description:</a:t>
            </a:r>
            <a:br>
              <a:rPr lang="en-US" altLang="zh-TW" sz="1800" dirty="0">
                <a:latin typeface="Times New Roman" panose="02020603050405020304" pitchFamily="18" charset="0"/>
                <a:cs typeface="Times New Roman" panose="02020603050405020304" pitchFamily="18" charset="0"/>
              </a:rPr>
            </a:br>
            <a:endParaRPr lang="en-US" altLang="zh-TW"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Reward Calculated by our severe matrix</a:t>
            </a:r>
          </a:p>
          <a:p>
            <a:pPr marL="0" indent="0">
              <a:buNone/>
            </a:pPr>
            <a:endParaRPr lang="en-US" altLang="zh-TW" sz="1800" dirty="0">
              <a:latin typeface="Times New Roman" panose="02020603050405020304" pitchFamily="18" charset="0"/>
              <a:cs typeface="Times New Roman" panose="02020603050405020304" pitchFamily="18" charset="0"/>
            </a:endParaRPr>
          </a:p>
          <a:p>
            <a:pPr marL="0" indent="0">
              <a:buNone/>
            </a:pPr>
            <a:r>
              <a:rPr lang="en-US" altLang="zh-TW" sz="1800" dirty="0">
                <a:latin typeface="Times New Roman" panose="02020603050405020304" pitchFamily="18" charset="0"/>
                <a:cs typeface="Times New Roman" panose="02020603050405020304" pitchFamily="18" charset="0"/>
              </a:rPr>
              <a:t>Discussion:</a:t>
            </a: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Reward model is just a proxy indicator; we still need to evaluate the results based on actual engagement.</a:t>
            </a:r>
          </a:p>
          <a:p>
            <a:pPr marL="285750" indent="-285750">
              <a:buFont typeface="Wingdings" panose="05000000000000000000" pitchFamily="2" charset="2"/>
              <a:buChar char=""/>
            </a:pPr>
            <a:endParaRPr lang="en-US" altLang="zh-TW"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After training by reward models, our method can outperform than baselines.</a:t>
            </a:r>
          </a:p>
          <a:p>
            <a:pPr marL="285750" indent="-285750">
              <a:buFont typeface="Arial" panose="020B0604020202020204" pitchFamily="34" charset="0"/>
              <a:buChar char="•"/>
            </a:pPr>
            <a:endParaRPr lang="en-US" altLang="zh-TW"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cs typeface="Times New Roman" panose="02020603050405020304" pitchFamily="18" charset="0"/>
            </a:endParaRPr>
          </a:p>
          <a:p>
            <a:pPr marL="0" indent="0">
              <a:buNone/>
            </a:pPr>
            <a:endParaRPr lang="en-US" altLang="zh-TW" sz="1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17EDB51A-4F3E-9605-825C-80F358005FAB}"/>
              </a:ext>
            </a:extLst>
          </p:cNvPr>
          <p:cNvSpPr>
            <a:spLocks noGrp="1"/>
          </p:cNvSpPr>
          <p:nvPr>
            <p:ph type="sldNum" idx="12"/>
          </p:nvPr>
        </p:nvSpPr>
        <p:spPr/>
        <p:txBody>
          <a:bodyPr/>
          <a:lstStyle/>
          <a:p>
            <a:fld id="{00000000-1234-1234-1234-123412341234}" type="slidenum">
              <a:rPr lang="en-US" altLang="zh-TW" smtClean="0"/>
              <a:pPr/>
              <a:t>77</a:t>
            </a:fld>
            <a:endParaRPr lang="zh-TW" altLang="en-US" dirty="0"/>
          </a:p>
        </p:txBody>
      </p:sp>
      <p:graphicFrame>
        <p:nvGraphicFramePr>
          <p:cNvPr id="7" name="表格 6">
            <a:extLst>
              <a:ext uri="{FF2B5EF4-FFF2-40B4-BE49-F238E27FC236}">
                <a16:creationId xmlns:a16="http://schemas.microsoft.com/office/drawing/2014/main" id="{C2648F95-43BB-6F94-5B1B-9B74E5915E24}"/>
              </a:ext>
            </a:extLst>
          </p:cNvPr>
          <p:cNvGraphicFramePr>
            <a:graphicFrameLocks noGrp="1"/>
          </p:cNvGraphicFramePr>
          <p:nvPr/>
        </p:nvGraphicFramePr>
        <p:xfrm>
          <a:off x="712966" y="4421263"/>
          <a:ext cx="5171015" cy="2198989"/>
        </p:xfrm>
        <a:graphic>
          <a:graphicData uri="http://schemas.openxmlformats.org/drawingml/2006/table">
            <a:tbl>
              <a:tblPr firstRow="1" bandRow="1">
                <a:tableStyleId>{2D5ABB26-0587-4C30-8999-92F81FD0307C}</a:tableStyleId>
              </a:tblPr>
              <a:tblGrid>
                <a:gridCol w="1869768">
                  <a:extLst>
                    <a:ext uri="{9D8B030D-6E8A-4147-A177-3AD203B41FA5}">
                      <a16:colId xmlns:a16="http://schemas.microsoft.com/office/drawing/2014/main" val="376872888"/>
                    </a:ext>
                  </a:extLst>
                </a:gridCol>
                <a:gridCol w="1694161">
                  <a:extLst>
                    <a:ext uri="{9D8B030D-6E8A-4147-A177-3AD203B41FA5}">
                      <a16:colId xmlns:a16="http://schemas.microsoft.com/office/drawing/2014/main" val="8903145"/>
                    </a:ext>
                  </a:extLst>
                </a:gridCol>
                <a:gridCol w="1607086">
                  <a:extLst>
                    <a:ext uri="{9D8B030D-6E8A-4147-A177-3AD203B41FA5}">
                      <a16:colId xmlns:a16="http://schemas.microsoft.com/office/drawing/2014/main" val="344583504"/>
                    </a:ext>
                  </a:extLst>
                </a:gridCol>
              </a:tblGrid>
              <a:tr h="298461">
                <a:tc>
                  <a:txBody>
                    <a:bodyPr/>
                    <a:lstStyle/>
                    <a:p>
                      <a:r>
                        <a:rPr lang="en-US" altLang="zh-TW" dirty="0">
                          <a:latin typeface="Cambria" panose="02040503050406030204" pitchFamily="18" charset="0"/>
                          <a:ea typeface="Cambria" panose="02040503050406030204" pitchFamily="18" charset="0"/>
                        </a:rPr>
                        <a:t>Model</a:t>
                      </a:r>
                      <a:endParaRPr lang="zh-TW" altLang="en-US"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dirty="0">
                          <a:latin typeface="Cambria" panose="02040503050406030204" pitchFamily="18" charset="0"/>
                          <a:ea typeface="Cambria" panose="02040503050406030204" pitchFamily="18" charset="0"/>
                        </a:rPr>
                        <a:t>mean</a:t>
                      </a:r>
                      <a:endParaRPr lang="zh-TW" altLang="en-US"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dirty="0">
                          <a:latin typeface="Cambria" panose="02040503050406030204" pitchFamily="18" charset="0"/>
                          <a:ea typeface="Cambria" panose="02040503050406030204" pitchFamily="18" charset="0"/>
                          <a:cs typeface="Times New Roman" panose="02020603050405020304" pitchFamily="18" charset="0"/>
                        </a:rPr>
                        <a:t>std</a:t>
                      </a:r>
                      <a:endParaRPr lang="zh-TW" altLang="en-US"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282859326"/>
                  </a:ext>
                </a:extLst>
              </a:tr>
              <a:tr h="298461">
                <a:tc>
                  <a:txBody>
                    <a:bodyPr/>
                    <a:lstStyle/>
                    <a:p>
                      <a:r>
                        <a:rPr lang="en-US" altLang="zh-TW" sz="1400" b="0" dirty="0" err="1">
                          <a:solidFill>
                            <a:schemeClr val="tx1"/>
                          </a:solidFill>
                          <a:latin typeface="Cambria" panose="02040503050406030204" pitchFamily="18" charset="0"/>
                          <a:cs typeface="Times New Roman" panose="02020603050405020304" pitchFamily="18" charset="0"/>
                        </a:rPr>
                        <a:t>Aware+FT</a:t>
                      </a:r>
                      <a:r>
                        <a:rPr lang="en-US" altLang="zh-TW" sz="1400" b="0" dirty="0">
                          <a:solidFill>
                            <a:schemeClr val="tx1"/>
                          </a:solidFill>
                          <a:latin typeface="Cambria" panose="02040503050406030204" pitchFamily="18" charset="0"/>
                          <a:cs typeface="Times New Roman" panose="02020603050405020304" pitchFamily="18" charset="0"/>
                        </a:rPr>
                        <a:t> (LLaMA-3)</a:t>
                      </a:r>
                      <a:endParaRPr lang="zh-TW" altLang="en-US" sz="1400" b="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dirty="0">
                          <a:solidFill>
                            <a:schemeClr val="tx1"/>
                          </a:solidFill>
                          <a:latin typeface="Cambria" panose="02040503050406030204" pitchFamily="18" charset="0"/>
                          <a:cs typeface="Times New Roman" panose="02020603050405020304" pitchFamily="18" charset="0"/>
                        </a:rPr>
                        <a:t>0.5511</a:t>
                      </a:r>
                      <a:endParaRPr lang="zh-TW" altLang="en-US" sz="1400" b="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dirty="0">
                          <a:solidFill>
                            <a:schemeClr val="tx1"/>
                          </a:solidFill>
                          <a:latin typeface="Cambria" panose="02040503050406030204" pitchFamily="18" charset="0"/>
                          <a:cs typeface="Times New Roman" panose="02020603050405020304" pitchFamily="18" charset="0"/>
                        </a:rPr>
                        <a:t>0.1107</a:t>
                      </a:r>
                      <a:endParaRPr lang="zh-TW" altLang="en-US" sz="1400" b="1"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526576"/>
                  </a:ext>
                </a:extLst>
              </a:tr>
              <a:tr h="298461">
                <a:tc>
                  <a:txBody>
                    <a:bodyPr/>
                    <a:lstStyle/>
                    <a:p>
                      <a:r>
                        <a:rPr lang="en-US" altLang="zh-TW" sz="1400" b="0" dirty="0" err="1">
                          <a:solidFill>
                            <a:schemeClr val="tx1"/>
                          </a:solidFill>
                          <a:latin typeface="Cambria" panose="02040503050406030204" pitchFamily="18" charset="0"/>
                          <a:ea typeface="Cambria" panose="02040503050406030204" pitchFamily="18" charset="0"/>
                        </a:rPr>
                        <a:t>Aware+FT</a:t>
                      </a:r>
                      <a:r>
                        <a:rPr lang="en-US" altLang="zh-TW" sz="1400" b="0" dirty="0">
                          <a:solidFill>
                            <a:schemeClr val="tx1"/>
                          </a:solidFill>
                          <a:latin typeface="Cambria" panose="02040503050406030204" pitchFamily="18" charset="0"/>
                          <a:ea typeface="Cambria" panose="02040503050406030204" pitchFamily="18" charset="0"/>
                        </a:rPr>
                        <a:t> </a:t>
                      </a:r>
                      <a:endParaRPr lang="zh-TW" altLang="en-US" sz="1400" b="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i="0" kern="1200" dirty="0">
                          <a:solidFill>
                            <a:schemeClr val="tx1"/>
                          </a:solidFill>
                          <a:effectLst/>
                          <a:latin typeface="Cambria" panose="02040503050406030204" pitchFamily="18" charset="0"/>
                          <a:ea typeface="Cambria" panose="02040503050406030204" pitchFamily="18" charset="0"/>
                          <a:cs typeface="+mn-cs"/>
                        </a:rPr>
                        <a:t>0.5458</a:t>
                      </a:r>
                      <a:endParaRPr lang="zh-TW" altLang="en-US" sz="1400" b="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i="0" kern="1200" dirty="0">
                          <a:solidFill>
                            <a:schemeClr val="tx1"/>
                          </a:solidFill>
                          <a:effectLst/>
                          <a:latin typeface="Cambria" panose="02040503050406030204" pitchFamily="18" charset="0"/>
                          <a:ea typeface="Cambria" panose="02040503050406030204" pitchFamily="18" charset="0"/>
                          <a:cs typeface="+mn-cs"/>
                        </a:rPr>
                        <a:t>0.0862</a:t>
                      </a:r>
                      <a:endParaRPr lang="zh-TW" altLang="en-US" sz="1400" b="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684009"/>
                  </a:ext>
                </a:extLst>
              </a:tr>
              <a:tr h="298461">
                <a:tc>
                  <a:txBody>
                    <a:bodyPr/>
                    <a:lstStyle/>
                    <a:p>
                      <a:r>
                        <a:rPr lang="en-US" altLang="zh-TW" sz="1400" dirty="0">
                          <a:latin typeface="Cambria" panose="02040503050406030204" pitchFamily="18" charset="0"/>
                          <a:ea typeface="Cambria" panose="02040503050406030204" pitchFamily="18" charset="0"/>
                          <a:cs typeface="Times New Roman" panose="02020603050405020304" pitchFamily="18" charset="0"/>
                        </a:rPr>
                        <a:t>Aware-only</a:t>
                      </a:r>
                      <a:endParaRPr lang="zh-TW" altLang="en-US" sz="1400"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dirty="0">
                          <a:solidFill>
                            <a:schemeClr val="tx1"/>
                          </a:solidFill>
                          <a:effectLst/>
                          <a:latin typeface="Cambria" panose="02040503050406030204" pitchFamily="18" charset="0"/>
                          <a:ea typeface="Cambria" panose="02040503050406030204" pitchFamily="18" charset="0"/>
                        </a:rPr>
                        <a:t>0.4107</a:t>
                      </a:r>
                      <a:endParaRPr lang="zh-TW" altLang="en-US" sz="140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i="0" kern="1200" dirty="0">
                          <a:solidFill>
                            <a:schemeClr val="tx1"/>
                          </a:solidFill>
                          <a:effectLst/>
                          <a:latin typeface="Cambria" panose="02040503050406030204" pitchFamily="18" charset="0"/>
                          <a:ea typeface="Cambria" panose="02040503050406030204" pitchFamily="18" charset="0"/>
                          <a:cs typeface="+mn-cs"/>
                        </a:rPr>
                        <a:t>0.1564</a:t>
                      </a:r>
                      <a:endParaRPr lang="zh-TW" altLang="en-US" sz="140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266604"/>
                  </a:ext>
                </a:extLst>
              </a:tr>
              <a:tr h="298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latin typeface="Cambria" panose="02040503050406030204" pitchFamily="18" charset="0"/>
                          <a:ea typeface="Cambria" panose="02040503050406030204" pitchFamily="18" charset="0"/>
                        </a:rPr>
                        <a:t>Base Model</a:t>
                      </a:r>
                      <a:endParaRPr lang="zh-TW" altLang="en-US" sz="1400"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kern="1200" dirty="0">
                          <a:solidFill>
                            <a:schemeClr val="dk1"/>
                          </a:solidFill>
                          <a:effectLst/>
                          <a:latin typeface="Cambria" panose="02040503050406030204" pitchFamily="18" charset="0"/>
                          <a:ea typeface="Cambria" panose="02040503050406030204" pitchFamily="18" charset="0"/>
                        </a:rPr>
                        <a:t>0.3040</a:t>
                      </a:r>
                      <a:endParaRPr lang="zh-TW" altLang="en-US" sz="140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kern="1200" dirty="0">
                          <a:solidFill>
                            <a:schemeClr val="dk1"/>
                          </a:solidFill>
                          <a:effectLst/>
                          <a:latin typeface="Cambria" panose="02040503050406030204" pitchFamily="18" charset="0"/>
                          <a:ea typeface="Cambria" panose="02040503050406030204" pitchFamily="18" charset="0"/>
                        </a:rPr>
                        <a:t>0.1673</a:t>
                      </a:r>
                      <a:endParaRPr lang="zh-TW" altLang="en-US" sz="140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646879"/>
                  </a:ext>
                </a:extLst>
              </a:tr>
              <a:tr h="309229">
                <a:tc>
                  <a:txBody>
                    <a:bodyPr/>
                    <a:lstStyle/>
                    <a:p>
                      <a:r>
                        <a:rPr lang="en-US" altLang="zh-TW" sz="1400" dirty="0">
                          <a:latin typeface="Cambria" panose="02040503050406030204" pitchFamily="18" charset="0"/>
                          <a:ea typeface="Cambria" panose="02040503050406030204" pitchFamily="18" charset="0"/>
                        </a:rPr>
                        <a:t>GPT-5o (aware-only)</a:t>
                      </a:r>
                      <a:endParaRPr lang="zh-TW" altLang="en-US" sz="1400"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i="0" kern="1200" dirty="0">
                          <a:solidFill>
                            <a:schemeClr val="tx1"/>
                          </a:solidFill>
                          <a:effectLst/>
                          <a:latin typeface="Cambria" panose="02040503050406030204" pitchFamily="18" charset="0"/>
                          <a:ea typeface="Cambria" panose="02040503050406030204" pitchFamily="18" charset="0"/>
                          <a:cs typeface="+mn-cs"/>
                        </a:rPr>
                        <a:t>0.2791</a:t>
                      </a:r>
                      <a:endParaRPr lang="zh-TW" altLang="en-US" sz="140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kern="1200" dirty="0">
                          <a:solidFill>
                            <a:schemeClr val="dk1"/>
                          </a:solidFill>
                          <a:effectLst/>
                          <a:latin typeface="Cambria" panose="02040503050406030204" pitchFamily="18" charset="0"/>
                          <a:ea typeface="Cambria" panose="02040503050406030204" pitchFamily="18" charset="0"/>
                        </a:rPr>
                        <a:t>0.1332</a:t>
                      </a:r>
                      <a:endParaRPr lang="zh-TW" altLang="en-US" sz="1400" dirty="0">
                        <a:solidFill>
                          <a:schemeClr val="tx1"/>
                        </a:solidFill>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6657239"/>
                  </a:ext>
                </a:extLst>
              </a:tr>
              <a:tr h="298461">
                <a:tc>
                  <a:txBody>
                    <a:bodyPr/>
                    <a:lstStyle/>
                    <a:p>
                      <a:r>
                        <a:rPr lang="en-US" altLang="zh-TW" sz="1400" dirty="0">
                          <a:latin typeface="Cambria" panose="02040503050406030204" pitchFamily="18" charset="0"/>
                          <a:ea typeface="Cambria" panose="02040503050406030204" pitchFamily="18" charset="0"/>
                        </a:rPr>
                        <a:t>QRASSH</a:t>
                      </a:r>
                      <a:endParaRPr lang="zh-TW" altLang="en-US" sz="1400"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Cambria" panose="02040503050406030204" pitchFamily="18" charset="0"/>
                          <a:ea typeface="Cambria" panose="02040503050406030204" pitchFamily="18" charset="0"/>
                        </a:rPr>
                        <a:t>0.1597</a:t>
                      </a:r>
                      <a:endParaRPr lang="zh-TW" altLang="en-US" sz="1400"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b="0" kern="1200" dirty="0">
                          <a:solidFill>
                            <a:schemeClr val="dk1"/>
                          </a:solidFill>
                          <a:effectLst/>
                          <a:latin typeface="Cambria" panose="02040503050406030204" pitchFamily="18" charset="0"/>
                          <a:ea typeface="Cambria" panose="02040503050406030204" pitchFamily="18" charset="0"/>
                        </a:rPr>
                        <a:t>0.0971</a:t>
                      </a:r>
                      <a:endParaRPr lang="zh-TW" altLang="en-US" sz="1400" dirty="0">
                        <a:latin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97406"/>
                  </a:ext>
                </a:extLst>
              </a:tr>
            </a:tbl>
          </a:graphicData>
        </a:graphic>
      </p:graphicFrame>
      <p:pic>
        <p:nvPicPr>
          <p:cNvPr id="14" name="圖片 13">
            <a:extLst>
              <a:ext uri="{FF2B5EF4-FFF2-40B4-BE49-F238E27FC236}">
                <a16:creationId xmlns:a16="http://schemas.microsoft.com/office/drawing/2014/main" id="{66991EE0-6B31-200D-B455-73719E7EDCD5}"/>
              </a:ext>
            </a:extLst>
          </p:cNvPr>
          <p:cNvPicPr>
            <a:picLocks noChangeAspect="1"/>
          </p:cNvPicPr>
          <p:nvPr/>
        </p:nvPicPr>
        <p:blipFill>
          <a:blip r:embed="rId3"/>
          <a:stretch>
            <a:fillRect/>
          </a:stretch>
        </p:blipFill>
        <p:spPr>
          <a:xfrm>
            <a:off x="526926" y="1026513"/>
            <a:ext cx="5543094" cy="3293150"/>
          </a:xfrm>
          <a:prstGeom prst="rect">
            <a:avLst/>
          </a:prstGeom>
        </p:spPr>
      </p:pic>
    </p:spTree>
    <p:extLst>
      <p:ext uri="{BB962C8B-B14F-4D97-AF65-F5344CB8AC3E}">
        <p14:creationId xmlns:p14="http://schemas.microsoft.com/office/powerpoint/2010/main" val="18550504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3CA391-7E14-902A-4E3A-D6D871E5D182}"/>
              </a:ext>
            </a:extLst>
          </p:cNvPr>
          <p:cNvSpPr>
            <a:spLocks noGrp="1"/>
          </p:cNvSpPr>
          <p:nvPr>
            <p:ph type="title"/>
          </p:nvPr>
        </p:nvSpPr>
        <p:spPr>
          <a:xfrm>
            <a:off x="415600" y="272631"/>
            <a:ext cx="11360800" cy="929758"/>
          </a:xfrm>
        </p:spPr>
        <p:txBody>
          <a:bodyPr>
            <a:normAutofit fontScale="90000"/>
          </a:bodyPr>
          <a:lstStyle/>
          <a:p>
            <a:r>
              <a:rPr lang="en-US" altLang="zh-TW" sz="4000" dirty="0">
                <a:latin typeface="Times New Roman" panose="02020603050405020304" pitchFamily="18" charset="0"/>
                <a:cs typeface="Times New Roman" panose="02020603050405020304" pitchFamily="18" charset="0"/>
              </a:rPr>
              <a:t>Experiment Result – Attack Depth</a:t>
            </a:r>
            <a:br>
              <a:rPr lang="en-US" altLang="zh-TW" sz="3600" dirty="0">
                <a:latin typeface="Times New Roman" panose="02020603050405020304" pitchFamily="18" charset="0"/>
                <a:cs typeface="Times New Roman" panose="02020603050405020304" pitchFamily="18" charset="0"/>
              </a:rPr>
            </a:br>
            <a:r>
              <a:rPr lang="en-US" altLang="zh-TW" sz="2700" dirty="0">
                <a:latin typeface="Times New Roman" panose="02020603050405020304" pitchFamily="18" charset="0"/>
                <a:cs typeface="Times New Roman" panose="02020603050405020304" pitchFamily="18" charset="0"/>
              </a:rPr>
              <a:t>Outperform QRASSH by 135% and GPT-5o by 51%</a:t>
            </a:r>
            <a:br>
              <a:rPr lang="en-US" altLang="zh-TW" sz="2200" dirty="0">
                <a:latin typeface="Times New Roman" panose="02020603050405020304" pitchFamily="18" charset="0"/>
                <a:cs typeface="Times New Roman" panose="02020603050405020304" pitchFamily="18" charset="0"/>
              </a:rPr>
            </a:br>
            <a:br>
              <a:rPr lang="en-US" altLang="zh-TW" sz="2200" dirty="0">
                <a:latin typeface="Times New Roman" panose="02020603050405020304" pitchFamily="18" charset="0"/>
                <a:cs typeface="Times New Roman" panose="02020603050405020304" pitchFamily="18" charset="0"/>
              </a:rPr>
            </a:br>
            <a:endParaRPr lang="zh-TW" altLang="en-US" sz="3600" dirty="0"/>
          </a:p>
        </p:txBody>
      </p:sp>
      <p:sp>
        <p:nvSpPr>
          <p:cNvPr id="4" name="投影片編號版面配置區 3">
            <a:extLst>
              <a:ext uri="{FF2B5EF4-FFF2-40B4-BE49-F238E27FC236}">
                <a16:creationId xmlns:a16="http://schemas.microsoft.com/office/drawing/2014/main" id="{EB1ADDED-2CD3-45C3-7B38-803BB7410A84}"/>
              </a:ext>
            </a:extLst>
          </p:cNvPr>
          <p:cNvSpPr>
            <a:spLocks noGrp="1"/>
          </p:cNvSpPr>
          <p:nvPr>
            <p:ph type="sldNum" idx="12"/>
          </p:nvPr>
        </p:nvSpPr>
        <p:spPr/>
        <p:txBody>
          <a:bodyPr/>
          <a:lstStyle/>
          <a:p>
            <a:fld id="{00000000-1234-1234-1234-123412341234}" type="slidenum">
              <a:rPr lang="en-US" altLang="zh-TW" smtClean="0"/>
              <a:pPr/>
              <a:t>78</a:t>
            </a:fld>
            <a:endParaRPr lang="zh-TW" altLang="en-US" dirty="0"/>
          </a:p>
        </p:txBody>
      </p:sp>
      <p:sp>
        <p:nvSpPr>
          <p:cNvPr id="3" name="文字方塊 2">
            <a:extLst>
              <a:ext uri="{FF2B5EF4-FFF2-40B4-BE49-F238E27FC236}">
                <a16:creationId xmlns:a16="http://schemas.microsoft.com/office/drawing/2014/main" id="{4802E16C-ACCE-8863-8C34-C1B97B1019A3}"/>
              </a:ext>
            </a:extLst>
          </p:cNvPr>
          <p:cNvSpPr txBox="1"/>
          <p:nvPr/>
        </p:nvSpPr>
        <p:spPr>
          <a:xfrm>
            <a:off x="8255611" y="454828"/>
            <a:ext cx="3841139" cy="5909310"/>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Description: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Max depth id refer to severe Matrix (max: 7)</a:t>
            </a:r>
            <a:r>
              <a:rPr lang="zh-TW" altLang="en-US" dirty="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Average Max Tactic IDs:</a:t>
            </a:r>
          </a:p>
          <a:p>
            <a:pPr marL="268288" indent="-268288">
              <a:buFont typeface="Wingdings" panose="05000000000000000000" pitchFamily="2" charset="2"/>
              <a:buChar char=""/>
            </a:pPr>
            <a:r>
              <a:rPr lang="en-US" altLang="zh-TW" dirty="0" err="1">
                <a:latin typeface="Times New Roman" panose="02020603050405020304" pitchFamily="18" charset="0"/>
                <a:cs typeface="Times New Roman" panose="02020603050405020304" pitchFamily="18" charset="0"/>
              </a:rPr>
              <a:t>Aware+SFT+RFT</a:t>
            </a:r>
            <a:r>
              <a:rPr lang="en-US" altLang="zh-TW" dirty="0">
                <a:latin typeface="Times New Roman" panose="02020603050405020304" pitchFamily="18" charset="0"/>
                <a:cs typeface="Times New Roman" panose="02020603050405020304" pitchFamily="18" charset="0"/>
              </a:rPr>
              <a:t>: 3.96</a:t>
            </a:r>
          </a:p>
          <a:p>
            <a:pPr marL="268288" indent="-268288">
              <a:buFont typeface="Wingdings" panose="05000000000000000000" pitchFamily="2" charset="2"/>
              <a:buChar char=""/>
            </a:pPr>
            <a:r>
              <a:rPr lang="en-US" altLang="zh-TW" dirty="0" err="1">
                <a:latin typeface="Times New Roman" panose="02020603050405020304" pitchFamily="18" charset="0"/>
                <a:cs typeface="Times New Roman" panose="02020603050405020304" pitchFamily="18" charset="0"/>
              </a:rPr>
              <a:t>Aware+SFT</a:t>
            </a:r>
            <a:r>
              <a:rPr lang="en-US" altLang="zh-TW" dirty="0">
                <a:latin typeface="Times New Roman" panose="02020603050405020304" pitchFamily="18" charset="0"/>
                <a:cs typeface="Times New Roman" panose="02020603050405020304" pitchFamily="18" charset="0"/>
              </a:rPr>
              <a:t>: 3.71</a:t>
            </a: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Aware only: 3.30</a:t>
            </a:r>
            <a:endParaRPr lang="en-US" altLang="zh-TW" baseline="30000" dirty="0">
              <a:latin typeface="Times New Roman" panose="02020603050405020304" pitchFamily="18" charset="0"/>
              <a:cs typeface="Times New Roman" panose="02020603050405020304" pitchFamily="18" charset="0"/>
            </a:endParaRP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Base Model: 3.07 </a:t>
            </a: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GPT-5o (Aware only): 2.61</a:t>
            </a:r>
          </a:p>
          <a:p>
            <a:pPr marL="268288" indent="-268288">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QRASSH: 1.68</a:t>
            </a:r>
          </a:p>
          <a:p>
            <a:pPr marL="268288" indent="-268288">
              <a:buFont typeface="Wingdings" panose="05000000000000000000" pitchFamily="2" charset="2"/>
              <a:buChar char=""/>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Discussion:</a:t>
            </a:r>
          </a:p>
          <a:p>
            <a:pPr marL="285750" indent="-285750">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QRASSH has lowest fidelity.</a:t>
            </a:r>
          </a:p>
          <a:p>
            <a:pPr marL="285750" indent="-285750">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GPT-5o mostly adopts a harmless strategy, making it difficult to advance the attack phase</a:t>
            </a:r>
          </a:p>
          <a:p>
            <a:pPr marL="285750" indent="-285750">
              <a:buFont typeface="Wingdings" panose="05000000000000000000" pitchFamily="2" charset="2"/>
              <a:buChar char=""/>
            </a:pPr>
            <a:r>
              <a:rPr lang="en-US" altLang="zh-TW" dirty="0">
                <a:latin typeface="Times New Roman" panose="02020603050405020304" pitchFamily="18" charset="0"/>
                <a:cs typeface="Times New Roman" panose="02020603050405020304" pitchFamily="18" charset="0"/>
              </a:rPr>
              <a:t>Ours prefer to allow attack to deep dive while the attacker’s intent is about </a:t>
            </a:r>
            <a:r>
              <a:rPr lang="en-US" altLang="zh-TW" b="1" dirty="0">
                <a:latin typeface="Times New Roman" panose="02020603050405020304" pitchFamily="18" charset="0"/>
                <a:cs typeface="Times New Roman" panose="02020603050405020304" pitchFamily="18" charset="0"/>
              </a:rPr>
              <a:t>credential access</a:t>
            </a:r>
            <a:r>
              <a:rPr lang="en-US" altLang="zh-TW" dirty="0">
                <a:latin typeface="Times New Roman" panose="02020603050405020304" pitchFamily="18" charset="0"/>
                <a:cs typeface="Times New Roman" panose="02020603050405020304" pitchFamily="18" charset="0"/>
              </a:rPr>
              <a:t> or </a:t>
            </a:r>
            <a:r>
              <a:rPr lang="en-US" altLang="zh-TW" b="1" dirty="0">
                <a:latin typeface="Times New Roman" panose="02020603050405020304" pitchFamily="18" charset="0"/>
                <a:cs typeface="Times New Roman" panose="02020603050405020304" pitchFamily="18" charset="0"/>
              </a:rPr>
              <a:t>privilege escalation </a:t>
            </a:r>
          </a:p>
        </p:txBody>
      </p:sp>
      <p:graphicFrame>
        <p:nvGraphicFramePr>
          <p:cNvPr id="5" name="表格 4">
            <a:extLst>
              <a:ext uri="{FF2B5EF4-FFF2-40B4-BE49-F238E27FC236}">
                <a16:creationId xmlns:a16="http://schemas.microsoft.com/office/drawing/2014/main" id="{B9250045-6A46-4050-E692-3EC3E6D36AC0}"/>
              </a:ext>
            </a:extLst>
          </p:cNvPr>
          <p:cNvGraphicFramePr>
            <a:graphicFrameLocks noGrp="1"/>
          </p:cNvGraphicFramePr>
          <p:nvPr>
            <p:extLst>
              <p:ext uri="{D42A27DB-BD31-4B8C-83A1-F6EECF244321}">
                <p14:modId xmlns:p14="http://schemas.microsoft.com/office/powerpoint/2010/main" val="1263128919"/>
              </p:ext>
            </p:extLst>
          </p:nvPr>
        </p:nvGraphicFramePr>
        <p:xfrm>
          <a:off x="719868" y="5790561"/>
          <a:ext cx="7231476" cy="854123"/>
        </p:xfrm>
        <a:graphic>
          <a:graphicData uri="http://schemas.openxmlformats.org/drawingml/2006/table">
            <a:tbl>
              <a:tblPr firstRow="1" bandRow="1">
                <a:tableStyleId>{2D5ABB26-0587-4C30-8999-92F81FD0307C}</a:tableStyleId>
              </a:tblPr>
              <a:tblGrid>
                <a:gridCol w="1033068">
                  <a:extLst>
                    <a:ext uri="{9D8B030D-6E8A-4147-A177-3AD203B41FA5}">
                      <a16:colId xmlns:a16="http://schemas.microsoft.com/office/drawing/2014/main" val="941483905"/>
                    </a:ext>
                  </a:extLst>
                </a:gridCol>
                <a:gridCol w="1033068">
                  <a:extLst>
                    <a:ext uri="{9D8B030D-6E8A-4147-A177-3AD203B41FA5}">
                      <a16:colId xmlns:a16="http://schemas.microsoft.com/office/drawing/2014/main" val="19903012"/>
                    </a:ext>
                  </a:extLst>
                </a:gridCol>
                <a:gridCol w="1033068">
                  <a:extLst>
                    <a:ext uri="{9D8B030D-6E8A-4147-A177-3AD203B41FA5}">
                      <a16:colId xmlns:a16="http://schemas.microsoft.com/office/drawing/2014/main" val="1375225440"/>
                    </a:ext>
                  </a:extLst>
                </a:gridCol>
                <a:gridCol w="1033068">
                  <a:extLst>
                    <a:ext uri="{9D8B030D-6E8A-4147-A177-3AD203B41FA5}">
                      <a16:colId xmlns:a16="http://schemas.microsoft.com/office/drawing/2014/main" val="370168814"/>
                    </a:ext>
                  </a:extLst>
                </a:gridCol>
                <a:gridCol w="1033068">
                  <a:extLst>
                    <a:ext uri="{9D8B030D-6E8A-4147-A177-3AD203B41FA5}">
                      <a16:colId xmlns:a16="http://schemas.microsoft.com/office/drawing/2014/main" val="2455561274"/>
                    </a:ext>
                  </a:extLst>
                </a:gridCol>
                <a:gridCol w="1033068">
                  <a:extLst>
                    <a:ext uri="{9D8B030D-6E8A-4147-A177-3AD203B41FA5}">
                      <a16:colId xmlns:a16="http://schemas.microsoft.com/office/drawing/2014/main" val="636926078"/>
                    </a:ext>
                  </a:extLst>
                </a:gridCol>
                <a:gridCol w="1033068">
                  <a:extLst>
                    <a:ext uri="{9D8B030D-6E8A-4147-A177-3AD203B41FA5}">
                      <a16:colId xmlns:a16="http://schemas.microsoft.com/office/drawing/2014/main" val="3813218938"/>
                    </a:ext>
                  </a:extLst>
                </a:gridCol>
              </a:tblGrid>
              <a:tr h="284707">
                <a:tc>
                  <a:txBody>
                    <a:bodyPr/>
                    <a:lstStyle/>
                    <a:p>
                      <a:pPr algn="ctr"/>
                      <a:r>
                        <a:rPr lang="en-US" altLang="zh-TW" sz="1600" dirty="0">
                          <a:latin typeface="Cambria" panose="02040503050406030204" pitchFamily="18" charset="0"/>
                          <a:ea typeface="Cambria" panose="02040503050406030204" pitchFamily="18" charset="0"/>
                        </a:rPr>
                        <a:t>1</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2</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3</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4</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5</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6</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rPr>
                        <a:t>7</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6815891"/>
                  </a:ext>
                </a:extLst>
              </a:tr>
              <a:tr h="569416">
                <a:tc>
                  <a:txBody>
                    <a:bodyPr/>
                    <a:lstStyle/>
                    <a:p>
                      <a:pPr algn="ctr"/>
                      <a:r>
                        <a:rPr lang="en-US" altLang="zh-TW" sz="1600" dirty="0">
                          <a:latin typeface="Cambria" panose="02040503050406030204" pitchFamily="18" charset="0"/>
                          <a:ea typeface="Cambria" panose="02040503050406030204" pitchFamily="18" charset="0"/>
                        </a:rPr>
                        <a:t>Discovery</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Collection</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Credential Access</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Privilege</a:t>
                      </a:r>
                    </a:p>
                    <a:p>
                      <a:pPr algn="ctr"/>
                      <a:r>
                        <a:rPr lang="en-US" altLang="zh-TW" sz="1600" dirty="0">
                          <a:latin typeface="Cambria" panose="02040503050406030204" pitchFamily="18" charset="0"/>
                          <a:ea typeface="Cambria" panose="02040503050406030204" pitchFamily="18" charset="0"/>
                        </a:rPr>
                        <a:t>escalation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Lateral</a:t>
                      </a:r>
                    </a:p>
                    <a:p>
                      <a:pPr algn="ctr"/>
                      <a:r>
                        <a:rPr lang="en-US" altLang="zh-TW" sz="1600" dirty="0">
                          <a:latin typeface="Cambria" panose="02040503050406030204" pitchFamily="18" charset="0"/>
                          <a:ea typeface="Cambria" panose="02040503050406030204" pitchFamily="18" charset="0"/>
                        </a:rPr>
                        <a:t>Movement</a:t>
                      </a:r>
                      <a:endParaRPr lang="zh-TW" altLang="en-US" sz="1600" dirty="0">
                        <a:latin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Exfiltration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latin typeface="Cambria" panose="02040503050406030204" pitchFamily="18" charset="0"/>
                          <a:ea typeface="Cambria" panose="02040503050406030204" pitchFamily="18" charset="0"/>
                        </a:rPr>
                        <a:t>Impact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9905"/>
                  </a:ext>
                </a:extLst>
              </a:tr>
            </a:tbl>
          </a:graphicData>
        </a:graphic>
      </p:graphicFrame>
      <p:pic>
        <p:nvPicPr>
          <p:cNvPr id="9" name="圖片 8">
            <a:extLst>
              <a:ext uri="{FF2B5EF4-FFF2-40B4-BE49-F238E27FC236}">
                <a16:creationId xmlns:a16="http://schemas.microsoft.com/office/drawing/2014/main" id="{3D684AF6-801C-3360-6F54-A00FE1073EA2}"/>
              </a:ext>
            </a:extLst>
          </p:cNvPr>
          <p:cNvPicPr>
            <a:picLocks noChangeAspect="1"/>
          </p:cNvPicPr>
          <p:nvPr/>
        </p:nvPicPr>
        <p:blipFill>
          <a:blip r:embed="rId3"/>
          <a:stretch>
            <a:fillRect/>
          </a:stretch>
        </p:blipFill>
        <p:spPr>
          <a:xfrm>
            <a:off x="470228" y="1234982"/>
            <a:ext cx="7562148" cy="4488104"/>
          </a:xfrm>
          <a:prstGeom prst="rect">
            <a:avLst/>
          </a:prstGeom>
        </p:spPr>
      </p:pic>
    </p:spTree>
    <p:extLst>
      <p:ext uri="{BB962C8B-B14F-4D97-AF65-F5344CB8AC3E}">
        <p14:creationId xmlns:p14="http://schemas.microsoft.com/office/powerpoint/2010/main" val="14967321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27A129-F4FC-2DD0-19F7-9BAC547CEF7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4DBEFED-9CA5-307E-5D8D-E7DC224C88FB}"/>
              </a:ext>
            </a:extLst>
          </p:cNvPr>
          <p:cNvSpPr>
            <a:spLocks noGrp="1"/>
          </p:cNvSpPr>
          <p:nvPr>
            <p:ph type="title"/>
          </p:nvPr>
        </p:nvSpPr>
        <p:spPr/>
        <p:txBody>
          <a:bodyPr>
            <a:normAutofit fontScale="90000"/>
          </a:bodyPr>
          <a:lstStyle/>
          <a:p>
            <a:r>
              <a:rPr lang="en-US" altLang="zh-TW" sz="4000" dirty="0">
                <a:latin typeface="Times New Roman" panose="02020603050405020304" pitchFamily="18" charset="0"/>
                <a:cs typeface="Times New Roman" panose="02020603050405020304" pitchFamily="18" charset="0"/>
              </a:rPr>
              <a:t>Experiment Result – Attack Diversity</a:t>
            </a:r>
            <a:br>
              <a:rPr lang="en-US" altLang="zh-TW" sz="3600" dirty="0">
                <a:latin typeface="Times New Roman" panose="02020603050405020304" pitchFamily="18" charset="0"/>
                <a:cs typeface="Times New Roman" panose="02020603050405020304" pitchFamily="18" charset="0"/>
              </a:rPr>
            </a:br>
            <a:r>
              <a:rPr lang="en-US" altLang="zh-TW" sz="2700" dirty="0">
                <a:latin typeface="Times New Roman" panose="02020603050405020304" pitchFamily="18" charset="0"/>
                <a:cs typeface="Times New Roman" panose="02020603050405020304" pitchFamily="18" charset="0"/>
              </a:rPr>
              <a:t>Outperform QRASSH by 199% and GPT-5o by 29%</a:t>
            </a:r>
            <a:endParaRPr lang="zh-TW" altLang="en-US" sz="3600" dirty="0"/>
          </a:p>
        </p:txBody>
      </p:sp>
      <p:sp>
        <p:nvSpPr>
          <p:cNvPr id="3" name="文字版面配置區 2">
            <a:extLst>
              <a:ext uri="{FF2B5EF4-FFF2-40B4-BE49-F238E27FC236}">
                <a16:creationId xmlns:a16="http://schemas.microsoft.com/office/drawing/2014/main" id="{3E87DA27-7976-CFBC-5CA0-3FEA666E27F8}"/>
              </a:ext>
            </a:extLst>
          </p:cNvPr>
          <p:cNvSpPr>
            <a:spLocks noGrp="1"/>
          </p:cNvSpPr>
          <p:nvPr>
            <p:ph type="body" idx="1"/>
          </p:nvPr>
        </p:nvSpPr>
        <p:spPr>
          <a:xfrm>
            <a:off x="8150391" y="1472634"/>
            <a:ext cx="3947394" cy="4986532"/>
          </a:xfrm>
        </p:spPr>
        <p:txBody>
          <a:bodyPr>
            <a:normAutofit/>
          </a:bodyPr>
          <a:lstStyle/>
          <a:p>
            <a:pPr marL="0" indent="0">
              <a:buNone/>
            </a:pPr>
            <a:r>
              <a:rPr lang="en-US" altLang="zh-TW" sz="1800" dirty="0">
                <a:latin typeface="Times New Roman" panose="02020603050405020304" pitchFamily="18" charset="0"/>
                <a:cs typeface="Times New Roman" panose="02020603050405020304" pitchFamily="18" charset="0"/>
              </a:rPr>
              <a:t>Description : </a:t>
            </a:r>
            <a:br>
              <a:rPr lang="en-US" altLang="zh-TW" sz="1800" dirty="0">
                <a:latin typeface="Times New Roman" panose="02020603050405020304" pitchFamily="18" charset="0"/>
                <a:cs typeface="Times New Roman" panose="02020603050405020304" pitchFamily="18" charset="0"/>
              </a:rPr>
            </a:br>
            <a:r>
              <a:rPr lang="en-US" altLang="zh-TW" sz="1800" dirty="0">
                <a:latin typeface="Times New Roman" panose="02020603050405020304" pitchFamily="18" charset="0"/>
                <a:cs typeface="Times New Roman" panose="02020603050405020304" pitchFamily="18" charset="0"/>
              </a:rPr>
              <a:t>Number of </a:t>
            </a:r>
            <a:r>
              <a:rPr lang="en-US" altLang="zh-TW" sz="1800" b="1" dirty="0">
                <a:latin typeface="Times New Roman" panose="02020603050405020304" pitchFamily="18" charset="0"/>
                <a:cs typeface="Times New Roman" panose="02020603050405020304" pitchFamily="18" charset="0"/>
              </a:rPr>
              <a:t>unique</a:t>
            </a:r>
            <a:r>
              <a:rPr lang="en-US" altLang="zh-TW" sz="1800" dirty="0">
                <a:latin typeface="Times New Roman" panose="02020603050405020304" pitchFamily="18" charset="0"/>
                <a:cs typeface="Times New Roman" panose="02020603050405020304" pitchFamily="18" charset="0"/>
              </a:rPr>
              <a:t> techniques identified.</a:t>
            </a:r>
          </a:p>
          <a:p>
            <a:pPr marL="0" indent="0">
              <a:buNone/>
            </a:pPr>
            <a:endParaRPr lang="en-US" altLang="zh-TW" sz="1800" dirty="0">
              <a:latin typeface="Times New Roman" panose="02020603050405020304" pitchFamily="18" charset="0"/>
              <a:cs typeface="Times New Roman" panose="02020603050405020304" pitchFamily="18" charset="0"/>
            </a:endParaRPr>
          </a:p>
          <a:p>
            <a:pPr marL="0" indent="0">
              <a:buNone/>
            </a:pPr>
            <a:r>
              <a:rPr lang="en-US" altLang="zh-TW" sz="1800" dirty="0">
                <a:latin typeface="Times New Roman" panose="02020603050405020304" pitchFamily="18" charset="0"/>
                <a:cs typeface="Times New Roman" panose="02020603050405020304" pitchFamily="18" charset="0"/>
              </a:rPr>
              <a:t>Average unique techniques:</a:t>
            </a:r>
          </a:p>
          <a:p>
            <a:pPr marL="268288" indent="-268288">
              <a:buFont typeface="Wingdings" panose="05000000000000000000" pitchFamily="2" charset="2"/>
              <a:buChar char=""/>
            </a:pPr>
            <a:r>
              <a:rPr lang="en-US" altLang="zh-TW" sz="1800" dirty="0" err="1">
                <a:latin typeface="Times New Roman" panose="02020603050405020304" pitchFamily="18" charset="0"/>
                <a:cs typeface="Times New Roman" panose="02020603050405020304" pitchFamily="18" charset="0"/>
              </a:rPr>
              <a:t>Aware+SFT+RFT</a:t>
            </a:r>
            <a:r>
              <a:rPr lang="en-US" altLang="zh-TW" sz="1800" dirty="0">
                <a:latin typeface="Times New Roman" panose="02020603050405020304" pitchFamily="18" charset="0"/>
                <a:cs typeface="Times New Roman" panose="02020603050405020304" pitchFamily="18" charset="0"/>
              </a:rPr>
              <a:t>: 8.47</a:t>
            </a:r>
          </a:p>
          <a:p>
            <a:pPr marL="268288" indent="-268288">
              <a:buFont typeface="Wingdings" panose="05000000000000000000" pitchFamily="2" charset="2"/>
              <a:buChar char=""/>
            </a:pPr>
            <a:r>
              <a:rPr lang="en-US" altLang="zh-TW" sz="1800" dirty="0" err="1">
                <a:latin typeface="Times New Roman" panose="02020603050405020304" pitchFamily="18" charset="0"/>
                <a:cs typeface="Times New Roman" panose="02020603050405020304" pitchFamily="18" charset="0"/>
              </a:rPr>
              <a:t>Aware+SFT</a:t>
            </a:r>
            <a:r>
              <a:rPr lang="en-US" altLang="zh-TW" sz="1800" dirty="0">
                <a:latin typeface="Times New Roman" panose="02020603050405020304" pitchFamily="18" charset="0"/>
                <a:cs typeface="Times New Roman" panose="02020603050405020304" pitchFamily="18" charset="0"/>
              </a:rPr>
              <a:t>: 7.66</a:t>
            </a:r>
          </a:p>
          <a:p>
            <a:pPr marL="268288" indent="-268288" defTabSz="720000">
              <a:lnSpc>
                <a:spcPct val="100000"/>
              </a:lnSpc>
              <a:buSzPct val="100000"/>
              <a:buFont typeface="Wingdings" panose="05000000000000000000" pitchFamily="2" charset="2"/>
              <a:buChar char=""/>
              <a:tabLst>
                <a:tab pos="0" algn="l"/>
                <a:tab pos="268288" algn="l"/>
              </a:tabLst>
            </a:pPr>
            <a:r>
              <a:rPr lang="en-US" altLang="zh-TW" sz="1800" dirty="0">
                <a:latin typeface="Times New Roman" panose="02020603050405020304" pitchFamily="18" charset="0"/>
                <a:cs typeface="Times New Roman" panose="02020603050405020304" pitchFamily="18" charset="0"/>
              </a:rPr>
              <a:t>Aware only: 7.14</a:t>
            </a:r>
          </a:p>
          <a:p>
            <a:pPr marL="268288" indent="-268288" defTabSz="720000">
              <a:lnSpc>
                <a:spcPct val="100000"/>
              </a:lnSpc>
              <a:buSzPct val="100000"/>
              <a:buFont typeface="Wingdings" panose="05000000000000000000" pitchFamily="2" charset="2"/>
              <a:buChar char=""/>
              <a:tabLst>
                <a:tab pos="0" algn="l"/>
                <a:tab pos="268288" algn="l"/>
              </a:tabLst>
            </a:pPr>
            <a:r>
              <a:rPr lang="en-US" altLang="zh-TW" sz="1800" dirty="0">
                <a:latin typeface="Times New Roman" panose="02020603050405020304" pitchFamily="18" charset="0"/>
                <a:cs typeface="Times New Roman" panose="02020603050405020304" pitchFamily="18" charset="0"/>
              </a:rPr>
              <a:t>Base Model: 6.61</a:t>
            </a:r>
          </a:p>
          <a:p>
            <a:pPr marL="268288" indent="-268288" defTabSz="720000">
              <a:lnSpc>
                <a:spcPct val="100000"/>
              </a:lnSpc>
              <a:buSzPct val="100000"/>
              <a:buFont typeface="Wingdings" panose="05000000000000000000" pitchFamily="2" charset="2"/>
              <a:buChar char=""/>
              <a:tabLst>
                <a:tab pos="0" algn="l"/>
                <a:tab pos="268288" algn="l"/>
              </a:tabLst>
            </a:pPr>
            <a:r>
              <a:rPr lang="en-US" altLang="zh-TW" sz="1800" dirty="0">
                <a:latin typeface="Times New Roman" panose="02020603050405020304" pitchFamily="18" charset="0"/>
                <a:cs typeface="Times New Roman" panose="02020603050405020304" pitchFamily="18" charset="0"/>
              </a:rPr>
              <a:t>GPT-5o</a:t>
            </a:r>
            <a:r>
              <a:rPr lang="en-US" altLang="zh-TW" sz="1800" baseline="300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(Aware only):  6.56</a:t>
            </a:r>
          </a:p>
          <a:p>
            <a:pPr marL="268288" indent="-268288" defTabSz="720000">
              <a:lnSpc>
                <a:spcPct val="100000"/>
              </a:lnSpc>
              <a:buSzPct val="100000"/>
              <a:buFont typeface="Wingdings" panose="05000000000000000000" pitchFamily="2" charset="2"/>
              <a:buChar char=""/>
              <a:tabLst>
                <a:tab pos="0" algn="l"/>
                <a:tab pos="268288" algn="l"/>
              </a:tabLst>
            </a:pPr>
            <a:r>
              <a:rPr lang="en-US" altLang="zh-TW" sz="1800" dirty="0">
                <a:latin typeface="Times New Roman" panose="02020603050405020304" pitchFamily="18" charset="0"/>
                <a:cs typeface="Times New Roman" panose="02020603050405020304" pitchFamily="18" charset="0"/>
              </a:rPr>
              <a:t>QRASSH: 2.83</a:t>
            </a:r>
          </a:p>
          <a:p>
            <a:pPr marL="0" indent="0" defTabSz="720000">
              <a:lnSpc>
                <a:spcPct val="100000"/>
              </a:lnSpc>
              <a:buSzPct val="100000"/>
              <a:buNone/>
              <a:tabLst>
                <a:tab pos="0" algn="l"/>
              </a:tabLst>
            </a:pPr>
            <a:endParaRPr lang="en-US" altLang="zh-TW" sz="1800" dirty="0">
              <a:latin typeface="Times New Roman" panose="02020603050405020304" pitchFamily="18" charset="0"/>
              <a:cs typeface="Times New Roman" panose="02020603050405020304" pitchFamily="18" charset="0"/>
            </a:endParaRPr>
          </a:p>
          <a:p>
            <a:pPr marL="0" indent="0" defTabSz="720000">
              <a:lnSpc>
                <a:spcPct val="100000"/>
              </a:lnSpc>
              <a:buSzPct val="100000"/>
              <a:buNone/>
              <a:tabLst>
                <a:tab pos="0" algn="l"/>
              </a:tabLst>
            </a:pPr>
            <a:r>
              <a:rPr lang="en-US" altLang="zh-TW" sz="1800" dirty="0">
                <a:latin typeface="Times New Roman" panose="02020603050405020304" pitchFamily="18" charset="0"/>
                <a:cs typeface="Times New Roman" panose="02020603050405020304" pitchFamily="18" charset="0"/>
              </a:rPr>
              <a:t>Discussion:</a:t>
            </a:r>
          </a:p>
          <a:p>
            <a:pPr marL="285750" indent="-285750" defTabSz="720000">
              <a:lnSpc>
                <a:spcPct val="100000"/>
              </a:lnSpc>
              <a:buSzPct val="100000"/>
              <a:buFont typeface="Wingdings" panose="05000000000000000000" pitchFamily="2" charset="2"/>
              <a:buChar char=""/>
              <a:tabLst>
                <a:tab pos="0" algn="l"/>
              </a:tabLst>
            </a:pPr>
            <a:r>
              <a:rPr lang="en-US" altLang="zh-TW" sz="1800" dirty="0">
                <a:latin typeface="Times New Roman" panose="02020603050405020304" pitchFamily="18" charset="0"/>
                <a:cs typeface="Times New Roman" panose="02020603050405020304" pitchFamily="18" charset="0"/>
              </a:rPr>
              <a:t>QRASSH still fail on fidelity</a:t>
            </a:r>
          </a:p>
          <a:p>
            <a:pPr marL="285750" indent="-285750" defTabSz="720000">
              <a:lnSpc>
                <a:spcPct val="100000"/>
              </a:lnSpc>
              <a:buSzPct val="100000"/>
              <a:buFont typeface="Wingdings" panose="05000000000000000000" pitchFamily="2" charset="2"/>
              <a:buChar char=""/>
              <a:tabLst>
                <a:tab pos="0" algn="l"/>
              </a:tabLst>
            </a:pPr>
            <a:r>
              <a:rPr lang="en-US" altLang="zh-TW" sz="1800" dirty="0">
                <a:latin typeface="Times New Roman" panose="02020603050405020304" pitchFamily="18" charset="0"/>
                <a:cs typeface="Times New Roman" panose="02020603050405020304" pitchFamily="18" charset="0"/>
              </a:rPr>
              <a:t>GPT-5o's rigid strategy selection prevents attackers from detecting new information and generating more attack patterns.</a:t>
            </a:r>
          </a:p>
        </p:txBody>
      </p:sp>
      <p:sp>
        <p:nvSpPr>
          <p:cNvPr id="4" name="投影片編號版面配置區 3">
            <a:extLst>
              <a:ext uri="{FF2B5EF4-FFF2-40B4-BE49-F238E27FC236}">
                <a16:creationId xmlns:a16="http://schemas.microsoft.com/office/drawing/2014/main" id="{281BDD67-9AE6-71CE-815C-147EEF7DEAF4}"/>
              </a:ext>
            </a:extLst>
          </p:cNvPr>
          <p:cNvSpPr>
            <a:spLocks noGrp="1"/>
          </p:cNvSpPr>
          <p:nvPr>
            <p:ph type="sldNum" idx="12"/>
          </p:nvPr>
        </p:nvSpPr>
        <p:spPr/>
        <p:txBody>
          <a:bodyPr/>
          <a:lstStyle/>
          <a:p>
            <a:fld id="{00000000-1234-1234-1234-123412341234}" type="slidenum">
              <a:rPr lang="en-US" altLang="zh-TW" smtClean="0"/>
              <a:pPr/>
              <a:t>79</a:t>
            </a:fld>
            <a:endParaRPr lang="zh-TW" altLang="en-US" dirty="0"/>
          </a:p>
        </p:txBody>
      </p:sp>
      <p:pic>
        <p:nvPicPr>
          <p:cNvPr id="8" name="圖片 7">
            <a:extLst>
              <a:ext uri="{FF2B5EF4-FFF2-40B4-BE49-F238E27FC236}">
                <a16:creationId xmlns:a16="http://schemas.microsoft.com/office/drawing/2014/main" id="{29B1D5AF-FDB5-51AF-1B39-6A36A8E8314D}"/>
              </a:ext>
            </a:extLst>
          </p:cNvPr>
          <p:cNvPicPr>
            <a:picLocks noChangeAspect="1"/>
          </p:cNvPicPr>
          <p:nvPr/>
        </p:nvPicPr>
        <p:blipFill>
          <a:blip r:embed="rId3"/>
          <a:stretch>
            <a:fillRect/>
          </a:stretch>
        </p:blipFill>
        <p:spPr>
          <a:xfrm>
            <a:off x="94216" y="1658428"/>
            <a:ext cx="8056176" cy="4781308"/>
          </a:xfrm>
          <a:prstGeom prst="rect">
            <a:avLst/>
          </a:prstGeom>
        </p:spPr>
      </p:pic>
    </p:spTree>
    <p:extLst>
      <p:ext uri="{BB962C8B-B14F-4D97-AF65-F5344CB8AC3E}">
        <p14:creationId xmlns:p14="http://schemas.microsoft.com/office/powerpoint/2010/main" val="12590033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DEA780-FA67-8BCC-68E6-88E9E7D4563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8E6CF2D-BC4A-F1D5-74C3-7FF20A85C522}"/>
              </a:ext>
            </a:extLst>
          </p:cNvPr>
          <p:cNvSpPr>
            <a:spLocks noGrp="1"/>
          </p:cNvSpPr>
          <p:nvPr>
            <p:ph type="title"/>
          </p:nvPr>
        </p:nvSpPr>
        <p:spPr>
          <a:xfrm>
            <a:off x="427597" y="432680"/>
            <a:ext cx="11517970" cy="894950"/>
          </a:xfrm>
        </p:spPr>
        <p:txBody>
          <a:bodyPr>
            <a:normAutofit fontScale="90000"/>
          </a:bodyPr>
          <a:lstStyle/>
          <a:p>
            <a:r>
              <a:rPr lang="en-US" altLang="zh-TW" sz="2700" dirty="0">
                <a:latin typeface="Times New Roman" panose="02020603050405020304" pitchFamily="18" charset="0"/>
                <a:cs typeface="Times New Roman" panose="02020603050405020304" pitchFamily="18" charset="0"/>
              </a:rPr>
              <a:t>Experiment Result</a:t>
            </a:r>
            <a:r>
              <a:rPr lang="zh-TW" altLang="en-US" sz="2700" dirty="0">
                <a:latin typeface="Times New Roman" panose="02020603050405020304" pitchFamily="18" charset="0"/>
                <a:cs typeface="Times New Roman" panose="02020603050405020304" pitchFamily="18" charset="0"/>
              </a:rPr>
              <a:t> </a:t>
            </a:r>
            <a:r>
              <a:rPr lang="en-US" altLang="zh-TW" sz="2700" dirty="0">
                <a:latin typeface="Times New Roman" panose="02020603050405020304" pitchFamily="18" charset="0"/>
                <a:cs typeface="Times New Roman" panose="02020603050405020304" pitchFamily="18" charset="0"/>
              </a:rPr>
              <a:t>: Intent detection rate; Ours </a:t>
            </a:r>
            <a:r>
              <a:rPr lang="en-US" altLang="zh-TW" sz="2700" dirty="0" err="1">
                <a:latin typeface="Times New Roman" panose="02020603050405020304" pitchFamily="18" charset="0"/>
                <a:cs typeface="Times New Roman" panose="02020603050405020304" pitchFamily="18" charset="0"/>
              </a:rPr>
              <a:t>v.s</a:t>
            </a:r>
            <a:r>
              <a:rPr lang="en-US" altLang="zh-TW" sz="2700" dirty="0">
                <a:latin typeface="Times New Roman" panose="02020603050405020304" pitchFamily="18" charset="0"/>
                <a:cs typeface="Times New Roman" panose="02020603050405020304" pitchFamily="18" charset="0"/>
              </a:rPr>
              <a:t>. base model</a:t>
            </a:r>
            <a:r>
              <a:rPr lang="zh-TW" altLang="en-US" sz="2700" dirty="0">
                <a:latin typeface="Times New Roman" panose="02020603050405020304" pitchFamily="18" charset="0"/>
                <a:cs typeface="Times New Roman" panose="02020603050405020304" pitchFamily="18" charset="0"/>
              </a:rPr>
              <a:t> </a:t>
            </a:r>
            <a:r>
              <a:rPr lang="en-US" altLang="zh-TW" sz="2700" dirty="0" err="1">
                <a:latin typeface="Times New Roman" panose="02020603050405020304" pitchFamily="18" charset="0"/>
                <a:cs typeface="Times New Roman" panose="02020603050405020304" pitchFamily="18" charset="0"/>
              </a:rPr>
              <a:t>v.s</a:t>
            </a:r>
            <a:r>
              <a:rPr lang="en-US" altLang="zh-TW" sz="2700" dirty="0">
                <a:latin typeface="Times New Roman" panose="02020603050405020304" pitchFamily="18" charset="0"/>
                <a:cs typeface="Times New Roman" panose="02020603050405020304" pitchFamily="18" charset="0"/>
              </a:rPr>
              <a:t>. GPT-5o</a:t>
            </a:r>
            <a:br>
              <a:rPr lang="en-US" altLang="zh-TW" sz="3600"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Finetuned LLM beat baseline LLM from about 189%</a:t>
            </a:r>
            <a:br>
              <a:rPr lang="en-US" altLang="zh-TW" sz="3600" dirty="0">
                <a:latin typeface="Times New Roman" panose="02020603050405020304" pitchFamily="18" charset="0"/>
                <a:cs typeface="Times New Roman" panose="02020603050405020304" pitchFamily="18" charset="0"/>
              </a:rPr>
            </a:br>
            <a:endParaRPr lang="zh-TW" altLang="en-US" sz="3600" dirty="0"/>
          </a:p>
        </p:txBody>
      </p:sp>
      <p:sp>
        <p:nvSpPr>
          <p:cNvPr id="4" name="投影片編號版面配置區 3">
            <a:extLst>
              <a:ext uri="{FF2B5EF4-FFF2-40B4-BE49-F238E27FC236}">
                <a16:creationId xmlns:a16="http://schemas.microsoft.com/office/drawing/2014/main" id="{F45F93DB-229D-49FF-723A-F9586008EAF6}"/>
              </a:ext>
            </a:extLst>
          </p:cNvPr>
          <p:cNvSpPr>
            <a:spLocks noGrp="1"/>
          </p:cNvSpPr>
          <p:nvPr>
            <p:ph type="sldNum" idx="12"/>
          </p:nvPr>
        </p:nvSpPr>
        <p:spPr>
          <a:xfrm>
            <a:off x="11609295" y="6217623"/>
            <a:ext cx="418916" cy="524800"/>
          </a:xfrm>
        </p:spPr>
        <p:txBody>
          <a:bodyPr>
            <a:normAutofit/>
          </a:bodyPr>
          <a:lstStyle/>
          <a:p>
            <a:fld id="{00000000-1234-1234-1234-123412341234}" type="slidenum">
              <a:rPr lang="en-US" altLang="zh-TW" smtClean="0"/>
              <a:pPr/>
              <a:t>80</a:t>
            </a:fld>
            <a:endParaRPr lang="zh-TW" altLang="en-US" dirty="0"/>
          </a:p>
        </p:txBody>
      </p:sp>
      <p:sp>
        <p:nvSpPr>
          <p:cNvPr id="16" name="文字版面配置區 2">
            <a:extLst>
              <a:ext uri="{FF2B5EF4-FFF2-40B4-BE49-F238E27FC236}">
                <a16:creationId xmlns:a16="http://schemas.microsoft.com/office/drawing/2014/main" id="{374558C1-B446-722E-7886-B95FDB9CCBE7}"/>
              </a:ext>
            </a:extLst>
          </p:cNvPr>
          <p:cNvSpPr>
            <a:spLocks noGrp="1"/>
          </p:cNvSpPr>
          <p:nvPr>
            <p:ph type="body" idx="1"/>
          </p:nvPr>
        </p:nvSpPr>
        <p:spPr>
          <a:xfrm>
            <a:off x="7376156" y="1493300"/>
            <a:ext cx="4753091" cy="5171549"/>
          </a:xfrm>
        </p:spPr>
        <p:txBody>
          <a:bodyPr>
            <a:normAutofit/>
          </a:bodyPr>
          <a:lstStyle/>
          <a:p>
            <a:pPr marL="265113" indent="-265113"/>
            <a:r>
              <a:rPr lang="en-US" altLang="zh-TW" sz="2400" dirty="0">
                <a:latin typeface="Times New Roman" panose="02020603050405020304" pitchFamily="18" charset="0"/>
                <a:cs typeface="Times New Roman" panose="02020603050405020304" pitchFamily="18" charset="0"/>
              </a:rPr>
              <a:t>Finetuning can improve base model Intent detection rate</a:t>
            </a:r>
          </a:p>
          <a:p>
            <a:pPr marL="628650" lvl="1" indent="-265113"/>
            <a:r>
              <a:rPr lang="en-US" altLang="zh-TW" sz="2000" dirty="0">
                <a:latin typeface="Times New Roman" panose="02020603050405020304" pitchFamily="18" charset="0"/>
                <a:cs typeface="Times New Roman" panose="02020603050405020304" pitchFamily="18" charset="0"/>
              </a:rPr>
              <a:t>Embedding Chain of thought</a:t>
            </a:r>
          </a:p>
          <a:p>
            <a:pPr marL="628650" lvl="1" indent="-265113"/>
            <a:r>
              <a:rPr lang="en-US" altLang="zh-TW" sz="2000" dirty="0">
                <a:latin typeface="Times New Roman" panose="02020603050405020304" pitchFamily="18" charset="0"/>
                <a:cs typeface="Times New Roman" panose="02020603050405020304" pitchFamily="18" charset="0"/>
              </a:rPr>
              <a:t>Discuss each command, not directly output final labels</a:t>
            </a:r>
          </a:p>
          <a:p>
            <a:pPr marL="19065" indent="-265113"/>
            <a:endParaRPr lang="en-US" altLang="zh-TW" sz="2400" dirty="0">
              <a:latin typeface="Times New Roman" panose="02020603050405020304" pitchFamily="18" charset="0"/>
              <a:cs typeface="Times New Roman" panose="02020603050405020304" pitchFamily="18" charset="0"/>
            </a:endParaRPr>
          </a:p>
          <a:p>
            <a:pPr marL="265113" indent="-265113"/>
            <a:r>
              <a:rPr lang="en-US" altLang="zh-TW" sz="2400" dirty="0">
                <a:latin typeface="Times New Roman" panose="02020603050405020304" pitchFamily="18" charset="0"/>
                <a:cs typeface="Times New Roman" panose="02020603050405020304" pitchFamily="18" charset="0"/>
              </a:rPr>
              <a:t>Finetuning can labeled tactics more accurately than commercial LLM</a:t>
            </a:r>
            <a:endParaRPr lang="en-US" altLang="zh-TW" sz="2000" dirty="0">
              <a:latin typeface="Times New Roman" panose="02020603050405020304" pitchFamily="18" charset="0"/>
              <a:cs typeface="Times New Roman" panose="02020603050405020304" pitchFamily="18" charset="0"/>
            </a:endParaRPr>
          </a:p>
          <a:p>
            <a:pPr marL="628650" lvl="1" indent="-265113"/>
            <a:r>
              <a:rPr lang="en-US" altLang="zh-TW" sz="2000" dirty="0">
                <a:latin typeface="Times New Roman" panose="02020603050405020304" pitchFamily="18" charset="0"/>
                <a:cs typeface="Times New Roman" panose="02020603050405020304" pitchFamily="18" charset="0"/>
              </a:rPr>
              <a:t>Lacks domain specific knowledge.</a:t>
            </a:r>
            <a:endParaRPr lang="en-US" altLang="zh-TW" sz="1400" dirty="0">
              <a:latin typeface="Times New Roman" panose="02020603050405020304" pitchFamily="18" charset="0"/>
              <a:cs typeface="Times New Roman" panose="02020603050405020304" pitchFamily="18" charset="0"/>
            </a:endParaRPr>
          </a:p>
          <a:p>
            <a:pPr marL="19065" indent="-265113"/>
            <a:endParaRPr lang="en-US" altLang="zh-TW" sz="2400" dirty="0">
              <a:latin typeface="Times New Roman" panose="02020603050405020304" pitchFamily="18" charset="0"/>
              <a:cs typeface="Times New Roman" panose="02020603050405020304" pitchFamily="18" charset="0"/>
            </a:endParaRPr>
          </a:p>
          <a:p>
            <a:pPr marL="19065" indent="-265113"/>
            <a:endParaRPr lang="en-US" altLang="zh-TW" sz="2400" dirty="0">
              <a:latin typeface="Times New Roman" panose="02020603050405020304" pitchFamily="18" charset="0"/>
              <a:cs typeface="Times New Roman" panose="02020603050405020304" pitchFamily="18" charset="0"/>
            </a:endParaRPr>
          </a:p>
          <a:p>
            <a:pPr marL="628650" lvl="1" indent="-265113"/>
            <a:endParaRPr lang="en-US" altLang="zh-TW" sz="1600" dirty="0">
              <a:latin typeface="Times New Roman" panose="02020603050405020304" pitchFamily="18" charset="0"/>
              <a:cs typeface="Times New Roman" panose="02020603050405020304" pitchFamily="18" charset="0"/>
            </a:endParaRPr>
          </a:p>
          <a:p>
            <a:pPr marL="19065" indent="-265113"/>
            <a:endParaRPr lang="en-US" altLang="zh-TW" sz="20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838A0D6B-EF47-71B1-FF11-D626780F9068}"/>
              </a:ext>
            </a:extLst>
          </p:cNvPr>
          <p:cNvPicPr>
            <a:picLocks noChangeAspect="1"/>
          </p:cNvPicPr>
          <p:nvPr/>
        </p:nvPicPr>
        <p:blipFill>
          <a:blip r:embed="rId3"/>
          <a:stretch>
            <a:fillRect/>
          </a:stretch>
        </p:blipFill>
        <p:spPr>
          <a:xfrm>
            <a:off x="152284" y="1493300"/>
            <a:ext cx="7223872" cy="4173250"/>
          </a:xfrm>
          <a:prstGeom prst="rect">
            <a:avLst/>
          </a:prstGeom>
        </p:spPr>
      </p:pic>
    </p:spTree>
    <p:extLst>
      <p:ext uri="{BB962C8B-B14F-4D97-AF65-F5344CB8AC3E}">
        <p14:creationId xmlns:p14="http://schemas.microsoft.com/office/powerpoint/2010/main" val="416901077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9525" cap="flat" cmpd="sng" algn="ctr">
          <a:solidFill>
            <a:schemeClr val="accent1"/>
          </a:solidFill>
          <a:prstDash val="solid"/>
          <a:round/>
          <a:headEnd type="none" w="med" len="med"/>
          <a:tailEnd type="none" w="med" len="med"/>
        </a:ln>
      </a:spPr>
      <a:bodyPr rtlCol="0" anchor="ctr"/>
      <a:lstStyle>
        <a:defPPr algn="ctr">
          <a:defRPr/>
        </a:defPPr>
      </a:lstStyle>
      <a:style>
        <a:lnRef idx="0">
          <a:scrgbClr r="0" g="0" b="0"/>
        </a:lnRef>
        <a:fillRef idx="0">
          <a:scrgbClr r="0" g="0" b="0"/>
        </a:fillRef>
        <a:effectRef idx="0">
          <a:scrgbClr r="0" g="0" b="0"/>
        </a:effectRef>
        <a:fontRef idx="minor">
          <a:schemeClr val="accen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102243</TotalTime>
  <Words>12756</Words>
  <Application>Microsoft Office PowerPoint</Application>
  <PresentationFormat>寬螢幕</PresentationFormat>
  <Paragraphs>1596</Paragraphs>
  <Slides>80</Slides>
  <Notes>71</Notes>
  <HiddenSlides>38</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80</vt:i4>
      </vt:variant>
    </vt:vector>
  </HeadingPairs>
  <TitlesOfParts>
    <vt:vector size="93" baseType="lpstr">
      <vt:lpstr>Gidole</vt:lpstr>
      <vt:lpstr>Libertinus Math</vt:lpstr>
      <vt:lpstr>Abadi</vt:lpstr>
      <vt:lpstr>Aptos</vt:lpstr>
      <vt:lpstr>Aptos Display</vt:lpstr>
      <vt:lpstr>Arial</vt:lpstr>
      <vt:lpstr>Calibri</vt:lpstr>
      <vt:lpstr>Cambria</vt:lpstr>
      <vt:lpstr>Cambria Math</vt:lpstr>
      <vt:lpstr>Roboto Mono</vt:lpstr>
      <vt:lpstr>Times New Roman</vt:lpstr>
      <vt:lpstr>Wingdings</vt:lpstr>
      <vt:lpstr>Office 佈景主題</vt:lpstr>
      <vt:lpstr> IntenSensePot: Finetuned LLMs for Intent-aware Engagement in Honeypots</vt:lpstr>
      <vt:lpstr>Outline</vt:lpstr>
      <vt:lpstr>Motivation</vt:lpstr>
      <vt:lpstr>Background – Honeypots </vt:lpstr>
      <vt:lpstr>Background – Decoupled RL-LLM Honeypot </vt:lpstr>
      <vt:lpstr>Background – MITRE ATT&amp;CK</vt:lpstr>
      <vt:lpstr>Background – MITRE Engage</vt:lpstr>
      <vt:lpstr>Background – Reinforcement fine-tuning - GRPO</vt:lpstr>
      <vt:lpstr>Related Works on Adaptive Honeypot </vt:lpstr>
      <vt:lpstr>Related Works on Dynamic Honeypot </vt:lpstr>
      <vt:lpstr>Notation</vt:lpstr>
      <vt:lpstr>Problem Statement – Detect Intent from Command Sequence</vt:lpstr>
      <vt:lpstr>Problem Statement – Strategy Selection and Optimization</vt:lpstr>
      <vt:lpstr>Issues</vt:lpstr>
      <vt:lpstr>PowerPoint 簡報</vt:lpstr>
      <vt:lpstr>Solution – SFT for Intent-awareness as CoT</vt:lpstr>
      <vt:lpstr>Solution – Action Space (1/3)</vt:lpstr>
      <vt:lpstr>Solution – Action Space (2/3)</vt:lpstr>
      <vt:lpstr>Solution – Action Space (3/3)</vt:lpstr>
      <vt:lpstr>Solution – Reward design </vt:lpstr>
      <vt:lpstr>Solution – Reward Modeling and GRPO</vt:lpstr>
      <vt:lpstr>Solution – Reward Modeling and GRPO</vt:lpstr>
      <vt:lpstr>Implementation – System Architecture</vt:lpstr>
      <vt:lpstr>Implementation – Simulated IT Systems[24]</vt:lpstr>
      <vt:lpstr>Implementation – Simulated Attacker</vt:lpstr>
      <vt:lpstr>Implementation – Dataset Generation</vt:lpstr>
      <vt:lpstr>Implementation – Reward Modeling and GRPO Training (1/2)</vt:lpstr>
      <vt:lpstr>Implementation – Reward Modeling and GRPO Training (2/2)</vt:lpstr>
      <vt:lpstr>Implementation – Open-source Tools and Library</vt:lpstr>
      <vt:lpstr>Evaluation setup (1/2)</vt:lpstr>
      <vt:lpstr>PowerPoint 簡報</vt:lpstr>
      <vt:lpstr>Experiment Result – Attack Depth  Outperform QRASSH by 348% and LLM Honeypot by 97%  </vt:lpstr>
      <vt:lpstr>Experiment Result – Attack Diversity Outperform QRASSH by 144% and LLM Honeypot by 75%</vt:lpstr>
      <vt:lpstr>Experiment Result : Intent detection rate: Ours v.s. base model v.s. BERT v.s. Wazuh Finetuned LLM beat baseline LLM from about 189% </vt:lpstr>
      <vt:lpstr>Experiment Result: Intent-Strategy alignment Intent is helpful for strategy inference (score from 0.54 to 0.78)</vt:lpstr>
      <vt:lpstr>Experiment Result : Reward Model Training </vt:lpstr>
      <vt:lpstr>Experiment Result : GRPO Training </vt:lpstr>
      <vt:lpstr>Conclusion</vt:lpstr>
      <vt:lpstr>Experiment Result – Commands count per episode -</vt:lpstr>
      <vt:lpstr>References</vt:lpstr>
      <vt:lpstr>References</vt:lpstr>
      <vt:lpstr>References</vt:lpstr>
      <vt:lpstr>References</vt:lpstr>
      <vt:lpstr>References</vt:lpstr>
      <vt:lpstr>References</vt:lpstr>
      <vt:lpstr>Appendix – Distribution comparison over 2-models</vt:lpstr>
      <vt:lpstr>Appendix – Reward Evaluation Outperform QRASSH by 820% and GPT-5o by 48%</vt:lpstr>
      <vt:lpstr>PowerPoint 簡報</vt:lpstr>
      <vt:lpstr>Thank you for listening</vt:lpstr>
      <vt:lpstr>Schedule</vt:lpstr>
      <vt:lpstr>Implementation – Fast/Slow-Path Gating</vt:lpstr>
      <vt:lpstr>Implementation – Sandbox and Honeypot Entrypoint</vt:lpstr>
      <vt:lpstr>Implementation – Engagement Activities</vt:lpstr>
      <vt:lpstr>Implementation – Toolkit (one example)</vt:lpstr>
      <vt:lpstr>Implementation – Attack Generation (cont.)</vt:lpstr>
      <vt:lpstr>Conclusion</vt:lpstr>
      <vt:lpstr>Solution Overview – Training </vt:lpstr>
      <vt:lpstr>Solution – Action Space (3/4)</vt:lpstr>
      <vt:lpstr>Progress (~11/25)</vt:lpstr>
      <vt:lpstr>Implementation – Toolkit spaces </vt:lpstr>
      <vt:lpstr>Progress ~1230</vt:lpstr>
      <vt:lpstr>Progress ~ 1/13</vt:lpstr>
      <vt:lpstr>Experiment Result : Training analysis</vt:lpstr>
      <vt:lpstr>Experiment Result – Attack Diversity</vt:lpstr>
      <vt:lpstr>Experiment Result : Intent coverage rate</vt:lpstr>
      <vt:lpstr>Experiment Result : Training analysis (Heuristic)</vt:lpstr>
      <vt:lpstr>Experiment Result: Behavior Drift (Heuristic)</vt:lpstr>
      <vt:lpstr>PowerPoint 簡報</vt:lpstr>
      <vt:lpstr>Implementation – Optimize LLM from offline data (3/3)</vt:lpstr>
      <vt:lpstr>Experiment Result – Attack Depth (6/7)</vt:lpstr>
      <vt:lpstr>Solution – GRPO for Engagement Intuition (1/2)</vt:lpstr>
      <vt:lpstr>Solution – GRPO for Engagement Intuition (2/2)</vt:lpstr>
      <vt:lpstr>Formulas</vt:lpstr>
      <vt:lpstr>Experiment Result : Intent-Strategy Relevance Probing (5/7)</vt:lpstr>
      <vt:lpstr>Experiment Result : Intent-Strategy Relevance Probing (2/2) Intent contribution percentage - 36% to 53%</vt:lpstr>
      <vt:lpstr>Experiment Result : Intent-Strategy Relevance Probing  Intent contribution percentage - 36% to 53%</vt:lpstr>
      <vt:lpstr>Experiment Result – Reward-based evaluation</vt:lpstr>
      <vt:lpstr>Experiment Result – Attack Depth Outperform QRASSH by 135% and GPT-5o by 51%  </vt:lpstr>
      <vt:lpstr>Experiment Result – Attack Diversity Outperform QRASSH by 199% and GPT-5o by 29%</vt:lpstr>
      <vt:lpstr>Experiment Result : Intent detection rate; Ours v.s. base model v.s. GPT-5o Finetuned LLM beat baseline LLM from about 189%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施儒宏</dc:creator>
  <cp:lastModifiedBy>施儒宏</cp:lastModifiedBy>
  <cp:revision>2449</cp:revision>
  <cp:lastPrinted>2026-05-08T02:05:48Z</cp:lastPrinted>
  <dcterms:created xsi:type="dcterms:W3CDTF">2025-10-09T13:53:09Z</dcterms:created>
  <dcterms:modified xsi:type="dcterms:W3CDTF">2026-05-15T01:55:18Z</dcterms:modified>
</cp:coreProperties>
</file>