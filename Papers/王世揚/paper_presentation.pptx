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handoutMasterIdLst>
    <p:handoutMasterId r:id="rId81"/>
  </p:handoutMasterIdLst>
  <p:sldIdLst>
    <p:sldId id="256" r:id="rId2"/>
    <p:sldId id="294" r:id="rId3"/>
    <p:sldId id="296" r:id="rId4"/>
    <p:sldId id="264" r:id="rId5"/>
    <p:sldId id="265" r:id="rId6"/>
    <p:sldId id="295" r:id="rId7"/>
    <p:sldId id="259" r:id="rId8"/>
    <p:sldId id="297" r:id="rId9"/>
    <p:sldId id="325" r:id="rId10"/>
    <p:sldId id="326" r:id="rId11"/>
    <p:sldId id="323" r:id="rId12"/>
    <p:sldId id="345" r:id="rId13"/>
    <p:sldId id="332" r:id="rId14"/>
    <p:sldId id="343" r:id="rId15"/>
    <p:sldId id="310" r:id="rId16"/>
    <p:sldId id="351" r:id="rId17"/>
    <p:sldId id="349" r:id="rId18"/>
    <p:sldId id="348" r:id="rId19"/>
    <p:sldId id="331" r:id="rId20"/>
    <p:sldId id="315" r:id="rId21"/>
    <p:sldId id="307" r:id="rId22"/>
    <p:sldId id="355" r:id="rId23"/>
    <p:sldId id="283" r:id="rId24"/>
    <p:sldId id="333" r:id="rId25"/>
    <p:sldId id="334" r:id="rId26"/>
    <p:sldId id="339" r:id="rId27"/>
    <p:sldId id="335" r:id="rId28"/>
    <p:sldId id="344" r:id="rId29"/>
    <p:sldId id="337" r:id="rId30"/>
    <p:sldId id="341" r:id="rId31"/>
    <p:sldId id="354" r:id="rId32"/>
    <p:sldId id="353" r:id="rId33"/>
    <p:sldId id="290" r:id="rId34"/>
    <p:sldId id="301" r:id="rId35"/>
    <p:sldId id="303" r:id="rId36"/>
    <p:sldId id="280" r:id="rId37"/>
    <p:sldId id="289" r:id="rId38"/>
    <p:sldId id="281" r:id="rId39"/>
    <p:sldId id="260" r:id="rId40"/>
    <p:sldId id="300" r:id="rId41"/>
    <p:sldId id="299" r:id="rId42"/>
    <p:sldId id="262" r:id="rId43"/>
    <p:sldId id="263" r:id="rId44"/>
    <p:sldId id="276" r:id="rId45"/>
    <p:sldId id="286" r:id="rId46"/>
    <p:sldId id="313" r:id="rId47"/>
    <p:sldId id="305" r:id="rId48"/>
    <p:sldId id="277" r:id="rId49"/>
    <p:sldId id="309" r:id="rId50"/>
    <p:sldId id="308" r:id="rId51"/>
    <p:sldId id="273" r:id="rId52"/>
    <p:sldId id="274" r:id="rId53"/>
    <p:sldId id="275" r:id="rId54"/>
    <p:sldId id="306" r:id="rId55"/>
    <p:sldId id="287" r:id="rId56"/>
    <p:sldId id="278" r:id="rId57"/>
    <p:sldId id="302" r:id="rId58"/>
    <p:sldId id="312" r:id="rId59"/>
    <p:sldId id="316" r:id="rId60"/>
    <p:sldId id="311" r:id="rId61"/>
    <p:sldId id="288" r:id="rId62"/>
    <p:sldId id="322" r:id="rId63"/>
    <p:sldId id="291" r:id="rId64"/>
    <p:sldId id="318" r:id="rId65"/>
    <p:sldId id="319" r:id="rId66"/>
    <p:sldId id="321" r:id="rId67"/>
    <p:sldId id="327" r:id="rId68"/>
    <p:sldId id="328" r:id="rId69"/>
    <p:sldId id="329" r:id="rId70"/>
    <p:sldId id="330" r:id="rId71"/>
    <p:sldId id="267" r:id="rId72"/>
    <p:sldId id="282" r:id="rId73"/>
    <p:sldId id="271" r:id="rId74"/>
    <p:sldId id="293" r:id="rId75"/>
    <p:sldId id="324" r:id="rId76"/>
    <p:sldId id="346" r:id="rId77"/>
    <p:sldId id="347" r:id="rId78"/>
    <p:sldId id="352" r:id="rId7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Title &amp; Outline" id="{589FBFB4-5A66-F845-81A0-8B416C461011}">
          <p14:sldIdLst>
            <p14:sldId id="256"/>
            <p14:sldId id="294"/>
          </p14:sldIdLst>
        </p14:section>
        <p14:section name="Motivation" id="{C0BA79ED-322B-3F44-9C4F-46CD60BFFAC5}">
          <p14:sldIdLst>
            <p14:sldId id="296"/>
          </p14:sldIdLst>
        </p14:section>
        <p14:section name="Background" id="{A5C52C62-E55C-9140-8B03-E7220DBB49F3}">
          <p14:sldIdLst>
            <p14:sldId id="264"/>
            <p14:sldId id="265"/>
            <p14:sldId id="295"/>
            <p14:sldId id="259"/>
            <p14:sldId id="297"/>
          </p14:sldIdLst>
        </p14:section>
        <p14:section name="Notation" id="{A4427957-84E0-684B-9908-E796A263F069}">
          <p14:sldIdLst>
            <p14:sldId id="325"/>
          </p14:sldIdLst>
        </p14:section>
        <p14:section name="Problem" id="{E42CAECC-3A78-4147-A53C-86E9F3BA57E1}">
          <p14:sldIdLst>
            <p14:sldId id="326"/>
            <p14:sldId id="323"/>
          </p14:sldIdLst>
        </p14:section>
        <p14:section name="related work" id="{0CEF9F9E-DF2B-594F-948B-5A4541EBA487}">
          <p14:sldIdLst>
            <p14:sldId id="345"/>
          </p14:sldIdLst>
        </p14:section>
        <p14:section name="issues" id="{F4E5E86E-4D18-ED47-AE81-8CCE9820E606}">
          <p14:sldIdLst>
            <p14:sldId id="332"/>
          </p14:sldIdLst>
        </p14:section>
        <p14:section name="Solution" id="{03D1EC38-3779-E340-9EC7-41B8B38C1301}">
          <p14:sldIdLst>
            <p14:sldId id="343"/>
            <p14:sldId id="310"/>
            <p14:sldId id="351"/>
            <p14:sldId id="349"/>
            <p14:sldId id="348"/>
          </p14:sldIdLst>
        </p14:section>
        <p14:section name="Implementation" id="{8C5A6ED1-AB94-DD4E-911E-9A17F25094DA}">
          <p14:sldIdLst>
            <p14:sldId id="331"/>
            <p14:sldId id="315"/>
            <p14:sldId id="307"/>
            <p14:sldId id="355"/>
            <p14:sldId id="283"/>
          </p14:sldIdLst>
        </p14:section>
        <p14:section name="evaluation" id="{301A71D4-610B-3244-B9AA-B746CA1876FC}">
          <p14:sldIdLst>
            <p14:sldId id="333"/>
          </p14:sldIdLst>
        </p14:section>
        <p14:section name="Experiment" id="{733A0C6D-38B9-494E-95E7-903678488552}">
          <p14:sldIdLst>
            <p14:sldId id="334"/>
            <p14:sldId id="339"/>
            <p14:sldId id="335"/>
            <p14:sldId id="344"/>
            <p14:sldId id="337"/>
            <p14:sldId id="341"/>
            <p14:sldId id="354"/>
            <p14:sldId id="353"/>
          </p14:sldIdLst>
        </p14:section>
        <p14:section name="Reference" id="{FB19365E-E928-0542-B37D-3AFCC90CF16E}">
          <p14:sldIdLst>
            <p14:sldId id="290"/>
            <p14:sldId id="301"/>
            <p14:sldId id="303"/>
            <p14:sldId id="280"/>
            <p14:sldId id="289"/>
            <p14:sldId id="281"/>
            <p14:sldId id="260"/>
            <p14:sldId id="300"/>
            <p14:sldId id="299"/>
            <p14:sldId id="262"/>
            <p14:sldId id="263"/>
            <p14:sldId id="276"/>
            <p14:sldId id="286"/>
            <p14:sldId id="313"/>
            <p14:sldId id="305"/>
            <p14:sldId id="277"/>
            <p14:sldId id="309"/>
            <p14:sldId id="308"/>
            <p14:sldId id="273"/>
            <p14:sldId id="274"/>
            <p14:sldId id="275"/>
            <p14:sldId id="306"/>
            <p14:sldId id="287"/>
            <p14:sldId id="278"/>
            <p14:sldId id="302"/>
            <p14:sldId id="312"/>
            <p14:sldId id="316"/>
            <p14:sldId id="311"/>
            <p14:sldId id="288"/>
            <p14:sldId id="322"/>
            <p14:sldId id="291"/>
            <p14:sldId id="318"/>
            <p14:sldId id="319"/>
            <p14:sldId id="321"/>
            <p14:sldId id="327"/>
            <p14:sldId id="328"/>
            <p14:sldId id="329"/>
            <p14:sldId id="330"/>
            <p14:sldId id="267"/>
            <p14:sldId id="282"/>
            <p14:sldId id="271"/>
            <p14:sldId id="293"/>
            <p14:sldId id="324"/>
            <p14:sldId id="346"/>
            <p14:sldId id="347"/>
            <p14:sldId id="35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世揚 王" initials="世王" lastIdx="1" clrIdx="0">
    <p:extLst>
      <p:ext uri="{19B8F6BF-5375-455C-9EA6-DF929625EA0E}">
        <p15:presenceInfo xmlns:p15="http://schemas.microsoft.com/office/powerpoint/2012/main" userId="1d0c6180903215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86"/>
    <p:restoredTop sz="67493"/>
  </p:normalViewPr>
  <p:slideViewPr>
    <p:cSldViewPr snapToGrid="0">
      <p:cViewPr>
        <p:scale>
          <a:sx n="50" d="100"/>
          <a:sy n="50" d="100"/>
        </p:scale>
        <p:origin x="704" y="-440"/>
      </p:cViewPr>
      <p:guideLst/>
    </p:cSldViewPr>
  </p:slideViewPr>
  <p:outlineViewPr>
    <p:cViewPr>
      <p:scale>
        <a:sx n="33" d="100"/>
        <a:sy n="33" d="100"/>
      </p:scale>
      <p:origin x="0" y="-1740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113" d="100"/>
          <a:sy n="113" d="100"/>
        </p:scale>
        <p:origin x="3960"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9CE9B8A6-3F21-CDA5-F43D-8E20C98804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a:extLst>
              <a:ext uri="{FF2B5EF4-FFF2-40B4-BE49-F238E27FC236}">
                <a16:creationId xmlns:a16="http://schemas.microsoft.com/office/drawing/2014/main" id="{F55A3620-8816-0391-41A7-8B91DE50AD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BB0776-23F8-C642-B8DB-C52A61868A6C}" type="datetimeFigureOut">
              <a:rPr kumimoji="1" lang="zh-TW" altLang="en-US" smtClean="0"/>
              <a:t>2026/5/7</a:t>
            </a:fld>
            <a:endParaRPr kumimoji="1" lang="zh-TW" altLang="en-US"/>
          </a:p>
        </p:txBody>
      </p:sp>
      <p:sp>
        <p:nvSpPr>
          <p:cNvPr id="4" name="頁尾版面配置區 3">
            <a:extLst>
              <a:ext uri="{FF2B5EF4-FFF2-40B4-BE49-F238E27FC236}">
                <a16:creationId xmlns:a16="http://schemas.microsoft.com/office/drawing/2014/main" id="{43E9914A-6A5B-928F-BBE6-CB82FECBA7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5" name="投影片編號版面配置區 4">
            <a:extLst>
              <a:ext uri="{FF2B5EF4-FFF2-40B4-BE49-F238E27FC236}">
                <a16:creationId xmlns:a16="http://schemas.microsoft.com/office/drawing/2014/main" id="{07B6D8BC-2623-2FD2-BE3E-16794E789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63923E-D85A-B445-AC29-1B534E9277C2}" type="slidenum">
              <a:rPr kumimoji="1" lang="zh-TW" altLang="en-US" smtClean="0"/>
              <a:t>‹#›</a:t>
            </a:fld>
            <a:endParaRPr kumimoji="1" lang="zh-TW" altLang="en-US"/>
          </a:p>
        </p:txBody>
      </p:sp>
    </p:spTree>
    <p:extLst>
      <p:ext uri="{BB962C8B-B14F-4D97-AF65-F5344CB8AC3E}">
        <p14:creationId xmlns:p14="http://schemas.microsoft.com/office/powerpoint/2010/main" val="41589692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381000" y="685800"/>
            <a:ext cx="6096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a:latin typeface="+mn-lt"/>
        <a:ea typeface="+mn-ea"/>
        <a:cs typeface="+mn-cs"/>
        <a:sym typeface="Helvetica Neue"/>
      </a:defRPr>
    </a:lvl1pPr>
    <a:lvl2pPr indent="228600" defTabSz="457200" latinLnBrk="0">
      <a:lnSpc>
        <a:spcPct val="117999"/>
      </a:lnSpc>
      <a:defRPr>
        <a:latin typeface="+mn-lt"/>
        <a:ea typeface="+mn-ea"/>
        <a:cs typeface="+mn-cs"/>
        <a:sym typeface="Helvetica Neue"/>
      </a:defRPr>
    </a:lvl2pPr>
    <a:lvl3pPr indent="457200" defTabSz="457200" latinLnBrk="0">
      <a:lnSpc>
        <a:spcPct val="117999"/>
      </a:lnSpc>
      <a:defRPr>
        <a:latin typeface="+mn-lt"/>
        <a:ea typeface="+mn-ea"/>
        <a:cs typeface="+mn-cs"/>
        <a:sym typeface="Helvetica Neue"/>
      </a:defRPr>
    </a:lvl3pPr>
    <a:lvl4pPr indent="685800" defTabSz="457200" latinLnBrk="0">
      <a:lnSpc>
        <a:spcPct val="117999"/>
      </a:lnSpc>
      <a:defRPr>
        <a:latin typeface="+mn-lt"/>
        <a:ea typeface="+mn-ea"/>
        <a:cs typeface="+mn-cs"/>
        <a:sym typeface="Helvetica Neue"/>
      </a:defRPr>
    </a:lvl4pPr>
    <a:lvl5pPr indent="914400" defTabSz="457200" latinLnBrk="0">
      <a:lnSpc>
        <a:spcPct val="117999"/>
      </a:lnSpc>
      <a:defRPr>
        <a:latin typeface="+mn-lt"/>
        <a:ea typeface="+mn-ea"/>
        <a:cs typeface="+mn-cs"/>
        <a:sym typeface="Helvetica Neue"/>
      </a:defRPr>
    </a:lvl5pPr>
    <a:lvl6pPr indent="1143000" defTabSz="457200" latinLnBrk="0">
      <a:lnSpc>
        <a:spcPct val="117999"/>
      </a:lnSpc>
      <a:defRPr>
        <a:latin typeface="+mn-lt"/>
        <a:ea typeface="+mn-ea"/>
        <a:cs typeface="+mn-cs"/>
        <a:sym typeface="Helvetica Neue"/>
      </a:defRPr>
    </a:lvl6pPr>
    <a:lvl7pPr indent="1371600" defTabSz="457200" latinLnBrk="0">
      <a:lnSpc>
        <a:spcPct val="117999"/>
      </a:lnSpc>
      <a:defRPr>
        <a:latin typeface="+mn-lt"/>
        <a:ea typeface="+mn-ea"/>
        <a:cs typeface="+mn-cs"/>
        <a:sym typeface="Helvetica Neue"/>
      </a:defRPr>
    </a:lvl7pPr>
    <a:lvl8pPr indent="1600200" defTabSz="457200" latinLnBrk="0">
      <a:lnSpc>
        <a:spcPct val="117999"/>
      </a:lnSpc>
      <a:defRPr>
        <a:latin typeface="+mn-lt"/>
        <a:ea typeface="+mn-ea"/>
        <a:cs typeface="+mn-cs"/>
        <a:sym typeface="Helvetica Neue"/>
      </a:defRPr>
    </a:lvl8pPr>
    <a:lvl9pPr indent="1828800" defTabSz="457200" latinLnBrk="0">
      <a:lnSpc>
        <a:spcPct val="117999"/>
      </a:lnSpc>
      <a:defRPr>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effectLst/>
                <a:latin typeface="+mn-lt"/>
                <a:ea typeface="+mn-ea"/>
                <a:cs typeface="+mn-cs"/>
                <a:sym typeface="Helvetica Neue"/>
              </a:rPr>
              <a:t>我們的目標是做一個能主動與攻擊者互動、又足夠真實的防禦系統。</a:t>
            </a:r>
          </a:p>
          <a:p>
            <a:r>
              <a:rPr lang="zh-TW" altLang="en-US" dirty="0">
                <a:effectLst/>
                <a:latin typeface="+mn-lt"/>
                <a:ea typeface="+mn-ea"/>
                <a:cs typeface="+mn-cs"/>
                <a:sym typeface="Helvetica Neue"/>
              </a:rPr>
              <a:t>傳統的 </a:t>
            </a:r>
            <a:r>
              <a:rPr lang="en-US" altLang="zh-TW" dirty="0">
                <a:effectLst/>
                <a:latin typeface="+mn-lt"/>
                <a:ea typeface="+mn-ea"/>
                <a:cs typeface="+mn-cs"/>
                <a:sym typeface="Helvetica Neue"/>
              </a:rPr>
              <a:t>adaptive honeypot </a:t>
            </a:r>
            <a:r>
              <a:rPr lang="zh-TW" altLang="en-US" dirty="0">
                <a:effectLst/>
                <a:latin typeface="+mn-lt"/>
                <a:ea typeface="+mn-ea"/>
                <a:cs typeface="+mn-cs"/>
                <a:sym typeface="Helvetica Neue"/>
              </a:rPr>
              <a:t>雖然可以根據攻擊者行為動態回應，但通常只模擬一台主機，環境太單一，這樣很難觀察到橫向移動或網域探索，也容易讓攻擊者懷疑這是一個</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環境。</a:t>
            </a:r>
            <a:br>
              <a:rPr lang="zh-TW" altLang="en-US" dirty="0">
                <a:effectLst/>
                <a:latin typeface="+mn-lt"/>
                <a:ea typeface="+mn-ea"/>
                <a:cs typeface="+mn-cs"/>
                <a:sym typeface="Helvetica Neue"/>
              </a:rPr>
            </a:br>
            <a:endParaRPr lang="zh-TW" altLang="en-US" dirty="0">
              <a:effectLst/>
              <a:latin typeface="+mn-lt"/>
              <a:ea typeface="+mn-ea"/>
              <a:cs typeface="+mn-cs"/>
              <a:sym typeface="Helvetica Neue"/>
            </a:endParaRPr>
          </a:p>
          <a:p>
            <a:r>
              <a:rPr lang="zh-TW" altLang="en-US" dirty="0">
                <a:effectLst/>
                <a:latin typeface="+mn-lt"/>
                <a:ea typeface="+mn-ea"/>
                <a:cs typeface="+mn-cs"/>
                <a:sym typeface="Helvetica Neue"/>
              </a:rPr>
              <a:t>因此我們把</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擴展成 </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，模擬一個完整的企業網路，裡面包含 </a:t>
            </a:r>
            <a:r>
              <a:rPr lang="en-US" altLang="zh-TW" dirty="0">
                <a:effectLst/>
                <a:latin typeface="+mn-lt"/>
                <a:ea typeface="+mn-ea"/>
                <a:cs typeface="+mn-cs"/>
                <a:sym typeface="Helvetica Neue"/>
              </a:rPr>
              <a:t>AD</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web server</a:t>
            </a:r>
            <a:r>
              <a:rPr lang="zh-TW" altLang="en-US" dirty="0">
                <a:effectLst/>
                <a:latin typeface="+mn-lt"/>
                <a:ea typeface="+mn-ea"/>
                <a:cs typeface="+mn-cs"/>
                <a:sym typeface="Helvetica Neue"/>
              </a:rPr>
              <a:t>、</a:t>
            </a:r>
            <a:r>
              <a:rPr lang="en-US" altLang="zh-TW" dirty="0" err="1">
                <a:effectLst/>
                <a:latin typeface="+mn-lt"/>
                <a:ea typeface="+mn-ea"/>
                <a:cs typeface="+mn-cs"/>
                <a:sym typeface="Helvetica Neue"/>
              </a:rPr>
              <a:t>sql</a:t>
            </a:r>
            <a:r>
              <a:rPr lang="en-US" altLang="zh-TW" dirty="0">
                <a:effectLst/>
                <a:latin typeface="+mn-lt"/>
                <a:ea typeface="+mn-ea"/>
                <a:cs typeface="+mn-cs"/>
                <a:sym typeface="Helvetica Neue"/>
              </a:rPr>
              <a:t> sever </a:t>
            </a:r>
            <a:r>
              <a:rPr lang="zh-TW" altLang="en-US" dirty="0">
                <a:effectLst/>
                <a:latin typeface="+mn-lt"/>
                <a:ea typeface="+mn-ea"/>
                <a:cs typeface="+mn-cs"/>
                <a:sym typeface="Helvetica Neue"/>
              </a:rPr>
              <a:t>等常見服務，既能提升真實性，也能收集到更完整的攻擊行為。</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但是目前</a:t>
            </a:r>
            <a:r>
              <a:rPr lang="en-US" altLang="zh-TW" dirty="0">
                <a:effectLst/>
                <a:latin typeface="+mn-lt"/>
                <a:ea typeface="+mn-ea"/>
                <a:cs typeface="+mn-cs"/>
                <a:sym typeface="Helvetica Neue"/>
              </a:rPr>
              <a:t>adaptive</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的研究重點都放在該把</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放在一個網路環境的什麼位置或放什麼種類的</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，沒有一個決策者監控整個系統動態與攻擊者交戰的研究。</a:t>
            </a:r>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而</a:t>
            </a:r>
            <a:r>
              <a:rPr lang="en-US" altLang="zh-TW" dirty="0">
                <a:effectLst/>
                <a:latin typeface="+mn-lt"/>
                <a:ea typeface="+mn-ea"/>
                <a:cs typeface="+mn-cs"/>
                <a:sym typeface="Helvetica Neue"/>
              </a:rPr>
              <a:t>adaptive</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有這個機制，以</a:t>
            </a:r>
            <a:r>
              <a:rPr lang="en-US" altLang="zh-TW" dirty="0">
                <a:effectLst/>
                <a:latin typeface="+mn-lt"/>
                <a:ea typeface="+mn-ea"/>
                <a:cs typeface="+mn-cs"/>
                <a:sym typeface="Helvetica Neue"/>
              </a:rPr>
              <a:t>RL</a:t>
            </a:r>
            <a:r>
              <a:rPr lang="zh-TW" altLang="en-US" dirty="0">
                <a:effectLst/>
                <a:latin typeface="+mn-lt"/>
                <a:ea typeface="+mn-ea"/>
                <a:cs typeface="+mn-cs"/>
                <a:sym typeface="Helvetica Neue"/>
              </a:rPr>
              <a:t>作為決策者且用修改或生成系統回覆的方式，這些方法不適合直接套用到</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上，</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環境複雜會造成</a:t>
            </a:r>
            <a:r>
              <a:rPr lang="en-US" altLang="zh-TW" dirty="0">
                <a:effectLst/>
                <a:latin typeface="+mn-lt"/>
                <a:ea typeface="+mn-ea"/>
                <a:cs typeface="+mn-cs"/>
                <a:sym typeface="Helvetica Neue"/>
              </a:rPr>
              <a:t>RL</a:t>
            </a:r>
            <a:r>
              <a:rPr lang="zh-TW" altLang="en-US" dirty="0">
                <a:effectLst/>
                <a:latin typeface="+mn-lt"/>
                <a:ea typeface="+mn-ea"/>
                <a:cs typeface="+mn-cs"/>
                <a:sym typeface="Helvetica Neue"/>
              </a:rPr>
              <a:t>的</a:t>
            </a:r>
            <a:r>
              <a:rPr lang="en-US" altLang="zh-TW" dirty="0">
                <a:effectLst/>
                <a:latin typeface="+mn-lt"/>
                <a:ea typeface="+mn-ea"/>
                <a:cs typeface="+mn-cs"/>
                <a:sym typeface="Helvetica Neue"/>
              </a:rPr>
              <a:t>state</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action</a:t>
            </a:r>
            <a:r>
              <a:rPr lang="zh-TW" altLang="en-US" dirty="0">
                <a:effectLst/>
                <a:latin typeface="+mn-lt"/>
                <a:ea typeface="+mn-ea"/>
                <a:cs typeface="+mn-cs"/>
                <a:sym typeface="Helvetica Neue"/>
              </a:rPr>
              <a:t>設計困難，修改或生成回覆會有</a:t>
            </a:r>
            <a:r>
              <a:rPr lang="en-US" altLang="zh-TW" dirty="0">
                <a:effectLst/>
                <a:latin typeface="+mn-lt"/>
                <a:ea typeface="+mn-ea"/>
                <a:cs typeface="+mn-cs"/>
                <a:sym typeface="Helvetica Neue"/>
              </a:rPr>
              <a:t>….</a:t>
            </a:r>
            <a:r>
              <a:rPr lang="zh-TW" altLang="en-US" dirty="0">
                <a:effectLst/>
                <a:latin typeface="+mn-lt"/>
                <a:ea typeface="+mn-ea"/>
                <a:cs typeface="+mn-cs"/>
                <a:sym typeface="Helvetica Neue"/>
              </a:rPr>
              <a:t>的問題</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而修改回覆其實就是模擬修改環境的結果，那我們為什麼不直接修改環境呢。所以我們的目標確定為設計一個決策者監控整個環境並根據攻擊者行為動態產生腳本修改環境進而改變攻擊者看到的系統回覆並影響攻擊者，這種語意分析並修改環境的任務非常適合使用</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agent</a:t>
            </a:r>
            <a:r>
              <a:rPr lang="zh-TW" altLang="en-US" dirty="0">
                <a:effectLst/>
                <a:latin typeface="+mn-lt"/>
                <a:ea typeface="+mn-ea"/>
                <a:cs typeface="+mn-cs"/>
                <a:sym typeface="Helvetica Neue"/>
              </a:rPr>
              <a:t>，所以我們選擇</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agent</a:t>
            </a:r>
            <a:r>
              <a:rPr lang="zh-TW" altLang="en-US" dirty="0">
                <a:effectLst/>
                <a:latin typeface="+mn-lt"/>
                <a:ea typeface="+mn-ea"/>
                <a:cs typeface="+mn-cs"/>
                <a:sym typeface="Helvetica Neue"/>
              </a:rPr>
              <a:t>作為決策者。但是如果讓</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自由生成腳本很容易出錯造成執行失敗影響效能，因此我們提前根據</a:t>
            </a:r>
            <a:r>
              <a:rPr lang="en-US" altLang="zh-TW" dirty="0" err="1">
                <a:effectLst/>
                <a:latin typeface="+mn-lt"/>
                <a:ea typeface="+mn-ea"/>
                <a:cs typeface="+mn-cs"/>
                <a:sym typeface="Helvetica Neue"/>
              </a:rPr>
              <a:t>mitre</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engage</a:t>
            </a:r>
            <a:r>
              <a:rPr lang="zh-TW" altLang="en-US" dirty="0">
                <a:effectLst/>
                <a:latin typeface="+mn-lt"/>
                <a:ea typeface="+mn-ea"/>
                <a:cs typeface="+mn-cs"/>
                <a:sym typeface="Helvetica Neue"/>
              </a:rPr>
              <a:t>以及</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包含的主機的</a:t>
            </a:r>
            <a:r>
              <a:rPr lang="en-US" altLang="zh-TW" dirty="0">
                <a:effectLst/>
                <a:latin typeface="+mn-lt"/>
                <a:ea typeface="+mn-ea"/>
                <a:cs typeface="+mn-cs"/>
                <a:sym typeface="Helvetica Neue"/>
              </a:rPr>
              <a:t>role</a:t>
            </a:r>
            <a:r>
              <a:rPr lang="zh-TW" altLang="en-US" dirty="0">
                <a:effectLst/>
                <a:latin typeface="+mn-lt"/>
                <a:ea typeface="+mn-ea"/>
                <a:cs typeface="+mn-cs"/>
                <a:sym typeface="Helvetica Neue"/>
              </a:rPr>
              <a:t>設計了一個</a:t>
            </a:r>
            <a:r>
              <a:rPr lang="en-US" altLang="zh-TW" dirty="0">
                <a:effectLst/>
                <a:latin typeface="+mn-lt"/>
                <a:ea typeface="+mn-ea"/>
                <a:cs typeface="+mn-cs"/>
                <a:sym typeface="Helvetica Neue"/>
              </a:rPr>
              <a:t>toolkit</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toolkit</a:t>
            </a:r>
            <a:r>
              <a:rPr lang="zh-TW" altLang="en-US" dirty="0">
                <a:effectLst/>
                <a:latin typeface="+mn-lt"/>
                <a:ea typeface="+mn-ea"/>
                <a:cs typeface="+mn-cs"/>
                <a:sym typeface="Helvetica Neue"/>
              </a:rPr>
              <a:t>包含</a:t>
            </a:r>
            <a:r>
              <a:rPr lang="en-US" altLang="zh-TW" dirty="0">
                <a:effectLst/>
                <a:latin typeface="+mn-lt"/>
                <a:ea typeface="+mn-ea"/>
                <a:cs typeface="+mn-cs"/>
                <a:sym typeface="Helvetica Neue"/>
              </a:rPr>
              <a:t>35</a:t>
            </a:r>
            <a:r>
              <a:rPr lang="zh-TW" altLang="en-US" dirty="0">
                <a:effectLst/>
                <a:latin typeface="+mn-lt"/>
                <a:ea typeface="+mn-ea"/>
                <a:cs typeface="+mn-cs"/>
                <a:sym typeface="Helvetica Neue"/>
              </a:rPr>
              <a:t>個腳本模板並挖空一些重要參數，這樣</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agent</a:t>
            </a:r>
            <a:r>
              <a:rPr lang="zh-TW" altLang="en-US" dirty="0">
                <a:effectLst/>
                <a:latin typeface="+mn-lt"/>
                <a:ea typeface="+mn-ea"/>
                <a:cs typeface="+mn-cs"/>
                <a:sym typeface="Helvetica Neue"/>
              </a:rPr>
              <a:t>就不用從零生成腳本而是選擇工具並生成參數就好。但是目前</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的任務非常複雜，需要分析指令、判斷攻擊意圖、產生交戰策略、選擇工具、生成參數，如果只用一個</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一次完成這些任務那效果會因為</a:t>
            </a:r>
            <a:r>
              <a:rPr lang="en-US" altLang="zh-TW" dirty="0">
                <a:effectLst/>
                <a:latin typeface="+mn-lt"/>
                <a:ea typeface="+mn-ea"/>
                <a:cs typeface="+mn-cs"/>
                <a:sym typeface="Helvetica Neue"/>
              </a:rPr>
              <a:t>….</a:t>
            </a:r>
            <a:r>
              <a:rPr lang="zh-TW" altLang="en-US" dirty="0">
                <a:effectLst/>
                <a:latin typeface="+mn-lt"/>
                <a:ea typeface="+mn-ea"/>
                <a:cs typeface="+mn-cs"/>
                <a:sym typeface="Helvetica Neue"/>
              </a:rPr>
              <a:t>的原因非常差，所以我們根據任務把</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agent</a:t>
            </a:r>
            <a:r>
              <a:rPr lang="zh-TW" altLang="en-US" dirty="0">
                <a:effectLst/>
                <a:latin typeface="+mn-lt"/>
                <a:ea typeface="+mn-ea"/>
                <a:cs typeface="+mn-cs"/>
                <a:sym typeface="Helvetica Neue"/>
              </a:rPr>
              <a:t>拆成兩個</a:t>
            </a:r>
            <a:r>
              <a:rPr lang="en-US" altLang="zh-TW" dirty="0">
                <a:effectLst/>
                <a:latin typeface="+mn-lt"/>
                <a:ea typeface="+mn-ea"/>
                <a:cs typeface="+mn-cs"/>
                <a:sym typeface="Helvetica Neue"/>
              </a:rPr>
              <a:t>layer</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strategist</a:t>
            </a:r>
            <a:r>
              <a:rPr lang="zh-TW" altLang="en-US" dirty="0">
                <a:effectLst/>
                <a:latin typeface="+mn-lt"/>
                <a:ea typeface="+mn-ea"/>
                <a:cs typeface="+mn-cs"/>
                <a:sym typeface="Helvetica Neue"/>
              </a:rPr>
              <a:t> </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以及</a:t>
            </a:r>
            <a:r>
              <a:rPr lang="en-US" altLang="zh-TW" dirty="0">
                <a:effectLst/>
                <a:latin typeface="+mn-lt"/>
                <a:ea typeface="+mn-ea"/>
                <a:cs typeface="+mn-cs"/>
                <a:sym typeface="Helvetica Neue"/>
              </a:rPr>
              <a:t>planner</a:t>
            </a:r>
            <a:r>
              <a:rPr lang="zh-TW" altLang="en-US" dirty="0">
                <a:effectLst/>
                <a:latin typeface="+mn-lt"/>
                <a:ea typeface="+mn-ea"/>
                <a:cs typeface="+mn-cs"/>
                <a:sym typeface="Helvetica Neue"/>
              </a:rPr>
              <a:t> </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strategist</a:t>
            </a:r>
            <a:r>
              <a:rPr lang="zh-TW" altLang="en-US" dirty="0">
                <a:effectLst/>
                <a:latin typeface="+mn-lt"/>
                <a:ea typeface="+mn-ea"/>
                <a:cs typeface="+mn-cs"/>
                <a:sym typeface="Helvetica Neue"/>
              </a:rPr>
              <a:t> </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負責判斷攻擊意圖、產生交戰策略、選擇工具這些跟</a:t>
            </a:r>
            <a:r>
              <a:rPr lang="en-US" altLang="zh-TW" dirty="0">
                <a:effectLst/>
                <a:latin typeface="+mn-lt"/>
                <a:ea typeface="+mn-ea"/>
                <a:cs typeface="+mn-cs"/>
                <a:sym typeface="Helvetica Neue"/>
              </a:rPr>
              <a:t>….</a:t>
            </a:r>
            <a:r>
              <a:rPr lang="zh-TW" altLang="en-US" dirty="0">
                <a:effectLst/>
                <a:latin typeface="+mn-lt"/>
                <a:ea typeface="+mn-ea"/>
                <a:cs typeface="+mn-cs"/>
                <a:sym typeface="Helvetica Neue"/>
              </a:rPr>
              <a:t>有關的工作，</a:t>
            </a:r>
            <a:r>
              <a:rPr lang="en-US" altLang="zh-TW" dirty="0">
                <a:effectLst/>
                <a:latin typeface="+mn-lt"/>
                <a:ea typeface="+mn-ea"/>
                <a:cs typeface="+mn-cs"/>
                <a:sym typeface="Helvetica Neue"/>
              </a:rPr>
              <a:t>planner</a:t>
            </a:r>
            <a:r>
              <a:rPr lang="zh-TW" altLang="en-US" dirty="0">
                <a:effectLst/>
                <a:latin typeface="+mn-lt"/>
                <a:ea typeface="+mn-ea"/>
                <a:cs typeface="+mn-cs"/>
                <a:sym typeface="Helvetica Neue"/>
              </a:rPr>
              <a:t> </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則根據上一步的輸出去操作工具，也就是產生需要的工具參數，這樣做可以用</a:t>
            </a:r>
            <a:r>
              <a:rPr lang="en-US" altLang="zh-TW" dirty="0">
                <a:effectLst/>
                <a:latin typeface="+mn-lt"/>
                <a:ea typeface="+mn-ea"/>
                <a:cs typeface="+mn-cs"/>
                <a:sym typeface="Helvetica Neue"/>
              </a:rPr>
              <a:t>…..</a:t>
            </a:r>
            <a:r>
              <a:rPr lang="zh-TW" altLang="en-US" dirty="0">
                <a:effectLst/>
                <a:latin typeface="+mn-lt"/>
                <a:ea typeface="+mn-ea"/>
                <a:cs typeface="+mn-cs"/>
                <a:sym typeface="Helvetica Neue"/>
              </a:rPr>
              <a:t>的好處</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t>第一個是 </a:t>
            </a:r>
            <a:r>
              <a:rPr lang="en-US" altLang="zh-TW" b="1" dirty="0"/>
              <a:t>Realism</a:t>
            </a:r>
            <a:r>
              <a:rPr lang="zh-TW" altLang="en-US" dirty="0"/>
              <a:t>。 </a:t>
            </a:r>
          </a:p>
          <a:p>
            <a:r>
              <a:rPr lang="en-US" altLang="zh-TW" dirty="0"/>
              <a:t>Ours is over 4× higher than QRASSH and about 2.5× higher than LLM honeypot</a:t>
            </a:r>
          </a:p>
          <a:p>
            <a:r>
              <a:rPr lang="en-US" altLang="zh-TW" dirty="0"/>
              <a:t>One-layer, two-layer, and ours are all close to 80%</a:t>
            </a:r>
          </a:p>
          <a:p>
            <a:endParaRPr lang="zh-TW" altLang="en-US" dirty="0"/>
          </a:p>
          <a:p>
            <a:r>
              <a:rPr lang="zh-TW" altLang="en-US" dirty="0">
                <a:effectLst/>
                <a:latin typeface="+mn-lt"/>
                <a:ea typeface="+mn-ea"/>
                <a:cs typeface="+mn-cs"/>
                <a:sym typeface="Helvetica Neue"/>
              </a:rPr>
              <a:t>第二個是 </a:t>
            </a:r>
            <a:r>
              <a:rPr lang="en-US" altLang="zh-TW" dirty="0">
                <a:effectLst/>
                <a:latin typeface="+mn-lt"/>
                <a:ea typeface="+mn-ea"/>
                <a:cs typeface="+mn-cs"/>
                <a:sym typeface="Helvetica Neue"/>
              </a:rPr>
              <a:t>Attack depth</a:t>
            </a:r>
            <a:r>
              <a:rPr lang="zh-TW" altLang="en-US" dirty="0">
                <a:effectLst/>
                <a:latin typeface="+mn-lt"/>
                <a:ea typeface="+mn-ea"/>
                <a:cs typeface="+mn-cs"/>
                <a:sym typeface="Helvetica Neue"/>
              </a:rPr>
              <a:t>。</a:t>
            </a:r>
          </a:p>
          <a:p>
            <a:r>
              <a:rPr lang="zh-TW" altLang="en-US" dirty="0">
                <a:effectLst/>
                <a:latin typeface="+mn-lt"/>
                <a:ea typeface="+mn-ea"/>
                <a:cs typeface="+mn-cs"/>
                <a:sym typeface="Helvetica Neue"/>
              </a:rPr>
              <a:t>相比 </a:t>
            </a:r>
            <a:r>
              <a:rPr lang="en-US" altLang="zh-TW" dirty="0">
                <a:effectLst/>
                <a:latin typeface="+mn-lt"/>
                <a:ea typeface="+mn-ea"/>
                <a:cs typeface="+mn-cs"/>
                <a:sym typeface="Helvetica Neue"/>
              </a:rPr>
              <a:t>QRASSH</a:t>
            </a:r>
            <a:r>
              <a:rPr lang="zh-TW" altLang="en-US" dirty="0">
                <a:effectLst/>
                <a:latin typeface="+mn-lt"/>
                <a:ea typeface="+mn-ea"/>
                <a:cs typeface="+mn-cs"/>
                <a:sym typeface="Helvetica Neue"/>
              </a:rPr>
              <a:t>，我們的方法超過 </a:t>
            </a:r>
            <a:r>
              <a:rPr lang="en-US" altLang="zh-TW" dirty="0">
                <a:effectLst/>
                <a:latin typeface="+mn-lt"/>
                <a:ea typeface="+mn-ea"/>
                <a:cs typeface="+mn-cs"/>
                <a:sym typeface="Helvetica Neue"/>
              </a:rPr>
              <a:t>5 </a:t>
            </a:r>
            <a:r>
              <a:rPr lang="zh-TW" altLang="en-US" dirty="0">
                <a:effectLst/>
                <a:latin typeface="+mn-lt"/>
                <a:ea typeface="+mn-ea"/>
                <a:cs typeface="+mn-cs"/>
                <a:sym typeface="Helvetica Neue"/>
              </a:rPr>
              <a:t>倍；相比 </a:t>
            </a:r>
            <a:r>
              <a:rPr lang="en-US" altLang="zh-TW" dirty="0">
                <a:effectLst/>
                <a:latin typeface="+mn-lt"/>
                <a:ea typeface="+mn-ea"/>
                <a:cs typeface="+mn-cs"/>
                <a:sym typeface="Helvetica Neue"/>
              </a:rPr>
              <a:t>LLM-based honeypot</a:t>
            </a:r>
            <a:r>
              <a:rPr lang="zh-TW" altLang="en-US" dirty="0">
                <a:effectLst/>
                <a:latin typeface="+mn-lt"/>
                <a:ea typeface="+mn-ea"/>
                <a:cs typeface="+mn-cs"/>
                <a:sym typeface="Helvetica Neue"/>
              </a:rPr>
              <a:t>，提升約 </a:t>
            </a:r>
            <a:r>
              <a:rPr lang="en-US" altLang="zh-TW" dirty="0">
                <a:effectLst/>
                <a:latin typeface="+mn-lt"/>
                <a:ea typeface="+mn-ea"/>
                <a:cs typeface="+mn-cs"/>
                <a:sym typeface="Helvetica Neue"/>
              </a:rPr>
              <a:t>71%</a:t>
            </a:r>
            <a:r>
              <a:rPr lang="zh-TW" altLang="en-US" dirty="0">
                <a:effectLst/>
                <a:latin typeface="+mn-lt"/>
                <a:ea typeface="+mn-ea"/>
                <a:cs typeface="+mn-cs"/>
                <a:sym typeface="Helvetica Neue"/>
              </a:rPr>
              <a:t>；相比 </a:t>
            </a:r>
            <a:r>
              <a:rPr lang="en-US" altLang="zh-TW" dirty="0">
                <a:effectLst/>
                <a:latin typeface="+mn-lt"/>
                <a:ea typeface="+mn-ea"/>
                <a:cs typeface="+mn-cs"/>
                <a:sym typeface="Helvetica Neue"/>
              </a:rPr>
              <a:t>one-layer agent</a:t>
            </a:r>
            <a:r>
              <a:rPr lang="zh-TW" altLang="en-US" dirty="0">
                <a:effectLst/>
                <a:latin typeface="+mn-lt"/>
                <a:ea typeface="+mn-ea"/>
                <a:cs typeface="+mn-cs"/>
                <a:sym typeface="Helvetica Neue"/>
              </a:rPr>
              <a:t>，也提升約 </a:t>
            </a:r>
            <a:r>
              <a:rPr lang="en-US" altLang="zh-TW" dirty="0">
                <a:effectLst/>
                <a:latin typeface="+mn-lt"/>
                <a:ea typeface="+mn-ea"/>
                <a:cs typeface="+mn-cs"/>
                <a:sym typeface="Helvetica Neue"/>
              </a:rPr>
              <a:t>9%</a:t>
            </a:r>
            <a:r>
              <a:rPr lang="zh-TW" altLang="en-US" dirty="0">
                <a:effectLst/>
                <a:latin typeface="+mn-lt"/>
                <a:ea typeface="+mn-ea"/>
                <a:cs typeface="+mn-cs"/>
                <a:sym typeface="Helvetica Neue"/>
              </a:rPr>
              <a:t>。</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第三個是 </a:t>
            </a:r>
            <a:r>
              <a:rPr lang="en-US" altLang="zh-TW" dirty="0">
                <a:effectLst/>
                <a:latin typeface="+mn-lt"/>
                <a:ea typeface="+mn-ea"/>
                <a:cs typeface="+mn-cs"/>
                <a:sym typeface="Helvetica Neue"/>
              </a:rPr>
              <a:t>Planner quality</a:t>
            </a:r>
            <a:r>
              <a:rPr lang="zh-TW" altLang="en-US" dirty="0">
                <a:effectLst/>
                <a:latin typeface="+mn-lt"/>
                <a:ea typeface="+mn-ea"/>
                <a:cs typeface="+mn-cs"/>
                <a:sym typeface="Helvetica Neue"/>
              </a:rPr>
              <a:t>。</a:t>
            </a:r>
          </a:p>
          <a:p>
            <a:r>
              <a:rPr lang="en-US" altLang="zh-TW" dirty="0">
                <a:effectLst/>
                <a:latin typeface="+mn-lt"/>
                <a:ea typeface="+mn-ea"/>
                <a:cs typeface="+mn-cs"/>
                <a:sym typeface="Helvetica Neue"/>
              </a:rPr>
              <a:t>FT two-layer </a:t>
            </a:r>
            <a:r>
              <a:rPr lang="zh-TW" altLang="en-US" dirty="0">
                <a:effectLst/>
                <a:latin typeface="+mn-lt"/>
                <a:ea typeface="+mn-ea"/>
                <a:cs typeface="+mn-cs"/>
                <a:sym typeface="Helvetica Neue"/>
              </a:rPr>
              <a:t>相比 </a:t>
            </a:r>
            <a:r>
              <a:rPr lang="en-US" altLang="zh-TW" dirty="0">
                <a:effectLst/>
                <a:latin typeface="+mn-lt"/>
                <a:ea typeface="+mn-ea"/>
                <a:cs typeface="+mn-cs"/>
                <a:sym typeface="Helvetica Neue"/>
              </a:rPr>
              <a:t>one-layer</a:t>
            </a:r>
            <a:r>
              <a:rPr lang="zh-TW" altLang="en-US" dirty="0">
                <a:effectLst/>
                <a:latin typeface="+mn-lt"/>
                <a:ea typeface="+mn-ea"/>
                <a:cs typeface="+mn-cs"/>
                <a:sym typeface="Helvetica Neue"/>
              </a:rPr>
              <a:t>，提升約 </a:t>
            </a:r>
            <a:r>
              <a:rPr lang="en-US" altLang="zh-TW" dirty="0">
                <a:effectLst/>
                <a:latin typeface="+mn-lt"/>
                <a:ea typeface="+mn-ea"/>
                <a:cs typeface="+mn-cs"/>
                <a:sym typeface="Helvetica Neue"/>
              </a:rPr>
              <a:t>67%</a:t>
            </a:r>
            <a:r>
              <a:rPr lang="zh-TW" altLang="en-US" dirty="0">
                <a:effectLst/>
                <a:latin typeface="+mn-lt"/>
                <a:ea typeface="+mn-ea"/>
                <a:cs typeface="+mn-cs"/>
                <a:sym typeface="Helvetica Neue"/>
              </a:rPr>
              <a:t>；相比未 </a:t>
            </a:r>
            <a:r>
              <a:rPr lang="en-US" altLang="zh-TW" dirty="0">
                <a:effectLst/>
                <a:latin typeface="+mn-lt"/>
                <a:ea typeface="+mn-ea"/>
                <a:cs typeface="+mn-cs"/>
                <a:sym typeface="Helvetica Neue"/>
              </a:rPr>
              <a:t>fine-tuned </a:t>
            </a:r>
            <a:r>
              <a:rPr lang="zh-TW" altLang="en-US" dirty="0">
                <a:effectLst/>
                <a:latin typeface="+mn-lt"/>
                <a:ea typeface="+mn-ea"/>
                <a:cs typeface="+mn-cs"/>
                <a:sym typeface="Helvetica Neue"/>
              </a:rPr>
              <a:t>的 </a:t>
            </a:r>
            <a:r>
              <a:rPr lang="en-US" altLang="zh-TW" dirty="0">
                <a:effectLst/>
                <a:latin typeface="+mn-lt"/>
                <a:ea typeface="+mn-ea"/>
                <a:cs typeface="+mn-cs"/>
                <a:sym typeface="Helvetica Neue"/>
              </a:rPr>
              <a:t>two-layer</a:t>
            </a:r>
            <a:r>
              <a:rPr lang="zh-TW" altLang="en-US" dirty="0">
                <a:effectLst/>
                <a:latin typeface="+mn-lt"/>
                <a:ea typeface="+mn-ea"/>
                <a:cs typeface="+mn-cs"/>
                <a:sym typeface="Helvetica Neue"/>
              </a:rPr>
              <a:t>，提升約 </a:t>
            </a:r>
            <a:r>
              <a:rPr lang="en-US" altLang="zh-TW" dirty="0">
                <a:effectLst/>
                <a:latin typeface="+mn-lt"/>
                <a:ea typeface="+mn-ea"/>
                <a:cs typeface="+mn-cs"/>
                <a:sym typeface="Helvetica Neue"/>
              </a:rPr>
              <a:t>18%</a:t>
            </a:r>
            <a:r>
              <a:rPr lang="zh-TW" altLang="en-US" dirty="0">
                <a:effectLst/>
                <a:latin typeface="+mn-lt"/>
                <a:ea typeface="+mn-ea"/>
                <a:cs typeface="+mn-cs"/>
                <a:sym typeface="Helvetica Neue"/>
              </a:rPr>
              <a:t>。</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第四個是 </a:t>
            </a:r>
            <a:r>
              <a:rPr lang="en-US" altLang="zh-TW" dirty="0">
                <a:effectLst/>
                <a:latin typeface="+mn-lt"/>
                <a:ea typeface="+mn-ea"/>
                <a:cs typeface="+mn-cs"/>
                <a:sym typeface="Helvetica Neue"/>
              </a:rPr>
              <a:t>Behavior diversity</a:t>
            </a:r>
            <a:r>
              <a:rPr lang="zh-TW" altLang="en-US" dirty="0">
                <a:effectLst/>
                <a:latin typeface="+mn-lt"/>
                <a:ea typeface="+mn-ea"/>
                <a:cs typeface="+mn-cs"/>
                <a:sym typeface="Helvetica Neue"/>
              </a:rPr>
              <a:t>。</a:t>
            </a:r>
          </a:p>
          <a:p>
            <a:r>
              <a:rPr lang="zh-TW" altLang="en-US" dirty="0">
                <a:effectLst/>
                <a:latin typeface="+mn-lt"/>
                <a:ea typeface="+mn-ea"/>
                <a:cs typeface="+mn-cs"/>
                <a:sym typeface="Helvetica Neue"/>
              </a:rPr>
              <a:t>我們的方法相比 </a:t>
            </a:r>
            <a:r>
              <a:rPr lang="en-US" altLang="zh-TW" dirty="0">
                <a:effectLst/>
                <a:latin typeface="+mn-lt"/>
                <a:ea typeface="+mn-ea"/>
                <a:cs typeface="+mn-cs"/>
                <a:sym typeface="Helvetica Neue"/>
              </a:rPr>
              <a:t>QRASSH </a:t>
            </a:r>
            <a:r>
              <a:rPr lang="zh-TW" altLang="en-US" dirty="0">
                <a:effectLst/>
                <a:latin typeface="+mn-lt"/>
                <a:ea typeface="+mn-ea"/>
                <a:cs typeface="+mn-cs"/>
                <a:sym typeface="Helvetica Neue"/>
              </a:rPr>
              <a:t>超過 </a:t>
            </a:r>
            <a:r>
              <a:rPr lang="en-US" altLang="zh-TW" dirty="0">
                <a:effectLst/>
                <a:latin typeface="+mn-lt"/>
                <a:ea typeface="+mn-ea"/>
                <a:cs typeface="+mn-cs"/>
                <a:sym typeface="Helvetica Neue"/>
              </a:rPr>
              <a:t>4 </a:t>
            </a:r>
            <a:r>
              <a:rPr lang="zh-TW" altLang="en-US" dirty="0">
                <a:effectLst/>
                <a:latin typeface="+mn-lt"/>
                <a:ea typeface="+mn-ea"/>
                <a:cs typeface="+mn-cs"/>
                <a:sym typeface="Helvetica Neue"/>
              </a:rPr>
              <a:t>倍，相比 </a:t>
            </a:r>
            <a:r>
              <a:rPr lang="en-US" altLang="zh-TW" dirty="0">
                <a:effectLst/>
                <a:latin typeface="+mn-lt"/>
                <a:ea typeface="+mn-ea"/>
                <a:cs typeface="+mn-cs"/>
                <a:sym typeface="Helvetica Neue"/>
              </a:rPr>
              <a:t>LLM-based honeypot </a:t>
            </a:r>
            <a:r>
              <a:rPr lang="zh-TW" altLang="en-US" dirty="0">
                <a:effectLst/>
                <a:latin typeface="+mn-lt"/>
                <a:ea typeface="+mn-ea"/>
                <a:cs typeface="+mn-cs"/>
                <a:sym typeface="Helvetica Neue"/>
              </a:rPr>
              <a:t>超過 </a:t>
            </a:r>
            <a:r>
              <a:rPr lang="en-US" altLang="zh-TW" dirty="0">
                <a:effectLst/>
                <a:latin typeface="+mn-lt"/>
                <a:ea typeface="+mn-ea"/>
                <a:cs typeface="+mn-cs"/>
                <a:sym typeface="Helvetica Neue"/>
              </a:rPr>
              <a:t>2 </a:t>
            </a:r>
            <a:r>
              <a:rPr lang="zh-TW" altLang="en-US" dirty="0">
                <a:effectLst/>
                <a:latin typeface="+mn-lt"/>
                <a:ea typeface="+mn-ea"/>
                <a:cs typeface="+mn-cs"/>
                <a:sym typeface="Helvetica Neue"/>
              </a:rPr>
              <a:t>倍。和 </a:t>
            </a:r>
            <a:r>
              <a:rPr lang="en-US" altLang="zh-TW" dirty="0">
                <a:effectLst/>
                <a:latin typeface="+mn-lt"/>
                <a:ea typeface="+mn-ea"/>
                <a:cs typeface="+mn-cs"/>
                <a:sym typeface="Helvetica Neue"/>
              </a:rPr>
              <a:t>one-layer </a:t>
            </a:r>
            <a:r>
              <a:rPr lang="zh-TW" altLang="en-US" dirty="0">
                <a:effectLst/>
                <a:latin typeface="+mn-lt"/>
                <a:ea typeface="+mn-ea"/>
                <a:cs typeface="+mn-cs"/>
                <a:sym typeface="Helvetica Neue"/>
              </a:rPr>
              <a:t>相比，差距不到 </a:t>
            </a:r>
            <a:r>
              <a:rPr lang="en-US" altLang="zh-TW" dirty="0">
                <a:effectLst/>
                <a:latin typeface="+mn-lt"/>
                <a:ea typeface="+mn-ea"/>
                <a:cs typeface="+mn-cs"/>
                <a:sym typeface="Helvetica Neue"/>
              </a:rPr>
              <a:t>5%</a:t>
            </a:r>
            <a:r>
              <a:rPr lang="zh-TW" altLang="en-US" dirty="0">
                <a:effectLst/>
                <a:latin typeface="+mn-lt"/>
                <a:ea typeface="+mn-ea"/>
                <a:cs typeface="+mn-cs"/>
                <a:sym typeface="Helvetica Neue"/>
              </a:rPr>
              <a:t>。</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最後是 </a:t>
            </a:r>
            <a:r>
              <a:rPr lang="en-US" altLang="zh-TW" dirty="0">
                <a:effectLst/>
                <a:latin typeface="+mn-lt"/>
                <a:ea typeface="+mn-ea"/>
                <a:cs typeface="+mn-cs"/>
                <a:sym typeface="Helvetica Neue"/>
              </a:rPr>
              <a:t>Lateral movement</a:t>
            </a:r>
            <a:br>
              <a:rPr lang="zh-TW" altLang="en-US" dirty="0">
                <a:effectLst/>
                <a:latin typeface="+mn-lt"/>
                <a:ea typeface="+mn-ea"/>
                <a:cs typeface="+mn-cs"/>
                <a:sym typeface="Helvetica Neue"/>
              </a:rPr>
            </a:br>
            <a:endParaRPr lang="zh-TW" altLang="en-US" dirty="0">
              <a:effectLst/>
              <a:latin typeface="+mn-lt"/>
              <a:ea typeface="+mn-ea"/>
              <a:cs typeface="+mn-cs"/>
              <a:sym typeface="Helvetica Neue"/>
            </a:endParaRPr>
          </a:p>
          <a:p>
            <a:br>
              <a:rPr lang="zh-TW" altLang="en-US" dirty="0">
                <a:effectLst/>
                <a:latin typeface="+mn-lt"/>
                <a:ea typeface="+mn-ea"/>
                <a:cs typeface="+mn-cs"/>
                <a:sym typeface="Helvetica Neue"/>
              </a:rPr>
            </a:br>
            <a:endParaRPr lang="zh-TW" altLang="en-US" dirty="0">
              <a:effectLst/>
              <a:latin typeface="+mn-lt"/>
              <a:ea typeface="+mn-ea"/>
              <a:cs typeface="+mn-cs"/>
              <a:sym typeface="Helvetica Neue"/>
            </a:endParaRPr>
          </a:p>
          <a:p>
            <a:endParaRPr lang="zh-TW" altLang="en-US" dirty="0">
              <a:effectLst/>
              <a:latin typeface="+mn-lt"/>
              <a:ea typeface="+mn-ea"/>
              <a:cs typeface="+mn-cs"/>
              <a:sym typeface="Helvetica Neue"/>
            </a:endParaRPr>
          </a:p>
        </p:txBody>
      </p:sp>
    </p:spTree>
    <p:extLst>
      <p:ext uri="{BB962C8B-B14F-4D97-AF65-F5344CB8AC3E}">
        <p14:creationId xmlns:p14="http://schemas.microsoft.com/office/powerpoint/2010/main" val="2387765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4185160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zh-TW" altLang="en-US" dirty="0"/>
              <a:t>只能模擬一台電腦，無法模擬整個企業網路環境</a:t>
            </a:r>
          </a:p>
          <a:p>
            <a:pPr lvl="1"/>
            <a:r>
              <a:rPr lang="zh-TW" altLang="en-US" dirty="0"/>
              <a:t>交戰策略多為靜態，無法根據攻擊者意圖動態產生交戰策略</a:t>
            </a:r>
          </a:p>
          <a:p>
            <a:pPr lvl="1"/>
            <a:r>
              <a:rPr lang="zh-TW" altLang="en-US" dirty="0"/>
              <a:t>交戰策略只作用在一台電腦上，無法實現橫跨多台電腦的複雜策略</a:t>
            </a:r>
          </a:p>
          <a:p>
            <a:r>
              <a:rPr lang="en-US" altLang="zh-TW" dirty="0"/>
              <a:t>Traditional honeypots simulate only a single host, making them insufficient for multi-stage and cross-host enterprise attacks.</a:t>
            </a:r>
          </a:p>
          <a:p>
            <a:r>
              <a:rPr lang="en-US" altLang="zh-TW" dirty="0"/>
              <a:t>Existing honeynet research improves environment realism, but mainly focuses on deployment and passive observation rather than active attacker engagement.</a:t>
            </a:r>
          </a:p>
          <a:p>
            <a:r>
              <a:rPr lang="en-US" altLang="zh-TW" dirty="0"/>
              <a:t>Adaptive honeypot methods provide dynamic interaction, but cannot be directly extended to honeynets because cross-host engagement requires globally coordinated decisions.</a:t>
            </a:r>
          </a:p>
          <a:p>
            <a:endParaRPr kumimoji="1" lang="zh-TW" altLang="en-US" dirty="0"/>
          </a:p>
        </p:txBody>
      </p:sp>
    </p:spTree>
    <p:extLst>
      <p:ext uri="{BB962C8B-B14F-4D97-AF65-F5344CB8AC3E}">
        <p14:creationId xmlns:p14="http://schemas.microsoft.com/office/powerpoint/2010/main" val="803789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936686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39266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hape 180"/>
          <p:cNvSpPr>
            <a:spLocks noGrp="1" noRot="1" noChangeAspect="1"/>
          </p:cNvSpPr>
          <p:nvPr>
            <p:ph type="sldImg"/>
          </p:nvPr>
        </p:nvSpPr>
        <p:spPr>
          <a:xfrm>
            <a:off x="381000" y="685800"/>
            <a:ext cx="6096000" cy="3429000"/>
          </a:xfrm>
          <a:prstGeom prst="rect">
            <a:avLst/>
          </a:prstGeom>
        </p:spPr>
        <p:txBody>
          <a:bodyPr/>
          <a:lstStyle/>
          <a:p>
            <a:endParaRPr/>
          </a:p>
        </p:txBody>
      </p:sp>
      <p:sp>
        <p:nvSpPr>
          <p:cNvPr id="181" name="Shape 181"/>
          <p:cNvSpPr>
            <a:spLocks noGrp="1"/>
          </p:cNvSpPr>
          <p:nvPr>
            <p:ph type="body" sz="quarter" idx="1"/>
          </p:nvPr>
        </p:nvSpPr>
        <p:spPr>
          <a:prstGeom prst="rect">
            <a:avLst/>
          </a:prstGeom>
        </p:spPr>
        <p:txBody>
          <a:bodyPr/>
          <a:lstStyle/>
          <a:p>
            <a:r>
              <a:rPr dirty="0"/>
              <a:t> Honeypot: </a:t>
            </a:r>
          </a:p>
          <a:p>
            <a:r>
              <a:rPr dirty="0"/>
              <a:t>Captures the initial intrusion on a single host, but the attack chain ends when lateral movement is attempted</a:t>
            </a:r>
          </a:p>
          <a:p>
            <a:r>
              <a:rPr dirty="0" err="1"/>
              <a:t>Honetnet</a:t>
            </a:r>
            <a:r>
              <a:rPr dirty="0"/>
              <a:t>: </a:t>
            </a:r>
          </a:p>
          <a:p>
            <a:r>
              <a:rPr dirty="0"/>
              <a:t>Enables lateral movement across a network of decoys, revealing the complete, end-to-end attack chain and attacker TTPs</a:t>
            </a:r>
          </a:p>
        </p:txBody>
      </p:sp>
    </p:spTree>
    <p:extLst>
      <p:ext uri="{BB962C8B-B14F-4D97-AF65-F5344CB8AC3E}">
        <p14:creationId xmlns:p14="http://schemas.microsoft.com/office/powerpoint/2010/main" val="3124456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702A2-C993-3F6A-6D4F-FEBEF7C6E9D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0180B27-2272-3A89-8898-F934E192848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FD52C96-DD28-6091-9D59-791FE36A29DB}"/>
              </a:ext>
            </a:extLst>
          </p:cNvPr>
          <p:cNvSpPr>
            <a:spLocks noGrp="1"/>
          </p:cNvSpPr>
          <p:nvPr>
            <p:ph type="body" idx="1"/>
          </p:nvPr>
        </p:nvSpPr>
        <p:spPr/>
        <p:txBody>
          <a:bodyPr/>
          <a:lstStyle/>
          <a:p>
            <a:r>
              <a:rPr kumimoji="1" lang="zh-TW" altLang="en-US" dirty="0"/>
              <a:t>沒有寫到</a:t>
            </a:r>
            <a:r>
              <a:rPr kumimoji="1" lang="en-US" altLang="zh-TW" dirty="0" err="1"/>
              <a:t>llm</a:t>
            </a:r>
            <a:r>
              <a:rPr kumimoji="1" lang="zh-TW" altLang="en-US" dirty="0"/>
              <a:t> 處理的一段</a:t>
            </a:r>
            <a:r>
              <a:rPr kumimoji="1" lang="en-US" altLang="zh-TW" dirty="0"/>
              <a:t>command</a:t>
            </a:r>
            <a:r>
              <a:rPr kumimoji="1" lang="zh-TW" altLang="en-US" dirty="0"/>
              <a:t>的部分，</a:t>
            </a:r>
            <a:r>
              <a:rPr kumimoji="1" lang="en-US" altLang="zh-TW" dirty="0"/>
              <a:t>policy</a:t>
            </a:r>
            <a:r>
              <a:rPr kumimoji="1" lang="zh-TW" altLang="en-US" dirty="0"/>
              <a:t>應該是對應沒寫到的一段</a:t>
            </a:r>
            <a:r>
              <a:rPr kumimoji="1" lang="en-US" altLang="zh-TW" dirty="0"/>
              <a:t>command</a:t>
            </a:r>
            <a:endParaRPr kumimoji="1" lang="zh-TW" altLang="en-US" dirty="0"/>
          </a:p>
        </p:txBody>
      </p:sp>
    </p:spTree>
    <p:extLst>
      <p:ext uri="{BB962C8B-B14F-4D97-AF65-F5344CB8AC3E}">
        <p14:creationId xmlns:p14="http://schemas.microsoft.com/office/powerpoint/2010/main" val="2946615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2783677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5DA60-160D-C56A-078C-96E75B6DAE6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2FCFDE1-F5ED-4E17-FD17-1BC83E28E8E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0A1EF3E-3411-152E-AD5F-58227F06DA07}"/>
              </a:ext>
            </a:extLst>
          </p:cNvPr>
          <p:cNvSpPr>
            <a:spLocks noGrp="1"/>
          </p:cNvSpPr>
          <p:nvPr>
            <p:ph type="body" idx="1"/>
          </p:nvPr>
        </p:nvSpPr>
        <p:spPr/>
        <p:txBody>
          <a:bodyPr/>
          <a:lstStyle/>
          <a:p>
            <a:r>
              <a:rPr kumimoji="1" lang="en-US" altLang="zh-TW" dirty="0"/>
              <a:t>Action</a:t>
            </a:r>
            <a:r>
              <a:rPr kumimoji="1" lang="zh-TW" altLang="en-US" dirty="0"/>
              <a:t>區塊不一致，不是資料，箭頭要改</a:t>
            </a:r>
          </a:p>
        </p:txBody>
      </p:sp>
    </p:spTree>
    <p:extLst>
      <p:ext uri="{BB962C8B-B14F-4D97-AF65-F5344CB8AC3E}">
        <p14:creationId xmlns:p14="http://schemas.microsoft.com/office/powerpoint/2010/main" val="3941320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字大一點</a:t>
            </a:r>
          </a:p>
        </p:txBody>
      </p:sp>
    </p:spTree>
    <p:extLst>
      <p:ext uri="{BB962C8B-B14F-4D97-AF65-F5344CB8AC3E}">
        <p14:creationId xmlns:p14="http://schemas.microsoft.com/office/powerpoint/2010/main" val="1286683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CCDC9-068D-CA38-C33F-BCC4066B4E8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A06E25A-03E2-8648-D5B2-88E6A3BF932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5640C19-5CAD-0463-CA58-5000009CAD41}"/>
              </a:ext>
            </a:extLst>
          </p:cNvPr>
          <p:cNvSpPr>
            <a:spLocks noGrp="1"/>
          </p:cNvSpPr>
          <p:nvPr>
            <p:ph type="body" idx="1"/>
          </p:nvPr>
        </p:nvSpPr>
        <p:spPr/>
        <p:txBody>
          <a:bodyPr/>
          <a:lstStyle/>
          <a:p>
            <a:r>
              <a:rPr kumimoji="1" lang="en-US" altLang="zh-TW" dirty="0"/>
              <a:t>Issue</a:t>
            </a:r>
            <a:r>
              <a:rPr kumimoji="1" lang="zh-TW" altLang="en-US" dirty="0"/>
              <a:t>放最終結果</a:t>
            </a:r>
            <a:r>
              <a:rPr kumimoji="1" lang="en-US" altLang="zh-TW" dirty="0"/>
              <a:t>attack</a:t>
            </a:r>
            <a:r>
              <a:rPr kumimoji="1" lang="zh-TW" altLang="en-US" dirty="0"/>
              <a:t> </a:t>
            </a:r>
            <a:r>
              <a:rPr kumimoji="1" lang="en-US" altLang="zh-TW" dirty="0"/>
              <a:t>depth</a:t>
            </a:r>
            <a:r>
              <a:rPr kumimoji="1" lang="zh-TW" altLang="en-US" dirty="0"/>
              <a:t>，但是這樣畫圖沒有意義，想圖怎麼畫，中間結果可到</a:t>
            </a:r>
            <a:r>
              <a:rPr kumimoji="1" lang="en-US" altLang="zh-TW" dirty="0"/>
              <a:t>evaluation</a:t>
            </a:r>
            <a:r>
              <a:rPr kumimoji="1" lang="zh-TW" altLang="en-US" dirty="0"/>
              <a:t>討論</a:t>
            </a:r>
            <a:endParaRPr kumimoji="1" lang="en-US" altLang="zh-TW" dirty="0"/>
          </a:p>
          <a:p>
            <a:endParaRPr kumimoji="1" lang="en-US" altLang="zh-TW" dirty="0"/>
          </a:p>
          <a:p>
            <a:pPr>
              <a:lnSpc>
                <a:spcPct val="100000"/>
              </a:lnSpc>
              <a:spcBef>
                <a:spcPts val="3300"/>
              </a:spcBef>
            </a:pPr>
            <a:r>
              <a:rPr lang="en-US" altLang="zh-TW" sz="4000" b="1" dirty="0"/>
              <a:t>Realism:</a:t>
            </a:r>
            <a:r>
              <a:rPr lang="en-US" altLang="zh-TW" sz="4000" dirty="0"/>
              <a:t> </a:t>
            </a:r>
            <a:r>
              <a:rPr lang="zh-TW" altLang="en-US" sz="4000" dirty="0"/>
              <a:t>改回覆 </a:t>
            </a:r>
            <a:r>
              <a:rPr lang="en-US" altLang="zh-TW" sz="4000" dirty="0"/>
              <a:t>honeynet</a:t>
            </a:r>
            <a:r>
              <a:rPr lang="zh-TW" altLang="en-US" sz="4000" dirty="0"/>
              <a:t> </a:t>
            </a:r>
            <a:r>
              <a:rPr lang="en-US" altLang="zh-TW" sz="4000" dirty="0"/>
              <a:t>vs</a:t>
            </a:r>
            <a:r>
              <a:rPr lang="zh-TW" altLang="en-US" sz="4000" dirty="0"/>
              <a:t> 改環境 </a:t>
            </a:r>
            <a:r>
              <a:rPr lang="en-US" altLang="zh-TW" sz="4000" dirty="0"/>
              <a:t>honeynet</a:t>
            </a:r>
          </a:p>
          <a:p>
            <a:pPr lvl="1">
              <a:lnSpc>
                <a:spcPct val="100000"/>
              </a:lnSpc>
              <a:spcBef>
                <a:spcPts val="3300"/>
              </a:spcBef>
            </a:pPr>
            <a:r>
              <a:rPr lang="zh-TW" altLang="en-US" sz="4000" dirty="0"/>
              <a:t>用</a:t>
            </a:r>
            <a:r>
              <a:rPr lang="en-US" altLang="zh-TW" sz="4000" dirty="0" err="1"/>
              <a:t>llm</a:t>
            </a:r>
            <a:r>
              <a:rPr lang="en-US" altLang="zh-TW" sz="4000" dirty="0"/>
              <a:t>-agent</a:t>
            </a:r>
            <a:r>
              <a:rPr lang="zh-TW" altLang="en-US" sz="4000" dirty="0"/>
              <a:t>去直接修改系統回覆或只修改系統環境</a:t>
            </a:r>
            <a:endParaRPr lang="en-US" altLang="zh-TW" sz="4000" dirty="0"/>
          </a:p>
          <a:p>
            <a:pPr lvl="1">
              <a:lnSpc>
                <a:spcPct val="100000"/>
              </a:lnSpc>
              <a:spcBef>
                <a:spcPts val="3300"/>
              </a:spcBef>
            </a:pPr>
            <a:r>
              <a:rPr lang="en-US" altLang="zh-TW" sz="4000" dirty="0"/>
              <a:t>Using LLM to judge is honeypot or not</a:t>
            </a:r>
          </a:p>
          <a:p>
            <a:pPr>
              <a:lnSpc>
                <a:spcPct val="100000"/>
              </a:lnSpc>
              <a:spcBef>
                <a:spcPts val="3300"/>
              </a:spcBef>
            </a:pPr>
            <a:r>
              <a:rPr lang="en-US" altLang="zh-TW" sz="4000" b="1" dirty="0"/>
              <a:t>Attack Depth:</a:t>
            </a:r>
            <a:r>
              <a:rPr lang="zh-TW" altLang="en-US" sz="4000" b="1" dirty="0"/>
              <a:t> </a:t>
            </a:r>
            <a:r>
              <a:rPr lang="en-US" altLang="zh-TW" sz="4000" dirty="0"/>
              <a:t>Other</a:t>
            </a:r>
            <a:r>
              <a:rPr lang="zh-TW" altLang="en-US" sz="4000" dirty="0"/>
              <a:t> </a:t>
            </a:r>
            <a:r>
              <a:rPr lang="en-US" altLang="zh-TW" sz="4000" dirty="0"/>
              <a:t>RL-based</a:t>
            </a:r>
            <a:r>
              <a:rPr lang="zh-TW" altLang="en-US" sz="4000" dirty="0"/>
              <a:t> </a:t>
            </a:r>
            <a:r>
              <a:rPr lang="en-US" altLang="zh-TW" sz="4000" dirty="0"/>
              <a:t>honeypot</a:t>
            </a:r>
            <a:r>
              <a:rPr lang="zh-TW" altLang="en-US" sz="4000" dirty="0"/>
              <a:t> </a:t>
            </a:r>
            <a:r>
              <a:rPr lang="en-US" altLang="zh-TW" sz="4000" dirty="0"/>
              <a:t>vs. LLM-based honeynet</a:t>
            </a:r>
          </a:p>
          <a:p>
            <a:pPr lvl="1">
              <a:lnSpc>
                <a:spcPct val="100000"/>
              </a:lnSpc>
              <a:spcBef>
                <a:spcPts val="3300"/>
              </a:spcBef>
            </a:pPr>
            <a:r>
              <a:rPr lang="zh-TW" altLang="en-US" sz="4000" dirty="0"/>
              <a:t>使用</a:t>
            </a:r>
            <a:r>
              <a:rPr lang="en-US" altLang="zh-TW" sz="4000" dirty="0" err="1"/>
              <a:t>llm</a:t>
            </a:r>
            <a:r>
              <a:rPr lang="zh-TW" altLang="en-US" sz="4000" dirty="0"/>
              <a:t> 攻擊者根據目標產生攻擊指令</a:t>
            </a:r>
            <a:endParaRPr lang="en-US" altLang="zh-TW" sz="4000" dirty="0"/>
          </a:p>
          <a:p>
            <a:pPr lvl="1">
              <a:lnSpc>
                <a:spcPct val="100000"/>
              </a:lnSpc>
              <a:spcBef>
                <a:spcPts val="3300"/>
              </a:spcBef>
            </a:pPr>
            <a:r>
              <a:rPr lang="zh-TW" altLang="en-US" sz="4000" dirty="0"/>
              <a:t>讓</a:t>
            </a:r>
            <a:r>
              <a:rPr lang="en-US" altLang="zh-TW" sz="4000" dirty="0" err="1"/>
              <a:t>llm</a:t>
            </a:r>
            <a:r>
              <a:rPr lang="zh-TW" altLang="en-US" sz="4000" dirty="0"/>
              <a:t> 攻擊者根據系統回覆決定是否繼續攻擊並統計</a:t>
            </a:r>
            <a:r>
              <a:rPr lang="en-US" altLang="zh-TW" sz="4000" dirty="0"/>
              <a:t>session</a:t>
            </a:r>
            <a:r>
              <a:rPr lang="zh-TW" altLang="en-US" sz="4000" dirty="0"/>
              <a:t>深度</a:t>
            </a:r>
            <a:endParaRPr lang="en-US" altLang="zh-TW" sz="4000" dirty="0"/>
          </a:p>
          <a:p>
            <a:pPr>
              <a:lnSpc>
                <a:spcPct val="100000"/>
              </a:lnSpc>
              <a:spcBef>
                <a:spcPts val="3300"/>
              </a:spcBef>
            </a:pPr>
            <a:r>
              <a:rPr lang="en-US" altLang="zh-TW" sz="4000" b="1" dirty="0"/>
              <a:t>Behavior Diversity:</a:t>
            </a:r>
            <a:r>
              <a:rPr lang="en-US" altLang="zh-TW" sz="4000" dirty="0"/>
              <a:t> Static honeynet vs. LLM-based honeynet</a:t>
            </a:r>
          </a:p>
          <a:p>
            <a:pPr lvl="1">
              <a:lnSpc>
                <a:spcPct val="100000"/>
              </a:lnSpc>
              <a:spcBef>
                <a:spcPts val="3300"/>
              </a:spcBef>
            </a:pPr>
            <a:r>
              <a:rPr lang="zh-TW" altLang="en-US" sz="4000" dirty="0"/>
              <a:t>使用</a:t>
            </a:r>
            <a:r>
              <a:rPr lang="en-US" altLang="zh-TW" sz="4000" dirty="0" err="1"/>
              <a:t>llm</a:t>
            </a:r>
            <a:r>
              <a:rPr lang="en-US" altLang="zh-TW" sz="4000" dirty="0"/>
              <a:t>-agent</a:t>
            </a:r>
            <a:r>
              <a:rPr lang="zh-TW" altLang="en-US" sz="4000" dirty="0"/>
              <a:t>根據攻擊指令放上吸引攻擊者的</a:t>
            </a:r>
            <a:r>
              <a:rPr lang="en-US" altLang="zh-TW" sz="4000" dirty="0"/>
              <a:t>decoy</a:t>
            </a:r>
            <a:r>
              <a:rPr lang="zh-TW" altLang="en-US" sz="4000" dirty="0"/>
              <a:t>檔案或設定</a:t>
            </a:r>
            <a:endParaRPr lang="en-US" altLang="zh-TW" sz="4000" dirty="0"/>
          </a:p>
          <a:p>
            <a:pPr lvl="1">
              <a:lnSpc>
                <a:spcPct val="100000"/>
              </a:lnSpc>
              <a:spcBef>
                <a:spcPts val="3300"/>
              </a:spcBef>
            </a:pPr>
            <a:r>
              <a:rPr lang="zh-TW" altLang="en-US" sz="4000" dirty="0"/>
              <a:t>根據攻擊指令判斷</a:t>
            </a:r>
            <a:r>
              <a:rPr lang="en-US" altLang="zh-TW" sz="4000" dirty="0" err="1"/>
              <a:t>llm</a:t>
            </a:r>
            <a:r>
              <a:rPr lang="zh-TW" altLang="en-US" sz="4000" dirty="0"/>
              <a:t> 攻擊者有沒有嘗試更多樣的攻擊手法</a:t>
            </a:r>
            <a:endParaRPr lang="en-US" altLang="zh-TW" sz="4000" dirty="0"/>
          </a:p>
          <a:p>
            <a:pPr>
              <a:lnSpc>
                <a:spcPct val="100000"/>
              </a:lnSpc>
              <a:spcBef>
                <a:spcPts val="3300"/>
              </a:spcBef>
            </a:pPr>
            <a:r>
              <a:rPr lang="en-US" altLang="zh-TW" sz="4000" b="1" dirty="0"/>
              <a:t>Lateral Movement: </a:t>
            </a:r>
            <a:r>
              <a:rPr lang="en-US" altLang="zh-TW" sz="4000" dirty="0"/>
              <a:t>honeypot</a:t>
            </a:r>
            <a:r>
              <a:rPr lang="zh-TW" altLang="en-US" sz="4000" dirty="0"/>
              <a:t> </a:t>
            </a:r>
            <a:r>
              <a:rPr lang="en-US" altLang="zh-TW" sz="4000" dirty="0"/>
              <a:t>vs. honeynet</a:t>
            </a:r>
          </a:p>
          <a:p>
            <a:pPr lvl="1">
              <a:lnSpc>
                <a:spcPct val="100000"/>
              </a:lnSpc>
              <a:spcBef>
                <a:spcPts val="3300"/>
              </a:spcBef>
            </a:pPr>
            <a:r>
              <a:rPr lang="zh-TW" altLang="en-US" sz="4000" dirty="0"/>
              <a:t>使用</a:t>
            </a:r>
            <a:r>
              <a:rPr lang="en-US" altLang="zh-TW" sz="4000" dirty="0" err="1"/>
              <a:t>llm</a:t>
            </a:r>
            <a:r>
              <a:rPr lang="zh-TW" altLang="en-US" sz="4000" dirty="0"/>
              <a:t> 攻擊者根據目標產生攻擊指令</a:t>
            </a:r>
            <a:endParaRPr lang="en-US" altLang="zh-TW" sz="4000" dirty="0"/>
          </a:p>
          <a:p>
            <a:pPr lvl="1">
              <a:lnSpc>
                <a:spcPct val="100000"/>
              </a:lnSpc>
              <a:spcBef>
                <a:spcPts val="3300"/>
              </a:spcBef>
            </a:pPr>
            <a:r>
              <a:rPr lang="zh-TW" altLang="en-US" sz="4000" dirty="0"/>
              <a:t>分析攻擊指令判斷攻擊者有沒有嘗試更多橫向移動和移動方向</a:t>
            </a:r>
            <a:endParaRPr lang="en-US" altLang="zh-TW" sz="4000" dirty="0"/>
          </a:p>
          <a:p>
            <a:endParaRPr kumimoji="1" lang="zh-TW" altLang="en-US" dirty="0"/>
          </a:p>
        </p:txBody>
      </p:sp>
    </p:spTree>
    <p:extLst>
      <p:ext uri="{BB962C8B-B14F-4D97-AF65-F5344CB8AC3E}">
        <p14:creationId xmlns:p14="http://schemas.microsoft.com/office/powerpoint/2010/main" val="3925096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C86-B967-09F2-42F3-92DD10E833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1E0EA30-D112-3789-2E0F-81864FE26B6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C56215B-7A4A-6770-FF2A-D8B62F970604}"/>
              </a:ext>
            </a:extLst>
          </p:cNvPr>
          <p:cNvSpPr>
            <a:spLocks noGrp="1"/>
          </p:cNvSpPr>
          <p:nvPr>
            <p:ph type="body" idx="1"/>
          </p:nvPr>
        </p:nvSpPr>
        <p:spPr/>
        <p:txBody>
          <a:bodyPr/>
          <a:lstStyle/>
          <a:p>
            <a:r>
              <a:rPr kumimoji="1" lang="zh-TW" altLang="en-US" dirty="0"/>
              <a:t>標註哪裡有改哪裡沒改</a:t>
            </a:r>
          </a:p>
        </p:txBody>
      </p:sp>
    </p:spTree>
    <p:extLst>
      <p:ext uri="{BB962C8B-B14F-4D97-AF65-F5344CB8AC3E}">
        <p14:creationId xmlns:p14="http://schemas.microsoft.com/office/powerpoint/2010/main" val="418578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增加敘述做了什麼滿足</a:t>
            </a:r>
            <a:r>
              <a:rPr kumimoji="1" lang="en-US" altLang="zh-TW" dirty="0"/>
              <a:t>objective</a:t>
            </a:r>
            <a:endParaRPr kumimoji="1" lang="zh-TW" altLang="en-US" dirty="0"/>
          </a:p>
        </p:txBody>
      </p:sp>
    </p:spTree>
    <p:extLst>
      <p:ext uri="{BB962C8B-B14F-4D97-AF65-F5344CB8AC3E}">
        <p14:creationId xmlns:p14="http://schemas.microsoft.com/office/powerpoint/2010/main" val="2069463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F0D98-7CB1-AC64-1B41-A5451BE0090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6D45D9E-95F8-038B-5FD7-70A39BB1D8A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FA0814E-6F08-2C5F-AFFE-75CCBF7E543E}"/>
              </a:ext>
            </a:extLst>
          </p:cNvPr>
          <p:cNvSpPr>
            <a:spLocks noGrp="1"/>
          </p:cNvSpPr>
          <p:nvPr>
            <p:ph type="body" idx="1"/>
          </p:nvPr>
        </p:nvSpPr>
        <p:spPr/>
        <p:txBody>
          <a:bodyPr/>
          <a:lstStyle/>
          <a:p>
            <a:r>
              <a:rPr kumimoji="1" lang="zh-TW" altLang="en-US" dirty="0"/>
              <a:t>增加敘述做了什麼滿足</a:t>
            </a:r>
            <a:r>
              <a:rPr kumimoji="1" lang="en-US" altLang="zh-TW" dirty="0"/>
              <a:t>objective</a:t>
            </a:r>
            <a:endParaRPr kumimoji="1" lang="zh-TW" altLang="en-US" dirty="0"/>
          </a:p>
        </p:txBody>
      </p:sp>
    </p:spTree>
    <p:extLst>
      <p:ext uri="{BB962C8B-B14F-4D97-AF65-F5344CB8AC3E}">
        <p14:creationId xmlns:p14="http://schemas.microsoft.com/office/powerpoint/2010/main" val="4090539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7738B-10E3-41B8-0D30-848F77DCE7D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66111A4-14FC-5314-351B-19DF7F0F190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87EF50C-2480-770C-B7E5-E5EBF6919EA7}"/>
              </a:ext>
            </a:extLst>
          </p:cNvPr>
          <p:cNvSpPr>
            <a:spLocks noGrp="1"/>
          </p:cNvSpPr>
          <p:nvPr>
            <p:ph type="body" idx="1"/>
          </p:nvPr>
        </p:nvSpPr>
        <p:spPr/>
        <p:txBody>
          <a:bodyPr/>
          <a:lstStyle/>
          <a:p>
            <a:r>
              <a:rPr kumimoji="1" lang="zh-TW" altLang="en-US" dirty="0"/>
              <a:t>圖的字放大</a:t>
            </a:r>
          </a:p>
        </p:txBody>
      </p:sp>
    </p:spTree>
    <p:extLst>
      <p:ext uri="{BB962C8B-B14F-4D97-AF65-F5344CB8AC3E}">
        <p14:creationId xmlns:p14="http://schemas.microsoft.com/office/powerpoint/2010/main" val="151473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E87F5-7399-3E6B-30FB-D1DF11A1522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3E6E955-3C05-5C3D-FA6E-3C0C1E55502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0102EA7-4EB6-66FC-9E2B-7C5C90E6E8DF}"/>
              </a:ext>
            </a:extLst>
          </p:cNvPr>
          <p:cNvSpPr>
            <a:spLocks noGrp="1"/>
          </p:cNvSpPr>
          <p:nvPr>
            <p:ph type="body" idx="1"/>
          </p:nvPr>
        </p:nvSpPr>
        <p:spPr/>
        <p:txBody>
          <a:bodyPr/>
          <a:lstStyle/>
          <a:p>
            <a:r>
              <a:rPr kumimoji="1" lang="zh-TW" altLang="en-US" dirty="0"/>
              <a:t>用</a:t>
            </a:r>
            <a:r>
              <a:rPr kumimoji="1" lang="en-US" altLang="zh-TW" dirty="0"/>
              <a:t>heat</a:t>
            </a:r>
            <a:r>
              <a:rPr kumimoji="1" lang="zh-TW" altLang="en-US" dirty="0"/>
              <a:t> </a:t>
            </a:r>
            <a:r>
              <a:rPr kumimoji="1" lang="en-US" altLang="zh-TW" dirty="0"/>
              <a:t>map</a:t>
            </a:r>
            <a:r>
              <a:rPr kumimoji="1" lang="zh-TW" altLang="en-US" dirty="0"/>
              <a:t>表示什麼做完了什麼還沒做完</a:t>
            </a:r>
          </a:p>
        </p:txBody>
      </p:sp>
    </p:spTree>
    <p:extLst>
      <p:ext uri="{BB962C8B-B14F-4D97-AF65-F5344CB8AC3E}">
        <p14:creationId xmlns:p14="http://schemas.microsoft.com/office/powerpoint/2010/main" val="77507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852019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906387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CD30-FAA4-12CD-AD7A-2BB56C289A3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B59B86-89BE-A3E7-F263-3A527023F6C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96886A5-1423-DCE0-E3FB-5A57EE3FBA15}"/>
              </a:ext>
            </a:extLst>
          </p:cNvPr>
          <p:cNvSpPr>
            <a:spLocks noGrp="1"/>
          </p:cNvSpPr>
          <p:nvPr>
            <p:ph type="body" idx="1"/>
          </p:nvPr>
        </p:nvSpPr>
        <p:spPr/>
        <p:txBody>
          <a:bodyPr/>
          <a:lstStyle/>
          <a:p>
            <a:r>
              <a:rPr kumimoji="1" lang="zh-TW" altLang="en-US" dirty="0"/>
              <a:t>加一個橫向移動成功率？橫向移動捕捉成功比例，表示</a:t>
            </a:r>
            <a:r>
              <a:rPr kumimoji="1" lang="en-US" altLang="zh-TW" dirty="0"/>
              <a:t>honeynet</a:t>
            </a:r>
            <a:r>
              <a:rPr kumimoji="1" lang="zh-TW" altLang="en-US" dirty="0"/>
              <a:t>真的可以比</a:t>
            </a:r>
            <a:r>
              <a:rPr kumimoji="1" lang="en-US" altLang="zh-TW" dirty="0"/>
              <a:t>honeypot</a:t>
            </a:r>
            <a:r>
              <a:rPr kumimoji="1" lang="zh-TW" altLang="en-US" dirty="0"/>
              <a:t>好</a:t>
            </a:r>
            <a:endParaRPr kumimoji="1" lang="en-US" altLang="zh-TW" dirty="0"/>
          </a:p>
          <a:p>
            <a:endParaRPr kumimoji="1" lang="en-US" altLang="zh-TW" dirty="0"/>
          </a:p>
          <a:p>
            <a:r>
              <a:rPr kumimoji="1" lang="en-US" altLang="zh-TW" dirty="0"/>
              <a:t>Issue, key number, why</a:t>
            </a:r>
          </a:p>
          <a:p>
            <a:endParaRPr kumimoji="1" lang="en-US" altLang="zh-TW" dirty="0"/>
          </a:p>
          <a:p>
            <a:r>
              <a:rPr kumimoji="1" lang="zh-TW" altLang="en-US" dirty="0"/>
              <a:t>問題 </a:t>
            </a:r>
            <a:endParaRPr kumimoji="1" lang="en-US" altLang="zh-TW" dirty="0"/>
          </a:p>
          <a:p>
            <a:r>
              <a:rPr kumimoji="1" lang="zh-TW" altLang="en-US" dirty="0"/>
              <a:t>原因</a:t>
            </a:r>
            <a:endParaRPr kumimoji="1" lang="en-US" altLang="zh-TW" dirty="0"/>
          </a:p>
          <a:p>
            <a:r>
              <a:rPr kumimoji="1" lang="en-US" altLang="zh-TW" dirty="0"/>
              <a:t>key</a:t>
            </a:r>
            <a:r>
              <a:rPr kumimoji="1" lang="zh-TW" altLang="en-US" dirty="0"/>
              <a:t> </a:t>
            </a:r>
            <a:r>
              <a:rPr kumimoji="1" lang="en-US" altLang="zh-TW" dirty="0"/>
              <a:t>number</a:t>
            </a:r>
            <a:r>
              <a:rPr kumimoji="1" lang="zh-TW" altLang="en-US" dirty="0"/>
              <a:t> </a:t>
            </a:r>
            <a:endParaRPr kumimoji="1" lang="en-US" altLang="zh-TW" dirty="0"/>
          </a:p>
          <a:p>
            <a:r>
              <a:rPr kumimoji="1" lang="en-US" altLang="zh-TW" dirty="0"/>
              <a:t>	why</a:t>
            </a:r>
            <a:endParaRPr kumimoji="1" lang="zh-TW" altLang="en-US" dirty="0"/>
          </a:p>
        </p:txBody>
      </p:sp>
    </p:spTree>
    <p:extLst>
      <p:ext uri="{BB962C8B-B14F-4D97-AF65-F5344CB8AC3E}">
        <p14:creationId xmlns:p14="http://schemas.microsoft.com/office/powerpoint/2010/main" val="3875399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A68DA-8241-9945-3671-157AF22D8A6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75098B2-7B0D-7C38-A0F8-55AB6C27109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5E92F35-FE93-4260-603F-41F70B0E9A0B}"/>
              </a:ext>
            </a:extLst>
          </p:cNvPr>
          <p:cNvSpPr>
            <a:spLocks noGrp="1"/>
          </p:cNvSpPr>
          <p:nvPr>
            <p:ph type="body" idx="1"/>
          </p:nvPr>
        </p:nvSpPr>
        <p:spPr/>
        <p:txBody>
          <a:bodyPr/>
          <a:lstStyle/>
          <a:p>
            <a:r>
              <a:rPr kumimoji="1" lang="en-US" altLang="zh-TW" dirty="0"/>
              <a:t>title</a:t>
            </a:r>
            <a:r>
              <a:rPr kumimoji="1" lang="zh-TW" altLang="en-US" dirty="0"/>
              <a:t>是</a:t>
            </a:r>
            <a:r>
              <a:rPr kumimoji="1" lang="en-US" altLang="zh-TW" dirty="0"/>
              <a:t>issue</a:t>
            </a:r>
          </a:p>
          <a:p>
            <a:r>
              <a:rPr kumimoji="1" lang="en-US" altLang="zh-TW" dirty="0"/>
              <a:t>subtitle</a:t>
            </a:r>
            <a:r>
              <a:rPr kumimoji="1" lang="zh-TW" altLang="en-US" dirty="0"/>
              <a:t>直接寫簡短的答案直接的回覆</a:t>
            </a:r>
            <a:endParaRPr kumimoji="1" lang="en-US" altLang="zh-TW" dirty="0"/>
          </a:p>
          <a:p>
            <a:r>
              <a:rPr kumimoji="1" lang="zh-TW" altLang="en-US" dirty="0"/>
              <a:t>右邊寫結論縮排寫原因</a:t>
            </a:r>
            <a:br>
              <a:rPr kumimoji="1" lang="en-US" altLang="zh-TW" dirty="0"/>
            </a:br>
            <a:endParaRPr kumimoji="1" lang="en-US" altLang="zh-TW" dirty="0"/>
          </a:p>
          <a:p>
            <a:r>
              <a:rPr kumimoji="1" lang="en-US" altLang="zh-TW" dirty="0"/>
              <a:t>replay</a:t>
            </a:r>
            <a:r>
              <a:rPr kumimoji="1" lang="zh-TW" altLang="en-US" dirty="0"/>
              <a:t> </a:t>
            </a:r>
            <a:r>
              <a:rPr kumimoji="1" lang="en-US" altLang="zh-TW" dirty="0"/>
              <a:t>level</a:t>
            </a:r>
            <a:r>
              <a:rPr kumimoji="1" lang="zh-TW" altLang="en-US" dirty="0"/>
              <a:t> </a:t>
            </a:r>
            <a:r>
              <a:rPr kumimoji="1" lang="en-US" altLang="zh-TW" dirty="0"/>
              <a:t>vs</a:t>
            </a:r>
            <a:r>
              <a:rPr kumimoji="1" lang="zh-TW" altLang="en-US" dirty="0"/>
              <a:t> </a:t>
            </a:r>
            <a:r>
              <a:rPr kumimoji="1" lang="en-US" altLang="zh-TW" dirty="0"/>
              <a:t>environment</a:t>
            </a:r>
            <a:r>
              <a:rPr kumimoji="1" lang="zh-TW" altLang="en-US" dirty="0"/>
              <a:t> </a:t>
            </a:r>
            <a:r>
              <a:rPr kumimoji="1" lang="en-US" altLang="zh-TW" dirty="0"/>
              <a:t>level</a:t>
            </a:r>
            <a:r>
              <a:rPr kumimoji="1" lang="zh-TW" altLang="en-US" dirty="0"/>
              <a:t>：</a:t>
            </a:r>
            <a:r>
              <a:rPr kumimoji="1" lang="en-US" altLang="zh-TW" dirty="0"/>
              <a:t>32%</a:t>
            </a:r>
            <a:r>
              <a:rPr kumimoji="1" lang="zh-TW" altLang="en-US" dirty="0"/>
              <a:t> </a:t>
            </a:r>
            <a:r>
              <a:rPr kumimoji="1" lang="en-US" altLang="zh-TW" dirty="0"/>
              <a:t>to</a:t>
            </a:r>
            <a:r>
              <a:rPr kumimoji="1" lang="zh-TW" altLang="en-US" dirty="0"/>
              <a:t> </a:t>
            </a:r>
            <a:r>
              <a:rPr kumimoji="1" lang="en-US" altLang="zh-TW" dirty="0"/>
              <a:t>80%</a:t>
            </a:r>
          </a:p>
          <a:p>
            <a:r>
              <a:rPr kumimoji="1" lang="zh-TW" altLang="en-US" dirty="0"/>
              <a:t>名詞改一致</a:t>
            </a:r>
            <a:endParaRPr kumimoji="1" lang="en-US" altLang="zh-TW" dirty="0"/>
          </a:p>
          <a:p>
            <a:endParaRPr kumimoji="1" lang="en-US" altLang="zh-TW" dirty="0"/>
          </a:p>
          <a:p>
            <a:r>
              <a:rPr kumimoji="1" lang="en-US" altLang="zh-TW" dirty="0"/>
              <a:t>subtitle</a:t>
            </a:r>
            <a:r>
              <a:rPr kumimoji="1" lang="zh-TW" altLang="en-US" dirty="0"/>
              <a:t>抓出重要的</a:t>
            </a:r>
            <a:r>
              <a:rPr kumimoji="1" lang="en-US" altLang="zh-TW" dirty="0"/>
              <a:t>1-2</a:t>
            </a:r>
            <a:r>
              <a:rPr kumimoji="1" lang="zh-TW" altLang="en-US"/>
              <a:t>個數字</a:t>
            </a:r>
            <a:endParaRPr kumimoji="1" lang="zh-TW" altLang="en-US" dirty="0"/>
          </a:p>
        </p:txBody>
      </p:sp>
    </p:spTree>
    <p:extLst>
      <p:ext uri="{BB962C8B-B14F-4D97-AF65-F5344CB8AC3E}">
        <p14:creationId xmlns:p14="http://schemas.microsoft.com/office/powerpoint/2010/main" val="3267561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AD287-743D-BE73-65FB-803853C30AF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3F66DF5-B3EC-E4B6-1284-DF37015229A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D8EB04-90E6-DCB9-EB26-621034A44115}"/>
              </a:ext>
            </a:extLst>
          </p:cNvPr>
          <p:cNvSpPr>
            <a:spLocks noGrp="1"/>
          </p:cNvSpPr>
          <p:nvPr>
            <p:ph type="body" idx="1"/>
          </p:nvPr>
        </p:nvSpPr>
        <p:spPr/>
        <p:txBody>
          <a:bodyPr/>
          <a:lstStyle/>
          <a:p>
            <a:pPr marL="0" indent="0">
              <a:buFont typeface="+mj-lt"/>
              <a:buNone/>
            </a:pPr>
            <a:endParaRPr kumimoji="1" lang="zh-TW" altLang="en-US" dirty="0"/>
          </a:p>
        </p:txBody>
      </p:sp>
    </p:spTree>
    <p:extLst>
      <p:ext uri="{BB962C8B-B14F-4D97-AF65-F5344CB8AC3E}">
        <p14:creationId xmlns:p14="http://schemas.microsoft.com/office/powerpoint/2010/main" val="2613509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8ADE-792A-1BB0-443F-8A8534A11DF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7BDBB53-A678-2488-2A83-1B8B263F435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38098C3-58AC-EE69-6805-51AE0E800F50}"/>
              </a:ext>
            </a:extLst>
          </p:cNvPr>
          <p:cNvSpPr>
            <a:spLocks noGrp="1"/>
          </p:cNvSpPr>
          <p:nvPr>
            <p:ph type="body" idx="1"/>
          </p:nvPr>
        </p:nvSpPr>
        <p:spPr/>
        <p:txBody>
          <a:bodyPr/>
          <a:lstStyle/>
          <a:p>
            <a:r>
              <a:rPr kumimoji="1" lang="en-US" altLang="zh-TW" dirty="0"/>
              <a:t>subtitle</a:t>
            </a:r>
            <a:r>
              <a:rPr kumimoji="1" lang="zh-TW" altLang="en-US" dirty="0"/>
              <a:t>寫說訓練過程</a:t>
            </a:r>
            <a:endParaRPr kumimoji="1" lang="en-US" altLang="zh-TW" dirty="0"/>
          </a:p>
          <a:p>
            <a:endParaRPr kumimoji="1" lang="en-US" altLang="zh-TW" dirty="0"/>
          </a:p>
          <a:p>
            <a:r>
              <a:rPr kumimoji="1" lang="zh-TW" altLang="en-US" dirty="0"/>
              <a:t>圖上加一條線練壞的結果</a:t>
            </a:r>
          </a:p>
        </p:txBody>
      </p:sp>
    </p:spTree>
    <p:extLst>
      <p:ext uri="{BB962C8B-B14F-4D97-AF65-F5344CB8AC3E}">
        <p14:creationId xmlns:p14="http://schemas.microsoft.com/office/powerpoint/2010/main" val="2192454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5E2FD-7A5B-CDDB-950E-F94E3FA6135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DF4B92B-5F45-B63D-B9B1-A3E1100657F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DAD0879-E9DD-704C-557C-FF25168FD3D7}"/>
              </a:ext>
            </a:extLst>
          </p:cNvPr>
          <p:cNvSpPr>
            <a:spLocks noGrp="1"/>
          </p:cNvSpPr>
          <p:nvPr>
            <p:ph type="body" idx="1"/>
          </p:nvPr>
        </p:nvSpPr>
        <p:spPr/>
        <p:txBody>
          <a:bodyPr/>
          <a:lstStyle/>
          <a:p>
            <a:r>
              <a:rPr kumimoji="1" lang="zh-TW" altLang="en-US" dirty="0"/>
              <a:t>可以放分析</a:t>
            </a:r>
            <a:r>
              <a:rPr kumimoji="1" lang="en-US" altLang="zh-TW" dirty="0"/>
              <a:t>defender</a:t>
            </a:r>
            <a:r>
              <a:rPr kumimoji="1" lang="zh-TW" altLang="en-US" dirty="0"/>
              <a:t>行為選的工具分布等等</a:t>
            </a:r>
          </a:p>
        </p:txBody>
      </p:sp>
    </p:spTree>
    <p:extLst>
      <p:ext uri="{BB962C8B-B14F-4D97-AF65-F5344CB8AC3E}">
        <p14:creationId xmlns:p14="http://schemas.microsoft.com/office/powerpoint/2010/main" val="2107016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88D3C-E26B-A35D-4A48-8E648EE2386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A48167B-3524-0103-AB29-1274104A77F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F6EC7AE-C00C-97DC-FFA4-BE85C193703E}"/>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667484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460D6-A7A1-B280-FEE2-57A8D90157B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DBAFC02-3995-2DDF-420E-C3513423845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24DF953-F0AD-81F1-72A1-DDA210250EE7}"/>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5022420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6227E-C20A-5E5B-BF63-A6EC6AF06F1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41C9855-DB63-6C22-A806-0E50C614BB0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C032E6E-A6EB-DBC2-AABD-EDAFCAAA03C6}"/>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5696000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A8106-37D3-4DCD-5286-10D6D1C827A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27A1FDC-77A0-978F-C029-601EF683BA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D687DAD-26A1-A8E7-F93A-05E574F72E4E}"/>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80872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0445602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6762653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2192414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7495537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加上</a:t>
            </a:r>
            <a:r>
              <a:rPr kumimoji="1" lang="en-US" altLang="zh-TW" dirty="0"/>
              <a:t>honeypot</a:t>
            </a:r>
            <a:r>
              <a:rPr kumimoji="1" lang="zh-TW" altLang="en-US" dirty="0"/>
              <a:t>架構對比，需放</a:t>
            </a:r>
            <a:r>
              <a:rPr kumimoji="1" lang="en-US" altLang="zh-TW" dirty="0"/>
              <a:t>honeypot</a:t>
            </a:r>
            <a:r>
              <a:rPr kumimoji="1" lang="zh-TW" altLang="en-US" dirty="0"/>
              <a:t> </a:t>
            </a:r>
            <a:r>
              <a:rPr kumimoji="1" lang="en-US" altLang="zh-TW" dirty="0" err="1"/>
              <a:t>llm</a:t>
            </a:r>
            <a:r>
              <a:rPr kumimoji="1" lang="en-US" altLang="zh-TW" dirty="0"/>
              <a:t> (commands-&gt;action-&gt;script) </a:t>
            </a:r>
            <a:r>
              <a:rPr kumimoji="1" lang="zh-TW" altLang="en-US" dirty="0"/>
              <a:t>與</a:t>
            </a:r>
            <a:r>
              <a:rPr kumimoji="1" lang="en-US" altLang="zh-TW" dirty="0"/>
              <a:t>honeynet</a:t>
            </a:r>
            <a:r>
              <a:rPr kumimoji="1" lang="zh-TW" altLang="en-US" dirty="0"/>
              <a:t> </a:t>
            </a:r>
            <a:r>
              <a:rPr kumimoji="1" lang="en-US" altLang="zh-TW" dirty="0" err="1"/>
              <a:t>llm</a:t>
            </a:r>
            <a:r>
              <a:rPr kumimoji="1" lang="en-US" altLang="zh-TW" dirty="0"/>
              <a:t> (commands-&gt;action-&gt;tasks-&gt;scripts)(</a:t>
            </a:r>
            <a:r>
              <a:rPr kumimoji="1" lang="zh-TW" altLang="en-US" dirty="0"/>
              <a:t>要有數量的感覺</a:t>
            </a:r>
            <a:r>
              <a:rPr kumimoji="1" lang="en-US" altLang="zh-TW" dirty="0"/>
              <a:t>)</a:t>
            </a:r>
            <a:r>
              <a:rPr kumimoji="1" lang="zh-TW" altLang="en-US" dirty="0"/>
              <a:t> 的流程</a:t>
            </a:r>
            <a:endParaRPr kumimoji="1" lang="en-US" altLang="zh-TW" dirty="0"/>
          </a:p>
          <a:p>
            <a:r>
              <a:rPr kumimoji="1" lang="zh-TW" altLang="en-US" dirty="0"/>
              <a:t>移到</a:t>
            </a:r>
            <a:r>
              <a:rPr kumimoji="1" lang="en-US" altLang="zh-TW" dirty="0"/>
              <a:t>problem</a:t>
            </a:r>
            <a:r>
              <a:rPr kumimoji="1" lang="zh-TW" altLang="en-US" dirty="0"/>
              <a:t>下一頁</a:t>
            </a:r>
          </a:p>
        </p:txBody>
      </p:sp>
    </p:spTree>
    <p:extLst>
      <p:ext uri="{BB962C8B-B14F-4D97-AF65-F5344CB8AC3E}">
        <p14:creationId xmlns:p14="http://schemas.microsoft.com/office/powerpoint/2010/main" val="25213344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8339590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9479673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412F9-C73F-C68B-E796-9AC905E41A2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D3AABFF-9703-7C1C-2BE0-54513BF0942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FDB82C3-3093-1112-0B1B-4D68235E3B68}"/>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7304459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Commands -&gt; technique -&gt; activity -&gt; action -&gt; tasks -&gt; scripts -&gt; system response</a:t>
            </a:r>
          </a:p>
          <a:p>
            <a:r>
              <a:rPr kumimoji="1" lang="en-US" altLang="zh-TW" dirty="0"/>
              <a:t>Strategist </a:t>
            </a:r>
            <a:r>
              <a:rPr kumimoji="1" lang="en-US" altLang="zh-TW" dirty="0" err="1"/>
              <a:t>llm</a:t>
            </a:r>
            <a:r>
              <a:rPr kumimoji="1" lang="en-US" altLang="zh-TW" dirty="0"/>
              <a:t> -&gt; action to tasks </a:t>
            </a:r>
            <a:r>
              <a:rPr kumimoji="1" lang="en-US" altLang="zh-TW" dirty="0" err="1"/>
              <a:t>llm</a:t>
            </a:r>
            <a:r>
              <a:rPr kumimoji="1" lang="en-US" altLang="zh-TW" dirty="0"/>
              <a:t> -&gt; task to script </a:t>
            </a:r>
            <a:r>
              <a:rPr kumimoji="1" lang="en-US" altLang="zh-TW" dirty="0" err="1"/>
              <a:t>llm</a:t>
            </a:r>
            <a:endParaRPr kumimoji="1" lang="zh-TW" altLang="en-US" dirty="0"/>
          </a:p>
          <a:p>
            <a:endParaRPr kumimoji="1" lang="en-US" altLang="zh-TW" dirty="0"/>
          </a:p>
          <a:p>
            <a:r>
              <a:rPr kumimoji="1" lang="zh-TW" altLang="en-US" dirty="0"/>
              <a:t>移到</a:t>
            </a:r>
            <a:r>
              <a:rPr kumimoji="1" lang="en-US" altLang="zh-TW" dirty="0"/>
              <a:t>ad</a:t>
            </a:r>
            <a:r>
              <a:rPr kumimoji="1" lang="zh-TW" altLang="en-US" dirty="0"/>
              <a:t> </a:t>
            </a:r>
            <a:r>
              <a:rPr kumimoji="1" lang="en-US" altLang="zh-TW" dirty="0"/>
              <a:t>honeynet</a:t>
            </a:r>
            <a:r>
              <a:rPr kumimoji="1" lang="zh-TW" altLang="en-US" dirty="0"/>
              <a:t>那頁，可刪除</a:t>
            </a:r>
          </a:p>
        </p:txBody>
      </p:sp>
    </p:spTree>
    <p:extLst>
      <p:ext uri="{BB962C8B-B14F-4D97-AF65-F5344CB8AC3E}">
        <p14:creationId xmlns:p14="http://schemas.microsoft.com/office/powerpoint/2010/main" val="13928557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9803034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41184138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D7EB-DC32-3CD2-4952-B9C125369DA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0F13D95-6FE5-19A3-FC61-29DAB1F1DFB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AC7A70C-87BE-AEE3-1BDF-2E71CD73E960}"/>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24232711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5196789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Action</a:t>
            </a:r>
            <a:r>
              <a:rPr kumimoji="1" lang="zh-TW" altLang="en-US" dirty="0"/>
              <a:t>區塊不一致，不是資料，箭頭要改</a:t>
            </a:r>
          </a:p>
        </p:txBody>
      </p:sp>
    </p:spTree>
    <p:extLst>
      <p:ext uri="{BB962C8B-B14F-4D97-AF65-F5344CB8AC3E}">
        <p14:creationId xmlns:p14="http://schemas.microsoft.com/office/powerpoint/2010/main" val="24008274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713B3-69BD-A998-35FC-ABE1F493B39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C89422C-F721-61FB-5A3B-9A6D2137115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F780B7C-3457-72F6-6D33-B28EC388044F}"/>
              </a:ext>
            </a:extLst>
          </p:cNvPr>
          <p:cNvSpPr>
            <a:spLocks noGrp="1"/>
          </p:cNvSpPr>
          <p:nvPr>
            <p:ph type="body" idx="1"/>
          </p:nvPr>
        </p:nvSpPr>
        <p:spPr/>
        <p:txBody>
          <a:bodyPr/>
          <a:lstStyle/>
          <a:p>
            <a:r>
              <a:rPr kumimoji="1" lang="en-US" altLang="zh-TW" dirty="0"/>
              <a:t>Action</a:t>
            </a:r>
            <a:r>
              <a:rPr kumimoji="1" lang="zh-TW" altLang="en-US" dirty="0"/>
              <a:t>區塊不一致，不是資料，箭頭要改</a:t>
            </a:r>
          </a:p>
        </p:txBody>
      </p:sp>
    </p:spTree>
    <p:extLst>
      <p:ext uri="{BB962C8B-B14F-4D97-AF65-F5344CB8AC3E}">
        <p14:creationId xmlns:p14="http://schemas.microsoft.com/office/powerpoint/2010/main" val="18889524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8275410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B4213-E220-0A62-CCD3-A82B476FDF6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AF903E5-2821-F9CD-7585-A4D869BAADB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FFD14D9-D145-1776-3235-661C228EE5BD}"/>
              </a:ext>
            </a:extLst>
          </p:cNvPr>
          <p:cNvSpPr>
            <a:spLocks noGrp="1"/>
          </p:cNvSpPr>
          <p:nvPr>
            <p:ph type="body" idx="1"/>
          </p:nvPr>
        </p:nvSpPr>
        <p:spPr/>
        <p:txBody>
          <a:bodyPr/>
          <a:lstStyle/>
          <a:p>
            <a:r>
              <a:rPr lang="en-US" altLang="zh-TW" sz="4000" dirty="0">
                <a:solidFill>
                  <a:schemeClr val="tx1"/>
                </a:solidFill>
                <a:latin typeface="Times New Roman" panose="02020603050405020304" pitchFamily="18" charset="0"/>
                <a:cs typeface="Times New Roman" panose="02020603050405020304" pitchFamily="18" charset="0"/>
              </a:rPr>
              <a:t>MCP</a:t>
            </a:r>
            <a:r>
              <a:rPr lang="zh-TW" altLang="en-US" sz="4000" dirty="0">
                <a:solidFill>
                  <a:schemeClr val="tx1"/>
                </a:solidFill>
                <a:latin typeface="Times New Roman" panose="02020603050405020304" pitchFamily="18" charset="0"/>
                <a:cs typeface="Times New Roman" panose="02020603050405020304" pitchFamily="18" charset="0"/>
              </a:rPr>
              <a:t> </a:t>
            </a:r>
            <a:r>
              <a:rPr lang="en-US" altLang="zh-TW" sz="4000" dirty="0">
                <a:solidFill>
                  <a:schemeClr val="tx1"/>
                </a:solidFill>
              </a:rPr>
              <a:t>tool</a:t>
            </a:r>
            <a:r>
              <a:rPr lang="zh-TW" altLang="en-US" sz="4000" dirty="0">
                <a:solidFill>
                  <a:schemeClr val="tx1"/>
                </a:solidFill>
              </a:rPr>
              <a:t>使用自動化</a:t>
            </a:r>
            <a:r>
              <a:rPr lang="en-US" altLang="zh-TW" sz="4000" dirty="0" err="1">
                <a:solidFill>
                  <a:schemeClr val="tx1"/>
                </a:solidFill>
              </a:rPr>
              <a:t>gpt</a:t>
            </a:r>
            <a:r>
              <a:rPr lang="zh-TW" altLang="en-US" sz="4000" dirty="0">
                <a:solidFill>
                  <a:schemeClr val="tx1"/>
                </a:solidFill>
              </a:rPr>
              <a:t> </a:t>
            </a:r>
            <a:r>
              <a:rPr lang="en-US" altLang="zh-TW" sz="4000" dirty="0" err="1">
                <a:solidFill>
                  <a:schemeClr val="tx1"/>
                </a:solidFill>
              </a:rPr>
              <a:t>api</a:t>
            </a:r>
            <a:r>
              <a:rPr lang="zh-TW" altLang="en-US" sz="4000" dirty="0">
                <a:solidFill>
                  <a:schemeClr val="tx1"/>
                </a:solidFill>
                <a:latin typeface="Times New Roman" panose="02020603050405020304" pitchFamily="18" charset="0"/>
                <a:cs typeface="Times New Roman" panose="02020603050405020304" pitchFamily="18" charset="0"/>
              </a:rPr>
              <a:t>實作完成，有</a:t>
            </a:r>
            <a:r>
              <a:rPr lang="en-US" altLang="zh-TW" sz="4000" dirty="0">
                <a:solidFill>
                  <a:schemeClr val="tx1"/>
                </a:solidFill>
                <a:latin typeface="Times New Roman" panose="02020603050405020304" pitchFamily="18" charset="0"/>
                <a:cs typeface="Times New Roman" panose="02020603050405020304" pitchFamily="18" charset="0"/>
              </a:rPr>
              <a:t>66</a:t>
            </a:r>
            <a:r>
              <a:rPr lang="zh-TW" altLang="en-US" sz="4000" dirty="0">
                <a:solidFill>
                  <a:schemeClr val="tx1"/>
                </a:solidFill>
                <a:latin typeface="Times New Roman" panose="02020603050405020304" pitchFamily="18" charset="0"/>
                <a:cs typeface="Times New Roman" panose="02020603050405020304" pitchFamily="18" charset="0"/>
              </a:rPr>
              <a:t>個</a:t>
            </a:r>
            <a:r>
              <a:rPr lang="en-US" altLang="zh-TW" sz="4000" dirty="0">
                <a:solidFill>
                  <a:schemeClr val="tx1"/>
                </a:solidFill>
                <a:latin typeface="Times New Roman" panose="02020603050405020304" pitchFamily="18" charset="0"/>
                <a:cs typeface="Times New Roman" panose="02020603050405020304" pitchFamily="18" charset="0"/>
              </a:rPr>
              <a:t>tool</a:t>
            </a:r>
            <a:r>
              <a:rPr lang="zh-TW" altLang="en-US" sz="4000" dirty="0">
                <a:solidFill>
                  <a:schemeClr val="tx1"/>
                </a:solidFill>
                <a:latin typeface="Times New Roman" panose="02020603050405020304" pitchFamily="18" charset="0"/>
                <a:cs typeface="Times New Roman" panose="02020603050405020304" pitchFamily="18" charset="0"/>
              </a:rPr>
              <a:t>，可分為</a:t>
            </a:r>
            <a:r>
              <a:rPr lang="en-US" altLang="zh-TW" sz="4000" dirty="0">
                <a:solidFill>
                  <a:schemeClr val="tx1"/>
                </a:solidFill>
              </a:rPr>
              <a:t>Identity/Directory Management: 9, Group Policy Management: 4, Decoy/Breadcrumb/Canary/Honey Deployment: 29, File/Directory Operations: 10, Package Installation: 1, Service Management: 2, Web Server Configuration (non-decoy): 3, Mail System Operations (non-decoy): 1, Database Operations (non-decoy): 4, Web Content Deployment: 1, SMB Share Management: 2</a:t>
            </a:r>
            <a:endParaRPr lang="en-US" altLang="zh-TW" sz="4000" dirty="0">
              <a:solidFill>
                <a:schemeClr val="tx1"/>
              </a:solidFill>
              <a:latin typeface="Times New Roman" panose="02020603050405020304" pitchFamily="18" charset="0"/>
              <a:cs typeface="Times New Roman" panose="02020603050405020304" pitchFamily="18" charset="0"/>
            </a:endParaRPr>
          </a:p>
          <a:p>
            <a:r>
              <a:rPr lang="en-US" altLang="zh-TW" sz="4000" dirty="0" err="1">
                <a:solidFill>
                  <a:schemeClr val="tx1"/>
                </a:solidFill>
              </a:rPr>
              <a:t>Host上的tool分佈</a:t>
            </a:r>
            <a:r>
              <a:rPr lang="zh-TW" altLang="en-US" sz="4000" dirty="0">
                <a:solidFill>
                  <a:schemeClr val="tx1"/>
                </a:solidFill>
              </a:rPr>
              <a:t>，</a:t>
            </a:r>
            <a:r>
              <a:rPr lang="en-US" altLang="zh-TW" sz="4000" dirty="0">
                <a:solidFill>
                  <a:schemeClr val="tx1"/>
                </a:solidFill>
              </a:rPr>
              <a:t>dc: 16, </a:t>
            </a:r>
            <a:r>
              <a:rPr lang="en-US" altLang="zh-TW" sz="4000" dirty="0" err="1">
                <a:solidFill>
                  <a:schemeClr val="tx1"/>
                </a:solidFill>
              </a:rPr>
              <a:t>linux</a:t>
            </a:r>
            <a:r>
              <a:rPr lang="en-US" altLang="zh-TW" sz="4000" dirty="0">
                <a:solidFill>
                  <a:schemeClr val="tx1"/>
                </a:solidFill>
              </a:rPr>
              <a:t>: 19, mail: 5, </a:t>
            </a:r>
            <a:r>
              <a:rPr lang="en-US" altLang="zh-TW" sz="4000" dirty="0" err="1">
                <a:solidFill>
                  <a:schemeClr val="tx1"/>
                </a:solidFill>
              </a:rPr>
              <a:t>sql</a:t>
            </a:r>
            <a:r>
              <a:rPr lang="en-US" altLang="zh-TW" sz="4000" dirty="0">
                <a:solidFill>
                  <a:schemeClr val="tx1"/>
                </a:solidFill>
              </a:rPr>
              <a:t>: 6, web: 6, win: 14</a:t>
            </a:r>
          </a:p>
          <a:p>
            <a:r>
              <a:rPr lang="en-US" altLang="zh-TW" sz="4000" dirty="0" err="1">
                <a:solidFill>
                  <a:schemeClr val="tx1"/>
                </a:solidFill>
              </a:rPr>
              <a:t>在task</a:t>
            </a:r>
            <a:r>
              <a:rPr lang="zh-TW" altLang="en-US" sz="4000" dirty="0">
                <a:solidFill>
                  <a:schemeClr val="tx1"/>
                </a:solidFill>
              </a:rPr>
              <a:t> </a:t>
            </a:r>
            <a:r>
              <a:rPr lang="en-US" altLang="zh-TW" sz="4000" dirty="0">
                <a:solidFill>
                  <a:schemeClr val="tx1"/>
                </a:solidFill>
              </a:rPr>
              <a:t>decomposer</a:t>
            </a:r>
            <a:r>
              <a:rPr lang="zh-TW" altLang="en-US" sz="4000" dirty="0">
                <a:solidFill>
                  <a:schemeClr val="tx1"/>
                </a:solidFill>
              </a:rPr>
              <a:t>產生的</a:t>
            </a:r>
            <a:r>
              <a:rPr lang="en-US" altLang="zh-TW" sz="4000" dirty="0">
                <a:solidFill>
                  <a:schemeClr val="tx1"/>
                </a:solidFill>
              </a:rPr>
              <a:t>100</a:t>
            </a:r>
            <a:r>
              <a:rPr lang="zh-TW" altLang="en-US" sz="4000" dirty="0">
                <a:solidFill>
                  <a:schemeClr val="tx1"/>
                </a:solidFill>
              </a:rPr>
              <a:t>個</a:t>
            </a:r>
            <a:r>
              <a:rPr lang="en-US" altLang="zh-TW" sz="4000" dirty="0">
                <a:solidFill>
                  <a:schemeClr val="tx1"/>
                </a:solidFill>
              </a:rPr>
              <a:t>task</a:t>
            </a:r>
            <a:r>
              <a:rPr lang="zh-TW" altLang="en-US" sz="4000" dirty="0">
                <a:solidFill>
                  <a:schemeClr val="tx1"/>
                </a:solidFill>
              </a:rPr>
              <a:t>上的資料集做測試，</a:t>
            </a:r>
            <a:r>
              <a:rPr lang="en-US" altLang="zh-TW" sz="4000" dirty="0">
                <a:solidFill>
                  <a:schemeClr val="tx1"/>
                </a:solidFill>
              </a:rPr>
              <a:t>script</a:t>
            </a:r>
            <a:r>
              <a:rPr lang="zh-TW" altLang="en-US" sz="4000" dirty="0">
                <a:solidFill>
                  <a:schemeClr val="tx1"/>
                </a:solidFill>
              </a:rPr>
              <a:t> </a:t>
            </a:r>
            <a:r>
              <a:rPr lang="en-US" altLang="zh-TW" sz="4000" dirty="0">
                <a:solidFill>
                  <a:schemeClr val="tx1"/>
                </a:solidFill>
              </a:rPr>
              <a:t>generator</a:t>
            </a:r>
            <a:r>
              <a:rPr lang="zh-TW" altLang="en-US" sz="4000" dirty="0">
                <a:solidFill>
                  <a:schemeClr val="tx1"/>
                </a:solidFill>
              </a:rPr>
              <a:t>生成的腳本成功率為</a:t>
            </a:r>
            <a:r>
              <a:rPr lang="en-US" altLang="zh-TW" sz="4000" dirty="0">
                <a:solidFill>
                  <a:schemeClr val="tx1"/>
                </a:solidFill>
              </a:rPr>
              <a:t>24.24%</a:t>
            </a:r>
            <a:r>
              <a:rPr lang="zh-TW" altLang="en-US" sz="4000" dirty="0">
                <a:solidFill>
                  <a:schemeClr val="tx1"/>
                </a:solidFill>
              </a:rPr>
              <a:t>，</a:t>
            </a:r>
            <a:r>
              <a:rPr lang="en-US" altLang="zh-TW" sz="4000" dirty="0">
                <a:solidFill>
                  <a:schemeClr val="tx1"/>
                </a:solidFill>
              </a:rPr>
              <a:t>planner</a:t>
            </a:r>
            <a:r>
              <a:rPr lang="zh-TW" altLang="en-US" sz="4000" dirty="0">
                <a:solidFill>
                  <a:schemeClr val="tx1"/>
                </a:solidFill>
              </a:rPr>
              <a:t>生成</a:t>
            </a:r>
            <a:r>
              <a:rPr lang="en-US" altLang="zh-TW" sz="4000" dirty="0">
                <a:solidFill>
                  <a:schemeClr val="tx1"/>
                </a:solidFill>
              </a:rPr>
              <a:t>plan</a:t>
            </a:r>
            <a:r>
              <a:rPr lang="zh-TW" altLang="en-US" sz="4000" dirty="0">
                <a:solidFill>
                  <a:schemeClr val="tx1"/>
                </a:solidFill>
              </a:rPr>
              <a:t>的執行成功率為</a:t>
            </a:r>
            <a:r>
              <a:rPr lang="en-US" altLang="zh-TW" sz="4000" dirty="0">
                <a:solidFill>
                  <a:schemeClr val="tx1"/>
                </a:solidFill>
              </a:rPr>
              <a:t>83.06%</a:t>
            </a:r>
            <a:r>
              <a:rPr lang="zh-TW" altLang="en-US" sz="4000" dirty="0">
                <a:solidFill>
                  <a:schemeClr val="tx1"/>
                </a:solidFill>
              </a:rPr>
              <a:t>，</a:t>
            </a:r>
            <a:r>
              <a:rPr lang="en-US" altLang="zh-TW" sz="4000" dirty="0">
                <a:solidFill>
                  <a:schemeClr val="tx1"/>
                </a:solidFill>
              </a:rPr>
              <a:t>task</a:t>
            </a:r>
            <a:r>
              <a:rPr lang="zh-TW" altLang="en-US" sz="4000" dirty="0">
                <a:solidFill>
                  <a:schemeClr val="tx1"/>
                </a:solidFill>
              </a:rPr>
              <a:t>成功率</a:t>
            </a:r>
            <a:r>
              <a:rPr lang="en-US" altLang="zh-TW" sz="4000" dirty="0">
                <a:solidFill>
                  <a:schemeClr val="tx1"/>
                </a:solidFill>
              </a:rPr>
              <a:t>76.77%</a:t>
            </a:r>
          </a:p>
          <a:p>
            <a:r>
              <a:rPr lang="en-US" altLang="zh-TW" sz="4000" dirty="0" err="1">
                <a:solidFill>
                  <a:schemeClr val="tx1"/>
                </a:solidFill>
              </a:rPr>
              <a:t>目前同步支援mcp</a:t>
            </a:r>
            <a:r>
              <a:rPr lang="en-US" altLang="zh-TW" sz="4000" dirty="0">
                <a:solidFill>
                  <a:schemeClr val="tx1"/>
                </a:solidFill>
              </a:rPr>
              <a:t>- planner</a:t>
            </a:r>
            <a:r>
              <a:rPr lang="zh-TW" altLang="en-US" sz="4000" dirty="0">
                <a:solidFill>
                  <a:schemeClr val="tx1"/>
                </a:solidFill>
              </a:rPr>
              <a:t> </a:t>
            </a:r>
            <a:r>
              <a:rPr lang="en-US" altLang="zh-TW" sz="4000" dirty="0">
                <a:solidFill>
                  <a:schemeClr val="tx1"/>
                </a:solidFill>
              </a:rPr>
              <a:t>mode</a:t>
            </a:r>
            <a:r>
              <a:rPr lang="zh-TW" altLang="en-US" sz="4000" dirty="0">
                <a:solidFill>
                  <a:schemeClr val="tx1"/>
                </a:solidFill>
              </a:rPr>
              <a:t>和</a:t>
            </a:r>
            <a:r>
              <a:rPr lang="en-US" altLang="zh-TW" sz="4000" dirty="0">
                <a:solidFill>
                  <a:schemeClr val="tx1"/>
                </a:solidFill>
              </a:rPr>
              <a:t>script</a:t>
            </a:r>
            <a:r>
              <a:rPr lang="zh-TW" altLang="en-US" sz="4000" dirty="0">
                <a:solidFill>
                  <a:schemeClr val="tx1"/>
                </a:solidFill>
              </a:rPr>
              <a:t> </a:t>
            </a:r>
            <a:r>
              <a:rPr lang="en-US" altLang="zh-TW" sz="4000" dirty="0">
                <a:solidFill>
                  <a:schemeClr val="tx1"/>
                </a:solidFill>
              </a:rPr>
              <a:t>generator</a:t>
            </a:r>
            <a:r>
              <a:rPr lang="zh-TW" altLang="en-US" sz="4000" dirty="0">
                <a:solidFill>
                  <a:schemeClr val="tx1"/>
                </a:solidFill>
              </a:rPr>
              <a:t> </a:t>
            </a:r>
            <a:r>
              <a:rPr lang="en-US" altLang="zh-TW" sz="4000" dirty="0">
                <a:solidFill>
                  <a:schemeClr val="tx1"/>
                </a:solidFill>
              </a:rPr>
              <a:t>mode</a:t>
            </a:r>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2257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DE7B2-9523-D8B0-6E0F-F6F57614957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DE227C-EB5E-BC9E-3E14-D65FADEF5D7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E5F6BAE-DCB2-D140-E9A6-6EA0586EC7B8}"/>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9385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CDF67-73B2-E48A-DD06-2859D1BB8E9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1D5EA5-A7DE-64BD-3E88-EEB4DE33F84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1AF9A96-F7E5-02CC-CC85-442FDD615A90}"/>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8598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01A81-59D5-9F62-728B-72DF9F69F13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FD992AD-51E2-E1A5-A191-34A7843195B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2DA236B-7ABB-8473-7806-4EE96883DDC1}"/>
              </a:ext>
            </a:extLst>
          </p:cNvPr>
          <p:cNvSpPr>
            <a:spLocks noGrp="1"/>
          </p:cNvSpPr>
          <p:nvPr>
            <p:ph type="body" idx="1"/>
          </p:nvPr>
        </p:nvSpPr>
        <p:spPr/>
        <p:txBody>
          <a:bodyPr/>
          <a:lstStyle/>
          <a:p>
            <a:r>
              <a:rPr lang="zh-TW" altLang="en-US" sz="4000" dirty="0">
                <a:solidFill>
                  <a:schemeClr val="tx1"/>
                </a:solidFill>
                <a:latin typeface="Times New Roman" panose="02020603050405020304" pitchFamily="18" charset="0"/>
                <a:cs typeface="Times New Roman" panose="02020603050405020304" pitchFamily="18" charset="0"/>
              </a:rPr>
              <a:t>先畫這兩個圖</a:t>
            </a:r>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1491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A321D-4525-EBE3-D78F-C3A0E7E9B60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A8AF707-EBE9-EA3B-B6AF-D8524E83C1C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CEF032D-B3A3-D960-F97B-560DE217804F}"/>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63830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5ACC-0E59-5E9D-770E-2C8AF657CF1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536011F-8FDA-8149-ED88-023F24EFFAE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887694C-3251-7C91-0EFD-EB84844C1F77}"/>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2009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6A700-3F59-0A24-C1BC-7C1334C6FC9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F2258C-4DBF-93DE-12F9-E4DF6A22853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EBFEC9A-6247-84ED-E7D9-F817C4DE0FF3}"/>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4969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沒有寫到</a:t>
            </a:r>
            <a:r>
              <a:rPr kumimoji="1" lang="en-US" altLang="zh-TW" dirty="0" err="1"/>
              <a:t>llm</a:t>
            </a:r>
            <a:r>
              <a:rPr kumimoji="1" lang="zh-TW" altLang="en-US" dirty="0"/>
              <a:t> 處理的一段</a:t>
            </a:r>
            <a:r>
              <a:rPr kumimoji="1" lang="en-US" altLang="zh-TW" dirty="0"/>
              <a:t>command</a:t>
            </a:r>
            <a:r>
              <a:rPr kumimoji="1" lang="zh-TW" altLang="en-US" dirty="0"/>
              <a:t>的部分，</a:t>
            </a:r>
            <a:r>
              <a:rPr kumimoji="1" lang="en-US" altLang="zh-TW" dirty="0"/>
              <a:t>policy</a:t>
            </a:r>
            <a:r>
              <a:rPr kumimoji="1" lang="zh-TW" altLang="en-US" dirty="0"/>
              <a:t>應該是對應沒寫到的一段</a:t>
            </a:r>
            <a:r>
              <a:rPr kumimoji="1" lang="en-US" altLang="zh-TW" dirty="0"/>
              <a:t>command</a:t>
            </a:r>
            <a:endParaRPr kumimoji="1" lang="zh-TW" altLang="en-US" dirty="0"/>
          </a:p>
        </p:txBody>
      </p:sp>
    </p:spTree>
    <p:extLst>
      <p:ext uri="{BB962C8B-B14F-4D97-AF65-F5344CB8AC3E}">
        <p14:creationId xmlns:p14="http://schemas.microsoft.com/office/powerpoint/2010/main" val="23238495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Issue</a:t>
            </a:r>
            <a:r>
              <a:rPr kumimoji="1" lang="zh-TW" altLang="en-US" dirty="0"/>
              <a:t>放最終結果</a:t>
            </a:r>
            <a:r>
              <a:rPr kumimoji="1" lang="en-US" altLang="zh-TW" dirty="0"/>
              <a:t>attack</a:t>
            </a:r>
            <a:r>
              <a:rPr kumimoji="1" lang="zh-TW" altLang="en-US" dirty="0"/>
              <a:t> </a:t>
            </a:r>
            <a:r>
              <a:rPr kumimoji="1" lang="en-US" altLang="zh-TW" dirty="0"/>
              <a:t>depth</a:t>
            </a:r>
            <a:r>
              <a:rPr kumimoji="1" lang="zh-TW" altLang="en-US" dirty="0"/>
              <a:t>，但是這樣畫圖沒有意義，想圖怎麼畫，中間結果可到</a:t>
            </a:r>
            <a:r>
              <a:rPr kumimoji="1" lang="en-US" altLang="zh-TW" dirty="0"/>
              <a:t>evaluation</a:t>
            </a:r>
            <a:r>
              <a:rPr kumimoji="1" lang="zh-TW" altLang="en-US" dirty="0"/>
              <a:t>討論</a:t>
            </a:r>
          </a:p>
        </p:txBody>
      </p:sp>
    </p:spTree>
    <p:extLst>
      <p:ext uri="{BB962C8B-B14F-4D97-AF65-F5344CB8AC3E}">
        <p14:creationId xmlns:p14="http://schemas.microsoft.com/office/powerpoint/2010/main" val="27824250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新增有一個可變系統變量</a:t>
            </a:r>
            <a:r>
              <a:rPr kumimoji="1" lang="en-US" altLang="zh-TW" dirty="0"/>
              <a:t>x</a:t>
            </a:r>
            <a:r>
              <a:rPr kumimoji="1" lang="zh-TW" altLang="en-US" dirty="0"/>
              <a:t>，一個</a:t>
            </a:r>
            <a:r>
              <a:rPr kumimoji="1" lang="en-US" altLang="zh-TW" dirty="0"/>
              <a:t>baseline</a:t>
            </a:r>
            <a:r>
              <a:rPr kumimoji="1" lang="zh-TW" altLang="en-US" dirty="0"/>
              <a:t>一條線的圖（自變量、環境變因）</a:t>
            </a:r>
            <a:br>
              <a:rPr kumimoji="1" lang="en-US" altLang="zh-TW" dirty="0"/>
            </a:br>
            <a:r>
              <a:rPr kumimoji="1" lang="zh-TW" altLang="en-US" dirty="0"/>
              <a:t>圖包含的內容不多，</a:t>
            </a:r>
            <a:endParaRPr kumimoji="1" lang="en-US" altLang="zh-TW" dirty="0"/>
          </a:p>
          <a:p>
            <a:r>
              <a:rPr kumimoji="1" lang="zh-TW" altLang="en-US" dirty="0"/>
              <a:t>比較別人的方法</a:t>
            </a:r>
          </a:p>
        </p:txBody>
      </p:sp>
    </p:spTree>
    <p:extLst>
      <p:ext uri="{BB962C8B-B14F-4D97-AF65-F5344CB8AC3E}">
        <p14:creationId xmlns:p14="http://schemas.microsoft.com/office/powerpoint/2010/main" val="7932477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EDFF7-EF60-9E46-F9E2-520C6E8F6B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99162CC-F005-39DE-0DCE-4C5360F9CE0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43D13A7-5662-C8DB-2270-434583F9E813}"/>
              </a:ext>
            </a:extLst>
          </p:cNvPr>
          <p:cNvSpPr>
            <a:spLocks noGrp="1"/>
          </p:cNvSpPr>
          <p:nvPr>
            <p:ph type="body" idx="1"/>
          </p:nvPr>
        </p:nvSpPr>
        <p:spPr/>
        <p:txBody>
          <a:bodyPr/>
          <a:lstStyle/>
          <a:p>
            <a:r>
              <a:rPr kumimoji="1" lang="zh-TW" altLang="en-US" dirty="0"/>
              <a:t>新增有一個可變系統變量</a:t>
            </a:r>
            <a:r>
              <a:rPr kumimoji="1" lang="en-US" altLang="zh-TW" dirty="0"/>
              <a:t>x</a:t>
            </a:r>
            <a:r>
              <a:rPr kumimoji="1" lang="zh-TW" altLang="en-US" dirty="0"/>
              <a:t>，一個</a:t>
            </a:r>
            <a:r>
              <a:rPr kumimoji="1" lang="en-US" altLang="zh-TW" dirty="0"/>
              <a:t>baseline</a:t>
            </a:r>
            <a:r>
              <a:rPr kumimoji="1" lang="zh-TW" altLang="en-US" dirty="0"/>
              <a:t>一條線的圖（自變量、環境變因）</a:t>
            </a:r>
            <a:br>
              <a:rPr kumimoji="1" lang="en-US" altLang="zh-TW" dirty="0"/>
            </a:br>
            <a:r>
              <a:rPr kumimoji="1" lang="zh-TW" altLang="en-US" dirty="0"/>
              <a:t>圖包含的內容不多，</a:t>
            </a:r>
            <a:endParaRPr kumimoji="1" lang="en-US" altLang="zh-TW" dirty="0"/>
          </a:p>
          <a:p>
            <a:r>
              <a:rPr kumimoji="1" lang="zh-TW" altLang="en-US" dirty="0"/>
              <a:t>比較別人的方法</a:t>
            </a:r>
          </a:p>
        </p:txBody>
      </p:sp>
    </p:spTree>
    <p:extLst>
      <p:ext uri="{BB962C8B-B14F-4D97-AF65-F5344CB8AC3E}">
        <p14:creationId xmlns:p14="http://schemas.microsoft.com/office/powerpoint/2010/main" val="19179325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257B-81C8-AFC3-2298-C1EF88B6CC9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91D07F9-CCF4-5104-25A9-FC856F8D08C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360A23E-8DF7-8263-9209-7EB9CCDA8255}"/>
              </a:ext>
            </a:extLst>
          </p:cNvPr>
          <p:cNvSpPr>
            <a:spLocks noGrp="1"/>
          </p:cNvSpPr>
          <p:nvPr>
            <p:ph type="body" idx="1"/>
          </p:nvPr>
        </p:nvSpPr>
        <p:spPr/>
        <p:txBody>
          <a:bodyPr/>
          <a:lstStyle/>
          <a:p>
            <a:r>
              <a:rPr kumimoji="1" lang="zh-TW" altLang="en-US" dirty="0"/>
              <a:t>新增有一個可變系統變量</a:t>
            </a:r>
            <a:r>
              <a:rPr kumimoji="1" lang="en-US" altLang="zh-TW" dirty="0"/>
              <a:t>x</a:t>
            </a:r>
            <a:r>
              <a:rPr kumimoji="1" lang="zh-TW" altLang="en-US" dirty="0"/>
              <a:t>，一個</a:t>
            </a:r>
            <a:r>
              <a:rPr kumimoji="1" lang="en-US" altLang="zh-TW" dirty="0"/>
              <a:t>baseline</a:t>
            </a:r>
            <a:r>
              <a:rPr kumimoji="1" lang="zh-TW" altLang="en-US" dirty="0"/>
              <a:t>一條線的圖（自變量、環境變因）</a:t>
            </a:r>
            <a:br>
              <a:rPr kumimoji="1" lang="en-US" altLang="zh-TW" dirty="0"/>
            </a:br>
            <a:r>
              <a:rPr kumimoji="1" lang="zh-TW" altLang="en-US" dirty="0"/>
              <a:t>圖包含的內容不多，</a:t>
            </a:r>
            <a:endParaRPr kumimoji="1" lang="en-US" altLang="zh-TW" dirty="0"/>
          </a:p>
          <a:p>
            <a:r>
              <a:rPr kumimoji="1" lang="zh-TW" altLang="en-US" dirty="0"/>
              <a:t>比較別人的方法</a:t>
            </a:r>
          </a:p>
        </p:txBody>
      </p:sp>
    </p:spTree>
    <p:extLst>
      <p:ext uri="{BB962C8B-B14F-4D97-AF65-F5344CB8AC3E}">
        <p14:creationId xmlns:p14="http://schemas.microsoft.com/office/powerpoint/2010/main" val="6516816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F6ED4-D055-AA9B-6B81-E42260FC6A4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45AFBE2-FD46-0D1F-64DC-0ADD2A719A9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B65639E-B84F-232D-1F5B-8ABA870B15CE}"/>
              </a:ext>
            </a:extLst>
          </p:cNvPr>
          <p:cNvSpPr>
            <a:spLocks noGrp="1"/>
          </p:cNvSpPr>
          <p:nvPr>
            <p:ph type="body" idx="1"/>
          </p:nvPr>
        </p:nvSpPr>
        <p:spPr/>
        <p:txBody>
          <a:bodyPr/>
          <a:lstStyle/>
          <a:p>
            <a:r>
              <a:rPr kumimoji="1" lang="zh-TW" altLang="en-US" dirty="0"/>
              <a:t>新增有一個可變系統變量</a:t>
            </a:r>
            <a:r>
              <a:rPr kumimoji="1" lang="en-US" altLang="zh-TW" dirty="0"/>
              <a:t>x</a:t>
            </a:r>
            <a:r>
              <a:rPr kumimoji="1" lang="zh-TW" altLang="en-US" dirty="0"/>
              <a:t>，一個</a:t>
            </a:r>
            <a:r>
              <a:rPr kumimoji="1" lang="en-US" altLang="zh-TW" dirty="0"/>
              <a:t>baseline</a:t>
            </a:r>
            <a:r>
              <a:rPr kumimoji="1" lang="zh-TW" altLang="en-US" dirty="0"/>
              <a:t>一條線的圖（自變量、環境變因）</a:t>
            </a:r>
            <a:br>
              <a:rPr kumimoji="1" lang="en-US" altLang="zh-TW" dirty="0"/>
            </a:br>
            <a:r>
              <a:rPr kumimoji="1" lang="zh-TW" altLang="en-US" dirty="0"/>
              <a:t>圖包含的內容不多，</a:t>
            </a:r>
            <a:endParaRPr kumimoji="1" lang="en-US" altLang="zh-TW" dirty="0"/>
          </a:p>
          <a:p>
            <a:r>
              <a:rPr kumimoji="1" lang="zh-TW" altLang="en-US" dirty="0"/>
              <a:t>比較別人的方法</a:t>
            </a:r>
          </a:p>
        </p:txBody>
      </p:sp>
    </p:spTree>
    <p:extLst>
      <p:ext uri="{BB962C8B-B14F-4D97-AF65-F5344CB8AC3E}">
        <p14:creationId xmlns:p14="http://schemas.microsoft.com/office/powerpoint/2010/main" val="77333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b="0" i="0" spc="-232">
                <a:latin typeface="Times New Roman" panose="02020603050405020304" pitchFamily="18" charset="0"/>
                <a:cs typeface="Times New Roman" panose="02020603050405020304" pitchFamily="18" charset="0"/>
              </a:defRPr>
            </a:lvl1pPr>
          </a:lstStyle>
          <a:p>
            <a:r>
              <a:rPr dirty="0"/>
              <a:t>Presentation Title</a:t>
            </a:r>
          </a:p>
        </p:txBody>
      </p:sp>
      <p:sp>
        <p:nvSpPr>
          <p:cNvPr id="14"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內文層級一…"/>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幻燈片編號"/>
          <p:cNvSpPr txBox="1">
            <a:spLocks noGrp="1"/>
          </p:cNvSpPr>
          <p:nvPr>
            <p:ph type="sldNum" sz="quarter" idx="2"/>
          </p:nvPr>
        </p:nvSpPr>
        <p:spPr>
          <a:xfrm>
            <a:off x="23641564" y="12936952"/>
            <a:ext cx="368505" cy="374600"/>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lvl1pPr>
              <a:defRPr>
                <a:latin typeface="Times New Roman" panose="02020603050405020304" pitchFamily="18" charset="0"/>
                <a:cs typeface="Times New Roman" panose="02020603050405020304" pitchFamily="18" charset="0"/>
              </a:defRPr>
            </a:lvl1pPr>
          </a:lstStyle>
          <a:p>
            <a:r>
              <a:rPr dirty="0"/>
              <a:t>Slide Title</a:t>
            </a:r>
          </a:p>
        </p:txBody>
      </p:sp>
      <p:sp>
        <p:nvSpPr>
          <p:cNvPr id="44" name="內文層級一…"/>
          <p:cNvSpPr txBox="1">
            <a:spLocks noGrp="1"/>
          </p:cNvSpPr>
          <p:nvPr>
            <p:ph type="body" idx="1" hasCustomPrompt="1"/>
          </p:nvPr>
        </p:nvSpPr>
        <p:spPr>
          <a:prstGeom prst="rect">
            <a:avLst/>
          </a:prstGeom>
        </p:spPr>
        <p:txBody>
          <a:bodyPr/>
          <a:lstStyle>
            <a:lvl1pPr>
              <a:defRPr b="0" i="0">
                <a:latin typeface="Times New Roman" panose="02020603050405020304" pitchFamily="18" charset="0"/>
                <a:cs typeface="Times New Roman" panose="02020603050405020304" pitchFamily="18" charset="0"/>
              </a:defRPr>
            </a:lvl1pPr>
          </a:lstStyle>
          <a:p>
            <a:r>
              <a:rPr dirty="0"/>
              <a:t>Slide bullet text</a:t>
            </a:r>
          </a:p>
          <a:p>
            <a:pPr lvl="1"/>
            <a:endParaRPr dirty="0"/>
          </a:p>
          <a:p>
            <a:pPr lvl="2"/>
            <a:endParaRPr dirty="0"/>
          </a:p>
          <a:p>
            <a:pPr lvl="3"/>
            <a:endParaRPr dirty="0"/>
          </a:p>
          <a:p>
            <a:pPr lvl="4"/>
            <a:endParaRPr dirty="0"/>
          </a:p>
        </p:txBody>
      </p:sp>
      <p:sp>
        <p:nvSpPr>
          <p:cNvPr id="45"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內文層級一…"/>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內文層級一…"/>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72" name="幻燈片編號"/>
          <p:cNvSpPr txBox="1">
            <a:spLocks noGrp="1"/>
          </p:cNvSpPr>
          <p:nvPr>
            <p:ph type="sldNum" sz="quarter" idx="2"/>
          </p:nvPr>
        </p:nvSpPr>
        <p:spPr>
          <a:xfrm>
            <a:off x="23715705" y="12961666"/>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8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1"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8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90" name="內文層級一…"/>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91"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98" name="內文層級一…"/>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06" name="內文層級一…"/>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0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0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16" name="內文層級一…"/>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25" name="Bowl with salmon cakes, salad, and humm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2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27"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4" name="bowl of salad with fried rice, boiled eggs, and chopsticks"/>
          <p:cNvSpPr>
            <a:spLocks noGrp="1"/>
          </p:cNvSpPr>
          <p:nvPr>
            <p:ph type="pic" idx="21"/>
          </p:nvPr>
        </p:nvSpPr>
        <p:spPr>
          <a:xfrm>
            <a:off x="-1333500" y="-5104370"/>
            <a:ext cx="27051000" cy="21640800"/>
          </a:xfrm>
          <a:prstGeom prst="rect">
            <a:avLst/>
          </a:prstGeom>
        </p:spPr>
        <p:txBody>
          <a:bodyPr lIns="91439" tIns="45719" rIns="91439" bIns="45719">
            <a:noAutofit/>
          </a:bodyPr>
          <a:lstStyle/>
          <a:p>
            <a:endParaRPr/>
          </a:p>
        </p:txBody>
      </p:sp>
      <p:sp>
        <p:nvSpPr>
          <p:cNvPr id="135" name="幻燈片編號"/>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dirty="0"/>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2"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內文層級一…"/>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幻燈片編號"/>
          <p:cNvSpPr txBox="1">
            <a:spLocks noGrp="1"/>
          </p:cNvSpPr>
          <p:nvPr>
            <p:ph type="sldNum" sz="quarter" idx="2"/>
          </p:nvPr>
        </p:nvSpPr>
        <p:spPr>
          <a:xfrm>
            <a:off x="23542710" y="13031572"/>
            <a:ext cx="368505" cy="374600"/>
          </a:xfrm>
          <a:prstGeom prst="rect">
            <a:avLst/>
          </a:prstGeom>
          <a:ln w="12700">
            <a:miter lim="400000"/>
          </a:ln>
        </p:spPr>
        <p:txBody>
          <a:bodyPr wrap="none" lIns="50800" tIns="50800" rIns="50800" bIns="50800" anchor="b">
            <a:spAutoFit/>
          </a:bodyPr>
          <a:lstStyle>
            <a:lvl1pPr defTabSz="584200">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transition spd="med"/>
  <p:hf hdr="0" ftr="0" dt="0"/>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6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55.png"/></Relationships>
</file>

<file path=ppt/slides/_rels/slide6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57.png"/></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7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tudent:…"/>
          <p:cNvSpPr txBox="1">
            <a:spLocks noGrp="1"/>
          </p:cNvSpPr>
          <p:nvPr>
            <p:ph type="body" idx="21"/>
          </p:nvPr>
        </p:nvSpPr>
        <p:spPr>
          <a:xfrm>
            <a:off x="1201340" y="8779382"/>
            <a:ext cx="21971003" cy="46482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a:defRPr sz="4100"/>
            </a:pPr>
            <a:r>
              <a:rPr dirty="0"/>
              <a:t>Student:</a:t>
            </a:r>
          </a:p>
          <a:p>
            <a:pPr>
              <a:defRPr sz="4100" b="0"/>
            </a:pPr>
            <a:r>
              <a:rPr dirty="0"/>
              <a:t>Shih-Yang Wang </a:t>
            </a:r>
          </a:p>
          <a:p>
            <a:pPr>
              <a:defRPr sz="4100"/>
            </a:pPr>
            <a:r>
              <a:rPr dirty="0"/>
              <a:t>Advisor:</a:t>
            </a:r>
          </a:p>
          <a:p>
            <a:pPr>
              <a:defRPr sz="4100" b="0"/>
            </a:pPr>
            <a:r>
              <a:rPr dirty="0"/>
              <a:t>Professor Ying-Dar Lin</a:t>
            </a:r>
          </a:p>
          <a:p>
            <a:pPr>
              <a:defRPr sz="4100"/>
            </a:pPr>
            <a:r>
              <a:rPr dirty="0"/>
              <a:t>High Speed Network Lab</a:t>
            </a:r>
          </a:p>
          <a:p>
            <a:pPr>
              <a:defRPr sz="4100"/>
            </a:pPr>
            <a:r>
              <a:rPr dirty="0"/>
              <a:t>National Yang Ming Chiao Tung University, Taiwan</a:t>
            </a:r>
          </a:p>
        </p:txBody>
      </p:sp>
      <p:sp>
        <p:nvSpPr>
          <p:cNvPr id="152" name="Engage-Agent: A MITRE Engage-driven LLM Agent in a Honeynet"/>
          <p:cNvSpPr txBox="1">
            <a:spLocks noGrp="1"/>
          </p:cNvSpPr>
          <p:nvPr>
            <p:ph type="ctrTitle"/>
          </p:nvPr>
        </p:nvSpPr>
        <p:spPr>
          <a:xfrm>
            <a:off x="1019628" y="4299357"/>
            <a:ext cx="22334426" cy="3355344"/>
          </a:xfrm>
          <a:prstGeom prst="rect">
            <a:avLst/>
          </a:prstGeom>
        </p:spPr>
        <p:txBody>
          <a:bodyPr anchor="ctr">
            <a:normAutofit/>
          </a:bodyPr>
          <a:lstStyle>
            <a:lvl1pPr algn="ctr">
              <a:lnSpc>
                <a:spcPct val="100000"/>
              </a:lnSpc>
              <a:defRPr sz="5700" spc="-114"/>
            </a:lvl1pPr>
          </a:lstStyle>
          <a:p>
            <a:r>
              <a:rPr lang="en-US" sz="6000" b="1" dirty="0">
                <a:latin typeface="Times New Roman" panose="02020603050405020304" pitchFamily="18" charset="0"/>
                <a:cs typeface="Times New Roman" panose="02020603050405020304" pitchFamily="18" charset="0"/>
              </a:rPr>
              <a:t>Engage-Agent: A </a:t>
            </a:r>
            <a:r>
              <a:rPr lang="en-US" altLang="zh-TW" sz="6000" b="1" dirty="0">
                <a:latin typeface="Times New Roman" panose="02020603050405020304" pitchFamily="18" charset="0"/>
                <a:cs typeface="Times New Roman" panose="02020603050405020304" pitchFamily="18" charset="0"/>
              </a:rPr>
              <a:t>2</a:t>
            </a:r>
            <a:r>
              <a:rPr lang="en-US" sz="6000" b="1" dirty="0">
                <a:latin typeface="Times New Roman" panose="02020603050405020304" pitchFamily="18" charset="0"/>
                <a:cs typeface="Times New Roman" panose="02020603050405020304" pitchFamily="18" charset="0"/>
              </a:rPr>
              <a:t>-Layer MITRE Engage-driven LLM Agent in a Honeynet</a:t>
            </a:r>
          </a:p>
        </p:txBody>
      </p:sp>
      <p:pic>
        <p:nvPicPr>
          <p:cNvPr id="154" name="cropped-nycu-logo-blue.png" descr="cropped-nycu-logo-blue.png"/>
          <p:cNvPicPr>
            <a:picLocks noChangeAspect="1"/>
          </p:cNvPicPr>
          <p:nvPr/>
        </p:nvPicPr>
        <p:blipFill>
          <a:blip r:embed="rId3"/>
          <a:stretch>
            <a:fillRect/>
          </a:stretch>
        </p:blipFill>
        <p:spPr>
          <a:xfrm>
            <a:off x="20750277" y="742179"/>
            <a:ext cx="3003948" cy="2034933"/>
          </a:xfrm>
          <a:prstGeom prst="rect">
            <a:avLst/>
          </a:prstGeom>
          <a:ln w="12700">
            <a:miter lim="400000"/>
          </a:ln>
        </p:spPr>
      </p:pic>
      <p:sp>
        <p:nvSpPr>
          <p:cNvPr id="2" name="投影片編號版面配置區 1">
            <a:extLst>
              <a:ext uri="{FF2B5EF4-FFF2-40B4-BE49-F238E27FC236}">
                <a16:creationId xmlns:a16="http://schemas.microsoft.com/office/drawing/2014/main" id="{2DBC3986-FDCE-4CB6-8EA7-845D632BA355}"/>
              </a:ext>
            </a:extLst>
          </p:cNvPr>
          <p:cNvSpPr>
            <a:spLocks noGrp="1"/>
          </p:cNvSpPr>
          <p:nvPr>
            <p:ph type="sldNum" sz="quarter" idx="2"/>
          </p:nvPr>
        </p:nvSpPr>
        <p:spPr/>
        <p:txBody>
          <a:bodyPr/>
          <a:lstStyle/>
          <a:p>
            <a:fld id="{86CB4B4D-7CA3-9044-876B-883B54F8677D}" type="slidenum">
              <a:rPr lang="en-US" altLang="zh-TW" smtClean="0"/>
              <a:t>1</a:t>
            </a:fld>
            <a:endParaRPr lang="zh-TW" altLang="en-US"/>
          </a:p>
        </p:txBody>
      </p:sp>
      <p:sp>
        <p:nvSpPr>
          <p:cNvPr id="3" name="文字方塊 2">
            <a:extLst>
              <a:ext uri="{FF2B5EF4-FFF2-40B4-BE49-F238E27FC236}">
                <a16:creationId xmlns:a16="http://schemas.microsoft.com/office/drawing/2014/main" id="{A08227DB-C2EE-9B4C-C9E4-889DB8E93039}"/>
              </a:ext>
            </a:extLst>
          </p:cNvPr>
          <p:cNvSpPr txBox="1"/>
          <p:nvPr/>
        </p:nvSpPr>
        <p:spPr>
          <a:xfrm>
            <a:off x="12196883" y="6581001"/>
            <a:ext cx="65"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zh-TW" altLang="en-US" sz="3600" b="0" i="0" u="none" strike="noStrike" cap="none" spc="0" normalizeH="0" baseline="0" dirty="0">
              <a:ln>
                <a:noFill/>
              </a:ln>
              <a:solidFill>
                <a:srgbClr val="000000"/>
              </a:solidFill>
              <a:effectLst/>
              <a:uFillTx/>
              <a:latin typeface="+mn-lt"/>
              <a:ea typeface="+mn-ea"/>
              <a:cs typeface="+mn-cs"/>
              <a:sym typeface="Helvetica Neue"/>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Outline"/>
          <p:cNvSpPr txBox="1">
            <a:spLocks noGrp="1"/>
          </p:cNvSpPr>
          <p:nvPr>
            <p:ph type="title"/>
          </p:nvPr>
        </p:nvSpPr>
        <p:spPr>
          <a:prstGeom prst="rect">
            <a:avLst/>
          </a:prstGeom>
        </p:spPr>
        <p:txBody>
          <a:bodyPr/>
          <a:lstStyle/>
          <a:p>
            <a:r>
              <a:rPr dirty="0">
                <a:latin typeface="Times New Roman" panose="02020603050405020304" pitchFamily="18" charset="0"/>
                <a:cs typeface="Times New Roman" panose="02020603050405020304" pitchFamily="18" charset="0"/>
              </a:rPr>
              <a:t>Outline</a:t>
            </a:r>
          </a:p>
        </p:txBody>
      </p:sp>
      <p:sp>
        <p:nvSpPr>
          <p:cNvPr id="157" name="Motivation…"/>
          <p:cNvSpPr txBox="1">
            <a:spLocks noGrp="1"/>
          </p:cNvSpPr>
          <p:nvPr>
            <p:ph type="body" sz="half" idx="1"/>
          </p:nvPr>
        </p:nvSpPr>
        <p:spPr>
          <a:xfrm>
            <a:off x="1583044" y="2836958"/>
            <a:ext cx="10608956" cy="10398068"/>
          </a:xfrm>
          <a:prstGeom prst="rect">
            <a:avLst/>
          </a:prstGeom>
        </p:spPr>
        <p:txBody>
          <a:bodyPr/>
          <a:lstStyle/>
          <a:p>
            <a:pPr>
              <a:lnSpc>
                <a:spcPct val="50000"/>
              </a:lnSpc>
              <a:defRPr b="1"/>
            </a:pPr>
            <a:r>
              <a:rPr sz="4400" dirty="0">
                <a:latin typeface="Times New Roman" panose="02020603050405020304" pitchFamily="18" charset="0"/>
                <a:cs typeface="Times New Roman" panose="02020603050405020304" pitchFamily="18" charset="0"/>
              </a:rPr>
              <a:t>Motivation</a:t>
            </a:r>
          </a:p>
          <a:p>
            <a:pPr>
              <a:lnSpc>
                <a:spcPct val="50000"/>
              </a:lnSpc>
              <a:defRPr b="1"/>
            </a:pPr>
            <a:r>
              <a:rPr sz="4400" dirty="0">
                <a:latin typeface="Times New Roman" panose="02020603050405020304" pitchFamily="18" charset="0"/>
                <a:cs typeface="Times New Roman" panose="02020603050405020304" pitchFamily="18" charset="0"/>
              </a:rPr>
              <a:t>Background</a:t>
            </a:r>
          </a:p>
          <a:p>
            <a:pPr lvl="1">
              <a:lnSpc>
                <a:spcPct val="50000"/>
              </a:lnSpc>
              <a:defRPr sz="3800" b="1"/>
            </a:pPr>
            <a:r>
              <a:rPr lang="en-US" altLang="zh-TW" sz="3800" dirty="0">
                <a:latin typeface="Times New Roman" panose="02020603050405020304" pitchFamily="18" charset="0"/>
                <a:cs typeface="Times New Roman" panose="02020603050405020304" pitchFamily="18" charset="0"/>
              </a:rPr>
              <a:t>MITRE ENGAGE</a:t>
            </a:r>
          </a:p>
          <a:p>
            <a:pPr lvl="1">
              <a:lnSpc>
                <a:spcPct val="50000"/>
              </a:lnSpc>
              <a:defRPr sz="3800" b="1"/>
            </a:pPr>
            <a:r>
              <a:rPr lang="en-US" altLang="zh-TW" sz="3800" dirty="0">
                <a:latin typeface="Times New Roman" panose="02020603050405020304" pitchFamily="18" charset="0"/>
                <a:cs typeface="Times New Roman" panose="02020603050405020304" pitchFamily="18" charset="0"/>
              </a:rPr>
              <a:t>LLM Agent</a:t>
            </a:r>
          </a:p>
          <a:p>
            <a:pPr lvl="1">
              <a:lnSpc>
                <a:spcPct val="50000"/>
              </a:lnSpc>
              <a:defRPr sz="3800" b="1"/>
            </a:pPr>
            <a:r>
              <a:rPr lang="en-US" sz="3800" dirty="0">
                <a:latin typeface="Times New Roman" panose="02020603050405020304" pitchFamily="18" charset="0"/>
                <a:cs typeface="Times New Roman" panose="02020603050405020304" pitchFamily="18" charset="0"/>
              </a:rPr>
              <a:t>Model Context Protocol (MCP) </a:t>
            </a:r>
          </a:p>
          <a:p>
            <a:pPr lvl="1">
              <a:lnSpc>
                <a:spcPct val="50000"/>
              </a:lnSpc>
              <a:defRPr sz="3800" b="1"/>
            </a:pPr>
            <a:r>
              <a:rPr sz="3800" dirty="0">
                <a:latin typeface="Times New Roman" panose="02020603050405020304" pitchFamily="18" charset="0"/>
                <a:cs typeface="Times New Roman" panose="02020603050405020304" pitchFamily="18" charset="0"/>
              </a:rPr>
              <a:t>LLM Agent</a:t>
            </a:r>
            <a:endParaRPr lang="en-US" sz="3800" dirty="0">
              <a:latin typeface="Times New Roman" panose="02020603050405020304" pitchFamily="18" charset="0"/>
              <a:cs typeface="Times New Roman" panose="02020603050405020304" pitchFamily="18" charset="0"/>
            </a:endParaRPr>
          </a:p>
          <a:p>
            <a:pPr lvl="1">
              <a:lnSpc>
                <a:spcPct val="50000"/>
              </a:lnSpc>
              <a:defRPr sz="3800" b="1"/>
            </a:pPr>
            <a:r>
              <a:rPr lang="en-US" altLang="zh-TW" sz="3800" dirty="0">
                <a:latin typeface="Times New Roman" panose="02020603050405020304" pitchFamily="18" charset="0"/>
                <a:cs typeface="Times New Roman" panose="02020603050405020304" pitchFamily="18" charset="0"/>
              </a:rPr>
              <a:t>Active Directory</a:t>
            </a:r>
          </a:p>
          <a:p>
            <a:pPr>
              <a:lnSpc>
                <a:spcPct val="50000"/>
              </a:lnSpc>
              <a:defRPr b="1"/>
            </a:pPr>
            <a:r>
              <a:rPr sz="4400" dirty="0">
                <a:latin typeface="Times New Roman" panose="02020603050405020304" pitchFamily="18" charset="0"/>
                <a:cs typeface="Times New Roman" panose="02020603050405020304" pitchFamily="18" charset="0"/>
              </a:rPr>
              <a:t>N</a:t>
            </a:r>
            <a:r>
              <a:rPr lang="en-US" altLang="zh-TW" sz="4400" dirty="0">
                <a:latin typeface="Times New Roman" panose="02020603050405020304" pitchFamily="18" charset="0"/>
                <a:cs typeface="Times New Roman" panose="02020603050405020304" pitchFamily="18" charset="0"/>
              </a:rPr>
              <a:t>o</a:t>
            </a:r>
            <a:r>
              <a:rPr sz="4400" dirty="0">
                <a:latin typeface="Times New Roman" panose="02020603050405020304" pitchFamily="18" charset="0"/>
                <a:cs typeface="Times New Roman" panose="02020603050405020304" pitchFamily="18" charset="0"/>
              </a:rPr>
              <a:t>tations</a:t>
            </a:r>
          </a:p>
          <a:p>
            <a:pPr>
              <a:lnSpc>
                <a:spcPct val="50000"/>
              </a:lnSpc>
              <a:defRPr b="1"/>
            </a:pPr>
            <a:r>
              <a:rPr sz="4400" dirty="0">
                <a:latin typeface="Times New Roman" panose="02020603050405020304" pitchFamily="18" charset="0"/>
                <a:cs typeface="Times New Roman" panose="02020603050405020304" pitchFamily="18" charset="0"/>
              </a:rPr>
              <a:t>Problem</a:t>
            </a:r>
            <a:r>
              <a:rPr lang="en-US" sz="4400" dirty="0">
                <a:latin typeface="Times New Roman" panose="02020603050405020304" pitchFamily="18" charset="0"/>
                <a:cs typeface="Times New Roman" panose="02020603050405020304" pitchFamily="18" charset="0"/>
              </a:rPr>
              <a:t> Statement</a:t>
            </a:r>
          </a:p>
          <a:p>
            <a:pPr>
              <a:lnSpc>
                <a:spcPct val="50000"/>
              </a:lnSpc>
              <a:defRPr b="1"/>
            </a:pPr>
            <a:r>
              <a:rPr lang="en-US" altLang="zh-TW" sz="4400" dirty="0"/>
              <a:t>Related Work</a:t>
            </a:r>
          </a:p>
          <a:p>
            <a:pPr>
              <a:lnSpc>
                <a:spcPct val="50000"/>
              </a:lnSpc>
              <a:defRPr b="1"/>
            </a:pPr>
            <a:r>
              <a:rPr lang="en-US" altLang="zh-TW" sz="4400" dirty="0"/>
              <a:t>Issues </a:t>
            </a:r>
          </a:p>
          <a:p>
            <a:pPr>
              <a:lnSpc>
                <a:spcPct val="50000"/>
              </a:lnSpc>
              <a:defRPr b="1"/>
            </a:pPr>
            <a:endParaRPr lang="en-US" altLang="zh-TW" sz="4400" dirty="0"/>
          </a:p>
          <a:p>
            <a:pPr>
              <a:lnSpc>
                <a:spcPct val="50000"/>
              </a:lnSpc>
              <a:defRPr b="1"/>
            </a:pPr>
            <a:endParaRPr lang="en-US" sz="4400" dirty="0">
              <a:latin typeface="Times New Roman" panose="02020603050405020304" pitchFamily="18" charset="0"/>
              <a:cs typeface="Times New Roman" panose="02020603050405020304" pitchFamily="18" charset="0"/>
            </a:endParaRPr>
          </a:p>
          <a:p>
            <a:pPr>
              <a:lnSpc>
                <a:spcPct val="50000"/>
              </a:lnSpc>
              <a:defRPr b="1"/>
            </a:pPr>
            <a:endParaRPr sz="4400" dirty="0">
              <a:latin typeface="Times New Roman" panose="02020603050405020304" pitchFamily="18" charset="0"/>
              <a:cs typeface="Times New Roman" panose="02020603050405020304" pitchFamily="18" charset="0"/>
            </a:endParaRPr>
          </a:p>
        </p:txBody>
      </p:sp>
      <p:sp>
        <p:nvSpPr>
          <p:cNvPr id="159" name="Issues…"/>
          <p:cNvSpPr txBox="1"/>
          <p:nvPr/>
        </p:nvSpPr>
        <p:spPr>
          <a:xfrm>
            <a:off x="12568544" y="2512663"/>
            <a:ext cx="10608956" cy="110466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2500" lnSpcReduction="10000"/>
          </a:bodyPr>
          <a:lstStyle/>
          <a:p>
            <a:pPr marL="571500" indent="-571500" algn="l">
              <a:lnSpc>
                <a:spcPct val="50000"/>
              </a:lnSpc>
              <a:spcBef>
                <a:spcPts val="4500"/>
              </a:spcBef>
              <a:buSzPct val="123000"/>
              <a:buFont typeface="Arial" panose="020B0604020202020204" pitchFamily="34" charset="0"/>
              <a:buChar char="•"/>
              <a:defRPr sz="4800" b="1"/>
            </a:pPr>
            <a:r>
              <a:rPr sz="4400" dirty="0">
                <a:latin typeface="Times New Roman" panose="02020603050405020304" pitchFamily="18" charset="0"/>
                <a:cs typeface="Times New Roman" panose="02020603050405020304" pitchFamily="18" charset="0"/>
              </a:rPr>
              <a:t> Solution</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Solution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Overview</a:t>
            </a:r>
          </a:p>
          <a:p>
            <a:pPr marL="1219200" lvl="1" indent="-609600" algn="l">
              <a:lnSpc>
                <a:spcPct val="50000"/>
              </a:lnSpc>
              <a:spcBef>
                <a:spcPts val="4500"/>
              </a:spcBef>
              <a:buSzPct val="123000"/>
              <a:buChar char="•"/>
              <a:defRPr sz="3800" b="1"/>
            </a:pPr>
            <a:r>
              <a:rPr dirty="0">
                <a:latin typeface="Times New Roman" panose="02020603050405020304" pitchFamily="18" charset="0"/>
                <a:cs typeface="Times New Roman" panose="02020603050405020304" pitchFamily="18" charset="0"/>
              </a:rPr>
              <a:t>LLM Agent Design</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Strategist LLM Design </a:t>
            </a:r>
          </a:p>
          <a:p>
            <a:pPr marL="1219200" lvl="1" indent="-609600" algn="l">
              <a:lnSpc>
                <a:spcPct val="50000"/>
              </a:lnSpc>
              <a:spcBef>
                <a:spcPts val="4500"/>
              </a:spcBef>
              <a:buSzPct val="123000"/>
              <a:buChar char="•"/>
              <a:defRPr sz="3800" b="1"/>
            </a:pPr>
            <a:r>
              <a:rPr lang="en-US" dirty="0">
                <a:latin typeface="Times New Roman" panose="02020603050405020304" pitchFamily="18" charset="0"/>
                <a:cs typeface="Times New Roman" panose="02020603050405020304" pitchFamily="18" charset="0"/>
              </a:rPr>
              <a:t>Planner LLM and MCP Execution</a:t>
            </a:r>
          </a:p>
          <a:p>
            <a:pPr marL="1219200" lvl="1" indent="-609600" algn="l">
              <a:lnSpc>
                <a:spcPct val="50000"/>
              </a:lnSpc>
              <a:spcBef>
                <a:spcPts val="4500"/>
              </a:spcBef>
              <a:buSzPct val="123000"/>
              <a:buChar char="•"/>
              <a:defRPr sz="3800" b="1"/>
            </a:pPr>
            <a:r>
              <a:rPr lang="en-US" dirty="0">
                <a:latin typeface="Times New Roman" panose="02020603050405020304" pitchFamily="18" charset="0"/>
                <a:cs typeface="Times New Roman" panose="02020603050405020304" pitchFamily="18" charset="0"/>
              </a:rPr>
              <a:t>MCP </a:t>
            </a:r>
            <a:r>
              <a:rPr lang="en-US" dirty="0" err="1">
                <a:latin typeface="Times New Roman" panose="02020603050405020304" pitchFamily="18" charset="0"/>
                <a:cs typeface="Times New Roman" panose="02020603050405020304" pitchFamily="18" charset="0"/>
              </a:rPr>
              <a:t>ToolKit</a:t>
            </a:r>
            <a:r>
              <a:rPr lang="en-US" dirty="0">
                <a:latin typeface="Times New Roman" panose="02020603050405020304" pitchFamily="18" charset="0"/>
                <a:cs typeface="Times New Roman" panose="02020603050405020304" pitchFamily="18" charset="0"/>
              </a:rPr>
              <a:t> Design</a:t>
            </a:r>
          </a:p>
          <a:p>
            <a:pPr marL="609600" indent="-609600" algn="l">
              <a:lnSpc>
                <a:spcPct val="50000"/>
              </a:lnSpc>
              <a:spcBef>
                <a:spcPts val="4500"/>
              </a:spcBef>
              <a:buSzPct val="123000"/>
              <a:buChar char="•"/>
              <a:defRPr sz="4800" b="1"/>
            </a:pPr>
            <a:r>
              <a:rPr sz="4400" dirty="0">
                <a:latin typeface="Times New Roman" panose="02020603050405020304" pitchFamily="18" charset="0"/>
                <a:cs typeface="Times New Roman" panose="02020603050405020304" pitchFamily="18" charset="0"/>
              </a:rPr>
              <a:t>Implementation</a:t>
            </a:r>
            <a:endParaRPr lang="en-US" sz="4400" dirty="0">
              <a:latin typeface="Times New Roman" panose="02020603050405020304" pitchFamily="18" charset="0"/>
              <a:cs typeface="Times New Roman" panose="02020603050405020304" pitchFamily="18" charset="0"/>
            </a:endParaRP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System Architecture </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Dataset Generation </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MCP </a:t>
            </a:r>
            <a:r>
              <a:rPr lang="en-US" altLang="zh-TW" dirty="0" err="1">
                <a:latin typeface="Times New Roman" panose="02020603050405020304" pitchFamily="18" charset="0"/>
                <a:cs typeface="Times New Roman" panose="02020603050405020304" pitchFamily="18" charset="0"/>
              </a:rPr>
              <a:t>ToolKit</a:t>
            </a:r>
            <a:r>
              <a:rPr lang="en-US" altLang="zh-TW" dirty="0">
                <a:latin typeface="Times New Roman" panose="02020603050405020304" pitchFamily="18" charset="0"/>
                <a:cs typeface="Times New Roman" panose="02020603050405020304" pitchFamily="18" charset="0"/>
              </a:rPr>
              <a:t> Generation </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Attacker Interaction Simulation</a:t>
            </a:r>
            <a:endParaRPr sz="4400" dirty="0">
              <a:latin typeface="Times New Roman" panose="02020603050405020304" pitchFamily="18" charset="0"/>
              <a:cs typeface="Times New Roman" panose="02020603050405020304" pitchFamily="18" charset="0"/>
            </a:endParaRPr>
          </a:p>
          <a:p>
            <a:pPr marL="609600" indent="-609600" algn="l">
              <a:lnSpc>
                <a:spcPct val="50000"/>
              </a:lnSpc>
              <a:spcBef>
                <a:spcPts val="4500"/>
              </a:spcBef>
              <a:buSzPct val="123000"/>
              <a:buChar char="•"/>
              <a:defRPr sz="4800" b="1"/>
            </a:pPr>
            <a:r>
              <a:rPr sz="4400" dirty="0">
                <a:latin typeface="Times New Roman" panose="02020603050405020304" pitchFamily="18" charset="0"/>
                <a:cs typeface="Times New Roman" panose="02020603050405020304" pitchFamily="18" charset="0"/>
              </a:rPr>
              <a:t>Evaluation</a:t>
            </a:r>
            <a:endParaRPr lang="en-US" sz="4400" dirty="0">
              <a:latin typeface="Times New Roman" panose="02020603050405020304" pitchFamily="18" charset="0"/>
              <a:cs typeface="Times New Roman" panose="02020603050405020304" pitchFamily="18" charset="0"/>
            </a:endParaRPr>
          </a:p>
          <a:p>
            <a:pPr marL="609600" indent="-609600" algn="l">
              <a:lnSpc>
                <a:spcPct val="50000"/>
              </a:lnSpc>
              <a:spcBef>
                <a:spcPts val="4500"/>
              </a:spcBef>
              <a:buSzPct val="123000"/>
              <a:buChar char="•"/>
              <a:defRPr sz="4800" b="1"/>
            </a:pPr>
            <a:r>
              <a:rPr lang="en-US" altLang="zh-TW" sz="4400" dirty="0">
                <a:latin typeface="Times New Roman" panose="02020603050405020304" pitchFamily="18" charset="0"/>
                <a:cs typeface="Times New Roman" panose="02020603050405020304" pitchFamily="18" charset="0"/>
              </a:rPr>
              <a:t>Experiment</a:t>
            </a:r>
            <a:endParaRPr sz="4400" dirty="0">
              <a:latin typeface="Times New Roman" panose="02020603050405020304" pitchFamily="18" charset="0"/>
              <a:cs typeface="Times New Roman" panose="02020603050405020304" pitchFamily="18" charset="0"/>
            </a:endParaRPr>
          </a:p>
          <a:p>
            <a:pPr marL="609600" indent="-609600" algn="l">
              <a:lnSpc>
                <a:spcPct val="50000"/>
              </a:lnSpc>
              <a:spcBef>
                <a:spcPts val="4500"/>
              </a:spcBef>
              <a:buSzPct val="123000"/>
              <a:buChar char="•"/>
              <a:defRPr sz="4800" b="1"/>
            </a:pPr>
            <a:r>
              <a:rPr sz="4400" dirty="0">
                <a:latin typeface="Times New Roman" panose="02020603050405020304" pitchFamily="18" charset="0"/>
                <a:cs typeface="Times New Roman" panose="02020603050405020304" pitchFamily="18" charset="0"/>
              </a:rPr>
              <a:t>Reference</a:t>
            </a:r>
          </a:p>
        </p:txBody>
      </p:sp>
      <p:sp>
        <p:nvSpPr>
          <p:cNvPr id="2" name="投影片編號版面配置區 1">
            <a:extLst>
              <a:ext uri="{FF2B5EF4-FFF2-40B4-BE49-F238E27FC236}">
                <a16:creationId xmlns:a16="http://schemas.microsoft.com/office/drawing/2014/main" id="{450E1447-C26B-EDEF-02EF-A326BD61F137}"/>
              </a:ext>
            </a:extLst>
          </p:cNvPr>
          <p:cNvSpPr>
            <a:spLocks noGrp="1"/>
          </p:cNvSpPr>
          <p:nvPr>
            <p:ph type="sldNum" sz="quarter" idx="2"/>
          </p:nvPr>
        </p:nvSpPr>
        <p:spPr/>
        <p:txBody>
          <a:bodyPr/>
          <a:lstStyle/>
          <a:p>
            <a:fld id="{86CB4B4D-7CA3-9044-876B-883B54F8677D}" type="slidenum">
              <a:rPr lang="en-US" altLang="zh-TW" smtClean="0"/>
              <a:t>2</a:t>
            </a:fld>
            <a:endParaRPr lang="zh-TW" altLang="en-US"/>
          </a:p>
        </p:txBody>
      </p:sp>
    </p:spTree>
    <p:extLst>
      <p:ext uri="{BB962C8B-B14F-4D97-AF65-F5344CB8AC3E}">
        <p14:creationId xmlns:p14="http://schemas.microsoft.com/office/powerpoint/2010/main" val="110650710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Motivation"/>
          <p:cNvSpPr txBox="1">
            <a:spLocks noGrp="1"/>
          </p:cNvSpPr>
          <p:nvPr>
            <p:ph type="title"/>
          </p:nvPr>
        </p:nvSpPr>
        <p:spPr>
          <a:prstGeom prst="rect">
            <a:avLst/>
          </a:prstGeom>
        </p:spPr>
        <p:txBody>
          <a:bodyPr/>
          <a:lstStyle/>
          <a:p>
            <a:r>
              <a:rPr dirty="0"/>
              <a:t>Motivation</a:t>
            </a:r>
          </a:p>
        </p:txBody>
      </p:sp>
      <p:sp>
        <p:nvSpPr>
          <p:cNvPr id="163" name="Challenges in Existing Adaptive Honeypots…"/>
          <p:cNvSpPr txBox="1">
            <a:spLocks noGrp="1"/>
          </p:cNvSpPr>
          <p:nvPr>
            <p:ph type="body" idx="1"/>
          </p:nvPr>
        </p:nvSpPr>
        <p:spPr>
          <a:xfrm>
            <a:off x="1206500" y="4248504"/>
            <a:ext cx="22336210" cy="5689580"/>
          </a:xfrm>
          <a:prstGeom prst="rect">
            <a:avLst/>
          </a:prstGeom>
        </p:spPr>
        <p:txBody>
          <a:bodyPr/>
          <a:lstStyle/>
          <a:p>
            <a:r>
              <a:rPr dirty="0">
                <a:latin typeface="Times New Roman" panose="02020603050405020304" pitchFamily="18" charset="0"/>
                <a:cs typeface="Times New Roman" panose="02020603050405020304" pitchFamily="18" charset="0"/>
              </a:rPr>
              <a:t>Challenges </a:t>
            </a:r>
            <a:r>
              <a:rPr lang="en-US" dirty="0">
                <a:latin typeface="Times New Roman" panose="02020603050405020304" pitchFamily="18" charset="0"/>
                <a:cs typeface="Times New Roman" panose="02020603050405020304" pitchFamily="18" charset="0"/>
              </a:rPr>
              <a:t>i</a:t>
            </a:r>
            <a:r>
              <a:rPr dirty="0">
                <a:latin typeface="Times New Roman" panose="02020603050405020304" pitchFamily="18" charset="0"/>
                <a:cs typeface="Times New Roman" panose="02020603050405020304" pitchFamily="18" charset="0"/>
              </a:rPr>
              <a:t>n Existing Adaptive Honeypots</a:t>
            </a:r>
            <a:r>
              <a:rPr lang="en-US" altLang="zh-TW" dirty="0">
                <a:latin typeface="Times New Roman" panose="02020603050405020304" pitchFamily="18" charset="0"/>
                <a:cs typeface="Times New Roman" panose="02020603050405020304" pitchFamily="18" charset="0"/>
              </a:rPr>
              <a:t>/Honeynets</a:t>
            </a:r>
            <a:endParaRPr lang="en-US" dirty="0">
              <a:latin typeface="Times New Roman" panose="02020603050405020304" pitchFamily="18" charset="0"/>
              <a:cs typeface="Times New Roman" panose="02020603050405020304" pitchFamily="18" charset="0"/>
            </a:endParaRPr>
          </a:p>
          <a:p>
            <a:pPr lvl="1"/>
            <a:r>
              <a:rPr lang="en-US" sz="4000" dirty="0">
                <a:latin typeface="Times New Roman" panose="02020603050405020304" pitchFamily="18" charset="0"/>
                <a:cs typeface="Times New Roman" panose="02020603050405020304" pitchFamily="18" charset="0"/>
              </a:rPr>
              <a:t>Can only emulate a </a:t>
            </a:r>
            <a:r>
              <a:rPr lang="en-US" sz="4000" dirty="0">
                <a:solidFill>
                  <a:srgbClr val="0070C0"/>
                </a:solidFill>
                <a:latin typeface="Times New Roman" panose="02020603050405020304" pitchFamily="18" charset="0"/>
                <a:cs typeface="Times New Roman" panose="02020603050405020304" pitchFamily="18" charset="0"/>
              </a:rPr>
              <a:t>single host</a:t>
            </a:r>
            <a:r>
              <a:rPr lang="en-US" sz="4000" dirty="0">
                <a:latin typeface="Times New Roman" panose="02020603050405020304" pitchFamily="18" charset="0"/>
                <a:cs typeface="Times New Roman" panose="02020603050405020304" pitchFamily="18" charset="0"/>
              </a:rPr>
              <a:t>; cannot represent a </a:t>
            </a:r>
            <a:r>
              <a:rPr lang="en-US" sz="4000" dirty="0">
                <a:solidFill>
                  <a:srgbClr val="0070C0"/>
                </a:solidFill>
                <a:latin typeface="Times New Roman" panose="02020603050405020304" pitchFamily="18" charset="0"/>
                <a:cs typeface="Times New Roman" panose="02020603050405020304" pitchFamily="18" charset="0"/>
              </a:rPr>
              <a:t>full enterprise network</a:t>
            </a:r>
          </a:p>
          <a:p>
            <a:pPr lvl="1"/>
            <a:r>
              <a:rPr lang="en-US" sz="4000" dirty="0">
                <a:latin typeface="Times New Roman" panose="02020603050405020304" pitchFamily="18" charset="0"/>
                <a:cs typeface="Times New Roman" panose="02020603050405020304" pitchFamily="18" charset="0"/>
              </a:rPr>
              <a:t>Existing honeynet research mainly focuses on </a:t>
            </a:r>
            <a:r>
              <a:rPr lang="en-US" sz="4000" dirty="0">
                <a:solidFill>
                  <a:srgbClr val="0070C0"/>
                </a:solidFill>
                <a:latin typeface="Times New Roman" panose="02020603050405020304" pitchFamily="18" charset="0"/>
                <a:cs typeface="Times New Roman" panose="02020603050405020304" pitchFamily="18" charset="0"/>
              </a:rPr>
              <a:t>deployment</a:t>
            </a:r>
            <a:r>
              <a:rPr lang="en-US" sz="4000" dirty="0">
                <a:latin typeface="Times New Roman" panose="02020603050405020304" pitchFamily="18" charset="0"/>
                <a:cs typeface="Times New Roman" panose="02020603050405020304" pitchFamily="18" charset="0"/>
              </a:rPr>
              <a:t> rather than active attacker </a:t>
            </a:r>
            <a:r>
              <a:rPr lang="en-US" sz="4000" dirty="0">
                <a:solidFill>
                  <a:srgbClr val="0070C0"/>
                </a:solidFill>
                <a:latin typeface="Times New Roman" panose="02020603050405020304" pitchFamily="18" charset="0"/>
                <a:cs typeface="Times New Roman" panose="02020603050405020304" pitchFamily="18" charset="0"/>
              </a:rPr>
              <a:t>engagement</a:t>
            </a:r>
          </a:p>
          <a:p>
            <a:pPr lvl="1"/>
            <a:r>
              <a:rPr lang="en-US" sz="4000" dirty="0">
                <a:solidFill>
                  <a:srgbClr val="0070C0"/>
                </a:solidFill>
                <a:latin typeface="Times New Roman" panose="02020603050405020304" pitchFamily="18" charset="0"/>
                <a:cs typeface="Times New Roman" panose="02020603050405020304" pitchFamily="18" charset="0"/>
              </a:rPr>
              <a:t>Adaptive honeypot</a:t>
            </a:r>
            <a:r>
              <a:rPr lang="en-US" sz="4000" dirty="0">
                <a:latin typeface="Times New Roman" panose="02020603050405020304" pitchFamily="18" charset="0"/>
                <a:cs typeface="Times New Roman" panose="02020603050405020304" pitchFamily="18" charset="0"/>
              </a:rPr>
              <a:t> methods provide dynamic interaction, but </a:t>
            </a:r>
            <a:r>
              <a:rPr lang="en-US" sz="4000" dirty="0">
                <a:solidFill>
                  <a:srgbClr val="0070C0"/>
                </a:solidFill>
                <a:latin typeface="Times New Roman" panose="02020603050405020304" pitchFamily="18" charset="0"/>
                <a:cs typeface="Times New Roman" panose="02020603050405020304" pitchFamily="18" charset="0"/>
              </a:rPr>
              <a:t>cannot be directly extended to honeynets </a:t>
            </a:r>
          </a:p>
        </p:txBody>
      </p:sp>
      <p:sp>
        <p:nvSpPr>
          <p:cNvPr id="2" name="投影片編號版面配置區 1">
            <a:extLst>
              <a:ext uri="{FF2B5EF4-FFF2-40B4-BE49-F238E27FC236}">
                <a16:creationId xmlns:a16="http://schemas.microsoft.com/office/drawing/2014/main" id="{F74D6278-2E4C-AE26-2BDD-D0F5AC43DF92}"/>
              </a:ext>
            </a:extLst>
          </p:cNvPr>
          <p:cNvSpPr>
            <a:spLocks noGrp="1"/>
          </p:cNvSpPr>
          <p:nvPr>
            <p:ph type="sldNum" sz="quarter" idx="2"/>
          </p:nvPr>
        </p:nvSpPr>
        <p:spPr/>
        <p:txBody>
          <a:bodyPr/>
          <a:lstStyle/>
          <a:p>
            <a:fld id="{86CB4B4D-7CA3-9044-876B-883B54F8677D}" type="slidenum">
              <a:rPr lang="en-US" altLang="zh-TW" smtClean="0"/>
              <a:t>3</a:t>
            </a:fld>
            <a:endParaRPr lang="zh-TW" altLang="en-US"/>
          </a:p>
        </p:txBody>
      </p:sp>
    </p:spTree>
    <p:extLst>
      <p:ext uri="{BB962C8B-B14F-4D97-AF65-F5344CB8AC3E}">
        <p14:creationId xmlns:p14="http://schemas.microsoft.com/office/powerpoint/2010/main" val="230962281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 name="Screenshot 2025-08-06 at 18.07.33.png" descr="Screenshot 2025-08-06 at 18.07.33.png"/>
          <p:cNvPicPr>
            <a:picLocks noChangeAspect="1"/>
          </p:cNvPicPr>
          <p:nvPr/>
        </p:nvPicPr>
        <p:blipFill>
          <a:blip r:embed="rId2"/>
          <a:stretch>
            <a:fillRect/>
          </a:stretch>
        </p:blipFill>
        <p:spPr>
          <a:xfrm>
            <a:off x="2170377" y="5148870"/>
            <a:ext cx="20043246" cy="8451124"/>
          </a:xfrm>
          <a:prstGeom prst="rect">
            <a:avLst/>
          </a:prstGeom>
          <a:ln w="12700">
            <a:miter lim="400000"/>
          </a:ln>
        </p:spPr>
      </p:pic>
      <p:sp>
        <p:nvSpPr>
          <p:cNvPr id="193" name="Background - MITRE ENGAGE"/>
          <p:cNvSpPr txBox="1">
            <a:spLocks noGrp="1"/>
          </p:cNvSpPr>
          <p:nvPr>
            <p:ph type="title"/>
          </p:nvPr>
        </p:nvSpPr>
        <p:spPr>
          <a:prstGeom prst="rect">
            <a:avLst/>
          </a:prstGeom>
        </p:spPr>
        <p:txBody>
          <a:bodyPr/>
          <a:lstStyle/>
          <a:p>
            <a:r>
              <a:rPr dirty="0"/>
              <a:t>Background - MITRE ENGAGE</a:t>
            </a:r>
          </a:p>
        </p:txBody>
      </p:sp>
      <p:sp>
        <p:nvSpPr>
          <p:cNvPr id="194" name="MITRE Engage define how to engage with Hacker…"/>
          <p:cNvSpPr txBox="1">
            <a:spLocks noGrp="1"/>
          </p:cNvSpPr>
          <p:nvPr>
            <p:ph type="body" sz="quarter" idx="1"/>
          </p:nvPr>
        </p:nvSpPr>
        <p:spPr>
          <a:xfrm>
            <a:off x="1206500" y="3094892"/>
            <a:ext cx="21971000" cy="1965635"/>
          </a:xfrm>
          <a:prstGeom prst="rect">
            <a:avLst/>
          </a:prstGeom>
        </p:spPr>
        <p:txBody>
          <a:bodyPr/>
          <a:lstStyle/>
          <a:p>
            <a:pPr>
              <a:lnSpc>
                <a:spcPct val="50000"/>
              </a:lnSpc>
            </a:pPr>
            <a:r>
              <a:rPr dirty="0">
                <a:latin typeface="Times New Roman" panose="02020603050405020304" pitchFamily="18" charset="0"/>
                <a:cs typeface="Times New Roman" panose="02020603050405020304" pitchFamily="18" charset="0"/>
              </a:rPr>
              <a:t>MITRE Engage define how to engage with Hacker</a:t>
            </a:r>
            <a:r>
              <a:rPr lang="en-US" altLang="zh-TW" dirty="0">
                <a:latin typeface="Times New Roman" panose="02020603050405020304" pitchFamily="18" charset="0"/>
                <a:cs typeface="Times New Roman" panose="02020603050405020304" pitchFamily="18" charset="0"/>
              </a:rPr>
              <a:t>s</a:t>
            </a:r>
            <a:endParaRPr dirty="0">
              <a:latin typeface="Times New Roman" panose="02020603050405020304" pitchFamily="18" charset="0"/>
              <a:cs typeface="Times New Roman" panose="02020603050405020304" pitchFamily="18" charset="0"/>
            </a:endParaRPr>
          </a:p>
          <a:p>
            <a:pPr>
              <a:lnSpc>
                <a:spcPct val="50000"/>
              </a:lnSpc>
            </a:pPr>
            <a:r>
              <a:rPr dirty="0">
                <a:latin typeface="Times New Roman" panose="02020603050405020304" pitchFamily="18" charset="0"/>
                <a:cs typeface="Times New Roman" panose="02020603050405020304" pitchFamily="18" charset="0"/>
              </a:rPr>
              <a:t>They also define which engage activity corresponding to technique</a:t>
            </a:r>
          </a:p>
        </p:txBody>
      </p:sp>
      <p:sp>
        <p:nvSpPr>
          <p:cNvPr id="2" name="投影片編號版面配置區 1">
            <a:extLst>
              <a:ext uri="{FF2B5EF4-FFF2-40B4-BE49-F238E27FC236}">
                <a16:creationId xmlns:a16="http://schemas.microsoft.com/office/drawing/2014/main" id="{A84B437E-1663-3FD8-1216-6815FAB14B71}"/>
              </a:ext>
            </a:extLst>
          </p:cNvPr>
          <p:cNvSpPr>
            <a:spLocks noGrp="1"/>
          </p:cNvSpPr>
          <p:nvPr>
            <p:ph type="sldNum" sz="quarter" idx="2"/>
          </p:nvPr>
        </p:nvSpPr>
        <p:spPr/>
        <p:txBody>
          <a:bodyPr/>
          <a:lstStyle/>
          <a:p>
            <a:fld id="{86CB4B4D-7CA3-9044-876B-883B54F8677D}" type="slidenum">
              <a:rPr lang="en-US" altLang="zh-TW" smtClean="0"/>
              <a:t>4</a:t>
            </a:fld>
            <a:endParaRPr lang="zh-TW" altLang="en-US"/>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貼上的影片.png" descr="貼上的影片.png"/>
          <p:cNvPicPr>
            <a:picLocks noChangeAspect="1"/>
          </p:cNvPicPr>
          <p:nvPr/>
        </p:nvPicPr>
        <p:blipFill>
          <a:blip r:embed="rId2"/>
          <a:stretch>
            <a:fillRect/>
          </a:stretch>
        </p:blipFill>
        <p:spPr>
          <a:xfrm>
            <a:off x="7870733" y="6858000"/>
            <a:ext cx="8642534" cy="6176871"/>
          </a:xfrm>
          <a:prstGeom prst="rect">
            <a:avLst/>
          </a:prstGeom>
          <a:ln w="12700">
            <a:miter lim="400000"/>
          </a:ln>
        </p:spPr>
      </p:pic>
      <p:sp>
        <p:nvSpPr>
          <p:cNvPr id="198" name="Background - LLM Agent"/>
          <p:cNvSpPr txBox="1">
            <a:spLocks noGrp="1"/>
          </p:cNvSpPr>
          <p:nvPr>
            <p:ph type="title"/>
          </p:nvPr>
        </p:nvSpPr>
        <p:spPr>
          <a:prstGeom prst="rect">
            <a:avLst/>
          </a:prstGeom>
        </p:spPr>
        <p:txBody>
          <a:bodyPr/>
          <a:lstStyle/>
          <a:p>
            <a:r>
              <a:rPr dirty="0"/>
              <a:t>Background - LLM Agent</a:t>
            </a:r>
          </a:p>
        </p:txBody>
      </p:sp>
      <p:sp>
        <p:nvSpPr>
          <p:cNvPr id="199" name="An autonomous system with an LLM as its core “brain&quot;…"/>
          <p:cNvSpPr txBox="1">
            <a:spLocks noGrp="1"/>
          </p:cNvSpPr>
          <p:nvPr>
            <p:ph type="body" sz="half" idx="1"/>
          </p:nvPr>
        </p:nvSpPr>
        <p:spPr>
          <a:xfrm>
            <a:off x="1206500" y="3579420"/>
            <a:ext cx="21971000" cy="4693998"/>
          </a:xfrm>
          <a:prstGeom prst="rect">
            <a:avLst/>
          </a:prstGeom>
        </p:spPr>
        <p:txBody>
          <a:bodyPr/>
          <a:lstStyle/>
          <a:p>
            <a:pPr>
              <a:lnSpc>
                <a:spcPct val="50000"/>
              </a:lnSpc>
            </a:pPr>
            <a:r>
              <a:rPr dirty="0">
                <a:latin typeface="Times New Roman" panose="02020603050405020304" pitchFamily="18" charset="0"/>
                <a:cs typeface="Times New Roman" panose="02020603050405020304" pitchFamily="18" charset="0"/>
              </a:rPr>
              <a:t>Extends LLMs from generating text to taking actions</a:t>
            </a:r>
          </a:p>
          <a:p>
            <a:pPr>
              <a:lnSpc>
                <a:spcPct val="50000"/>
              </a:lnSpc>
            </a:pPr>
            <a:r>
              <a:rPr dirty="0">
                <a:latin typeface="Times New Roman" panose="02020603050405020304" pitchFamily="18" charset="0"/>
                <a:cs typeface="Times New Roman" panose="02020603050405020304" pitchFamily="18" charset="0"/>
              </a:rPr>
              <a:t>Operates in a loop: Reasoning -&gt; Tool Use -&gt; Observation</a:t>
            </a:r>
          </a:p>
          <a:p>
            <a:pPr>
              <a:lnSpc>
                <a:spcPct val="50000"/>
              </a:lnSpc>
            </a:pPr>
            <a:r>
              <a:rPr dirty="0">
                <a:latin typeface="Times New Roman" panose="02020603050405020304" pitchFamily="18" charset="0"/>
                <a:cs typeface="Times New Roman" panose="02020603050405020304" pitchFamily="18" charset="0"/>
              </a:rPr>
              <a:t>Uses tools like APIs and code to perform complex tasks</a:t>
            </a:r>
          </a:p>
        </p:txBody>
      </p:sp>
      <p:sp>
        <p:nvSpPr>
          <p:cNvPr id="2" name="投影片編號版面配置區 1">
            <a:extLst>
              <a:ext uri="{FF2B5EF4-FFF2-40B4-BE49-F238E27FC236}">
                <a16:creationId xmlns:a16="http://schemas.microsoft.com/office/drawing/2014/main" id="{D6D29778-85F0-78B6-1DE1-65ECCE633EAD}"/>
              </a:ext>
            </a:extLst>
          </p:cNvPr>
          <p:cNvSpPr>
            <a:spLocks noGrp="1"/>
          </p:cNvSpPr>
          <p:nvPr>
            <p:ph type="sldNum" sz="quarter" idx="2"/>
          </p:nvPr>
        </p:nvSpPr>
        <p:spPr/>
        <p:txBody>
          <a:bodyPr/>
          <a:lstStyle/>
          <a:p>
            <a:fld id="{86CB4B4D-7CA3-9044-876B-883B54F8677D}" type="slidenum">
              <a:rPr lang="en-US" altLang="zh-TW" smtClean="0"/>
              <a:t>5</a:t>
            </a:fld>
            <a:endParaRPr lang="zh-TW" altLang="en-US"/>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normAutofit/>
          </a:bodyPr>
          <a:lstStyle/>
          <a:p>
            <a:r>
              <a:rPr lang="en-US" altLang="zh-TW" dirty="0"/>
              <a:t>Background</a:t>
            </a:r>
            <a:r>
              <a:rPr dirty="0"/>
              <a:t> - </a:t>
            </a:r>
            <a:r>
              <a:rPr lang="en-US" dirty="0"/>
              <a:t>Model Context Protocol (MCP)</a:t>
            </a:r>
            <a:endParaRPr dirty="0"/>
          </a:p>
        </p:txBody>
      </p:sp>
      <p:sp>
        <p:nvSpPr>
          <p:cNvPr id="264" name="Slide bullet text"/>
          <p:cNvSpPr txBox="1">
            <a:spLocks noGrp="1"/>
          </p:cNvSpPr>
          <p:nvPr>
            <p:ph type="body" idx="1"/>
          </p:nvPr>
        </p:nvSpPr>
        <p:spPr>
          <a:xfrm>
            <a:off x="1206500" y="3052692"/>
            <a:ext cx="21971000" cy="8256012"/>
          </a:xfrm>
          <a:prstGeom prst="rect">
            <a:avLst/>
          </a:prstGeom>
        </p:spPr>
        <p:txBody>
          <a:bodyPr>
            <a:normAutofit/>
          </a:bodyPr>
          <a:lstStyle/>
          <a:p>
            <a:r>
              <a:rPr lang="en-US" altLang="zh-TW" sz="4400" dirty="0"/>
              <a:t>MCP provides a standardized interface for supplying system context to LLMs</a:t>
            </a:r>
          </a:p>
          <a:p>
            <a:r>
              <a:rPr lang="en-US" altLang="zh-TW" sz="4400" dirty="0"/>
              <a:t>Improving the reliability and correctness of actions generated</a:t>
            </a:r>
            <a:r>
              <a:rPr lang="zh-TW" altLang="en-US" sz="4400" dirty="0"/>
              <a:t> </a:t>
            </a:r>
            <a:r>
              <a:rPr lang="en-US" altLang="zh-TW" sz="4400" dirty="0"/>
              <a:t>by</a:t>
            </a:r>
            <a:r>
              <a:rPr lang="zh-TW" altLang="en-US" sz="4400" dirty="0"/>
              <a:t> </a:t>
            </a:r>
            <a:r>
              <a:rPr lang="en-US" altLang="zh-TW" sz="4400" dirty="0"/>
              <a:t>LLMs</a:t>
            </a:r>
          </a:p>
          <a:p>
            <a:endParaRPr lang="en-US" altLang="zh-TW" sz="4400"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9C2EA717-A9DB-AE43-24E6-AACBBE34DACA}"/>
              </a:ext>
            </a:extLst>
          </p:cNvPr>
          <p:cNvSpPr>
            <a:spLocks noGrp="1"/>
          </p:cNvSpPr>
          <p:nvPr>
            <p:ph type="sldNum" sz="quarter" idx="2"/>
          </p:nvPr>
        </p:nvSpPr>
        <p:spPr/>
        <p:txBody>
          <a:bodyPr/>
          <a:lstStyle/>
          <a:p>
            <a:fld id="{86CB4B4D-7CA3-9044-876B-883B54F8677D}" type="slidenum">
              <a:rPr lang="en-US" altLang="zh-TW" smtClean="0"/>
              <a:t>6</a:t>
            </a:fld>
            <a:endParaRPr lang="zh-TW" altLang="en-US"/>
          </a:p>
        </p:txBody>
      </p:sp>
      <p:pic>
        <p:nvPicPr>
          <p:cNvPr id="5" name="圖片 4">
            <a:extLst>
              <a:ext uri="{FF2B5EF4-FFF2-40B4-BE49-F238E27FC236}">
                <a16:creationId xmlns:a16="http://schemas.microsoft.com/office/drawing/2014/main" id="{6ABF1972-BCEF-0B93-DE8F-9A46767CF40C}"/>
              </a:ext>
            </a:extLst>
          </p:cNvPr>
          <p:cNvPicPr>
            <a:picLocks noChangeAspect="1"/>
          </p:cNvPicPr>
          <p:nvPr/>
        </p:nvPicPr>
        <p:blipFill>
          <a:blip r:embed="rId3">
            <a:extLst>
              <a:ext uri="{28A0092B-C50C-407E-A947-70E740481C1C}">
                <a14:useLocalDpi xmlns:a14="http://schemas.microsoft.com/office/drawing/2010/main" val="0"/>
              </a:ext>
            </a:extLst>
          </a:blip>
          <a:srcRect t="15038"/>
          <a:stretch>
            <a:fillRect/>
          </a:stretch>
        </p:blipFill>
        <p:spPr>
          <a:xfrm>
            <a:off x="14692717" y="5309358"/>
            <a:ext cx="8484783" cy="3954178"/>
          </a:xfrm>
          <a:prstGeom prst="rect">
            <a:avLst/>
          </a:prstGeom>
        </p:spPr>
      </p:pic>
      <p:pic>
        <p:nvPicPr>
          <p:cNvPr id="7" name="圖片 6">
            <a:extLst>
              <a:ext uri="{FF2B5EF4-FFF2-40B4-BE49-F238E27FC236}">
                <a16:creationId xmlns:a16="http://schemas.microsoft.com/office/drawing/2014/main" id="{2753396E-840B-B136-4605-D36BAE716017}"/>
              </a:ext>
            </a:extLst>
          </p:cNvPr>
          <p:cNvPicPr>
            <a:picLocks noChangeAspect="1"/>
          </p:cNvPicPr>
          <p:nvPr/>
        </p:nvPicPr>
        <p:blipFill>
          <a:blip r:embed="rId4">
            <a:extLst>
              <a:ext uri="{28A0092B-C50C-407E-A947-70E740481C1C}">
                <a14:useLocalDpi xmlns:a14="http://schemas.microsoft.com/office/drawing/2010/main" val="0"/>
              </a:ext>
            </a:extLst>
          </a:blip>
          <a:srcRect t="19252"/>
          <a:stretch>
            <a:fillRect/>
          </a:stretch>
        </p:blipFill>
        <p:spPr>
          <a:xfrm>
            <a:off x="14692716" y="9516327"/>
            <a:ext cx="6763227" cy="3702715"/>
          </a:xfrm>
          <a:prstGeom prst="rect">
            <a:avLst/>
          </a:prstGeom>
        </p:spPr>
      </p:pic>
      <p:pic>
        <p:nvPicPr>
          <p:cNvPr id="2052" name="Picture 4">
            <a:extLst>
              <a:ext uri="{FF2B5EF4-FFF2-40B4-BE49-F238E27FC236}">
                <a16:creationId xmlns:a16="http://schemas.microsoft.com/office/drawing/2014/main" id="{086B1786-D4E1-202A-D328-86A3BDEC96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272" y="5984950"/>
            <a:ext cx="13167450" cy="6278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63257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Background - Active Directory (AD)"/>
          <p:cNvSpPr txBox="1">
            <a:spLocks noGrp="1"/>
          </p:cNvSpPr>
          <p:nvPr>
            <p:ph type="title"/>
          </p:nvPr>
        </p:nvSpPr>
        <p:spPr>
          <a:prstGeom prst="rect">
            <a:avLst/>
          </a:prstGeom>
        </p:spPr>
        <p:txBody>
          <a:bodyPr/>
          <a:lstStyle/>
          <a:p>
            <a:r>
              <a:rPr dirty="0"/>
              <a:t>Background - Active Directory (AD)</a:t>
            </a:r>
          </a:p>
        </p:txBody>
      </p:sp>
      <p:sp>
        <p:nvSpPr>
          <p:cNvPr id="167" name="Microsoft's directory service for Windows networks…"/>
          <p:cNvSpPr txBox="1">
            <a:spLocks noGrp="1"/>
          </p:cNvSpPr>
          <p:nvPr>
            <p:ph type="body" sz="half" idx="1"/>
          </p:nvPr>
        </p:nvSpPr>
        <p:spPr>
          <a:xfrm>
            <a:off x="1206500" y="2948225"/>
            <a:ext cx="21971000" cy="3597549"/>
          </a:xfrm>
          <a:prstGeom prst="rect">
            <a:avLst/>
          </a:prstGeom>
        </p:spPr>
        <p:txBody>
          <a:bodyPr/>
          <a:lstStyle/>
          <a:p>
            <a:pPr>
              <a:spcBef>
                <a:spcPts val="3300"/>
              </a:spcBef>
            </a:pPr>
            <a:r>
              <a:rPr dirty="0">
                <a:latin typeface="Times New Roman" panose="02020603050405020304" pitchFamily="18" charset="0"/>
                <a:cs typeface="Times New Roman" panose="02020603050405020304" pitchFamily="18" charset="0"/>
              </a:rPr>
              <a:t>Microsoft's directory service for Windows networks</a:t>
            </a:r>
          </a:p>
          <a:p>
            <a:pPr>
              <a:spcBef>
                <a:spcPts val="3300"/>
              </a:spcBef>
            </a:pPr>
            <a:r>
              <a:rPr dirty="0">
                <a:latin typeface="Times New Roman" panose="02020603050405020304" pitchFamily="18" charset="0"/>
                <a:cs typeface="Times New Roman" panose="02020603050405020304" pitchFamily="18" charset="0"/>
              </a:rPr>
              <a:t>A cornerstone of IT infrastructure, adopted by the vast majority of enterprises</a:t>
            </a:r>
          </a:p>
          <a:p>
            <a:pPr>
              <a:spcBef>
                <a:spcPts val="3300"/>
              </a:spcBef>
            </a:pPr>
            <a:r>
              <a:rPr dirty="0">
                <a:latin typeface="Times New Roman" panose="02020603050405020304" pitchFamily="18" charset="0"/>
                <a:cs typeface="Times New Roman" panose="02020603050405020304" pitchFamily="18" charset="0"/>
              </a:rPr>
              <a:t>Provides centralized Identity and Access Management (IAM)</a:t>
            </a:r>
          </a:p>
        </p:txBody>
      </p:sp>
      <p:sp>
        <p:nvSpPr>
          <p:cNvPr id="2" name="投影片編號版面配置區 1">
            <a:extLst>
              <a:ext uri="{FF2B5EF4-FFF2-40B4-BE49-F238E27FC236}">
                <a16:creationId xmlns:a16="http://schemas.microsoft.com/office/drawing/2014/main" id="{D45B0FBA-7A03-7C95-DD17-48AB2E17E698}"/>
              </a:ext>
            </a:extLst>
          </p:cNvPr>
          <p:cNvSpPr>
            <a:spLocks noGrp="1"/>
          </p:cNvSpPr>
          <p:nvPr>
            <p:ph type="sldNum" sz="quarter" idx="2"/>
          </p:nvPr>
        </p:nvSpPr>
        <p:spPr/>
        <p:txBody>
          <a:bodyPr/>
          <a:lstStyle/>
          <a:p>
            <a:fld id="{86CB4B4D-7CA3-9044-876B-883B54F8677D}" type="slidenum">
              <a:rPr lang="en-US" altLang="zh-TW" smtClean="0"/>
              <a:t>7</a:t>
            </a:fld>
            <a:endParaRPr lang="zh-TW" altLang="en-US"/>
          </a:p>
        </p:txBody>
      </p:sp>
      <p:pic>
        <p:nvPicPr>
          <p:cNvPr id="8" name="圖片 7">
            <a:extLst>
              <a:ext uri="{FF2B5EF4-FFF2-40B4-BE49-F238E27FC236}">
                <a16:creationId xmlns:a16="http://schemas.microsoft.com/office/drawing/2014/main" id="{F2BE5328-5963-9D43-E460-64A16D1EEA01}"/>
              </a:ext>
            </a:extLst>
          </p:cNvPr>
          <p:cNvPicPr>
            <a:picLocks noChangeAspect="1"/>
          </p:cNvPicPr>
          <p:nvPr/>
        </p:nvPicPr>
        <p:blipFill>
          <a:blip r:embed="rId3">
            <a:extLst>
              <a:ext uri="{28A0092B-C50C-407E-A947-70E740481C1C}">
                <a14:useLocalDpi xmlns:a14="http://schemas.microsoft.com/office/drawing/2010/main" val="0"/>
              </a:ext>
            </a:extLst>
          </a:blip>
          <a:srcRect l="3959" t="1694" r="1357" b="2068"/>
          <a:stretch>
            <a:fillRect/>
          </a:stretch>
        </p:blipFill>
        <p:spPr>
          <a:xfrm>
            <a:off x="6591300" y="6400800"/>
            <a:ext cx="10629900" cy="6858000"/>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Why Honeynet? A Comparison"/>
          <p:cNvSpPr txBox="1">
            <a:spLocks noGrp="1"/>
          </p:cNvSpPr>
          <p:nvPr>
            <p:ph type="title"/>
          </p:nvPr>
        </p:nvSpPr>
        <p:spPr>
          <a:prstGeom prst="rect">
            <a:avLst/>
          </a:prstGeom>
        </p:spPr>
        <p:txBody>
          <a:bodyPr/>
          <a:lstStyle/>
          <a:p>
            <a:r>
              <a:t>Why Honeynet? A Comparison</a:t>
            </a:r>
          </a:p>
        </p:txBody>
      </p:sp>
      <p:graphicFrame>
        <p:nvGraphicFramePr>
          <p:cNvPr id="179" name="表格 1"/>
          <p:cNvGraphicFramePr/>
          <p:nvPr>
            <p:extLst>
              <p:ext uri="{D42A27DB-BD31-4B8C-83A1-F6EECF244321}">
                <p14:modId xmlns:p14="http://schemas.microsoft.com/office/powerpoint/2010/main" val="4077777628"/>
              </p:ext>
            </p:extLst>
          </p:nvPr>
        </p:nvGraphicFramePr>
        <p:xfrm>
          <a:off x="4113222" y="3799204"/>
          <a:ext cx="16157555" cy="8243310"/>
        </p:xfrm>
        <a:graphic>
          <a:graphicData uri="http://schemas.openxmlformats.org/drawingml/2006/table">
            <a:tbl>
              <a:tblPr>
                <a:tableStyleId>{4C3C2611-4C71-4FC5-86AE-919BDF0F9419}</a:tableStyleId>
              </a:tblPr>
              <a:tblGrid>
                <a:gridCol w="2307277">
                  <a:extLst>
                    <a:ext uri="{9D8B030D-6E8A-4147-A177-3AD203B41FA5}">
                      <a16:colId xmlns:a16="http://schemas.microsoft.com/office/drawing/2014/main" val="20000"/>
                    </a:ext>
                  </a:extLst>
                </a:gridCol>
                <a:gridCol w="3194073">
                  <a:extLst>
                    <a:ext uri="{9D8B030D-6E8A-4147-A177-3AD203B41FA5}">
                      <a16:colId xmlns:a16="http://schemas.microsoft.com/office/drawing/2014/main" val="20001"/>
                    </a:ext>
                  </a:extLst>
                </a:gridCol>
                <a:gridCol w="7616443">
                  <a:extLst>
                    <a:ext uri="{9D8B030D-6E8A-4147-A177-3AD203B41FA5}">
                      <a16:colId xmlns:a16="http://schemas.microsoft.com/office/drawing/2014/main" val="20002"/>
                    </a:ext>
                  </a:extLst>
                </a:gridCol>
                <a:gridCol w="3039762">
                  <a:extLst>
                    <a:ext uri="{9D8B030D-6E8A-4147-A177-3AD203B41FA5}">
                      <a16:colId xmlns:a16="http://schemas.microsoft.com/office/drawing/2014/main" val="20003"/>
                    </a:ext>
                  </a:extLst>
                </a:gridCol>
              </a:tblGrid>
              <a:tr h="1942494">
                <a:tc>
                  <a:txBody>
                    <a:bodyPr/>
                    <a:lstStyle/>
                    <a:p>
                      <a:pPr defTabSz="914400"/>
                      <a:r>
                        <a:rPr sz="3200" b="1" i="0" dirty="0">
                          <a:latin typeface="Times New Roman" panose="02020603050405020304" pitchFamily="18" charset="0"/>
                          <a:cs typeface="Times New Roman" panose="02020603050405020304" pitchFamily="18" charset="0"/>
                        </a:rPr>
                        <a:t>Category</a:t>
                      </a:r>
                    </a:p>
                  </a:txBody>
                  <a:tcPr marL="50800" marR="50800" marT="50800" marB="50800" anchor="ctr" horzOverflow="overflow"/>
                </a:tc>
                <a:tc>
                  <a:txBody>
                    <a:bodyPr/>
                    <a:lstStyle/>
                    <a:p>
                      <a:pPr defTabSz="914400"/>
                      <a:r>
                        <a:rPr sz="3200" b="1" i="0" dirty="0">
                          <a:latin typeface="Times New Roman" panose="02020603050405020304" pitchFamily="18" charset="0"/>
                          <a:cs typeface="Times New Roman" panose="02020603050405020304" pitchFamily="18" charset="0"/>
                        </a:rPr>
                        <a:t>Monitoring
scope</a:t>
                      </a:r>
                    </a:p>
                  </a:txBody>
                  <a:tcPr marL="50800" marR="50800" marT="50800" marB="50800" anchor="ctr" horzOverflow="overflow"/>
                </a:tc>
                <a:tc>
                  <a:txBody>
                    <a:bodyPr/>
                    <a:lstStyle/>
                    <a:p>
                      <a:pPr defTabSz="914400"/>
                      <a:r>
                        <a:rPr lang="en-US" altLang="zh-TW" sz="3200" b="1" i="0" dirty="0">
                          <a:latin typeface="Times New Roman" panose="02020603050405020304" pitchFamily="18" charset="0"/>
                          <a:cs typeface="Times New Roman" panose="02020603050405020304" pitchFamily="18" charset="0"/>
                        </a:rPr>
                        <a:t>Kill</a:t>
                      </a:r>
                      <a:r>
                        <a:rPr sz="3200" b="1" i="0" dirty="0">
                          <a:latin typeface="Times New Roman" panose="02020603050405020304" pitchFamily="18" charset="0"/>
                          <a:cs typeface="Times New Roman" panose="02020603050405020304" pitchFamily="18" charset="0"/>
                        </a:rPr>
                        <a:t> chain visibility</a:t>
                      </a:r>
                    </a:p>
                  </a:txBody>
                  <a:tcPr marL="50800" marR="50800" marT="50800" marB="50800" anchor="ctr" horzOverflow="overflow"/>
                </a:tc>
                <a:tc>
                  <a:txBody>
                    <a:bodyPr/>
                    <a:lstStyle/>
                    <a:p>
                      <a:pPr defTabSz="914400"/>
                      <a:r>
                        <a:rPr sz="3200" b="1" i="0" dirty="0">
                          <a:latin typeface="Times New Roman" panose="02020603050405020304" pitchFamily="18" charset="0"/>
                          <a:cs typeface="Times New Roman" panose="02020603050405020304" pitchFamily="18" charset="0"/>
                        </a:rPr>
                        <a:t>Detection
capability</a:t>
                      </a:r>
                    </a:p>
                  </a:txBody>
                  <a:tcPr marL="50800" marR="50800" marT="50800" marB="50800" anchor="ctr" horzOverflow="overflow"/>
                </a:tc>
                <a:extLst>
                  <a:ext uri="{0D108BD9-81ED-4DB2-BD59-A6C34878D82A}">
                    <a16:rowId xmlns:a16="http://schemas.microsoft.com/office/drawing/2014/main" val="10000"/>
                  </a:ext>
                </a:extLst>
              </a:tr>
              <a:tr h="3553046">
                <a:tc>
                  <a:txBody>
                    <a:bodyPr/>
                    <a:lstStyle/>
                    <a:p>
                      <a:pPr defTabSz="914400"/>
                      <a:r>
                        <a:rPr sz="3200" b="0" i="0">
                          <a:latin typeface="Times New Roman" panose="02020603050405020304" pitchFamily="18" charset="0"/>
                          <a:cs typeface="Times New Roman" panose="02020603050405020304" pitchFamily="18" charset="0"/>
                        </a:rPr>
                        <a:t>Honeypot</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Single Host</a:t>
                      </a:r>
                    </a:p>
                  </a:txBody>
                  <a:tcPr marL="50800" marR="50800" marT="50800" marB="50800" anchor="ctr" horzOverflow="overflow"/>
                </a:tc>
                <a:tc>
                  <a:txBody>
                    <a:bodyPr/>
                    <a:lstStyle/>
                    <a:p>
                      <a:pPr lvl="1" algn="ctr" defTabSz="914400"/>
                      <a:r>
                        <a:rPr sz="3200" b="0" i="0" dirty="0">
                          <a:latin typeface="Times New Roman" panose="02020603050405020304" pitchFamily="18" charset="0"/>
                          <a:cs typeface="Times New Roman" panose="02020603050405020304" pitchFamily="18" charset="0"/>
                        </a:rPr>
                        <a:t>Captures only the initial intrusion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Partial,
Single-Point</a:t>
                      </a:r>
                    </a:p>
                  </a:txBody>
                  <a:tcPr marL="50800" marR="50800" marT="50800" marB="50800" anchor="ctr" horzOverflow="overflow"/>
                </a:tc>
                <a:extLst>
                  <a:ext uri="{0D108BD9-81ED-4DB2-BD59-A6C34878D82A}">
                    <a16:rowId xmlns:a16="http://schemas.microsoft.com/office/drawing/2014/main" val="10001"/>
                  </a:ext>
                </a:extLst>
              </a:tr>
              <a:tr h="2747770">
                <a:tc>
                  <a:txBody>
                    <a:bodyPr/>
                    <a:lstStyle/>
                    <a:p>
                      <a:pPr defTabSz="914400"/>
                      <a:r>
                        <a:rPr sz="32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Entire Network Environment</a:t>
                      </a:r>
                    </a:p>
                  </a:txBody>
                  <a:tcPr marL="50800" marR="50800" marT="50800" marB="50800" anchor="ctr" horzOverflow="overflow"/>
                </a:tc>
                <a:tc>
                  <a:txBody>
                    <a:bodyPr/>
                    <a:lstStyle/>
                    <a:p>
                      <a:pPr lvl="1" algn="ctr" defTabSz="914400"/>
                      <a:r>
                        <a:rPr sz="3200" b="0" i="0" dirty="0">
                          <a:latin typeface="Times New Roman" panose="02020603050405020304" pitchFamily="18" charset="0"/>
                          <a:cs typeface="Times New Roman" panose="02020603050405020304" pitchFamily="18" charset="0"/>
                        </a:rPr>
                        <a:t>Reveal</a:t>
                      </a:r>
                      <a:r>
                        <a:rPr lang="zh-TW" altLang="en-US" sz="3200" b="0" i="0" dirty="0">
                          <a:latin typeface="Times New Roman" panose="02020603050405020304" pitchFamily="18" charset="0"/>
                          <a:cs typeface="Times New Roman" panose="02020603050405020304" pitchFamily="18" charset="0"/>
                        </a:rPr>
                        <a:t> </a:t>
                      </a:r>
                      <a:r>
                        <a:rPr sz="3200" b="0" i="0" dirty="0">
                          <a:latin typeface="Times New Roman" panose="02020603050405020304" pitchFamily="18" charset="0"/>
                          <a:cs typeface="Times New Roman" panose="02020603050405020304" pitchFamily="18" charset="0"/>
                        </a:rPr>
                        <a:t>full attack chain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 End-to-End
TTPs </a:t>
                      </a:r>
                    </a:p>
                  </a:txBody>
                  <a:tcPr marL="50800" marR="50800" marT="50800" marB="50800" anchor="ctr" horzOverflow="overflow"/>
                </a:tc>
                <a:extLst>
                  <a:ext uri="{0D108BD9-81ED-4DB2-BD59-A6C34878D82A}">
                    <a16:rowId xmlns:a16="http://schemas.microsoft.com/office/drawing/2014/main" val="10002"/>
                  </a:ext>
                </a:extLst>
              </a:tr>
            </a:tbl>
          </a:graphicData>
        </a:graphic>
      </p:graphicFrame>
      <p:sp>
        <p:nvSpPr>
          <p:cNvPr id="2" name="投影片編號版面配置區 1">
            <a:extLst>
              <a:ext uri="{FF2B5EF4-FFF2-40B4-BE49-F238E27FC236}">
                <a16:creationId xmlns:a16="http://schemas.microsoft.com/office/drawing/2014/main" id="{65F15799-7D17-4D4C-8651-2848837D5286}"/>
              </a:ext>
            </a:extLst>
          </p:cNvPr>
          <p:cNvSpPr>
            <a:spLocks noGrp="1"/>
          </p:cNvSpPr>
          <p:nvPr>
            <p:ph type="sldNum" sz="quarter" idx="2"/>
          </p:nvPr>
        </p:nvSpPr>
        <p:spPr/>
        <p:txBody>
          <a:bodyPr/>
          <a:lstStyle/>
          <a:p>
            <a:fld id="{86CB4B4D-7CA3-9044-876B-883B54F8677D}" type="slidenum">
              <a:rPr lang="en-US" altLang="zh-TW" smtClean="0"/>
              <a:t>8</a:t>
            </a:fld>
            <a:endParaRPr lang="zh-TW" altLang="en-US"/>
          </a:p>
        </p:txBody>
      </p:sp>
    </p:spTree>
    <p:extLst>
      <p:ext uri="{BB962C8B-B14F-4D97-AF65-F5344CB8AC3E}">
        <p14:creationId xmlns:p14="http://schemas.microsoft.com/office/powerpoint/2010/main" val="223623200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25EE8-9B33-8E45-5BC6-A5C4C256B929}"/>
            </a:ext>
          </a:extLst>
        </p:cNvPr>
        <p:cNvGrpSpPr/>
        <p:nvPr/>
      </p:nvGrpSpPr>
      <p:grpSpPr>
        <a:xfrm>
          <a:off x="0" y="0"/>
          <a:ext cx="0" cy="0"/>
          <a:chOff x="0" y="0"/>
          <a:chExt cx="0" cy="0"/>
        </a:xfrm>
      </p:grpSpPr>
      <p:sp>
        <p:nvSpPr>
          <p:cNvPr id="207" name="Notations">
            <a:extLst>
              <a:ext uri="{FF2B5EF4-FFF2-40B4-BE49-F238E27FC236}">
                <a16:creationId xmlns:a16="http://schemas.microsoft.com/office/drawing/2014/main" id="{586464FC-20C8-3270-CC5F-405828CC487D}"/>
              </a:ext>
            </a:extLst>
          </p:cNvPr>
          <p:cNvSpPr txBox="1">
            <a:spLocks noGrp="1"/>
          </p:cNvSpPr>
          <p:nvPr>
            <p:ph type="title"/>
          </p:nvPr>
        </p:nvSpPr>
        <p:spPr>
          <a:prstGeom prst="rect">
            <a:avLst/>
          </a:prstGeom>
        </p:spPr>
        <p:txBody>
          <a:bodyPr/>
          <a:lstStyle/>
          <a:p>
            <a:r>
              <a:t>Notations</a:t>
            </a:r>
          </a:p>
        </p:txBody>
      </p:sp>
      <mc:AlternateContent xmlns:mc="http://schemas.openxmlformats.org/markup-compatibility/2006" xmlns:a14="http://schemas.microsoft.com/office/drawing/2010/main">
        <mc:Choice Requires="a14">
          <p:graphicFrame>
            <p:nvGraphicFramePr>
              <p:cNvPr id="210" name="表格 1">
                <a:extLst>
                  <a:ext uri="{FF2B5EF4-FFF2-40B4-BE49-F238E27FC236}">
                    <a16:creationId xmlns:a16="http://schemas.microsoft.com/office/drawing/2014/main" id="{30EAE66B-ADBF-522C-A72D-C1B290CCEF40}"/>
                  </a:ext>
                </a:extLst>
              </p:cNvPr>
              <p:cNvGraphicFramePr/>
              <p:nvPr>
                <p:extLst>
                  <p:ext uri="{D42A27DB-BD31-4B8C-83A1-F6EECF244321}">
                    <p14:modId xmlns:p14="http://schemas.microsoft.com/office/powerpoint/2010/main" val="3615387669"/>
                  </p:ext>
                </p:extLst>
              </p:nvPr>
            </p:nvGraphicFramePr>
            <p:xfrm>
              <a:off x="1166164" y="2263708"/>
              <a:ext cx="22051672" cy="11142464"/>
            </p:xfrm>
            <a:graphic>
              <a:graphicData uri="http://schemas.openxmlformats.org/drawingml/2006/table">
                <a:tbl>
                  <a:tblPr>
                    <a:tableStyleId>{4C3C2611-4C71-4FC5-86AE-919BDF0F9419}</a:tableStyleId>
                  </a:tblPr>
                  <a:tblGrid>
                    <a:gridCol w="3576495">
                      <a:extLst>
                        <a:ext uri="{9D8B030D-6E8A-4147-A177-3AD203B41FA5}">
                          <a16:colId xmlns:a16="http://schemas.microsoft.com/office/drawing/2014/main" val="868843476"/>
                        </a:ext>
                      </a:extLst>
                    </a:gridCol>
                    <a:gridCol w="6105884">
                      <a:extLst>
                        <a:ext uri="{9D8B030D-6E8A-4147-A177-3AD203B41FA5}">
                          <a16:colId xmlns:a16="http://schemas.microsoft.com/office/drawing/2014/main" val="20001"/>
                        </a:ext>
                      </a:extLst>
                    </a:gridCol>
                    <a:gridCol w="12369293">
                      <a:extLst>
                        <a:ext uri="{9D8B030D-6E8A-4147-A177-3AD203B41FA5}">
                          <a16:colId xmlns:a16="http://schemas.microsoft.com/office/drawing/2014/main" val="20002"/>
                        </a:ext>
                      </a:extLst>
                    </a:gridCol>
                  </a:tblGrid>
                  <a:tr h="553304">
                    <a:tc>
                      <a:txBody>
                        <a:bodyPr/>
                        <a:lstStyle/>
                        <a:p>
                          <a:pPr defTabSz="914400"/>
                          <a:r>
                            <a:rPr lang="en-US" altLang="zh-TW" sz="3200" b="0" i="0" dirty="0">
                              <a:latin typeface="Times New Roman" panose="02020603050405020304" pitchFamily="18" charset="0"/>
                              <a:cs typeface="Times New Roman" panose="02020603050405020304" pitchFamily="18" charset="0"/>
                            </a:rPr>
                            <a:t>Categories</a:t>
                          </a:r>
                          <a:endParaRPr sz="32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Notation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Description</a:t>
                          </a:r>
                        </a:p>
                      </a:txBody>
                      <a:tcPr marL="50800" marR="50800" marT="50800" marB="50800" anchor="ctr" horzOverflow="overflow"/>
                    </a:tc>
                    <a:extLst>
                      <a:ext uri="{0D108BD9-81ED-4DB2-BD59-A6C34878D82A}">
                        <a16:rowId xmlns:a16="http://schemas.microsoft.com/office/drawing/2014/main" val="10000"/>
                      </a:ext>
                    </a:extLst>
                  </a:tr>
                  <a:tr h="659574">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r>
                            <a:rPr kumimoji="0"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Interaction &amp; Session</a:t>
                          </a: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oMath>
                          </a14:m>
                          <a:r>
                            <a:rPr kumimoji="0" lang="en-US"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 </a:t>
                          </a:r>
                          <a14:m>
                            <m:oMath xmlns:m="http://schemas.openxmlformats.org/officeDocument/2006/math">
                              <m:r>
                                <a:rPr lang="ar-AE" altLang="zh-TW" sz="2400" b="0" i="1" smtClean="0">
                                  <a:latin typeface="Cambria Math" panose="02040503050406030204" pitchFamily="18" charset="0"/>
                                </a:rPr>
                                <m:t>𝑖</m:t>
                              </m:r>
                              <m:r>
                                <a:rPr lang="ar-AE" altLang="zh-TW" sz="2400" b="0" i="1" smtClean="0">
                                  <a:latin typeface="Cambria Math" panose="02040503050406030204" pitchFamily="18" charset="0"/>
                                  <a:ea typeface="Cambria Math" panose="02040503050406030204" pitchFamily="18" charset="0"/>
                                </a:rPr>
                                <m:t>∈{1,…,</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en-US" altLang="zh-TW" sz="2400" b="0" i="1" smtClean="0">
                                      <a:latin typeface="Cambria Math" panose="02040503050406030204" pitchFamily="18" charset="0"/>
                                      <a:ea typeface="Cambria Math" panose="02040503050406030204" pitchFamily="18" charset="0"/>
                                    </a:rPr>
                                    <m:t>𝑐</m:t>
                                  </m:r>
                                </m:sub>
                              </m:sSub>
                              <m:r>
                                <a:rPr lang="ar-AE" altLang="zh-TW" sz="2400" b="0" i="1" smtClean="0">
                                  <a:latin typeface="Cambria Math" panose="02040503050406030204" pitchFamily="18" charset="0"/>
                                  <a:ea typeface="Cambria Math" panose="02040503050406030204" pitchFamily="18" charset="0"/>
                                </a:rPr>
                                <m:t>}</m:t>
                              </m:r>
                            </m:oMath>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lvl="1" algn="l" defTabSz="914400"/>
                          <a:r>
                            <a:rPr lang="en-US" sz="2400" b="0" i="0" dirty="0">
                              <a:latin typeface="Times New Roman" panose="02020603050405020304" pitchFamily="18" charset="0"/>
                              <a:cs typeface="Times New Roman" panose="02020603050405020304" pitchFamily="18" charset="0"/>
                            </a:rPr>
                            <a:t>The </a:t>
                          </a:r>
                          <a:r>
                            <a:rPr lang="en-US" sz="2400" b="0" i="0" dirty="0" err="1">
                              <a:latin typeface="Times New Roman" panose="02020603050405020304" pitchFamily="18" charset="0"/>
                              <a:cs typeface="Times New Roman" panose="02020603050405020304" pitchFamily="18" charset="0"/>
                            </a:rPr>
                            <a:t>i-th</a:t>
                          </a:r>
                          <a:r>
                            <a:rPr lang="en-US" sz="2400" b="0" i="0" dirty="0">
                              <a:latin typeface="Times New Roman" panose="02020603050405020304" pitchFamily="18" charset="0"/>
                              <a:cs typeface="Times New Roman" panose="02020603050405020304" pitchFamily="18" charset="0"/>
                            </a:rPr>
                            <a:t> command issued by the attacker</a:t>
                          </a:r>
                        </a:p>
                      </a:txBody>
                      <a:tcPr marL="50800" marR="50800" marT="50800" marB="50800" anchor="ctr" horzOverflow="overflow"/>
                    </a:tc>
                    <a:extLst>
                      <a:ext uri="{0D108BD9-81ED-4DB2-BD59-A6C34878D82A}">
                        <a16:rowId xmlns:a16="http://schemas.microsoft.com/office/drawing/2014/main" val="10001"/>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𝒞</m:t>
                                    </m:r>
                                  </m:e>
                                  <m:sub>
                                    <m:r>
                                      <a:rPr lang="en-US" altLang="zh-TW" sz="2400" b="0" i="1" smtClean="0">
                                        <a:latin typeface="Cambria Math" panose="02040503050406030204" pitchFamily="18" charset="0"/>
                                      </a:rPr>
                                      <m:t>𝑖</m:t>
                                    </m:r>
                                  </m:sub>
                                </m:sSub>
                                <m:r>
                                  <a:rPr lang="ar-AE"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𝑘</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Recent attack command context observed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785228772"/>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𝑖</m:t>
                                    </m:r>
                                  </m:sub>
                                </m:sSub>
                              </m:oMath>
                            </m:oMathPara>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Response observed by the attacker after executing</a:t>
                          </a:r>
                          <a:r>
                            <a:rPr lang="zh-TW" altLang="en-US" sz="2400" b="0" i="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oMath>
                          </a14:m>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462559297"/>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𝐶</m:t>
                                    </m:r>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 of commands in one engagement session</a:t>
                          </a:r>
                        </a:p>
                      </a:txBody>
                      <a:tcPr marL="50800" marR="50800" marT="50800" marB="50800" anchor="ctr" horzOverflow="overflow"/>
                    </a:tc>
                    <a:extLst>
                      <a:ext uri="{0D108BD9-81ED-4DB2-BD59-A6C34878D82A}">
                        <a16:rowId xmlns:a16="http://schemas.microsoft.com/office/drawing/2014/main" val="1532859057"/>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𝑘</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command context window size</a:t>
                          </a:r>
                        </a:p>
                      </a:txBody>
                      <a:tcPr marL="50800" marR="50800" marT="50800" marB="50800" anchor="ctr" horzOverflow="overflow"/>
                    </a:tc>
                    <a:extLst>
                      <a:ext uri="{0D108BD9-81ED-4DB2-BD59-A6C34878D82A}">
                        <a16:rowId xmlns:a16="http://schemas.microsoft.com/office/drawing/2014/main" val="1277606011"/>
                      </a:ext>
                    </a:extLst>
                  </a:tr>
                  <a:tr h="659574">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Honeynet &amp; Environment</a:t>
                          </a:r>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altLang="zh-TW" sz="2400" b="0" i="1" smtClean="0">
                                    <a:latin typeface="Cambria Math" panose="02040503050406030204" pitchFamily="18" charset="0"/>
                                    <a:ea typeface="Cambria Math" panose="02040503050406030204" pitchFamily="18" charset="0"/>
                                  </a:rPr>
                                  <m:t>ℋ</m:t>
                                </m:r>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r>
                                      <a:rPr lang="ar-AE" altLang="zh-TW" sz="2400" b="0" i="1" smtClean="0">
                                        <a:latin typeface="Cambria Math" panose="02040503050406030204" pitchFamily="18" charset="0"/>
                                        <a:ea typeface="Cambria Math" panose="02040503050406030204" pitchFamily="18" charset="0"/>
                                      </a:rPr>
                                      <m:t>1</m:t>
                                    </m:r>
                                  </m:sub>
                                </m:sSub>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ar-AE" altLang="zh-TW" sz="2400" b="0" i="1" smtClean="0">
                                            <a:latin typeface="Cambria Math" panose="02040503050406030204" pitchFamily="18" charset="0"/>
                                            <a:ea typeface="Cambria Math" panose="02040503050406030204" pitchFamily="18" charset="0"/>
                                          </a:rPr>
                                          <m:t>𝐻</m:t>
                                        </m:r>
                                      </m:sub>
                                    </m:sSub>
                                  </m:sub>
                                </m:sSub>
                                <m:r>
                                  <a:rPr lang="en-US" altLang="zh-TW" sz="2400" b="0" i="0" smtClean="0">
                                    <a:latin typeface="Cambria Math" panose="02040503050406030204" pitchFamily="18" charset="0"/>
                                    <a:ea typeface="Cambria Math" panose="02040503050406030204" pitchFamily="18" charset="0"/>
                                  </a:rPr>
                                  <m:t>}</m:t>
                                </m:r>
                              </m:oMath>
                            </m:oMathPara>
                          </a14:m>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Set of hosts in the honeynet</a:t>
                          </a:r>
                        </a:p>
                      </a:txBody>
                      <a:tcPr marL="50800" marR="50800" marT="50800" marB="50800" anchor="ctr" horzOverflow="overflow"/>
                    </a:tc>
                    <a:extLst>
                      <a:ext uri="{0D108BD9-81ED-4DB2-BD59-A6C34878D82A}">
                        <a16:rowId xmlns:a16="http://schemas.microsoft.com/office/drawing/2014/main" val="3962610161"/>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r>
                                    <a:rPr lang="en-US" altLang="zh-TW" sz="2400" b="0" i="1" smtClean="0">
                                      <a:latin typeface="Cambria Math" panose="02040503050406030204" pitchFamily="18" charset="0"/>
                                      <a:ea typeface="Cambria Math" panose="02040503050406030204" pitchFamily="18" charset="0"/>
                                    </a:rPr>
                                    <m:t>𝑗</m:t>
                                  </m:r>
                                </m:sub>
                              </m:sSub>
                            </m:oMath>
                          </a14:m>
                          <a:r>
                            <a:rPr lang="en-US" altLang="zh-TW" sz="2400" b="0" i="1"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b="0" i="1" smtClean="0">
                                  <a:latin typeface="Cambria Math" panose="02040503050406030204" pitchFamily="18" charset="0"/>
                                  <a:ea typeface="Cambria Math" panose="02040503050406030204" pitchFamily="18" charset="0"/>
                                </a:rPr>
                                <m:t>𝑗</m:t>
                              </m:r>
                              <m:r>
                                <a:rPr lang="ar-AE"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1</m:t>
                              </m:r>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en-US" altLang="zh-TW" sz="2400" b="0" i="1" smtClean="0">
                                      <a:latin typeface="Cambria Math" panose="02040503050406030204" pitchFamily="18" charset="0"/>
                                      <a:ea typeface="Cambria Math" panose="02040503050406030204" pitchFamily="18" charset="0"/>
                                    </a:rPr>
                                    <m:t>𝐻</m:t>
                                  </m:r>
                                </m:sub>
                              </m:sSub>
                              <m:r>
                                <a:rPr lang="ar-AE" altLang="zh-TW" sz="2400" b="0" i="1" smtClean="0">
                                  <a:latin typeface="Cambria Math" panose="02040503050406030204" pitchFamily="18" charset="0"/>
                                  <a:ea typeface="Cambria Math" panose="02040503050406030204" pitchFamily="18" charset="0"/>
                                </a:rPr>
                                <m:t>}</m:t>
                              </m:r>
                            </m:oMath>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A honeynet host (DC, web, mail, client, etc.)</a:t>
                          </a:r>
                        </a:p>
                      </a:txBody>
                      <a:tcPr marL="50800" marR="50800" marT="50800" marB="50800" anchor="ctr" horzOverflow="overflow"/>
                    </a:tc>
                    <a:extLst>
                      <a:ext uri="{0D108BD9-81ED-4DB2-BD59-A6C34878D82A}">
                        <a16:rowId xmlns:a16="http://schemas.microsoft.com/office/drawing/2014/main" val="1227135717"/>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𝐻</m:t>
                                    </m:r>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Number of computer host in the honeynet</a:t>
                          </a:r>
                        </a:p>
                      </a:txBody>
                      <a:tcPr marL="50800" marR="50800" marT="50800" marB="50800" anchor="ctr" horzOverflow="overflow"/>
                    </a:tc>
                    <a:extLst>
                      <a:ext uri="{0D108BD9-81ED-4DB2-BD59-A6C34878D82A}">
                        <a16:rowId xmlns:a16="http://schemas.microsoft.com/office/drawing/2014/main" val="3887981215"/>
                      </a:ext>
                    </a:extLst>
                  </a:tr>
                  <a:tr h="659574">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LLM Agent &amp; Planning</a:t>
                          </a:r>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Engagement strategy selected by the Strategist LLM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106355885"/>
                      </a:ext>
                    </a:extLst>
                  </a:tr>
                  <a:tr h="659574">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𝑖</m:t>
                                    </m:r>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Subset of MCP tools selected by the Strategist LLM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649795806"/>
                      </a:ext>
                    </a:extLst>
                  </a:tr>
                  <a:tr h="659574">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𝑠𝑡𝑟𝑎𝑡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𝒞</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𝑙</m:t>
                                    </m:r>
                                  </m:sub>
                                </m:sSub>
                                <m:r>
                                  <a:rPr lang="en-US"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Maps command context and available tools to strategy and selected tools</a:t>
                          </a:r>
                        </a:p>
                      </a:txBody>
                      <a:tcPr marL="50800" marR="50800" marT="50800" marB="50800" anchor="ctr" horzOverflow="overflow"/>
                    </a:tc>
                    <a:extLst>
                      <a:ext uri="{0D108BD9-81ED-4DB2-BD59-A6C34878D82A}">
                        <a16:rowId xmlns:a16="http://schemas.microsoft.com/office/drawing/2014/main" val="2965194206"/>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r>
                                  <a:rPr lang="ar-AE" altLang="zh-TW" sz="2400" b="0" i="1" smtClean="0">
                                    <a:latin typeface="Cambria Math" panose="02040503050406030204" pitchFamily="18" charset="0"/>
                                  </a:rPr>
                                  <m:t>=</m:t>
                                </m:r>
                                <m:d>
                                  <m:dPr>
                                    <m:ctrlPr>
                                      <a:rPr lang="ar-AE" altLang="zh-TW" sz="2400" b="0" i="1" smtClean="0">
                                        <a:latin typeface="Cambria Math" panose="02040503050406030204" pitchFamily="18" charset="0"/>
                                      </a:rPr>
                                    </m:ctrlPr>
                                  </m:dPr>
                                  <m:e>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𝑝</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𝑝</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𝑝</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e>
                                </m:d>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𝑝𝑙𝑎𝑛</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𝑠</m:t>
                                    </m:r>
                                  </m:sub>
                                </m:sSub>
                                <m:r>
                                  <a:rPr lang="en-US" altLang="zh-TW" sz="2400" b="0" i="1" smtClean="0">
                                    <a:latin typeface="Cambria Math" panose="02040503050406030204" pitchFamily="18" charset="0"/>
                                  </a:rPr>
                                  <m:t>)</m:t>
                                </m:r>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Generated execution plans by the Planner LLM,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𝑝</m:t>
                                  </m:r>
                                </m:e>
                                <m:sub>
                                  <m:r>
                                    <a:rPr lang="en-US" altLang="zh-TW" sz="2400" b="0" i="1" smtClean="0">
                                      <a:latin typeface="Cambria Math" panose="02040503050406030204" pitchFamily="18" charset="0"/>
                                      <a:cs typeface="Times New Roman" panose="02020603050405020304" pitchFamily="18" charset="0"/>
                                    </a:rPr>
                                    <m:t>𝑗</m:t>
                                  </m:r>
                                </m:sub>
                              </m:sSub>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b="0" i="0" dirty="0">
                              <a:latin typeface="Times New Roman" panose="02020603050405020304" pitchFamily="18" charset="0"/>
                              <a:cs typeface="Times New Roman" panose="02020603050405020304" pitchFamily="18" charset="0"/>
                            </a:rPr>
                            <a:t> if no action is assigned to host </a:t>
                          </a:r>
                          <a14:m>
                            <m:oMath xmlns:m="http://schemas.openxmlformats.org/officeDocument/2006/math">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r>
                                    <a:rPr lang="en-US" altLang="zh-TW" sz="2400" b="0" i="1" smtClean="0">
                                      <a:latin typeface="Cambria Math" panose="02040503050406030204" pitchFamily="18" charset="0"/>
                                      <a:ea typeface="Cambria Math" panose="02040503050406030204" pitchFamily="18" charset="0"/>
                                    </a:rPr>
                                    <m:t>𝑗</m:t>
                                  </m:r>
                                </m:sub>
                              </m:sSub>
                            </m:oMath>
                          </a14:m>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485193405"/>
                      </a:ext>
                    </a:extLst>
                  </a:tr>
                  <a:tr h="659574">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MCP &amp; Execution</a:t>
                          </a: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𝑇</m:t>
                                    </m:r>
                                  </m:e>
                                  <m:sub>
                                    <m:r>
                                      <a:rPr lang="en-US" altLang="zh-TW" sz="2400" b="0" i="1" smtClean="0">
                                        <a:latin typeface="Cambria Math" panose="02040503050406030204" pitchFamily="18" charset="0"/>
                                        <a:cs typeface="Times New Roman" panose="02020603050405020304" pitchFamily="18" charset="0"/>
                                      </a:rPr>
                                      <m:t>𝑙</m:t>
                                    </m:r>
                                  </m:sub>
                                </m:sSub>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set of available MCP tools</a:t>
                          </a:r>
                        </a:p>
                      </a:txBody>
                      <a:tcPr marL="50800" marR="50800" marT="50800" marB="50800" anchor="ctr" horzOverflow="overflow"/>
                    </a:tc>
                    <a:extLst>
                      <a:ext uri="{0D108BD9-81ED-4DB2-BD59-A6C34878D82A}">
                        <a16:rowId xmlns:a16="http://schemas.microsoft.com/office/drawing/2014/main" val="2742165816"/>
                      </a:ext>
                    </a:extLst>
                  </a:tr>
                  <a:tr h="659574">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𝑇</m:t>
                                    </m:r>
                                  </m:e>
                                  <m:sub>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𝑠</m:t>
                                    </m:r>
                                  </m:sub>
                                </m:sSub>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set of MCP tool specifications</a:t>
                          </a:r>
                        </a:p>
                      </a:txBody>
                      <a:tcPr marL="50800" marR="50800" marT="50800" marB="50800" anchor="ctr" horzOverflow="overflow"/>
                    </a:tc>
                    <a:extLst>
                      <a:ext uri="{0D108BD9-81ED-4DB2-BD59-A6C34878D82A}">
                        <a16:rowId xmlns:a16="http://schemas.microsoft.com/office/drawing/2014/main" val="3518048059"/>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ar-AE" altLang="zh-TW" sz="2400" b="0" i="1" smtClean="0">
                                    <a:latin typeface="Cambria Math" panose="02040503050406030204" pitchFamily="18" charset="0"/>
                                  </a:rPr>
                                  <m:t>=</m:t>
                                </m:r>
                                <m:d>
                                  <m:dPr>
                                    <m:ctrlPr>
                                      <a:rPr lang="ar-AE" altLang="zh-TW" sz="2400" b="0" i="1" smtClean="0">
                                        <a:latin typeface="Cambria Math" panose="02040503050406030204" pitchFamily="18" charset="0"/>
                                      </a:rPr>
                                    </m:ctrlPr>
                                  </m:dPr>
                                  <m:e>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𝑅𝑒𝑛𝑑𝑒𝑟</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r>
                                  <a:rPr lang="en-US"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Executable scripts rendered from plans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oMath>
                          </a14:m>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723243793"/>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altLang="zh-TW" sz="2400" b="0" i="1" smtClean="0">
                                    <a:latin typeface="Cambria Math" panose="02040503050406030204" pitchFamily="18" charset="0"/>
                                  </a:rPr>
                                  <m:t>𝐸</m:t>
                                </m:r>
                                <m:r>
                                  <a:rPr lang="ar-AE" altLang="zh-TW" sz="2400" b="0" i="1" smtClean="0">
                                    <a:latin typeface="Cambria Math" panose="02040503050406030204" pitchFamily="18" charset="0"/>
                                  </a:rPr>
                                  <m:t>=</m:t>
                                </m:r>
                                <m:d>
                                  <m:dPr>
                                    <m:ctrlPr>
                                      <a:rPr lang="ar-AE" altLang="zh-TW" sz="2400" b="0" i="1" smtClean="0">
                                        <a:latin typeface="Cambria Math" panose="02040503050406030204" pitchFamily="18" charset="0"/>
                                      </a:rPr>
                                    </m:ctrlPr>
                                  </m:dPr>
                                  <m:e>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𝐸𝑥𝑒𝑐</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Execution results of scripts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oMath>
                          </a14:m>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704602304"/>
                      </a:ext>
                    </a:extLst>
                  </a:tr>
                </a:tbl>
              </a:graphicData>
            </a:graphic>
          </p:graphicFrame>
        </mc:Choice>
        <mc:Fallback xmlns="">
          <p:graphicFrame>
            <p:nvGraphicFramePr>
              <p:cNvPr id="210" name="表格 1">
                <a:extLst>
                  <a:ext uri="{FF2B5EF4-FFF2-40B4-BE49-F238E27FC236}">
                    <a16:creationId xmlns:a16="http://schemas.microsoft.com/office/drawing/2014/main" id="{30EAE66B-ADBF-522C-A72D-C1B290CCEF40}"/>
                  </a:ext>
                </a:extLst>
              </p:cNvPr>
              <p:cNvGraphicFramePr/>
              <p:nvPr>
                <p:extLst>
                  <p:ext uri="{D42A27DB-BD31-4B8C-83A1-F6EECF244321}">
                    <p14:modId xmlns:p14="http://schemas.microsoft.com/office/powerpoint/2010/main" val="3615387669"/>
                  </p:ext>
                </p:extLst>
              </p:nvPr>
            </p:nvGraphicFramePr>
            <p:xfrm>
              <a:off x="1166164" y="2263708"/>
              <a:ext cx="22051672" cy="11142464"/>
            </p:xfrm>
            <a:graphic>
              <a:graphicData uri="http://schemas.openxmlformats.org/drawingml/2006/table">
                <a:tbl>
                  <a:tblPr>
                    <a:tableStyleId>{4C3C2611-4C71-4FC5-86AE-919BDF0F9419}</a:tableStyleId>
                  </a:tblPr>
                  <a:tblGrid>
                    <a:gridCol w="3576495">
                      <a:extLst>
                        <a:ext uri="{9D8B030D-6E8A-4147-A177-3AD203B41FA5}">
                          <a16:colId xmlns:a16="http://schemas.microsoft.com/office/drawing/2014/main" val="868843476"/>
                        </a:ext>
                      </a:extLst>
                    </a:gridCol>
                    <a:gridCol w="6105884">
                      <a:extLst>
                        <a:ext uri="{9D8B030D-6E8A-4147-A177-3AD203B41FA5}">
                          <a16:colId xmlns:a16="http://schemas.microsoft.com/office/drawing/2014/main" val="20001"/>
                        </a:ext>
                      </a:extLst>
                    </a:gridCol>
                    <a:gridCol w="12369293">
                      <a:extLst>
                        <a:ext uri="{9D8B030D-6E8A-4147-A177-3AD203B41FA5}">
                          <a16:colId xmlns:a16="http://schemas.microsoft.com/office/drawing/2014/main" val="20002"/>
                        </a:ext>
                      </a:extLst>
                    </a:gridCol>
                  </a:tblGrid>
                  <a:tr h="589280">
                    <a:tc>
                      <a:txBody>
                        <a:bodyPr/>
                        <a:lstStyle/>
                        <a:p>
                          <a:pPr defTabSz="914400"/>
                          <a:r>
                            <a:rPr lang="en-US" altLang="zh-TW" sz="3200" b="0" i="0" dirty="0">
                              <a:latin typeface="Times New Roman" panose="02020603050405020304" pitchFamily="18" charset="0"/>
                              <a:cs typeface="Times New Roman" panose="02020603050405020304" pitchFamily="18" charset="0"/>
                            </a:rPr>
                            <a:t>Categories</a:t>
                          </a:r>
                          <a:endParaRPr sz="32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Notation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Description</a:t>
                          </a:r>
                        </a:p>
                      </a:txBody>
                      <a:tcPr marL="50800" marR="50800" marT="50800" marB="50800" anchor="ctr" horzOverflow="overflow"/>
                    </a:tc>
                    <a:extLst>
                      <a:ext uri="{0D108BD9-81ED-4DB2-BD59-A6C34878D82A}">
                        <a16:rowId xmlns:a16="http://schemas.microsoft.com/office/drawing/2014/main" val="10000"/>
                      </a:ext>
                    </a:extLst>
                  </a:tr>
                  <a:tr h="659574">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r>
                            <a:rPr kumimoji="0"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Interaction &amp; Session</a:t>
                          </a: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100000" r="-202911" b="-1505769"/>
                          </a:stretch>
                        </a:blipFill>
                      </a:tcPr>
                    </a:tc>
                    <a:tc>
                      <a:txBody>
                        <a:bodyPr/>
                        <a:lstStyle/>
                        <a:p>
                          <a:pPr lvl="1" algn="l" defTabSz="914400"/>
                          <a:r>
                            <a:rPr lang="en-US" sz="2400" b="0" i="0" dirty="0">
                              <a:latin typeface="Times New Roman" panose="02020603050405020304" pitchFamily="18" charset="0"/>
                              <a:cs typeface="Times New Roman" panose="02020603050405020304" pitchFamily="18" charset="0"/>
                            </a:rPr>
                            <a:t>The </a:t>
                          </a:r>
                          <a:r>
                            <a:rPr lang="en-US" sz="2400" b="0" i="0" dirty="0" err="1">
                              <a:latin typeface="Times New Roman" panose="02020603050405020304" pitchFamily="18" charset="0"/>
                              <a:cs typeface="Times New Roman" panose="02020603050405020304" pitchFamily="18" charset="0"/>
                            </a:rPr>
                            <a:t>i-th</a:t>
                          </a:r>
                          <a:r>
                            <a:rPr lang="en-US" sz="2400" b="0" i="0" dirty="0">
                              <a:latin typeface="Times New Roman" panose="02020603050405020304" pitchFamily="18" charset="0"/>
                              <a:cs typeface="Times New Roman" panose="02020603050405020304" pitchFamily="18" charset="0"/>
                            </a:rPr>
                            <a:t> command issued by the attacker</a:t>
                          </a:r>
                        </a:p>
                      </a:txBody>
                      <a:tcPr marL="50800" marR="50800" marT="50800" marB="50800" anchor="ctr" horzOverflow="overflow"/>
                    </a:tc>
                    <a:extLst>
                      <a:ext uri="{0D108BD9-81ED-4DB2-BD59-A6C34878D82A}">
                        <a16:rowId xmlns:a16="http://schemas.microsoft.com/office/drawing/2014/main" val="10001"/>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200000" r="-202911" b="-1405769"/>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Recent attack command context observed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785228772"/>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300000" r="-202911" b="-1305769"/>
                          </a:stretch>
                        </a:blipFill>
                      </a:tcPr>
                    </a:tc>
                    <a:tc>
                      <a:txBody>
                        <a:bodyPr/>
                        <a:lstStyle/>
                        <a:p>
                          <a:endParaRPr lang="zh-TW"/>
                        </a:p>
                      </a:txBody>
                      <a:tcPr marL="50800" marR="50800" marT="50800" marB="50800" anchor="ctr" horzOverflow="overflow">
                        <a:blipFill>
                          <a:blip r:embed="rId3"/>
                          <a:stretch>
                            <a:fillRect l="-78256" t="-300000" r="-103" b="-1305769"/>
                          </a:stretch>
                        </a:blipFill>
                      </a:tcPr>
                    </a:tc>
                    <a:extLst>
                      <a:ext uri="{0D108BD9-81ED-4DB2-BD59-A6C34878D82A}">
                        <a16:rowId xmlns:a16="http://schemas.microsoft.com/office/drawing/2014/main" val="1462559297"/>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400000" r="-202911" b="-1205769"/>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 of commands in one engagement session</a:t>
                          </a:r>
                        </a:p>
                      </a:txBody>
                      <a:tcPr marL="50800" marR="50800" marT="50800" marB="50800" anchor="ctr" horzOverflow="overflow"/>
                    </a:tc>
                    <a:extLst>
                      <a:ext uri="{0D108BD9-81ED-4DB2-BD59-A6C34878D82A}">
                        <a16:rowId xmlns:a16="http://schemas.microsoft.com/office/drawing/2014/main" val="1532859057"/>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500000" r="-202911" b="-1105769"/>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command context window size</a:t>
                          </a:r>
                        </a:p>
                      </a:txBody>
                      <a:tcPr marL="50800" marR="50800" marT="50800" marB="50800" anchor="ctr" horzOverflow="overflow"/>
                    </a:tc>
                    <a:extLst>
                      <a:ext uri="{0D108BD9-81ED-4DB2-BD59-A6C34878D82A}">
                        <a16:rowId xmlns:a16="http://schemas.microsoft.com/office/drawing/2014/main" val="1277606011"/>
                      </a:ext>
                    </a:extLst>
                  </a:tr>
                  <a:tr h="659574">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Honeynet &amp; Environment</a:t>
                          </a:r>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600000" r="-202911" b="-1005769"/>
                          </a:stretch>
                        </a:blipFill>
                      </a:tcPr>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Set of hosts in the honeynet</a:t>
                          </a:r>
                        </a:p>
                      </a:txBody>
                      <a:tcPr marL="50800" marR="50800" marT="50800" marB="50800" anchor="ctr" horzOverflow="overflow"/>
                    </a:tc>
                    <a:extLst>
                      <a:ext uri="{0D108BD9-81ED-4DB2-BD59-A6C34878D82A}">
                        <a16:rowId xmlns:a16="http://schemas.microsoft.com/office/drawing/2014/main" val="3962610161"/>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700000" r="-202911" b="-905769"/>
                          </a:stretch>
                        </a:blipFill>
                      </a:tcPr>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A honeynet host (DC, web, mail, client, etc.)</a:t>
                          </a:r>
                        </a:p>
                      </a:txBody>
                      <a:tcPr marL="50800" marR="50800" marT="50800" marB="50800" anchor="ctr" horzOverflow="overflow"/>
                    </a:tc>
                    <a:extLst>
                      <a:ext uri="{0D108BD9-81ED-4DB2-BD59-A6C34878D82A}">
                        <a16:rowId xmlns:a16="http://schemas.microsoft.com/office/drawing/2014/main" val="1227135717"/>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800000" r="-202911" b="-805769"/>
                          </a:stretch>
                        </a:blipFill>
                      </a:tcPr>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Number of computer host in the honeynet</a:t>
                          </a:r>
                        </a:p>
                      </a:txBody>
                      <a:tcPr marL="50800" marR="50800" marT="50800" marB="50800" anchor="ctr" horzOverflow="overflow"/>
                    </a:tc>
                    <a:extLst>
                      <a:ext uri="{0D108BD9-81ED-4DB2-BD59-A6C34878D82A}">
                        <a16:rowId xmlns:a16="http://schemas.microsoft.com/office/drawing/2014/main" val="3887981215"/>
                      </a:ext>
                    </a:extLst>
                  </a:tr>
                  <a:tr h="659574">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LLM Agent &amp; Planning</a:t>
                          </a:r>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900000" r="-202911" b="-705769"/>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Engagement strategy selected by the Strategist LLM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106355885"/>
                      </a:ext>
                    </a:extLst>
                  </a:tr>
                  <a:tr h="659574">
                    <a:tc vMerge="1">
                      <a:txBody>
                        <a:bodyPr/>
                        <a:lstStyle/>
                        <a:p>
                          <a:endParaRPr lang="zh-TW" altLang="en-US"/>
                        </a:p>
                      </a:txBody>
                      <a:tcPr/>
                    </a:tc>
                    <a:tc>
                      <a:txBody>
                        <a:bodyPr/>
                        <a:lstStyle/>
                        <a:p>
                          <a:endParaRPr lang="zh-TW"/>
                        </a:p>
                      </a:txBody>
                      <a:tcPr marL="50800" marR="50800" marT="50800" marB="50800" anchor="ctr" horzOverflow="overflow">
                        <a:blipFill>
                          <a:blip r:embed="rId3"/>
                          <a:stretch>
                            <a:fillRect l="-58628" t="-1000000" r="-202911" b="-605769"/>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Subset of MCP tools selected by the Strategist LLM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649795806"/>
                      </a:ext>
                    </a:extLst>
                  </a:tr>
                  <a:tr h="659574">
                    <a:tc vMerge="1">
                      <a:txBody>
                        <a:bodyPr/>
                        <a:lstStyle/>
                        <a:p>
                          <a:endParaRPr lang="zh-TW" altLang="en-US"/>
                        </a:p>
                      </a:txBody>
                      <a:tcPr/>
                    </a:tc>
                    <a:tc>
                      <a:txBody>
                        <a:bodyPr/>
                        <a:lstStyle/>
                        <a:p>
                          <a:endParaRPr lang="zh-TW"/>
                        </a:p>
                      </a:txBody>
                      <a:tcPr marL="50800" marR="50800" marT="50800" marB="50800" anchor="ctr" horzOverflow="overflow">
                        <a:blipFill>
                          <a:blip r:embed="rId3"/>
                          <a:stretch>
                            <a:fillRect l="-58628" t="-1100000" r="-202911" b="-505769"/>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Maps command context and available tools to strategy and selected tools</a:t>
                          </a:r>
                        </a:p>
                      </a:txBody>
                      <a:tcPr marL="50800" marR="50800" marT="50800" marB="50800" anchor="ctr" horzOverflow="overflow"/>
                    </a:tc>
                    <a:extLst>
                      <a:ext uri="{0D108BD9-81ED-4DB2-BD59-A6C34878D82A}">
                        <a16:rowId xmlns:a16="http://schemas.microsoft.com/office/drawing/2014/main" val="2965194206"/>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1200000" r="-202911" b="-405769"/>
                          </a:stretch>
                        </a:blipFill>
                      </a:tcPr>
                    </a:tc>
                    <a:tc>
                      <a:txBody>
                        <a:bodyPr/>
                        <a:lstStyle/>
                        <a:p>
                          <a:endParaRPr lang="zh-TW"/>
                        </a:p>
                      </a:txBody>
                      <a:tcPr marL="50800" marR="50800" marT="50800" marB="50800" anchor="ctr" horzOverflow="overflow">
                        <a:blipFill>
                          <a:blip r:embed="rId3"/>
                          <a:stretch>
                            <a:fillRect l="-78256" t="-1200000" r="-103" b="-405769"/>
                          </a:stretch>
                        </a:blipFill>
                      </a:tcPr>
                    </a:tc>
                    <a:extLst>
                      <a:ext uri="{0D108BD9-81ED-4DB2-BD59-A6C34878D82A}">
                        <a16:rowId xmlns:a16="http://schemas.microsoft.com/office/drawing/2014/main" val="3485193405"/>
                      </a:ext>
                    </a:extLst>
                  </a:tr>
                  <a:tr h="659574">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MCP &amp; Execution</a:t>
                          </a: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1300000" r="-202911" b="-305769"/>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set of available MCP tools</a:t>
                          </a:r>
                        </a:p>
                      </a:txBody>
                      <a:tcPr marL="50800" marR="50800" marT="50800" marB="50800" anchor="ctr" horzOverflow="overflow"/>
                    </a:tc>
                    <a:extLst>
                      <a:ext uri="{0D108BD9-81ED-4DB2-BD59-A6C34878D82A}">
                        <a16:rowId xmlns:a16="http://schemas.microsoft.com/office/drawing/2014/main" val="2742165816"/>
                      </a:ext>
                    </a:extLst>
                  </a:tr>
                  <a:tr h="659574">
                    <a:tc vMerge="1">
                      <a:txBody>
                        <a:bodyPr/>
                        <a:lstStyle/>
                        <a:p>
                          <a:endParaRPr lang="zh-TW" altLang="en-US" dirty="0"/>
                        </a:p>
                      </a:txBody>
                      <a:tcPr/>
                    </a:tc>
                    <a:tc>
                      <a:txBody>
                        <a:bodyPr/>
                        <a:lstStyle/>
                        <a:p>
                          <a:endParaRPr lang="zh-TW"/>
                        </a:p>
                      </a:txBody>
                      <a:tcPr marL="50800" marR="50800" marT="50800" marB="50800" anchor="ctr" horzOverflow="overflow">
                        <a:blipFill>
                          <a:blip r:embed="rId3"/>
                          <a:stretch>
                            <a:fillRect l="-58628" t="-1400000" r="-202911" b="-205769"/>
                          </a:stretch>
                        </a:blipFill>
                      </a:tcPr>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set of MCP tool specifications</a:t>
                          </a:r>
                        </a:p>
                      </a:txBody>
                      <a:tcPr marL="50800" marR="50800" marT="50800" marB="50800" anchor="ctr" horzOverflow="overflow"/>
                    </a:tc>
                    <a:extLst>
                      <a:ext uri="{0D108BD9-81ED-4DB2-BD59-A6C34878D82A}">
                        <a16:rowId xmlns:a16="http://schemas.microsoft.com/office/drawing/2014/main" val="3518048059"/>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1500000" r="-202911" b="-105769"/>
                          </a:stretch>
                        </a:blipFill>
                      </a:tcPr>
                    </a:tc>
                    <a:tc>
                      <a:txBody>
                        <a:bodyPr/>
                        <a:lstStyle/>
                        <a:p>
                          <a:endParaRPr lang="zh-TW"/>
                        </a:p>
                      </a:txBody>
                      <a:tcPr marL="50800" marR="50800" marT="50800" marB="50800" anchor="ctr" horzOverflow="overflow">
                        <a:blipFill>
                          <a:blip r:embed="rId3"/>
                          <a:stretch>
                            <a:fillRect l="-78256" t="-1500000" r="-103" b="-105769"/>
                          </a:stretch>
                        </a:blipFill>
                      </a:tcPr>
                    </a:tc>
                    <a:extLst>
                      <a:ext uri="{0D108BD9-81ED-4DB2-BD59-A6C34878D82A}">
                        <a16:rowId xmlns:a16="http://schemas.microsoft.com/office/drawing/2014/main" val="3723243793"/>
                      </a:ext>
                    </a:extLst>
                  </a:tr>
                  <a:tr h="65957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58628" t="-1600000" r="-202911" b="-5769"/>
                          </a:stretch>
                        </a:blipFill>
                      </a:tcPr>
                    </a:tc>
                    <a:tc>
                      <a:txBody>
                        <a:bodyPr/>
                        <a:lstStyle/>
                        <a:p>
                          <a:endParaRPr lang="zh-TW"/>
                        </a:p>
                      </a:txBody>
                      <a:tcPr marL="50800" marR="50800" marT="50800" marB="50800" anchor="ctr" horzOverflow="overflow">
                        <a:blipFill>
                          <a:blip r:embed="rId3"/>
                          <a:stretch>
                            <a:fillRect l="-78256" t="-1600000" r="-103" b="-5769"/>
                          </a:stretch>
                        </a:blipFill>
                      </a:tcPr>
                    </a:tc>
                    <a:extLst>
                      <a:ext uri="{0D108BD9-81ED-4DB2-BD59-A6C34878D82A}">
                        <a16:rowId xmlns:a16="http://schemas.microsoft.com/office/drawing/2014/main" val="3704602304"/>
                      </a:ext>
                    </a:extLst>
                  </a:tr>
                </a:tbl>
              </a:graphicData>
            </a:graphic>
          </p:graphicFrame>
        </mc:Fallback>
      </mc:AlternateContent>
      <p:sp>
        <p:nvSpPr>
          <p:cNvPr id="2" name="投影片編號版面配置區 1">
            <a:extLst>
              <a:ext uri="{FF2B5EF4-FFF2-40B4-BE49-F238E27FC236}">
                <a16:creationId xmlns:a16="http://schemas.microsoft.com/office/drawing/2014/main" id="{27CBC712-8387-DFB9-B597-8A22774FE48E}"/>
              </a:ext>
            </a:extLst>
          </p:cNvPr>
          <p:cNvSpPr>
            <a:spLocks noGrp="1"/>
          </p:cNvSpPr>
          <p:nvPr>
            <p:ph type="sldNum" sz="quarter" idx="2"/>
          </p:nvPr>
        </p:nvSpPr>
        <p:spPr>
          <a:xfrm>
            <a:off x="23547425" y="13026581"/>
            <a:ext cx="359074" cy="379591"/>
          </a:xfrm>
        </p:spPr>
        <p:txBody>
          <a:bodyPr/>
          <a:lstStyle/>
          <a:p>
            <a:fld id="{E7D91E11-075F-3A46-B08C-0FD7A451C1A1}" type="slidenum">
              <a:rPr lang="en-US" altLang="zh-TW" smtClean="0"/>
              <a:t>9</a:t>
            </a:fld>
            <a:endParaRPr lang="zh-TW" altLang="en-US" dirty="0"/>
          </a:p>
        </p:txBody>
      </p:sp>
    </p:spTree>
    <p:extLst>
      <p:ext uri="{BB962C8B-B14F-4D97-AF65-F5344CB8AC3E}">
        <p14:creationId xmlns:p14="http://schemas.microsoft.com/office/powerpoint/2010/main" val="42580943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ECD80-9AC7-DA37-13BB-8450958DDAB8}"/>
            </a:ext>
          </a:extLst>
        </p:cNvPr>
        <p:cNvGrpSpPr/>
        <p:nvPr/>
      </p:nvGrpSpPr>
      <p:grpSpPr>
        <a:xfrm>
          <a:off x="0" y="0"/>
          <a:ext cx="0" cy="0"/>
          <a:chOff x="0" y="0"/>
          <a:chExt cx="0" cy="0"/>
        </a:xfrm>
      </p:grpSpPr>
      <p:sp>
        <p:nvSpPr>
          <p:cNvPr id="223" name="Problem Statement">
            <a:extLst>
              <a:ext uri="{FF2B5EF4-FFF2-40B4-BE49-F238E27FC236}">
                <a16:creationId xmlns:a16="http://schemas.microsoft.com/office/drawing/2014/main" id="{E8F25B79-38FA-7F63-A193-9BEED1BF0243}"/>
              </a:ext>
            </a:extLst>
          </p:cNvPr>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mc:AlternateContent xmlns:mc="http://schemas.openxmlformats.org/markup-compatibility/2006" xmlns:a14="http://schemas.microsoft.com/office/drawing/2010/main">
        <mc:Choice Requires="a14">
          <p:sp>
            <p:nvSpPr>
              <p:cNvPr id="224" name="Input:…">
                <a:extLst>
                  <a:ext uri="{FF2B5EF4-FFF2-40B4-BE49-F238E27FC236}">
                    <a16:creationId xmlns:a16="http://schemas.microsoft.com/office/drawing/2014/main" id="{50FA4889-91F7-712E-66DF-1CE4F0974F8D}"/>
                  </a:ext>
                </a:extLst>
              </p:cNvPr>
              <p:cNvSpPr txBox="1">
                <a:spLocks noGrp="1"/>
              </p:cNvSpPr>
              <p:nvPr>
                <p:ph type="body" idx="1"/>
              </p:nvPr>
            </p:nvSpPr>
            <p:spPr>
              <a:xfrm>
                <a:off x="1206500" y="3440665"/>
                <a:ext cx="21971000" cy="7985359"/>
              </a:xfrm>
              <a:prstGeom prst="rect">
                <a:avLst/>
              </a:prstGeom>
            </p:spPr>
            <p:txBody>
              <a:bodyPr>
                <a:normAutofit/>
              </a:bodyPr>
              <a:lstStyle/>
              <a:p>
                <a:pPr marL="0" indent="0">
                  <a:lnSpc>
                    <a:spcPct val="60000"/>
                  </a:lnSpc>
                  <a:buSzTx/>
                  <a:buNone/>
                </a:pPr>
                <a:r>
                  <a:rPr lang="en-US" sz="4400" dirty="0">
                    <a:latin typeface="Times New Roman" panose="02020603050405020304" pitchFamily="18" charset="0"/>
                    <a:cs typeface="Times New Roman" panose="02020603050405020304" pitchFamily="18" charset="0"/>
                  </a:rPr>
                  <a:t>Input:</a:t>
                </a:r>
              </a:p>
              <a:p>
                <a:pPr lvl="1">
                  <a:lnSpc>
                    <a:spcPct val="30000"/>
                  </a:lnSpc>
                  <a:buFont typeface="Arial" panose="020B0604020202020204" pitchFamily="34" charset="0"/>
                  <a:buChar char="•"/>
                  <a:defRPr sz="4600"/>
                </a:pP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𝒞</m:t>
                        </m:r>
                      </m:e>
                      <m:sub>
                        <m:r>
                          <a:rPr lang="en-US" altLang="zh-TW" sz="3600" i="1">
                            <a:latin typeface="Cambria Math" panose="02040503050406030204" pitchFamily="18" charset="0"/>
                          </a:rPr>
                          <m:t>𝑖</m:t>
                        </m:r>
                      </m:sub>
                    </m:sSub>
                  </m:oMath>
                </a14:m>
                <a:r>
                  <a:rPr lang="ar-AE"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Recent attack command context observed at interaction step </a:t>
                </a:r>
                <a:r>
                  <a:rPr lang="en-US" altLang="zh-TW" sz="3600" i="1" dirty="0" err="1">
                    <a:latin typeface="Times New Roman" panose="02020603050405020304" pitchFamily="18" charset="0"/>
                    <a:cs typeface="Times New Roman" panose="02020603050405020304" pitchFamily="18" charset="0"/>
                  </a:rPr>
                  <a:t>i</a:t>
                </a:r>
                <a:endParaRPr lang="en-US" altLang="zh-TW" sz="3600" i="1" dirty="0">
                  <a:latin typeface="Times New Roman" panose="02020603050405020304" pitchFamily="18" charset="0"/>
                  <a:cs typeface="Times New Roman" panose="02020603050405020304" pitchFamily="18" charset="0"/>
                </a:endParaRPr>
              </a:p>
              <a:p>
                <a:pPr marL="0" indent="0">
                  <a:lnSpc>
                    <a:spcPct val="60000"/>
                  </a:lnSpc>
                  <a:buSzTx/>
                  <a:buNone/>
                </a:pPr>
                <a:r>
                  <a:rPr lang="en-US" sz="4400" dirty="0">
                    <a:latin typeface="Times New Roman" panose="02020603050405020304" pitchFamily="18" charset="0"/>
                    <a:cs typeface="Times New Roman" panose="02020603050405020304" pitchFamily="18" charset="0"/>
                  </a:rPr>
                  <a:t>Output:</a:t>
                </a:r>
              </a:p>
              <a:p>
                <a:pPr lvl="1">
                  <a:lnSpc>
                    <a:spcPct val="60000"/>
                  </a:lnSpc>
                  <a:defRPr sz="4600"/>
                </a:pPr>
                <a14:m>
                  <m:oMath xmlns:m="http://schemas.openxmlformats.org/officeDocument/2006/math">
                    <m:sSub>
                      <m:sSubPr>
                        <m:ctrlPr>
                          <a:rPr lang="ar-AE" altLang="zh-TW" sz="3600" i="1" smtClean="0">
                            <a:latin typeface="Cambria Math" panose="02040503050406030204" pitchFamily="18" charset="0"/>
                          </a:rPr>
                        </m:ctrlPr>
                      </m:sSubPr>
                      <m:e>
                        <m:r>
                          <a:rPr lang="ar-AE" altLang="zh-TW" sz="3600" b="0" i="1" smtClean="0">
                            <a:latin typeface="Cambria Math" panose="02040503050406030204" pitchFamily="18" charset="0"/>
                          </a:rPr>
                          <m:t>𝑅</m:t>
                        </m:r>
                      </m:e>
                      <m:sub>
                        <m:r>
                          <a:rPr lang="ar-AE" altLang="zh-TW" sz="3600" b="0" i="1" smtClean="0">
                            <a:latin typeface="Cambria Math" panose="02040503050406030204" pitchFamily="18" charset="0"/>
                          </a:rPr>
                          <m:t>𝑖</m:t>
                        </m:r>
                      </m:sub>
                    </m:sSub>
                  </m:oMath>
                </a14:m>
                <a:r>
                  <a:rPr lang="ar-AE"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Attacker-observed response induced by the system's execution</a:t>
                </a:r>
                <a:endParaRPr lang="en-US" sz="3600" dirty="0">
                  <a:latin typeface="Times New Roman" panose="02020603050405020304" pitchFamily="18" charset="0"/>
                  <a:cs typeface="Times New Roman" panose="02020603050405020304" pitchFamily="18" charset="0"/>
                </a:endParaRPr>
              </a:p>
              <a:p>
                <a:pPr marL="0" indent="0">
                  <a:lnSpc>
                    <a:spcPct val="60000"/>
                  </a:lnSpc>
                  <a:buSzTx/>
                  <a:buNone/>
                </a:pPr>
                <a:r>
                  <a:rPr lang="en-US" sz="4400" dirty="0">
                    <a:latin typeface="Times New Roman" panose="02020603050405020304" pitchFamily="18" charset="0"/>
                    <a:cs typeface="Times New Roman" panose="02020603050405020304" pitchFamily="18" charset="0"/>
                  </a:rPr>
                  <a:t>Objective:</a:t>
                </a:r>
              </a:p>
              <a:p>
                <a:pPr lvl="1">
                  <a:lnSpc>
                    <a:spcPct val="30000"/>
                  </a:lnSpc>
                  <a:defRPr sz="4600"/>
                </a:pPr>
                <a:r>
                  <a:rPr lang="en-US" altLang="zh-TW" sz="3600" dirty="0">
                    <a:latin typeface="Times New Roman" panose="02020603050405020304" pitchFamily="18" charset="0"/>
                    <a:cs typeface="Times New Roman" panose="02020603050405020304" pitchFamily="18" charset="0"/>
                  </a:rPr>
                  <a:t>Maximize attack depth: </a:t>
                </a:r>
                <a14:m>
                  <m:oMath xmlns:m="http://schemas.openxmlformats.org/officeDocument/2006/math">
                    <m:func>
                      <m:funcPr>
                        <m:ctrlPr>
                          <a:rPr lang="en-US" altLang="zh-TW" sz="3600" i="1" dirty="0" smtClean="0">
                            <a:latin typeface="Cambria Math" panose="02040503050406030204" pitchFamily="18" charset="0"/>
                            <a:cs typeface="Times New Roman" panose="02020603050405020304" pitchFamily="18" charset="0"/>
                          </a:rPr>
                        </m:ctrlPr>
                      </m:funcPr>
                      <m:fName>
                        <m:limLow>
                          <m:limLowPr>
                            <m:ctrlPr>
                              <a:rPr lang="en-US" altLang="zh-TW" sz="3600" i="1" dirty="0" smtClean="0">
                                <a:latin typeface="Cambria Math" panose="02040503050406030204" pitchFamily="18" charset="0"/>
                                <a:cs typeface="Times New Roman" panose="02020603050405020304" pitchFamily="18" charset="0"/>
                              </a:rPr>
                            </m:ctrlPr>
                          </m:limLowPr>
                          <m:e>
                            <m:r>
                              <m:rPr>
                                <m:sty m:val="p"/>
                              </m:rPr>
                              <a:rPr lang="en-US" altLang="zh-TW" sz="3600" i="0" dirty="0" smtClean="0">
                                <a:latin typeface="Cambria Math" panose="02040503050406030204" pitchFamily="18" charset="0"/>
                                <a:cs typeface="Times New Roman" panose="02020603050405020304" pitchFamily="18" charset="0"/>
                              </a:rPr>
                              <m:t>max</m:t>
                            </m:r>
                          </m:e>
                          <m:lim>
                            <m:r>
                              <a:rPr lang="en-US" altLang="zh-TW" sz="3600" b="0" i="1" dirty="0" smtClean="0">
                                <a:latin typeface="Cambria Math" panose="02040503050406030204" pitchFamily="18" charset="0"/>
                                <a:cs typeface="Times New Roman" panose="02020603050405020304" pitchFamily="18" charset="0"/>
                              </a:rPr>
                              <m:t>1≤</m:t>
                            </m:r>
                            <m:r>
                              <a:rPr lang="en-US" altLang="zh-TW" sz="3600" b="0" i="1" dirty="0" smtClean="0">
                                <a:latin typeface="Cambria Math" panose="02040503050406030204" pitchFamily="18" charset="0"/>
                                <a:cs typeface="Times New Roman" panose="02020603050405020304" pitchFamily="18" charset="0"/>
                              </a:rPr>
                              <m:t>𝑖</m:t>
                            </m:r>
                            <m:r>
                              <a:rPr lang="en-US" altLang="zh-TW" sz="3600" b="0" i="1" dirty="0" smtClean="0">
                                <a:latin typeface="Cambria Math" panose="02040503050406030204" pitchFamily="18" charset="0"/>
                                <a:cs typeface="Times New Roman" panose="02020603050405020304" pitchFamily="18" charset="0"/>
                              </a:rPr>
                              <m:t>≤</m:t>
                            </m:r>
                            <m:sSub>
                              <m:sSubPr>
                                <m:ctrlPr>
                                  <a:rPr lang="en-US" altLang="zh-TW" sz="3600" b="0" i="1" dirty="0" smtClean="0">
                                    <a:latin typeface="Cambria Math" panose="02040503050406030204" pitchFamily="18" charset="0"/>
                                    <a:cs typeface="Times New Roman" panose="02020603050405020304" pitchFamily="18" charset="0"/>
                                  </a:rPr>
                                </m:ctrlPr>
                              </m:sSubPr>
                              <m:e>
                                <m:r>
                                  <a:rPr lang="en-US" altLang="zh-TW" sz="3600" b="0" i="1" dirty="0" smtClean="0">
                                    <a:latin typeface="Cambria Math" panose="02040503050406030204" pitchFamily="18" charset="0"/>
                                    <a:cs typeface="Times New Roman" panose="02020603050405020304" pitchFamily="18" charset="0"/>
                                  </a:rPr>
                                  <m:t>𝑁</m:t>
                                </m:r>
                              </m:e>
                              <m:sub>
                                <m:r>
                                  <a:rPr lang="en-US" altLang="zh-TW" sz="3600" b="0" i="1" dirty="0" smtClean="0">
                                    <a:latin typeface="Cambria Math" panose="02040503050406030204" pitchFamily="18" charset="0"/>
                                    <a:cs typeface="Times New Roman" panose="02020603050405020304" pitchFamily="18" charset="0"/>
                                  </a:rPr>
                                  <m:t>𝑐</m:t>
                                </m:r>
                              </m:sub>
                            </m:sSub>
                          </m:lim>
                        </m:limLow>
                      </m:fName>
                      <m:e>
                        <m:sSub>
                          <m:sSubPr>
                            <m:ctrlPr>
                              <a:rPr lang="en-US" altLang="zh-TW" sz="3600" i="1" dirty="0" smtClean="0">
                                <a:latin typeface="Cambria Math" panose="02040503050406030204" pitchFamily="18" charset="0"/>
                                <a:cs typeface="Times New Roman" panose="02020603050405020304" pitchFamily="18" charset="0"/>
                              </a:rPr>
                            </m:ctrlPr>
                          </m:sSubPr>
                          <m:e>
                            <m:r>
                              <a:rPr lang="en-US" altLang="zh-TW" sz="3600" b="0" i="1" dirty="0" smtClean="0">
                                <a:latin typeface="Cambria Math" panose="02040503050406030204" pitchFamily="18" charset="0"/>
                                <a:cs typeface="Times New Roman" panose="02020603050405020304" pitchFamily="18" charset="0"/>
                              </a:rPr>
                              <m:t>𝑠</m:t>
                            </m:r>
                          </m:e>
                          <m:sub>
                            <m:r>
                              <a:rPr lang="en-US" altLang="zh-TW" sz="3600" b="0" i="1" dirty="0" smtClean="0">
                                <a:latin typeface="Cambria Math" panose="02040503050406030204" pitchFamily="18" charset="0"/>
                                <a:cs typeface="Times New Roman" panose="02020603050405020304" pitchFamily="18" charset="0"/>
                              </a:rPr>
                              <m:t>𝑖</m:t>
                            </m:r>
                          </m:sub>
                        </m:sSub>
                      </m:e>
                    </m:func>
                  </m:oMath>
                </a14:m>
                <a:r>
                  <a:rPr lang="en-US" altLang="zh-TW" sz="3600" dirty="0">
                    <a:latin typeface="Times New Roman" panose="02020603050405020304" pitchFamily="18" charset="0"/>
                    <a:cs typeface="Times New Roman" panose="02020603050405020304" pitchFamily="18" charset="0"/>
                  </a:rPr>
                  <a:t>, where </a:t>
                </a:r>
                <a14:m>
                  <m:oMath xmlns:m="http://schemas.openxmlformats.org/officeDocument/2006/math">
                    <m:sSub>
                      <m:sSubPr>
                        <m:ctrlPr>
                          <a:rPr lang="en-US" altLang="zh-TW" sz="3600" i="1" dirty="0" smtClean="0">
                            <a:latin typeface="Cambria Math" panose="02040503050406030204" pitchFamily="18" charset="0"/>
                            <a:cs typeface="Times New Roman" panose="02020603050405020304" pitchFamily="18" charset="0"/>
                          </a:rPr>
                        </m:ctrlPr>
                      </m:sSubPr>
                      <m:e>
                        <m:r>
                          <a:rPr lang="en-US" altLang="zh-TW" sz="3600" b="0" i="1" dirty="0" smtClean="0">
                            <a:latin typeface="Cambria Math" panose="02040503050406030204" pitchFamily="18" charset="0"/>
                            <a:cs typeface="Times New Roman" panose="02020603050405020304" pitchFamily="18" charset="0"/>
                          </a:rPr>
                          <m:t>𝑠</m:t>
                        </m:r>
                      </m:e>
                      <m:sub>
                        <m:r>
                          <a:rPr lang="en-US" altLang="zh-TW" sz="3600" b="0" i="1" dirty="0" smtClean="0">
                            <a:latin typeface="Cambria Math" panose="02040503050406030204" pitchFamily="18" charset="0"/>
                            <a:cs typeface="Times New Roman" panose="02020603050405020304" pitchFamily="18" charset="0"/>
                          </a:rPr>
                          <m:t>𝑖</m:t>
                        </m:r>
                      </m:sub>
                    </m:sSub>
                    <m:r>
                      <a:rPr lang="en-US" altLang="zh-TW" sz="360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3600" i="1" dirty="0">
                        <a:latin typeface="Cambria Math" panose="02040503050406030204" pitchFamily="18" charset="0"/>
                        <a:cs typeface="Times New Roman" panose="02020603050405020304" pitchFamily="18" charset="0"/>
                      </a:rPr>
                      <m:t> {1, 2, . . . , 7} </m:t>
                    </m:r>
                  </m:oMath>
                </a14:m>
                <a:r>
                  <a:rPr lang="en-US" altLang="zh-TW" sz="3600" dirty="0">
                    <a:latin typeface="Times New Roman" panose="02020603050405020304" pitchFamily="18" charset="0"/>
                    <a:cs typeface="Times New Roman" panose="02020603050405020304" pitchFamily="18" charset="0"/>
                  </a:rPr>
                  <a:t>denotes the attack stage reached at step </a:t>
                </a:r>
                <a:r>
                  <a:rPr lang="en-US" altLang="zh-TW" sz="3600" i="1" dirty="0" err="1">
                    <a:latin typeface="Times New Roman" panose="02020603050405020304" pitchFamily="18" charset="0"/>
                    <a:cs typeface="Times New Roman" panose="02020603050405020304" pitchFamily="18" charset="0"/>
                  </a:rPr>
                  <a:t>i</a:t>
                </a:r>
                <a:endParaRPr lang="en-US" altLang="zh-TW" sz="3600" i="1" dirty="0">
                  <a:latin typeface="Times New Roman" panose="02020603050405020304" pitchFamily="18" charset="0"/>
                  <a:cs typeface="Times New Roman" panose="02020603050405020304" pitchFamily="18" charset="0"/>
                </a:endParaRPr>
              </a:p>
              <a:p>
                <a:pPr marL="0" indent="0">
                  <a:lnSpc>
                    <a:spcPct val="60000"/>
                  </a:lnSpc>
                  <a:buSzTx/>
                  <a:buNone/>
                </a:pPr>
                <a:r>
                  <a:rPr lang="en-US" sz="4400" dirty="0">
                    <a:latin typeface="Times New Roman" panose="02020603050405020304" pitchFamily="18" charset="0"/>
                    <a:cs typeface="Times New Roman" panose="02020603050405020304" pitchFamily="18" charset="0"/>
                  </a:rPr>
                  <a:t>Constraint：</a:t>
                </a:r>
              </a:p>
              <a:p>
                <a:pPr lvl="1">
                  <a:lnSpc>
                    <a:spcPct val="30000"/>
                  </a:lnSpc>
                  <a:defRPr sz="4600"/>
                </a:pPr>
                <a:r>
                  <a:rPr lang="en-US" sz="3600" dirty="0">
                    <a:latin typeface="Times New Roman" panose="02020603050405020304" pitchFamily="18" charset="0"/>
                    <a:cs typeface="Times New Roman" panose="02020603050405020304" pitchFamily="18" charset="0"/>
                  </a:rPr>
                  <a:t>Execution reliability: </a:t>
                </a:r>
                <a14:m>
                  <m:oMath xmlns:m="http://schemas.openxmlformats.org/officeDocument/2006/math">
                    <m:f>
                      <m:fPr>
                        <m:ctrlPr>
                          <a:rPr lang="en-US" altLang="zh-TW" sz="3600" i="1" smtClean="0">
                            <a:latin typeface="Cambria Math" panose="02040503050406030204" pitchFamily="18" charset="0"/>
                            <a:cs typeface="Times New Roman" panose="02020603050405020304" pitchFamily="18" charset="0"/>
                          </a:rPr>
                        </m:ctrlPr>
                      </m:fPr>
                      <m:num>
                        <m:nary>
                          <m:naryPr>
                            <m:chr m:val="∑"/>
                            <m:ctrlPr>
                              <a:rPr lang="en-US" altLang="zh-TW" sz="3600" i="1" smtClean="0">
                                <a:latin typeface="Cambria Math" panose="02040503050406030204" pitchFamily="18" charset="0"/>
                                <a:cs typeface="Times New Roman" panose="02020603050405020304" pitchFamily="18" charset="0"/>
                              </a:rPr>
                            </m:ctrlPr>
                          </m:naryPr>
                          <m:sub>
                            <m:r>
                              <m:rPr>
                                <m:brk m:alnAt="23"/>
                              </m:rPr>
                              <a:rPr lang="en-US" altLang="zh-TW" sz="3600" b="0" i="1" smtClean="0">
                                <a:latin typeface="Cambria Math" panose="02040503050406030204" pitchFamily="18" charset="0"/>
                                <a:cs typeface="Times New Roman" panose="02020603050405020304" pitchFamily="18" charset="0"/>
                              </a:rPr>
                              <m:t>1</m:t>
                            </m:r>
                          </m:sub>
                          <m:sup>
                            <m:sSub>
                              <m:sSubPr>
                                <m:ctrlPr>
                                  <a:rPr lang="en-US" altLang="zh-TW" sz="360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𝑁</m:t>
                                </m:r>
                              </m:e>
                              <m:sub>
                                <m:r>
                                  <a:rPr lang="en-US" altLang="zh-TW" sz="3600" b="0" i="1" smtClean="0">
                                    <a:latin typeface="Cambria Math" panose="02040503050406030204" pitchFamily="18" charset="0"/>
                                    <a:cs typeface="Times New Roman" panose="02020603050405020304" pitchFamily="18" charset="0"/>
                                  </a:rPr>
                                  <m:t>𝐻</m:t>
                                </m:r>
                              </m:sub>
                            </m:sSub>
                          </m:sup>
                          <m:e>
                            <m:r>
                              <a:rPr lang="en-US" altLang="zh-TW" sz="3600" b="0" i="1" smtClean="0">
                                <a:latin typeface="Cambria Math" panose="02040503050406030204" pitchFamily="18" charset="0"/>
                                <a:cs typeface="Times New Roman" panose="02020603050405020304" pitchFamily="18" charset="0"/>
                              </a:rPr>
                              <m:t>1</m:t>
                            </m:r>
                          </m:e>
                        </m:nary>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𝑒</m:t>
                            </m:r>
                          </m:e>
                          <m:sub>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𝑠𝑢𝑐𝑐𝑒𝑠𝑠</m:t>
                        </m:r>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m:t>
                        </m:r>
                      </m:num>
                      <m:den>
                        <m:sSub>
                          <m:sSubPr>
                            <m:ctrlPr>
                              <a:rPr lang="en-US" altLang="zh-TW" sz="360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𝑁</m:t>
                            </m:r>
                          </m:e>
                          <m:sub>
                            <m:r>
                              <a:rPr lang="en-US" altLang="zh-TW" sz="3600" b="0" i="1" smtClean="0">
                                <a:latin typeface="Cambria Math" panose="02040503050406030204" pitchFamily="18" charset="0"/>
                                <a:cs typeface="Times New Roman" panose="02020603050405020304" pitchFamily="18" charset="0"/>
                              </a:rPr>
                              <m:t>𝐻</m:t>
                            </m:r>
                          </m:sub>
                        </m:sSub>
                      </m:den>
                    </m:f>
                    <m:r>
                      <a:rPr lang="en-US" altLang="zh-TW" sz="3600" b="0" i="1" smtClean="0">
                        <a:latin typeface="Cambria Math" panose="02040503050406030204" pitchFamily="18" charset="0"/>
                        <a:cs typeface="Times New Roman" panose="02020603050405020304" pitchFamily="18" charset="0"/>
                      </a:rPr>
                      <m:t>&gt;0.9</m:t>
                    </m:r>
                  </m:oMath>
                </a14:m>
                <a:endParaRPr lang="en-US" sz="3600" dirty="0">
                  <a:latin typeface="Times New Roman" panose="02020603050405020304" pitchFamily="18" charset="0"/>
                  <a:cs typeface="Times New Roman" panose="02020603050405020304" pitchFamily="18" charset="0"/>
                </a:endParaRPr>
              </a:p>
              <a:p>
                <a:pPr lvl="1">
                  <a:lnSpc>
                    <a:spcPct val="30000"/>
                  </a:lnSpc>
                  <a:defRPr sz="4600"/>
                </a:pPr>
                <a:r>
                  <a:rPr lang="en-US" sz="3600" dirty="0">
                    <a:latin typeface="Times New Roman" panose="02020603050405020304" pitchFamily="18" charset="0"/>
                    <a:cs typeface="Times New Roman" panose="02020603050405020304" pitchFamily="18" charset="0"/>
                  </a:rPr>
                  <a:t>Real-time response constraints: </a:t>
                </a:r>
                <a14:m>
                  <m:oMath xmlns:m="http://schemas.openxmlformats.org/officeDocument/2006/math">
                    <m:sSub>
                      <m:sSubPr>
                        <m:ctrlPr>
                          <a:rPr lang="en-US" altLang="zh-TW" sz="360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𝑡</m:t>
                        </m:r>
                      </m:e>
                      <m:sub>
                        <m:r>
                          <a:rPr lang="en-US" altLang="zh-TW" sz="3600" b="0" i="1" smtClean="0">
                            <a:latin typeface="Cambria Math" panose="02040503050406030204" pitchFamily="18" charset="0"/>
                            <a:cs typeface="Times New Roman" panose="02020603050405020304" pitchFamily="18" charset="0"/>
                          </a:rPr>
                          <m:t>𝑠𝑡𝑟𝑎𝑡𝑒𝑔𝑖𝑠𝑡</m:t>
                        </m:r>
                      </m:sub>
                    </m:sSub>
                    <m:r>
                      <a:rPr lang="en-US" altLang="zh-TW" sz="3600" b="0" i="1" smtClean="0">
                        <a:latin typeface="Cambria Math" panose="02040503050406030204" pitchFamily="18" charset="0"/>
                        <a:cs typeface="Times New Roman" panose="02020603050405020304" pitchFamily="18" charset="0"/>
                      </a:rPr>
                      <m:t>+</m:t>
                    </m:r>
                    <m:sSub>
                      <m:sSubPr>
                        <m:ctrlPr>
                          <a:rPr lang="en-US" altLang="zh-TW" sz="3600" b="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𝑡</m:t>
                        </m:r>
                      </m:e>
                      <m:sub>
                        <m:r>
                          <a:rPr lang="en-US" altLang="zh-TW" sz="3600" b="0" i="1" smtClean="0">
                            <a:latin typeface="Cambria Math" panose="02040503050406030204" pitchFamily="18" charset="0"/>
                            <a:cs typeface="Times New Roman" panose="02020603050405020304" pitchFamily="18" charset="0"/>
                          </a:rPr>
                          <m:t>𝑝𝑙𝑎𝑛𝑛𝑒𝑟</m:t>
                        </m:r>
                      </m:sub>
                    </m:sSub>
                    <m:r>
                      <a:rPr lang="en-US" altLang="zh-TW" sz="3600" b="0" i="1" smtClean="0">
                        <a:latin typeface="Cambria Math" panose="02040503050406030204" pitchFamily="18" charset="0"/>
                        <a:cs typeface="Times New Roman" panose="02020603050405020304" pitchFamily="18" charset="0"/>
                      </a:rPr>
                      <m:t>+</m:t>
                    </m:r>
                    <m:sSub>
                      <m:sSubPr>
                        <m:ctrlPr>
                          <a:rPr lang="en-US" altLang="zh-TW" sz="3600" b="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𝑡</m:t>
                        </m:r>
                      </m:e>
                      <m:sub>
                        <m:r>
                          <a:rPr lang="en-US" altLang="zh-TW" sz="3600" b="0" i="1" smtClean="0">
                            <a:latin typeface="Cambria Math" panose="02040503050406030204" pitchFamily="18" charset="0"/>
                            <a:cs typeface="Times New Roman" panose="02020603050405020304" pitchFamily="18" charset="0"/>
                          </a:rPr>
                          <m:t>𝑒𝑥𝑒𝑐𝑢𝑡𝑖𝑜𝑛</m:t>
                        </m:r>
                      </m:sub>
                    </m:sSub>
                    <m:r>
                      <a:rPr lang="en-US" altLang="zh-TW" sz="3600" b="0" i="1" smtClean="0">
                        <a:latin typeface="Cambria Math" panose="02040503050406030204" pitchFamily="18" charset="0"/>
                        <a:cs typeface="Times New Roman" panose="02020603050405020304" pitchFamily="18" charset="0"/>
                      </a:rPr>
                      <m:t>≤90(</m:t>
                    </m:r>
                    <m:r>
                      <a:rPr lang="en-US" altLang="zh-TW" sz="3600" b="0" i="1" smtClean="0">
                        <a:latin typeface="Cambria Math" panose="02040503050406030204" pitchFamily="18" charset="0"/>
                        <a:cs typeface="Times New Roman" panose="02020603050405020304" pitchFamily="18" charset="0"/>
                      </a:rPr>
                      <m:t>𝑠𝑒𝑐</m:t>
                    </m:r>
                    <m:r>
                      <a:rPr lang="en-US" altLang="zh-TW" sz="3600" b="0" i="1" smtClean="0">
                        <a:latin typeface="Cambria Math" panose="02040503050406030204" pitchFamily="18" charset="0"/>
                        <a:cs typeface="Times New Roman" panose="02020603050405020304" pitchFamily="18" charset="0"/>
                      </a:rPr>
                      <m:t>)</m:t>
                    </m:r>
                  </m:oMath>
                </a14:m>
                <a:endParaRPr lang="en-US" sz="3600" dirty="0">
                  <a:latin typeface="Times New Roman" panose="02020603050405020304" pitchFamily="18" charset="0"/>
                  <a:cs typeface="Times New Roman" panose="02020603050405020304" pitchFamily="18" charset="0"/>
                </a:endParaRPr>
              </a:p>
              <a:p>
                <a:pPr lvl="1">
                  <a:lnSpc>
                    <a:spcPct val="30000"/>
                  </a:lnSpc>
                  <a:defRPr sz="4600"/>
                </a:pPr>
                <a:endParaRPr lang="en-US" sz="3600" dirty="0">
                  <a:latin typeface="Times New Roman" panose="02020603050405020304" pitchFamily="18" charset="0"/>
                  <a:cs typeface="Times New Roman" panose="02020603050405020304" pitchFamily="18" charset="0"/>
                </a:endParaRPr>
              </a:p>
            </p:txBody>
          </p:sp>
        </mc:Choice>
        <mc:Fallback xmlns="">
          <p:sp>
            <p:nvSpPr>
              <p:cNvPr id="224" name="Input:…">
                <a:extLst>
                  <a:ext uri="{FF2B5EF4-FFF2-40B4-BE49-F238E27FC236}">
                    <a16:creationId xmlns:a16="http://schemas.microsoft.com/office/drawing/2014/main" id="{50FA4889-91F7-712E-66DF-1CE4F0974F8D}"/>
                  </a:ext>
                </a:extLst>
              </p:cNvPr>
              <p:cNvSpPr txBox="1">
                <a:spLocks noGrp="1" noRot="1" noChangeAspect="1" noMove="1" noResize="1" noEditPoints="1" noAdjustHandles="1" noChangeArrowheads="1" noChangeShapeType="1" noTextEdit="1"/>
              </p:cNvSpPr>
              <p:nvPr>
                <p:ph type="body" idx="1"/>
              </p:nvPr>
            </p:nvSpPr>
            <p:spPr>
              <a:xfrm>
                <a:off x="1206500" y="3440665"/>
                <a:ext cx="21971000" cy="7985359"/>
              </a:xfrm>
              <a:prstGeom prst="rect">
                <a:avLst/>
              </a:prstGeom>
              <a:blipFill>
                <a:blip r:embed="rId3"/>
                <a:stretch>
                  <a:fillRect l="-1329" t="-4286"/>
                </a:stretch>
              </a:blipFill>
            </p:spPr>
            <p:txBody>
              <a:bodyPr/>
              <a:lstStyle/>
              <a:p>
                <a:r>
                  <a:rPr lang="zh-TW" altLang="en-US">
                    <a:noFill/>
                  </a:rPr>
                  <a:t> </a:t>
                </a:r>
              </a:p>
            </p:txBody>
          </p:sp>
        </mc:Fallback>
      </mc:AlternateContent>
      <p:sp>
        <p:nvSpPr>
          <p:cNvPr id="2" name="投影片編號版面配置區 1">
            <a:extLst>
              <a:ext uri="{FF2B5EF4-FFF2-40B4-BE49-F238E27FC236}">
                <a16:creationId xmlns:a16="http://schemas.microsoft.com/office/drawing/2014/main" id="{5E5A7C10-5958-CD67-2E12-983E53D51F73}"/>
              </a:ext>
            </a:extLst>
          </p:cNvPr>
          <p:cNvSpPr>
            <a:spLocks noGrp="1"/>
          </p:cNvSpPr>
          <p:nvPr>
            <p:ph type="sldNum" sz="quarter" idx="2"/>
          </p:nvPr>
        </p:nvSpPr>
        <p:spPr/>
        <p:txBody>
          <a:bodyPr/>
          <a:lstStyle/>
          <a:p>
            <a:fld id="{86CB4B4D-7CA3-9044-876B-883B54F8677D}" type="slidenum">
              <a:rPr lang="en-US" altLang="zh-TW" smtClean="0"/>
              <a:t>10</a:t>
            </a:fld>
            <a:endParaRPr lang="zh-TW" altLang="en-US"/>
          </a:p>
        </p:txBody>
      </p:sp>
      <p:pic>
        <p:nvPicPr>
          <p:cNvPr id="3" name="圖片 2">
            <a:extLst>
              <a:ext uri="{FF2B5EF4-FFF2-40B4-BE49-F238E27FC236}">
                <a16:creationId xmlns:a16="http://schemas.microsoft.com/office/drawing/2014/main" id="{7D1C3694-940D-BCBC-63C4-E887DC93EC4C}"/>
              </a:ext>
            </a:extLst>
          </p:cNvPr>
          <p:cNvPicPr>
            <a:picLocks noChangeAspect="1"/>
          </p:cNvPicPr>
          <p:nvPr/>
        </p:nvPicPr>
        <p:blipFill>
          <a:blip r:embed="rId4">
            <a:extLst>
              <a:ext uri="{28A0092B-C50C-407E-A947-70E740481C1C}">
                <a14:useLocalDpi xmlns:a14="http://schemas.microsoft.com/office/drawing/2010/main" val="0"/>
              </a:ext>
            </a:extLst>
          </a:blip>
          <a:srcRect b="35143"/>
          <a:stretch>
            <a:fillRect/>
          </a:stretch>
        </p:blipFill>
        <p:spPr>
          <a:xfrm>
            <a:off x="2185039" y="11680521"/>
            <a:ext cx="12479266" cy="1725651"/>
          </a:xfrm>
          <a:prstGeom prst="rect">
            <a:avLst/>
          </a:prstGeom>
        </p:spPr>
      </p:pic>
    </p:spTree>
    <p:extLst>
      <p:ext uri="{BB962C8B-B14F-4D97-AF65-F5344CB8AC3E}">
        <p14:creationId xmlns:p14="http://schemas.microsoft.com/office/powerpoint/2010/main" val="120421689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B65F1-06B8-82FE-48B2-01364317260F}"/>
            </a:ext>
          </a:extLst>
        </p:cNvPr>
        <p:cNvGrpSpPr/>
        <p:nvPr/>
      </p:nvGrpSpPr>
      <p:grpSpPr>
        <a:xfrm>
          <a:off x="0" y="0"/>
          <a:ext cx="0" cy="0"/>
          <a:chOff x="0" y="0"/>
          <a:chExt cx="0" cy="0"/>
        </a:xfrm>
      </p:grpSpPr>
      <p:sp>
        <p:nvSpPr>
          <p:cNvPr id="223" name="Problem Statement">
            <a:extLst>
              <a:ext uri="{FF2B5EF4-FFF2-40B4-BE49-F238E27FC236}">
                <a16:creationId xmlns:a16="http://schemas.microsoft.com/office/drawing/2014/main" id="{379A5E5F-858E-99EB-0210-696FC9E78E60}"/>
              </a:ext>
            </a:extLst>
          </p:cNvPr>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p:sp>
        <p:nvSpPr>
          <p:cNvPr id="2" name="投影片編號版面配置區 1">
            <a:extLst>
              <a:ext uri="{FF2B5EF4-FFF2-40B4-BE49-F238E27FC236}">
                <a16:creationId xmlns:a16="http://schemas.microsoft.com/office/drawing/2014/main" id="{5E720D5E-C5C4-8B68-6392-AC6EC00A954C}"/>
              </a:ext>
            </a:extLst>
          </p:cNvPr>
          <p:cNvSpPr>
            <a:spLocks noGrp="1"/>
          </p:cNvSpPr>
          <p:nvPr>
            <p:ph type="sldNum" sz="quarter" idx="2"/>
          </p:nvPr>
        </p:nvSpPr>
        <p:spPr/>
        <p:txBody>
          <a:bodyPr/>
          <a:lstStyle/>
          <a:p>
            <a:fld id="{86CB4B4D-7CA3-9044-876B-883B54F8677D}" type="slidenum">
              <a:rPr lang="en-US" altLang="zh-TW" smtClean="0"/>
              <a:t>11</a:t>
            </a:fld>
            <a:endParaRPr lang="zh-TW" altLang="en-US"/>
          </a:p>
        </p:txBody>
      </p:sp>
      <p:pic>
        <p:nvPicPr>
          <p:cNvPr id="2050" name="Picture 2">
            <a:extLst>
              <a:ext uri="{FF2B5EF4-FFF2-40B4-BE49-F238E27FC236}">
                <a16:creationId xmlns:a16="http://schemas.microsoft.com/office/drawing/2014/main" id="{E8395781-A909-7C29-29B9-6B919BB1D7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776" y="3990576"/>
            <a:ext cx="9279116" cy="834571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D5F3F26E-E564-1C7A-9F23-01FC659FEF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1772" y="2728814"/>
            <a:ext cx="14498452" cy="10302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285889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Related Work"/>
          <p:cNvSpPr txBox="1">
            <a:spLocks noGrp="1"/>
          </p:cNvSpPr>
          <p:nvPr>
            <p:ph type="title"/>
          </p:nvPr>
        </p:nvSpPr>
        <p:spPr>
          <a:prstGeom prst="rect">
            <a:avLst/>
          </a:prstGeom>
        </p:spPr>
        <p:txBody>
          <a:bodyPr/>
          <a:lstStyle/>
          <a:p>
            <a:r>
              <a:rPr dirty="0"/>
              <a:t>Related Work</a:t>
            </a:r>
            <a:r>
              <a:rPr lang="zh-TW" altLang="en-US" dirty="0"/>
              <a:t> </a:t>
            </a:r>
            <a:r>
              <a:rPr lang="en-US" altLang="zh-TW" dirty="0"/>
              <a:t>on</a:t>
            </a:r>
            <a:r>
              <a:rPr lang="zh-TW" altLang="en-US" dirty="0"/>
              <a:t> </a:t>
            </a:r>
            <a:r>
              <a:rPr lang="en-US" altLang="zh-TW" dirty="0"/>
              <a:t>Honeypot / Honeynet</a:t>
            </a:r>
            <a:endParaRPr dirty="0"/>
          </a:p>
        </p:txBody>
      </p:sp>
      <p:graphicFrame>
        <p:nvGraphicFramePr>
          <p:cNvPr id="204" name="表格 1"/>
          <p:cNvGraphicFramePr/>
          <p:nvPr>
            <p:extLst>
              <p:ext uri="{D42A27DB-BD31-4B8C-83A1-F6EECF244321}">
                <p14:modId xmlns:p14="http://schemas.microsoft.com/office/powerpoint/2010/main" val="3694115187"/>
              </p:ext>
            </p:extLst>
          </p:nvPr>
        </p:nvGraphicFramePr>
        <p:xfrm>
          <a:off x="1551244" y="2535353"/>
          <a:ext cx="21281504" cy="10101147"/>
        </p:xfrm>
        <a:graphic>
          <a:graphicData uri="http://schemas.openxmlformats.org/drawingml/2006/table">
            <a:tbl>
              <a:tblPr>
                <a:tableStyleId>{4C3C2611-4C71-4FC5-86AE-919BDF0F9419}</a:tableStyleId>
              </a:tblPr>
              <a:tblGrid>
                <a:gridCol w="1887040">
                  <a:extLst>
                    <a:ext uri="{9D8B030D-6E8A-4147-A177-3AD203B41FA5}">
                      <a16:colId xmlns:a16="http://schemas.microsoft.com/office/drawing/2014/main" val="20000"/>
                    </a:ext>
                  </a:extLst>
                </a:gridCol>
                <a:gridCol w="2724582">
                  <a:extLst>
                    <a:ext uri="{9D8B030D-6E8A-4147-A177-3AD203B41FA5}">
                      <a16:colId xmlns:a16="http://schemas.microsoft.com/office/drawing/2014/main" val="20001"/>
                    </a:ext>
                  </a:extLst>
                </a:gridCol>
                <a:gridCol w="1866529">
                  <a:extLst>
                    <a:ext uri="{9D8B030D-6E8A-4147-A177-3AD203B41FA5}">
                      <a16:colId xmlns:a16="http://schemas.microsoft.com/office/drawing/2014/main" val="20005"/>
                    </a:ext>
                  </a:extLst>
                </a:gridCol>
                <a:gridCol w="1866529">
                  <a:extLst>
                    <a:ext uri="{9D8B030D-6E8A-4147-A177-3AD203B41FA5}">
                      <a16:colId xmlns:a16="http://schemas.microsoft.com/office/drawing/2014/main" val="20006"/>
                    </a:ext>
                  </a:extLst>
                </a:gridCol>
                <a:gridCol w="1866529">
                  <a:extLst>
                    <a:ext uri="{9D8B030D-6E8A-4147-A177-3AD203B41FA5}">
                      <a16:colId xmlns:a16="http://schemas.microsoft.com/office/drawing/2014/main" val="2982701625"/>
                    </a:ext>
                  </a:extLst>
                </a:gridCol>
                <a:gridCol w="1866529">
                  <a:extLst>
                    <a:ext uri="{9D8B030D-6E8A-4147-A177-3AD203B41FA5}">
                      <a16:colId xmlns:a16="http://schemas.microsoft.com/office/drawing/2014/main" val="2442804741"/>
                    </a:ext>
                  </a:extLst>
                </a:gridCol>
                <a:gridCol w="1866529">
                  <a:extLst>
                    <a:ext uri="{9D8B030D-6E8A-4147-A177-3AD203B41FA5}">
                      <a16:colId xmlns:a16="http://schemas.microsoft.com/office/drawing/2014/main" val="900585408"/>
                    </a:ext>
                  </a:extLst>
                </a:gridCol>
                <a:gridCol w="3082508">
                  <a:extLst>
                    <a:ext uri="{9D8B030D-6E8A-4147-A177-3AD203B41FA5}">
                      <a16:colId xmlns:a16="http://schemas.microsoft.com/office/drawing/2014/main" val="580720853"/>
                    </a:ext>
                  </a:extLst>
                </a:gridCol>
                <a:gridCol w="4254729">
                  <a:extLst>
                    <a:ext uri="{9D8B030D-6E8A-4147-A177-3AD203B41FA5}">
                      <a16:colId xmlns:a16="http://schemas.microsoft.com/office/drawing/2014/main" val="274005900"/>
                    </a:ext>
                  </a:extLst>
                </a:gridCol>
              </a:tblGrid>
              <a:tr h="704743">
                <a:tc rowSpan="2">
                  <a:txBody>
                    <a:bodyPr/>
                    <a:lstStyle/>
                    <a:p>
                      <a:pPr defTabSz="914400"/>
                      <a:r>
                        <a:rPr sz="2400" b="1" i="0" dirty="0">
                          <a:latin typeface="Times New Roman" panose="02020603050405020304" pitchFamily="18" charset="0"/>
                          <a:cs typeface="Times New Roman" panose="02020603050405020304" pitchFamily="18" charset="0"/>
                        </a:rPr>
                        <a:t>Category</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Paper</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Real</a:t>
                      </a:r>
                      <a:endParaRPr lang="en-US" sz="2400" b="1" i="0" dirty="0">
                        <a:latin typeface="Times New Roman" panose="02020603050405020304" pitchFamily="18" charset="0"/>
                        <a:cs typeface="Times New Roman" panose="02020603050405020304" pitchFamily="18" charset="0"/>
                      </a:endParaRPr>
                    </a:p>
                    <a:p>
                      <a:pPr defTabSz="914400"/>
                      <a:r>
                        <a:rPr sz="2400" b="1" i="0" dirty="0">
                          <a:latin typeface="Times New Roman" panose="02020603050405020304" pitchFamily="18" charset="0"/>
                          <a:cs typeface="Times New Roman" panose="02020603050405020304" pitchFamily="18" charset="0"/>
                        </a:rPr>
                        <a:t>System</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Active
Directory</a:t>
                      </a:r>
                    </a:p>
                  </a:txBody>
                  <a:tcPr marL="50800" marR="50800" marT="50800" marB="50800" anchor="ctr" horzOverflow="overflow"/>
                </a:tc>
                <a:tc gridSpan="3">
                  <a:txBody>
                    <a:bodyPr/>
                    <a:lstStyle/>
                    <a:p>
                      <a:pPr defTabSz="914400"/>
                      <a:r>
                        <a:rPr lang="en-US" sz="2400" b="1" i="0" dirty="0">
                          <a:latin typeface="Times New Roman" panose="02020603050405020304" pitchFamily="18" charset="0"/>
                          <a:cs typeface="Times New Roman" panose="02020603050405020304" pitchFamily="18" charset="0"/>
                        </a:rPr>
                        <a:t>Objective</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hMerge="1">
                  <a:txBody>
                    <a:bodyPr/>
                    <a:lstStyle/>
                    <a:p>
                      <a:pPr defTabSz="914400"/>
                      <a:endParaRPr sz="2400" b="1" dirty="0"/>
                    </a:p>
                  </a:txBody>
                  <a:tcPr marL="50800" marR="50800" marT="50800" marB="50800" anchor="ctr" horzOverflow="overflow"/>
                </a:tc>
                <a:tc hMerge="1">
                  <a:txBody>
                    <a:bodyPr/>
                    <a:lstStyle/>
                    <a:p>
                      <a:pPr defTabSz="914400"/>
                      <a:endParaRPr sz="2400" b="1" dirty="0"/>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Strategist Method</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Action</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Design</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0000"/>
                  </a:ext>
                </a:extLst>
              </a:tr>
              <a:tr h="846868">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defTabSz="914400"/>
                      <a:r>
                        <a:rPr lang="en-US" sz="2400" b="1" i="0" dirty="0">
                          <a:latin typeface="Times New Roman" panose="02020603050405020304" pitchFamily="18" charset="0"/>
                          <a:cs typeface="Times New Roman" panose="02020603050405020304" pitchFamily="18" charset="0"/>
                        </a:rPr>
                        <a:t>Engagement Depth</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Interaction</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Realism</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Behavioral</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Diversity</a:t>
                      </a:r>
                    </a:p>
                  </a:txBody>
                  <a:tcPr marL="50800" marR="50800" marT="50800" marB="50800" anchor="ctr" horzOverflow="overflow"/>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38206972"/>
                  </a:ext>
                </a:extLst>
              </a:tr>
              <a:tr h="1068545">
                <a:tc rowSpan="3">
                  <a:txBody>
                    <a:bodyPr/>
                    <a:lstStyle/>
                    <a:p>
                      <a:pPr defTabSz="914400"/>
                      <a:r>
                        <a:rPr sz="2400" b="0" i="0" dirty="0">
                          <a:latin typeface="Times New Roman" panose="02020603050405020304" pitchFamily="18" charset="0"/>
                          <a:cs typeface="Times New Roman" panose="02020603050405020304" pitchFamily="18" charset="0"/>
                        </a:rPr>
                        <a:t>Honeypot</a:t>
                      </a:r>
                    </a:p>
                  </a:txBody>
                  <a:tcPr marL="50800" marR="50800" marT="50800" marB="50800" anchor="ctr" horzOverflow="overflow">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QRASSH</a:t>
                      </a:r>
                      <a:r>
                        <a:rPr lang="en-US" sz="2400" b="0" i="0" dirty="0">
                          <a:latin typeface="Times New Roman" panose="02020603050405020304" pitchFamily="18" charset="0"/>
                          <a:cs typeface="Times New Roman" panose="02020603050405020304" pitchFamily="18" charset="0"/>
                        </a:rPr>
                        <a:t> [8]</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Response manipulation</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0002"/>
                  </a:ext>
                </a:extLst>
              </a:tr>
              <a:tr h="1062833">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HoneyGPT</a:t>
                      </a:r>
                      <a:r>
                        <a:rPr lang="en-US" sz="2400" b="0" i="0" dirty="0">
                          <a:latin typeface="Times New Roman" panose="02020603050405020304" pitchFamily="18" charset="0"/>
                          <a:cs typeface="Times New Roman" panose="02020603050405020304" pitchFamily="18" charset="0"/>
                        </a:rPr>
                        <a:t> [9]</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Response generation</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0004"/>
                  </a:ext>
                </a:extLst>
              </a:tr>
              <a:tr h="1067507">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Senior</a:t>
                      </a:r>
                      <a:r>
                        <a:rPr lang="en-US" sz="2400" b="0" i="0" dirty="0">
                          <a:latin typeface="Times New Roman" panose="02020603050405020304" pitchFamily="18" charset="0"/>
                          <a:cs typeface="Times New Roman" panose="02020603050405020304" pitchFamily="18" charset="0"/>
                        </a:rPr>
                        <a:t> [10]</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B w="28575" cap="flat" cmpd="sng" algn="ctr">
                      <a:solidFill>
                        <a:schemeClr val="tx1"/>
                      </a:solidFill>
                      <a:prstDash val="solid"/>
                      <a:round/>
                      <a:headEnd type="none" w="med" len="med"/>
                      <a:tailEnd type="none" w="med" len="med"/>
                    </a:lnB>
                  </a:tcPr>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Response manipulation</a:t>
                      </a:r>
                    </a:p>
                  </a:txBody>
                  <a:tcPr marL="50800" marR="50800" marT="50800" marB="50800" anchor="ctr" horzOverflow="overflow">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071567">
                <a:tc rowSpan="5">
                  <a:txBody>
                    <a:bodyPr/>
                    <a:lstStyle/>
                    <a:p>
                      <a:pPr defTabSz="914400"/>
                      <a:r>
                        <a:rPr sz="24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lnT w="28575" cap="flat" cmpd="sng" algn="ctr">
                      <a:solidFill>
                        <a:schemeClr val="tx1"/>
                      </a:solidFill>
                      <a:prstDash val="solid"/>
                      <a:round/>
                      <a:headEnd type="none" w="med" len="med"/>
                      <a:tailEnd type="none" w="med" len="med"/>
                    </a:lnT>
                  </a:tcPr>
                </a:tc>
                <a:tc>
                  <a:txBody>
                    <a:bodyPr/>
                    <a:lstStyle/>
                    <a:p>
                      <a:pPr defTabSz="914400"/>
                      <a:r>
                        <a:rPr lang="en-US" sz="2400" b="0" i="0" dirty="0" err="1">
                          <a:latin typeface="Times New Roman" panose="02020603050405020304" pitchFamily="18" charset="0"/>
                          <a:cs typeface="Times New Roman" panose="02020603050405020304" pitchFamily="18" charset="0"/>
                        </a:rPr>
                        <a:t>HoneyFactory</a:t>
                      </a:r>
                      <a:r>
                        <a:rPr lang="en-US" sz="2400" b="0" i="0" dirty="0">
                          <a:latin typeface="Times New Roman" panose="02020603050405020304" pitchFamily="18" charset="0"/>
                          <a:cs typeface="Times New Roman" panose="02020603050405020304" pitchFamily="18" charset="0"/>
                        </a:rPr>
                        <a:t> [11]</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T w="28575" cap="flat" cmpd="sng" algn="ctr">
                      <a:solidFill>
                        <a:schemeClr val="tx1"/>
                      </a:solidFill>
                      <a:prstDash val="solid"/>
                      <a:round/>
                      <a:headEnd type="none" w="med" len="med"/>
                      <a:tailEnd type="none" w="med" len="med"/>
                    </a:lnT>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T w="28575" cap="flat" cmpd="sng" algn="ctr">
                      <a:solidFill>
                        <a:schemeClr val="tx1"/>
                      </a:solidFill>
                      <a:prstDash val="solid"/>
                      <a:round/>
                      <a:headEnd type="none" w="med" len="med"/>
                      <a:tailEnd type="none" w="med" len="med"/>
                    </a:lnT>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T w="28575" cap="flat" cmpd="sng" algn="ctr">
                      <a:solidFill>
                        <a:schemeClr val="tx1"/>
                      </a:solidFill>
                      <a:prstDash val="solid"/>
                      <a:round/>
                      <a:headEnd type="none" w="med" len="med"/>
                      <a:tailEnd type="none" w="med" len="med"/>
                    </a:lnT>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T w="28575" cap="flat" cmpd="sng" algn="ctr">
                      <a:solidFill>
                        <a:schemeClr val="tx1"/>
                      </a:solidFill>
                      <a:prstDash val="solid"/>
                      <a:round/>
                      <a:headEnd type="none" w="med" len="med"/>
                      <a:tailEnd type="none" w="med" len="med"/>
                    </a:lnT>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T w="28575" cap="flat" cmpd="sng" algn="ctr">
                      <a:solidFill>
                        <a:schemeClr val="tx1"/>
                      </a:solidFill>
                      <a:prstDash val="solid"/>
                      <a:round/>
                      <a:headEnd type="none" w="med" len="med"/>
                      <a:tailEnd type="none" w="med" len="med"/>
                    </a:lnT>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T w="28575" cap="flat" cmpd="sng" algn="ctr">
                      <a:solidFill>
                        <a:schemeClr val="tx1"/>
                      </a:solidFill>
                      <a:prstDash val="solid"/>
                      <a:round/>
                      <a:headEnd type="none" w="med" len="med"/>
                      <a:tailEnd type="none" w="med" len="med"/>
                    </a:lnT>
                  </a:tcPr>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lnT w="28575" cap="flat" cmpd="sng" algn="ctr">
                      <a:solidFill>
                        <a:schemeClr val="tx1"/>
                      </a:solidFill>
                      <a:prstDash val="solid"/>
                      <a:round/>
                      <a:headEnd type="none" w="med" len="med"/>
                      <a:tailEnd type="none" w="med" len="med"/>
                    </a:lnT>
                  </a:tcPr>
                </a:tc>
                <a:tc>
                  <a:txBody>
                    <a:bodyPr/>
                    <a:lstStyle/>
                    <a:p>
                      <a:pPr defTabSz="914400">
                        <a:defRPr sz="3200"/>
                      </a:pPr>
                      <a:r>
                        <a:rPr lang="en-US" altLang="zh-TW" sz="2400" b="0" i="0" dirty="0">
                          <a:latin typeface="Times New Roman" panose="02020603050405020304" pitchFamily="18" charset="0"/>
                          <a:cs typeface="Times New Roman" panose="02020603050405020304" pitchFamily="18" charset="0"/>
                        </a:rPr>
                        <a:t>Honeynet</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generation</a:t>
                      </a:r>
                      <a:endParaRPr sz="2400" b="0" i="1" baseline="31999" dirty="0">
                        <a:latin typeface="Times New Roman" panose="02020603050405020304" pitchFamily="18" charset="0"/>
                        <a:cs typeface="Times New Roman" panose="02020603050405020304" pitchFamily="18" charset="0"/>
                      </a:endParaRPr>
                    </a:p>
                  </a:txBody>
                  <a:tcPr marL="50800" marR="50800" marT="50800" marB="50800" anchor="ctr" horzOverflow="overflow">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59521556"/>
                  </a:ext>
                </a:extLst>
              </a:tr>
              <a:tr h="1071567">
                <a:tc vMerge="1">
                  <a:txBody>
                    <a:bodyPr/>
                    <a:lstStyle/>
                    <a:p>
                      <a:pPr defTabSz="914400"/>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ADLAH [12]</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RL</a:t>
                      </a:r>
                    </a:p>
                  </a:txBody>
                  <a:tcPr marL="50800" marR="50800" marT="50800" marB="50800" anchor="ctr" horzOverflow="overflow"/>
                </a:tc>
                <a:tc>
                  <a:txBody>
                    <a:bodyPr/>
                    <a:lstStyle/>
                    <a:p>
                      <a:pPr defTabSz="914400">
                        <a:defRPr sz="3200"/>
                      </a:pPr>
                      <a:r>
                        <a:rPr lang="en-US" altLang="zh-TW" sz="2400" b="0" i="0" dirty="0">
                          <a:latin typeface="Times New Roman" panose="02020603050405020304" pitchFamily="18" charset="0"/>
                          <a:cs typeface="Times New Roman" panose="02020603050405020304" pitchFamily="18" charset="0"/>
                        </a:rPr>
                        <a:t>Honeypot deployment</a:t>
                      </a:r>
                      <a:endParaRPr sz="2400" b="0" i="1" baseline="31999"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703442627"/>
                  </a:ext>
                </a:extLst>
              </a:tr>
              <a:tr h="1071567">
                <a:tc vMerge="1">
                  <a:txBody>
                    <a:bodyPr/>
                    <a:lstStyle/>
                    <a:p>
                      <a:pPr defTabSz="914400"/>
                      <a:r>
                        <a:rPr sz="24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tc>
                <a:tc>
                  <a:txBody>
                    <a:bodyPr/>
                    <a:lstStyle/>
                    <a:p>
                      <a:pPr defTabSz="914400"/>
                      <a:r>
                        <a:rPr lang="en-US" sz="2400" b="0" i="0" dirty="0" err="1">
                          <a:latin typeface="Times New Roman" panose="02020603050405020304" pitchFamily="18" charset="0"/>
                          <a:cs typeface="Times New Roman" panose="02020603050405020304" pitchFamily="18" charset="0"/>
                        </a:rPr>
                        <a:t>HoneyICS</a:t>
                      </a:r>
                      <a:r>
                        <a:rPr lang="en-US" sz="2400" b="0" i="0" dirty="0">
                          <a:latin typeface="Times New Roman" panose="02020603050405020304" pitchFamily="18" charset="0"/>
                          <a:cs typeface="Times New Roman" panose="02020603050405020304" pitchFamily="18" charset="0"/>
                        </a:rPr>
                        <a:t> [13]</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tc>
                <a:tc>
                  <a:txBody>
                    <a:bodyPr/>
                    <a:lstStyle/>
                    <a:p>
                      <a:pPr defTabSz="914400">
                        <a:defRPr sz="3200"/>
                      </a:pPr>
                      <a:r>
                        <a:rPr lang="en-US" altLang="zh-TW" sz="2400" b="0" i="0" dirty="0">
                          <a:latin typeface="Times New Roman" panose="02020603050405020304" pitchFamily="18" charset="0"/>
                          <a:cs typeface="Times New Roman" panose="02020603050405020304" pitchFamily="18" charset="0"/>
                        </a:rPr>
                        <a:t>ICS</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network</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emulation</a:t>
                      </a:r>
                      <a:endParaRPr sz="2400" b="0" i="1" baseline="31999"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0006"/>
                  </a:ext>
                </a:extLst>
              </a:tr>
              <a:tr h="1071567">
                <a:tc vMerge="1">
                  <a:txBody>
                    <a:bodyPr/>
                    <a:lstStyle/>
                    <a:p>
                      <a:endParaRPr lang="zh-TW" altLang="en-US"/>
                    </a:p>
                  </a:txBody>
                  <a:tcPr/>
                </a:tc>
                <a:tc>
                  <a:txBody>
                    <a:bodyPr/>
                    <a:lstStyle/>
                    <a:p>
                      <a:pPr defTabSz="914400"/>
                      <a:r>
                        <a:rPr lang="en-US" sz="2400" b="0" i="0" dirty="0">
                          <a:latin typeface="Times New Roman" panose="02020603050405020304" pitchFamily="18" charset="0"/>
                          <a:cs typeface="Times New Roman" panose="02020603050405020304" pitchFamily="18" charset="0"/>
                        </a:rPr>
                        <a:t>Mirage [14]</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tc>
                <a:tc>
                  <a:txBody>
                    <a:bodyPr/>
                    <a:lstStyle/>
                    <a:p>
                      <a:pPr defTabSz="914400">
                        <a:defRPr sz="3200"/>
                      </a:pPr>
                      <a:r>
                        <a:rPr lang="en-US" altLang="zh-TW" sz="2400" b="0" i="0" dirty="0">
                          <a:latin typeface="Times New Roman" panose="02020603050405020304" pitchFamily="18" charset="0"/>
                          <a:cs typeface="Times New Roman" panose="02020603050405020304" pitchFamily="18" charset="0"/>
                        </a:rPr>
                        <a:t>File system modification</a:t>
                      </a:r>
                      <a:endParaRPr sz="2400" b="0" i="1" baseline="31999"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790213124"/>
                  </a:ext>
                </a:extLst>
              </a:tr>
              <a:tr h="1064383">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Ours</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MITRE Engage–guided environment manipulation</a:t>
                      </a:r>
                    </a:p>
                  </a:txBody>
                  <a:tcPr marL="50800" marR="50800" marT="50800" marB="50800" anchor="ctr" horzOverflow="overflow"/>
                </a:tc>
                <a:extLst>
                  <a:ext uri="{0D108BD9-81ED-4DB2-BD59-A6C34878D82A}">
                    <a16:rowId xmlns:a16="http://schemas.microsoft.com/office/drawing/2014/main" val="10007"/>
                  </a:ext>
                </a:extLst>
              </a:tr>
            </a:tbl>
          </a:graphicData>
        </a:graphic>
      </p:graphicFrame>
      <p:sp>
        <p:nvSpPr>
          <p:cNvPr id="205" name="A=Allow, B=Block, D=Delay, S=Substitute(Fake), I=Insult, R=Redirect, F=File Synchronize, GU=Generate user, GF=Generate File, MF=Modify File System"/>
          <p:cNvSpPr txBox="1"/>
          <p:nvPr/>
        </p:nvSpPr>
        <p:spPr>
          <a:xfrm>
            <a:off x="1375088" y="12934248"/>
            <a:ext cx="2163381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r>
              <a:rPr lang="en-US" sz="2400" dirty="0">
                <a:latin typeface="Times New Roman" panose="02020603050405020304" pitchFamily="18" charset="0"/>
                <a:cs typeface="Times New Roman" panose="02020603050405020304" pitchFamily="18" charset="0"/>
              </a:rPr>
              <a:t>Comparison of representative honeypot and honeynet systems in terms of engagement depth, interaction realism, and behavioral diversity.</a:t>
            </a:r>
          </a:p>
        </p:txBody>
      </p:sp>
      <p:sp>
        <p:nvSpPr>
          <p:cNvPr id="2" name="投影片編號版面配置區 1">
            <a:extLst>
              <a:ext uri="{FF2B5EF4-FFF2-40B4-BE49-F238E27FC236}">
                <a16:creationId xmlns:a16="http://schemas.microsoft.com/office/drawing/2014/main" id="{BB22D514-D3BC-B684-FBB7-67B8BCCD079F}"/>
              </a:ext>
            </a:extLst>
          </p:cNvPr>
          <p:cNvSpPr>
            <a:spLocks noGrp="1"/>
          </p:cNvSpPr>
          <p:nvPr>
            <p:ph type="sldNum" sz="quarter" idx="2"/>
          </p:nvPr>
        </p:nvSpPr>
        <p:spPr/>
        <p:txBody>
          <a:bodyPr/>
          <a:lstStyle/>
          <a:p>
            <a:fld id="{86CB4B4D-7CA3-9044-876B-883B54F8677D}" type="slidenum">
              <a:rPr lang="en-US" altLang="zh-TW" smtClean="0"/>
              <a:t>12</a:t>
            </a:fld>
            <a:endParaRPr lang="zh-TW" altLang="en-US"/>
          </a:p>
        </p:txBody>
      </p:sp>
      <p:sp>
        <p:nvSpPr>
          <p:cNvPr id="3" name="文字方塊 2">
            <a:extLst>
              <a:ext uri="{FF2B5EF4-FFF2-40B4-BE49-F238E27FC236}">
                <a16:creationId xmlns:a16="http://schemas.microsoft.com/office/drawing/2014/main" id="{18556267-9CE8-5E50-18EF-9B9E7093A7EF}"/>
              </a:ext>
            </a:extLst>
          </p:cNvPr>
          <p:cNvSpPr txBox="1"/>
          <p:nvPr/>
        </p:nvSpPr>
        <p:spPr>
          <a:xfrm>
            <a:off x="15290272" y="-175895"/>
            <a:ext cx="10265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zh-TW" altLang="en-US" sz="3600" b="0"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362744471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77392-EBD1-3ABD-386F-F5062FF34DF5}"/>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9898DA00-8CB6-D99E-B096-497CAAE850E4}"/>
              </a:ext>
            </a:extLst>
          </p:cNvPr>
          <p:cNvSpPr txBox="1">
            <a:spLocks noGrp="1"/>
          </p:cNvSpPr>
          <p:nvPr>
            <p:ph type="title"/>
          </p:nvPr>
        </p:nvSpPr>
        <p:spPr>
          <a:prstGeom prst="rect">
            <a:avLst/>
          </a:prstGeom>
        </p:spPr>
        <p:txBody>
          <a:bodyPr/>
          <a:lstStyle/>
          <a:p>
            <a:r>
              <a:rPr dirty="0"/>
              <a:t>Issues</a:t>
            </a:r>
          </a:p>
        </p:txBody>
      </p:sp>
      <p:sp>
        <p:nvSpPr>
          <p:cNvPr id="229" name="Degree of realism: Honeypot vs. Honeynet…">
            <a:extLst>
              <a:ext uri="{FF2B5EF4-FFF2-40B4-BE49-F238E27FC236}">
                <a16:creationId xmlns:a16="http://schemas.microsoft.com/office/drawing/2014/main" id="{61229011-4355-8C0A-4741-8BE19D8FD161}"/>
              </a:ext>
            </a:extLst>
          </p:cNvPr>
          <p:cNvSpPr txBox="1">
            <a:spLocks noGrp="1"/>
          </p:cNvSpPr>
          <p:nvPr>
            <p:ph type="body" idx="1"/>
          </p:nvPr>
        </p:nvSpPr>
        <p:spPr>
          <a:xfrm>
            <a:off x="1206500" y="3659705"/>
            <a:ext cx="21971000" cy="8976795"/>
          </a:xfrm>
          <a:prstGeom prst="rect">
            <a:avLst/>
          </a:prstGeom>
        </p:spPr>
        <p:txBody>
          <a:bodyPr>
            <a:normAutofit/>
          </a:bodyPr>
          <a:lstStyle/>
          <a:p>
            <a:pPr>
              <a:lnSpc>
                <a:spcPct val="100000"/>
              </a:lnSpc>
              <a:spcBef>
                <a:spcPts val="1500"/>
              </a:spcBef>
            </a:pPr>
            <a:r>
              <a:rPr lang="en-US" altLang="zh-TW" sz="4400" b="1" dirty="0"/>
              <a:t>Realism: Response-level Honeypot vs. Environment-level Honeynet</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Reply-level deception may look plausible but lacks persistent system state</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Environment-level deception should remain verifiable across steps and hosts</a:t>
            </a:r>
          </a:p>
          <a:p>
            <a:pPr>
              <a:lnSpc>
                <a:spcPct val="100000"/>
              </a:lnSpc>
              <a:spcBef>
                <a:spcPts val="1500"/>
              </a:spcBef>
            </a:pPr>
            <a:r>
              <a:rPr lang="en-US" altLang="zh-TW" sz="4400" b="1" dirty="0"/>
              <a:t>Attack Depth: RL-based Adaptive Honeypot vs. LLM-based Honeynet</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Single-host interaction cannot support full enterprise attack progression</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LLM-based honeynet should guide attackers toward later stages</a:t>
            </a:r>
          </a:p>
          <a:p>
            <a:pPr>
              <a:lnSpc>
                <a:spcPct val="100000"/>
              </a:lnSpc>
              <a:spcBef>
                <a:spcPts val="1500"/>
              </a:spcBef>
            </a:pPr>
            <a:r>
              <a:rPr lang="en-US" altLang="zh-TW" sz="4400" b="1" dirty="0"/>
              <a:t>Behavior Diversity: RL-based Adaptive Honeypot vs. LLM-based Honeynet </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Static or single-host setups expose limited attack opportunities</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Adaptive honeynet should trigger more varied attacker behaviors</a:t>
            </a:r>
          </a:p>
        </p:txBody>
      </p:sp>
      <p:sp>
        <p:nvSpPr>
          <p:cNvPr id="2" name="投影片編號版面配置區 1">
            <a:extLst>
              <a:ext uri="{FF2B5EF4-FFF2-40B4-BE49-F238E27FC236}">
                <a16:creationId xmlns:a16="http://schemas.microsoft.com/office/drawing/2014/main" id="{C3AAE389-B080-F1C2-CD5D-67CE7B1540BA}"/>
              </a:ext>
            </a:extLst>
          </p:cNvPr>
          <p:cNvSpPr>
            <a:spLocks noGrp="1"/>
          </p:cNvSpPr>
          <p:nvPr>
            <p:ph type="sldNum" sz="quarter" idx="2"/>
          </p:nvPr>
        </p:nvSpPr>
        <p:spPr/>
        <p:txBody>
          <a:bodyPr/>
          <a:lstStyle/>
          <a:p>
            <a:fld id="{86CB4B4D-7CA3-9044-876B-883B54F8677D}" type="slidenum">
              <a:rPr lang="en-US" altLang="zh-TW" smtClean="0"/>
              <a:t>13</a:t>
            </a:fld>
            <a:endParaRPr lang="zh-TW" altLang="en-US"/>
          </a:p>
        </p:txBody>
      </p:sp>
    </p:spTree>
    <p:extLst>
      <p:ext uri="{BB962C8B-B14F-4D97-AF65-F5344CB8AC3E}">
        <p14:creationId xmlns:p14="http://schemas.microsoft.com/office/powerpoint/2010/main" val="76102777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EB3-6D0C-F223-D45A-5934C978E2D1}"/>
            </a:ext>
          </a:extLst>
        </p:cNvPr>
        <p:cNvGrpSpPr/>
        <p:nvPr/>
      </p:nvGrpSpPr>
      <p:grpSpPr>
        <a:xfrm>
          <a:off x="0" y="0"/>
          <a:ext cx="0" cy="0"/>
          <a:chOff x="0" y="0"/>
          <a:chExt cx="0" cy="0"/>
        </a:xfrm>
      </p:grpSpPr>
      <p:sp>
        <p:nvSpPr>
          <p:cNvPr id="232" name="Solution Overview">
            <a:extLst>
              <a:ext uri="{FF2B5EF4-FFF2-40B4-BE49-F238E27FC236}">
                <a16:creationId xmlns:a16="http://schemas.microsoft.com/office/drawing/2014/main" id="{CA546716-5B1C-B308-7460-9529D1ABD24F}"/>
              </a:ext>
            </a:extLst>
          </p:cNvPr>
          <p:cNvSpPr txBox="1">
            <a:spLocks noGrp="1"/>
          </p:cNvSpPr>
          <p:nvPr>
            <p:ph type="title"/>
          </p:nvPr>
        </p:nvSpPr>
        <p:spPr>
          <a:prstGeom prst="rect">
            <a:avLst/>
          </a:prstGeom>
        </p:spPr>
        <p:txBody>
          <a:bodyPr/>
          <a:lstStyle/>
          <a:p>
            <a:r>
              <a:rPr dirty="0"/>
              <a:t>Solution Overview</a:t>
            </a:r>
          </a:p>
        </p:txBody>
      </p:sp>
      <p:sp>
        <p:nvSpPr>
          <p:cNvPr id="4" name="投影片編號版面配置區 3">
            <a:extLst>
              <a:ext uri="{FF2B5EF4-FFF2-40B4-BE49-F238E27FC236}">
                <a16:creationId xmlns:a16="http://schemas.microsoft.com/office/drawing/2014/main" id="{7F7764E0-1BF3-F471-74C8-3D50A04A44D2}"/>
              </a:ext>
            </a:extLst>
          </p:cNvPr>
          <p:cNvSpPr>
            <a:spLocks noGrp="1"/>
          </p:cNvSpPr>
          <p:nvPr>
            <p:ph type="sldNum" sz="quarter" idx="2"/>
          </p:nvPr>
        </p:nvSpPr>
        <p:spPr/>
        <p:txBody>
          <a:bodyPr/>
          <a:lstStyle/>
          <a:p>
            <a:fld id="{86CB4B4D-7CA3-9044-876B-883B54F8677D}" type="slidenum">
              <a:rPr lang="en-US" altLang="zh-TW" smtClean="0"/>
              <a:t>14</a:t>
            </a:fld>
            <a:endParaRPr lang="zh-TW" altLang="en-US"/>
          </a:p>
        </p:txBody>
      </p:sp>
      <p:pic>
        <p:nvPicPr>
          <p:cNvPr id="1028" name="Picture 4">
            <a:extLst>
              <a:ext uri="{FF2B5EF4-FFF2-40B4-BE49-F238E27FC236}">
                <a16:creationId xmlns:a16="http://schemas.microsoft.com/office/drawing/2014/main" id="{4C1ED5CE-E86E-F228-39A1-A869F98D2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924" y="1796081"/>
            <a:ext cx="23340491" cy="11610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68064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416DE6-C1AD-A025-E99D-7846DA7ECEE1}"/>
              </a:ext>
            </a:extLst>
          </p:cNvPr>
          <p:cNvSpPr>
            <a:spLocks noGrp="1"/>
          </p:cNvSpPr>
          <p:nvPr>
            <p:ph type="title"/>
          </p:nvPr>
        </p:nvSpPr>
        <p:spPr/>
        <p:txBody>
          <a:bodyPr/>
          <a:lstStyle/>
          <a:p>
            <a:r>
              <a:rPr kumimoji="1" lang="en-US" altLang="zh-TW" dirty="0"/>
              <a:t>Solution - LLM Agent Design</a:t>
            </a:r>
            <a:endParaRPr kumimoji="1" lang="zh-TW" altLang="en-US" dirty="0"/>
          </a:p>
        </p:txBody>
      </p:sp>
      <p:sp>
        <p:nvSpPr>
          <p:cNvPr id="3" name="文字版面配置區 2">
            <a:extLst>
              <a:ext uri="{FF2B5EF4-FFF2-40B4-BE49-F238E27FC236}">
                <a16:creationId xmlns:a16="http://schemas.microsoft.com/office/drawing/2014/main" id="{9218F99B-14D8-9311-F758-8AF95314FEC9}"/>
              </a:ext>
            </a:extLst>
          </p:cNvPr>
          <p:cNvSpPr>
            <a:spLocks noGrp="1"/>
          </p:cNvSpPr>
          <p:nvPr>
            <p:ph type="body" idx="1"/>
          </p:nvPr>
        </p:nvSpPr>
        <p:spPr>
          <a:xfrm>
            <a:off x="1206500" y="3985850"/>
            <a:ext cx="21971000" cy="8256012"/>
          </a:xfrm>
        </p:spPr>
        <p:txBody>
          <a:bodyPr>
            <a:normAutofit fontScale="92500" lnSpcReduction="10000"/>
          </a:bodyPr>
          <a:lstStyle/>
          <a:p>
            <a:r>
              <a:rPr kumimoji="1" lang="en-US" altLang="zh-TW" dirty="0"/>
              <a:t>Why Two LLMs?</a:t>
            </a:r>
          </a:p>
          <a:p>
            <a:pPr lvl="1"/>
            <a:r>
              <a:rPr kumimoji="1" lang="en-US" altLang="zh-TW" sz="3500" dirty="0">
                <a:latin typeface="Times New Roman" panose="02020603050405020304" pitchFamily="18" charset="0"/>
                <a:cs typeface="Times New Roman" panose="02020603050405020304" pitchFamily="18" charset="0"/>
              </a:rPr>
              <a:t>Separate attacker-intent reasoning from execution planning</a:t>
            </a:r>
          </a:p>
          <a:p>
            <a:r>
              <a:rPr kumimoji="1" lang="en-US" altLang="zh-TW" dirty="0"/>
              <a:t>Why MCP?</a:t>
            </a:r>
          </a:p>
          <a:p>
            <a:pPr lvl="1"/>
            <a:r>
              <a:rPr kumimoji="1" lang="en-US" altLang="zh-TW" sz="3500" dirty="0">
                <a:latin typeface="Times New Roman" panose="02020603050405020304" pitchFamily="18" charset="0"/>
                <a:cs typeface="Times New Roman" panose="02020603050405020304" pitchFamily="18" charset="0"/>
              </a:rPr>
              <a:t> Restrict LLM actions to validated, executable environment operations</a:t>
            </a:r>
          </a:p>
          <a:p>
            <a:r>
              <a:rPr kumimoji="1" lang="en-US" altLang="zh-TW" dirty="0"/>
              <a:t>Why fine-tune the Planner?</a:t>
            </a:r>
          </a:p>
          <a:p>
            <a:pPr lvl="1"/>
            <a:r>
              <a:rPr kumimoji="1" lang="en-US" altLang="zh-TW" sz="3500" dirty="0">
                <a:latin typeface="Times New Roman" panose="02020603050405020304" pitchFamily="18" charset="0"/>
                <a:cs typeface="Times New Roman" panose="02020603050405020304" pitchFamily="18" charset="0"/>
              </a:rPr>
              <a:t> Improve schema-compliant arguments and cross-tool consistency</a:t>
            </a:r>
          </a:p>
          <a:p>
            <a:r>
              <a:rPr kumimoji="1" lang="en-US" altLang="zh-TW" dirty="0"/>
              <a:t>Why Environment-level</a:t>
            </a:r>
            <a:r>
              <a:rPr kumimoji="1" lang="zh-TW" altLang="en-US" dirty="0"/>
              <a:t> </a:t>
            </a:r>
            <a:r>
              <a:rPr kumimoji="1" lang="en-US" altLang="zh-TW" dirty="0"/>
              <a:t>modifications?</a:t>
            </a:r>
          </a:p>
          <a:p>
            <a:pPr lvl="1"/>
            <a:r>
              <a:rPr kumimoji="1" lang="en-US" altLang="zh-TW" sz="3500" dirty="0">
                <a:latin typeface="Times New Roman" panose="02020603050405020304" pitchFamily="18" charset="0"/>
                <a:cs typeface="Times New Roman" panose="02020603050405020304" pitchFamily="18" charset="0"/>
              </a:rPr>
              <a:t> Persistent state changes support deeper and verifiable attacks</a:t>
            </a:r>
          </a:p>
        </p:txBody>
      </p:sp>
      <p:sp>
        <p:nvSpPr>
          <p:cNvPr id="4" name="投影片編號版面配置區 3">
            <a:extLst>
              <a:ext uri="{FF2B5EF4-FFF2-40B4-BE49-F238E27FC236}">
                <a16:creationId xmlns:a16="http://schemas.microsoft.com/office/drawing/2014/main" id="{68E69869-A47C-0AAA-7AB4-D89FB450F825}"/>
              </a:ext>
            </a:extLst>
          </p:cNvPr>
          <p:cNvSpPr>
            <a:spLocks noGrp="1"/>
          </p:cNvSpPr>
          <p:nvPr>
            <p:ph type="sldNum" sz="quarter" idx="2"/>
          </p:nvPr>
        </p:nvSpPr>
        <p:spPr/>
        <p:txBody>
          <a:bodyPr/>
          <a:lstStyle/>
          <a:p>
            <a:fld id="{86CB4B4D-7CA3-9044-876B-883B54F8677D}" type="slidenum">
              <a:rPr lang="en-US" altLang="zh-TW" smtClean="0"/>
              <a:t>15</a:t>
            </a:fld>
            <a:endParaRPr lang="zh-TW" altLang="en-US"/>
          </a:p>
        </p:txBody>
      </p:sp>
      <p:pic>
        <p:nvPicPr>
          <p:cNvPr id="5" name="Picture 2">
            <a:extLst>
              <a:ext uri="{FF2B5EF4-FFF2-40B4-BE49-F238E27FC236}">
                <a16:creationId xmlns:a16="http://schemas.microsoft.com/office/drawing/2014/main" id="{504CE44F-7005-EFAF-F3A2-7BDBAE8762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38551" y="3573073"/>
            <a:ext cx="8604159" cy="7848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21371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CF06-B125-E31F-1CB4-A676A25709D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AC20A2F-504F-5F80-DFB7-BE4A33E6D49D}"/>
              </a:ext>
            </a:extLst>
          </p:cNvPr>
          <p:cNvSpPr>
            <a:spLocks noGrp="1"/>
          </p:cNvSpPr>
          <p:nvPr>
            <p:ph type="title"/>
          </p:nvPr>
        </p:nvSpPr>
        <p:spPr/>
        <p:txBody>
          <a:bodyPr/>
          <a:lstStyle/>
          <a:p>
            <a:r>
              <a:rPr kumimoji="1" lang="en-US" altLang="zh-TW" dirty="0"/>
              <a:t>Solution - Strategist LLM Design</a:t>
            </a:r>
            <a:endParaRPr kumimoji="1" lang="zh-TW" altLang="en-US" dirty="0"/>
          </a:p>
        </p:txBody>
      </p:sp>
      <p:sp>
        <p:nvSpPr>
          <p:cNvPr id="3" name="文字版面配置區 2">
            <a:extLst>
              <a:ext uri="{FF2B5EF4-FFF2-40B4-BE49-F238E27FC236}">
                <a16:creationId xmlns:a16="http://schemas.microsoft.com/office/drawing/2014/main" id="{4884E35B-78F9-429D-DF53-D2B430E1E4C9}"/>
              </a:ext>
            </a:extLst>
          </p:cNvPr>
          <p:cNvSpPr>
            <a:spLocks noGrp="1"/>
          </p:cNvSpPr>
          <p:nvPr>
            <p:ph type="body" idx="1"/>
          </p:nvPr>
        </p:nvSpPr>
        <p:spPr>
          <a:xfrm>
            <a:off x="1206500" y="3533496"/>
            <a:ext cx="12017530" cy="9103004"/>
          </a:xfrm>
        </p:spPr>
        <p:txBody>
          <a:bodyPr>
            <a:normAutofit/>
          </a:bodyPr>
          <a:lstStyle/>
          <a:p>
            <a:pPr>
              <a:spcBef>
                <a:spcPts val="2700"/>
              </a:spcBef>
            </a:pPr>
            <a:r>
              <a:rPr kumimoji="1" lang="en-US" altLang="zh-TW" sz="4400" dirty="0"/>
              <a:t>Why infer intent from command context?</a:t>
            </a:r>
          </a:p>
          <a:p>
            <a:pPr lvl="1">
              <a:spcBef>
                <a:spcPts val="2700"/>
              </a:spcBef>
            </a:pPr>
            <a:r>
              <a:rPr kumimoji="1" lang="en-US" altLang="zh-TW" sz="3200" dirty="0">
                <a:latin typeface="Times New Roman" panose="02020603050405020304" pitchFamily="18" charset="0"/>
                <a:cs typeface="Times New Roman" panose="02020603050405020304" pitchFamily="18" charset="0"/>
              </a:rPr>
              <a:t>Single commands are ambiguous; intent appears across multiple steps</a:t>
            </a:r>
          </a:p>
          <a:p>
            <a:pPr>
              <a:spcBef>
                <a:spcPts val="2700"/>
              </a:spcBef>
            </a:pPr>
            <a:r>
              <a:rPr kumimoji="1" lang="en-US" altLang="zh-TW" sz="4400" dirty="0"/>
              <a:t>Why use an LLM here?</a:t>
            </a:r>
          </a:p>
          <a:p>
            <a:pPr lvl="1">
              <a:spcBef>
                <a:spcPts val="2700"/>
              </a:spcBef>
            </a:pPr>
            <a:r>
              <a:rPr kumimoji="1" lang="en-US" altLang="zh-TW" sz="3200" dirty="0">
                <a:latin typeface="Times New Roman" panose="02020603050405020304" pitchFamily="18" charset="0"/>
                <a:cs typeface="Times New Roman" panose="02020603050405020304" pitchFamily="18" charset="0"/>
              </a:rPr>
              <a:t>Attacker behavior is open-ended and semantic, making handcrafted RL states brittle</a:t>
            </a:r>
          </a:p>
          <a:p>
            <a:pPr>
              <a:spcBef>
                <a:spcPts val="2700"/>
              </a:spcBef>
            </a:pPr>
            <a:r>
              <a:rPr kumimoji="1" lang="en-US" altLang="zh-TW" sz="4400" dirty="0"/>
              <a:t>Why select tools in the Strategist?</a:t>
            </a:r>
          </a:p>
          <a:p>
            <a:pPr lvl="1">
              <a:spcBef>
                <a:spcPts val="2700"/>
              </a:spcBef>
            </a:pPr>
            <a:r>
              <a:rPr kumimoji="1" lang="en-US" altLang="zh-TW" sz="3200" dirty="0">
                <a:latin typeface="Times New Roman" panose="02020603050405020304" pitchFamily="18" charset="0"/>
                <a:cs typeface="Times New Roman" panose="02020603050405020304" pitchFamily="18" charset="0"/>
              </a:rPr>
              <a:t>Tool choice should stay coupled with attacker understanding and engagement strategy</a:t>
            </a:r>
          </a:p>
          <a:p>
            <a:pPr>
              <a:spcBef>
                <a:spcPts val="2700"/>
              </a:spcBef>
            </a:pPr>
            <a:r>
              <a:rPr kumimoji="1" lang="en-US" altLang="zh-TW" sz="4400" dirty="0"/>
              <a:t>Why stop before execution?</a:t>
            </a:r>
          </a:p>
          <a:p>
            <a:pPr lvl="1">
              <a:spcBef>
                <a:spcPts val="2700"/>
              </a:spcBef>
            </a:pPr>
            <a:r>
              <a:rPr kumimoji="1" lang="en-US" altLang="zh-TW" sz="3200" dirty="0">
                <a:latin typeface="Times New Roman" panose="02020603050405020304" pitchFamily="18" charset="0"/>
                <a:cs typeface="Times New Roman" panose="02020603050405020304" pitchFamily="18" charset="0"/>
              </a:rPr>
              <a:t>Execution details would mix semantic reasoning with host-level deployment complexity</a:t>
            </a:r>
          </a:p>
        </p:txBody>
      </p:sp>
      <p:sp>
        <p:nvSpPr>
          <p:cNvPr id="4" name="投影片編號版面配置區 3">
            <a:extLst>
              <a:ext uri="{FF2B5EF4-FFF2-40B4-BE49-F238E27FC236}">
                <a16:creationId xmlns:a16="http://schemas.microsoft.com/office/drawing/2014/main" id="{059F6A01-6C5D-D91A-B288-9325BAE3F590}"/>
              </a:ext>
            </a:extLst>
          </p:cNvPr>
          <p:cNvSpPr>
            <a:spLocks noGrp="1"/>
          </p:cNvSpPr>
          <p:nvPr>
            <p:ph type="sldNum" sz="quarter" idx="2"/>
          </p:nvPr>
        </p:nvSpPr>
        <p:spPr/>
        <p:txBody>
          <a:bodyPr/>
          <a:lstStyle/>
          <a:p>
            <a:fld id="{86CB4B4D-7CA3-9044-876B-883B54F8677D}" type="slidenum">
              <a:rPr lang="en-US" altLang="zh-TW" smtClean="0"/>
              <a:t>16</a:t>
            </a:fld>
            <a:endParaRPr lang="zh-TW" altLang="en-US"/>
          </a:p>
        </p:txBody>
      </p:sp>
      <p:pic>
        <p:nvPicPr>
          <p:cNvPr id="5" name="Picture 4">
            <a:extLst>
              <a:ext uri="{FF2B5EF4-FFF2-40B4-BE49-F238E27FC236}">
                <a16:creationId xmlns:a16="http://schemas.microsoft.com/office/drawing/2014/main" id="{13B097C1-0ADB-D2DB-5ED3-3E8179CEB4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144" y="4663440"/>
            <a:ext cx="10701594" cy="7272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49883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A76FB-75A3-E379-F14E-845EA0BDDB5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DAD232C-90FC-FCE5-9AA8-B396630B617E}"/>
              </a:ext>
            </a:extLst>
          </p:cNvPr>
          <p:cNvSpPr>
            <a:spLocks noGrp="1"/>
          </p:cNvSpPr>
          <p:nvPr>
            <p:ph type="title"/>
          </p:nvPr>
        </p:nvSpPr>
        <p:spPr/>
        <p:txBody>
          <a:bodyPr/>
          <a:lstStyle/>
          <a:p>
            <a:r>
              <a:rPr kumimoji="1" lang="en-US" altLang="zh-TW" dirty="0"/>
              <a:t>Solution - Planner LLM and MCP Execution</a:t>
            </a:r>
            <a:endParaRPr kumimoji="1" lang="zh-TW" altLang="en-US" dirty="0"/>
          </a:p>
        </p:txBody>
      </p:sp>
      <p:sp>
        <p:nvSpPr>
          <p:cNvPr id="4" name="投影片編號版面配置區 3">
            <a:extLst>
              <a:ext uri="{FF2B5EF4-FFF2-40B4-BE49-F238E27FC236}">
                <a16:creationId xmlns:a16="http://schemas.microsoft.com/office/drawing/2014/main" id="{9914338B-7917-0E53-49D9-5836DF95FE80}"/>
              </a:ext>
            </a:extLst>
          </p:cNvPr>
          <p:cNvSpPr>
            <a:spLocks noGrp="1"/>
          </p:cNvSpPr>
          <p:nvPr>
            <p:ph type="sldNum" sz="quarter" idx="2"/>
          </p:nvPr>
        </p:nvSpPr>
        <p:spPr/>
        <p:txBody>
          <a:bodyPr/>
          <a:lstStyle/>
          <a:p>
            <a:fld id="{86CB4B4D-7CA3-9044-876B-883B54F8677D}" type="slidenum">
              <a:rPr lang="en-US" altLang="zh-TW" smtClean="0"/>
              <a:t>17</a:t>
            </a:fld>
            <a:endParaRPr lang="zh-TW" altLang="en-US"/>
          </a:p>
        </p:txBody>
      </p:sp>
      <p:pic>
        <p:nvPicPr>
          <p:cNvPr id="5122" name="Picture 2">
            <a:extLst>
              <a:ext uri="{FF2B5EF4-FFF2-40B4-BE49-F238E27FC236}">
                <a16:creationId xmlns:a16="http://schemas.microsoft.com/office/drawing/2014/main" id="{9C48C53C-9882-4410-5716-306A80492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63822" y="4251656"/>
            <a:ext cx="11330274" cy="8229357"/>
          </a:xfrm>
          <a:prstGeom prst="rect">
            <a:avLst/>
          </a:prstGeom>
          <a:noFill/>
          <a:extLst>
            <a:ext uri="{909E8E84-426E-40DD-AFC4-6F175D3DCCD1}">
              <a14:hiddenFill xmlns:a14="http://schemas.microsoft.com/office/drawing/2010/main">
                <a:solidFill>
                  <a:srgbClr val="FFFFFF"/>
                </a:solidFill>
              </a14:hiddenFill>
            </a:ext>
          </a:extLst>
        </p:spPr>
      </p:pic>
      <p:sp>
        <p:nvSpPr>
          <p:cNvPr id="7" name="文字版面配置區 2">
            <a:extLst>
              <a:ext uri="{FF2B5EF4-FFF2-40B4-BE49-F238E27FC236}">
                <a16:creationId xmlns:a16="http://schemas.microsoft.com/office/drawing/2014/main" id="{ED9D9E91-D21F-4363-0BAB-C7C3332D8F5C}"/>
              </a:ext>
            </a:extLst>
          </p:cNvPr>
          <p:cNvSpPr>
            <a:spLocks noGrp="1"/>
          </p:cNvSpPr>
          <p:nvPr>
            <p:ph type="body" idx="1"/>
          </p:nvPr>
        </p:nvSpPr>
        <p:spPr>
          <a:xfrm>
            <a:off x="1057966" y="3474720"/>
            <a:ext cx="12017530" cy="10478516"/>
          </a:xfrm>
        </p:spPr>
        <p:txBody>
          <a:bodyPr>
            <a:normAutofit/>
          </a:bodyPr>
          <a:lstStyle/>
          <a:p>
            <a:pPr>
              <a:spcBef>
                <a:spcPts val="2700"/>
              </a:spcBef>
            </a:pPr>
            <a:r>
              <a:rPr kumimoji="1" lang="en-US" altLang="zh-TW" sz="4400" dirty="0"/>
              <a:t>Why not generate replies?</a:t>
            </a:r>
          </a:p>
          <a:p>
            <a:pPr lvl="1">
              <a:spcBef>
                <a:spcPts val="2700"/>
              </a:spcBef>
            </a:pPr>
            <a:r>
              <a:rPr kumimoji="1" lang="en-US" altLang="zh-TW" sz="3200" dirty="0">
                <a:latin typeface="Times New Roman" panose="02020603050405020304" pitchFamily="18" charset="0"/>
                <a:cs typeface="Times New Roman" panose="02020603050405020304" pitchFamily="18" charset="0"/>
              </a:rPr>
              <a:t>Reply-level deception breaks when attackers verify files, accounts, services, or hosts</a:t>
            </a:r>
          </a:p>
          <a:p>
            <a:pPr>
              <a:spcBef>
                <a:spcPts val="2700"/>
              </a:spcBef>
            </a:pPr>
            <a:r>
              <a:rPr kumimoji="1" lang="en-US" altLang="zh-TW" sz="4400" dirty="0"/>
              <a:t>Why not use fixed scripts?</a:t>
            </a:r>
          </a:p>
          <a:p>
            <a:pPr lvl="1">
              <a:spcBef>
                <a:spcPts val="2700"/>
              </a:spcBef>
            </a:pPr>
            <a:r>
              <a:rPr kumimoji="1" lang="en-US" altLang="zh-TW" sz="3200" dirty="0">
                <a:latin typeface="Times New Roman" panose="02020603050405020304" pitchFamily="18" charset="0"/>
                <a:cs typeface="Times New Roman" panose="02020603050405020304" pitchFamily="18" charset="0"/>
              </a:rPr>
              <a:t>Fixed scripts are reliable but cannot adapt to different attacker contexts</a:t>
            </a:r>
          </a:p>
          <a:p>
            <a:pPr>
              <a:spcBef>
                <a:spcPts val="2700"/>
              </a:spcBef>
            </a:pPr>
            <a:r>
              <a:rPr kumimoji="1" lang="en-US" altLang="zh-TW" sz="4400" dirty="0"/>
              <a:t>Why not let LLM write scripts?</a:t>
            </a:r>
          </a:p>
          <a:p>
            <a:pPr lvl="1">
              <a:spcBef>
                <a:spcPts val="2700"/>
              </a:spcBef>
            </a:pPr>
            <a:r>
              <a:rPr kumimoji="1" lang="en-US" altLang="zh-TW" sz="3200" dirty="0">
                <a:latin typeface="Times New Roman" panose="02020603050405020304" pitchFamily="18" charset="0"/>
                <a:cs typeface="Times New Roman" panose="02020603050405020304" pitchFamily="18" charset="0"/>
              </a:rPr>
              <a:t>Free-form script generation is flexible but unstable and hard to debug</a:t>
            </a:r>
          </a:p>
          <a:p>
            <a:pPr>
              <a:spcBef>
                <a:spcPts val="2700"/>
              </a:spcBef>
            </a:pPr>
            <a:r>
              <a:rPr kumimoji="1" lang="en-US" altLang="zh-TW" sz="4400" dirty="0"/>
              <a:t>Why Planner + MCP?</a:t>
            </a:r>
          </a:p>
          <a:p>
            <a:pPr lvl="1">
              <a:spcBef>
                <a:spcPts val="2700"/>
              </a:spcBef>
            </a:pPr>
            <a:r>
              <a:rPr kumimoji="1" lang="en-US" altLang="zh-TW" sz="3200" dirty="0">
                <a:latin typeface="Times New Roman" panose="02020603050405020304" pitchFamily="18" charset="0"/>
                <a:cs typeface="Times New Roman" panose="02020603050405020304" pitchFamily="18" charset="0"/>
              </a:rPr>
              <a:t>Planner generates structured arguments; MCP validates and renders executable templates</a:t>
            </a:r>
            <a:endParaRPr kumimoji="1" lang="en-US"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431835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417447-6065-486A-A5E2-4F2C850F48DD}"/>
              </a:ext>
            </a:extLst>
          </p:cNvPr>
          <p:cNvSpPr>
            <a:spLocks noGrp="1"/>
          </p:cNvSpPr>
          <p:nvPr>
            <p:ph type="title"/>
          </p:nvPr>
        </p:nvSpPr>
        <p:spPr/>
        <p:txBody>
          <a:bodyPr/>
          <a:lstStyle/>
          <a:p>
            <a:r>
              <a:rPr lang="en-US" altLang="zh-TW" dirty="0"/>
              <a:t>Solution - MCP </a:t>
            </a:r>
            <a:r>
              <a:rPr lang="en-US" altLang="zh-TW" dirty="0" err="1"/>
              <a:t>ToolKit</a:t>
            </a:r>
            <a:r>
              <a:rPr lang="en-US" altLang="zh-TW" dirty="0"/>
              <a:t> Design</a:t>
            </a:r>
            <a:endParaRPr kumimoji="1" lang="zh-TW" altLang="en-US" dirty="0"/>
          </a:p>
        </p:txBody>
      </p:sp>
      <p:sp>
        <p:nvSpPr>
          <p:cNvPr id="4" name="投影片編號版面配置區 3">
            <a:extLst>
              <a:ext uri="{FF2B5EF4-FFF2-40B4-BE49-F238E27FC236}">
                <a16:creationId xmlns:a16="http://schemas.microsoft.com/office/drawing/2014/main" id="{9D13808B-1C54-FC9A-65EC-84AE6071319C}"/>
              </a:ext>
            </a:extLst>
          </p:cNvPr>
          <p:cNvSpPr>
            <a:spLocks noGrp="1"/>
          </p:cNvSpPr>
          <p:nvPr>
            <p:ph type="sldNum" sz="quarter" idx="2"/>
          </p:nvPr>
        </p:nvSpPr>
        <p:spPr/>
        <p:txBody>
          <a:bodyPr/>
          <a:lstStyle/>
          <a:p>
            <a:fld id="{86CB4B4D-7CA3-9044-876B-883B54F8677D}" type="slidenum">
              <a:rPr lang="en-US" altLang="zh-TW" smtClean="0"/>
              <a:t>18</a:t>
            </a:fld>
            <a:endParaRPr lang="zh-TW" altLang="en-US"/>
          </a:p>
        </p:txBody>
      </p:sp>
      <p:graphicFrame>
        <p:nvGraphicFramePr>
          <p:cNvPr id="5" name="表格 4">
            <a:extLst>
              <a:ext uri="{FF2B5EF4-FFF2-40B4-BE49-F238E27FC236}">
                <a16:creationId xmlns:a16="http://schemas.microsoft.com/office/drawing/2014/main" id="{F8F3346F-1CAA-D552-D47A-856B587ECEF8}"/>
              </a:ext>
            </a:extLst>
          </p:cNvPr>
          <p:cNvGraphicFramePr>
            <a:graphicFrameLocks noGrp="1"/>
          </p:cNvGraphicFramePr>
          <p:nvPr>
            <p:extLst>
              <p:ext uri="{D42A27DB-BD31-4B8C-83A1-F6EECF244321}">
                <p14:modId xmlns:p14="http://schemas.microsoft.com/office/powerpoint/2010/main" val="3189229623"/>
              </p:ext>
            </p:extLst>
          </p:nvPr>
        </p:nvGraphicFramePr>
        <p:xfrm>
          <a:off x="863600" y="2512663"/>
          <a:ext cx="22679119" cy="10518912"/>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581196371"/>
                    </a:ext>
                  </a:extLst>
                </a:gridCol>
                <a:gridCol w="1524000">
                  <a:extLst>
                    <a:ext uri="{9D8B030D-6E8A-4147-A177-3AD203B41FA5}">
                      <a16:colId xmlns:a16="http://schemas.microsoft.com/office/drawing/2014/main" val="1906712308"/>
                    </a:ext>
                  </a:extLst>
                </a:gridCol>
                <a:gridCol w="2369017">
                  <a:extLst>
                    <a:ext uri="{9D8B030D-6E8A-4147-A177-3AD203B41FA5}">
                      <a16:colId xmlns:a16="http://schemas.microsoft.com/office/drawing/2014/main" val="1618240285"/>
                    </a:ext>
                  </a:extLst>
                </a:gridCol>
                <a:gridCol w="2369017">
                  <a:extLst>
                    <a:ext uri="{9D8B030D-6E8A-4147-A177-3AD203B41FA5}">
                      <a16:colId xmlns:a16="http://schemas.microsoft.com/office/drawing/2014/main" val="2888855771"/>
                    </a:ext>
                  </a:extLst>
                </a:gridCol>
                <a:gridCol w="2369017">
                  <a:extLst>
                    <a:ext uri="{9D8B030D-6E8A-4147-A177-3AD203B41FA5}">
                      <a16:colId xmlns:a16="http://schemas.microsoft.com/office/drawing/2014/main" val="2808452969"/>
                    </a:ext>
                  </a:extLst>
                </a:gridCol>
                <a:gridCol w="2369017">
                  <a:extLst>
                    <a:ext uri="{9D8B030D-6E8A-4147-A177-3AD203B41FA5}">
                      <a16:colId xmlns:a16="http://schemas.microsoft.com/office/drawing/2014/main" val="3093104106"/>
                    </a:ext>
                  </a:extLst>
                </a:gridCol>
                <a:gridCol w="2369017">
                  <a:extLst>
                    <a:ext uri="{9D8B030D-6E8A-4147-A177-3AD203B41FA5}">
                      <a16:colId xmlns:a16="http://schemas.microsoft.com/office/drawing/2014/main" val="2901144600"/>
                    </a:ext>
                  </a:extLst>
                </a:gridCol>
                <a:gridCol w="2369017">
                  <a:extLst>
                    <a:ext uri="{9D8B030D-6E8A-4147-A177-3AD203B41FA5}">
                      <a16:colId xmlns:a16="http://schemas.microsoft.com/office/drawing/2014/main" val="1636423434"/>
                    </a:ext>
                  </a:extLst>
                </a:gridCol>
                <a:gridCol w="2369017">
                  <a:extLst>
                    <a:ext uri="{9D8B030D-6E8A-4147-A177-3AD203B41FA5}">
                      <a16:colId xmlns:a16="http://schemas.microsoft.com/office/drawing/2014/main" val="1736066988"/>
                    </a:ext>
                  </a:extLst>
                </a:gridCol>
              </a:tblGrid>
              <a:tr h="961633">
                <a:tc rowSpan="2">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Tool</a:t>
                      </a:r>
                      <a:r>
                        <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rPr>
                        <a:t> </a:t>
                      </a:r>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Group</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#Tools</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7">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Inspired  from Engage Affect Activity</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258496966"/>
                  </a:ext>
                </a:extLst>
              </a:tr>
              <a:tr h="1380567">
                <a:tc vMerge="1">
                  <a:txBody>
                    <a:bodyPr/>
                    <a:lstStyle/>
                    <a:p>
                      <a:r>
                        <a:rPr lang="en-US" altLang="zh-TW" dirty="0"/>
                        <a:t>Action</a:t>
                      </a:r>
                      <a:endParaRPr lang="zh-TW" altLang="en-US" dirty="0"/>
                    </a:p>
                  </a:txBody>
                  <a:tcPr/>
                </a:tc>
                <a:tc vMerge="1">
                  <a:txBody>
                    <a:bodyPr/>
                    <a:lstStyle/>
                    <a:p>
                      <a:endParaRPr lang="zh-TW" altLang="en-US"/>
                    </a:p>
                  </a:txBody>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Lures</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Personas</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Artifact Diversity</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Information Manipulation</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Introduced Vulnerabilities</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Network Manipulation</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Email Manipulation</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291150"/>
                  </a:ext>
                </a:extLst>
              </a:tr>
              <a:tr h="1022089">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Identity and Account Exposure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6514880"/>
                  </a:ext>
                </a:extLst>
              </a:tr>
              <a:tr h="1022089">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Credential Bait</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3</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1223437"/>
                  </a:ext>
                </a:extLst>
              </a:tr>
              <a:tr h="1022089">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Artifact and Data Decoys</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11</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7178544"/>
                  </a:ext>
                </a:extLst>
              </a:tr>
              <a:tr h="1022089">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Breadcrumb and Misdirection</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5</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641359"/>
                  </a:ext>
                </a:extLst>
              </a:tr>
              <a:tr h="1022089">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Privilege Escalation Lures</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2</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4711895"/>
                  </a:ext>
                </a:extLst>
              </a:tr>
              <a:tr h="1022089">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Service and Endpoint Lures</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3</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4632921"/>
                  </a:ext>
                </a:extLst>
              </a:tr>
              <a:tr h="1022089">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Controlled Failure Induction</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7</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757214"/>
                  </a:ext>
                </a:extLst>
              </a:tr>
              <a:tr h="1022089">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Cross-host Movement Bait</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1</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1759512"/>
                  </a:ext>
                </a:extLst>
              </a:tr>
            </a:tbl>
          </a:graphicData>
        </a:graphic>
      </p:graphicFrame>
    </p:spTree>
    <p:extLst>
      <p:ext uri="{BB962C8B-B14F-4D97-AF65-F5344CB8AC3E}">
        <p14:creationId xmlns:p14="http://schemas.microsoft.com/office/powerpoint/2010/main" val="332244591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04020-2881-091E-93EB-1FD75E73140B}"/>
            </a:ext>
          </a:extLst>
        </p:cNvPr>
        <p:cNvGrpSpPr/>
        <p:nvPr/>
      </p:nvGrpSpPr>
      <p:grpSpPr>
        <a:xfrm>
          <a:off x="0" y="0"/>
          <a:ext cx="0" cy="0"/>
          <a:chOff x="0" y="0"/>
          <a:chExt cx="0" cy="0"/>
        </a:xfrm>
      </p:grpSpPr>
      <p:sp>
        <p:nvSpPr>
          <p:cNvPr id="232" name="Solution Overview">
            <a:extLst>
              <a:ext uri="{FF2B5EF4-FFF2-40B4-BE49-F238E27FC236}">
                <a16:creationId xmlns:a16="http://schemas.microsoft.com/office/drawing/2014/main" id="{6FAE7E94-83B0-49EE-A223-7F9A6C95C5B6}"/>
              </a:ext>
            </a:extLst>
          </p:cNvPr>
          <p:cNvSpPr txBox="1">
            <a:spLocks noGrp="1"/>
          </p:cNvSpPr>
          <p:nvPr>
            <p:ph type="title"/>
          </p:nvPr>
        </p:nvSpPr>
        <p:spPr>
          <a:prstGeom prst="rect">
            <a:avLst/>
          </a:prstGeom>
        </p:spPr>
        <p:txBody>
          <a:bodyPr/>
          <a:lstStyle/>
          <a:p>
            <a:r>
              <a:rPr lang="en-US" altLang="zh-TW" dirty="0"/>
              <a:t>Implementation - System Architecture</a:t>
            </a:r>
            <a:endParaRPr dirty="0"/>
          </a:p>
        </p:txBody>
      </p:sp>
      <p:sp>
        <p:nvSpPr>
          <p:cNvPr id="4" name="投影片編號版面配置區 3">
            <a:extLst>
              <a:ext uri="{FF2B5EF4-FFF2-40B4-BE49-F238E27FC236}">
                <a16:creationId xmlns:a16="http://schemas.microsoft.com/office/drawing/2014/main" id="{78F92ADD-FABF-21D0-F8D6-AD9C8851481F}"/>
              </a:ext>
            </a:extLst>
          </p:cNvPr>
          <p:cNvSpPr>
            <a:spLocks noGrp="1"/>
          </p:cNvSpPr>
          <p:nvPr>
            <p:ph type="sldNum" sz="quarter" idx="2"/>
          </p:nvPr>
        </p:nvSpPr>
        <p:spPr/>
        <p:txBody>
          <a:bodyPr/>
          <a:lstStyle/>
          <a:p>
            <a:fld id="{86CB4B4D-7CA3-9044-876B-883B54F8677D}" type="slidenum">
              <a:rPr lang="en-US" altLang="zh-TW" smtClean="0"/>
              <a:t>19</a:t>
            </a:fld>
            <a:endParaRPr lang="zh-TW" altLang="en-US"/>
          </a:p>
        </p:txBody>
      </p:sp>
      <p:pic>
        <p:nvPicPr>
          <p:cNvPr id="4104" name="Picture 8">
            <a:extLst>
              <a:ext uri="{FF2B5EF4-FFF2-40B4-BE49-F238E27FC236}">
                <a16:creationId xmlns:a16="http://schemas.microsoft.com/office/drawing/2014/main" id="{14E8483E-A453-16ED-B23F-F3BF70460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556" y="2291028"/>
            <a:ext cx="22624154" cy="11424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59393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3781A-3845-47CF-8003-EE1E028B7A66}"/>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686B95D8-6D2F-D6AC-3D3D-EE586A81E3C9}"/>
              </a:ext>
            </a:extLst>
          </p:cNvPr>
          <p:cNvSpPr txBox="1">
            <a:spLocks noGrp="1"/>
          </p:cNvSpPr>
          <p:nvPr>
            <p:ph type="body" idx="1"/>
          </p:nvPr>
        </p:nvSpPr>
        <p:spPr>
          <a:xfrm>
            <a:off x="1206500" y="2927686"/>
            <a:ext cx="21971000" cy="3331534"/>
          </a:xfrm>
          <a:prstGeom prst="rect">
            <a:avLst/>
          </a:prstGeom>
        </p:spPr>
        <p:txBody>
          <a:bodyPr>
            <a:normAutofit/>
          </a:bodyPr>
          <a:lstStyle/>
          <a:p>
            <a:pPr>
              <a:lnSpc>
                <a:spcPct val="120000"/>
              </a:lnSpc>
              <a:spcBef>
                <a:spcPts val="300"/>
              </a:spcBef>
              <a:defRPr sz="4600"/>
            </a:pPr>
            <a:r>
              <a:rPr lang="en-US" sz="4000" dirty="0"/>
              <a:t>Base scenarios are expanded into controlled variants</a:t>
            </a:r>
          </a:p>
          <a:p>
            <a:pPr>
              <a:lnSpc>
                <a:spcPct val="120000"/>
              </a:lnSpc>
              <a:spcBef>
                <a:spcPts val="300"/>
              </a:spcBef>
              <a:defRPr sz="4600"/>
            </a:pPr>
            <a:r>
              <a:rPr lang="en-US" sz="4000" dirty="0"/>
              <a:t>Teacher LLMs generate multiple candidate strategies and plans</a:t>
            </a:r>
          </a:p>
          <a:p>
            <a:pPr>
              <a:lnSpc>
                <a:spcPct val="120000"/>
              </a:lnSpc>
              <a:spcBef>
                <a:spcPts val="300"/>
              </a:spcBef>
              <a:defRPr sz="4600"/>
            </a:pPr>
            <a:r>
              <a:rPr lang="en-US" sz="4000" dirty="0"/>
              <a:t>Graders and validators select schema-valid outputs</a:t>
            </a:r>
          </a:p>
          <a:p>
            <a:pPr>
              <a:lnSpc>
                <a:spcPct val="120000"/>
              </a:lnSpc>
              <a:spcBef>
                <a:spcPts val="300"/>
              </a:spcBef>
              <a:defRPr sz="4600"/>
            </a:pPr>
            <a:r>
              <a:rPr lang="en-US" sz="4000" dirty="0"/>
              <a:t>Final data pairs strategy/tool context with validated Planner plans</a:t>
            </a:r>
            <a:endParaRPr lang="en-US" sz="3200" dirty="0">
              <a:latin typeface="Times New Roman" panose="02020603050405020304" pitchFamily="18" charset="0"/>
              <a:cs typeface="Times New Roman" panose="02020603050405020304" pitchFamily="18" charset="0"/>
            </a:endParaRPr>
          </a:p>
        </p:txBody>
      </p:sp>
      <p:sp>
        <p:nvSpPr>
          <p:cNvPr id="250" name="Solution - Knowledge Distillation">
            <a:extLst>
              <a:ext uri="{FF2B5EF4-FFF2-40B4-BE49-F238E27FC236}">
                <a16:creationId xmlns:a16="http://schemas.microsoft.com/office/drawing/2014/main" id="{D37896A2-28AE-060F-13C8-083A6C7E8E17}"/>
              </a:ext>
            </a:extLst>
          </p:cNvPr>
          <p:cNvSpPr txBox="1">
            <a:spLocks noGrp="1"/>
          </p:cNvSpPr>
          <p:nvPr>
            <p:ph type="title"/>
          </p:nvPr>
        </p:nvSpPr>
        <p:spPr>
          <a:prstGeom prst="rect">
            <a:avLst/>
          </a:prstGeom>
        </p:spPr>
        <p:txBody>
          <a:bodyPr/>
          <a:lstStyle/>
          <a:p>
            <a:r>
              <a:rPr lang="en-US" altLang="zh-TW" dirty="0"/>
              <a:t>Implementation</a:t>
            </a:r>
            <a:r>
              <a:rPr dirty="0"/>
              <a:t> </a:t>
            </a:r>
            <a:r>
              <a:rPr lang="en-US" dirty="0"/>
              <a:t>-</a:t>
            </a:r>
            <a:r>
              <a:rPr dirty="0"/>
              <a:t> </a:t>
            </a:r>
            <a:r>
              <a:rPr lang="en-US" dirty="0"/>
              <a:t>Dataset Generation</a:t>
            </a:r>
            <a:endParaRPr dirty="0"/>
          </a:p>
        </p:txBody>
      </p:sp>
      <p:sp>
        <p:nvSpPr>
          <p:cNvPr id="2" name="投影片編號版面配置區 1">
            <a:extLst>
              <a:ext uri="{FF2B5EF4-FFF2-40B4-BE49-F238E27FC236}">
                <a16:creationId xmlns:a16="http://schemas.microsoft.com/office/drawing/2014/main" id="{4956124C-2F44-A0F2-A541-DBF3AC53A801}"/>
              </a:ext>
            </a:extLst>
          </p:cNvPr>
          <p:cNvSpPr>
            <a:spLocks noGrp="1"/>
          </p:cNvSpPr>
          <p:nvPr>
            <p:ph type="sldNum" sz="quarter" idx="2"/>
          </p:nvPr>
        </p:nvSpPr>
        <p:spPr/>
        <p:txBody>
          <a:bodyPr/>
          <a:lstStyle/>
          <a:p>
            <a:fld id="{86CB4B4D-7CA3-9044-876B-883B54F8677D}" type="slidenum">
              <a:rPr lang="en-US" altLang="zh-TW" smtClean="0"/>
              <a:t>20</a:t>
            </a:fld>
            <a:endParaRPr lang="zh-TW" altLang="en-US"/>
          </a:p>
        </p:txBody>
      </p:sp>
      <p:pic>
        <p:nvPicPr>
          <p:cNvPr id="7170" name="Picture 2">
            <a:extLst>
              <a:ext uri="{FF2B5EF4-FFF2-40B4-BE49-F238E27FC236}">
                <a16:creationId xmlns:a16="http://schemas.microsoft.com/office/drawing/2014/main" id="{6D7AC0D5-F24A-1220-9172-C6CC3DB11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057" y="6497053"/>
            <a:ext cx="21767886" cy="6909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52770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281E9-048D-BA34-C324-67A0467C5406}"/>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30DF82A1-C0EC-6854-322B-3137B7F402B1}"/>
              </a:ext>
            </a:extLst>
          </p:cNvPr>
          <p:cNvSpPr txBox="1">
            <a:spLocks noGrp="1"/>
          </p:cNvSpPr>
          <p:nvPr>
            <p:ph type="body" idx="1"/>
          </p:nvPr>
        </p:nvSpPr>
        <p:spPr>
          <a:xfrm>
            <a:off x="1200251" y="3048001"/>
            <a:ext cx="21971000" cy="3650512"/>
          </a:xfrm>
          <a:prstGeom prst="rect">
            <a:avLst/>
          </a:prstGeom>
        </p:spPr>
        <p:txBody>
          <a:bodyPr>
            <a:normAutofit/>
          </a:bodyPr>
          <a:lstStyle/>
          <a:p>
            <a:pPr>
              <a:lnSpc>
                <a:spcPct val="120000"/>
              </a:lnSpc>
              <a:spcBef>
                <a:spcPts val="300"/>
              </a:spcBef>
              <a:defRPr sz="4600"/>
            </a:pPr>
            <a:r>
              <a:rPr lang="en-US" sz="4000" dirty="0"/>
              <a:t>Tool capability is first defined from the AD honeynet role</a:t>
            </a:r>
          </a:p>
          <a:p>
            <a:pPr>
              <a:lnSpc>
                <a:spcPct val="120000"/>
              </a:lnSpc>
              <a:spcBef>
                <a:spcPts val="300"/>
              </a:spcBef>
              <a:defRPr sz="4600"/>
            </a:pPr>
            <a:r>
              <a:rPr lang="en-US" sz="4000" dirty="0"/>
              <a:t>A strong LLM generates the tool spec, Ansible template, and golden arguments</a:t>
            </a:r>
          </a:p>
          <a:p>
            <a:pPr>
              <a:lnSpc>
                <a:spcPct val="120000"/>
              </a:lnSpc>
              <a:spcBef>
                <a:spcPts val="300"/>
              </a:spcBef>
              <a:defRPr sz="4600"/>
            </a:pPr>
            <a:r>
              <a:rPr lang="en-US" sz="4000" dirty="0"/>
              <a:t>The generated template is executed in the sandbox or real test environment</a:t>
            </a:r>
          </a:p>
          <a:p>
            <a:pPr>
              <a:lnSpc>
                <a:spcPct val="120000"/>
              </a:lnSpc>
              <a:spcBef>
                <a:spcPts val="300"/>
              </a:spcBef>
              <a:defRPr sz="4600"/>
            </a:pPr>
            <a:r>
              <a:rPr lang="en-US" sz="4000" dirty="0"/>
              <a:t>Only successfully validated tools are stored in the MCP toolkit registry</a:t>
            </a:r>
            <a:endParaRPr lang="en-US" sz="3200" dirty="0">
              <a:latin typeface="Times New Roman" panose="02020603050405020304" pitchFamily="18" charset="0"/>
              <a:cs typeface="Times New Roman" panose="02020603050405020304" pitchFamily="18" charset="0"/>
            </a:endParaRPr>
          </a:p>
        </p:txBody>
      </p:sp>
      <p:sp>
        <p:nvSpPr>
          <p:cNvPr id="250" name="Solution - Knowledge Distillation">
            <a:extLst>
              <a:ext uri="{FF2B5EF4-FFF2-40B4-BE49-F238E27FC236}">
                <a16:creationId xmlns:a16="http://schemas.microsoft.com/office/drawing/2014/main" id="{EEC4D89F-6BF7-812A-1259-91F8635E103F}"/>
              </a:ext>
            </a:extLst>
          </p:cNvPr>
          <p:cNvSpPr txBox="1">
            <a:spLocks noGrp="1"/>
          </p:cNvSpPr>
          <p:nvPr>
            <p:ph type="title"/>
          </p:nvPr>
        </p:nvSpPr>
        <p:spPr>
          <a:prstGeom prst="rect">
            <a:avLst/>
          </a:prstGeom>
        </p:spPr>
        <p:txBody>
          <a:bodyPr/>
          <a:lstStyle/>
          <a:p>
            <a:r>
              <a:rPr lang="en-US" altLang="zh-TW" dirty="0"/>
              <a:t>Implementation</a:t>
            </a:r>
            <a:r>
              <a:rPr dirty="0"/>
              <a:t> </a:t>
            </a:r>
            <a:r>
              <a:rPr lang="en-US" dirty="0"/>
              <a:t>-</a:t>
            </a:r>
            <a:r>
              <a:rPr dirty="0"/>
              <a:t> </a:t>
            </a:r>
            <a:r>
              <a:rPr lang="en-US" dirty="0"/>
              <a:t>MCP </a:t>
            </a:r>
            <a:r>
              <a:rPr lang="en-US" dirty="0" err="1"/>
              <a:t>ToolKit</a:t>
            </a:r>
            <a:r>
              <a:rPr lang="en-US" dirty="0"/>
              <a:t> Generation</a:t>
            </a:r>
            <a:endParaRPr dirty="0"/>
          </a:p>
        </p:txBody>
      </p:sp>
      <p:sp>
        <p:nvSpPr>
          <p:cNvPr id="2" name="投影片編號版面配置區 1">
            <a:extLst>
              <a:ext uri="{FF2B5EF4-FFF2-40B4-BE49-F238E27FC236}">
                <a16:creationId xmlns:a16="http://schemas.microsoft.com/office/drawing/2014/main" id="{908747FE-FD75-16E0-F496-B1E4643C4EF3}"/>
              </a:ext>
            </a:extLst>
          </p:cNvPr>
          <p:cNvSpPr>
            <a:spLocks noGrp="1"/>
          </p:cNvSpPr>
          <p:nvPr>
            <p:ph type="sldNum" sz="quarter" idx="2"/>
          </p:nvPr>
        </p:nvSpPr>
        <p:spPr/>
        <p:txBody>
          <a:bodyPr/>
          <a:lstStyle/>
          <a:p>
            <a:fld id="{86CB4B4D-7CA3-9044-876B-883B54F8677D}" type="slidenum">
              <a:rPr lang="en-US" altLang="zh-TW" smtClean="0"/>
              <a:t>21</a:t>
            </a:fld>
            <a:endParaRPr lang="zh-TW" altLang="en-US"/>
          </a:p>
        </p:txBody>
      </p:sp>
      <p:pic>
        <p:nvPicPr>
          <p:cNvPr id="8194" name="Picture 2">
            <a:extLst>
              <a:ext uri="{FF2B5EF4-FFF2-40B4-BE49-F238E27FC236}">
                <a16:creationId xmlns:a16="http://schemas.microsoft.com/office/drawing/2014/main" id="{C2A26665-9916-674A-9CBA-6D91309A3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251" y="6867137"/>
            <a:ext cx="21971000" cy="5769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8705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35C96-6635-87F2-057C-6279C83C498C}"/>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98E90CB6-5A97-4128-3CEF-2CF63D0E82C9}"/>
              </a:ext>
            </a:extLst>
          </p:cNvPr>
          <p:cNvSpPr txBox="1">
            <a:spLocks noGrp="1"/>
          </p:cNvSpPr>
          <p:nvPr>
            <p:ph type="body" idx="1"/>
          </p:nvPr>
        </p:nvSpPr>
        <p:spPr>
          <a:xfrm>
            <a:off x="1008755" y="4505870"/>
            <a:ext cx="11665254" cy="6162130"/>
          </a:xfrm>
          <a:prstGeom prst="rect">
            <a:avLst/>
          </a:prstGeom>
        </p:spPr>
        <p:txBody>
          <a:bodyPr/>
          <a:lstStyle/>
          <a:p>
            <a:pPr>
              <a:lnSpc>
                <a:spcPct val="100000"/>
              </a:lnSpc>
              <a:spcBef>
                <a:spcPts val="3900"/>
              </a:spcBef>
              <a:defRPr sz="4600"/>
            </a:pPr>
            <a:r>
              <a:rPr lang="en-US" sz="4000" dirty="0"/>
              <a:t>Commands are generated from previous observations</a:t>
            </a:r>
          </a:p>
          <a:p>
            <a:pPr>
              <a:lnSpc>
                <a:spcPct val="100000"/>
              </a:lnSpc>
              <a:spcBef>
                <a:spcPts val="3900"/>
              </a:spcBef>
              <a:defRPr sz="4600"/>
            </a:pPr>
            <a:r>
              <a:rPr lang="en-US" sz="4000" dirty="0"/>
              <a:t>Templates guide attack stages but do not fix the path</a:t>
            </a:r>
          </a:p>
          <a:p>
            <a:pPr>
              <a:lnSpc>
                <a:spcPct val="100000"/>
              </a:lnSpc>
              <a:spcBef>
                <a:spcPts val="3900"/>
              </a:spcBef>
              <a:defRPr sz="4600"/>
            </a:pPr>
            <a:r>
              <a:rPr lang="en-US" sz="4000" dirty="0"/>
              <a:t>The loop measures whether the honeynet can induce deeper behavior</a:t>
            </a:r>
            <a:endParaRPr lang="en-US" sz="4000" dirty="0">
              <a:latin typeface="Times New Roman" panose="02020603050405020304" pitchFamily="18" charset="0"/>
              <a:cs typeface="Times New Roman" panose="02020603050405020304" pitchFamily="18" charset="0"/>
            </a:endParaRPr>
          </a:p>
        </p:txBody>
      </p:sp>
      <p:sp>
        <p:nvSpPr>
          <p:cNvPr id="250" name="Solution - Knowledge Distillation">
            <a:extLst>
              <a:ext uri="{FF2B5EF4-FFF2-40B4-BE49-F238E27FC236}">
                <a16:creationId xmlns:a16="http://schemas.microsoft.com/office/drawing/2014/main" id="{9A6F1F24-3F4F-762E-AA02-D944D6D39A48}"/>
              </a:ext>
            </a:extLst>
          </p:cNvPr>
          <p:cNvSpPr txBox="1">
            <a:spLocks noGrp="1"/>
          </p:cNvSpPr>
          <p:nvPr>
            <p:ph type="title"/>
          </p:nvPr>
        </p:nvSpPr>
        <p:spPr>
          <a:xfrm>
            <a:off x="1206500" y="1079500"/>
            <a:ext cx="22336210" cy="1572260"/>
          </a:xfrm>
          <a:prstGeom prst="rect">
            <a:avLst/>
          </a:prstGeom>
        </p:spPr>
        <p:txBody>
          <a:bodyPr>
            <a:noAutofit/>
          </a:bodyPr>
          <a:lstStyle/>
          <a:p>
            <a:r>
              <a:rPr lang="en-US" altLang="zh-TW" dirty="0"/>
              <a:t>Implementation</a:t>
            </a:r>
            <a:r>
              <a:rPr dirty="0"/>
              <a:t> </a:t>
            </a:r>
            <a:r>
              <a:rPr lang="en-US" dirty="0"/>
              <a:t>-</a:t>
            </a:r>
            <a:r>
              <a:rPr dirty="0"/>
              <a:t> </a:t>
            </a:r>
            <a:r>
              <a:rPr lang="en-US" dirty="0"/>
              <a:t>Attacker Interaction Simulation</a:t>
            </a:r>
            <a:endParaRPr dirty="0"/>
          </a:p>
        </p:txBody>
      </p:sp>
      <p:sp>
        <p:nvSpPr>
          <p:cNvPr id="2" name="投影片編號版面配置區 1">
            <a:extLst>
              <a:ext uri="{FF2B5EF4-FFF2-40B4-BE49-F238E27FC236}">
                <a16:creationId xmlns:a16="http://schemas.microsoft.com/office/drawing/2014/main" id="{5A935CF3-FBB2-2B36-24B4-AED3DFBA5DE7}"/>
              </a:ext>
            </a:extLst>
          </p:cNvPr>
          <p:cNvSpPr>
            <a:spLocks noGrp="1"/>
          </p:cNvSpPr>
          <p:nvPr>
            <p:ph type="sldNum" sz="quarter" idx="2"/>
          </p:nvPr>
        </p:nvSpPr>
        <p:spPr/>
        <p:txBody>
          <a:bodyPr/>
          <a:lstStyle/>
          <a:p>
            <a:fld id="{86CB4B4D-7CA3-9044-876B-883B54F8677D}" type="slidenum">
              <a:rPr lang="en-US" altLang="zh-TW" smtClean="0"/>
              <a:t>22</a:t>
            </a:fld>
            <a:endParaRPr lang="zh-TW" altLang="en-US"/>
          </a:p>
        </p:txBody>
      </p:sp>
      <p:pic>
        <p:nvPicPr>
          <p:cNvPr id="13314" name="Picture 2">
            <a:extLst>
              <a:ext uri="{FF2B5EF4-FFF2-40B4-BE49-F238E27FC236}">
                <a16:creationId xmlns:a16="http://schemas.microsoft.com/office/drawing/2014/main" id="{647F9BD1-466D-3367-8A00-488009A24E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74009" y="3253563"/>
            <a:ext cx="11607647" cy="8816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06850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olution - RAG"/>
          <p:cNvSpPr txBox="1">
            <a:spLocks noGrp="1"/>
          </p:cNvSpPr>
          <p:nvPr>
            <p:ph type="title"/>
          </p:nvPr>
        </p:nvSpPr>
        <p:spPr>
          <a:xfrm>
            <a:off x="1206500" y="1079500"/>
            <a:ext cx="21927820" cy="1420681"/>
          </a:xfrm>
          <a:prstGeom prst="rect">
            <a:avLst/>
          </a:prstGeom>
        </p:spPr>
        <p:txBody>
          <a:bodyPr>
            <a:normAutofit/>
          </a:bodyPr>
          <a:lstStyle/>
          <a:p>
            <a:r>
              <a:rPr lang="en-US" dirty="0"/>
              <a:t>Implementation </a:t>
            </a:r>
            <a:r>
              <a:rPr lang="en-US" altLang="zh-TW" dirty="0"/>
              <a:t>-</a:t>
            </a:r>
            <a:r>
              <a:rPr lang="en-US" dirty="0"/>
              <a:t> Tools and Models</a:t>
            </a:r>
            <a:endParaRPr dirty="0"/>
          </a:p>
        </p:txBody>
      </p:sp>
      <p:graphicFrame>
        <p:nvGraphicFramePr>
          <p:cNvPr id="4" name="表格 3">
            <a:extLst>
              <a:ext uri="{FF2B5EF4-FFF2-40B4-BE49-F238E27FC236}">
                <a16:creationId xmlns:a16="http://schemas.microsoft.com/office/drawing/2014/main" id="{5E7BC3B4-AFCC-9BF6-6C0D-11297FFD67B7}"/>
              </a:ext>
            </a:extLst>
          </p:cNvPr>
          <p:cNvGraphicFramePr>
            <a:graphicFrameLocks noGrp="1"/>
          </p:cNvGraphicFramePr>
          <p:nvPr>
            <p:extLst>
              <p:ext uri="{D42A27DB-BD31-4B8C-83A1-F6EECF244321}">
                <p14:modId xmlns:p14="http://schemas.microsoft.com/office/powerpoint/2010/main" val="1660853292"/>
              </p:ext>
            </p:extLst>
          </p:nvPr>
        </p:nvGraphicFramePr>
        <p:xfrm>
          <a:off x="1368286" y="3450006"/>
          <a:ext cx="21604248" cy="9001584"/>
        </p:xfrm>
        <a:graphic>
          <a:graphicData uri="http://schemas.openxmlformats.org/drawingml/2006/table">
            <a:tbl>
              <a:tblPr firstRow="1" bandRow="1">
                <a:tableStyleId>{5940675A-B579-460E-94D1-54222C63F5DA}</a:tableStyleId>
              </a:tblPr>
              <a:tblGrid>
                <a:gridCol w="3123935">
                  <a:extLst>
                    <a:ext uri="{9D8B030D-6E8A-4147-A177-3AD203B41FA5}">
                      <a16:colId xmlns:a16="http://schemas.microsoft.com/office/drawing/2014/main" val="516029486"/>
                    </a:ext>
                  </a:extLst>
                </a:gridCol>
                <a:gridCol w="7794171">
                  <a:extLst>
                    <a:ext uri="{9D8B030D-6E8A-4147-A177-3AD203B41FA5}">
                      <a16:colId xmlns:a16="http://schemas.microsoft.com/office/drawing/2014/main" val="898903614"/>
                    </a:ext>
                  </a:extLst>
                </a:gridCol>
                <a:gridCol w="10686142">
                  <a:extLst>
                    <a:ext uri="{9D8B030D-6E8A-4147-A177-3AD203B41FA5}">
                      <a16:colId xmlns:a16="http://schemas.microsoft.com/office/drawing/2014/main" val="1116233603"/>
                    </a:ext>
                  </a:extLst>
                </a:gridCol>
              </a:tblGrid>
              <a:tr h="1000176">
                <a:tc>
                  <a:txBody>
                    <a:bodyPr/>
                    <a:lstStyle/>
                    <a:p>
                      <a:r>
                        <a:rPr lang="en-US" altLang="zh-TW" sz="3200" b="1" i="0" dirty="0">
                          <a:latin typeface="Times New Roman" panose="02020603050405020304" pitchFamily="18" charset="0"/>
                          <a:cs typeface="Times New Roman" panose="02020603050405020304" pitchFamily="18" charset="0"/>
                        </a:rPr>
                        <a:t>Category</a:t>
                      </a:r>
                      <a:endParaRPr lang="zh-TW" altLang="en-US" sz="3200" b="1"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1" i="0" dirty="0">
                          <a:latin typeface="Times New Roman" panose="02020603050405020304" pitchFamily="18" charset="0"/>
                          <a:cs typeface="Times New Roman" panose="02020603050405020304" pitchFamily="18" charset="0"/>
                        </a:rPr>
                        <a:t>Name</a:t>
                      </a:r>
                      <a:endParaRPr lang="zh-TW" altLang="en-US" sz="3200" b="1"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1" i="0" dirty="0">
                          <a:latin typeface="Times New Roman" panose="02020603050405020304" pitchFamily="18" charset="0"/>
                          <a:cs typeface="Times New Roman" panose="02020603050405020304" pitchFamily="18" charset="0"/>
                        </a:rPr>
                        <a:t>Functionality</a:t>
                      </a:r>
                      <a:endParaRPr lang="zh-TW" altLang="en-US" sz="3200" b="1"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1812094"/>
                  </a:ext>
                </a:extLst>
              </a:tr>
              <a:tr h="1000176">
                <a:tc rowSpan="4">
                  <a:txBody>
                    <a:bodyPr/>
                    <a:lstStyle/>
                    <a:p>
                      <a:r>
                        <a:rPr lang="en-US" altLang="zh-TW" sz="3200" b="0" i="0" dirty="0">
                          <a:latin typeface="Times New Roman" panose="02020603050405020304" pitchFamily="18" charset="0"/>
                          <a:cs typeface="Times New Roman" panose="02020603050405020304" pitchFamily="18" charset="0"/>
                        </a:rPr>
                        <a:t>LLM</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GPT-5-mini</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Teacher model for dataset generation and tool generation</a:t>
                      </a:r>
                    </a:p>
                  </a:txBody>
                  <a:tcPr anchor="ctr"/>
                </a:tc>
                <a:extLst>
                  <a:ext uri="{0D108BD9-81ED-4DB2-BD59-A6C34878D82A}">
                    <a16:rowId xmlns:a16="http://schemas.microsoft.com/office/drawing/2014/main" val="2608886989"/>
                  </a:ext>
                </a:extLst>
              </a:tr>
              <a:tr h="1000176">
                <a:tc vMerge="1">
                  <a:txBody>
                    <a:bodyPr/>
                    <a:lstStyle/>
                    <a:p>
                      <a:endParaRPr lang="zh-TW" altLang="en-US" sz="3200" dirty="0"/>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Qwen3-8b</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Strategist LLM</a:t>
                      </a:r>
                    </a:p>
                  </a:txBody>
                  <a:tcPr anchor="ctr"/>
                </a:tc>
                <a:extLst>
                  <a:ext uri="{0D108BD9-81ED-4DB2-BD59-A6C34878D82A}">
                    <a16:rowId xmlns:a16="http://schemas.microsoft.com/office/drawing/2014/main" val="1398402494"/>
                  </a:ext>
                </a:extLst>
              </a:tr>
              <a:tr h="1000176">
                <a:tc vMerge="1">
                  <a:txBody>
                    <a:bodyPr/>
                    <a:lstStyle/>
                    <a:p>
                      <a:endParaRPr lang="zh-TW" altLang="en-US" sz="3200" dirty="0"/>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Phi4-15b</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Planner LLM</a:t>
                      </a:r>
                    </a:p>
                  </a:txBody>
                  <a:tcPr anchor="ctr"/>
                </a:tc>
                <a:extLst>
                  <a:ext uri="{0D108BD9-81ED-4DB2-BD59-A6C34878D82A}">
                    <a16:rowId xmlns:a16="http://schemas.microsoft.com/office/drawing/2014/main" val="3814173121"/>
                  </a:ext>
                </a:extLst>
              </a:tr>
              <a:tr h="1000176">
                <a:tc vMerge="1">
                  <a:txBody>
                    <a:bodyPr/>
                    <a:lstStyle/>
                    <a:p>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GPT-5-mini</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Attacker model for</a:t>
                      </a:r>
                      <a:r>
                        <a:rPr lang="zh-TW" altLang="en-US" sz="3200" b="0" i="0" dirty="0">
                          <a:latin typeface="Times New Roman" panose="02020603050405020304" pitchFamily="18" charset="0"/>
                          <a:cs typeface="Times New Roman" panose="02020603050405020304" pitchFamily="18" charset="0"/>
                        </a:rPr>
                        <a:t> </a:t>
                      </a:r>
                      <a:r>
                        <a:rPr lang="en-US" altLang="zh-TW" sz="3200" b="0" i="0" dirty="0">
                          <a:latin typeface="Times New Roman" panose="02020603050405020304" pitchFamily="18" charset="0"/>
                          <a:cs typeface="Times New Roman" panose="02020603050405020304" pitchFamily="18" charset="0"/>
                        </a:rPr>
                        <a:t>attacker interaction simulation</a:t>
                      </a:r>
                    </a:p>
                  </a:txBody>
                  <a:tcPr anchor="ctr"/>
                </a:tc>
                <a:extLst>
                  <a:ext uri="{0D108BD9-81ED-4DB2-BD59-A6C34878D82A}">
                    <a16:rowId xmlns:a16="http://schemas.microsoft.com/office/drawing/2014/main" val="297916386"/>
                  </a:ext>
                </a:extLst>
              </a:tr>
              <a:tr h="1000176">
                <a:tc rowSpan="2">
                  <a:txBody>
                    <a:bodyPr/>
                    <a:lstStyle/>
                    <a:p>
                      <a:r>
                        <a:rPr lang="en-US" altLang="zh-TW" sz="3200" dirty="0">
                          <a:latin typeface="Times New Roman" panose="02020603050405020304" pitchFamily="18" charset="0"/>
                          <a:cs typeface="Times New Roman" panose="02020603050405020304" pitchFamily="18" charset="0"/>
                        </a:rPr>
                        <a:t>Tool</a:t>
                      </a:r>
                      <a:endParaRPr lang="zh-TW" altLang="en-US" sz="320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0" i="0" dirty="0" err="1">
                          <a:latin typeface="Times New Roman" panose="02020603050405020304" pitchFamily="18" charset="0"/>
                          <a:cs typeface="Times New Roman" panose="02020603050405020304" pitchFamily="18" charset="0"/>
                        </a:rPr>
                        <a:t>Proxmox</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Virtualization platform for</a:t>
                      </a:r>
                      <a:r>
                        <a:rPr lang="zh-TW" altLang="en-US" sz="3200" b="0" i="0" dirty="0">
                          <a:latin typeface="Times New Roman" panose="02020603050405020304" pitchFamily="18" charset="0"/>
                          <a:cs typeface="Times New Roman" panose="02020603050405020304" pitchFamily="18" charset="0"/>
                        </a:rPr>
                        <a:t> </a:t>
                      </a:r>
                      <a:r>
                        <a:rPr lang="en-US" altLang="zh-TW" sz="3200" b="0" i="0" dirty="0">
                          <a:latin typeface="Times New Roman" panose="02020603050405020304" pitchFamily="18" charset="0"/>
                          <a:cs typeface="Times New Roman" panose="02020603050405020304" pitchFamily="18" charset="0"/>
                        </a:rPr>
                        <a:t>honeynet VMs</a:t>
                      </a:r>
                    </a:p>
                  </a:txBody>
                  <a:tcPr anchor="ctr"/>
                </a:tc>
                <a:extLst>
                  <a:ext uri="{0D108BD9-81ED-4DB2-BD59-A6C34878D82A}">
                    <a16:rowId xmlns:a16="http://schemas.microsoft.com/office/drawing/2014/main" val="3404142127"/>
                  </a:ext>
                </a:extLst>
              </a:tr>
              <a:tr h="1000176">
                <a:tc vMerge="1">
                  <a:txBody>
                    <a:bodyPr/>
                    <a:lstStyle/>
                    <a:p>
                      <a:endParaRPr lang="zh-TW" altLang="en-US" sz="3200" dirty="0"/>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Ansible</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Automation framework for script deployment</a:t>
                      </a:r>
                    </a:p>
                  </a:txBody>
                  <a:tcPr anchor="ctr"/>
                </a:tc>
                <a:extLst>
                  <a:ext uri="{0D108BD9-81ED-4DB2-BD59-A6C34878D82A}">
                    <a16:rowId xmlns:a16="http://schemas.microsoft.com/office/drawing/2014/main" val="1796583074"/>
                  </a:ext>
                </a:extLst>
              </a:tr>
              <a:tr h="1000176">
                <a:tc rowSpan="2">
                  <a:txBody>
                    <a:bodyPr/>
                    <a:lstStyle/>
                    <a:p>
                      <a:r>
                        <a:rPr lang="en-US" altLang="zh-TW" sz="3200" b="0" i="0" dirty="0">
                          <a:latin typeface="Times New Roman" panose="02020603050405020304" pitchFamily="18" charset="0"/>
                          <a:cs typeface="Times New Roman" panose="02020603050405020304" pitchFamily="18" charset="0"/>
                        </a:rPr>
                        <a:t>Python</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0" i="0" dirty="0" err="1">
                          <a:latin typeface="Times New Roman" panose="02020603050405020304" pitchFamily="18" charset="0"/>
                          <a:cs typeface="Times New Roman" panose="02020603050405020304" pitchFamily="18" charset="0"/>
                        </a:rPr>
                        <a:t>Unsloth</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Efficient fine-tuning framework</a:t>
                      </a:r>
                    </a:p>
                  </a:txBody>
                  <a:tcPr anchor="ctr"/>
                </a:tc>
                <a:extLst>
                  <a:ext uri="{0D108BD9-81ED-4DB2-BD59-A6C34878D82A}">
                    <a16:rowId xmlns:a16="http://schemas.microsoft.com/office/drawing/2014/main" val="3358273441"/>
                  </a:ext>
                </a:extLst>
              </a:tr>
              <a:tr h="1000176">
                <a:tc vMerge="1">
                  <a:txBody>
                    <a:bodyPr/>
                    <a:lstStyle/>
                    <a:p>
                      <a:endParaRPr lang="zh-TW" altLang="en-US" sz="3200" dirty="0"/>
                    </a:p>
                  </a:txBody>
                  <a:tcPr anchor="ctr"/>
                </a:tc>
                <a:tc>
                  <a:txBody>
                    <a:bodyPr/>
                    <a:lstStyle/>
                    <a:p>
                      <a:r>
                        <a:rPr lang="en-US" altLang="zh-TW" sz="3200" b="0" i="0" dirty="0" err="1">
                          <a:latin typeface="Times New Roman" panose="02020603050405020304" pitchFamily="18" charset="0"/>
                          <a:cs typeface="Times New Roman" panose="02020603050405020304" pitchFamily="18" charset="0"/>
                        </a:rPr>
                        <a:t>paramiko</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Capture attacker commands</a:t>
                      </a:r>
                    </a:p>
                  </a:txBody>
                  <a:tcPr anchor="ctr"/>
                </a:tc>
                <a:extLst>
                  <a:ext uri="{0D108BD9-81ED-4DB2-BD59-A6C34878D82A}">
                    <a16:rowId xmlns:a16="http://schemas.microsoft.com/office/drawing/2014/main" val="583236605"/>
                  </a:ext>
                </a:extLst>
              </a:tr>
            </a:tbl>
          </a:graphicData>
        </a:graphic>
      </p:graphicFrame>
      <p:sp>
        <p:nvSpPr>
          <p:cNvPr id="2" name="投影片編號版面配置區 1">
            <a:extLst>
              <a:ext uri="{FF2B5EF4-FFF2-40B4-BE49-F238E27FC236}">
                <a16:creationId xmlns:a16="http://schemas.microsoft.com/office/drawing/2014/main" id="{5D8EDE26-1200-201F-EF39-D97C81380B6A}"/>
              </a:ext>
            </a:extLst>
          </p:cNvPr>
          <p:cNvSpPr>
            <a:spLocks noGrp="1"/>
          </p:cNvSpPr>
          <p:nvPr>
            <p:ph type="sldNum" sz="quarter" idx="2"/>
          </p:nvPr>
        </p:nvSpPr>
        <p:spPr/>
        <p:txBody>
          <a:bodyPr/>
          <a:lstStyle/>
          <a:p>
            <a:fld id="{86CB4B4D-7CA3-9044-876B-883B54F8677D}" type="slidenum">
              <a:rPr lang="en-US" altLang="zh-TW" smtClean="0"/>
              <a:t>23</a:t>
            </a:fld>
            <a:endParaRPr lang="zh-TW" altLang="en-US"/>
          </a:p>
        </p:txBody>
      </p:sp>
    </p:spTree>
    <p:extLst>
      <p:ext uri="{BB962C8B-B14F-4D97-AF65-F5344CB8AC3E}">
        <p14:creationId xmlns:p14="http://schemas.microsoft.com/office/powerpoint/2010/main" val="47648728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C3820-E12A-37A5-08C5-078168458F93}"/>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B2DB2A55-00D7-C74F-C69D-EC23AF29702D}"/>
              </a:ext>
            </a:extLst>
          </p:cNvPr>
          <p:cNvSpPr txBox="1">
            <a:spLocks noGrp="1"/>
          </p:cNvSpPr>
          <p:nvPr>
            <p:ph type="title"/>
          </p:nvPr>
        </p:nvSpPr>
        <p:spPr>
          <a:prstGeom prst="rect">
            <a:avLst/>
          </a:prstGeom>
        </p:spPr>
        <p:txBody>
          <a:bodyPr/>
          <a:lstStyle/>
          <a:p>
            <a:r>
              <a:rPr lang="en-US" altLang="zh-TW" dirty="0"/>
              <a:t>Evaluation</a:t>
            </a:r>
            <a:endParaRPr dirty="0"/>
          </a:p>
        </p:txBody>
      </p:sp>
      <p:sp>
        <p:nvSpPr>
          <p:cNvPr id="2" name="投影片編號版面配置區 1">
            <a:extLst>
              <a:ext uri="{FF2B5EF4-FFF2-40B4-BE49-F238E27FC236}">
                <a16:creationId xmlns:a16="http://schemas.microsoft.com/office/drawing/2014/main" id="{61E20EEE-2671-0BE6-4E7F-2D4084981ABA}"/>
              </a:ext>
            </a:extLst>
          </p:cNvPr>
          <p:cNvSpPr>
            <a:spLocks noGrp="1"/>
          </p:cNvSpPr>
          <p:nvPr>
            <p:ph type="sldNum" sz="quarter" idx="2"/>
          </p:nvPr>
        </p:nvSpPr>
        <p:spPr/>
        <p:txBody>
          <a:bodyPr/>
          <a:lstStyle/>
          <a:p>
            <a:fld id="{86CB4B4D-7CA3-9044-876B-883B54F8677D}" type="slidenum">
              <a:rPr lang="en-US" altLang="zh-TW" smtClean="0"/>
              <a:t>24</a:t>
            </a:fld>
            <a:endParaRPr lang="zh-TW" altLang="en-US"/>
          </a:p>
        </p:txBody>
      </p:sp>
      <p:sp>
        <p:nvSpPr>
          <p:cNvPr id="5" name="Degree of realism: Honeypot vs. Honeynet…">
            <a:extLst>
              <a:ext uri="{FF2B5EF4-FFF2-40B4-BE49-F238E27FC236}">
                <a16:creationId xmlns:a16="http://schemas.microsoft.com/office/drawing/2014/main" id="{6747C525-1EE7-062C-E6A1-F19E7C163274}"/>
              </a:ext>
            </a:extLst>
          </p:cNvPr>
          <p:cNvSpPr txBox="1">
            <a:spLocks noGrp="1"/>
          </p:cNvSpPr>
          <p:nvPr>
            <p:ph type="body" idx="1"/>
          </p:nvPr>
        </p:nvSpPr>
        <p:spPr>
          <a:xfrm>
            <a:off x="1206500" y="3507652"/>
            <a:ext cx="21971000" cy="8475801"/>
          </a:xfrm>
          <a:prstGeom prst="rect">
            <a:avLst/>
          </a:prstGeom>
        </p:spPr>
        <p:txBody>
          <a:bodyPr>
            <a:normAutofit/>
          </a:bodyPr>
          <a:lstStyle/>
          <a:p>
            <a:pPr>
              <a:lnSpc>
                <a:spcPct val="100000"/>
              </a:lnSpc>
              <a:spcBef>
                <a:spcPts val="1500"/>
              </a:spcBef>
            </a:pPr>
            <a:r>
              <a:rPr lang="en-US" altLang="zh-TW" sz="4400" b="1" dirty="0"/>
              <a:t>Realism: Response-level vs. Environment-level</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Use an LLM judge to classify whether observed outputs look like real system behavior</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Compare reply-only deception with environment-state adaptation</a:t>
            </a:r>
          </a:p>
          <a:p>
            <a:pPr>
              <a:lnSpc>
                <a:spcPct val="100000"/>
              </a:lnSpc>
              <a:spcBef>
                <a:spcPts val="1500"/>
              </a:spcBef>
            </a:pPr>
            <a:r>
              <a:rPr lang="en-US" altLang="zh-TW" sz="4400" b="1" dirty="0"/>
              <a:t>Attack Depth: RL-based  vs. LLM-based</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Run LLM-driven attack sessions and record the highest attack stage reached</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Compare average attack depth across defender designs</a:t>
            </a:r>
          </a:p>
          <a:p>
            <a:pPr>
              <a:lnSpc>
                <a:spcPct val="100000"/>
              </a:lnSpc>
              <a:spcBef>
                <a:spcPts val="1500"/>
              </a:spcBef>
            </a:pPr>
            <a:r>
              <a:rPr lang="en-US" altLang="zh-TW" sz="4400" b="1" dirty="0"/>
              <a:t>Behavior Diversity: Static Honeynet vs. LLM-based Honeynet</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Classify attacker commands into behavior categories and count unique techniques per session</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Compare whether adaptive deployment exposes broader attack opportunities</a:t>
            </a:r>
          </a:p>
        </p:txBody>
      </p:sp>
    </p:spTree>
    <p:extLst>
      <p:ext uri="{BB962C8B-B14F-4D97-AF65-F5344CB8AC3E}">
        <p14:creationId xmlns:p14="http://schemas.microsoft.com/office/powerpoint/2010/main" val="198810300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F87AA-D208-19EC-1929-6E236E156879}"/>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25F1A1C3-591E-92C0-616B-B12B0967CC56}"/>
              </a:ext>
            </a:extLst>
          </p:cNvPr>
          <p:cNvSpPr txBox="1">
            <a:spLocks noGrp="1"/>
          </p:cNvSpPr>
          <p:nvPr>
            <p:ph type="title"/>
          </p:nvPr>
        </p:nvSpPr>
        <p:spPr>
          <a:xfrm>
            <a:off x="1206500" y="1079500"/>
            <a:ext cx="21971000" cy="2057813"/>
          </a:xfrm>
          <a:prstGeom prst="rect">
            <a:avLst/>
          </a:prstGeom>
        </p:spPr>
        <p:txBody>
          <a:bodyPr>
            <a:normAutofit fontScale="90000"/>
          </a:bodyPr>
          <a:lstStyle/>
          <a:p>
            <a:r>
              <a:rPr lang="en-US" dirty="0"/>
              <a:t>Experiment - Realism</a:t>
            </a:r>
            <a:br>
              <a:rPr lang="en-US" dirty="0"/>
            </a:br>
            <a:r>
              <a:rPr lang="en-US" sz="6700" dirty="0"/>
              <a:t>Environment-level honeynet is the main source of realism</a:t>
            </a:r>
            <a:br>
              <a:rPr lang="en-US" dirty="0"/>
            </a:br>
            <a:endParaRPr dirty="0"/>
          </a:p>
        </p:txBody>
      </p:sp>
      <p:sp>
        <p:nvSpPr>
          <p:cNvPr id="2" name="投影片編號版面配置區 1">
            <a:extLst>
              <a:ext uri="{FF2B5EF4-FFF2-40B4-BE49-F238E27FC236}">
                <a16:creationId xmlns:a16="http://schemas.microsoft.com/office/drawing/2014/main" id="{96E1FFC2-C409-141B-6C19-CF121EDFF66E}"/>
              </a:ext>
            </a:extLst>
          </p:cNvPr>
          <p:cNvSpPr>
            <a:spLocks noGrp="1"/>
          </p:cNvSpPr>
          <p:nvPr>
            <p:ph type="sldNum" sz="quarter" idx="2"/>
          </p:nvPr>
        </p:nvSpPr>
        <p:spPr/>
        <p:txBody>
          <a:bodyPr/>
          <a:lstStyle/>
          <a:p>
            <a:fld id="{86CB4B4D-7CA3-9044-876B-883B54F8677D}" type="slidenum">
              <a:rPr lang="en-US" altLang="zh-TW" smtClean="0"/>
              <a:t>25</a:t>
            </a:fld>
            <a:endParaRPr lang="zh-TW" altLang="en-US"/>
          </a:p>
        </p:txBody>
      </p:sp>
      <p:sp>
        <p:nvSpPr>
          <p:cNvPr id="4" name="文字版面配置區 3">
            <a:extLst>
              <a:ext uri="{FF2B5EF4-FFF2-40B4-BE49-F238E27FC236}">
                <a16:creationId xmlns:a16="http://schemas.microsoft.com/office/drawing/2014/main" id="{1896D25A-0158-679C-75AB-869DC3B358EF}"/>
              </a:ext>
            </a:extLst>
          </p:cNvPr>
          <p:cNvSpPr>
            <a:spLocks noGrp="1"/>
          </p:cNvSpPr>
          <p:nvPr>
            <p:ph type="body" idx="1"/>
          </p:nvPr>
        </p:nvSpPr>
        <p:spPr>
          <a:xfrm>
            <a:off x="11960352" y="3324613"/>
            <a:ext cx="11950863" cy="9894259"/>
          </a:xfrm>
        </p:spPr>
        <p:txBody>
          <a:bodyPr>
            <a:normAutofit/>
          </a:bodyPr>
          <a:lstStyle/>
          <a:p>
            <a:pPr>
              <a:lnSpc>
                <a:spcPct val="100000"/>
              </a:lnSpc>
              <a:spcAft>
                <a:spcPts val="600"/>
              </a:spcAft>
            </a:pPr>
            <a:r>
              <a:rPr lang="en-US" altLang="zh-TW" sz="4000" dirty="0"/>
              <a:t>Ours is over 4× higher than QRASSH and about 2.5× higher than LLM honeypot</a:t>
            </a:r>
          </a:p>
          <a:p>
            <a:pPr lvl="1">
              <a:lnSpc>
                <a:spcPct val="100000"/>
              </a:lnSpc>
              <a:spcBef>
                <a:spcPts val="0"/>
              </a:spcBef>
              <a:spcAft>
                <a:spcPts val="600"/>
              </a:spcAft>
            </a:pPr>
            <a:r>
              <a:rPr lang="en-US" altLang="zh-TW" sz="3600" dirty="0">
                <a:latin typeface="Times New Roman" panose="02020603050405020304" pitchFamily="18" charset="0"/>
                <a:cs typeface="Times New Roman" panose="02020603050405020304" pitchFamily="18" charset="0"/>
              </a:rPr>
              <a:t>Real environment changes are more believable than static behavior or generated replies</a:t>
            </a:r>
          </a:p>
          <a:p>
            <a:pPr>
              <a:lnSpc>
                <a:spcPct val="100000"/>
              </a:lnSpc>
              <a:spcBef>
                <a:spcPts val="1500"/>
              </a:spcBef>
              <a:spcAft>
                <a:spcPts val="600"/>
              </a:spcAft>
            </a:pPr>
            <a:r>
              <a:rPr lang="en-US" altLang="zh-TW" sz="4000" dirty="0"/>
              <a:t>One-layer, two-layer, and ours are all close to 80%</a:t>
            </a:r>
          </a:p>
          <a:p>
            <a:pPr lvl="1">
              <a:lnSpc>
                <a:spcPct val="100000"/>
              </a:lnSpc>
              <a:spcBef>
                <a:spcPts val="1500"/>
              </a:spcBef>
              <a:spcAft>
                <a:spcPts val="600"/>
              </a:spcAft>
            </a:pPr>
            <a:r>
              <a:rPr lang="en-US" altLang="zh-TW" sz="3600" dirty="0">
                <a:latin typeface="Times New Roman" panose="02020603050405020304" pitchFamily="18" charset="0"/>
                <a:cs typeface="Times New Roman" panose="02020603050405020304" pitchFamily="18" charset="0"/>
              </a:rPr>
              <a:t>The main realism gain comes from environment-level adaptation, not the LLM architecture alone</a:t>
            </a:r>
          </a:p>
          <a:p>
            <a:pPr>
              <a:lnSpc>
                <a:spcPct val="100000"/>
              </a:lnSpc>
              <a:spcAft>
                <a:spcPts val="600"/>
              </a:spcAft>
            </a:pPr>
            <a:r>
              <a:rPr lang="en-US" altLang="zh-TW" sz="4000" dirty="0"/>
              <a:t>Simulate Success Rate</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QRASSH: 19%</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LLM-based Honeypot: 32%</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One-layer LLM Honeynet: 78%</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Two-layer LLM Honeynet: 77%</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Two-layer LLM Honeynet(FT): 80%</a:t>
            </a:r>
            <a:endParaRPr lang="en-US" altLang="zh-TW" sz="4000" dirty="0"/>
          </a:p>
          <a:p>
            <a:endParaRPr lang="zh-TW" altLang="en-US" dirty="0"/>
          </a:p>
        </p:txBody>
      </p:sp>
      <p:pic>
        <p:nvPicPr>
          <p:cNvPr id="3" name="圖片 2">
            <a:extLst>
              <a:ext uri="{FF2B5EF4-FFF2-40B4-BE49-F238E27FC236}">
                <a16:creationId xmlns:a16="http://schemas.microsoft.com/office/drawing/2014/main" id="{DC4DF194-475B-EA3D-8E2B-7476857B4305}"/>
              </a:ext>
            </a:extLst>
          </p:cNvPr>
          <p:cNvPicPr>
            <a:picLocks noChangeAspect="1"/>
          </p:cNvPicPr>
          <p:nvPr/>
        </p:nvPicPr>
        <p:blipFill>
          <a:blip r:embed="rId3"/>
          <a:stretch>
            <a:fillRect/>
          </a:stretch>
        </p:blipFill>
        <p:spPr>
          <a:xfrm>
            <a:off x="0" y="3851078"/>
            <a:ext cx="11788436" cy="8841327"/>
          </a:xfrm>
          <a:prstGeom prst="rect">
            <a:avLst/>
          </a:prstGeom>
        </p:spPr>
      </p:pic>
    </p:spTree>
    <p:extLst>
      <p:ext uri="{BB962C8B-B14F-4D97-AF65-F5344CB8AC3E}">
        <p14:creationId xmlns:p14="http://schemas.microsoft.com/office/powerpoint/2010/main" val="66674638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2FEC5-C510-B97C-5882-FCFE7E06C50D}"/>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1E83FFA1-BDDD-525D-3418-D4D7E3BEC28F}"/>
              </a:ext>
            </a:extLst>
          </p:cNvPr>
          <p:cNvSpPr txBox="1">
            <a:spLocks noGrp="1"/>
          </p:cNvSpPr>
          <p:nvPr>
            <p:ph type="title"/>
          </p:nvPr>
        </p:nvSpPr>
        <p:spPr>
          <a:xfrm>
            <a:off x="1206500" y="746768"/>
            <a:ext cx="21971000" cy="2048256"/>
          </a:xfrm>
          <a:prstGeom prst="rect">
            <a:avLst/>
          </a:prstGeom>
        </p:spPr>
        <p:txBody>
          <a:bodyPr>
            <a:normAutofit/>
          </a:bodyPr>
          <a:lstStyle/>
          <a:p>
            <a:r>
              <a:rPr lang="en-US" sz="7700" dirty="0"/>
              <a:t>Experiment - Attack Depth</a:t>
            </a:r>
            <a:br>
              <a:rPr lang="en-US" sz="7700" dirty="0"/>
            </a:br>
            <a:r>
              <a:rPr lang="en-US" sz="6700" dirty="0"/>
              <a:t>Ours</a:t>
            </a:r>
            <a:r>
              <a:rPr lang="zh-TW" altLang="en-US" sz="6700" dirty="0"/>
              <a:t> </a:t>
            </a:r>
            <a:r>
              <a:rPr lang="en-US" sz="6700" dirty="0"/>
              <a:t>reaches the deepest and most stable attack progression</a:t>
            </a:r>
            <a:endParaRPr sz="7700" dirty="0"/>
          </a:p>
        </p:txBody>
      </p:sp>
      <p:sp>
        <p:nvSpPr>
          <p:cNvPr id="2" name="投影片編號版面配置區 1">
            <a:extLst>
              <a:ext uri="{FF2B5EF4-FFF2-40B4-BE49-F238E27FC236}">
                <a16:creationId xmlns:a16="http://schemas.microsoft.com/office/drawing/2014/main" id="{E5F22208-947F-5F41-60FB-84ABC9EB6C28}"/>
              </a:ext>
            </a:extLst>
          </p:cNvPr>
          <p:cNvSpPr>
            <a:spLocks noGrp="1"/>
          </p:cNvSpPr>
          <p:nvPr>
            <p:ph type="sldNum" sz="quarter" idx="2"/>
          </p:nvPr>
        </p:nvSpPr>
        <p:spPr/>
        <p:txBody>
          <a:bodyPr/>
          <a:lstStyle/>
          <a:p>
            <a:fld id="{86CB4B4D-7CA3-9044-876B-883B54F8677D}" type="slidenum">
              <a:rPr lang="en-US" altLang="zh-TW" smtClean="0"/>
              <a:t>26</a:t>
            </a:fld>
            <a:endParaRPr lang="zh-TW" altLang="en-US"/>
          </a:p>
        </p:txBody>
      </p:sp>
      <p:sp>
        <p:nvSpPr>
          <p:cNvPr id="4" name="文字版面配置區 3">
            <a:extLst>
              <a:ext uri="{FF2B5EF4-FFF2-40B4-BE49-F238E27FC236}">
                <a16:creationId xmlns:a16="http://schemas.microsoft.com/office/drawing/2014/main" id="{ADBFD418-A65F-792B-EDB2-A449E6B3B335}"/>
              </a:ext>
            </a:extLst>
          </p:cNvPr>
          <p:cNvSpPr>
            <a:spLocks noGrp="1"/>
          </p:cNvSpPr>
          <p:nvPr>
            <p:ph type="body" idx="1"/>
          </p:nvPr>
        </p:nvSpPr>
        <p:spPr>
          <a:xfrm>
            <a:off x="13155063" y="3182113"/>
            <a:ext cx="10936836" cy="10533888"/>
          </a:xfrm>
        </p:spPr>
        <p:txBody>
          <a:bodyPr>
            <a:normAutofit fontScale="92500" lnSpcReduction="10000"/>
          </a:bodyPr>
          <a:lstStyle/>
          <a:p>
            <a:pPr>
              <a:lnSpc>
                <a:spcPct val="100000"/>
              </a:lnSpc>
              <a:spcBef>
                <a:spcPts val="3300"/>
              </a:spcBef>
            </a:pPr>
            <a:r>
              <a:rPr lang="en-US" altLang="zh-TW" sz="4300" dirty="0"/>
              <a:t>Honeynet methods reach much deeper stages than honeypot baselines</a:t>
            </a:r>
          </a:p>
          <a:p>
            <a:pPr lvl="1">
              <a:lnSpc>
                <a:spcPct val="100000"/>
              </a:lnSpc>
              <a:spcBef>
                <a:spcPts val="3300"/>
              </a:spcBef>
            </a:pPr>
            <a:r>
              <a:rPr lang="en-US" altLang="zh-TW" sz="3900" dirty="0">
                <a:latin typeface="Times New Roman" panose="02020603050405020304" pitchFamily="18" charset="0"/>
                <a:cs typeface="Times New Roman" panose="02020603050405020304" pitchFamily="18" charset="0"/>
              </a:rPr>
              <a:t>They provide real multi-host paths for credential access, privilege escalation, and lateral movement</a:t>
            </a:r>
          </a:p>
          <a:p>
            <a:pPr>
              <a:lnSpc>
                <a:spcPct val="100000"/>
              </a:lnSpc>
              <a:spcBef>
                <a:spcPts val="3300"/>
              </a:spcBef>
            </a:pPr>
            <a:r>
              <a:rPr lang="en-US" altLang="zh-TW" sz="4300" dirty="0"/>
              <a:t>Ours improves over one-layer by about 9% and reaches the highest average depth</a:t>
            </a:r>
          </a:p>
          <a:p>
            <a:pPr lvl="1">
              <a:lnSpc>
                <a:spcPct val="100000"/>
              </a:lnSpc>
              <a:spcBef>
                <a:spcPts val="3300"/>
              </a:spcBef>
            </a:pPr>
            <a:r>
              <a:rPr lang="en-US" altLang="zh-TW" sz="3900" dirty="0">
                <a:latin typeface="Times New Roman" panose="02020603050405020304" pitchFamily="18" charset="0"/>
                <a:cs typeface="Times New Roman" panose="02020603050405020304" pitchFamily="18" charset="0"/>
              </a:rPr>
              <a:t>Separating strategy reasoning from tool planning makes deep-stage progression more stable</a:t>
            </a:r>
          </a:p>
          <a:p>
            <a:pPr>
              <a:lnSpc>
                <a:spcPct val="100000"/>
              </a:lnSpc>
              <a:spcBef>
                <a:spcPts val="3300"/>
              </a:spcBef>
            </a:pPr>
            <a:r>
              <a:rPr lang="en-US" altLang="zh-TW" sz="4300" dirty="0"/>
              <a:t>Average Depth of Episode</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QRASSH: 1.13</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LLM-based Honeypot: 3.47</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One-layer</a:t>
            </a:r>
            <a:r>
              <a:rPr lang="zh-TW" altLang="en-US" sz="3900" dirty="0">
                <a:latin typeface="Times New Roman" panose="02020603050405020304" pitchFamily="18" charset="0"/>
                <a:cs typeface="Times New Roman" panose="02020603050405020304" pitchFamily="18" charset="0"/>
              </a:rPr>
              <a:t> </a:t>
            </a:r>
            <a:r>
              <a:rPr lang="en-US" altLang="zh-TW" sz="3900" dirty="0">
                <a:latin typeface="Times New Roman" panose="02020603050405020304" pitchFamily="18" charset="0"/>
                <a:cs typeface="Times New Roman" panose="02020603050405020304" pitchFamily="18" charset="0"/>
              </a:rPr>
              <a:t>LLM</a:t>
            </a:r>
            <a:r>
              <a:rPr lang="zh-TW" altLang="en-US" sz="3900" dirty="0">
                <a:latin typeface="Times New Roman" panose="02020603050405020304" pitchFamily="18" charset="0"/>
                <a:cs typeface="Times New Roman" panose="02020603050405020304" pitchFamily="18" charset="0"/>
              </a:rPr>
              <a:t> </a:t>
            </a:r>
            <a:r>
              <a:rPr lang="en-US" altLang="zh-TW" sz="3900" dirty="0">
                <a:latin typeface="Times New Roman" panose="02020603050405020304" pitchFamily="18" charset="0"/>
                <a:cs typeface="Times New Roman" panose="02020603050405020304" pitchFamily="18" charset="0"/>
              </a:rPr>
              <a:t>honeynet: 5.43</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Two-layer</a:t>
            </a:r>
            <a:r>
              <a:rPr lang="zh-TW" altLang="en-US" sz="3900" dirty="0">
                <a:latin typeface="Times New Roman" panose="02020603050405020304" pitchFamily="18" charset="0"/>
                <a:cs typeface="Times New Roman" panose="02020603050405020304" pitchFamily="18" charset="0"/>
              </a:rPr>
              <a:t> </a:t>
            </a:r>
            <a:r>
              <a:rPr lang="en-US" altLang="zh-TW" sz="3900" dirty="0">
                <a:latin typeface="Times New Roman" panose="02020603050405020304" pitchFamily="18" charset="0"/>
                <a:cs typeface="Times New Roman" panose="02020603050405020304" pitchFamily="18" charset="0"/>
              </a:rPr>
              <a:t>LLM</a:t>
            </a:r>
            <a:r>
              <a:rPr lang="zh-TW" altLang="en-US" sz="3900" dirty="0">
                <a:latin typeface="Times New Roman" panose="02020603050405020304" pitchFamily="18" charset="0"/>
                <a:cs typeface="Times New Roman" panose="02020603050405020304" pitchFamily="18" charset="0"/>
              </a:rPr>
              <a:t> </a:t>
            </a:r>
            <a:r>
              <a:rPr lang="en-US" altLang="zh-TW" sz="3900" dirty="0">
                <a:latin typeface="Times New Roman" panose="02020603050405020304" pitchFamily="18" charset="0"/>
                <a:cs typeface="Times New Roman" panose="02020603050405020304" pitchFamily="18" charset="0"/>
              </a:rPr>
              <a:t>honeynet: 5.87</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Two-layer LLM honeynet (FT) : 5.93</a:t>
            </a:r>
          </a:p>
        </p:txBody>
      </p:sp>
      <p:pic>
        <p:nvPicPr>
          <p:cNvPr id="3" name="圖片 2">
            <a:extLst>
              <a:ext uri="{FF2B5EF4-FFF2-40B4-BE49-F238E27FC236}">
                <a16:creationId xmlns:a16="http://schemas.microsoft.com/office/drawing/2014/main" id="{80916F22-222D-D206-392F-180B76523F08}"/>
              </a:ext>
            </a:extLst>
          </p:cNvPr>
          <p:cNvPicPr>
            <a:picLocks noChangeAspect="1"/>
          </p:cNvPicPr>
          <p:nvPr/>
        </p:nvPicPr>
        <p:blipFill>
          <a:blip r:embed="rId3"/>
          <a:stretch>
            <a:fillRect/>
          </a:stretch>
        </p:blipFill>
        <p:spPr>
          <a:xfrm>
            <a:off x="0" y="4014351"/>
            <a:ext cx="13155063" cy="6665232"/>
          </a:xfrm>
          <a:prstGeom prst="rect">
            <a:avLst/>
          </a:prstGeom>
        </p:spPr>
      </p:pic>
      <p:pic>
        <p:nvPicPr>
          <p:cNvPr id="7" name="圖片 6">
            <a:extLst>
              <a:ext uri="{FF2B5EF4-FFF2-40B4-BE49-F238E27FC236}">
                <a16:creationId xmlns:a16="http://schemas.microsoft.com/office/drawing/2014/main" id="{CE94B0AD-0F66-9AE2-EC01-CC981AC2C1D0}"/>
              </a:ext>
            </a:extLst>
          </p:cNvPr>
          <p:cNvPicPr>
            <a:picLocks noChangeAspect="1"/>
          </p:cNvPicPr>
          <p:nvPr/>
        </p:nvPicPr>
        <p:blipFill>
          <a:blip r:embed="rId4">
            <a:extLst>
              <a:ext uri="{28A0092B-C50C-407E-A947-70E740481C1C}">
                <a14:useLocalDpi xmlns:a14="http://schemas.microsoft.com/office/drawing/2010/main" val="0"/>
              </a:ext>
            </a:extLst>
          </a:blip>
          <a:srcRect b="35143"/>
          <a:stretch>
            <a:fillRect/>
          </a:stretch>
        </p:blipFill>
        <p:spPr>
          <a:xfrm>
            <a:off x="675797" y="10771023"/>
            <a:ext cx="12479266" cy="1725651"/>
          </a:xfrm>
          <a:prstGeom prst="rect">
            <a:avLst/>
          </a:prstGeom>
        </p:spPr>
      </p:pic>
    </p:spTree>
    <p:extLst>
      <p:ext uri="{BB962C8B-B14F-4D97-AF65-F5344CB8AC3E}">
        <p14:creationId xmlns:p14="http://schemas.microsoft.com/office/powerpoint/2010/main" val="196091872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7BE5D-7953-6072-CC25-92CDA537395B}"/>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24D9D308-16C2-53DB-F799-099BDB68518E}"/>
              </a:ext>
            </a:extLst>
          </p:cNvPr>
          <p:cNvSpPr txBox="1">
            <a:spLocks noGrp="1"/>
          </p:cNvSpPr>
          <p:nvPr>
            <p:ph type="title"/>
          </p:nvPr>
        </p:nvSpPr>
        <p:spPr>
          <a:xfrm>
            <a:off x="1206500" y="1079500"/>
            <a:ext cx="21971000" cy="2324100"/>
          </a:xfrm>
          <a:prstGeom prst="rect">
            <a:avLst/>
          </a:prstGeom>
        </p:spPr>
        <p:txBody>
          <a:bodyPr>
            <a:normAutofit/>
          </a:bodyPr>
          <a:lstStyle/>
          <a:p>
            <a:r>
              <a:rPr lang="en-US" sz="7700" dirty="0"/>
              <a:t>Experiment </a:t>
            </a:r>
            <a:r>
              <a:rPr lang="en-US" altLang="zh-TW" sz="7700" dirty="0"/>
              <a:t>-</a:t>
            </a:r>
            <a:r>
              <a:rPr lang="en-US" sz="7700" dirty="0"/>
              <a:t> Attack</a:t>
            </a:r>
            <a:r>
              <a:rPr lang="zh-TW" altLang="en-US" sz="7700" dirty="0"/>
              <a:t> </a:t>
            </a:r>
            <a:r>
              <a:rPr lang="en-US" altLang="zh-TW" sz="7700" dirty="0"/>
              <a:t>Depth</a:t>
            </a:r>
            <a:r>
              <a:rPr lang="zh-TW" altLang="en-US" sz="7700" dirty="0"/>
              <a:t> </a:t>
            </a:r>
            <a:br>
              <a:rPr lang="en-US" altLang="zh-TW" dirty="0"/>
            </a:br>
            <a:r>
              <a:rPr lang="en-US" altLang="zh-TW" sz="6000" dirty="0"/>
              <a:t>Training converge</a:t>
            </a:r>
            <a:r>
              <a:rPr lang="zh-TW" altLang="en-US" sz="6000" dirty="0"/>
              <a:t> </a:t>
            </a:r>
            <a:r>
              <a:rPr lang="en-US" altLang="zh-TW" sz="6000" dirty="0"/>
              <a:t>in</a:t>
            </a:r>
            <a:r>
              <a:rPr lang="zh-TW" altLang="en-US" sz="6000" dirty="0"/>
              <a:t> </a:t>
            </a:r>
            <a:r>
              <a:rPr lang="en-US" altLang="zh-TW" sz="6000" dirty="0"/>
              <a:t>3</a:t>
            </a:r>
            <a:r>
              <a:rPr lang="zh-TW" altLang="en-US" sz="6000" dirty="0"/>
              <a:t> </a:t>
            </a:r>
            <a:r>
              <a:rPr lang="en-US" altLang="zh-TW" sz="6000" dirty="0"/>
              <a:t>epochs</a:t>
            </a:r>
            <a:endParaRPr sz="6000" dirty="0"/>
          </a:p>
        </p:txBody>
      </p:sp>
      <p:sp>
        <p:nvSpPr>
          <p:cNvPr id="2" name="投影片編號版面配置區 1">
            <a:extLst>
              <a:ext uri="{FF2B5EF4-FFF2-40B4-BE49-F238E27FC236}">
                <a16:creationId xmlns:a16="http://schemas.microsoft.com/office/drawing/2014/main" id="{3E0BDFC7-B991-5280-F451-8BDDB5876244}"/>
              </a:ext>
            </a:extLst>
          </p:cNvPr>
          <p:cNvSpPr>
            <a:spLocks noGrp="1"/>
          </p:cNvSpPr>
          <p:nvPr>
            <p:ph type="sldNum" sz="quarter" idx="2"/>
          </p:nvPr>
        </p:nvSpPr>
        <p:spPr/>
        <p:txBody>
          <a:bodyPr/>
          <a:lstStyle/>
          <a:p>
            <a:fld id="{86CB4B4D-7CA3-9044-876B-883B54F8677D}" type="slidenum">
              <a:rPr lang="en-US" altLang="zh-TW" smtClean="0"/>
              <a:t>27</a:t>
            </a:fld>
            <a:endParaRPr lang="zh-TW" altLang="en-US"/>
          </a:p>
        </p:txBody>
      </p:sp>
      <p:sp>
        <p:nvSpPr>
          <p:cNvPr id="4" name="文字版面配置區 3">
            <a:extLst>
              <a:ext uri="{FF2B5EF4-FFF2-40B4-BE49-F238E27FC236}">
                <a16:creationId xmlns:a16="http://schemas.microsoft.com/office/drawing/2014/main" id="{976AD75D-79B2-99DF-A1F8-69D9B65B551C}"/>
              </a:ext>
            </a:extLst>
          </p:cNvPr>
          <p:cNvSpPr>
            <a:spLocks noGrp="1"/>
          </p:cNvSpPr>
          <p:nvPr>
            <p:ph type="body" idx="1"/>
          </p:nvPr>
        </p:nvSpPr>
        <p:spPr>
          <a:xfrm>
            <a:off x="12449909" y="4582246"/>
            <a:ext cx="11461306" cy="6134937"/>
          </a:xfrm>
        </p:spPr>
        <p:txBody>
          <a:bodyPr>
            <a:normAutofit/>
          </a:bodyPr>
          <a:lstStyle/>
          <a:p>
            <a:r>
              <a:rPr lang="en-US" altLang="zh-TW" sz="4400" dirty="0"/>
              <a:t>Rapid early convergence: loss falls from ~0.45 to &lt;0.1 at the beginning of training</a:t>
            </a:r>
          </a:p>
          <a:p>
            <a:r>
              <a:rPr lang="en-US" altLang="zh-TW" sz="4400" dirty="0"/>
              <a:t>Stable optimization: the smoothed curve keeps decreasing with only minor fluctuations</a:t>
            </a:r>
          </a:p>
          <a:p>
            <a:r>
              <a:rPr lang="en-US" altLang="zh-TW" sz="4400" dirty="0"/>
              <a:t>Final outcome: loss reaches ~0.02 after 3 epochs, indicating effective planner fine-tuning</a:t>
            </a:r>
            <a:endParaRPr lang="zh-TW" altLang="en-US" sz="4400" dirty="0"/>
          </a:p>
        </p:txBody>
      </p:sp>
      <p:pic>
        <p:nvPicPr>
          <p:cNvPr id="3" name="圖片 2">
            <a:extLst>
              <a:ext uri="{FF2B5EF4-FFF2-40B4-BE49-F238E27FC236}">
                <a16:creationId xmlns:a16="http://schemas.microsoft.com/office/drawing/2014/main" id="{F564DF18-60E3-F07B-130D-98844647DC81}"/>
              </a:ext>
            </a:extLst>
          </p:cNvPr>
          <p:cNvPicPr>
            <a:picLocks noChangeAspect="1"/>
          </p:cNvPicPr>
          <p:nvPr/>
        </p:nvPicPr>
        <p:blipFill>
          <a:blip r:embed="rId3"/>
          <a:stretch>
            <a:fillRect/>
          </a:stretch>
        </p:blipFill>
        <p:spPr>
          <a:xfrm>
            <a:off x="727530" y="4373522"/>
            <a:ext cx="10920644" cy="6552386"/>
          </a:xfrm>
          <a:prstGeom prst="rect">
            <a:avLst/>
          </a:prstGeom>
        </p:spPr>
      </p:pic>
    </p:spTree>
    <p:extLst>
      <p:ext uri="{BB962C8B-B14F-4D97-AF65-F5344CB8AC3E}">
        <p14:creationId xmlns:p14="http://schemas.microsoft.com/office/powerpoint/2010/main" val="61185068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583CD-B8FD-44F8-DD13-ED6997E53312}"/>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9CCC0374-3E83-B688-65B2-B26CCD7B1589}"/>
              </a:ext>
            </a:extLst>
          </p:cNvPr>
          <p:cNvSpPr txBox="1">
            <a:spLocks noGrp="1"/>
          </p:cNvSpPr>
          <p:nvPr>
            <p:ph type="title"/>
          </p:nvPr>
        </p:nvSpPr>
        <p:spPr>
          <a:xfrm>
            <a:off x="1206500" y="713740"/>
            <a:ext cx="21971000" cy="2016641"/>
          </a:xfrm>
          <a:prstGeom prst="rect">
            <a:avLst/>
          </a:prstGeom>
        </p:spPr>
        <p:txBody>
          <a:bodyPr>
            <a:normAutofit/>
          </a:bodyPr>
          <a:lstStyle/>
          <a:p>
            <a:r>
              <a:rPr lang="en-US" sz="7700" dirty="0"/>
              <a:t>Experiment - Attack</a:t>
            </a:r>
            <a:r>
              <a:rPr lang="zh-TW" altLang="en-US" sz="7700" dirty="0"/>
              <a:t> </a:t>
            </a:r>
            <a:r>
              <a:rPr lang="en-US" altLang="zh-TW" sz="7700" dirty="0"/>
              <a:t>Depth</a:t>
            </a:r>
            <a:br>
              <a:rPr lang="en-US" altLang="zh-TW" sz="7700" dirty="0"/>
            </a:br>
            <a:r>
              <a:rPr lang="en-US" altLang="zh-TW" sz="6000" dirty="0"/>
              <a:t>Ours</a:t>
            </a:r>
            <a:r>
              <a:rPr lang="zh-TW" altLang="en-US" sz="6000" dirty="0"/>
              <a:t> </a:t>
            </a:r>
            <a:r>
              <a:rPr lang="en-US" altLang="zh-TW" sz="6000" dirty="0"/>
              <a:t>gives the best overall plan quality</a:t>
            </a:r>
            <a:endParaRPr sz="6000" dirty="0"/>
          </a:p>
        </p:txBody>
      </p:sp>
      <p:sp>
        <p:nvSpPr>
          <p:cNvPr id="2" name="投影片編號版面配置區 1">
            <a:extLst>
              <a:ext uri="{FF2B5EF4-FFF2-40B4-BE49-F238E27FC236}">
                <a16:creationId xmlns:a16="http://schemas.microsoft.com/office/drawing/2014/main" id="{BA0FAB96-4F86-D226-A71B-9F9EA1B97725}"/>
              </a:ext>
            </a:extLst>
          </p:cNvPr>
          <p:cNvSpPr>
            <a:spLocks noGrp="1"/>
          </p:cNvSpPr>
          <p:nvPr>
            <p:ph type="sldNum" sz="quarter" idx="2"/>
          </p:nvPr>
        </p:nvSpPr>
        <p:spPr/>
        <p:txBody>
          <a:bodyPr/>
          <a:lstStyle/>
          <a:p>
            <a:fld id="{86CB4B4D-7CA3-9044-876B-883B54F8677D}" type="slidenum">
              <a:rPr lang="en-US" altLang="zh-TW" smtClean="0"/>
              <a:t>28</a:t>
            </a:fld>
            <a:endParaRPr lang="zh-TW" altLang="en-US"/>
          </a:p>
        </p:txBody>
      </p:sp>
      <p:sp>
        <p:nvSpPr>
          <p:cNvPr id="4" name="文字版面配置區 3">
            <a:extLst>
              <a:ext uri="{FF2B5EF4-FFF2-40B4-BE49-F238E27FC236}">
                <a16:creationId xmlns:a16="http://schemas.microsoft.com/office/drawing/2014/main" id="{B9AF913C-1D88-F743-5CE9-39506FC464C1}"/>
              </a:ext>
            </a:extLst>
          </p:cNvPr>
          <p:cNvSpPr>
            <a:spLocks noGrp="1"/>
          </p:cNvSpPr>
          <p:nvPr>
            <p:ph type="body" idx="1"/>
          </p:nvPr>
        </p:nvSpPr>
        <p:spPr>
          <a:xfrm>
            <a:off x="13873563" y="2087820"/>
            <a:ext cx="10321461" cy="12124944"/>
          </a:xfrm>
        </p:spPr>
        <p:txBody>
          <a:bodyPr>
            <a:normAutofit fontScale="92500" lnSpcReduction="20000"/>
          </a:bodyPr>
          <a:lstStyle/>
          <a:p>
            <a:pPr>
              <a:lnSpc>
                <a:spcPct val="110000"/>
              </a:lnSpc>
              <a:spcBef>
                <a:spcPts val="3300"/>
              </a:spcBef>
            </a:pPr>
            <a:r>
              <a:rPr lang="en-US" altLang="zh-TW" sz="4000" dirty="0"/>
              <a:t>Ours</a:t>
            </a:r>
            <a:r>
              <a:rPr lang="zh-TW" altLang="en-US" sz="4000" dirty="0"/>
              <a:t> </a:t>
            </a:r>
            <a:r>
              <a:rPr lang="en-US" altLang="zh-TW" sz="4000" dirty="0"/>
              <a:t>improves the overall score by about 67% over one-layer</a:t>
            </a:r>
          </a:p>
          <a:p>
            <a:pPr lvl="1">
              <a:lnSpc>
                <a:spcPct val="110000"/>
              </a:lnSpc>
              <a:spcBef>
                <a:spcPts val="3300"/>
              </a:spcBef>
            </a:pPr>
            <a:r>
              <a:rPr lang="en-US" altLang="zh-TW" sz="3600" dirty="0">
                <a:latin typeface="Times New Roman" panose="02020603050405020304" pitchFamily="18" charset="0"/>
                <a:cs typeface="Times New Roman" panose="02020603050405020304" pitchFamily="18" charset="0"/>
              </a:rPr>
              <a:t>Separating strategy reasoning from tool-argument planning improves plan quality</a:t>
            </a:r>
          </a:p>
          <a:p>
            <a:pPr>
              <a:lnSpc>
                <a:spcPct val="110000"/>
              </a:lnSpc>
              <a:spcBef>
                <a:spcPts val="3300"/>
              </a:spcBef>
            </a:pPr>
            <a:r>
              <a:rPr lang="en-US" altLang="zh-TW" sz="4000" dirty="0"/>
              <a:t>Ours</a:t>
            </a:r>
            <a:r>
              <a:rPr lang="zh-TW" altLang="en-US" sz="4000" dirty="0"/>
              <a:t> </a:t>
            </a:r>
            <a:r>
              <a:rPr lang="en-US" altLang="zh-TW" sz="4000" dirty="0"/>
              <a:t>improves the overall score by about 18% over non-FT two-layer</a:t>
            </a:r>
          </a:p>
          <a:p>
            <a:pPr lvl="1">
              <a:lnSpc>
                <a:spcPct val="110000"/>
              </a:lnSpc>
              <a:spcBef>
                <a:spcPts val="3300"/>
              </a:spcBef>
            </a:pPr>
            <a:r>
              <a:rPr lang="en-US" altLang="zh-TW" sz="3600" dirty="0">
                <a:latin typeface="Times New Roman" panose="02020603050405020304" pitchFamily="18" charset="0"/>
                <a:cs typeface="Times New Roman" panose="02020603050405020304" pitchFamily="18" charset="0"/>
              </a:rPr>
              <a:t>Fine-tuning mainly improves argument quality and cross-tool consistency</a:t>
            </a:r>
          </a:p>
          <a:p>
            <a:pPr>
              <a:lnSpc>
                <a:spcPct val="110000"/>
              </a:lnSpc>
              <a:spcBef>
                <a:spcPts val="3300"/>
              </a:spcBef>
            </a:pPr>
            <a:r>
              <a:rPr lang="en-US" altLang="zh-TW" sz="4000" dirty="0"/>
              <a:t>Duplicate-tool behavior almost disappears after moving beyond one-layer.</a:t>
            </a:r>
          </a:p>
          <a:p>
            <a:pPr lvl="1">
              <a:lnSpc>
                <a:spcPct val="110000"/>
              </a:lnSpc>
              <a:spcBef>
                <a:spcPts val="3300"/>
              </a:spcBef>
            </a:pPr>
            <a:r>
              <a:rPr lang="en-US" altLang="zh-TW" sz="3600" dirty="0">
                <a:latin typeface="Times New Roman" panose="02020603050405020304" pitchFamily="18" charset="0"/>
                <a:cs typeface="Times New Roman" panose="02020603050405020304" pitchFamily="18" charset="0"/>
              </a:rPr>
              <a:t>Two-layer planning avoids repeatedly using redundant tools in the same scenario.</a:t>
            </a:r>
          </a:p>
          <a:p>
            <a:pPr>
              <a:lnSpc>
                <a:spcPct val="110000"/>
              </a:lnSpc>
              <a:spcBef>
                <a:spcPts val="3300"/>
              </a:spcBef>
            </a:pPr>
            <a:r>
              <a:rPr lang="en-US" altLang="zh-TW" dirty="0"/>
              <a:t>Overall score</a:t>
            </a:r>
          </a:p>
          <a:p>
            <a:pPr lvl="1">
              <a:lnSpc>
                <a:spcPct val="110000"/>
              </a:lnSpc>
              <a:spcBef>
                <a:spcPts val="2100"/>
              </a:spcBef>
            </a:pPr>
            <a:r>
              <a:rPr lang="en-US" altLang="zh-TW" sz="4000" dirty="0">
                <a:latin typeface="Times New Roman" panose="02020603050405020304" pitchFamily="18" charset="0"/>
                <a:cs typeface="Times New Roman" panose="02020603050405020304" pitchFamily="18" charset="0"/>
              </a:rPr>
              <a:t>One-layer LLM honeynet: 0.43</a:t>
            </a:r>
          </a:p>
          <a:p>
            <a:pPr lvl="1">
              <a:lnSpc>
                <a:spcPct val="110000"/>
              </a:lnSpc>
              <a:spcBef>
                <a:spcPts val="2100"/>
              </a:spcBef>
            </a:pPr>
            <a:r>
              <a:rPr lang="en-US" altLang="zh-TW" sz="4000" dirty="0">
                <a:latin typeface="Times New Roman" panose="02020603050405020304" pitchFamily="18" charset="0"/>
                <a:cs typeface="Times New Roman" panose="02020603050405020304" pitchFamily="18" charset="0"/>
              </a:rPr>
              <a:t>Two-layer LLM honeynet: 0.61</a:t>
            </a:r>
          </a:p>
          <a:p>
            <a:pPr lvl="1">
              <a:lnSpc>
                <a:spcPct val="110000"/>
              </a:lnSpc>
              <a:spcBef>
                <a:spcPts val="2100"/>
              </a:spcBef>
            </a:pPr>
            <a:r>
              <a:rPr lang="en-US" altLang="zh-TW" sz="4000" dirty="0">
                <a:latin typeface="Times New Roman" panose="02020603050405020304" pitchFamily="18" charset="0"/>
                <a:cs typeface="Times New Roman" panose="02020603050405020304" pitchFamily="18" charset="0"/>
              </a:rPr>
              <a:t>Two-layer LLM honeynet (FT) : 0.72</a:t>
            </a:r>
          </a:p>
        </p:txBody>
      </p:sp>
      <p:pic>
        <p:nvPicPr>
          <p:cNvPr id="7" name="圖片 6">
            <a:extLst>
              <a:ext uri="{FF2B5EF4-FFF2-40B4-BE49-F238E27FC236}">
                <a16:creationId xmlns:a16="http://schemas.microsoft.com/office/drawing/2014/main" id="{8DB518B4-99A6-3345-BAAE-2F426EA92239}"/>
              </a:ext>
            </a:extLst>
          </p:cNvPr>
          <p:cNvPicPr>
            <a:picLocks noChangeAspect="1"/>
          </p:cNvPicPr>
          <p:nvPr/>
        </p:nvPicPr>
        <p:blipFill>
          <a:blip r:embed="rId3"/>
          <a:stretch>
            <a:fillRect/>
          </a:stretch>
        </p:blipFill>
        <p:spPr>
          <a:xfrm>
            <a:off x="509814" y="3096141"/>
            <a:ext cx="12995244" cy="10619858"/>
          </a:xfrm>
          <a:prstGeom prst="rect">
            <a:avLst/>
          </a:prstGeom>
        </p:spPr>
      </p:pic>
    </p:spTree>
    <p:extLst>
      <p:ext uri="{BB962C8B-B14F-4D97-AF65-F5344CB8AC3E}">
        <p14:creationId xmlns:p14="http://schemas.microsoft.com/office/powerpoint/2010/main" val="84407318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AB54A-92B0-239E-4211-0318CA958BCB}"/>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9B4AF229-758C-4FEA-4756-F4E8BD192BAA}"/>
              </a:ext>
            </a:extLst>
          </p:cNvPr>
          <p:cNvSpPr txBox="1">
            <a:spLocks noGrp="1"/>
          </p:cNvSpPr>
          <p:nvPr>
            <p:ph type="title"/>
          </p:nvPr>
        </p:nvSpPr>
        <p:spPr>
          <a:xfrm>
            <a:off x="1206500" y="475488"/>
            <a:ext cx="21971000" cy="1881727"/>
          </a:xfrm>
          <a:prstGeom prst="rect">
            <a:avLst/>
          </a:prstGeom>
        </p:spPr>
        <p:txBody>
          <a:bodyPr>
            <a:normAutofit/>
          </a:bodyPr>
          <a:lstStyle/>
          <a:p>
            <a:r>
              <a:rPr lang="en-US" sz="7700" dirty="0"/>
              <a:t>Experiment - Behavior Diversity</a:t>
            </a:r>
            <a:br>
              <a:rPr lang="en-US" sz="7700" dirty="0"/>
            </a:br>
            <a:r>
              <a:rPr lang="en-US" sz="6000" dirty="0"/>
              <a:t>Honeynet variants keep behavior diversity high across sessions</a:t>
            </a:r>
            <a:endParaRPr sz="7700" dirty="0"/>
          </a:p>
        </p:txBody>
      </p:sp>
      <p:sp>
        <p:nvSpPr>
          <p:cNvPr id="2" name="投影片編號版面配置區 1">
            <a:extLst>
              <a:ext uri="{FF2B5EF4-FFF2-40B4-BE49-F238E27FC236}">
                <a16:creationId xmlns:a16="http://schemas.microsoft.com/office/drawing/2014/main" id="{236E659A-68DB-821C-A8D5-A10E88861A37}"/>
              </a:ext>
            </a:extLst>
          </p:cNvPr>
          <p:cNvSpPr>
            <a:spLocks noGrp="1"/>
          </p:cNvSpPr>
          <p:nvPr>
            <p:ph type="sldNum" sz="quarter" idx="2"/>
          </p:nvPr>
        </p:nvSpPr>
        <p:spPr/>
        <p:txBody>
          <a:bodyPr/>
          <a:lstStyle/>
          <a:p>
            <a:fld id="{86CB4B4D-7CA3-9044-876B-883B54F8677D}" type="slidenum">
              <a:rPr lang="en-US" altLang="zh-TW" smtClean="0"/>
              <a:t>29</a:t>
            </a:fld>
            <a:endParaRPr lang="zh-TW" altLang="en-US"/>
          </a:p>
        </p:txBody>
      </p:sp>
      <p:sp>
        <p:nvSpPr>
          <p:cNvPr id="4" name="文字版面配置區 3">
            <a:extLst>
              <a:ext uri="{FF2B5EF4-FFF2-40B4-BE49-F238E27FC236}">
                <a16:creationId xmlns:a16="http://schemas.microsoft.com/office/drawing/2014/main" id="{C8F339A2-7DEF-717F-AE87-9DEDCE9896C4}"/>
              </a:ext>
            </a:extLst>
          </p:cNvPr>
          <p:cNvSpPr>
            <a:spLocks noGrp="1"/>
          </p:cNvSpPr>
          <p:nvPr>
            <p:ph type="body" idx="1"/>
          </p:nvPr>
        </p:nvSpPr>
        <p:spPr>
          <a:xfrm>
            <a:off x="13201865" y="2551932"/>
            <a:ext cx="11182135" cy="11383524"/>
          </a:xfrm>
        </p:spPr>
        <p:txBody>
          <a:bodyPr>
            <a:normAutofit/>
          </a:bodyPr>
          <a:lstStyle/>
          <a:p>
            <a:pPr>
              <a:lnSpc>
                <a:spcPct val="100000"/>
              </a:lnSpc>
              <a:spcBef>
                <a:spcPts val="3300"/>
              </a:spcBef>
            </a:pPr>
            <a:r>
              <a:rPr lang="en-US" altLang="zh-TW" sz="4000" dirty="0"/>
              <a:t>Honeynet variants are over 4× higher than QRASSH and over 2× higher than LLM honeypot</a:t>
            </a:r>
          </a:p>
          <a:p>
            <a:pPr lvl="1">
              <a:lnSpc>
                <a:spcPct val="100000"/>
              </a:lnSpc>
              <a:spcBef>
                <a:spcPts val="3300"/>
              </a:spcBef>
            </a:pPr>
            <a:r>
              <a:rPr lang="en-US" altLang="zh-TW" sz="3600" dirty="0">
                <a:latin typeface="Times New Roman" panose="02020603050405020304" pitchFamily="18" charset="0"/>
                <a:cs typeface="Times New Roman" panose="02020603050405020304" pitchFamily="18" charset="0"/>
              </a:rPr>
              <a:t>Multi-host state provides more attack opportunities than single-host interaction</a:t>
            </a:r>
          </a:p>
          <a:p>
            <a:pPr>
              <a:lnSpc>
                <a:spcPct val="100000"/>
              </a:lnSpc>
              <a:spcBef>
                <a:spcPts val="3300"/>
              </a:spcBef>
            </a:pPr>
            <a:r>
              <a:rPr lang="en-US" altLang="zh-TW" sz="4000" dirty="0"/>
              <a:t>One-layer, two-layer, and FT stay in the same high-diversity range.</a:t>
            </a:r>
          </a:p>
          <a:p>
            <a:pPr lvl="1">
              <a:lnSpc>
                <a:spcPct val="100000"/>
              </a:lnSpc>
              <a:spcBef>
                <a:spcPts val="3300"/>
              </a:spcBef>
            </a:pPr>
            <a:r>
              <a:rPr lang="en-US" altLang="zh-TW" sz="3600" dirty="0">
                <a:latin typeface="Times New Roman" panose="02020603050405020304" pitchFamily="18" charset="0"/>
                <a:cs typeface="Times New Roman" panose="02020603050405020304" pitchFamily="18" charset="0"/>
              </a:rPr>
              <a:t>Environment-level honeynet design is the main factor behind diverse attacker behavior.</a:t>
            </a:r>
          </a:p>
          <a:p>
            <a:pPr lvl="0">
              <a:lnSpc>
                <a:spcPct val="100000"/>
              </a:lnSpc>
              <a:spcBef>
                <a:spcPts val="3300"/>
              </a:spcBef>
              <a:defRPr/>
            </a:pPr>
            <a:r>
              <a:rPr lang="en-US" altLang="zh-TW" sz="4000" dirty="0"/>
              <a:t>Average Diversity of Episode</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QRASSH: 2.43</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LLM-based Honeypot: 4.43</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One-layer LLM Honeynet: 11.07</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Two-layer LLM Honeynet : 10.96</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Two-layer LLM honeynet (FT) : 10.53</a:t>
            </a:r>
            <a:endParaRPr kumimoji="0" lang="en-US" altLang="zh-TW" sz="3600" b="0" i="0" u="none" strike="noStrike" kern="0" cap="none" spc="0" normalizeH="0" baseline="0" noProof="0" dirty="0">
              <a:ln>
                <a:noFill/>
              </a:ln>
              <a:solidFill>
                <a:srgbClr val="000000"/>
              </a:solidFill>
              <a:effectLst/>
              <a:uLnTx/>
              <a:uFillTx/>
              <a:latin typeface="Times New Roman" panose="02020603050405020304" pitchFamily="18" charset="0"/>
              <a:ea typeface="Helvetica Neue"/>
              <a:cs typeface="Times New Roman" panose="02020603050405020304" pitchFamily="18" charset="0"/>
              <a:sym typeface="Helvetica Neue"/>
            </a:endParaRPr>
          </a:p>
          <a:p>
            <a:pPr lvl="1">
              <a:lnSpc>
                <a:spcPct val="100000"/>
              </a:lnSpc>
            </a:pPr>
            <a:endParaRPr lang="en-US" altLang="zh-TW" sz="44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C4EE2DA5-8B20-0F3D-A417-8F9E833D5A5D}"/>
              </a:ext>
            </a:extLst>
          </p:cNvPr>
          <p:cNvPicPr>
            <a:picLocks noChangeAspect="1"/>
          </p:cNvPicPr>
          <p:nvPr/>
        </p:nvPicPr>
        <p:blipFill>
          <a:blip r:embed="rId3"/>
          <a:stretch>
            <a:fillRect/>
          </a:stretch>
        </p:blipFill>
        <p:spPr>
          <a:xfrm>
            <a:off x="0" y="4174656"/>
            <a:ext cx="13046589" cy="6610272"/>
          </a:xfrm>
          <a:prstGeom prst="rect">
            <a:avLst/>
          </a:prstGeom>
        </p:spPr>
      </p:pic>
    </p:spTree>
    <p:extLst>
      <p:ext uri="{BB962C8B-B14F-4D97-AF65-F5344CB8AC3E}">
        <p14:creationId xmlns:p14="http://schemas.microsoft.com/office/powerpoint/2010/main" val="364560838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D0409-46F1-79EE-B01C-0E204D43C084}"/>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211B6BC9-C100-095C-98FD-4E5C5F67576E}"/>
              </a:ext>
            </a:extLst>
          </p:cNvPr>
          <p:cNvSpPr txBox="1">
            <a:spLocks noGrp="1"/>
          </p:cNvSpPr>
          <p:nvPr>
            <p:ph type="title"/>
          </p:nvPr>
        </p:nvSpPr>
        <p:spPr>
          <a:xfrm>
            <a:off x="1206500" y="274879"/>
            <a:ext cx="21971000" cy="2052221"/>
          </a:xfrm>
          <a:prstGeom prst="rect">
            <a:avLst/>
          </a:prstGeom>
        </p:spPr>
        <p:txBody>
          <a:bodyPr>
            <a:normAutofit/>
          </a:bodyPr>
          <a:lstStyle/>
          <a:p>
            <a:r>
              <a:rPr lang="en-US" sz="7700" dirty="0"/>
              <a:t>Experiment - Lateral Movement</a:t>
            </a:r>
            <a:br>
              <a:rPr lang="en-US" sz="7700" dirty="0"/>
            </a:br>
            <a:r>
              <a:rPr lang="en-US" sz="6000" dirty="0"/>
              <a:t>Ours creates the most attempts with real cross-host success</a:t>
            </a:r>
            <a:endParaRPr sz="7700" dirty="0"/>
          </a:p>
        </p:txBody>
      </p:sp>
      <p:sp>
        <p:nvSpPr>
          <p:cNvPr id="2" name="投影片編號版面配置區 1">
            <a:extLst>
              <a:ext uri="{FF2B5EF4-FFF2-40B4-BE49-F238E27FC236}">
                <a16:creationId xmlns:a16="http://schemas.microsoft.com/office/drawing/2014/main" id="{C0557E2A-E010-FA46-258B-43EE0FABC95F}"/>
              </a:ext>
            </a:extLst>
          </p:cNvPr>
          <p:cNvSpPr>
            <a:spLocks noGrp="1"/>
          </p:cNvSpPr>
          <p:nvPr>
            <p:ph type="sldNum" sz="quarter" idx="2"/>
          </p:nvPr>
        </p:nvSpPr>
        <p:spPr/>
        <p:txBody>
          <a:bodyPr/>
          <a:lstStyle/>
          <a:p>
            <a:fld id="{86CB4B4D-7CA3-9044-876B-883B54F8677D}" type="slidenum">
              <a:rPr lang="en-US" altLang="zh-TW" smtClean="0"/>
              <a:t>30</a:t>
            </a:fld>
            <a:endParaRPr lang="zh-TW" altLang="en-US"/>
          </a:p>
        </p:txBody>
      </p:sp>
      <p:sp>
        <p:nvSpPr>
          <p:cNvPr id="4" name="文字版面配置區 3">
            <a:extLst>
              <a:ext uri="{FF2B5EF4-FFF2-40B4-BE49-F238E27FC236}">
                <a16:creationId xmlns:a16="http://schemas.microsoft.com/office/drawing/2014/main" id="{5F42E7AB-D389-9520-47F4-801153AD7EB7}"/>
              </a:ext>
            </a:extLst>
          </p:cNvPr>
          <p:cNvSpPr>
            <a:spLocks noGrp="1"/>
          </p:cNvSpPr>
          <p:nvPr>
            <p:ph type="body" idx="1"/>
          </p:nvPr>
        </p:nvSpPr>
        <p:spPr>
          <a:xfrm>
            <a:off x="10830326" y="2246990"/>
            <a:ext cx="13350473" cy="11684893"/>
          </a:xfrm>
        </p:spPr>
        <p:txBody>
          <a:bodyPr>
            <a:normAutofit lnSpcReduction="10000"/>
          </a:bodyPr>
          <a:lstStyle/>
          <a:p>
            <a:pPr>
              <a:spcBef>
                <a:spcPts val="2700"/>
              </a:spcBef>
            </a:pPr>
            <a:r>
              <a:rPr lang="en-US" altLang="zh-TW" sz="4000" dirty="0"/>
              <a:t>Ours produces far more remote access attempts than all baselines</a:t>
            </a:r>
          </a:p>
          <a:p>
            <a:pPr lvl="1">
              <a:spcBef>
                <a:spcPts val="2700"/>
              </a:spcBef>
            </a:pPr>
            <a:r>
              <a:rPr lang="en-US" altLang="zh-TW" sz="3600" dirty="0">
                <a:latin typeface="Times New Roman" panose="02020603050405020304" pitchFamily="18" charset="0"/>
                <a:cs typeface="Times New Roman" panose="02020603050405020304" pitchFamily="18" charset="0"/>
              </a:rPr>
              <a:t>The AD honeynet exposes real hosts, accounts, credentials, and services for attackers to try</a:t>
            </a:r>
          </a:p>
          <a:p>
            <a:pPr>
              <a:spcBef>
                <a:spcPts val="2700"/>
              </a:spcBef>
            </a:pPr>
            <a:r>
              <a:rPr lang="en-US" altLang="zh-TW" sz="4000" dirty="0"/>
              <a:t>LLM honeypot has the highest success rate but only 35 attempts</a:t>
            </a:r>
          </a:p>
          <a:p>
            <a:pPr lvl="1">
              <a:spcBef>
                <a:spcPts val="2700"/>
              </a:spcBef>
            </a:pPr>
            <a:r>
              <a:rPr lang="en-US" altLang="zh-TW" sz="3600" dirty="0">
                <a:latin typeface="Times New Roman" panose="02020603050405020304" pitchFamily="18" charset="0"/>
                <a:cs typeface="Times New Roman" panose="02020603050405020304" pitchFamily="18" charset="0"/>
              </a:rPr>
              <a:t>Its success is inflated by generated replies, not real cross-host execution</a:t>
            </a:r>
          </a:p>
          <a:p>
            <a:pPr>
              <a:spcBef>
                <a:spcPts val="2700"/>
              </a:spcBef>
            </a:pPr>
            <a:r>
              <a:rPr lang="en-US" altLang="zh-TW" sz="4000" dirty="0"/>
              <a:t>Ours reaches 36.3% success with 422 attempts</a:t>
            </a:r>
          </a:p>
          <a:p>
            <a:pPr lvl="1">
              <a:spcBef>
                <a:spcPts val="2700"/>
              </a:spcBef>
            </a:pPr>
            <a:r>
              <a:rPr lang="en-US" altLang="zh-TW" sz="3600" dirty="0">
                <a:latin typeface="Times New Roman" panose="02020603050405020304" pitchFamily="18" charset="0"/>
                <a:cs typeface="Times New Roman" panose="02020603050405020304" pitchFamily="18" charset="0"/>
              </a:rPr>
              <a:t>This shows stronger effective support for realistic lateral movement</a:t>
            </a:r>
          </a:p>
          <a:p>
            <a:pPr lvl="0">
              <a:spcBef>
                <a:spcPts val="2700"/>
              </a:spcBef>
              <a:defRPr/>
            </a:pPr>
            <a:r>
              <a:rPr lang="en-US" altLang="zh-TW" sz="4000" dirty="0"/>
              <a:t>Average Diversity of Episode</a:t>
            </a:r>
          </a:p>
          <a:p>
            <a:pPr lvl="1">
              <a:spcBef>
                <a:spcPts val="2100"/>
              </a:spcBef>
              <a:defRPr/>
            </a:pPr>
            <a:r>
              <a:rPr lang="en-US" altLang="zh-TW" sz="3600" dirty="0">
                <a:latin typeface="Times New Roman" panose="02020603050405020304" pitchFamily="18" charset="0"/>
                <a:cs typeface="Times New Roman" panose="02020603050405020304" pitchFamily="18" charset="0"/>
              </a:rPr>
              <a:t>QRASSH: 1 attempts, 0.0% success</a:t>
            </a:r>
          </a:p>
          <a:p>
            <a:pPr lvl="1">
              <a:spcBef>
                <a:spcPts val="2100"/>
              </a:spcBef>
              <a:defRPr/>
            </a:pPr>
            <a:r>
              <a:rPr lang="en-US" altLang="zh-TW" sz="3600" dirty="0">
                <a:latin typeface="Times New Roman" panose="02020603050405020304" pitchFamily="18" charset="0"/>
                <a:cs typeface="Times New Roman" panose="02020603050405020304" pitchFamily="18" charset="0"/>
              </a:rPr>
              <a:t>LLM-based Honeypot: 35 attempts, 54.3% success</a:t>
            </a:r>
          </a:p>
          <a:p>
            <a:pPr lvl="1">
              <a:spcBef>
                <a:spcPts val="2100"/>
              </a:spcBef>
              <a:defRPr/>
            </a:pPr>
            <a:r>
              <a:rPr lang="en-US" altLang="zh-TW" sz="3600" dirty="0">
                <a:latin typeface="Times New Roman" panose="02020603050405020304" pitchFamily="18" charset="0"/>
                <a:cs typeface="Times New Roman" panose="02020603050405020304" pitchFamily="18" charset="0"/>
              </a:rPr>
              <a:t>One-layer LLM Honeynet: 220 attempts, 11.8% success</a:t>
            </a:r>
          </a:p>
          <a:p>
            <a:pPr lvl="1">
              <a:spcBef>
                <a:spcPts val="2100"/>
              </a:spcBef>
              <a:defRPr/>
            </a:pPr>
            <a:r>
              <a:rPr lang="en-US" altLang="zh-TW" sz="3600" dirty="0">
                <a:latin typeface="Times New Roman" panose="02020603050405020304" pitchFamily="18" charset="0"/>
                <a:cs typeface="Times New Roman" panose="02020603050405020304" pitchFamily="18" charset="0"/>
              </a:rPr>
              <a:t>Two-layer LLM Honeynet: 239 attempts, 14.6% success</a:t>
            </a:r>
          </a:p>
          <a:p>
            <a:pPr lvl="1">
              <a:spcBef>
                <a:spcPts val="2100"/>
              </a:spcBef>
              <a:defRPr/>
            </a:pPr>
            <a:r>
              <a:rPr lang="en-US" altLang="zh-TW" sz="3600" dirty="0">
                <a:latin typeface="Times New Roman" panose="02020603050405020304" pitchFamily="18" charset="0"/>
                <a:cs typeface="Times New Roman" panose="02020603050405020304" pitchFamily="18" charset="0"/>
              </a:rPr>
              <a:t>Two-layer LLM honeynet (FT) : 422 attempts, 36.3% success</a:t>
            </a:r>
          </a:p>
        </p:txBody>
      </p:sp>
      <p:grpSp>
        <p:nvGrpSpPr>
          <p:cNvPr id="13" name="群組 12">
            <a:extLst>
              <a:ext uri="{FF2B5EF4-FFF2-40B4-BE49-F238E27FC236}">
                <a16:creationId xmlns:a16="http://schemas.microsoft.com/office/drawing/2014/main" id="{87A81C88-49B4-C0C5-9085-E89F538BB313}"/>
              </a:ext>
            </a:extLst>
          </p:cNvPr>
          <p:cNvGrpSpPr/>
          <p:nvPr/>
        </p:nvGrpSpPr>
        <p:grpSpPr>
          <a:xfrm>
            <a:off x="203201" y="7468953"/>
            <a:ext cx="9890577" cy="6412596"/>
            <a:chOff x="670165" y="7581094"/>
            <a:chExt cx="9890577" cy="6412596"/>
          </a:xfrm>
        </p:grpSpPr>
        <p:pic>
          <p:nvPicPr>
            <p:cNvPr id="6" name="圖片 5">
              <a:extLst>
                <a:ext uri="{FF2B5EF4-FFF2-40B4-BE49-F238E27FC236}">
                  <a16:creationId xmlns:a16="http://schemas.microsoft.com/office/drawing/2014/main" id="{C8B16856-E11B-62CA-79FD-A121BD04C868}"/>
                </a:ext>
              </a:extLst>
            </p:cNvPr>
            <p:cNvPicPr>
              <a:picLocks noChangeAspect="1"/>
            </p:cNvPicPr>
            <p:nvPr/>
          </p:nvPicPr>
          <p:blipFill>
            <a:blip r:embed="rId3"/>
            <a:srcRect l="-1" r="83181"/>
            <a:stretch>
              <a:fillRect/>
            </a:stretch>
          </p:blipFill>
          <p:spPr>
            <a:xfrm>
              <a:off x="670165" y="7581094"/>
              <a:ext cx="2892331" cy="6412596"/>
            </a:xfrm>
            <a:prstGeom prst="rect">
              <a:avLst/>
            </a:prstGeom>
          </p:spPr>
        </p:pic>
        <p:pic>
          <p:nvPicPr>
            <p:cNvPr id="12" name="圖片 11">
              <a:extLst>
                <a:ext uri="{FF2B5EF4-FFF2-40B4-BE49-F238E27FC236}">
                  <a16:creationId xmlns:a16="http://schemas.microsoft.com/office/drawing/2014/main" id="{19CE640A-5CC6-4B76-AA0E-A351F1B5FA94}"/>
                </a:ext>
              </a:extLst>
            </p:cNvPr>
            <p:cNvPicPr>
              <a:picLocks noChangeAspect="1"/>
            </p:cNvPicPr>
            <p:nvPr/>
          </p:nvPicPr>
          <p:blipFill>
            <a:blip r:embed="rId4"/>
            <a:srcRect l="58661" t="11794" r="877"/>
            <a:stretch>
              <a:fillRect/>
            </a:stretch>
          </p:blipFill>
          <p:spPr>
            <a:xfrm>
              <a:off x="3636952" y="8365045"/>
              <a:ext cx="6923790" cy="5628645"/>
            </a:xfrm>
            <a:prstGeom prst="rect">
              <a:avLst/>
            </a:prstGeom>
          </p:spPr>
        </p:pic>
      </p:grpSp>
      <p:pic>
        <p:nvPicPr>
          <p:cNvPr id="16" name="圖片 15">
            <a:extLst>
              <a:ext uri="{FF2B5EF4-FFF2-40B4-BE49-F238E27FC236}">
                <a16:creationId xmlns:a16="http://schemas.microsoft.com/office/drawing/2014/main" id="{392474D6-DC6C-1643-241B-325BA8F1D893}"/>
              </a:ext>
            </a:extLst>
          </p:cNvPr>
          <p:cNvPicPr>
            <a:picLocks noChangeAspect="1"/>
          </p:cNvPicPr>
          <p:nvPr/>
        </p:nvPicPr>
        <p:blipFill>
          <a:blip r:embed="rId5"/>
          <a:srcRect t="10305" r="42667" b="3382"/>
          <a:stretch>
            <a:fillRect/>
          </a:stretch>
        </p:blipFill>
        <p:spPr>
          <a:xfrm>
            <a:off x="203201" y="2252178"/>
            <a:ext cx="9727876" cy="5461408"/>
          </a:xfrm>
          <a:prstGeom prst="rect">
            <a:avLst/>
          </a:prstGeom>
        </p:spPr>
      </p:pic>
    </p:spTree>
    <p:extLst>
      <p:ext uri="{BB962C8B-B14F-4D97-AF65-F5344CB8AC3E}">
        <p14:creationId xmlns:p14="http://schemas.microsoft.com/office/powerpoint/2010/main" val="1733937443"/>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A5548-3625-2BAB-798B-530717BAD97F}"/>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6DE1B341-982C-8B52-7830-4679A7BDF6A3}"/>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Real-world SSH Attack Activity</a:t>
            </a:r>
            <a:endParaRPr sz="7700" dirty="0"/>
          </a:p>
        </p:txBody>
      </p:sp>
      <p:sp>
        <p:nvSpPr>
          <p:cNvPr id="2" name="投影片編號版面配置區 1">
            <a:extLst>
              <a:ext uri="{FF2B5EF4-FFF2-40B4-BE49-F238E27FC236}">
                <a16:creationId xmlns:a16="http://schemas.microsoft.com/office/drawing/2014/main" id="{EAEAF2C7-65C5-5046-4141-39597820D8FC}"/>
              </a:ext>
            </a:extLst>
          </p:cNvPr>
          <p:cNvSpPr>
            <a:spLocks noGrp="1"/>
          </p:cNvSpPr>
          <p:nvPr>
            <p:ph type="sldNum" sz="quarter" idx="2"/>
          </p:nvPr>
        </p:nvSpPr>
        <p:spPr/>
        <p:txBody>
          <a:bodyPr/>
          <a:lstStyle/>
          <a:p>
            <a:fld id="{86CB4B4D-7CA3-9044-876B-883B54F8677D}" type="slidenum">
              <a:rPr lang="en-US" altLang="zh-TW" smtClean="0"/>
              <a:t>31</a:t>
            </a:fld>
            <a:endParaRPr lang="zh-TW" altLang="en-US"/>
          </a:p>
        </p:txBody>
      </p:sp>
      <p:sp>
        <p:nvSpPr>
          <p:cNvPr id="4" name="文字版面配置區 3">
            <a:extLst>
              <a:ext uri="{FF2B5EF4-FFF2-40B4-BE49-F238E27FC236}">
                <a16:creationId xmlns:a16="http://schemas.microsoft.com/office/drawing/2014/main" id="{945DBC8F-60EF-6B0C-50C9-89FD4931ACE0}"/>
              </a:ext>
            </a:extLst>
          </p:cNvPr>
          <p:cNvSpPr>
            <a:spLocks noGrp="1"/>
          </p:cNvSpPr>
          <p:nvPr>
            <p:ph type="body" idx="1"/>
          </p:nvPr>
        </p:nvSpPr>
        <p:spPr>
          <a:xfrm>
            <a:off x="12192000" y="4023360"/>
            <a:ext cx="11828506" cy="8634370"/>
          </a:xfrm>
        </p:spPr>
        <p:txBody>
          <a:bodyPr>
            <a:normAutofit/>
          </a:bodyPr>
          <a:lstStyle/>
          <a:p>
            <a:pPr>
              <a:spcBef>
                <a:spcPts val="2700"/>
              </a:spcBef>
            </a:pPr>
            <a:r>
              <a:rPr lang="en-US" altLang="zh-TW" sz="4000" dirty="0"/>
              <a:t>The honeypot received continuous login attempts after deployment.</a:t>
            </a:r>
          </a:p>
          <a:p>
            <a:pPr lvl="1">
              <a:spcBef>
                <a:spcPts val="2700"/>
              </a:spcBef>
            </a:pPr>
            <a:r>
              <a:rPr lang="en-US" altLang="zh-TW" sz="3600" dirty="0">
                <a:latin typeface="Times New Roman" panose="02020603050405020304" pitchFamily="18" charset="0"/>
                <a:cs typeface="Times New Roman" panose="02020603050405020304" pitchFamily="18" charset="0"/>
              </a:rPr>
              <a:t>This shows the deployed entry point successfully attracted real SSH attack traffic.</a:t>
            </a:r>
          </a:p>
          <a:p>
            <a:pPr>
              <a:spcBef>
                <a:spcPts val="2700"/>
              </a:spcBef>
            </a:pPr>
            <a:r>
              <a:rPr lang="en-US" altLang="zh-TW" sz="4000" dirty="0"/>
              <a:t>Several days reached hundreds of login attempts.</a:t>
            </a:r>
          </a:p>
          <a:p>
            <a:pPr lvl="1">
              <a:spcBef>
                <a:spcPts val="2700"/>
              </a:spcBef>
            </a:pPr>
            <a:r>
              <a:rPr lang="en-US" altLang="zh-TW" sz="3600" dirty="0">
                <a:latin typeface="Times New Roman" panose="02020603050405020304" pitchFamily="18" charset="0"/>
                <a:cs typeface="Times New Roman" panose="02020603050405020304" pitchFamily="18" charset="0"/>
              </a:rPr>
              <a:t>The environment was exposed enough to collect non-trivial attacker activity.</a:t>
            </a:r>
          </a:p>
          <a:p>
            <a:pPr>
              <a:spcBef>
                <a:spcPts val="2700"/>
              </a:spcBef>
            </a:pPr>
            <a:r>
              <a:rPr lang="en-US" altLang="zh-TW" sz="4000" dirty="0"/>
              <a:t>Exec requests dominate the post-auth behavior.</a:t>
            </a:r>
          </a:p>
          <a:p>
            <a:pPr lvl="1">
              <a:spcBef>
                <a:spcPts val="2700"/>
              </a:spcBef>
            </a:pPr>
            <a:r>
              <a:rPr lang="en-US" altLang="zh-TW" sz="3600" dirty="0">
                <a:latin typeface="Times New Roman" panose="02020603050405020304" pitchFamily="18" charset="0"/>
                <a:cs typeface="Times New Roman" panose="02020603050405020304" pitchFamily="18" charset="0"/>
              </a:rPr>
              <a:t>Most successful interactions were command-execution attempts rather than long manual sessions.</a:t>
            </a:r>
          </a:p>
        </p:txBody>
      </p:sp>
      <p:pic>
        <p:nvPicPr>
          <p:cNvPr id="3" name="圖片 2">
            <a:extLst>
              <a:ext uri="{FF2B5EF4-FFF2-40B4-BE49-F238E27FC236}">
                <a16:creationId xmlns:a16="http://schemas.microsoft.com/office/drawing/2014/main" id="{C1A9CE0C-2246-7420-9B99-2CDC2FD3F8C3}"/>
              </a:ext>
            </a:extLst>
          </p:cNvPr>
          <p:cNvPicPr>
            <a:picLocks noChangeAspect="1"/>
          </p:cNvPicPr>
          <p:nvPr/>
        </p:nvPicPr>
        <p:blipFill>
          <a:blip r:embed="rId3"/>
          <a:stretch>
            <a:fillRect/>
          </a:stretch>
        </p:blipFill>
        <p:spPr>
          <a:xfrm>
            <a:off x="-7111" y="3624809"/>
            <a:ext cx="12199111" cy="7929422"/>
          </a:xfrm>
          <a:prstGeom prst="rect">
            <a:avLst/>
          </a:prstGeom>
        </p:spPr>
      </p:pic>
    </p:spTree>
    <p:extLst>
      <p:ext uri="{BB962C8B-B14F-4D97-AF65-F5344CB8AC3E}">
        <p14:creationId xmlns:p14="http://schemas.microsoft.com/office/powerpoint/2010/main" val="118504652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3D9D2-10E6-4DC4-406F-9BC62FB1F17F}"/>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A2571F04-9CAC-CBAF-9E48-E8DF40E874BA}"/>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Real-world SSH Attack Activity</a:t>
            </a:r>
            <a:endParaRPr sz="7700" dirty="0"/>
          </a:p>
        </p:txBody>
      </p:sp>
      <p:sp>
        <p:nvSpPr>
          <p:cNvPr id="2" name="投影片編號版面配置區 1">
            <a:extLst>
              <a:ext uri="{FF2B5EF4-FFF2-40B4-BE49-F238E27FC236}">
                <a16:creationId xmlns:a16="http://schemas.microsoft.com/office/drawing/2014/main" id="{8552CA49-BDE5-F636-ACE3-C0792FB1639A}"/>
              </a:ext>
            </a:extLst>
          </p:cNvPr>
          <p:cNvSpPr>
            <a:spLocks noGrp="1"/>
          </p:cNvSpPr>
          <p:nvPr>
            <p:ph type="sldNum" sz="quarter" idx="2"/>
          </p:nvPr>
        </p:nvSpPr>
        <p:spPr/>
        <p:txBody>
          <a:bodyPr/>
          <a:lstStyle/>
          <a:p>
            <a:fld id="{86CB4B4D-7CA3-9044-876B-883B54F8677D}" type="slidenum">
              <a:rPr lang="en-US" altLang="zh-TW" smtClean="0"/>
              <a:t>32</a:t>
            </a:fld>
            <a:endParaRPr lang="zh-TW" altLang="en-US"/>
          </a:p>
        </p:txBody>
      </p:sp>
      <p:sp>
        <p:nvSpPr>
          <p:cNvPr id="4" name="文字版面配置區 3">
            <a:extLst>
              <a:ext uri="{FF2B5EF4-FFF2-40B4-BE49-F238E27FC236}">
                <a16:creationId xmlns:a16="http://schemas.microsoft.com/office/drawing/2014/main" id="{567D7887-3DCB-E96D-3BFD-4759952F6D12}"/>
              </a:ext>
            </a:extLst>
          </p:cNvPr>
          <p:cNvSpPr>
            <a:spLocks noGrp="1"/>
          </p:cNvSpPr>
          <p:nvPr>
            <p:ph type="body" idx="1"/>
          </p:nvPr>
        </p:nvSpPr>
        <p:spPr>
          <a:xfrm>
            <a:off x="14385012" y="3281634"/>
            <a:ext cx="10249962" cy="9749938"/>
          </a:xfrm>
        </p:spPr>
        <p:txBody>
          <a:bodyPr>
            <a:normAutofit/>
          </a:bodyPr>
          <a:lstStyle/>
          <a:p>
            <a:pPr>
              <a:spcBef>
                <a:spcPts val="2700"/>
              </a:spcBef>
            </a:pPr>
            <a:r>
              <a:rPr lang="en-US" altLang="zh-TW" sz="4000" dirty="0"/>
              <a:t>Host reconnaissance is the most frequent behavior</a:t>
            </a:r>
          </a:p>
          <a:p>
            <a:pPr lvl="1">
              <a:spcBef>
                <a:spcPts val="2700"/>
              </a:spcBef>
            </a:pPr>
            <a:r>
              <a:rPr lang="en-US" altLang="zh-TW" sz="3600" dirty="0">
                <a:latin typeface="Times New Roman" panose="02020603050405020304" pitchFamily="18" charset="0"/>
                <a:cs typeface="Times New Roman" panose="02020603050405020304" pitchFamily="18" charset="0"/>
              </a:rPr>
              <a:t>Attackers first try to understand the host, environment, and available commands</a:t>
            </a:r>
          </a:p>
          <a:p>
            <a:pPr>
              <a:spcBef>
                <a:spcPts val="2700"/>
              </a:spcBef>
            </a:pPr>
            <a:r>
              <a:rPr lang="en-US" altLang="zh-TW" sz="4000" dirty="0"/>
              <a:t>Malware staging / execution is the second major behavior</a:t>
            </a:r>
          </a:p>
          <a:p>
            <a:pPr lvl="1">
              <a:spcBef>
                <a:spcPts val="2700"/>
              </a:spcBef>
            </a:pPr>
            <a:r>
              <a:rPr lang="en-US" altLang="zh-TW" sz="3600" dirty="0">
                <a:latin typeface="Times New Roman" panose="02020603050405020304" pitchFamily="18" charset="0"/>
                <a:cs typeface="Times New Roman" panose="02020603050405020304" pitchFamily="18" charset="0"/>
              </a:rPr>
              <a:t>Many attackers quickly move from probing to preparing or running payloads</a:t>
            </a:r>
          </a:p>
          <a:p>
            <a:pPr>
              <a:spcBef>
                <a:spcPts val="2700"/>
              </a:spcBef>
            </a:pPr>
            <a:r>
              <a:rPr lang="en-US" altLang="zh-TW" sz="4000" dirty="0"/>
              <a:t>Binary payload upload has low frequency but high volume</a:t>
            </a:r>
          </a:p>
          <a:p>
            <a:pPr lvl="1">
              <a:spcBef>
                <a:spcPts val="2700"/>
              </a:spcBef>
            </a:pPr>
            <a:r>
              <a:rPr lang="en-US" altLang="zh-TW" sz="3600" dirty="0">
                <a:latin typeface="Times New Roman" panose="02020603050405020304" pitchFamily="18" charset="0"/>
                <a:cs typeface="Times New Roman" panose="02020603050405020304" pitchFamily="18" charset="0"/>
              </a:rPr>
              <a:t>Few sessions upload binaries, but each upload contributes much larger data size</a:t>
            </a:r>
          </a:p>
        </p:txBody>
      </p:sp>
      <p:pic>
        <p:nvPicPr>
          <p:cNvPr id="5" name="圖片 4">
            <a:extLst>
              <a:ext uri="{FF2B5EF4-FFF2-40B4-BE49-F238E27FC236}">
                <a16:creationId xmlns:a16="http://schemas.microsoft.com/office/drawing/2014/main" id="{A0A71423-97EF-4BF5-C26F-3C2AA4BCB38B}"/>
              </a:ext>
            </a:extLst>
          </p:cNvPr>
          <p:cNvPicPr>
            <a:picLocks noChangeAspect="1"/>
          </p:cNvPicPr>
          <p:nvPr/>
        </p:nvPicPr>
        <p:blipFill>
          <a:blip r:embed="rId3"/>
          <a:stretch>
            <a:fillRect/>
          </a:stretch>
        </p:blipFill>
        <p:spPr>
          <a:xfrm>
            <a:off x="-201190" y="3463131"/>
            <a:ext cx="14586202" cy="7293101"/>
          </a:xfrm>
          <a:prstGeom prst="rect">
            <a:avLst/>
          </a:prstGeom>
        </p:spPr>
      </p:pic>
    </p:spTree>
    <p:extLst>
      <p:ext uri="{BB962C8B-B14F-4D97-AF65-F5344CB8AC3E}">
        <p14:creationId xmlns:p14="http://schemas.microsoft.com/office/powerpoint/2010/main" val="115476443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2491"/>
            <a:ext cx="21971000" cy="10893509"/>
          </a:xfrm>
          <a:prstGeom prst="rect">
            <a:avLst/>
          </a:prstGeom>
        </p:spPr>
        <p:txBody>
          <a:bodyPr>
            <a:normAutofit/>
          </a:bodyPr>
          <a:lstStyle/>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S. Liu, J. Sun, and K. Sun, Catch Me if You Can: Effective Honeypot Placement in Dynamic AD Attack Graphs. Fairfax, VA, USA: George Mason University, 2024.</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D. </a:t>
            </a:r>
            <a:r>
              <a:rPr lang="en-US" dirty="0" err="1">
                <a:latin typeface="Times New Roman" panose="02020603050405020304" pitchFamily="18" charset="0"/>
                <a:cs typeface="Times New Roman" panose="02020603050405020304" pitchFamily="18" charset="0"/>
              </a:rPr>
              <a:t>Blazakis</a:t>
            </a:r>
            <a:r>
              <a:rPr lang="en-US" dirty="0">
                <a:latin typeface="Times New Roman" panose="02020603050405020304" pitchFamily="18" charset="0"/>
                <a:cs typeface="Times New Roman" panose="02020603050405020304" pitchFamily="18" charset="0"/>
              </a:rPr>
              <a:t>, J. S. Lee, and J. A. Harder, </a:t>
            </a:r>
            <a:r>
              <a:rPr lang="en-US" dirty="0" err="1">
                <a:latin typeface="Times New Roman" panose="02020603050405020304" pitchFamily="18" charset="0"/>
                <a:cs typeface="Times New Roman" panose="02020603050405020304" pitchFamily="18" charset="0"/>
              </a:rPr>
              <a:t>HoneyWin</a:t>
            </a:r>
            <a:r>
              <a:rPr lang="en-US" dirty="0">
                <a:latin typeface="Times New Roman" panose="02020603050405020304" pitchFamily="18" charset="0"/>
                <a:cs typeface="Times New Roman" panose="02020603050405020304" pitchFamily="18" charset="0"/>
              </a:rPr>
              <a:t>: High-Interaction Windows Honeypot in Enterprise Environment, Proc. 2020 IEEE European Symposium on Security and Privacy Workshops (</a:t>
            </a:r>
            <a:r>
              <a:rPr lang="en-US" dirty="0" err="1">
                <a:latin typeface="Times New Roman" panose="02020603050405020304" pitchFamily="18" charset="0"/>
                <a:cs typeface="Times New Roman" panose="02020603050405020304" pitchFamily="18" charset="0"/>
              </a:rPr>
              <a:t>EuroS&amp;PW</a:t>
            </a:r>
            <a:r>
              <a:rPr lang="en-US" dirty="0">
                <a:latin typeface="Times New Roman" panose="02020603050405020304" pitchFamily="18" charset="0"/>
                <a:cs typeface="Times New Roman" panose="02020603050405020304" pitchFamily="18" charset="0"/>
              </a:rPr>
              <a:t>), Genoa, Italy, 2020, pp. 236–243,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10.1109/EuroSPW51379.2020.00045.</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J. Sun, S. Liu, and K. Sun, “A Scalable High Fidelity Decoy Framework against Sophisticated Cyber Attacks,” in Proc. 6th ACM Workshop on Moving Target Defense (MTD’19), London, U.K., Nov. 2019, pp. 37–46,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10.1145/3338468.3356826.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Y. </a:t>
            </a:r>
            <a:r>
              <a:rPr lang="en-US" dirty="0" err="1">
                <a:latin typeface="Times New Roman" panose="02020603050405020304" pitchFamily="18" charset="0"/>
                <a:cs typeface="Times New Roman" panose="02020603050405020304" pitchFamily="18" charset="0"/>
              </a:rPr>
              <a:t>Aoike</a:t>
            </a:r>
            <a:r>
              <a:rPr lang="en-US" dirty="0">
                <a:latin typeface="Times New Roman" panose="02020603050405020304" pitchFamily="18" charset="0"/>
                <a:cs typeface="Times New Roman" panose="02020603050405020304" pitchFamily="18" charset="0"/>
              </a:rPr>
              <a:t>, M. </a:t>
            </a:r>
            <a:r>
              <a:rPr lang="en-US" dirty="0" err="1">
                <a:latin typeface="Times New Roman" panose="02020603050405020304" pitchFamily="18" charset="0"/>
                <a:cs typeface="Times New Roman" panose="02020603050405020304" pitchFamily="18" charset="0"/>
              </a:rPr>
              <a:t>Kamizono</a:t>
            </a:r>
            <a:r>
              <a:rPr lang="en-US" dirty="0">
                <a:latin typeface="Times New Roman" panose="02020603050405020304" pitchFamily="18" charset="0"/>
                <a:cs typeface="Times New Roman" panose="02020603050405020304" pitchFamily="18" charset="0"/>
              </a:rPr>
              <a:t>, M. </a:t>
            </a:r>
            <a:r>
              <a:rPr lang="en-US" dirty="0" err="1">
                <a:latin typeface="Times New Roman" panose="02020603050405020304" pitchFamily="18" charset="0"/>
                <a:cs typeface="Times New Roman" panose="02020603050405020304" pitchFamily="18" charset="0"/>
              </a:rPr>
              <a:t>Eto</a:t>
            </a:r>
            <a:r>
              <a:rPr lang="en-US" dirty="0">
                <a:latin typeface="Times New Roman" panose="02020603050405020304" pitchFamily="18" charset="0"/>
                <a:cs typeface="Times New Roman" panose="02020603050405020304" pitchFamily="18" charset="0"/>
              </a:rPr>
              <a:t>, N. Matsumoto, and N. Yoshida, “Decoy-File-Based Deception without Usability Degradation,” in Proc. 2021 IEEE Asia-Pacific Conference on Computer Science and Data Engineering (CSDE), 2021, pp. 971–978,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10.1109/CSDE53843.2021.9718420.</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V. S. N. </a:t>
            </a:r>
            <a:r>
              <a:rPr lang="en-US" dirty="0" err="1">
                <a:latin typeface="Times New Roman" panose="02020603050405020304" pitchFamily="18" charset="0"/>
                <a:cs typeface="Times New Roman" panose="02020603050405020304" pitchFamily="18" charset="0"/>
              </a:rPr>
              <a:t>Tinnaluri</a:t>
            </a:r>
            <a:r>
              <a:rPr lang="en-US" dirty="0">
                <a:latin typeface="Times New Roman" panose="02020603050405020304" pitchFamily="18" charset="0"/>
                <a:cs typeface="Times New Roman" panose="02020603050405020304" pitchFamily="18" charset="0"/>
              </a:rPr>
              <a:t> and N. Shaik, “A Comprehensive Approach: Developing A Honeypot System To Thwart Cyber Attackers,” Educational Administration: Theory and Practice, vol. 30, no. 5, pp. 9093–9099,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10.53555/kuey.v30i5.4517.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Y.-D. Lin, Y.-H. Lu, R.-H. Hwang, Y.-C. Lai, D. </a:t>
            </a:r>
            <a:r>
              <a:rPr lang="en-US" dirty="0" err="1">
                <a:latin typeface="Times New Roman" panose="02020603050405020304" pitchFamily="18" charset="0"/>
                <a:cs typeface="Times New Roman" panose="02020603050405020304" pitchFamily="18" charset="0"/>
              </a:rPr>
              <a:t>Sudyana</a:t>
            </a:r>
            <a:r>
              <a:rPr lang="en-US" dirty="0">
                <a:latin typeface="Times New Roman" panose="02020603050405020304" pitchFamily="18" charset="0"/>
                <a:cs typeface="Times New Roman" panose="02020603050405020304" pitchFamily="18" charset="0"/>
              </a:rPr>
              <a:t>, and W.-B. Lee, “Evolving ML-Based Intrusion Detection: Cyber Threat Intelligence for Dynamic Model Updates,” IEEE Transactions on Machine Learning in Communications and Networking, vol. 3, pp. 605–612, 2025,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10.1109/TMLCN.2025.3564587.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O. </a:t>
            </a:r>
            <a:r>
              <a:rPr lang="en-US" dirty="0" err="1">
                <a:latin typeface="Times New Roman" panose="02020603050405020304" pitchFamily="18" charset="0"/>
                <a:cs typeface="Times New Roman" panose="02020603050405020304" pitchFamily="18" charset="0"/>
              </a:rPr>
              <a:t>Rehnbäck</a:t>
            </a:r>
            <a:r>
              <a:rPr lang="en-US" dirty="0">
                <a:latin typeface="Times New Roman" panose="02020603050405020304" pitchFamily="18" charset="0"/>
                <a:cs typeface="Times New Roman" panose="02020603050405020304" pitchFamily="18" charset="0"/>
              </a:rPr>
              <a:t>, A Case Study of Unauthorized Login Attempts Against Honeypots via Remote Desktop, M.Sc. thesis, </a:t>
            </a:r>
            <a:r>
              <a:rPr lang="en-US" dirty="0" err="1">
                <a:latin typeface="Times New Roman" panose="02020603050405020304" pitchFamily="18" charset="0"/>
                <a:cs typeface="Times New Roman" panose="02020603050405020304" pitchFamily="18" charset="0"/>
              </a:rPr>
              <a:t>Luleå</a:t>
            </a:r>
            <a:r>
              <a:rPr lang="en-US" dirty="0">
                <a:latin typeface="Times New Roman" panose="02020603050405020304" pitchFamily="18" charset="0"/>
                <a:cs typeface="Times New Roman" panose="02020603050405020304" pitchFamily="18" charset="0"/>
              </a:rPr>
              <a:t> University of Technology, Sweden, July 2023.</a:t>
            </a:r>
            <a:r>
              <a:rPr lang="en-US" altLang="zh-TW" dirty="0">
                <a:solidFill>
                  <a:schemeClr val="tx1"/>
                </a:solidFill>
                <a:latin typeface="Times New Roman" panose="02020603050405020304" pitchFamily="18" charset="0"/>
                <a:cs typeface="Times New Roman" panose="02020603050405020304" pitchFamily="18" charset="0"/>
              </a:rPr>
              <a:t>QRASSH: A Self-Adaptive SSH Honeypot Driven by Q-Learning</a:t>
            </a:r>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33</a:t>
            </a:fld>
            <a:endParaRPr lang="zh-TW" altLang="en-US"/>
          </a:p>
        </p:txBody>
      </p:sp>
    </p:spTree>
    <p:extLst>
      <p:ext uri="{BB962C8B-B14F-4D97-AF65-F5344CB8AC3E}">
        <p14:creationId xmlns:p14="http://schemas.microsoft.com/office/powerpoint/2010/main" val="106335205"/>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2491"/>
            <a:ext cx="21971000" cy="10893509"/>
          </a:xfrm>
          <a:prstGeom prst="rect">
            <a:avLst/>
          </a:prstGeom>
        </p:spPr>
        <p:txBody>
          <a:bodyPr>
            <a:normAutofit/>
          </a:bodyPr>
          <a:lstStyle/>
          <a:p>
            <a:pPr marL="514350" indent="-514350">
              <a:spcBef>
                <a:spcPts val="2400"/>
              </a:spcBef>
              <a:buSzPct val="100000"/>
              <a:buFont typeface="+mj-lt"/>
              <a:buAutoNum type="arabicPeriod" startAt="8"/>
              <a:defRPr sz="3000"/>
            </a:pPr>
            <a:r>
              <a:rPr lang="en-US" altLang="zh-TW" dirty="0">
                <a:solidFill>
                  <a:schemeClr val="tx1"/>
                </a:solidFill>
                <a:latin typeface="Times New Roman" panose="02020603050405020304" pitchFamily="18" charset="0"/>
                <a:cs typeface="Times New Roman" panose="02020603050405020304" pitchFamily="18" charset="0"/>
              </a:rPr>
              <a:t>A. </a:t>
            </a:r>
            <a:r>
              <a:rPr lang="en-US" altLang="zh-TW" dirty="0" err="1">
                <a:solidFill>
                  <a:schemeClr val="tx1"/>
                </a:solidFill>
                <a:latin typeface="Times New Roman" panose="02020603050405020304" pitchFamily="18" charset="0"/>
                <a:cs typeface="Times New Roman" panose="02020603050405020304" pitchFamily="18" charset="0"/>
              </a:rPr>
              <a:t>Pauna</a:t>
            </a:r>
            <a:r>
              <a:rPr lang="en-US" altLang="zh-TW" dirty="0">
                <a:solidFill>
                  <a:schemeClr val="tx1"/>
                </a:solidFill>
                <a:latin typeface="Times New Roman" panose="02020603050405020304" pitchFamily="18" charset="0"/>
                <a:cs typeface="Times New Roman" panose="02020603050405020304" pitchFamily="18" charset="0"/>
              </a:rPr>
              <a:t>, A.-C. </a:t>
            </a:r>
            <a:r>
              <a:rPr lang="en-US" altLang="zh-TW" dirty="0" err="1">
                <a:solidFill>
                  <a:schemeClr val="tx1"/>
                </a:solidFill>
                <a:latin typeface="Times New Roman" panose="02020603050405020304" pitchFamily="18" charset="0"/>
                <a:cs typeface="Times New Roman" panose="02020603050405020304" pitchFamily="18" charset="0"/>
              </a:rPr>
              <a:t>Iacob</a:t>
            </a:r>
            <a:r>
              <a:rPr lang="en-US" altLang="zh-TW" dirty="0">
                <a:solidFill>
                  <a:schemeClr val="tx1"/>
                </a:solidFill>
                <a:latin typeface="Times New Roman" panose="02020603050405020304" pitchFamily="18" charset="0"/>
                <a:cs typeface="Times New Roman" panose="02020603050405020304" pitchFamily="18" charset="0"/>
              </a:rPr>
              <a:t>, and I. </a:t>
            </a:r>
            <a:r>
              <a:rPr lang="en-US" altLang="zh-TW" dirty="0" err="1">
                <a:solidFill>
                  <a:schemeClr val="tx1"/>
                </a:solidFill>
                <a:latin typeface="Times New Roman" panose="02020603050405020304" pitchFamily="18" charset="0"/>
                <a:cs typeface="Times New Roman" panose="02020603050405020304" pitchFamily="18" charset="0"/>
              </a:rPr>
              <a:t>Bica</a:t>
            </a:r>
            <a:r>
              <a:rPr lang="en-US" altLang="zh-TW" dirty="0">
                <a:solidFill>
                  <a:schemeClr val="tx1"/>
                </a:solidFill>
                <a:latin typeface="Times New Roman" panose="02020603050405020304" pitchFamily="18" charset="0"/>
                <a:cs typeface="Times New Roman" panose="02020603050405020304" pitchFamily="18" charset="0"/>
              </a:rPr>
              <a:t>, “QRASSH: A Self-Adaptive SSH Honeypot Driven by Q-Learning,” in Proc. 2018 IEEE International Conference on Communications (ICC), 2018, pp. 1–6, </a:t>
            </a:r>
            <a:r>
              <a:rPr lang="en-US" altLang="zh-TW" dirty="0" err="1">
                <a:solidFill>
                  <a:schemeClr val="tx1"/>
                </a:solidFill>
                <a:latin typeface="Times New Roman" panose="02020603050405020304" pitchFamily="18" charset="0"/>
                <a:cs typeface="Times New Roman" panose="02020603050405020304" pitchFamily="18" charset="0"/>
              </a:rPr>
              <a:t>doi</a:t>
            </a:r>
            <a:r>
              <a:rPr lang="en-US" altLang="zh-TW" dirty="0">
                <a:solidFill>
                  <a:schemeClr val="tx1"/>
                </a:solidFill>
                <a:latin typeface="Times New Roman" panose="02020603050405020304" pitchFamily="18" charset="0"/>
                <a:cs typeface="Times New Roman" panose="02020603050405020304" pitchFamily="18" charset="0"/>
              </a:rPr>
              <a:t>: 10.1109/ICC.2018.8422876. </a:t>
            </a:r>
          </a:p>
          <a:p>
            <a:pPr marL="514350" indent="-514350">
              <a:spcBef>
                <a:spcPts val="2400"/>
              </a:spcBef>
              <a:buSzPct val="100000"/>
              <a:buFont typeface="+mj-lt"/>
              <a:buAutoNum type="arabicPeriod" startAt="8"/>
              <a:defRPr sz="3000"/>
            </a:pPr>
            <a:r>
              <a:rPr lang="en-US" altLang="zh-TW" dirty="0">
                <a:solidFill>
                  <a:schemeClr val="tx1"/>
                </a:solidFill>
                <a:latin typeface="Times New Roman" panose="02020603050405020304" pitchFamily="18" charset="0"/>
                <a:cs typeface="Times New Roman" panose="02020603050405020304" pitchFamily="18" charset="0"/>
              </a:rPr>
              <a:t>Z. Wang, J. You, H. Wang, T. Yuan, S. </a:t>
            </a:r>
            <a:r>
              <a:rPr lang="en-US" altLang="zh-TW" dirty="0" err="1">
                <a:solidFill>
                  <a:schemeClr val="tx1"/>
                </a:solidFill>
                <a:latin typeface="Times New Roman" panose="02020603050405020304" pitchFamily="18" charset="0"/>
                <a:cs typeface="Times New Roman" panose="02020603050405020304" pitchFamily="18" charset="0"/>
              </a:rPr>
              <a:t>Lv</a:t>
            </a:r>
            <a:r>
              <a:rPr lang="en-US" altLang="zh-TW" dirty="0">
                <a:solidFill>
                  <a:schemeClr val="tx1"/>
                </a:solidFill>
                <a:latin typeface="Times New Roman" panose="02020603050405020304" pitchFamily="18" charset="0"/>
                <a:cs typeface="Times New Roman" panose="02020603050405020304" pitchFamily="18" charset="0"/>
              </a:rPr>
              <a:t>, Y. Wang, and L. Sun, “</a:t>
            </a:r>
            <a:r>
              <a:rPr lang="en-US" altLang="zh-TW" dirty="0" err="1">
                <a:solidFill>
                  <a:schemeClr val="tx1"/>
                </a:solidFill>
                <a:latin typeface="Times New Roman" panose="02020603050405020304" pitchFamily="18" charset="0"/>
                <a:cs typeface="Times New Roman" panose="02020603050405020304" pitchFamily="18" charset="0"/>
              </a:rPr>
              <a:t>HoneyGPT</a:t>
            </a:r>
            <a:r>
              <a:rPr lang="en-US" altLang="zh-TW" dirty="0">
                <a:solidFill>
                  <a:schemeClr val="tx1"/>
                </a:solidFill>
                <a:latin typeface="Times New Roman" panose="02020603050405020304" pitchFamily="18" charset="0"/>
                <a:cs typeface="Times New Roman" panose="02020603050405020304" pitchFamily="18" charset="0"/>
              </a:rPr>
              <a:t>: Breaking the Trilemma in Honeypots with Large Language Models,” </a:t>
            </a:r>
            <a:r>
              <a:rPr lang="en-US" altLang="zh-TW" dirty="0" err="1">
                <a:solidFill>
                  <a:schemeClr val="tx1"/>
                </a:solidFill>
                <a:latin typeface="Times New Roman" panose="02020603050405020304" pitchFamily="18" charset="0"/>
                <a:cs typeface="Times New Roman" panose="02020603050405020304" pitchFamily="18" charset="0"/>
              </a:rPr>
              <a:t>arXiv</a:t>
            </a:r>
            <a:r>
              <a:rPr lang="en-US" altLang="zh-TW" dirty="0">
                <a:solidFill>
                  <a:schemeClr val="tx1"/>
                </a:solidFill>
                <a:latin typeface="Times New Roman" panose="02020603050405020304" pitchFamily="18" charset="0"/>
                <a:cs typeface="Times New Roman" panose="02020603050405020304" pitchFamily="18" charset="0"/>
              </a:rPr>
              <a:t> preprint arXiv:2406.01882v2, Feb. 2025. </a:t>
            </a:r>
          </a:p>
          <a:p>
            <a:pPr marL="514350" indent="-514350">
              <a:spcBef>
                <a:spcPts val="2400"/>
              </a:spcBef>
              <a:buSzPct val="100000"/>
              <a:buFont typeface="+mj-lt"/>
              <a:buAutoNum type="arabicPeriod" startAt="8"/>
              <a:defRPr sz="3000"/>
            </a:pPr>
            <a:r>
              <a:rPr lang="en-US" altLang="zh-TW" dirty="0">
                <a:solidFill>
                  <a:schemeClr val="tx1"/>
                </a:solidFill>
                <a:latin typeface="Times New Roman" panose="02020603050405020304" pitchFamily="18" charset="0"/>
                <a:cs typeface="Times New Roman" panose="02020603050405020304" pitchFamily="18" charset="0"/>
              </a:rPr>
              <a:t>C.-Y. Hsieh, “Active Directory Deception: A Reinforcement Learning Honeypot Aligned with MITRE Engage,” M.S. thesis, Inst. of Computer Science and Engineering, National Yang Ming Chiao Tung University, Hsinchu, Taiwan, Jun. 2025. </a:t>
            </a:r>
          </a:p>
          <a:p>
            <a:pPr marL="514350" indent="-514350">
              <a:spcBef>
                <a:spcPts val="2400"/>
              </a:spcBef>
              <a:buSzPct val="100000"/>
              <a:buFont typeface="+mj-lt"/>
              <a:buAutoNum type="arabicPeriod" startAt="8"/>
              <a:defRPr sz="3000"/>
            </a:pPr>
            <a:r>
              <a:rPr lang="en-US" altLang="zh-TW" dirty="0">
                <a:solidFill>
                  <a:schemeClr val="tx1"/>
                </a:solidFill>
              </a:rPr>
              <a:t>T. Yang, C. Zhang, and Y. Xu, “</a:t>
            </a:r>
            <a:r>
              <a:rPr lang="en-US" altLang="zh-TW" dirty="0" err="1">
                <a:solidFill>
                  <a:schemeClr val="tx1"/>
                </a:solidFill>
              </a:rPr>
              <a:t>HoneyFactory</a:t>
            </a:r>
            <a:r>
              <a:rPr lang="en-US" altLang="zh-TW" dirty="0">
                <a:solidFill>
                  <a:schemeClr val="tx1"/>
                </a:solidFill>
              </a:rPr>
              <a:t>: A Honeynet Generation Architecture for Capturing Multi-Stage Network Attacks,” Electronics, vol. 13, no. 2, p. 361, Jan. 2024.</a:t>
            </a:r>
          </a:p>
          <a:p>
            <a:pPr marL="514350" indent="-514350">
              <a:spcBef>
                <a:spcPts val="2400"/>
              </a:spcBef>
              <a:buSzPct val="100000"/>
              <a:buFont typeface="+mj-lt"/>
              <a:buAutoNum type="arabicPeriod" startAt="8"/>
              <a:defRPr sz="3000"/>
            </a:pPr>
            <a:r>
              <a:rPr lang="en-US" altLang="zh-TW" dirty="0">
                <a:solidFill>
                  <a:schemeClr val="tx1"/>
                </a:solidFill>
              </a:rPr>
              <a:t>L. J. Möller, “An Adaptive Multi-Layered Honeynet Architecture for Threat Behavior Analysis via Deep Learning,” </a:t>
            </a:r>
            <a:r>
              <a:rPr lang="en-US" altLang="zh-TW" dirty="0" err="1">
                <a:solidFill>
                  <a:schemeClr val="tx1"/>
                </a:solidFill>
              </a:rPr>
              <a:t>arXiv</a:t>
            </a:r>
            <a:r>
              <a:rPr lang="en-US" altLang="zh-TW" dirty="0">
                <a:solidFill>
                  <a:schemeClr val="tx1"/>
                </a:solidFill>
              </a:rPr>
              <a:t> preprint arXiv:2512.07827, Dec. 2025.</a:t>
            </a:r>
          </a:p>
          <a:p>
            <a:pPr marL="514350" indent="-514350">
              <a:spcBef>
                <a:spcPts val="2400"/>
              </a:spcBef>
              <a:buSzPct val="100000"/>
              <a:buFont typeface="+mj-lt"/>
              <a:buAutoNum type="arabicPeriod" startAt="8"/>
              <a:defRPr sz="3000"/>
            </a:pPr>
            <a:r>
              <a:rPr lang="en-US" altLang="zh-TW" dirty="0">
                <a:solidFill>
                  <a:schemeClr val="tx1"/>
                </a:solidFill>
              </a:rPr>
              <a:t>F. Lucchese, F. Zago, M. Polino, and S. </a:t>
            </a:r>
            <a:r>
              <a:rPr lang="en-US" altLang="zh-TW" dirty="0" err="1">
                <a:solidFill>
                  <a:schemeClr val="tx1"/>
                </a:solidFill>
              </a:rPr>
              <a:t>Zanero</a:t>
            </a:r>
            <a:r>
              <a:rPr lang="en-US" altLang="zh-TW" dirty="0">
                <a:solidFill>
                  <a:schemeClr val="tx1"/>
                </a:solidFill>
              </a:rPr>
              <a:t>, “</a:t>
            </a:r>
            <a:r>
              <a:rPr lang="en-US" altLang="zh-TW" dirty="0" err="1">
                <a:solidFill>
                  <a:schemeClr val="tx1"/>
                </a:solidFill>
              </a:rPr>
              <a:t>HoneyICS</a:t>
            </a:r>
            <a:r>
              <a:rPr lang="en-US" altLang="zh-TW" dirty="0">
                <a:solidFill>
                  <a:schemeClr val="tx1"/>
                </a:solidFill>
              </a:rPr>
              <a:t>: A High-Interaction Honeynet for Industrial Control Systems,” in Proceedings of the 18th International Conference on Availability, Reliability and Security (ARES), Aug. 2023.</a:t>
            </a:r>
            <a:endParaRPr lang="en-US" altLang="zh-TW" dirty="0">
              <a:solidFill>
                <a:schemeClr val="tx1"/>
              </a:solidFill>
              <a:latin typeface="Times New Roman" panose="02020603050405020304" pitchFamily="18" charset="0"/>
              <a:cs typeface="Times New Roman" panose="02020603050405020304" pitchFamily="18" charset="0"/>
            </a:endParaRPr>
          </a:p>
          <a:p>
            <a:pPr marL="514350" indent="-514350">
              <a:spcBef>
                <a:spcPts val="2400"/>
              </a:spcBef>
              <a:buSzPct val="100000"/>
              <a:buFont typeface="+mj-lt"/>
              <a:buAutoNum type="arabicPeriod" startAt="8"/>
              <a:defRPr sz="3000"/>
            </a:pPr>
            <a:r>
              <a:rPr lang="en-US" altLang="zh-TW" dirty="0">
                <a:solidFill>
                  <a:schemeClr val="tx1"/>
                </a:solidFill>
                <a:latin typeface="Times New Roman" panose="02020603050405020304" pitchFamily="18" charset="0"/>
                <a:cs typeface="Times New Roman" panose="02020603050405020304" pitchFamily="18" charset="0"/>
              </a:rPr>
              <a:t>M. </a:t>
            </a:r>
            <a:r>
              <a:rPr lang="en-US" altLang="zh-TW" dirty="0" err="1">
                <a:solidFill>
                  <a:schemeClr val="tx1"/>
                </a:solidFill>
                <a:latin typeface="Times New Roman" panose="02020603050405020304" pitchFamily="18" charset="0"/>
                <a:cs typeface="Times New Roman" panose="02020603050405020304" pitchFamily="18" charset="0"/>
              </a:rPr>
              <a:t>Kouremetis</a:t>
            </a:r>
            <a:r>
              <a:rPr lang="en-US" altLang="zh-TW" dirty="0">
                <a:solidFill>
                  <a:schemeClr val="tx1"/>
                </a:solidFill>
                <a:latin typeface="Times New Roman" panose="02020603050405020304" pitchFamily="18" charset="0"/>
                <a:cs typeface="Times New Roman" panose="02020603050405020304" pitchFamily="18" charset="0"/>
              </a:rPr>
              <a:t> et al., “Mirage: Cyber Deception Against Autonomous Cyber Attacks in Emulation and Simulation,” Annals of Telecommunications, vol. 79, pp. 803–817, Mar. 2024, </a:t>
            </a:r>
            <a:r>
              <a:rPr lang="en-US" altLang="zh-TW" dirty="0" err="1">
                <a:solidFill>
                  <a:schemeClr val="tx1"/>
                </a:solidFill>
                <a:latin typeface="Times New Roman" panose="02020603050405020304" pitchFamily="18" charset="0"/>
                <a:cs typeface="Times New Roman" panose="02020603050405020304" pitchFamily="18" charset="0"/>
              </a:rPr>
              <a:t>doi</a:t>
            </a:r>
            <a:r>
              <a:rPr lang="en-US" altLang="zh-TW" dirty="0">
                <a:solidFill>
                  <a:schemeClr val="tx1"/>
                </a:solidFill>
                <a:latin typeface="Times New Roman" panose="02020603050405020304" pitchFamily="18" charset="0"/>
                <a:cs typeface="Times New Roman" panose="02020603050405020304" pitchFamily="18" charset="0"/>
              </a:rPr>
              <a:t>: 10.1007/s12243-024-01018-4. </a:t>
            </a:r>
          </a:p>
          <a:p>
            <a:pPr marL="514350" indent="-514350">
              <a:spcBef>
                <a:spcPts val="2400"/>
              </a:spcBef>
              <a:buSzPct val="100000"/>
              <a:buFont typeface="+mj-lt"/>
              <a:buAutoNum type="arabicPeriod" startAt="8"/>
              <a:defRPr sz="3000"/>
            </a:pPr>
            <a:r>
              <a:rPr lang="en-US" dirty="0">
                <a:latin typeface="Times New Roman" panose="02020603050405020304" pitchFamily="18" charset="0"/>
                <a:cs typeface="Times New Roman" panose="02020603050405020304" pitchFamily="18" charset="0"/>
              </a:rPr>
              <a:t>S. </a:t>
            </a:r>
            <a:r>
              <a:rPr lang="en-US" dirty="0" err="1">
                <a:latin typeface="Times New Roman" panose="02020603050405020304" pitchFamily="18" charset="0"/>
                <a:cs typeface="Times New Roman" panose="02020603050405020304" pitchFamily="18" charset="0"/>
              </a:rPr>
              <a:t>Suratkar</a:t>
            </a:r>
            <a:r>
              <a:rPr lang="en-US" dirty="0">
                <a:latin typeface="Times New Roman" panose="02020603050405020304" pitchFamily="18" charset="0"/>
                <a:cs typeface="Times New Roman" panose="02020603050405020304" pitchFamily="18" charset="0"/>
              </a:rPr>
              <a:t>, K. Shah, A. </a:t>
            </a:r>
            <a:r>
              <a:rPr lang="en-US" dirty="0" err="1">
                <a:latin typeface="Times New Roman" panose="02020603050405020304" pitchFamily="18" charset="0"/>
                <a:cs typeface="Times New Roman" panose="02020603050405020304" pitchFamily="18" charset="0"/>
              </a:rPr>
              <a:t>Sood</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Loya</a:t>
            </a:r>
            <a:r>
              <a:rPr lang="en-US" dirty="0">
                <a:latin typeface="Times New Roman" panose="02020603050405020304" pitchFamily="18" charset="0"/>
                <a:cs typeface="Times New Roman" panose="02020603050405020304" pitchFamily="18" charset="0"/>
              </a:rPr>
              <a:t>, D. </a:t>
            </a:r>
            <a:r>
              <a:rPr lang="en-US" dirty="0" err="1">
                <a:latin typeface="Times New Roman" panose="02020603050405020304" pitchFamily="18" charset="0"/>
                <a:cs typeface="Times New Roman" panose="02020603050405020304" pitchFamily="18" charset="0"/>
              </a:rPr>
              <a:t>Bisure</a:t>
            </a:r>
            <a:r>
              <a:rPr lang="en-US" dirty="0">
                <a:latin typeface="Times New Roman" panose="02020603050405020304" pitchFamily="18" charset="0"/>
                <a:cs typeface="Times New Roman" panose="02020603050405020304" pitchFamily="18" charset="0"/>
              </a:rPr>
              <a:t>, U. Patil, and F. </a:t>
            </a:r>
            <a:r>
              <a:rPr lang="en-US" dirty="0" err="1">
                <a:latin typeface="Times New Roman" panose="02020603050405020304" pitchFamily="18" charset="0"/>
                <a:cs typeface="Times New Roman" panose="02020603050405020304" pitchFamily="18" charset="0"/>
              </a:rPr>
              <a:t>Kazi</a:t>
            </a:r>
            <a:r>
              <a:rPr lang="en-US" dirty="0">
                <a:latin typeface="Times New Roman" panose="02020603050405020304" pitchFamily="18" charset="0"/>
                <a:cs typeface="Times New Roman" panose="02020603050405020304" pitchFamily="18" charset="0"/>
              </a:rPr>
              <a:t>, “An Adaptive Honeypot Using Q-Learning with Severity Analyzer,” Journal of Ambient Intelligence and Humanized Computing, vol. 13, pp. 4865–4876, 2022,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10.1007/s12652-021-03229-2. </a:t>
            </a:r>
          </a:p>
          <a:p>
            <a:pPr marL="514350" indent="-514350">
              <a:spcBef>
                <a:spcPts val="2400"/>
              </a:spcBef>
              <a:buSzPct val="100000"/>
              <a:buFont typeface="+mj-lt"/>
              <a:buAutoNum type="arabicPeriod" startAt="8"/>
              <a:defRPr sz="3000"/>
            </a:pPr>
            <a:r>
              <a:rPr lang="en-US" dirty="0">
                <a:latin typeface="Times New Roman" panose="02020603050405020304" pitchFamily="18" charset="0"/>
                <a:cs typeface="Times New Roman" panose="02020603050405020304" pitchFamily="18" charset="0"/>
              </a:rPr>
              <a:t>R.-H. Hwang, J.-C. Huang, Y.-C. Lai, and Y.-D. Lin, “Leveraging Reinforcement Learning for LLM-Based Generic Honeypots with MITRE Engage Framework,” M.S. thesis, Inst. of Computer Science and Engineering, National Yang Ming Chiao Tung University, Hsinchu, Taiwan, Jun. 2025. </a:t>
            </a:r>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34</a:t>
            </a:fld>
            <a:endParaRPr lang="zh-TW" altLang="en-US"/>
          </a:p>
        </p:txBody>
      </p:sp>
    </p:spTree>
    <p:extLst>
      <p:ext uri="{BB962C8B-B14F-4D97-AF65-F5344CB8AC3E}">
        <p14:creationId xmlns:p14="http://schemas.microsoft.com/office/powerpoint/2010/main" val="3304764797"/>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5483"/>
            <a:ext cx="21971000" cy="11533120"/>
          </a:xfrm>
          <a:prstGeom prst="rect">
            <a:avLst/>
          </a:prstGeom>
        </p:spPr>
        <p:txBody>
          <a:bodyPr>
            <a:normAutofit/>
          </a:bodyPr>
          <a:lstStyle/>
          <a:p>
            <a:pPr marL="514350" indent="-514350">
              <a:spcBef>
                <a:spcPts val="2400"/>
              </a:spcBef>
              <a:buSzPct val="100000"/>
              <a:buFont typeface="+mj-lt"/>
              <a:buAutoNum type="arabicPeriod" startAt="17"/>
              <a:defRPr sz="3000"/>
            </a:pPr>
            <a:r>
              <a:rPr lang="en-US" altLang="zh-TW" dirty="0"/>
              <a:t>N. Lee, T. </a:t>
            </a:r>
            <a:r>
              <a:rPr lang="en-US" altLang="zh-TW" dirty="0" err="1"/>
              <a:t>Wattanawong</a:t>
            </a:r>
            <a:r>
              <a:rPr lang="en-US" altLang="zh-TW" dirty="0"/>
              <a:t>, S. Kim, K. Mangalam, S. Shen, G. </a:t>
            </a:r>
            <a:r>
              <a:rPr lang="en-US" altLang="zh-TW" dirty="0" err="1"/>
              <a:t>Anumanchipalli</a:t>
            </a:r>
            <a:r>
              <a:rPr lang="en-US" altLang="zh-TW" dirty="0"/>
              <a:t>, M. W. Mahoney, K. </a:t>
            </a:r>
            <a:r>
              <a:rPr lang="en-US" altLang="zh-TW" dirty="0" err="1"/>
              <a:t>Keutzer</a:t>
            </a:r>
            <a:r>
              <a:rPr lang="en-US" altLang="zh-TW" dirty="0"/>
              <a:t>, and A. </a:t>
            </a:r>
            <a:r>
              <a:rPr lang="en-US" altLang="zh-TW" dirty="0" err="1"/>
              <a:t>Gholami</a:t>
            </a:r>
            <a:r>
              <a:rPr lang="en-US" altLang="zh-TW" dirty="0"/>
              <a:t>, “LLM2LLM: Boosting LLMs with Novel Iterative Data Enhancement,” </a:t>
            </a:r>
            <a:r>
              <a:rPr lang="en-US" altLang="zh-TW" dirty="0" err="1"/>
              <a:t>arXiv</a:t>
            </a:r>
            <a:r>
              <a:rPr lang="en-US" altLang="zh-TW" dirty="0"/>
              <a:t> preprint, arXiv:2403.15042v2, July 2024. </a:t>
            </a:r>
          </a:p>
          <a:p>
            <a:pPr marL="514350" indent="-514350">
              <a:spcBef>
                <a:spcPts val="2400"/>
              </a:spcBef>
              <a:buSzPct val="100000"/>
              <a:buFont typeface="+mj-lt"/>
              <a:buAutoNum type="arabicPeriod" startAt="17"/>
              <a:defRPr sz="3000"/>
            </a:pPr>
            <a:r>
              <a:rPr lang="en-US" altLang="zh-TW" dirty="0"/>
              <a:t>J. Chen, X. Han, Y. Ma, X. Zhou, and L. Xiang, “Unlock the Correlation Between Supervised Fine-Tuning and Reinforcement Learning in Training Code Large Language Models,” </a:t>
            </a:r>
            <a:r>
              <a:rPr lang="en-US" altLang="zh-TW" dirty="0" err="1"/>
              <a:t>arXiv</a:t>
            </a:r>
            <a:r>
              <a:rPr lang="en-US" altLang="zh-TW" dirty="0"/>
              <a:t> preprint, arXiv:2406.10305v2, Dec. 2024. </a:t>
            </a:r>
          </a:p>
          <a:p>
            <a:pPr marL="514350" indent="-514350">
              <a:spcBef>
                <a:spcPts val="2400"/>
              </a:spcBef>
              <a:buSzPct val="100000"/>
              <a:buFont typeface="+mj-lt"/>
              <a:buAutoNum type="arabicPeriod" startAt="17"/>
              <a:defRPr sz="3000"/>
            </a:pPr>
            <a:r>
              <a:rPr lang="en-US" altLang="zh-TW" dirty="0"/>
              <a:t>A. Pareja, N. S. Nayak, H. Wang, K. </a:t>
            </a:r>
            <a:r>
              <a:rPr lang="en-US" altLang="zh-TW" dirty="0" err="1"/>
              <a:t>Killamsetty</a:t>
            </a:r>
            <a:r>
              <a:rPr lang="en-US" altLang="zh-TW" dirty="0"/>
              <a:t>, S. </a:t>
            </a:r>
            <a:r>
              <a:rPr lang="en-US" altLang="zh-TW" dirty="0" err="1"/>
              <a:t>Sudalairaj</a:t>
            </a:r>
            <a:r>
              <a:rPr lang="en-US" altLang="zh-TW" dirty="0"/>
              <a:t>, W. Zhao, S. Han, A. </a:t>
            </a:r>
            <a:r>
              <a:rPr lang="en-US" altLang="zh-TW" dirty="0" err="1"/>
              <a:t>Bhandwaldar</a:t>
            </a:r>
            <a:r>
              <a:rPr lang="en-US" altLang="zh-TW" dirty="0"/>
              <a:t>, G. Xu, K. Xu, L. Han, L. Inglis, and A. Srivastava, “Unveiling the Secret Recipe: A Guide for Supervised Fine-Tuning Small LLMs,” </a:t>
            </a:r>
            <a:r>
              <a:rPr lang="en-US" altLang="zh-TW" dirty="0" err="1"/>
              <a:t>arXiv</a:t>
            </a:r>
            <a:r>
              <a:rPr lang="en-US" altLang="zh-TW" dirty="0"/>
              <a:t> preprint, arXiv:2412.13337v1, Dec. 2024. </a:t>
            </a:r>
          </a:p>
          <a:p>
            <a:pPr marL="514350" indent="-514350">
              <a:spcBef>
                <a:spcPts val="2400"/>
              </a:spcBef>
              <a:buSzPct val="100000"/>
              <a:buFont typeface="+mj-lt"/>
              <a:buAutoNum type="arabicPeriod" startAt="17"/>
              <a:defRPr sz="3000"/>
            </a:pPr>
            <a:r>
              <a:rPr lang="en-US" altLang="zh-TW" dirty="0"/>
              <a:t>M. </a:t>
            </a:r>
            <a:r>
              <a:rPr lang="en-US" altLang="zh-TW" dirty="0" err="1"/>
              <a:t>Nădaş</a:t>
            </a:r>
            <a:r>
              <a:rPr lang="en-US" altLang="zh-TW" dirty="0"/>
              <a:t>, L. </a:t>
            </a:r>
            <a:r>
              <a:rPr lang="en-US" altLang="zh-TW" dirty="0" err="1"/>
              <a:t>Dioşan</a:t>
            </a:r>
            <a:r>
              <a:rPr lang="en-US" altLang="zh-TW" dirty="0"/>
              <a:t>, and A. Tomescu, “Synthetic Data Generation Using Large Language Models: Advances in Text and Code,” </a:t>
            </a:r>
            <a:r>
              <a:rPr lang="en-US" altLang="zh-TW" dirty="0" err="1"/>
              <a:t>arXiv</a:t>
            </a:r>
            <a:r>
              <a:rPr lang="en-US" altLang="zh-TW" dirty="0"/>
              <a:t> preprint, arXiv:2503.14023v2, July 2025.</a:t>
            </a:r>
          </a:p>
          <a:p>
            <a:pPr marL="514350" indent="-514350">
              <a:spcBef>
                <a:spcPts val="2400"/>
              </a:spcBef>
              <a:buSzPct val="100000"/>
              <a:buFont typeface="+mj-lt"/>
              <a:buAutoNum type="arabicPeriod" startAt="17"/>
              <a:defRPr sz="3000"/>
            </a:pPr>
            <a:r>
              <a:rPr lang="en-US" altLang="zh-TW" dirty="0"/>
              <a:t>S. Pujar, L. Buratti, X. Guo, N. Dupuis, B. Lewis, S. Suneja, A. Sood, G. </a:t>
            </a:r>
            <a:r>
              <a:rPr lang="en-US" altLang="zh-TW" dirty="0" err="1"/>
              <a:t>Nalawade</a:t>
            </a:r>
            <a:r>
              <a:rPr lang="en-US" altLang="zh-TW" dirty="0"/>
              <a:t>, M. Jones, A. Morari, and R. Puri, “Automated Code Generation for Information Technology Tasks in YAML through Large Language Models,” </a:t>
            </a:r>
            <a:r>
              <a:rPr lang="en-US" altLang="zh-TW" dirty="0" err="1"/>
              <a:t>arXiv</a:t>
            </a:r>
            <a:r>
              <a:rPr lang="en-US" altLang="zh-TW" dirty="0"/>
              <a:t> preprint arXiv:2305.02783 (v4), May 2023.</a:t>
            </a:r>
          </a:p>
          <a:p>
            <a:pPr marL="514350" indent="-514350">
              <a:spcBef>
                <a:spcPts val="2400"/>
              </a:spcBef>
              <a:buSzPct val="100000"/>
              <a:buFont typeface="+mj-lt"/>
              <a:buAutoNum type="arabicPeriod" startAt="17"/>
              <a:defRPr sz="3000"/>
            </a:pPr>
            <a:r>
              <a:rPr lang="en-US" altLang="zh-TW" dirty="0"/>
              <a:t> L. Fan, Z. Liu, H. Wang, L. Bao, X. Xia, and S. Li, “FGIT: Fault-Guided Fine-Tuning for Code Generation,” </a:t>
            </a:r>
            <a:r>
              <a:rPr lang="en-US" altLang="zh-TW" dirty="0" err="1"/>
              <a:t>arXiv</a:t>
            </a:r>
            <a:r>
              <a:rPr lang="en-US" altLang="zh-TW" dirty="0"/>
              <a:t> preprint arXiv:2503.16913 v3, Sept. 2025. </a:t>
            </a:r>
          </a:p>
          <a:p>
            <a:pPr marL="514350" indent="-514350">
              <a:spcBef>
                <a:spcPts val="2400"/>
              </a:spcBef>
              <a:buSzPct val="100000"/>
              <a:buFont typeface="+mj-lt"/>
              <a:buAutoNum type="arabicPeriod" startAt="17"/>
              <a:defRPr sz="3000"/>
            </a:pPr>
            <a:r>
              <a:rPr lang="en-US" altLang="zh-TW" dirty="0"/>
              <a:t>H. Li, W. Feng, X. Zhou, and Z. Shen, “</a:t>
            </a:r>
            <a:r>
              <a:rPr lang="en-US" altLang="zh-TW" dirty="0" err="1"/>
              <a:t>GiFT</a:t>
            </a:r>
            <a:r>
              <a:rPr lang="en-US" altLang="zh-TW" dirty="0"/>
              <a:t>: Gibbs Fine-Tuning for Code Generation,” Proceedings of the 63rd Annual Meeting of the Association for Computational Linguistics (Volume 1: Long Papers), pp. 12271–12285, July 27–Aug. 1, 2025, doi:10.18653/v1/2025.acl-long.692.</a:t>
            </a:r>
          </a:p>
          <a:p>
            <a:pPr marL="514350" indent="-514350">
              <a:spcBef>
                <a:spcPts val="2400"/>
              </a:spcBef>
              <a:buSzPct val="100000"/>
              <a:buFont typeface="+mj-lt"/>
              <a:buAutoNum type="arabicPeriod" startAt="17"/>
              <a:defRPr sz="3000"/>
            </a:pPr>
            <a:r>
              <a:rPr lang="en-US" altLang="zh-TW" dirty="0"/>
              <a:t>X. Jiang, Y. Dong, Z. Jin, and G. Li, “SEED: Customize Large Language Models with Sample-Efficient Adaptation for Code Generation,” </a:t>
            </a:r>
            <a:r>
              <a:rPr lang="en-US" altLang="zh-TW" dirty="0" err="1"/>
              <a:t>arXiv</a:t>
            </a:r>
            <a:r>
              <a:rPr lang="en-US" altLang="zh-TW" dirty="0"/>
              <a:t> preprint arXiv:2403.00046 v2, Mar. 2024.</a:t>
            </a:r>
          </a:p>
          <a:p>
            <a:pPr marL="514350" indent="-514350">
              <a:spcBef>
                <a:spcPts val="2400"/>
              </a:spcBef>
              <a:buSzPct val="100000"/>
              <a:buFont typeface="+mj-lt"/>
              <a:buAutoNum type="arabicPeriod" startAt="17"/>
              <a:defRPr sz="3000"/>
            </a:pPr>
            <a:endParaRPr lang="en-US" altLang="zh-TW" dirty="0"/>
          </a:p>
          <a:p>
            <a:pPr marL="514350" indent="-514350">
              <a:spcBef>
                <a:spcPts val="2400"/>
              </a:spcBef>
              <a:buSzPct val="100000"/>
              <a:buFont typeface="+mj-lt"/>
              <a:buAutoNum type="arabicPeriod" startAt="17"/>
              <a:defRPr sz="3000"/>
            </a:pPr>
            <a:endParaRPr lang="en-US" altLang="zh-TW" dirty="0"/>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35</a:t>
            </a:fld>
            <a:endParaRPr lang="zh-TW" altLang="en-US"/>
          </a:p>
        </p:txBody>
      </p:sp>
    </p:spTree>
    <p:extLst>
      <p:ext uri="{BB962C8B-B14F-4D97-AF65-F5344CB8AC3E}">
        <p14:creationId xmlns:p14="http://schemas.microsoft.com/office/powerpoint/2010/main" val="46525261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Thank You"/>
          <p:cNvSpPr txBox="1">
            <a:spLocks noGrp="1"/>
          </p:cNvSpPr>
          <p:nvPr>
            <p:ph type="body" sz="half" idx="1"/>
          </p:nvPr>
        </p:nvSpPr>
        <p:spPr>
          <a:prstGeom prst="rect">
            <a:avLst/>
          </a:prstGeom>
        </p:spPr>
        <p:txBody>
          <a:bodyPr/>
          <a:lstStyle>
            <a:lvl1pPr>
              <a:defRPr>
                <a:solidFill>
                  <a:schemeClr val="accent1">
                    <a:hueOff val="114395"/>
                    <a:lumOff val="-24975"/>
                  </a:schemeClr>
                </a:solidFill>
              </a:defRPr>
            </a:lvl1pPr>
          </a:lstStyle>
          <a:p>
            <a:r>
              <a:rPr dirty="0">
                <a:latin typeface="Times New Roman" panose="02020603050405020304" pitchFamily="18" charset="0"/>
                <a:cs typeface="Times New Roman" panose="02020603050405020304" pitchFamily="18" charset="0"/>
              </a:rPr>
              <a:t>Thank You</a:t>
            </a:r>
          </a:p>
        </p:txBody>
      </p:sp>
      <p:sp>
        <p:nvSpPr>
          <p:cNvPr id="2" name="投影片編號版面配置區 1">
            <a:extLst>
              <a:ext uri="{FF2B5EF4-FFF2-40B4-BE49-F238E27FC236}">
                <a16:creationId xmlns:a16="http://schemas.microsoft.com/office/drawing/2014/main" id="{A48613FB-65A7-10E2-26A5-D2BD0BABC1F5}"/>
              </a:ext>
            </a:extLst>
          </p:cNvPr>
          <p:cNvSpPr>
            <a:spLocks noGrp="1"/>
          </p:cNvSpPr>
          <p:nvPr>
            <p:ph type="sldNum" sz="quarter" idx="2"/>
          </p:nvPr>
        </p:nvSpPr>
        <p:spPr/>
        <p:txBody>
          <a:bodyPr/>
          <a:lstStyle/>
          <a:p>
            <a:fld id="{86CB4B4D-7CA3-9044-876B-883B54F8677D}" type="slidenum">
              <a:rPr lang="en-US" altLang="zh-TW" smtClean="0"/>
              <a:t>36</a:t>
            </a:fld>
            <a:endParaRPr lang="zh-TW" altLang="en-US"/>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458EAB-AE12-9E54-B457-44CBC4EBC0C4}"/>
              </a:ext>
            </a:extLst>
          </p:cNvPr>
          <p:cNvSpPr>
            <a:spLocks noGrp="1"/>
          </p:cNvSpPr>
          <p:nvPr>
            <p:ph type="title"/>
          </p:nvPr>
        </p:nvSpPr>
        <p:spPr/>
        <p:txBody>
          <a:bodyPr/>
          <a:lstStyle/>
          <a:p>
            <a:r>
              <a:rPr kumimoji="1" lang="en-US" altLang="zh-TW" dirty="0"/>
              <a:t>Schedule</a:t>
            </a:r>
            <a:endParaRPr kumimoji="1" lang="zh-TW" altLang="en-US" dirty="0"/>
          </a:p>
        </p:txBody>
      </p:sp>
      <p:graphicFrame>
        <p:nvGraphicFramePr>
          <p:cNvPr id="5" name="表格 5">
            <a:extLst>
              <a:ext uri="{FF2B5EF4-FFF2-40B4-BE49-F238E27FC236}">
                <a16:creationId xmlns:a16="http://schemas.microsoft.com/office/drawing/2014/main" id="{2A096A07-238B-0DA9-7EF1-7406B695CECD}"/>
              </a:ext>
            </a:extLst>
          </p:cNvPr>
          <p:cNvGraphicFramePr>
            <a:graphicFrameLocks/>
          </p:cNvGraphicFramePr>
          <p:nvPr>
            <p:extLst>
              <p:ext uri="{D42A27DB-BD31-4B8C-83A1-F6EECF244321}">
                <p14:modId xmlns:p14="http://schemas.microsoft.com/office/powerpoint/2010/main" val="3745231709"/>
              </p:ext>
            </p:extLst>
          </p:nvPr>
        </p:nvGraphicFramePr>
        <p:xfrm>
          <a:off x="1910448" y="3378106"/>
          <a:ext cx="20550606" cy="8886202"/>
        </p:xfrm>
        <a:graphic>
          <a:graphicData uri="http://schemas.openxmlformats.org/drawingml/2006/table">
            <a:tbl>
              <a:tblPr firstRow="1" bandRow="1">
                <a:tableStyleId>{5C22544A-7EE6-4342-B048-85BDC9FD1C3A}</a:tableStyleId>
              </a:tblPr>
              <a:tblGrid>
                <a:gridCol w="3201376">
                  <a:extLst>
                    <a:ext uri="{9D8B030D-6E8A-4147-A177-3AD203B41FA5}">
                      <a16:colId xmlns:a16="http://schemas.microsoft.com/office/drawing/2014/main" val="491995550"/>
                    </a:ext>
                  </a:extLst>
                </a:gridCol>
                <a:gridCol w="1392289">
                  <a:extLst>
                    <a:ext uri="{9D8B030D-6E8A-4147-A177-3AD203B41FA5}">
                      <a16:colId xmlns:a16="http://schemas.microsoft.com/office/drawing/2014/main" val="2913318654"/>
                    </a:ext>
                  </a:extLst>
                </a:gridCol>
                <a:gridCol w="1460792">
                  <a:extLst>
                    <a:ext uri="{9D8B030D-6E8A-4147-A177-3AD203B41FA5}">
                      <a16:colId xmlns:a16="http://schemas.microsoft.com/office/drawing/2014/main" val="2426406760"/>
                    </a:ext>
                  </a:extLst>
                </a:gridCol>
                <a:gridCol w="1440470">
                  <a:extLst>
                    <a:ext uri="{9D8B030D-6E8A-4147-A177-3AD203B41FA5}">
                      <a16:colId xmlns:a16="http://schemas.microsoft.com/office/drawing/2014/main" val="1893677849"/>
                    </a:ext>
                  </a:extLst>
                </a:gridCol>
                <a:gridCol w="1450631">
                  <a:extLst>
                    <a:ext uri="{9D8B030D-6E8A-4147-A177-3AD203B41FA5}">
                      <a16:colId xmlns:a16="http://schemas.microsoft.com/office/drawing/2014/main" val="324102807"/>
                    </a:ext>
                  </a:extLst>
                </a:gridCol>
                <a:gridCol w="1450631">
                  <a:extLst>
                    <a:ext uri="{9D8B030D-6E8A-4147-A177-3AD203B41FA5}">
                      <a16:colId xmlns:a16="http://schemas.microsoft.com/office/drawing/2014/main" val="3122314294"/>
                    </a:ext>
                  </a:extLst>
                </a:gridCol>
                <a:gridCol w="1450631">
                  <a:extLst>
                    <a:ext uri="{9D8B030D-6E8A-4147-A177-3AD203B41FA5}">
                      <a16:colId xmlns:a16="http://schemas.microsoft.com/office/drawing/2014/main" val="3191340273"/>
                    </a:ext>
                  </a:extLst>
                </a:gridCol>
                <a:gridCol w="1450631">
                  <a:extLst>
                    <a:ext uri="{9D8B030D-6E8A-4147-A177-3AD203B41FA5}">
                      <a16:colId xmlns:a16="http://schemas.microsoft.com/office/drawing/2014/main" val="1521349859"/>
                    </a:ext>
                  </a:extLst>
                </a:gridCol>
                <a:gridCol w="1450631">
                  <a:extLst>
                    <a:ext uri="{9D8B030D-6E8A-4147-A177-3AD203B41FA5}">
                      <a16:colId xmlns:a16="http://schemas.microsoft.com/office/drawing/2014/main" val="3128587013"/>
                    </a:ext>
                  </a:extLst>
                </a:gridCol>
                <a:gridCol w="1450631">
                  <a:extLst>
                    <a:ext uri="{9D8B030D-6E8A-4147-A177-3AD203B41FA5}">
                      <a16:colId xmlns:a16="http://schemas.microsoft.com/office/drawing/2014/main" val="2004060017"/>
                    </a:ext>
                  </a:extLst>
                </a:gridCol>
                <a:gridCol w="1450631">
                  <a:extLst>
                    <a:ext uri="{9D8B030D-6E8A-4147-A177-3AD203B41FA5}">
                      <a16:colId xmlns:a16="http://schemas.microsoft.com/office/drawing/2014/main" val="2423174369"/>
                    </a:ext>
                  </a:extLst>
                </a:gridCol>
                <a:gridCol w="1450631">
                  <a:extLst>
                    <a:ext uri="{9D8B030D-6E8A-4147-A177-3AD203B41FA5}">
                      <a16:colId xmlns:a16="http://schemas.microsoft.com/office/drawing/2014/main" val="267511096"/>
                    </a:ext>
                  </a:extLst>
                </a:gridCol>
                <a:gridCol w="1450631">
                  <a:extLst>
                    <a:ext uri="{9D8B030D-6E8A-4147-A177-3AD203B41FA5}">
                      <a16:colId xmlns:a16="http://schemas.microsoft.com/office/drawing/2014/main" val="595796662"/>
                    </a:ext>
                  </a:extLst>
                </a:gridCol>
              </a:tblGrid>
              <a:tr h="1031389">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6201307"/>
                  </a:ext>
                </a:extLst>
              </a:tr>
              <a:tr h="1031389">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Thesis Survey</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7678677"/>
                  </a:ext>
                </a:extLst>
              </a:tr>
              <a:tr h="1234242">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Proposal Writing</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8658037"/>
                  </a:ext>
                </a:extLst>
              </a:tr>
              <a:tr h="1763202">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Dataset Generation</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5598483"/>
                  </a:ext>
                </a:extLst>
              </a:tr>
              <a:tr h="1763202">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SFT, RFT Implementation</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2904752"/>
                  </a:ext>
                </a:extLst>
              </a:tr>
              <a:tr h="1031389">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Experiment</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9445977"/>
                  </a:ext>
                </a:extLst>
              </a:tr>
              <a:tr h="1031389">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Thesis Writing</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556314645"/>
                  </a:ext>
                </a:extLst>
              </a:tr>
            </a:tbl>
          </a:graphicData>
        </a:graphic>
      </p:graphicFrame>
      <p:sp>
        <p:nvSpPr>
          <p:cNvPr id="7" name="投影片編號版面配置區 6">
            <a:extLst>
              <a:ext uri="{FF2B5EF4-FFF2-40B4-BE49-F238E27FC236}">
                <a16:creationId xmlns:a16="http://schemas.microsoft.com/office/drawing/2014/main" id="{CA4752A2-B00A-5C53-03A0-FF90FE37CABF}"/>
              </a:ext>
            </a:extLst>
          </p:cNvPr>
          <p:cNvSpPr>
            <a:spLocks noGrp="1"/>
          </p:cNvSpPr>
          <p:nvPr>
            <p:ph type="sldNum" sz="quarter" idx="2"/>
          </p:nvPr>
        </p:nvSpPr>
        <p:spPr/>
        <p:txBody>
          <a:bodyPr/>
          <a:lstStyle/>
          <a:p>
            <a:fld id="{86CB4B4D-7CA3-9044-876B-883B54F8677D}" type="slidenum">
              <a:rPr lang="en-US" altLang="zh-TW" smtClean="0"/>
              <a:t>37</a:t>
            </a:fld>
            <a:endParaRPr lang="zh-TW" altLang="en-US"/>
          </a:p>
        </p:txBody>
      </p:sp>
    </p:spTree>
    <p:extLst>
      <p:ext uri="{BB962C8B-B14F-4D97-AF65-F5344CB8AC3E}">
        <p14:creationId xmlns:p14="http://schemas.microsoft.com/office/powerpoint/2010/main" val="217935444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3" name="Problem Statement"/>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Fine tuned LLM Agent</a:t>
            </a:r>
            <a:endParaRPr sz="7700" dirty="0"/>
          </a:p>
        </p:txBody>
      </p:sp>
      <p:sp>
        <p:nvSpPr>
          <p:cNvPr id="224" name="Input:…"/>
          <p:cNvSpPr txBox="1">
            <a:spLocks noGrp="1"/>
          </p:cNvSpPr>
          <p:nvPr>
            <p:ph type="body" idx="1"/>
          </p:nvPr>
        </p:nvSpPr>
        <p:spPr>
          <a:xfrm>
            <a:off x="1206500" y="2776309"/>
            <a:ext cx="21971000" cy="10041044"/>
          </a:xfrm>
          <a:prstGeom prst="rect">
            <a:avLst/>
          </a:prstGeom>
        </p:spPr>
        <p:txBody>
          <a:bodyPr>
            <a:normAutofit/>
          </a:bodyPr>
          <a:lstStyle/>
          <a:p>
            <a:pPr marL="0" indent="0">
              <a:lnSpc>
                <a:spcPct val="60000"/>
              </a:lnSpc>
              <a:buSzTx/>
              <a:buNone/>
            </a:pPr>
            <a:r>
              <a:rPr sz="4000" dirty="0"/>
              <a:t>Input:</a:t>
            </a:r>
          </a:p>
          <a:p>
            <a:pPr lvl="1">
              <a:lnSpc>
                <a:spcPct val="30000"/>
              </a:lnSpc>
              <a:defRPr sz="4600"/>
            </a:pPr>
            <a:r>
              <a:rPr sz="3600" dirty="0"/>
              <a:t>𝑀 : </a:t>
            </a:r>
            <a:r>
              <a:rPr sz="3600" dirty="0" err="1"/>
              <a:t>Mitre</a:t>
            </a:r>
            <a:r>
              <a:rPr sz="3600" dirty="0"/>
              <a:t> Engage activity</a:t>
            </a:r>
          </a:p>
          <a:p>
            <a:pPr marL="0" indent="0">
              <a:lnSpc>
                <a:spcPct val="60000"/>
              </a:lnSpc>
              <a:buSzTx/>
              <a:buNone/>
            </a:pPr>
            <a:r>
              <a:rPr sz="4000" dirty="0"/>
              <a:t>Output:</a:t>
            </a:r>
          </a:p>
          <a:p>
            <a:pPr lvl="1">
              <a:lnSpc>
                <a:spcPct val="60000"/>
              </a:lnSpc>
              <a:defRPr sz="4600"/>
            </a:pPr>
            <a:r>
              <a:rPr sz="3600" dirty="0"/>
              <a:t>𝑃 = (𝑆₁, 𝑆₂, ..., 𝑆ₙ) : executable scripts, where 𝑆</a:t>
            </a:r>
            <a:r>
              <a:rPr sz="3600" baseline="-5999" dirty="0" err="1"/>
              <a:t>i</a:t>
            </a:r>
            <a:r>
              <a:rPr sz="3600" dirty="0"/>
              <a:t> is ran on 𝐻𝑜𝑠𝑡</a:t>
            </a:r>
            <a:r>
              <a:rPr sz="3600" baseline="-5999" dirty="0" err="1"/>
              <a:t>i</a:t>
            </a:r>
            <a:r>
              <a:rPr sz="3600" dirty="0"/>
              <a:t>, and can be empty</a:t>
            </a:r>
          </a:p>
          <a:p>
            <a:pPr marL="0" indent="0">
              <a:lnSpc>
                <a:spcPct val="60000"/>
              </a:lnSpc>
              <a:buSzTx/>
              <a:buNone/>
            </a:pPr>
            <a:r>
              <a:rPr lang="en-US" sz="4000" dirty="0"/>
              <a:t>Objective:</a:t>
            </a:r>
          </a:p>
          <a:p>
            <a:pPr lvl="1">
              <a:lnSpc>
                <a:spcPct val="30000"/>
              </a:lnSpc>
              <a:defRPr sz="4600"/>
            </a:pPr>
            <a:r>
              <a:rPr lang="en-US" altLang="zh-TW" sz="3600" dirty="0"/>
              <a:t>Maximize Testing-Dataset Accuracy </a:t>
            </a:r>
          </a:p>
          <a:p>
            <a:pPr lvl="1">
              <a:lnSpc>
                <a:spcPct val="30000"/>
              </a:lnSpc>
              <a:defRPr sz="4600"/>
            </a:pPr>
            <a:r>
              <a:rPr lang="en-US" altLang="zh-TW" sz="3600" dirty="0"/>
              <a:t>Maximize script</a:t>
            </a:r>
            <a:r>
              <a:rPr lang="zh-TW" altLang="en-US" sz="3600" dirty="0"/>
              <a:t> </a:t>
            </a:r>
            <a:r>
              <a:rPr lang="en-US" altLang="zh-TW" sz="3600" dirty="0"/>
              <a:t>execution success rate</a:t>
            </a:r>
          </a:p>
          <a:p>
            <a:pPr marL="0" indent="0">
              <a:lnSpc>
                <a:spcPct val="60000"/>
              </a:lnSpc>
              <a:buSzTx/>
              <a:buNone/>
            </a:pPr>
            <a:r>
              <a:rPr lang="en-US" sz="4000" dirty="0"/>
              <a:t>Constraint：</a:t>
            </a:r>
            <a:endParaRPr sz="4000" dirty="0"/>
          </a:p>
          <a:p>
            <a:pPr lvl="1">
              <a:lnSpc>
                <a:spcPct val="30000"/>
              </a:lnSpc>
              <a:defRPr sz="4600"/>
            </a:pPr>
            <a:r>
              <a:rPr lang="en-US" sz="3600" dirty="0"/>
              <a:t>LLM must run inside the honeynet</a:t>
            </a:r>
          </a:p>
          <a:p>
            <a:pPr lvl="1">
              <a:lnSpc>
                <a:spcPct val="30000"/>
              </a:lnSpc>
              <a:defRPr sz="4600"/>
            </a:pPr>
            <a:r>
              <a:rPr lang="en-US" sz="3600" dirty="0"/>
              <a:t>Response time &lt; 10 seconds</a:t>
            </a:r>
          </a:p>
        </p:txBody>
      </p:sp>
      <p:sp>
        <p:nvSpPr>
          <p:cNvPr id="2" name="投影片編號版面配置區 1">
            <a:extLst>
              <a:ext uri="{FF2B5EF4-FFF2-40B4-BE49-F238E27FC236}">
                <a16:creationId xmlns:a16="http://schemas.microsoft.com/office/drawing/2014/main" id="{6517966B-CAD9-9D1F-F241-708B22B0A9CA}"/>
              </a:ext>
            </a:extLst>
          </p:cNvPr>
          <p:cNvSpPr>
            <a:spLocks noGrp="1"/>
          </p:cNvSpPr>
          <p:nvPr>
            <p:ph type="sldNum" sz="quarter" idx="2"/>
          </p:nvPr>
        </p:nvSpPr>
        <p:spPr/>
        <p:txBody>
          <a:bodyPr/>
          <a:lstStyle/>
          <a:p>
            <a:fld id="{86CB4B4D-7CA3-9044-876B-883B54F8677D}" type="slidenum">
              <a:rPr lang="en-US" altLang="zh-TW" smtClean="0"/>
              <a:t>38</a:t>
            </a:fld>
            <a:endParaRPr lang="zh-TW" altLang="en-US"/>
          </a:p>
        </p:txBody>
      </p:sp>
    </p:spTree>
    <p:extLst>
      <p:ext uri="{BB962C8B-B14F-4D97-AF65-F5344CB8AC3E}">
        <p14:creationId xmlns:p14="http://schemas.microsoft.com/office/powerpoint/2010/main" val="156710084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1" name="Background - AD Honeynet"/>
          <p:cNvSpPr txBox="1">
            <a:spLocks noGrp="1"/>
          </p:cNvSpPr>
          <p:nvPr>
            <p:ph type="title"/>
          </p:nvPr>
        </p:nvSpPr>
        <p:spPr>
          <a:prstGeom prst="rect">
            <a:avLst/>
          </a:prstGeom>
        </p:spPr>
        <p:txBody>
          <a:bodyPr/>
          <a:lstStyle/>
          <a:p>
            <a:r>
              <a:rPr dirty="0"/>
              <a:t>Background - AD Honeynet</a:t>
            </a:r>
          </a:p>
        </p:txBody>
      </p:sp>
      <p:sp>
        <p:nvSpPr>
          <p:cNvPr id="172" name="A cybersecurity deception network built to emulate a real Active Directory…"/>
          <p:cNvSpPr txBox="1">
            <a:spLocks noGrp="1"/>
          </p:cNvSpPr>
          <p:nvPr>
            <p:ph type="body" idx="1"/>
          </p:nvPr>
        </p:nvSpPr>
        <p:spPr>
          <a:xfrm>
            <a:off x="1206500" y="3121720"/>
            <a:ext cx="21971000" cy="8256012"/>
          </a:xfrm>
          <a:prstGeom prst="rect">
            <a:avLst/>
          </a:prstGeom>
        </p:spPr>
        <p:txBody>
          <a:bodyPr>
            <a:normAutofit/>
          </a:bodyPr>
          <a:lstStyle/>
          <a:p>
            <a:r>
              <a:rPr sz="4000" dirty="0">
                <a:latin typeface="Times New Roman" panose="02020603050405020304" pitchFamily="18" charset="0"/>
                <a:cs typeface="Times New Roman" panose="02020603050405020304" pitchFamily="18" charset="0"/>
              </a:rPr>
              <a:t>A cybersecurity deception network built to emulate a real Active Directory </a:t>
            </a:r>
          </a:p>
          <a:p>
            <a:r>
              <a:rPr sz="4000" dirty="0">
                <a:latin typeface="Times New Roman" panose="02020603050405020304" pitchFamily="18" charset="0"/>
                <a:cs typeface="Times New Roman" panose="02020603050405020304" pitchFamily="18" charset="0"/>
              </a:rPr>
              <a:t>To detect, deceive, and delay attackers targeting AD infrastructure</a:t>
            </a:r>
          </a:p>
          <a:p>
            <a:r>
              <a:rPr sz="4000" dirty="0">
                <a:latin typeface="Times New Roman" panose="02020603050405020304" pitchFamily="18" charset="0"/>
                <a:cs typeface="Times New Roman" panose="02020603050405020304" pitchFamily="18" charset="0"/>
              </a:rPr>
              <a:t>Allows security teams to safely study attacker TTPs</a:t>
            </a:r>
          </a:p>
        </p:txBody>
      </p:sp>
      <p:sp>
        <p:nvSpPr>
          <p:cNvPr id="2" name="投影片編號版面配置區 1">
            <a:extLst>
              <a:ext uri="{FF2B5EF4-FFF2-40B4-BE49-F238E27FC236}">
                <a16:creationId xmlns:a16="http://schemas.microsoft.com/office/drawing/2014/main" id="{5830364F-4A95-1834-ACB9-E6CD38320D6B}"/>
              </a:ext>
            </a:extLst>
          </p:cNvPr>
          <p:cNvSpPr>
            <a:spLocks noGrp="1"/>
          </p:cNvSpPr>
          <p:nvPr>
            <p:ph type="sldNum" sz="quarter" idx="2"/>
          </p:nvPr>
        </p:nvSpPr>
        <p:spPr/>
        <p:txBody>
          <a:bodyPr/>
          <a:lstStyle/>
          <a:p>
            <a:fld id="{86CB4B4D-7CA3-9044-876B-883B54F8677D}" type="slidenum">
              <a:rPr lang="en-US" altLang="zh-TW" smtClean="0"/>
              <a:t>39</a:t>
            </a:fld>
            <a:endParaRPr lang="zh-TW" altLang="en-US"/>
          </a:p>
        </p:txBody>
      </p:sp>
      <p:pic>
        <p:nvPicPr>
          <p:cNvPr id="3074" name="Picture 2">
            <a:extLst>
              <a:ext uri="{FF2B5EF4-FFF2-40B4-BE49-F238E27FC236}">
                <a16:creationId xmlns:a16="http://schemas.microsoft.com/office/drawing/2014/main" id="{0B19FAEF-823E-8372-C557-AF4E6CDD96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3098" y="6583122"/>
            <a:ext cx="9177803" cy="6635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2" name="Related Work"/>
          <p:cNvSpPr txBox="1">
            <a:spLocks noGrp="1"/>
          </p:cNvSpPr>
          <p:nvPr>
            <p:ph type="title"/>
          </p:nvPr>
        </p:nvSpPr>
        <p:spPr>
          <a:prstGeom prst="rect">
            <a:avLst/>
          </a:prstGeom>
        </p:spPr>
        <p:txBody>
          <a:bodyPr/>
          <a:lstStyle/>
          <a:p>
            <a:r>
              <a:rPr dirty="0"/>
              <a:t>Related Work</a:t>
            </a:r>
            <a:r>
              <a:rPr lang="zh-TW" altLang="en-US" dirty="0"/>
              <a:t> </a:t>
            </a:r>
            <a:r>
              <a:rPr lang="en-US" altLang="zh-TW" dirty="0"/>
              <a:t>on</a:t>
            </a:r>
            <a:r>
              <a:rPr lang="zh-TW" altLang="en-US" dirty="0"/>
              <a:t> </a:t>
            </a:r>
            <a:r>
              <a:rPr lang="en-US" altLang="zh-TW" dirty="0"/>
              <a:t>Honeypot / Honeynet</a:t>
            </a:r>
            <a:endParaRPr dirty="0"/>
          </a:p>
        </p:txBody>
      </p:sp>
      <p:graphicFrame>
        <p:nvGraphicFramePr>
          <p:cNvPr id="204" name="表格 1"/>
          <p:cNvGraphicFramePr/>
          <p:nvPr>
            <p:extLst>
              <p:ext uri="{D42A27DB-BD31-4B8C-83A1-F6EECF244321}">
                <p14:modId xmlns:p14="http://schemas.microsoft.com/office/powerpoint/2010/main" val="3647380347"/>
              </p:ext>
            </p:extLst>
          </p:nvPr>
        </p:nvGraphicFramePr>
        <p:xfrm>
          <a:off x="1551246" y="3498414"/>
          <a:ext cx="21281504" cy="7680410"/>
        </p:xfrm>
        <a:graphic>
          <a:graphicData uri="http://schemas.openxmlformats.org/drawingml/2006/table">
            <a:tbl>
              <a:tblPr>
                <a:tableStyleId>{4C3C2611-4C71-4FC5-86AE-919BDF0F9419}</a:tableStyleId>
              </a:tblPr>
              <a:tblGrid>
                <a:gridCol w="1887040">
                  <a:extLst>
                    <a:ext uri="{9D8B030D-6E8A-4147-A177-3AD203B41FA5}">
                      <a16:colId xmlns:a16="http://schemas.microsoft.com/office/drawing/2014/main" val="20000"/>
                    </a:ext>
                  </a:extLst>
                </a:gridCol>
                <a:gridCol w="2724582">
                  <a:extLst>
                    <a:ext uri="{9D8B030D-6E8A-4147-A177-3AD203B41FA5}">
                      <a16:colId xmlns:a16="http://schemas.microsoft.com/office/drawing/2014/main" val="20001"/>
                    </a:ext>
                  </a:extLst>
                </a:gridCol>
                <a:gridCol w="1866529">
                  <a:extLst>
                    <a:ext uri="{9D8B030D-6E8A-4147-A177-3AD203B41FA5}">
                      <a16:colId xmlns:a16="http://schemas.microsoft.com/office/drawing/2014/main" val="20005"/>
                    </a:ext>
                  </a:extLst>
                </a:gridCol>
                <a:gridCol w="1866529">
                  <a:extLst>
                    <a:ext uri="{9D8B030D-6E8A-4147-A177-3AD203B41FA5}">
                      <a16:colId xmlns:a16="http://schemas.microsoft.com/office/drawing/2014/main" val="20006"/>
                    </a:ext>
                  </a:extLst>
                </a:gridCol>
                <a:gridCol w="1866529">
                  <a:extLst>
                    <a:ext uri="{9D8B030D-6E8A-4147-A177-3AD203B41FA5}">
                      <a16:colId xmlns:a16="http://schemas.microsoft.com/office/drawing/2014/main" val="2982701625"/>
                    </a:ext>
                  </a:extLst>
                </a:gridCol>
                <a:gridCol w="1866529">
                  <a:extLst>
                    <a:ext uri="{9D8B030D-6E8A-4147-A177-3AD203B41FA5}">
                      <a16:colId xmlns:a16="http://schemas.microsoft.com/office/drawing/2014/main" val="2442804741"/>
                    </a:ext>
                  </a:extLst>
                </a:gridCol>
                <a:gridCol w="1866529">
                  <a:extLst>
                    <a:ext uri="{9D8B030D-6E8A-4147-A177-3AD203B41FA5}">
                      <a16:colId xmlns:a16="http://schemas.microsoft.com/office/drawing/2014/main" val="900585408"/>
                    </a:ext>
                  </a:extLst>
                </a:gridCol>
                <a:gridCol w="3082508">
                  <a:extLst>
                    <a:ext uri="{9D8B030D-6E8A-4147-A177-3AD203B41FA5}">
                      <a16:colId xmlns:a16="http://schemas.microsoft.com/office/drawing/2014/main" val="580720853"/>
                    </a:ext>
                  </a:extLst>
                </a:gridCol>
                <a:gridCol w="4254729">
                  <a:extLst>
                    <a:ext uri="{9D8B030D-6E8A-4147-A177-3AD203B41FA5}">
                      <a16:colId xmlns:a16="http://schemas.microsoft.com/office/drawing/2014/main" val="274005900"/>
                    </a:ext>
                  </a:extLst>
                </a:gridCol>
              </a:tblGrid>
              <a:tr h="693302">
                <a:tc rowSpan="2">
                  <a:txBody>
                    <a:bodyPr/>
                    <a:lstStyle/>
                    <a:p>
                      <a:pPr defTabSz="914400"/>
                      <a:r>
                        <a:rPr sz="2400" b="1" i="0" dirty="0">
                          <a:latin typeface="Times New Roman" panose="02020603050405020304" pitchFamily="18" charset="0"/>
                          <a:cs typeface="Times New Roman" panose="02020603050405020304" pitchFamily="18" charset="0"/>
                        </a:rPr>
                        <a:t>Category</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Paper</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Real</a:t>
                      </a:r>
                      <a:endParaRPr lang="en-US" sz="2400" b="1" i="0" dirty="0">
                        <a:latin typeface="Times New Roman" panose="02020603050405020304" pitchFamily="18" charset="0"/>
                        <a:cs typeface="Times New Roman" panose="02020603050405020304" pitchFamily="18" charset="0"/>
                      </a:endParaRPr>
                    </a:p>
                    <a:p>
                      <a:pPr defTabSz="914400"/>
                      <a:r>
                        <a:rPr sz="2400" b="1" i="0" dirty="0">
                          <a:latin typeface="Times New Roman" panose="02020603050405020304" pitchFamily="18" charset="0"/>
                          <a:cs typeface="Times New Roman" panose="02020603050405020304" pitchFamily="18" charset="0"/>
                        </a:rPr>
                        <a:t>System</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Active
Directory</a:t>
                      </a:r>
                    </a:p>
                  </a:txBody>
                  <a:tcPr marL="50800" marR="50800" marT="50800" marB="50800" anchor="ctr" horzOverflow="overflow"/>
                </a:tc>
                <a:tc gridSpan="3">
                  <a:txBody>
                    <a:bodyPr/>
                    <a:lstStyle/>
                    <a:p>
                      <a:pPr defTabSz="914400"/>
                      <a:r>
                        <a:rPr lang="en-US" sz="2400" b="1" i="0" dirty="0">
                          <a:latin typeface="Times New Roman" panose="02020603050405020304" pitchFamily="18" charset="0"/>
                          <a:cs typeface="Times New Roman" panose="02020603050405020304" pitchFamily="18" charset="0"/>
                        </a:rPr>
                        <a:t>Objective</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hMerge="1">
                  <a:txBody>
                    <a:bodyPr/>
                    <a:lstStyle/>
                    <a:p>
                      <a:pPr defTabSz="914400"/>
                      <a:endParaRPr sz="2400" b="1" dirty="0"/>
                    </a:p>
                  </a:txBody>
                  <a:tcPr marL="50800" marR="50800" marT="50800" marB="50800" anchor="ctr" horzOverflow="overflow"/>
                </a:tc>
                <a:tc hMerge="1">
                  <a:txBody>
                    <a:bodyPr/>
                    <a:lstStyle/>
                    <a:p>
                      <a:pPr defTabSz="914400"/>
                      <a:endParaRPr sz="2400" b="1" dirty="0"/>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Strategist</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Action</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Design</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0000"/>
                  </a:ext>
                </a:extLst>
              </a:tr>
              <a:tr h="693302">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defTabSz="914400"/>
                      <a:r>
                        <a:rPr lang="en-US" sz="2400" b="1" i="0" dirty="0">
                          <a:latin typeface="Times New Roman" panose="02020603050405020304" pitchFamily="18" charset="0"/>
                          <a:cs typeface="Times New Roman" panose="02020603050405020304" pitchFamily="18" charset="0"/>
                        </a:rPr>
                        <a:t>Interaction</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Deception</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Defense</a:t>
                      </a:r>
                    </a:p>
                  </a:txBody>
                  <a:tcPr marL="50800" marR="50800" marT="50800" marB="50800" anchor="ctr" horzOverflow="overflow"/>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38206972"/>
                  </a:ext>
                </a:extLst>
              </a:tr>
              <a:tr h="1051198">
                <a:tc rowSpan="4">
                  <a:txBody>
                    <a:bodyPr/>
                    <a:lstStyle/>
                    <a:p>
                      <a:pPr defTabSz="914400"/>
                      <a:r>
                        <a:rPr sz="2400" b="0" i="0" dirty="0">
                          <a:latin typeface="Times New Roman" panose="02020603050405020304" pitchFamily="18" charset="0"/>
                          <a:cs typeface="Times New Roman" panose="02020603050405020304" pitchFamily="18" charset="0"/>
                        </a:rPr>
                        <a:t>Honeypot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QRASSH</a:t>
                      </a:r>
                      <a:r>
                        <a:rPr lang="en-US" sz="2400" b="0" i="0" dirty="0">
                          <a:latin typeface="Times New Roman" panose="02020603050405020304" pitchFamily="18" charset="0"/>
                          <a:cs typeface="Times New Roman" panose="02020603050405020304" pitchFamily="18" charset="0"/>
                        </a:rPr>
                        <a:t> [8]</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ABDSI</a:t>
                      </a:r>
                    </a:p>
                  </a:txBody>
                  <a:tcPr marL="50800" marR="50800" marT="50800" marB="50800" anchor="ctr" horzOverflow="overflow"/>
                </a:tc>
                <a:extLst>
                  <a:ext uri="{0D108BD9-81ED-4DB2-BD59-A6C34878D82A}">
                    <a16:rowId xmlns:a16="http://schemas.microsoft.com/office/drawing/2014/main" val="10002"/>
                  </a:ext>
                </a:extLst>
              </a:tr>
              <a:tr h="1045578">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HoneyBog</a:t>
                      </a:r>
                      <a:r>
                        <a:rPr lang="en-US" sz="2400" b="0" i="0" dirty="0">
                          <a:latin typeface="Times New Roman" panose="02020603050405020304" pitchFamily="18" charset="0"/>
                          <a:cs typeface="Times New Roman" panose="02020603050405020304" pitchFamily="18" charset="0"/>
                        </a:rPr>
                        <a:t> [9]</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Rule-based </a:t>
                      </a: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RFS</a:t>
                      </a:r>
                    </a:p>
                  </a:txBody>
                  <a:tcPr marL="50800" marR="50800" marT="50800" marB="50800" anchor="ctr" horzOverflow="overflow"/>
                </a:tc>
                <a:extLst>
                  <a:ext uri="{0D108BD9-81ED-4DB2-BD59-A6C34878D82A}">
                    <a16:rowId xmlns:a16="http://schemas.microsoft.com/office/drawing/2014/main" val="10003"/>
                  </a:ext>
                </a:extLst>
              </a:tr>
              <a:tr h="1045578">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HoneyGPT</a:t>
                      </a:r>
                      <a:r>
                        <a:rPr lang="en-US" sz="2400" b="0" i="0" dirty="0">
                          <a:latin typeface="Times New Roman" panose="02020603050405020304" pitchFamily="18" charset="0"/>
                          <a:cs typeface="Times New Roman" panose="02020603050405020304" pitchFamily="18" charset="0"/>
                        </a:rPr>
                        <a:t> [10]</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S</a:t>
                      </a:r>
                    </a:p>
                  </a:txBody>
                  <a:tcPr marL="50800" marR="50800" marT="50800" marB="50800" anchor="ctr" horzOverflow="overflow"/>
                </a:tc>
                <a:extLst>
                  <a:ext uri="{0D108BD9-81ED-4DB2-BD59-A6C34878D82A}">
                    <a16:rowId xmlns:a16="http://schemas.microsoft.com/office/drawing/2014/main" val="10004"/>
                  </a:ext>
                </a:extLst>
              </a:tr>
              <a:tr h="1050177">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Senior</a:t>
                      </a:r>
                      <a:r>
                        <a:rPr lang="en-US" sz="2400" b="0" i="0" dirty="0">
                          <a:latin typeface="Times New Roman" panose="02020603050405020304" pitchFamily="18" charset="0"/>
                          <a:cs typeface="Times New Roman" panose="02020603050405020304" pitchFamily="18" charset="0"/>
                        </a:rPr>
                        <a:t> [11]</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defRPr sz="3200"/>
                      </a:pPr>
                      <a:r>
                        <a:rPr sz="2400" b="0" i="1" dirty="0">
                          <a:latin typeface="Times New Roman" panose="02020603050405020304" pitchFamily="18" charset="0"/>
                          <a:cs typeface="Times New Roman" panose="02020603050405020304" pitchFamily="18" charset="0"/>
                        </a:rPr>
                        <a:t>ABSG</a:t>
                      </a:r>
                      <a:r>
                        <a:rPr sz="2400" b="0" i="1" baseline="31999" dirty="0">
                          <a:latin typeface="Times New Roman" panose="02020603050405020304" pitchFamily="18" charset="0"/>
                          <a:cs typeface="Times New Roman" panose="02020603050405020304" pitchFamily="18" charset="0"/>
                        </a:rPr>
                        <a:t>U</a:t>
                      </a:r>
                      <a:r>
                        <a:rPr sz="2400" b="0" i="1" dirty="0">
                          <a:latin typeface="Times New Roman" panose="02020603050405020304" pitchFamily="18" charset="0"/>
                          <a:cs typeface="Times New Roman" panose="02020603050405020304" pitchFamily="18" charset="0"/>
                        </a:rPr>
                        <a:t>G</a:t>
                      </a:r>
                      <a:r>
                        <a:rPr sz="2400" b="0" i="1" baseline="31999" dirty="0">
                          <a:latin typeface="Times New Roman" panose="02020603050405020304" pitchFamily="18" charset="0"/>
                          <a:cs typeface="Times New Roman" panose="02020603050405020304" pitchFamily="18" charset="0"/>
                        </a:rPr>
                        <a:t>F</a:t>
                      </a:r>
                    </a:p>
                  </a:txBody>
                  <a:tcPr marL="50800" marR="50800" marT="50800" marB="50800" anchor="ctr" horzOverflow="overflow"/>
                </a:tc>
                <a:extLst>
                  <a:ext uri="{0D108BD9-81ED-4DB2-BD59-A6C34878D82A}">
                    <a16:rowId xmlns:a16="http://schemas.microsoft.com/office/drawing/2014/main" val="10005"/>
                  </a:ext>
                </a:extLst>
              </a:tr>
              <a:tr h="1054171">
                <a:tc rowSpan="2">
                  <a:txBody>
                    <a:bodyPr/>
                    <a:lstStyle/>
                    <a:p>
                      <a:pPr defTabSz="914400"/>
                      <a:r>
                        <a:rPr sz="24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Mirage</a:t>
                      </a:r>
                      <a:r>
                        <a:rPr lang="en-US" sz="2400" b="0" i="0" dirty="0">
                          <a:latin typeface="Times New Roman" panose="02020603050405020304" pitchFamily="18" charset="0"/>
                          <a:cs typeface="Times New Roman" panose="02020603050405020304" pitchFamily="18" charset="0"/>
                        </a:rPr>
                        <a:t> [12]</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tc>
                <a:tc>
                  <a:txBody>
                    <a:bodyPr/>
                    <a:lstStyle/>
                    <a:p>
                      <a:pPr defTabSz="914400">
                        <a:defRPr sz="3200"/>
                      </a:pPr>
                      <a:r>
                        <a:rPr sz="2400" b="0" i="1" dirty="0">
                          <a:latin typeface="Times New Roman" panose="02020603050405020304" pitchFamily="18" charset="0"/>
                          <a:cs typeface="Times New Roman" panose="02020603050405020304" pitchFamily="18" charset="0"/>
                        </a:rPr>
                        <a:t>M</a:t>
                      </a:r>
                      <a:r>
                        <a:rPr sz="2400" b="0" i="1" baseline="31999" dirty="0">
                          <a:latin typeface="Times New Roman" panose="02020603050405020304" pitchFamily="18" charset="0"/>
                          <a:cs typeface="Times New Roman" panose="02020603050405020304" pitchFamily="18" charset="0"/>
                        </a:rPr>
                        <a:t>F</a:t>
                      </a:r>
                    </a:p>
                  </a:txBody>
                  <a:tcPr marL="50800" marR="50800" marT="50800" marB="50800" anchor="ctr" horzOverflow="overflow"/>
                </a:tc>
                <a:extLst>
                  <a:ext uri="{0D108BD9-81ED-4DB2-BD59-A6C34878D82A}">
                    <a16:rowId xmlns:a16="http://schemas.microsoft.com/office/drawing/2014/main" val="10006"/>
                  </a:ext>
                </a:extLst>
              </a:tr>
              <a:tr h="1047104">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Ours</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MITRE Engage–guided Tools (stored in MCP</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server)</a:t>
                      </a:r>
                    </a:p>
                  </a:txBody>
                  <a:tcPr marL="50800" marR="50800" marT="50800" marB="50800" anchor="ctr" horzOverflow="overflow"/>
                </a:tc>
                <a:extLst>
                  <a:ext uri="{0D108BD9-81ED-4DB2-BD59-A6C34878D82A}">
                    <a16:rowId xmlns:a16="http://schemas.microsoft.com/office/drawing/2014/main" val="10007"/>
                  </a:ext>
                </a:extLst>
              </a:tr>
            </a:tbl>
          </a:graphicData>
        </a:graphic>
      </p:graphicFrame>
      <p:sp>
        <p:nvSpPr>
          <p:cNvPr id="205" name="A=Allow, B=Block, D=Delay, S=Substitute(Fake), I=Insult, R=Redirect, F=File Synchronize, GU=Generate user, GF=Generate File, MF=Modify File System"/>
          <p:cNvSpPr txBox="1"/>
          <p:nvPr/>
        </p:nvSpPr>
        <p:spPr>
          <a:xfrm>
            <a:off x="1375091" y="12164576"/>
            <a:ext cx="2163381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r>
              <a:rPr sz="2400" i="1" dirty="0">
                <a:latin typeface="Times New Roman" panose="02020603050405020304" pitchFamily="18" charset="0"/>
                <a:cs typeface="Times New Roman" panose="02020603050405020304" pitchFamily="18" charset="0"/>
              </a:rPr>
              <a:t>A</a:t>
            </a:r>
            <a:r>
              <a:rPr sz="2400" dirty="0">
                <a:latin typeface="Times New Roman" panose="02020603050405020304" pitchFamily="18" charset="0"/>
                <a:cs typeface="Times New Roman" panose="02020603050405020304" pitchFamily="18" charset="0"/>
              </a:rPr>
              <a:t>=Allow, </a:t>
            </a:r>
            <a:r>
              <a:rPr sz="2400" i="1" dirty="0">
                <a:latin typeface="Times New Roman" panose="02020603050405020304" pitchFamily="18" charset="0"/>
                <a:cs typeface="Times New Roman" panose="02020603050405020304" pitchFamily="18" charset="0"/>
              </a:rPr>
              <a:t>B</a:t>
            </a:r>
            <a:r>
              <a:rPr sz="2400" dirty="0">
                <a:latin typeface="Times New Roman" panose="02020603050405020304" pitchFamily="18" charset="0"/>
                <a:cs typeface="Times New Roman" panose="02020603050405020304" pitchFamily="18" charset="0"/>
              </a:rPr>
              <a:t>=Block, </a:t>
            </a:r>
            <a:r>
              <a:rPr sz="2400" i="1" dirty="0">
                <a:latin typeface="Times New Roman" panose="02020603050405020304" pitchFamily="18" charset="0"/>
                <a:cs typeface="Times New Roman" panose="02020603050405020304" pitchFamily="18" charset="0"/>
              </a:rPr>
              <a:t>D</a:t>
            </a:r>
            <a:r>
              <a:rPr sz="2400" dirty="0">
                <a:latin typeface="Times New Roman" panose="02020603050405020304" pitchFamily="18" charset="0"/>
                <a:cs typeface="Times New Roman" panose="02020603050405020304" pitchFamily="18" charset="0"/>
              </a:rPr>
              <a:t>=Delay, </a:t>
            </a:r>
            <a:r>
              <a:rPr sz="2400" i="1" dirty="0">
                <a:latin typeface="Times New Roman" panose="02020603050405020304" pitchFamily="18" charset="0"/>
                <a:cs typeface="Times New Roman" panose="02020603050405020304" pitchFamily="18" charset="0"/>
              </a:rPr>
              <a:t>S</a:t>
            </a:r>
            <a:r>
              <a:rPr sz="2400" dirty="0">
                <a:latin typeface="Times New Roman" panose="02020603050405020304" pitchFamily="18" charset="0"/>
                <a:cs typeface="Times New Roman" panose="02020603050405020304" pitchFamily="18" charset="0"/>
              </a:rPr>
              <a:t>=Substitute(Fake), </a:t>
            </a:r>
            <a:r>
              <a:rPr sz="2400" i="1" dirty="0">
                <a:latin typeface="Times New Roman" panose="02020603050405020304" pitchFamily="18" charset="0"/>
                <a:cs typeface="Times New Roman" panose="02020603050405020304" pitchFamily="18" charset="0"/>
              </a:rPr>
              <a:t>I</a:t>
            </a:r>
            <a:r>
              <a:rPr sz="2400" dirty="0">
                <a:latin typeface="Times New Roman" panose="02020603050405020304" pitchFamily="18" charset="0"/>
                <a:cs typeface="Times New Roman" panose="02020603050405020304" pitchFamily="18" charset="0"/>
              </a:rPr>
              <a:t>=Insult, </a:t>
            </a:r>
            <a:r>
              <a:rPr sz="2400" i="1" dirty="0">
                <a:latin typeface="Times New Roman" panose="02020603050405020304" pitchFamily="18" charset="0"/>
                <a:cs typeface="Times New Roman" panose="02020603050405020304" pitchFamily="18" charset="0"/>
              </a:rPr>
              <a:t>R</a:t>
            </a:r>
            <a:r>
              <a:rPr sz="2400" dirty="0">
                <a:latin typeface="Times New Roman" panose="02020603050405020304" pitchFamily="18" charset="0"/>
                <a:cs typeface="Times New Roman" panose="02020603050405020304" pitchFamily="18" charset="0"/>
              </a:rPr>
              <a:t>=Redirect, </a:t>
            </a:r>
            <a:r>
              <a:rPr sz="2400" i="1"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=File Synchronize, </a:t>
            </a:r>
            <a:r>
              <a:rPr sz="2400" i="1" dirty="0">
                <a:latin typeface="Times New Roman" panose="02020603050405020304" pitchFamily="18" charset="0"/>
                <a:cs typeface="Times New Roman" panose="02020603050405020304" pitchFamily="18" charset="0"/>
              </a:rPr>
              <a:t>G</a:t>
            </a:r>
            <a:r>
              <a:rPr sz="2400" i="1" baseline="31999" dirty="0">
                <a:latin typeface="Times New Roman" panose="02020603050405020304" pitchFamily="18" charset="0"/>
                <a:cs typeface="Times New Roman" panose="02020603050405020304" pitchFamily="18" charset="0"/>
              </a:rPr>
              <a:t>U</a:t>
            </a:r>
            <a:r>
              <a:rPr sz="2400" dirty="0">
                <a:latin typeface="Times New Roman" panose="02020603050405020304" pitchFamily="18" charset="0"/>
                <a:cs typeface="Times New Roman" panose="02020603050405020304" pitchFamily="18" charset="0"/>
              </a:rPr>
              <a:t>=Generate user, </a:t>
            </a:r>
            <a:r>
              <a:rPr sz="2400" i="1" dirty="0">
                <a:latin typeface="Times New Roman" panose="02020603050405020304" pitchFamily="18" charset="0"/>
                <a:cs typeface="Times New Roman" panose="02020603050405020304" pitchFamily="18" charset="0"/>
              </a:rPr>
              <a:t>G</a:t>
            </a:r>
            <a:r>
              <a:rPr sz="2400" i="1" baseline="31999"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=Generate File, </a:t>
            </a:r>
            <a:r>
              <a:rPr sz="2400" i="1" dirty="0">
                <a:latin typeface="Times New Roman" panose="02020603050405020304" pitchFamily="18" charset="0"/>
                <a:cs typeface="Times New Roman" panose="02020603050405020304" pitchFamily="18" charset="0"/>
              </a:rPr>
              <a:t>M</a:t>
            </a:r>
            <a:r>
              <a:rPr sz="2400" i="1" baseline="31999"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=Modify File System</a:t>
            </a:r>
          </a:p>
        </p:txBody>
      </p:sp>
      <p:sp>
        <p:nvSpPr>
          <p:cNvPr id="2" name="投影片編號版面配置區 1">
            <a:extLst>
              <a:ext uri="{FF2B5EF4-FFF2-40B4-BE49-F238E27FC236}">
                <a16:creationId xmlns:a16="http://schemas.microsoft.com/office/drawing/2014/main" id="{BB22D514-D3BC-B684-FBB7-67B8BCCD079F}"/>
              </a:ext>
            </a:extLst>
          </p:cNvPr>
          <p:cNvSpPr>
            <a:spLocks noGrp="1"/>
          </p:cNvSpPr>
          <p:nvPr>
            <p:ph type="sldNum" sz="quarter" idx="2"/>
          </p:nvPr>
        </p:nvSpPr>
        <p:spPr/>
        <p:txBody>
          <a:bodyPr/>
          <a:lstStyle/>
          <a:p>
            <a:fld id="{86CB4B4D-7CA3-9044-876B-883B54F8677D}" type="slidenum">
              <a:rPr lang="en-US" altLang="zh-TW" smtClean="0"/>
              <a:t>40</a:t>
            </a:fld>
            <a:endParaRPr lang="zh-TW" altLang="en-US"/>
          </a:p>
        </p:txBody>
      </p:sp>
      <p:sp>
        <p:nvSpPr>
          <p:cNvPr id="3" name="文字方塊 2">
            <a:extLst>
              <a:ext uri="{FF2B5EF4-FFF2-40B4-BE49-F238E27FC236}">
                <a16:creationId xmlns:a16="http://schemas.microsoft.com/office/drawing/2014/main" id="{18556267-9CE8-5E50-18EF-9B9E7093A7EF}"/>
              </a:ext>
            </a:extLst>
          </p:cNvPr>
          <p:cNvSpPr txBox="1"/>
          <p:nvPr/>
        </p:nvSpPr>
        <p:spPr>
          <a:xfrm>
            <a:off x="15290272" y="-175895"/>
            <a:ext cx="10265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zh-TW" altLang="en-US" sz="3600" b="0"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7496741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4" name="Solution - LLM Agent Design"/>
          <p:cNvSpPr txBox="1">
            <a:spLocks noGrp="1"/>
          </p:cNvSpPr>
          <p:nvPr>
            <p:ph type="title"/>
          </p:nvPr>
        </p:nvSpPr>
        <p:spPr>
          <a:prstGeom prst="rect">
            <a:avLst/>
          </a:prstGeom>
        </p:spPr>
        <p:txBody>
          <a:bodyPr/>
          <a:lstStyle/>
          <a:p>
            <a:r>
              <a:rPr dirty="0"/>
              <a:t>Solution - LLM Agent Design</a:t>
            </a:r>
            <a:r>
              <a:rPr lang="en-US" dirty="0"/>
              <a:t> (cont.)</a:t>
            </a:r>
            <a:endParaRPr dirty="0"/>
          </a:p>
        </p:txBody>
      </p:sp>
      <p:sp>
        <p:nvSpPr>
          <p:cNvPr id="245" name="Dual-LLM Architecture…"/>
          <p:cNvSpPr txBox="1">
            <a:spLocks noGrp="1"/>
          </p:cNvSpPr>
          <p:nvPr>
            <p:ph type="body" idx="1"/>
          </p:nvPr>
        </p:nvSpPr>
        <p:spPr>
          <a:xfrm>
            <a:off x="1206500" y="3668825"/>
            <a:ext cx="21971000" cy="8256012"/>
          </a:xfrm>
          <a:prstGeom prst="rect">
            <a:avLst/>
          </a:prstGeom>
        </p:spPr>
        <p:txBody>
          <a:bodyPr/>
          <a:lstStyle/>
          <a:p>
            <a:endParaRPr dirty="0"/>
          </a:p>
        </p:txBody>
      </p:sp>
      <p:sp>
        <p:nvSpPr>
          <p:cNvPr id="2" name="投影片編號版面配置區 1">
            <a:extLst>
              <a:ext uri="{FF2B5EF4-FFF2-40B4-BE49-F238E27FC236}">
                <a16:creationId xmlns:a16="http://schemas.microsoft.com/office/drawing/2014/main" id="{D20F73E9-8B10-AEBF-D24C-CE922ACC3761}"/>
              </a:ext>
            </a:extLst>
          </p:cNvPr>
          <p:cNvSpPr>
            <a:spLocks noGrp="1"/>
          </p:cNvSpPr>
          <p:nvPr>
            <p:ph type="sldNum" sz="quarter" idx="2"/>
          </p:nvPr>
        </p:nvSpPr>
        <p:spPr/>
        <p:txBody>
          <a:bodyPr/>
          <a:lstStyle/>
          <a:p>
            <a:fld id="{86CB4B4D-7CA3-9044-876B-883B54F8677D}" type="slidenum">
              <a:rPr lang="en-US" altLang="zh-TW" smtClean="0"/>
              <a:t>41</a:t>
            </a:fld>
            <a:endParaRPr lang="zh-TW" altLang="en-US"/>
          </a:p>
        </p:txBody>
      </p:sp>
    </p:spTree>
    <p:extLst>
      <p:ext uri="{BB962C8B-B14F-4D97-AF65-F5344CB8AC3E}">
        <p14:creationId xmlns:p14="http://schemas.microsoft.com/office/powerpoint/2010/main" val="653976783"/>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3" name="Background - RL-based Adaptive Honeypot"/>
          <p:cNvSpPr txBox="1">
            <a:spLocks noGrp="1"/>
          </p:cNvSpPr>
          <p:nvPr>
            <p:ph type="title"/>
          </p:nvPr>
        </p:nvSpPr>
        <p:spPr>
          <a:prstGeom prst="rect">
            <a:avLst/>
          </a:prstGeom>
        </p:spPr>
        <p:txBody>
          <a:bodyPr/>
          <a:lstStyle/>
          <a:p>
            <a:r>
              <a:t>Background - RL-based Adaptive Honeypot</a:t>
            </a:r>
          </a:p>
        </p:txBody>
      </p:sp>
      <p:pic>
        <p:nvPicPr>
          <p:cNvPr id="184" name="Screenshot 2025-08-06 at 18.00.39.png" descr="Screenshot 2025-08-06 at 18.00.39.png"/>
          <p:cNvPicPr>
            <a:picLocks noChangeAspect="1"/>
          </p:cNvPicPr>
          <p:nvPr/>
        </p:nvPicPr>
        <p:blipFill>
          <a:blip r:embed="rId2"/>
          <a:stretch>
            <a:fillRect/>
          </a:stretch>
        </p:blipFill>
        <p:spPr>
          <a:xfrm>
            <a:off x="1967228" y="2598094"/>
            <a:ext cx="20449544" cy="10667578"/>
          </a:xfrm>
          <a:prstGeom prst="rect">
            <a:avLst/>
          </a:prstGeom>
          <a:ln w="12700">
            <a:miter lim="400000"/>
          </a:ln>
        </p:spPr>
      </p:pic>
      <p:sp>
        <p:nvSpPr>
          <p:cNvPr id="3" name="投影片編號版面配置區 2">
            <a:extLst>
              <a:ext uri="{FF2B5EF4-FFF2-40B4-BE49-F238E27FC236}">
                <a16:creationId xmlns:a16="http://schemas.microsoft.com/office/drawing/2014/main" id="{C671B53D-41B9-0EF7-9E98-34D582E2F51C}"/>
              </a:ext>
            </a:extLst>
          </p:cNvPr>
          <p:cNvSpPr>
            <a:spLocks noGrp="1"/>
          </p:cNvSpPr>
          <p:nvPr>
            <p:ph type="sldNum" sz="quarter" idx="2"/>
          </p:nvPr>
        </p:nvSpPr>
        <p:spPr/>
        <p:txBody>
          <a:bodyPr/>
          <a:lstStyle/>
          <a:p>
            <a:fld id="{86CB4B4D-7CA3-9044-876B-883B54F8677D}" type="slidenum">
              <a:rPr lang="en-US" altLang="zh-TW" smtClean="0"/>
              <a:t>42</a:t>
            </a:fld>
            <a:endParaRPr lang="zh-TW" altLang="en-US"/>
          </a:p>
        </p:txBody>
      </p:sp>
    </p:spTree>
    <p:extLst>
      <p:ext uri="{BB962C8B-B14F-4D97-AF65-F5344CB8AC3E}">
        <p14:creationId xmlns:p14="http://schemas.microsoft.com/office/powerpoint/2010/main" val="116693399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7" name="Screenshot 2025-08-06 at 18.03.39.png" descr="Screenshot 2025-08-06 at 18.03.39.png"/>
          <p:cNvPicPr>
            <a:picLocks noChangeAspect="1"/>
          </p:cNvPicPr>
          <p:nvPr/>
        </p:nvPicPr>
        <p:blipFill>
          <a:blip r:embed="rId2"/>
          <a:srcRect t="2058"/>
          <a:stretch>
            <a:fillRect/>
          </a:stretch>
        </p:blipFill>
        <p:spPr>
          <a:xfrm>
            <a:off x="547687" y="6932245"/>
            <a:ext cx="23288776" cy="6082501"/>
          </a:xfrm>
          <a:prstGeom prst="rect">
            <a:avLst/>
          </a:prstGeom>
          <a:ln w="12700">
            <a:miter lim="400000"/>
          </a:ln>
        </p:spPr>
      </p:pic>
      <p:sp>
        <p:nvSpPr>
          <p:cNvPr id="188" name="Background - MITRE ATT&amp;CK"/>
          <p:cNvSpPr txBox="1">
            <a:spLocks noGrp="1"/>
          </p:cNvSpPr>
          <p:nvPr>
            <p:ph type="title"/>
          </p:nvPr>
        </p:nvSpPr>
        <p:spPr>
          <a:prstGeom prst="rect">
            <a:avLst/>
          </a:prstGeom>
        </p:spPr>
        <p:txBody>
          <a:bodyPr/>
          <a:lstStyle/>
          <a:p>
            <a:r>
              <a:rPr dirty="0"/>
              <a:t>Background - MITRE ATT&amp;CK</a:t>
            </a:r>
          </a:p>
        </p:txBody>
      </p:sp>
      <p:sp>
        <p:nvSpPr>
          <p:cNvPr id="189" name="Lifecycle: a sequence of techniques…"/>
          <p:cNvSpPr txBox="1">
            <a:spLocks noGrp="1"/>
          </p:cNvSpPr>
          <p:nvPr>
            <p:ph type="body" sz="half" idx="1"/>
          </p:nvPr>
        </p:nvSpPr>
        <p:spPr>
          <a:xfrm>
            <a:off x="1206500" y="3112864"/>
            <a:ext cx="21971000" cy="3753134"/>
          </a:xfrm>
          <a:prstGeom prst="rect">
            <a:avLst/>
          </a:prstGeom>
        </p:spPr>
        <p:txBody>
          <a:bodyPr/>
          <a:lstStyle/>
          <a:p>
            <a:pPr>
              <a:lnSpc>
                <a:spcPct val="50000"/>
              </a:lnSpc>
            </a:pPr>
            <a:r>
              <a:rPr dirty="0">
                <a:latin typeface="Times New Roman" panose="02020603050405020304" pitchFamily="18" charset="0"/>
                <a:cs typeface="Times New Roman" panose="02020603050405020304" pitchFamily="18" charset="0"/>
              </a:rPr>
              <a:t>Lifecycle: a sequence of techniques</a:t>
            </a:r>
          </a:p>
          <a:p>
            <a:pPr>
              <a:lnSpc>
                <a:spcPct val="50000"/>
              </a:lnSpc>
            </a:pPr>
            <a:r>
              <a:rPr dirty="0">
                <a:latin typeface="Times New Roman" panose="02020603050405020304" pitchFamily="18" charset="0"/>
                <a:cs typeface="Times New Roman" panose="02020603050405020304" pitchFamily="18" charset="0"/>
              </a:rPr>
              <a:t>Tactic: an attacking phase</a:t>
            </a:r>
          </a:p>
          <a:p>
            <a:pPr>
              <a:lnSpc>
                <a:spcPct val="50000"/>
              </a:lnSpc>
            </a:pPr>
            <a:r>
              <a:rPr dirty="0">
                <a:latin typeface="Times New Roman" panose="02020603050405020304" pitchFamily="18" charset="0"/>
                <a:cs typeface="Times New Roman" panose="02020603050405020304" pitchFamily="18" charset="0"/>
              </a:rPr>
              <a:t>Technique: an attacking approach for a specific tactic</a:t>
            </a:r>
          </a:p>
          <a:p>
            <a:pPr>
              <a:lnSpc>
                <a:spcPct val="50000"/>
              </a:lnSpc>
            </a:pPr>
            <a:r>
              <a:rPr dirty="0">
                <a:latin typeface="Times New Roman" panose="02020603050405020304" pitchFamily="18" charset="0"/>
                <a:cs typeface="Times New Roman" panose="02020603050405020304" pitchFamily="18" charset="0"/>
              </a:rPr>
              <a:t>Procedure: implementation of a technique </a:t>
            </a:r>
          </a:p>
        </p:txBody>
      </p:sp>
      <p:sp>
        <p:nvSpPr>
          <p:cNvPr id="2" name="投影片編號版面配置區 1">
            <a:extLst>
              <a:ext uri="{FF2B5EF4-FFF2-40B4-BE49-F238E27FC236}">
                <a16:creationId xmlns:a16="http://schemas.microsoft.com/office/drawing/2014/main" id="{B8BB06FE-3A96-3AFC-7EFF-06BC8870C0D2}"/>
              </a:ext>
            </a:extLst>
          </p:cNvPr>
          <p:cNvSpPr>
            <a:spLocks noGrp="1"/>
          </p:cNvSpPr>
          <p:nvPr>
            <p:ph type="sldNum" sz="quarter" idx="2"/>
          </p:nvPr>
        </p:nvSpPr>
        <p:spPr/>
        <p:txBody>
          <a:bodyPr/>
          <a:lstStyle/>
          <a:p>
            <a:fld id="{86CB4B4D-7CA3-9044-876B-883B54F8677D}" type="slidenum">
              <a:rPr lang="en-US" altLang="zh-TW" smtClean="0"/>
              <a:t>43</a:t>
            </a:fld>
            <a:endParaRPr lang="zh-TW" altLang="en-US"/>
          </a:p>
        </p:txBody>
      </p:sp>
    </p:spTree>
    <p:extLst>
      <p:ext uri="{BB962C8B-B14F-4D97-AF65-F5344CB8AC3E}">
        <p14:creationId xmlns:p14="http://schemas.microsoft.com/office/powerpoint/2010/main" val="4190442136"/>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5" name="Solution - Dataset Generation"/>
          <p:cNvSpPr txBox="1">
            <a:spLocks noGrp="1"/>
          </p:cNvSpPr>
          <p:nvPr>
            <p:ph type="title"/>
          </p:nvPr>
        </p:nvSpPr>
        <p:spPr>
          <a:prstGeom prst="rect">
            <a:avLst/>
          </a:prstGeom>
        </p:spPr>
        <p:txBody>
          <a:bodyPr/>
          <a:lstStyle/>
          <a:p>
            <a:r>
              <a:rPr dirty="0"/>
              <a:t>Solution - Dataset Generation</a:t>
            </a:r>
          </a:p>
        </p:txBody>
      </p:sp>
      <p:sp>
        <p:nvSpPr>
          <p:cNvPr id="257" name="Generate a synthetic dataset using a &quot;teacher&quot; LLM to create scripts, validated via execution in a closed-loop sandbox.…"/>
          <p:cNvSpPr txBox="1">
            <a:spLocks noGrp="1"/>
          </p:cNvSpPr>
          <p:nvPr>
            <p:ph type="body" idx="1"/>
          </p:nvPr>
        </p:nvSpPr>
        <p:spPr>
          <a:xfrm>
            <a:off x="1200251" y="3063487"/>
            <a:ext cx="21971000" cy="8256012"/>
          </a:xfrm>
          <a:prstGeom prst="rect">
            <a:avLst/>
          </a:prstGeom>
        </p:spPr>
        <p:txBody>
          <a:bodyPr>
            <a:normAutofit/>
          </a:bodyPr>
          <a:lstStyle/>
          <a:p>
            <a:r>
              <a:rPr sz="4000" dirty="0"/>
              <a:t>Generate a synthetic dataset using a "teacher" LLM to create scripts</a:t>
            </a:r>
            <a:endParaRPr lang="en-US" sz="4000" dirty="0"/>
          </a:p>
          <a:p>
            <a:r>
              <a:rPr lang="en-US" altLang="zh-TW" sz="4000" dirty="0"/>
              <a:t>V</a:t>
            </a:r>
            <a:r>
              <a:rPr sz="4000" dirty="0"/>
              <a:t>alidated via execution in a closed-loop sandbox</a:t>
            </a:r>
          </a:p>
        </p:txBody>
      </p:sp>
      <p:pic>
        <p:nvPicPr>
          <p:cNvPr id="7170" name="Picture 2">
            <a:extLst>
              <a:ext uri="{FF2B5EF4-FFF2-40B4-BE49-F238E27FC236}">
                <a16:creationId xmlns:a16="http://schemas.microsoft.com/office/drawing/2014/main" id="{F0AAA4B2-E5BA-3293-787F-9723F1AB94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0933" y="5327111"/>
            <a:ext cx="11482133" cy="7704461"/>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BB6AF21E-A0F9-30D3-882C-8159D86AF433}"/>
              </a:ext>
            </a:extLst>
          </p:cNvPr>
          <p:cNvSpPr>
            <a:spLocks noGrp="1"/>
          </p:cNvSpPr>
          <p:nvPr>
            <p:ph type="sldNum" sz="quarter" idx="2"/>
          </p:nvPr>
        </p:nvSpPr>
        <p:spPr/>
        <p:txBody>
          <a:bodyPr/>
          <a:lstStyle/>
          <a:p>
            <a:fld id="{86CB4B4D-7CA3-9044-876B-883B54F8677D}" type="slidenum">
              <a:rPr lang="en-US" altLang="zh-TW" smtClean="0"/>
              <a:t>44</a:t>
            </a:fld>
            <a:endParaRPr lang="zh-TW" altLang="en-US"/>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normAutofit/>
          </a:bodyPr>
          <a:lstStyle/>
          <a:p>
            <a:r>
              <a:rPr lang="en-US" dirty="0"/>
              <a:t>Solution - Augmented Dataset Generation</a:t>
            </a:r>
            <a:endParaRPr dirty="0"/>
          </a:p>
        </p:txBody>
      </p:sp>
      <p:sp>
        <p:nvSpPr>
          <p:cNvPr id="2" name="Generate a synthetic dataset using a &quot;teacher&quot; LLM to create scripts, validated via execution in a closed-loop sandbox.…">
            <a:extLst>
              <a:ext uri="{FF2B5EF4-FFF2-40B4-BE49-F238E27FC236}">
                <a16:creationId xmlns:a16="http://schemas.microsoft.com/office/drawing/2014/main" id="{530933C8-8F2C-7491-CFEA-18DE33339E56}"/>
              </a:ext>
            </a:extLst>
          </p:cNvPr>
          <p:cNvSpPr txBox="1">
            <a:spLocks/>
          </p:cNvSpPr>
          <p:nvPr/>
        </p:nvSpPr>
        <p:spPr>
          <a:xfrm>
            <a:off x="1200251" y="3219971"/>
            <a:ext cx="10801248"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sz="4000" dirty="0">
                <a:latin typeface="Times New Roman" panose="02020603050405020304" pitchFamily="18" charset="0"/>
                <a:cs typeface="Times New Roman" panose="02020603050405020304" pitchFamily="18" charset="0"/>
              </a:rPr>
              <a:t>Enhance model generalization</a:t>
            </a:r>
          </a:p>
          <a:p>
            <a:pPr hangingPunct="1"/>
            <a:r>
              <a:rPr lang="en-US" sz="4000" dirty="0">
                <a:latin typeface="Times New Roman" panose="02020603050405020304" pitchFamily="18" charset="0"/>
                <a:cs typeface="Times New Roman" panose="02020603050405020304" pitchFamily="18" charset="0"/>
              </a:rPr>
              <a:t>Improve tolerance to RAG template mismatch</a:t>
            </a:r>
          </a:p>
        </p:txBody>
      </p:sp>
      <p:pic>
        <p:nvPicPr>
          <p:cNvPr id="8194" name="Picture 2">
            <a:extLst>
              <a:ext uri="{FF2B5EF4-FFF2-40B4-BE49-F238E27FC236}">
                <a16:creationId xmlns:a16="http://schemas.microsoft.com/office/drawing/2014/main" id="{7E03F0C4-DA07-638C-403E-B369448C3C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14901" y="3086621"/>
            <a:ext cx="12212464" cy="9225242"/>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D17C819B-ACBD-D924-7D15-B46FF5D79B99}"/>
              </a:ext>
            </a:extLst>
          </p:cNvPr>
          <p:cNvSpPr>
            <a:spLocks noGrp="1"/>
          </p:cNvSpPr>
          <p:nvPr>
            <p:ph type="sldNum" sz="quarter" idx="2"/>
          </p:nvPr>
        </p:nvSpPr>
        <p:spPr/>
        <p:txBody>
          <a:bodyPr/>
          <a:lstStyle/>
          <a:p>
            <a:fld id="{86CB4B4D-7CA3-9044-876B-883B54F8677D}" type="slidenum">
              <a:rPr lang="en-US" altLang="zh-TW" smtClean="0"/>
              <a:t>45</a:t>
            </a:fld>
            <a:endParaRPr lang="zh-TW" altLang="en-US"/>
          </a:p>
        </p:txBody>
      </p:sp>
    </p:spTree>
    <p:extLst>
      <p:ext uri="{BB962C8B-B14F-4D97-AF65-F5344CB8AC3E}">
        <p14:creationId xmlns:p14="http://schemas.microsoft.com/office/powerpoint/2010/main" val="5417057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0C2BCE-18D1-8B32-26B3-AC66A3093164}"/>
            </a:ext>
          </a:extLst>
        </p:cNvPr>
        <p:cNvGrpSpPr/>
        <p:nvPr/>
      </p:nvGrpSpPr>
      <p:grpSpPr>
        <a:xfrm>
          <a:off x="0" y="0"/>
          <a:ext cx="0" cy="0"/>
          <a:chOff x="0" y="0"/>
          <a:chExt cx="0" cy="0"/>
        </a:xfrm>
      </p:grpSpPr>
      <p:sp>
        <p:nvSpPr>
          <p:cNvPr id="262" name="Solution - RAG">
            <a:extLst>
              <a:ext uri="{FF2B5EF4-FFF2-40B4-BE49-F238E27FC236}">
                <a16:creationId xmlns:a16="http://schemas.microsoft.com/office/drawing/2014/main" id="{1ABBFF71-F26D-59A3-EB5B-FA9D099DB616}"/>
              </a:ext>
            </a:extLst>
          </p:cNvPr>
          <p:cNvSpPr txBox="1">
            <a:spLocks noGrp="1"/>
          </p:cNvSpPr>
          <p:nvPr>
            <p:ph type="title"/>
          </p:nvPr>
        </p:nvSpPr>
        <p:spPr>
          <a:prstGeom prst="rect">
            <a:avLst/>
          </a:prstGeom>
        </p:spPr>
        <p:txBody>
          <a:bodyPr>
            <a:normAutofit/>
          </a:bodyPr>
          <a:lstStyle/>
          <a:p>
            <a:r>
              <a:rPr lang="en-US" altLang="zh-TW" dirty="0"/>
              <a:t>Background</a:t>
            </a:r>
            <a:r>
              <a:rPr dirty="0"/>
              <a:t> - </a:t>
            </a:r>
            <a:r>
              <a:rPr lang="en-US" dirty="0"/>
              <a:t>RAG</a:t>
            </a:r>
            <a:endParaRPr dirty="0"/>
          </a:p>
        </p:txBody>
      </p:sp>
      <p:sp>
        <p:nvSpPr>
          <p:cNvPr id="264" name="Slide bullet text">
            <a:extLst>
              <a:ext uri="{FF2B5EF4-FFF2-40B4-BE49-F238E27FC236}">
                <a16:creationId xmlns:a16="http://schemas.microsoft.com/office/drawing/2014/main" id="{C0DE34C4-FCE5-1BC0-EAB3-6EB9915D7C5A}"/>
              </a:ext>
            </a:extLst>
          </p:cNvPr>
          <p:cNvSpPr txBox="1">
            <a:spLocks noGrp="1"/>
          </p:cNvSpPr>
          <p:nvPr>
            <p:ph type="body" idx="1"/>
          </p:nvPr>
        </p:nvSpPr>
        <p:spPr>
          <a:xfrm>
            <a:off x="1206500" y="3052692"/>
            <a:ext cx="21971000" cy="8256012"/>
          </a:xfrm>
          <a:prstGeom prst="rect">
            <a:avLst/>
          </a:prstGeom>
        </p:spPr>
        <p:txBody>
          <a:bodyPr>
            <a:normAutofit/>
          </a:bodyPr>
          <a:lstStyle/>
          <a:p>
            <a:r>
              <a:rPr lang="en-US" altLang="zh-TW" sz="4400" dirty="0">
                <a:latin typeface="Times New Roman" panose="02020603050405020304" pitchFamily="18" charset="0"/>
                <a:cs typeface="Times New Roman" panose="02020603050405020304" pitchFamily="18" charset="0"/>
              </a:rPr>
              <a:t>Improve the quality and accuracy of model generation</a:t>
            </a:r>
          </a:p>
        </p:txBody>
      </p:sp>
      <p:sp>
        <p:nvSpPr>
          <p:cNvPr id="2" name="投影片編號版面配置區 1">
            <a:extLst>
              <a:ext uri="{FF2B5EF4-FFF2-40B4-BE49-F238E27FC236}">
                <a16:creationId xmlns:a16="http://schemas.microsoft.com/office/drawing/2014/main" id="{C8AC1950-2897-3809-60CD-3947D2AFFD57}"/>
              </a:ext>
            </a:extLst>
          </p:cNvPr>
          <p:cNvSpPr>
            <a:spLocks noGrp="1"/>
          </p:cNvSpPr>
          <p:nvPr>
            <p:ph type="sldNum" sz="quarter" idx="2"/>
          </p:nvPr>
        </p:nvSpPr>
        <p:spPr/>
        <p:txBody>
          <a:bodyPr/>
          <a:lstStyle/>
          <a:p>
            <a:fld id="{86CB4B4D-7CA3-9044-876B-883B54F8677D}" type="slidenum">
              <a:rPr lang="en-US" altLang="zh-TW" smtClean="0"/>
              <a:t>46</a:t>
            </a:fld>
            <a:endParaRPr lang="zh-TW" altLang="en-US"/>
          </a:p>
        </p:txBody>
      </p:sp>
      <p:pic>
        <p:nvPicPr>
          <p:cNvPr id="2050" name="Picture 2">
            <a:extLst>
              <a:ext uri="{FF2B5EF4-FFF2-40B4-BE49-F238E27FC236}">
                <a16:creationId xmlns:a16="http://schemas.microsoft.com/office/drawing/2014/main" id="{9FCDC98F-0A72-FBF9-DD99-130E0EAEBF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7954" y="6045200"/>
            <a:ext cx="8548092" cy="659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881654"/>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0138A4-A7C5-3938-F0F0-753D9C66A00A}"/>
              </a:ext>
            </a:extLst>
          </p:cNvPr>
          <p:cNvSpPr>
            <a:spLocks noGrp="1"/>
          </p:cNvSpPr>
          <p:nvPr>
            <p:ph type="title"/>
          </p:nvPr>
        </p:nvSpPr>
        <p:spPr/>
        <p:txBody>
          <a:bodyPr/>
          <a:lstStyle/>
          <a:p>
            <a:r>
              <a:rPr kumimoji="1" lang="en-US" altLang="zh-TW" dirty="0"/>
              <a:t>Background</a:t>
            </a:r>
            <a:endParaRPr kumimoji="1" lang="zh-TW" altLang="en-US" dirty="0"/>
          </a:p>
        </p:txBody>
      </p:sp>
      <p:sp>
        <p:nvSpPr>
          <p:cNvPr id="4" name="投影片編號版面配置區 3">
            <a:extLst>
              <a:ext uri="{FF2B5EF4-FFF2-40B4-BE49-F238E27FC236}">
                <a16:creationId xmlns:a16="http://schemas.microsoft.com/office/drawing/2014/main" id="{297C6DD3-E466-CECA-8AA1-0BB1ADF1C38B}"/>
              </a:ext>
            </a:extLst>
          </p:cNvPr>
          <p:cNvSpPr>
            <a:spLocks noGrp="1"/>
          </p:cNvSpPr>
          <p:nvPr>
            <p:ph type="sldNum" sz="quarter" idx="2"/>
          </p:nvPr>
        </p:nvSpPr>
        <p:spPr/>
        <p:txBody>
          <a:bodyPr/>
          <a:lstStyle/>
          <a:p>
            <a:fld id="{86CB4B4D-7CA3-9044-876B-883B54F8677D}" type="slidenum">
              <a:rPr lang="en-US" altLang="zh-TW" smtClean="0"/>
              <a:t>47</a:t>
            </a:fld>
            <a:endParaRPr lang="zh-TW" altLang="en-US"/>
          </a:p>
        </p:txBody>
      </p:sp>
      <p:pic>
        <p:nvPicPr>
          <p:cNvPr id="6148" name="Picture 4">
            <a:extLst>
              <a:ext uri="{FF2B5EF4-FFF2-40B4-BE49-F238E27FC236}">
                <a16:creationId xmlns:a16="http://schemas.microsoft.com/office/drawing/2014/main" id="{84780977-1796-979A-6498-447DE4D1DD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3286" y="3676306"/>
            <a:ext cx="13817428" cy="8131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11248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lstStyle/>
          <a:p>
            <a:r>
              <a:rPr dirty="0"/>
              <a:t>Solution - </a:t>
            </a:r>
            <a:r>
              <a:rPr lang="en-US" dirty="0"/>
              <a:t>Retrieval-Augmented Generation</a:t>
            </a:r>
            <a:endParaRPr dirty="0"/>
          </a:p>
        </p:txBody>
      </p:sp>
      <p:sp>
        <p:nvSpPr>
          <p:cNvPr id="264" name="Slide bullet text"/>
          <p:cNvSpPr txBox="1">
            <a:spLocks noGrp="1"/>
          </p:cNvSpPr>
          <p:nvPr>
            <p:ph type="body" idx="1"/>
          </p:nvPr>
        </p:nvSpPr>
        <p:spPr>
          <a:xfrm>
            <a:off x="1206500" y="3052692"/>
            <a:ext cx="21971000" cy="8256012"/>
          </a:xfrm>
          <a:prstGeom prst="rect">
            <a:avLst/>
          </a:prstGeom>
        </p:spPr>
        <p:txBody>
          <a:bodyPr>
            <a:normAutofit/>
          </a:bodyPr>
          <a:lstStyle/>
          <a:p>
            <a:r>
              <a:rPr lang="en-US" altLang="zh-TW" sz="4400" dirty="0"/>
              <a:t>Improve the quality and accuracy of model generation</a:t>
            </a:r>
          </a:p>
          <a:p>
            <a:r>
              <a:rPr lang="en-US" altLang="zh-TW" sz="4400" dirty="0"/>
              <a:t>Output a confidence score for the model to assess template reliability</a:t>
            </a:r>
            <a:endParaRPr lang="zh-TW" altLang="en-US" sz="4400" dirty="0"/>
          </a:p>
        </p:txBody>
      </p:sp>
      <p:pic>
        <p:nvPicPr>
          <p:cNvPr id="4102" name="Picture 6">
            <a:extLst>
              <a:ext uri="{FF2B5EF4-FFF2-40B4-BE49-F238E27FC236}">
                <a16:creationId xmlns:a16="http://schemas.microsoft.com/office/drawing/2014/main" id="{90BC8BD0-4763-E3DF-E4F6-C11576D3297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79954" y="5892109"/>
            <a:ext cx="9424092" cy="7139463"/>
          </a:xfrm>
          <a:prstGeom prst="rect">
            <a:avLst/>
          </a:prstGeom>
          <a:noFill/>
          <a:extLst>
            <a:ext uri="{909E8E84-426E-40DD-AFC4-6F175D3DCCD1}">
              <a14:hiddenFill xmlns:a14="http://schemas.microsoft.com/office/drawing/2010/main">
                <a:solidFill>
                  <a:srgbClr val="FFFFFF"/>
                </a:solidFill>
              </a14:hiddenFill>
            </a:ext>
          </a:extLst>
        </p:spPr>
      </p:pic>
      <p:sp>
        <p:nvSpPr>
          <p:cNvPr id="2" name="投影片編號版面配置區 1">
            <a:extLst>
              <a:ext uri="{FF2B5EF4-FFF2-40B4-BE49-F238E27FC236}">
                <a16:creationId xmlns:a16="http://schemas.microsoft.com/office/drawing/2014/main" id="{9C2EA717-A9DB-AE43-24E6-AACBBE34DACA}"/>
              </a:ext>
            </a:extLst>
          </p:cNvPr>
          <p:cNvSpPr>
            <a:spLocks noGrp="1"/>
          </p:cNvSpPr>
          <p:nvPr>
            <p:ph type="sldNum" sz="quarter" idx="2"/>
          </p:nvPr>
        </p:nvSpPr>
        <p:spPr/>
        <p:txBody>
          <a:bodyPr/>
          <a:lstStyle/>
          <a:p>
            <a:fld id="{86CB4B4D-7CA3-9044-876B-883B54F8677D}" type="slidenum">
              <a:rPr lang="en-US" altLang="zh-TW" smtClean="0"/>
              <a:t>48</a:t>
            </a:fld>
            <a:endParaRPr lang="zh-TW" altLang="en-US"/>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A91615-3EBB-2712-355F-E36EC92F029B}"/>
            </a:ext>
          </a:extLst>
        </p:cNvPr>
        <p:cNvGrpSpPr/>
        <p:nvPr/>
      </p:nvGrpSpPr>
      <p:grpSpPr>
        <a:xfrm>
          <a:off x="0" y="0"/>
          <a:ext cx="0" cy="0"/>
          <a:chOff x="0" y="0"/>
          <a:chExt cx="0" cy="0"/>
        </a:xfrm>
      </p:grpSpPr>
      <p:sp>
        <p:nvSpPr>
          <p:cNvPr id="262" name="Solution - RAG">
            <a:extLst>
              <a:ext uri="{FF2B5EF4-FFF2-40B4-BE49-F238E27FC236}">
                <a16:creationId xmlns:a16="http://schemas.microsoft.com/office/drawing/2014/main" id="{E00322E1-1F15-980C-C3D7-72FC70CF933F}"/>
              </a:ext>
            </a:extLst>
          </p:cNvPr>
          <p:cNvSpPr txBox="1">
            <a:spLocks noGrp="1"/>
          </p:cNvSpPr>
          <p:nvPr>
            <p:ph type="title"/>
          </p:nvPr>
        </p:nvSpPr>
        <p:spPr>
          <a:prstGeom prst="rect">
            <a:avLst/>
          </a:prstGeom>
        </p:spPr>
        <p:txBody>
          <a:bodyPr>
            <a:normAutofit/>
          </a:bodyPr>
          <a:lstStyle/>
          <a:p>
            <a:r>
              <a:rPr lang="en-US" dirty="0"/>
              <a:t>Solution - Augmented Dataset Generation</a:t>
            </a:r>
            <a:endParaRPr dirty="0"/>
          </a:p>
        </p:txBody>
      </p:sp>
      <p:sp>
        <p:nvSpPr>
          <p:cNvPr id="2" name="Generate a synthetic dataset using a &quot;teacher&quot; LLM to create scripts, validated via execution in a closed-loop sandbox.…">
            <a:extLst>
              <a:ext uri="{FF2B5EF4-FFF2-40B4-BE49-F238E27FC236}">
                <a16:creationId xmlns:a16="http://schemas.microsoft.com/office/drawing/2014/main" id="{F2B960F7-5180-732B-6178-2C149747C141}"/>
              </a:ext>
            </a:extLst>
          </p:cNvPr>
          <p:cNvSpPr txBox="1">
            <a:spLocks/>
          </p:cNvSpPr>
          <p:nvPr/>
        </p:nvSpPr>
        <p:spPr>
          <a:xfrm>
            <a:off x="1200251" y="3219971"/>
            <a:ext cx="10801248"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sz="4000" dirty="0">
                <a:latin typeface="Times New Roman" panose="02020603050405020304" pitchFamily="18" charset="0"/>
                <a:cs typeface="Times New Roman" panose="02020603050405020304" pitchFamily="18" charset="0"/>
              </a:rPr>
              <a:t>Enhance model generalization</a:t>
            </a:r>
          </a:p>
          <a:p>
            <a:pPr hangingPunct="1"/>
            <a:r>
              <a:rPr lang="en-US" sz="4000" dirty="0">
                <a:latin typeface="Times New Roman" panose="02020603050405020304" pitchFamily="18" charset="0"/>
                <a:cs typeface="Times New Roman" panose="02020603050405020304" pitchFamily="18" charset="0"/>
              </a:rPr>
              <a:t>Improve tolerance to RAG template mismatch</a:t>
            </a:r>
          </a:p>
        </p:txBody>
      </p:sp>
      <p:pic>
        <p:nvPicPr>
          <p:cNvPr id="8194" name="Picture 2">
            <a:extLst>
              <a:ext uri="{FF2B5EF4-FFF2-40B4-BE49-F238E27FC236}">
                <a16:creationId xmlns:a16="http://schemas.microsoft.com/office/drawing/2014/main" id="{72967773-0D3A-8FDB-7D94-60CD640787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14901" y="3086621"/>
            <a:ext cx="12212464" cy="9225242"/>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1E8D167A-F869-529B-8DDD-4EFBA575F48C}"/>
              </a:ext>
            </a:extLst>
          </p:cNvPr>
          <p:cNvSpPr>
            <a:spLocks noGrp="1"/>
          </p:cNvSpPr>
          <p:nvPr>
            <p:ph type="sldNum" sz="quarter" idx="2"/>
          </p:nvPr>
        </p:nvSpPr>
        <p:spPr/>
        <p:txBody>
          <a:bodyPr/>
          <a:lstStyle/>
          <a:p>
            <a:fld id="{86CB4B4D-7CA3-9044-876B-883B54F8677D}" type="slidenum">
              <a:rPr lang="en-US" altLang="zh-TW" smtClean="0"/>
              <a:t>49</a:t>
            </a:fld>
            <a:endParaRPr lang="zh-TW" altLang="en-US"/>
          </a:p>
        </p:txBody>
      </p:sp>
    </p:spTree>
    <p:extLst>
      <p:ext uri="{BB962C8B-B14F-4D97-AF65-F5344CB8AC3E}">
        <p14:creationId xmlns:p14="http://schemas.microsoft.com/office/powerpoint/2010/main" val="735946826"/>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737BF0-06A1-BF33-1FF7-AB3F070505CC}"/>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F14C051C-726C-7200-A1F9-351BB44A4BDF}"/>
              </a:ext>
            </a:extLst>
          </p:cNvPr>
          <p:cNvSpPr txBox="1">
            <a:spLocks noGrp="1"/>
          </p:cNvSpPr>
          <p:nvPr>
            <p:ph type="body" idx="1"/>
          </p:nvPr>
        </p:nvSpPr>
        <p:spPr>
          <a:xfrm>
            <a:off x="1200251" y="3057657"/>
            <a:ext cx="21971000" cy="8256012"/>
          </a:xfrm>
          <a:prstGeom prst="rect">
            <a:avLst/>
          </a:prstGeom>
        </p:spPr>
        <p:txBody>
          <a:bodyPr/>
          <a:lstStyle/>
          <a:p>
            <a:pPr>
              <a:lnSpc>
                <a:spcPct val="120000"/>
              </a:lnSpc>
              <a:defRPr sz="4600"/>
            </a:pPr>
            <a:r>
              <a:rPr lang="en-US" altLang="zh-TW" dirty="0"/>
              <a:t>A smaller LLM is then fine-tuned for script generation</a:t>
            </a:r>
          </a:p>
        </p:txBody>
      </p:sp>
      <p:sp>
        <p:nvSpPr>
          <p:cNvPr id="250" name="Solution - Knowledge Distillation">
            <a:extLst>
              <a:ext uri="{FF2B5EF4-FFF2-40B4-BE49-F238E27FC236}">
                <a16:creationId xmlns:a16="http://schemas.microsoft.com/office/drawing/2014/main" id="{E3146224-E7C6-E153-7015-5EF2CFFCA076}"/>
              </a:ext>
            </a:extLst>
          </p:cNvPr>
          <p:cNvSpPr txBox="1">
            <a:spLocks noGrp="1"/>
          </p:cNvSpPr>
          <p:nvPr>
            <p:ph type="title"/>
          </p:nvPr>
        </p:nvSpPr>
        <p:spPr>
          <a:prstGeom prst="rect">
            <a:avLst/>
          </a:prstGeom>
        </p:spPr>
        <p:txBody>
          <a:bodyPr/>
          <a:lstStyle/>
          <a:p>
            <a:r>
              <a:rPr dirty="0"/>
              <a:t>Solution </a:t>
            </a:r>
            <a:r>
              <a:rPr lang="en-US" altLang="zh-TW" dirty="0"/>
              <a:t>–</a:t>
            </a:r>
            <a:r>
              <a:rPr dirty="0"/>
              <a:t> </a:t>
            </a:r>
            <a:r>
              <a:rPr lang="en-US" dirty="0"/>
              <a:t>Supervised Fine-Tuning</a:t>
            </a:r>
            <a:endParaRPr dirty="0"/>
          </a:p>
        </p:txBody>
      </p:sp>
      <p:sp>
        <p:nvSpPr>
          <p:cNvPr id="2" name="投影片編號版面配置區 1">
            <a:extLst>
              <a:ext uri="{FF2B5EF4-FFF2-40B4-BE49-F238E27FC236}">
                <a16:creationId xmlns:a16="http://schemas.microsoft.com/office/drawing/2014/main" id="{F6D74A6B-575D-348C-CFEC-26E6F71F4140}"/>
              </a:ext>
            </a:extLst>
          </p:cNvPr>
          <p:cNvSpPr>
            <a:spLocks noGrp="1"/>
          </p:cNvSpPr>
          <p:nvPr>
            <p:ph type="sldNum" sz="quarter" idx="2"/>
          </p:nvPr>
        </p:nvSpPr>
        <p:spPr/>
        <p:txBody>
          <a:bodyPr/>
          <a:lstStyle/>
          <a:p>
            <a:fld id="{86CB4B4D-7CA3-9044-876B-883B54F8677D}" type="slidenum">
              <a:rPr lang="en-US" altLang="zh-TW" smtClean="0"/>
              <a:t>50</a:t>
            </a:fld>
            <a:endParaRPr lang="zh-TW" altLang="en-US"/>
          </a:p>
        </p:txBody>
      </p:sp>
      <p:pic>
        <p:nvPicPr>
          <p:cNvPr id="4098" name="Picture 2">
            <a:extLst>
              <a:ext uri="{FF2B5EF4-FFF2-40B4-BE49-F238E27FC236}">
                <a16:creationId xmlns:a16="http://schemas.microsoft.com/office/drawing/2014/main" id="{9152FD31-F763-1F89-FDD4-7E36DD01E4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0760" y="6315675"/>
            <a:ext cx="9849981" cy="6715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616513"/>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9" name="Solution - LLM for Determine Action"/>
          <p:cNvSpPr txBox="1">
            <a:spLocks noGrp="1"/>
          </p:cNvSpPr>
          <p:nvPr>
            <p:ph type="title"/>
          </p:nvPr>
        </p:nvSpPr>
        <p:spPr>
          <a:prstGeom prst="rect">
            <a:avLst/>
          </a:prstGeom>
        </p:spPr>
        <p:txBody>
          <a:bodyPr/>
          <a:lstStyle/>
          <a:p>
            <a:r>
              <a:rPr dirty="0"/>
              <a:t>Solution </a:t>
            </a:r>
            <a:r>
              <a:rPr lang="en-US" dirty="0"/>
              <a:t>-</a:t>
            </a:r>
            <a:r>
              <a:rPr dirty="0"/>
              <a:t> </a:t>
            </a:r>
            <a:r>
              <a:rPr lang="en-US" altLang="zh-TW" dirty="0"/>
              <a:t>Strategist Design</a:t>
            </a:r>
            <a:endParaRPr dirty="0"/>
          </a:p>
        </p:txBody>
      </p:sp>
      <p:sp>
        <p:nvSpPr>
          <p:cNvPr id="240" name="Slide Subtitle"/>
          <p:cNvSpPr txBox="1">
            <a:spLocks noGrp="1"/>
          </p:cNvSpPr>
          <p:nvPr>
            <p:ph type="body" idx="4294967295"/>
          </p:nvPr>
        </p:nvSpPr>
        <p:spPr>
          <a:xfrm>
            <a:off x="1206500" y="2372962"/>
            <a:ext cx="21971000" cy="934780"/>
          </a:xfrm>
          <a:prstGeom prst="rect">
            <a:avLst/>
          </a:prstGeom>
        </p:spPr>
        <p:txBody>
          <a:bodyPr/>
          <a:lstStyle/>
          <a:p>
            <a:endParaRPr/>
          </a:p>
        </p:txBody>
      </p:sp>
      <p:sp>
        <p:nvSpPr>
          <p:cNvPr id="241" name="Using LLM to detect intention…"/>
          <p:cNvSpPr txBox="1">
            <a:spLocks noGrp="1"/>
          </p:cNvSpPr>
          <p:nvPr>
            <p:ph type="body" sz="half" idx="1"/>
          </p:nvPr>
        </p:nvSpPr>
        <p:spPr>
          <a:xfrm>
            <a:off x="1206500" y="4248504"/>
            <a:ext cx="10841824" cy="8256012"/>
          </a:xfrm>
          <a:prstGeom prst="rect">
            <a:avLst/>
          </a:prstGeom>
        </p:spPr>
        <p:txBody>
          <a:bodyPr/>
          <a:lstStyle/>
          <a:p>
            <a:pPr marL="609599" indent="-609599">
              <a:lnSpc>
                <a:spcPct val="110000"/>
              </a:lnSpc>
              <a:defRPr sz="4500"/>
            </a:pPr>
            <a:r>
              <a:rPr dirty="0"/>
              <a:t>Using LLM to detect intention</a:t>
            </a:r>
          </a:p>
          <a:p>
            <a:pPr lvl="1">
              <a:lnSpc>
                <a:spcPct val="110000"/>
              </a:lnSpc>
              <a:defRPr sz="4500"/>
            </a:pPr>
            <a:r>
              <a:rPr dirty="0">
                <a:latin typeface="Times New Roman" panose="02020603050405020304" pitchFamily="18" charset="0"/>
                <a:cs typeface="Times New Roman" panose="02020603050405020304" pitchFamily="18" charset="0"/>
              </a:rPr>
              <a:t>Command Context</a:t>
            </a:r>
          </a:p>
          <a:p>
            <a:pPr marL="609599" indent="-609599">
              <a:lnSpc>
                <a:spcPct val="110000"/>
              </a:lnSpc>
              <a:defRPr sz="4500"/>
            </a:pPr>
            <a:r>
              <a:rPr dirty="0"/>
              <a:t>Using LLM to determine engage action</a:t>
            </a:r>
          </a:p>
          <a:p>
            <a:pPr lvl="1">
              <a:lnSpc>
                <a:spcPct val="110000"/>
              </a:lnSpc>
              <a:defRPr sz="4500"/>
            </a:pPr>
            <a:r>
              <a:rPr dirty="0">
                <a:latin typeface="Times New Roman" panose="02020603050405020304" pitchFamily="18" charset="0"/>
                <a:cs typeface="Times New Roman" panose="02020603050405020304" pitchFamily="18" charset="0"/>
              </a:rPr>
              <a:t>Base on </a:t>
            </a:r>
            <a:r>
              <a:rPr dirty="0" err="1">
                <a:latin typeface="Times New Roman" panose="02020603050405020304" pitchFamily="18" charset="0"/>
                <a:cs typeface="Times New Roman" panose="02020603050405020304" pitchFamily="18" charset="0"/>
              </a:rPr>
              <a:t>Mitre</a:t>
            </a:r>
            <a:r>
              <a:rPr dirty="0">
                <a:latin typeface="Times New Roman" panose="02020603050405020304" pitchFamily="18" charset="0"/>
                <a:cs typeface="Times New Roman" panose="02020603050405020304" pitchFamily="18" charset="0"/>
              </a:rPr>
              <a:t> Engage activities</a:t>
            </a:r>
          </a:p>
          <a:p>
            <a:pPr lvl="1">
              <a:lnSpc>
                <a:spcPct val="110000"/>
              </a:lnSpc>
              <a:defRPr sz="4500"/>
            </a:pPr>
            <a:r>
              <a:rPr dirty="0">
                <a:latin typeface="Times New Roman" panose="02020603050405020304" pitchFamily="18" charset="0"/>
                <a:cs typeface="Times New Roman" panose="02020603050405020304" pitchFamily="18" charset="0"/>
              </a:rPr>
              <a:t>Dynamic and Infective</a:t>
            </a:r>
          </a:p>
        </p:txBody>
      </p:sp>
      <p:sp>
        <p:nvSpPr>
          <p:cNvPr id="2" name="投影片編號版面配置區 1">
            <a:extLst>
              <a:ext uri="{FF2B5EF4-FFF2-40B4-BE49-F238E27FC236}">
                <a16:creationId xmlns:a16="http://schemas.microsoft.com/office/drawing/2014/main" id="{6B33DF4C-9785-C588-BA7C-22811827789F}"/>
              </a:ext>
            </a:extLst>
          </p:cNvPr>
          <p:cNvSpPr>
            <a:spLocks noGrp="1"/>
          </p:cNvSpPr>
          <p:nvPr>
            <p:ph type="sldNum" sz="quarter" idx="2"/>
          </p:nvPr>
        </p:nvSpPr>
        <p:spPr/>
        <p:txBody>
          <a:bodyPr/>
          <a:lstStyle/>
          <a:p>
            <a:fld id="{86CB4B4D-7CA3-9044-876B-883B54F8677D}" type="slidenum">
              <a:rPr lang="en-US" altLang="zh-TW" smtClean="0"/>
              <a:t>51</a:t>
            </a:fld>
            <a:endParaRPr lang="zh-TW" altLang="en-US"/>
          </a:p>
        </p:txBody>
      </p:sp>
      <p:pic>
        <p:nvPicPr>
          <p:cNvPr id="2050" name="Picture 2">
            <a:extLst>
              <a:ext uri="{FF2B5EF4-FFF2-40B4-BE49-F238E27FC236}">
                <a16:creationId xmlns:a16="http://schemas.microsoft.com/office/drawing/2014/main" id="{A6CAE70C-9F68-E33F-CB31-3664B619F5C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48324" y="5881317"/>
            <a:ext cx="11516274" cy="49903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4" name="Solution - LLM Agent Design"/>
          <p:cNvSpPr txBox="1">
            <a:spLocks noGrp="1"/>
          </p:cNvSpPr>
          <p:nvPr>
            <p:ph type="title"/>
          </p:nvPr>
        </p:nvSpPr>
        <p:spPr>
          <a:prstGeom prst="rect">
            <a:avLst/>
          </a:prstGeom>
        </p:spPr>
        <p:txBody>
          <a:bodyPr/>
          <a:lstStyle/>
          <a:p>
            <a:r>
              <a:rPr dirty="0"/>
              <a:t>Solution - LLM Agent Design</a:t>
            </a:r>
          </a:p>
        </p:txBody>
      </p:sp>
      <p:sp>
        <p:nvSpPr>
          <p:cNvPr id="245" name="Dual-LLM Architecture…"/>
          <p:cNvSpPr txBox="1">
            <a:spLocks noGrp="1"/>
          </p:cNvSpPr>
          <p:nvPr>
            <p:ph type="body" idx="1"/>
          </p:nvPr>
        </p:nvSpPr>
        <p:spPr>
          <a:xfrm>
            <a:off x="1206500" y="3668825"/>
            <a:ext cx="21971000" cy="8256012"/>
          </a:xfrm>
          <a:prstGeom prst="rect">
            <a:avLst/>
          </a:prstGeom>
        </p:spPr>
        <p:txBody>
          <a:bodyPr/>
          <a:lstStyle/>
          <a:p>
            <a:r>
              <a:rPr dirty="0"/>
              <a:t>Dual-LLM Architecture</a:t>
            </a:r>
          </a:p>
          <a:p>
            <a:pPr lvl="1"/>
            <a:r>
              <a:rPr dirty="0">
                <a:latin typeface="Times New Roman" panose="02020603050405020304" pitchFamily="18" charset="0"/>
                <a:cs typeface="Times New Roman" panose="02020603050405020304" pitchFamily="18" charset="0"/>
              </a:rPr>
              <a:t>Action-to-Task Decomposition</a:t>
            </a:r>
          </a:p>
          <a:p>
            <a:pPr lvl="1"/>
            <a:r>
              <a:rPr dirty="0">
                <a:latin typeface="Times New Roman" panose="02020603050405020304" pitchFamily="18" charset="0"/>
                <a:cs typeface="Times New Roman" panose="02020603050405020304" pitchFamily="18" charset="0"/>
              </a:rPr>
              <a:t>Task-to-Script Generation</a:t>
            </a:r>
          </a:p>
          <a:p>
            <a:r>
              <a:rPr dirty="0"/>
              <a:t>RAG-based Script Templating</a:t>
            </a:r>
          </a:p>
          <a:p>
            <a:pPr lvl="1"/>
            <a:r>
              <a:rPr lang="en-US" altLang="zh-TW" dirty="0">
                <a:latin typeface="Times New Roman" panose="02020603050405020304" pitchFamily="18" charset="0"/>
                <a:cs typeface="Times New Roman" panose="02020603050405020304" pitchFamily="18" charset="0"/>
              </a:rPr>
              <a:t>Quality</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Improvement</a:t>
            </a:r>
          </a:p>
          <a:p>
            <a:pPr lvl="1"/>
            <a:r>
              <a:rPr dirty="0">
                <a:latin typeface="Times New Roman" panose="02020603050405020304" pitchFamily="18" charset="0"/>
                <a:cs typeface="Times New Roman" panose="02020603050405020304" pitchFamily="18" charset="0"/>
              </a:rPr>
              <a:t>Accuracy Enhancement</a:t>
            </a:r>
          </a:p>
        </p:txBody>
      </p:sp>
      <p:sp>
        <p:nvSpPr>
          <p:cNvPr id="2" name="投影片編號版面配置區 1">
            <a:extLst>
              <a:ext uri="{FF2B5EF4-FFF2-40B4-BE49-F238E27FC236}">
                <a16:creationId xmlns:a16="http://schemas.microsoft.com/office/drawing/2014/main" id="{D20F73E9-8B10-AEBF-D24C-CE922ACC3761}"/>
              </a:ext>
            </a:extLst>
          </p:cNvPr>
          <p:cNvSpPr>
            <a:spLocks noGrp="1"/>
          </p:cNvSpPr>
          <p:nvPr>
            <p:ph type="sldNum" sz="quarter" idx="2"/>
          </p:nvPr>
        </p:nvSpPr>
        <p:spPr/>
        <p:txBody>
          <a:bodyPr/>
          <a:lstStyle/>
          <a:p>
            <a:fld id="{86CB4B4D-7CA3-9044-876B-883B54F8677D}" type="slidenum">
              <a:rPr lang="en-US" altLang="zh-TW" smtClean="0"/>
              <a:t>52</a:t>
            </a:fld>
            <a:endParaRPr lang="zh-TW" altLang="en-US"/>
          </a:p>
        </p:txBody>
      </p:sp>
      <p:pic>
        <p:nvPicPr>
          <p:cNvPr id="5122" name="Picture 2">
            <a:extLst>
              <a:ext uri="{FF2B5EF4-FFF2-40B4-BE49-F238E27FC236}">
                <a16:creationId xmlns:a16="http://schemas.microsoft.com/office/drawing/2014/main" id="{B25ED23A-B3A4-A407-F110-1BBCDE521B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44110" y="4744914"/>
            <a:ext cx="13139890" cy="51918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9" name="Dataset Generation: A powerful LLM creates the task-to-script dataset…"/>
          <p:cNvSpPr txBox="1">
            <a:spLocks noGrp="1"/>
          </p:cNvSpPr>
          <p:nvPr>
            <p:ph type="body" idx="1"/>
          </p:nvPr>
        </p:nvSpPr>
        <p:spPr>
          <a:xfrm>
            <a:off x="1200251" y="3057657"/>
            <a:ext cx="21971000" cy="8256012"/>
          </a:xfrm>
          <a:prstGeom prst="rect">
            <a:avLst/>
          </a:prstGeom>
        </p:spPr>
        <p:txBody>
          <a:bodyPr/>
          <a:lstStyle/>
          <a:p>
            <a:pPr>
              <a:lnSpc>
                <a:spcPct val="120000"/>
              </a:lnSpc>
              <a:defRPr sz="4600"/>
            </a:pPr>
            <a:r>
              <a:rPr dirty="0"/>
              <a:t>Dataset Generation: A powerful LLM creates the task-to-script dataset</a:t>
            </a:r>
          </a:p>
          <a:p>
            <a:pPr>
              <a:lnSpc>
                <a:spcPct val="120000"/>
              </a:lnSpc>
              <a:defRPr sz="4600"/>
            </a:pPr>
            <a:r>
              <a:rPr dirty="0"/>
              <a:t>Supervised Fine-Tuning: A smaller LLM is then fine-tuned for script modification</a:t>
            </a:r>
          </a:p>
        </p:txBody>
      </p:sp>
      <p:sp>
        <p:nvSpPr>
          <p:cNvPr id="250" name="Solution - Knowledge Distillation"/>
          <p:cNvSpPr txBox="1">
            <a:spLocks noGrp="1"/>
          </p:cNvSpPr>
          <p:nvPr>
            <p:ph type="title"/>
          </p:nvPr>
        </p:nvSpPr>
        <p:spPr>
          <a:prstGeom prst="rect">
            <a:avLst/>
          </a:prstGeom>
        </p:spPr>
        <p:txBody>
          <a:bodyPr/>
          <a:lstStyle/>
          <a:p>
            <a:r>
              <a:rPr dirty="0"/>
              <a:t>Solution - Knowledge Distillation</a:t>
            </a:r>
          </a:p>
        </p:txBody>
      </p:sp>
      <p:sp>
        <p:nvSpPr>
          <p:cNvPr id="2" name="投影片編號版面配置區 1">
            <a:extLst>
              <a:ext uri="{FF2B5EF4-FFF2-40B4-BE49-F238E27FC236}">
                <a16:creationId xmlns:a16="http://schemas.microsoft.com/office/drawing/2014/main" id="{9201EE79-5FAF-FAB8-6F50-768A204662C0}"/>
              </a:ext>
            </a:extLst>
          </p:cNvPr>
          <p:cNvSpPr>
            <a:spLocks noGrp="1"/>
          </p:cNvSpPr>
          <p:nvPr>
            <p:ph type="sldNum" sz="quarter" idx="2"/>
          </p:nvPr>
        </p:nvSpPr>
        <p:spPr/>
        <p:txBody>
          <a:bodyPr/>
          <a:lstStyle/>
          <a:p>
            <a:fld id="{86CB4B4D-7CA3-9044-876B-883B54F8677D}" type="slidenum">
              <a:rPr lang="en-US" altLang="zh-TW" smtClean="0"/>
              <a:t>53</a:t>
            </a:fld>
            <a:endParaRPr lang="zh-TW" altLang="en-US"/>
          </a:p>
        </p:txBody>
      </p:sp>
      <p:pic>
        <p:nvPicPr>
          <p:cNvPr id="3082" name="Picture 10">
            <a:extLst>
              <a:ext uri="{FF2B5EF4-FFF2-40B4-BE49-F238E27FC236}">
                <a16:creationId xmlns:a16="http://schemas.microsoft.com/office/drawing/2014/main" id="{03CCBE4A-8752-216E-EBE0-479CBAE0003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65594" y="6496049"/>
            <a:ext cx="16840313" cy="5667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DC1200-2FB2-466A-27EF-3D5AFC4FBFFA}"/>
            </a:ext>
          </a:extLst>
        </p:cNvPr>
        <p:cNvGrpSpPr/>
        <p:nvPr/>
      </p:nvGrpSpPr>
      <p:grpSpPr>
        <a:xfrm>
          <a:off x="0" y="0"/>
          <a:ext cx="0" cy="0"/>
          <a:chOff x="0" y="0"/>
          <a:chExt cx="0" cy="0"/>
        </a:xfrm>
      </p:grpSpPr>
      <p:sp>
        <p:nvSpPr>
          <p:cNvPr id="202" name="Related Work">
            <a:extLst>
              <a:ext uri="{FF2B5EF4-FFF2-40B4-BE49-F238E27FC236}">
                <a16:creationId xmlns:a16="http://schemas.microsoft.com/office/drawing/2014/main" id="{9356425E-24BB-D241-0684-912DF5BC6A2F}"/>
              </a:ext>
            </a:extLst>
          </p:cNvPr>
          <p:cNvSpPr txBox="1">
            <a:spLocks noGrp="1"/>
          </p:cNvSpPr>
          <p:nvPr>
            <p:ph type="title"/>
          </p:nvPr>
        </p:nvSpPr>
        <p:spPr>
          <a:prstGeom prst="rect">
            <a:avLst/>
          </a:prstGeom>
        </p:spPr>
        <p:txBody>
          <a:bodyPr/>
          <a:lstStyle/>
          <a:p>
            <a:r>
              <a:rPr dirty="0"/>
              <a:t>Related Work</a:t>
            </a:r>
            <a:r>
              <a:rPr lang="zh-TW" altLang="en-US" dirty="0"/>
              <a:t> </a:t>
            </a:r>
            <a:r>
              <a:rPr lang="en-US" altLang="zh-TW" dirty="0"/>
              <a:t>on</a:t>
            </a:r>
            <a:r>
              <a:rPr lang="zh-TW" altLang="en-US" dirty="0"/>
              <a:t> </a:t>
            </a:r>
            <a:r>
              <a:rPr lang="en-US" altLang="zh-TW" dirty="0"/>
              <a:t>Adaptive</a:t>
            </a:r>
            <a:r>
              <a:rPr lang="zh-TW" altLang="en-US" dirty="0"/>
              <a:t> </a:t>
            </a:r>
            <a:r>
              <a:rPr lang="en-US" altLang="zh-TW" dirty="0"/>
              <a:t>Honeypot / Honeynet</a:t>
            </a:r>
            <a:endParaRPr dirty="0"/>
          </a:p>
        </p:txBody>
      </p:sp>
      <p:graphicFrame>
        <p:nvGraphicFramePr>
          <p:cNvPr id="204" name="表格 1">
            <a:extLst>
              <a:ext uri="{FF2B5EF4-FFF2-40B4-BE49-F238E27FC236}">
                <a16:creationId xmlns:a16="http://schemas.microsoft.com/office/drawing/2014/main" id="{2A9A08E6-05C9-0256-0BCE-B586C38719B1}"/>
              </a:ext>
            </a:extLst>
          </p:cNvPr>
          <p:cNvGraphicFramePr/>
          <p:nvPr/>
        </p:nvGraphicFramePr>
        <p:xfrm>
          <a:off x="952852" y="3498414"/>
          <a:ext cx="22478292" cy="7680410"/>
        </p:xfrm>
        <a:graphic>
          <a:graphicData uri="http://schemas.openxmlformats.org/drawingml/2006/table">
            <a:tbl>
              <a:tblPr>
                <a:tableStyleId>{4C3C2611-4C71-4FC5-86AE-919BDF0F9419}</a:tableStyleId>
              </a:tblPr>
              <a:tblGrid>
                <a:gridCol w="1656000">
                  <a:extLst>
                    <a:ext uri="{9D8B030D-6E8A-4147-A177-3AD203B41FA5}">
                      <a16:colId xmlns:a16="http://schemas.microsoft.com/office/drawing/2014/main" val="20000"/>
                    </a:ext>
                  </a:extLst>
                </a:gridCol>
                <a:gridCol w="2390997">
                  <a:extLst>
                    <a:ext uri="{9D8B030D-6E8A-4147-A177-3AD203B41FA5}">
                      <a16:colId xmlns:a16="http://schemas.microsoft.com/office/drawing/2014/main" val="20001"/>
                    </a:ext>
                  </a:extLst>
                </a:gridCol>
                <a:gridCol w="1638000">
                  <a:extLst>
                    <a:ext uri="{9D8B030D-6E8A-4147-A177-3AD203B41FA5}">
                      <a16:colId xmlns:a16="http://schemas.microsoft.com/office/drawing/2014/main" val="20005"/>
                    </a:ext>
                  </a:extLst>
                </a:gridCol>
                <a:gridCol w="1638000">
                  <a:extLst>
                    <a:ext uri="{9D8B030D-6E8A-4147-A177-3AD203B41FA5}">
                      <a16:colId xmlns:a16="http://schemas.microsoft.com/office/drawing/2014/main" val="20006"/>
                    </a:ext>
                  </a:extLst>
                </a:gridCol>
                <a:gridCol w="1638000">
                  <a:extLst>
                    <a:ext uri="{9D8B030D-6E8A-4147-A177-3AD203B41FA5}">
                      <a16:colId xmlns:a16="http://schemas.microsoft.com/office/drawing/2014/main" val="2982701625"/>
                    </a:ext>
                  </a:extLst>
                </a:gridCol>
                <a:gridCol w="1638000">
                  <a:extLst>
                    <a:ext uri="{9D8B030D-6E8A-4147-A177-3AD203B41FA5}">
                      <a16:colId xmlns:a16="http://schemas.microsoft.com/office/drawing/2014/main" val="2442804741"/>
                    </a:ext>
                  </a:extLst>
                </a:gridCol>
                <a:gridCol w="1638000">
                  <a:extLst>
                    <a:ext uri="{9D8B030D-6E8A-4147-A177-3AD203B41FA5}">
                      <a16:colId xmlns:a16="http://schemas.microsoft.com/office/drawing/2014/main" val="900585408"/>
                    </a:ext>
                  </a:extLst>
                </a:gridCol>
                <a:gridCol w="2705100">
                  <a:extLst>
                    <a:ext uri="{9D8B030D-6E8A-4147-A177-3AD203B41FA5}">
                      <a16:colId xmlns:a16="http://schemas.microsoft.com/office/drawing/2014/main" val="580720853"/>
                    </a:ext>
                  </a:extLst>
                </a:gridCol>
                <a:gridCol w="3733800">
                  <a:extLst>
                    <a:ext uri="{9D8B030D-6E8A-4147-A177-3AD203B41FA5}">
                      <a16:colId xmlns:a16="http://schemas.microsoft.com/office/drawing/2014/main" val="274005900"/>
                    </a:ext>
                  </a:extLst>
                </a:gridCol>
                <a:gridCol w="3802395">
                  <a:extLst>
                    <a:ext uri="{9D8B030D-6E8A-4147-A177-3AD203B41FA5}">
                      <a16:colId xmlns:a16="http://schemas.microsoft.com/office/drawing/2014/main" val="1045891734"/>
                    </a:ext>
                  </a:extLst>
                </a:gridCol>
              </a:tblGrid>
              <a:tr h="693302">
                <a:tc rowSpan="2">
                  <a:txBody>
                    <a:bodyPr/>
                    <a:lstStyle/>
                    <a:p>
                      <a:pPr defTabSz="914400"/>
                      <a:r>
                        <a:rPr sz="2400" b="1" i="0" dirty="0">
                          <a:latin typeface="Times New Roman" panose="02020603050405020304" pitchFamily="18" charset="0"/>
                          <a:cs typeface="Times New Roman" panose="02020603050405020304" pitchFamily="18" charset="0"/>
                        </a:rPr>
                        <a:t>Category</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Paper</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Real</a:t>
                      </a:r>
                      <a:endParaRPr lang="en-US" sz="2400" b="1" i="0" dirty="0">
                        <a:latin typeface="Times New Roman" panose="02020603050405020304" pitchFamily="18" charset="0"/>
                        <a:cs typeface="Times New Roman" panose="02020603050405020304" pitchFamily="18" charset="0"/>
                      </a:endParaRPr>
                    </a:p>
                    <a:p>
                      <a:pPr defTabSz="914400"/>
                      <a:r>
                        <a:rPr sz="2400" b="1" i="0" dirty="0">
                          <a:latin typeface="Times New Roman" panose="02020603050405020304" pitchFamily="18" charset="0"/>
                          <a:cs typeface="Times New Roman" panose="02020603050405020304" pitchFamily="18" charset="0"/>
                        </a:rPr>
                        <a:t>System</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Active
Directory</a:t>
                      </a:r>
                    </a:p>
                  </a:txBody>
                  <a:tcPr marL="50800" marR="50800" marT="50800" marB="50800" anchor="ctr" horzOverflow="overflow"/>
                </a:tc>
                <a:tc gridSpan="3">
                  <a:txBody>
                    <a:bodyPr/>
                    <a:lstStyle/>
                    <a:p>
                      <a:pPr defTabSz="914400"/>
                      <a:r>
                        <a:rPr lang="en-US" sz="2400" b="1" i="0" dirty="0">
                          <a:latin typeface="Times New Roman" panose="02020603050405020304" pitchFamily="18" charset="0"/>
                          <a:cs typeface="Times New Roman" panose="02020603050405020304" pitchFamily="18" charset="0"/>
                        </a:rPr>
                        <a:t>Objective</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hMerge="1">
                  <a:txBody>
                    <a:bodyPr/>
                    <a:lstStyle/>
                    <a:p>
                      <a:pPr defTabSz="914400"/>
                      <a:endParaRPr sz="2400" b="1" dirty="0"/>
                    </a:p>
                  </a:txBody>
                  <a:tcPr marL="50800" marR="50800" marT="50800" marB="50800" anchor="ctr" horzOverflow="overflow"/>
                </a:tc>
                <a:tc hMerge="1">
                  <a:txBody>
                    <a:bodyPr/>
                    <a:lstStyle/>
                    <a:p>
                      <a:pPr defTabSz="914400"/>
                      <a:endParaRPr sz="2400" b="1" dirty="0"/>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Strategist</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Action</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Design</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rowSpan="2">
                  <a:txBody>
                    <a:bodyPr/>
                    <a:lstStyle/>
                    <a:p>
                      <a:pPr defTabSz="914400"/>
                      <a:r>
                        <a:rPr lang="en-US" altLang="zh-TW" sz="2400" b="1" i="0" dirty="0">
                          <a:latin typeface="Times New Roman" panose="02020603050405020304" pitchFamily="18" charset="0"/>
                          <a:cs typeface="Times New Roman" panose="02020603050405020304" pitchFamily="18" charset="0"/>
                        </a:rPr>
                        <a:t>Dynamic Action</a:t>
                      </a:r>
                    </a:p>
                    <a:p>
                      <a:pPr defTabSz="914400"/>
                      <a:r>
                        <a:rPr lang="en-US" sz="2400" b="1" i="0" dirty="0">
                          <a:latin typeface="Times New Roman" panose="02020603050405020304" pitchFamily="18" charset="0"/>
                          <a:cs typeface="Times New Roman" panose="02020603050405020304" pitchFamily="18" charset="0"/>
                        </a:rPr>
                        <a:t>Implementation</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0000"/>
                  </a:ext>
                </a:extLst>
              </a:tr>
              <a:tr h="693302">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defTabSz="914400"/>
                      <a:r>
                        <a:rPr lang="en-US" sz="2400" b="1" i="0" dirty="0">
                          <a:latin typeface="Times New Roman" panose="02020603050405020304" pitchFamily="18" charset="0"/>
                          <a:cs typeface="Times New Roman" panose="02020603050405020304" pitchFamily="18" charset="0"/>
                        </a:rPr>
                        <a:t>Interaction</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Deception</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Defense</a:t>
                      </a:r>
                    </a:p>
                  </a:txBody>
                  <a:tcPr marL="50800" marR="50800" marT="50800" marB="50800" anchor="ctr" horzOverflow="overflow"/>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38206972"/>
                  </a:ext>
                </a:extLst>
              </a:tr>
              <a:tr h="1051198">
                <a:tc rowSpan="4">
                  <a:txBody>
                    <a:bodyPr/>
                    <a:lstStyle/>
                    <a:p>
                      <a:pPr defTabSz="914400"/>
                      <a:r>
                        <a:rPr sz="2400" b="0" i="0" dirty="0">
                          <a:latin typeface="Times New Roman" panose="02020603050405020304" pitchFamily="18" charset="0"/>
                          <a:cs typeface="Times New Roman" panose="02020603050405020304" pitchFamily="18" charset="0"/>
                        </a:rPr>
                        <a:t>Honeypot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QRASSH</a:t>
                      </a:r>
                      <a:r>
                        <a:rPr lang="en-US" sz="2400" b="0" i="0" dirty="0">
                          <a:latin typeface="Times New Roman" panose="02020603050405020304" pitchFamily="18" charset="0"/>
                          <a:cs typeface="Times New Roman" panose="02020603050405020304" pitchFamily="18" charset="0"/>
                        </a:rPr>
                        <a:t> [8]</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ABDSI</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10002"/>
                  </a:ext>
                </a:extLst>
              </a:tr>
              <a:tr h="1045578">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HoneyBog</a:t>
                      </a:r>
                      <a:r>
                        <a:rPr lang="en-US" sz="2400" b="0" i="0" dirty="0">
                          <a:latin typeface="Times New Roman" panose="02020603050405020304" pitchFamily="18" charset="0"/>
                          <a:cs typeface="Times New Roman" panose="02020603050405020304" pitchFamily="18" charset="0"/>
                        </a:rPr>
                        <a:t> [9]</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Rule-based </a:t>
                      </a: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RFS</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10003"/>
                  </a:ext>
                </a:extLst>
              </a:tr>
              <a:tr h="1045578">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HoneyGPT</a:t>
                      </a:r>
                      <a:r>
                        <a:rPr lang="en-US" sz="2400" b="0" i="0" dirty="0">
                          <a:latin typeface="Times New Roman" panose="02020603050405020304" pitchFamily="18" charset="0"/>
                          <a:cs typeface="Times New Roman" panose="02020603050405020304" pitchFamily="18" charset="0"/>
                        </a:rPr>
                        <a:t> [10]</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S</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 </a:t>
                      </a:r>
                    </a:p>
                    <a:p>
                      <a:pPr defTabSz="914400"/>
                      <a:r>
                        <a:rPr lang="en-US" altLang="zh-TW" sz="2400" b="0" i="0" dirty="0">
                          <a:latin typeface="Times New Roman" panose="02020603050405020304" pitchFamily="18" charset="0"/>
                          <a:cs typeface="Times New Roman" panose="02020603050405020304" pitchFamily="18" charset="0"/>
                        </a:rPr>
                        <a:t>(LLM-generated Reply)</a:t>
                      </a:r>
                    </a:p>
                  </a:txBody>
                  <a:tcPr marL="50800" marR="50800" marT="50800" marB="50800" anchor="ctr" horzOverflow="overflow"/>
                </a:tc>
                <a:extLst>
                  <a:ext uri="{0D108BD9-81ED-4DB2-BD59-A6C34878D82A}">
                    <a16:rowId xmlns:a16="http://schemas.microsoft.com/office/drawing/2014/main" val="10004"/>
                  </a:ext>
                </a:extLst>
              </a:tr>
              <a:tr h="1050177">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Senior</a:t>
                      </a:r>
                      <a:r>
                        <a:rPr lang="en-US" sz="2400" b="0" i="0" dirty="0">
                          <a:latin typeface="Times New Roman" panose="02020603050405020304" pitchFamily="18" charset="0"/>
                          <a:cs typeface="Times New Roman" panose="02020603050405020304" pitchFamily="18" charset="0"/>
                        </a:rPr>
                        <a:t> [11]</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defRPr sz="3200"/>
                      </a:pPr>
                      <a:r>
                        <a:rPr sz="2400" b="0" i="1" dirty="0">
                          <a:latin typeface="Times New Roman" panose="02020603050405020304" pitchFamily="18" charset="0"/>
                          <a:cs typeface="Times New Roman" panose="02020603050405020304" pitchFamily="18" charset="0"/>
                        </a:rPr>
                        <a:t>ABSG</a:t>
                      </a:r>
                      <a:r>
                        <a:rPr sz="2400" b="0" i="1" baseline="31999" dirty="0">
                          <a:latin typeface="Times New Roman" panose="02020603050405020304" pitchFamily="18" charset="0"/>
                          <a:cs typeface="Times New Roman" panose="02020603050405020304" pitchFamily="18" charset="0"/>
                        </a:rPr>
                        <a:t>U</a:t>
                      </a:r>
                      <a:r>
                        <a:rPr sz="2400" b="0" i="1" dirty="0">
                          <a:latin typeface="Times New Roman" panose="02020603050405020304" pitchFamily="18" charset="0"/>
                          <a:cs typeface="Times New Roman" panose="02020603050405020304" pitchFamily="18" charset="0"/>
                        </a:rPr>
                        <a:t>G</a:t>
                      </a:r>
                      <a:r>
                        <a:rPr sz="2400" b="0" i="1" baseline="31999" dirty="0">
                          <a:latin typeface="Times New Roman" panose="02020603050405020304" pitchFamily="18" charset="0"/>
                          <a:cs typeface="Times New Roman" panose="02020603050405020304" pitchFamily="18" charset="0"/>
                        </a:rPr>
                        <a:t>F</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10005"/>
                  </a:ext>
                </a:extLst>
              </a:tr>
              <a:tr h="1054171">
                <a:tc rowSpan="2">
                  <a:txBody>
                    <a:bodyPr/>
                    <a:lstStyle/>
                    <a:p>
                      <a:pPr defTabSz="914400"/>
                      <a:r>
                        <a:rPr sz="24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Mirage</a:t>
                      </a:r>
                      <a:r>
                        <a:rPr lang="en-US" sz="2400" b="0" i="0" dirty="0">
                          <a:latin typeface="Times New Roman" panose="02020603050405020304" pitchFamily="18" charset="0"/>
                          <a:cs typeface="Times New Roman" panose="02020603050405020304" pitchFamily="18" charset="0"/>
                        </a:rPr>
                        <a:t> [12]</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tc>
                <a:tc>
                  <a:txBody>
                    <a:bodyPr/>
                    <a:lstStyle/>
                    <a:p>
                      <a:pPr defTabSz="914400">
                        <a:defRPr sz="3200"/>
                      </a:pPr>
                      <a:r>
                        <a:rPr sz="2400" b="0" i="1" dirty="0">
                          <a:latin typeface="Times New Roman" panose="02020603050405020304" pitchFamily="18" charset="0"/>
                          <a:cs typeface="Times New Roman" panose="02020603050405020304" pitchFamily="18" charset="0"/>
                        </a:rPr>
                        <a:t>M</a:t>
                      </a:r>
                      <a:r>
                        <a:rPr sz="2400" b="0" i="1" baseline="31999" dirty="0">
                          <a:latin typeface="Times New Roman" panose="02020603050405020304" pitchFamily="18" charset="0"/>
                          <a:cs typeface="Times New Roman" panose="02020603050405020304" pitchFamily="18" charset="0"/>
                        </a:rPr>
                        <a:t>F</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10006"/>
                  </a:ext>
                </a:extLst>
              </a:tr>
              <a:tr h="1047104">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Ours</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MITRE Engage–guided scripts (stored in RAG)</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 </a:t>
                      </a:r>
                    </a:p>
                    <a:p>
                      <a:pPr defTabSz="914400"/>
                      <a:r>
                        <a:rPr lang="en-US" altLang="zh-TW" sz="2400" b="0" i="0" dirty="0">
                          <a:latin typeface="Times New Roman" panose="02020603050405020304" pitchFamily="18" charset="0"/>
                          <a:cs typeface="Times New Roman" panose="02020603050405020304" pitchFamily="18" charset="0"/>
                        </a:rPr>
                        <a:t>(LLM-modified Scripts)</a:t>
                      </a:r>
                    </a:p>
                  </a:txBody>
                  <a:tcPr marL="50800" marR="50800" marT="50800" marB="50800" anchor="ctr" horzOverflow="overflow"/>
                </a:tc>
                <a:extLst>
                  <a:ext uri="{0D108BD9-81ED-4DB2-BD59-A6C34878D82A}">
                    <a16:rowId xmlns:a16="http://schemas.microsoft.com/office/drawing/2014/main" val="10007"/>
                  </a:ext>
                </a:extLst>
              </a:tr>
            </a:tbl>
          </a:graphicData>
        </a:graphic>
      </p:graphicFrame>
      <p:sp>
        <p:nvSpPr>
          <p:cNvPr id="205" name="A=Allow, B=Block, D=Delay, S=Substitute(Fake), I=Insult, R=Redirect, F=File Synchronize, GU=Generate user, GF=Generate File, MF=Modify File System">
            <a:extLst>
              <a:ext uri="{FF2B5EF4-FFF2-40B4-BE49-F238E27FC236}">
                <a16:creationId xmlns:a16="http://schemas.microsoft.com/office/drawing/2014/main" id="{EB4F60BD-C9ED-E2CB-A246-3AC7C18E6088}"/>
              </a:ext>
            </a:extLst>
          </p:cNvPr>
          <p:cNvSpPr txBox="1"/>
          <p:nvPr/>
        </p:nvSpPr>
        <p:spPr>
          <a:xfrm>
            <a:off x="1375091" y="12164576"/>
            <a:ext cx="2163381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r>
              <a:rPr sz="2400" i="1" dirty="0">
                <a:latin typeface="Times New Roman" panose="02020603050405020304" pitchFamily="18" charset="0"/>
                <a:cs typeface="Times New Roman" panose="02020603050405020304" pitchFamily="18" charset="0"/>
              </a:rPr>
              <a:t>A</a:t>
            </a:r>
            <a:r>
              <a:rPr sz="2400" dirty="0">
                <a:latin typeface="Times New Roman" panose="02020603050405020304" pitchFamily="18" charset="0"/>
                <a:cs typeface="Times New Roman" panose="02020603050405020304" pitchFamily="18" charset="0"/>
              </a:rPr>
              <a:t>=Allow, </a:t>
            </a:r>
            <a:r>
              <a:rPr sz="2400" i="1" dirty="0">
                <a:latin typeface="Times New Roman" panose="02020603050405020304" pitchFamily="18" charset="0"/>
                <a:cs typeface="Times New Roman" panose="02020603050405020304" pitchFamily="18" charset="0"/>
              </a:rPr>
              <a:t>B</a:t>
            </a:r>
            <a:r>
              <a:rPr sz="2400" dirty="0">
                <a:latin typeface="Times New Roman" panose="02020603050405020304" pitchFamily="18" charset="0"/>
                <a:cs typeface="Times New Roman" panose="02020603050405020304" pitchFamily="18" charset="0"/>
              </a:rPr>
              <a:t>=Block, </a:t>
            </a:r>
            <a:r>
              <a:rPr sz="2400" i="1" dirty="0">
                <a:latin typeface="Times New Roman" panose="02020603050405020304" pitchFamily="18" charset="0"/>
                <a:cs typeface="Times New Roman" panose="02020603050405020304" pitchFamily="18" charset="0"/>
              </a:rPr>
              <a:t>D</a:t>
            </a:r>
            <a:r>
              <a:rPr sz="2400" dirty="0">
                <a:latin typeface="Times New Roman" panose="02020603050405020304" pitchFamily="18" charset="0"/>
                <a:cs typeface="Times New Roman" panose="02020603050405020304" pitchFamily="18" charset="0"/>
              </a:rPr>
              <a:t>=Delay, </a:t>
            </a:r>
            <a:r>
              <a:rPr sz="2400" i="1" dirty="0">
                <a:latin typeface="Times New Roman" panose="02020603050405020304" pitchFamily="18" charset="0"/>
                <a:cs typeface="Times New Roman" panose="02020603050405020304" pitchFamily="18" charset="0"/>
              </a:rPr>
              <a:t>S</a:t>
            </a:r>
            <a:r>
              <a:rPr sz="2400" dirty="0">
                <a:latin typeface="Times New Roman" panose="02020603050405020304" pitchFamily="18" charset="0"/>
                <a:cs typeface="Times New Roman" panose="02020603050405020304" pitchFamily="18" charset="0"/>
              </a:rPr>
              <a:t>=Substitute(Fake), </a:t>
            </a:r>
            <a:r>
              <a:rPr sz="2400" i="1" dirty="0">
                <a:latin typeface="Times New Roman" panose="02020603050405020304" pitchFamily="18" charset="0"/>
                <a:cs typeface="Times New Roman" panose="02020603050405020304" pitchFamily="18" charset="0"/>
              </a:rPr>
              <a:t>I</a:t>
            </a:r>
            <a:r>
              <a:rPr sz="2400" dirty="0">
                <a:latin typeface="Times New Roman" panose="02020603050405020304" pitchFamily="18" charset="0"/>
                <a:cs typeface="Times New Roman" panose="02020603050405020304" pitchFamily="18" charset="0"/>
              </a:rPr>
              <a:t>=Insult, </a:t>
            </a:r>
            <a:r>
              <a:rPr sz="2400" i="1" dirty="0">
                <a:latin typeface="Times New Roman" panose="02020603050405020304" pitchFamily="18" charset="0"/>
                <a:cs typeface="Times New Roman" panose="02020603050405020304" pitchFamily="18" charset="0"/>
              </a:rPr>
              <a:t>R</a:t>
            </a:r>
            <a:r>
              <a:rPr sz="2400" dirty="0">
                <a:latin typeface="Times New Roman" panose="02020603050405020304" pitchFamily="18" charset="0"/>
                <a:cs typeface="Times New Roman" panose="02020603050405020304" pitchFamily="18" charset="0"/>
              </a:rPr>
              <a:t>=Redirect, </a:t>
            </a:r>
            <a:r>
              <a:rPr sz="2400" i="1"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=File Synchronize, </a:t>
            </a:r>
            <a:r>
              <a:rPr sz="2400" i="1" dirty="0">
                <a:latin typeface="Times New Roman" panose="02020603050405020304" pitchFamily="18" charset="0"/>
                <a:cs typeface="Times New Roman" panose="02020603050405020304" pitchFamily="18" charset="0"/>
              </a:rPr>
              <a:t>G</a:t>
            </a:r>
            <a:r>
              <a:rPr sz="2400" i="1" baseline="31999" dirty="0">
                <a:latin typeface="Times New Roman" panose="02020603050405020304" pitchFamily="18" charset="0"/>
                <a:cs typeface="Times New Roman" panose="02020603050405020304" pitchFamily="18" charset="0"/>
              </a:rPr>
              <a:t>U</a:t>
            </a:r>
            <a:r>
              <a:rPr sz="2400" dirty="0">
                <a:latin typeface="Times New Roman" panose="02020603050405020304" pitchFamily="18" charset="0"/>
                <a:cs typeface="Times New Roman" panose="02020603050405020304" pitchFamily="18" charset="0"/>
              </a:rPr>
              <a:t>=Generate user, </a:t>
            </a:r>
            <a:r>
              <a:rPr sz="2400" i="1" dirty="0">
                <a:latin typeface="Times New Roman" panose="02020603050405020304" pitchFamily="18" charset="0"/>
                <a:cs typeface="Times New Roman" panose="02020603050405020304" pitchFamily="18" charset="0"/>
              </a:rPr>
              <a:t>G</a:t>
            </a:r>
            <a:r>
              <a:rPr sz="2400" i="1" baseline="31999"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=Generate File, </a:t>
            </a:r>
            <a:r>
              <a:rPr sz="2400" i="1" dirty="0">
                <a:latin typeface="Times New Roman" panose="02020603050405020304" pitchFamily="18" charset="0"/>
                <a:cs typeface="Times New Roman" panose="02020603050405020304" pitchFamily="18" charset="0"/>
              </a:rPr>
              <a:t>M</a:t>
            </a:r>
            <a:r>
              <a:rPr sz="2400" i="1" baseline="31999"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=Modify File System</a:t>
            </a:r>
          </a:p>
        </p:txBody>
      </p:sp>
      <p:sp>
        <p:nvSpPr>
          <p:cNvPr id="2" name="投影片編號版面配置區 1">
            <a:extLst>
              <a:ext uri="{FF2B5EF4-FFF2-40B4-BE49-F238E27FC236}">
                <a16:creationId xmlns:a16="http://schemas.microsoft.com/office/drawing/2014/main" id="{5FA0502C-0945-9167-5F1E-7D79E093A381}"/>
              </a:ext>
            </a:extLst>
          </p:cNvPr>
          <p:cNvSpPr>
            <a:spLocks noGrp="1"/>
          </p:cNvSpPr>
          <p:nvPr>
            <p:ph type="sldNum" sz="quarter" idx="2"/>
          </p:nvPr>
        </p:nvSpPr>
        <p:spPr/>
        <p:txBody>
          <a:bodyPr/>
          <a:lstStyle/>
          <a:p>
            <a:fld id="{86CB4B4D-7CA3-9044-876B-883B54F8677D}" type="slidenum">
              <a:rPr lang="en-US" altLang="zh-TW" smtClean="0"/>
              <a:t>54</a:t>
            </a:fld>
            <a:endParaRPr lang="zh-TW" altLang="en-US"/>
          </a:p>
        </p:txBody>
      </p:sp>
    </p:spTree>
    <p:extLst>
      <p:ext uri="{BB962C8B-B14F-4D97-AF65-F5344CB8AC3E}">
        <p14:creationId xmlns:p14="http://schemas.microsoft.com/office/powerpoint/2010/main" val="2060135600"/>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normAutofit/>
          </a:bodyPr>
          <a:lstStyle/>
          <a:p>
            <a:r>
              <a:rPr lang="en-US" dirty="0"/>
              <a:t>Solution - Supervised Fine-Tuning</a:t>
            </a:r>
            <a:endParaRPr dirty="0"/>
          </a:p>
        </p:txBody>
      </p:sp>
      <p:sp>
        <p:nvSpPr>
          <p:cNvPr id="2" name="Generate a synthetic dataset using a &quot;teacher&quot; LLM to create scripts, validated via execution in a closed-loop sandbox.…">
            <a:extLst>
              <a:ext uri="{FF2B5EF4-FFF2-40B4-BE49-F238E27FC236}">
                <a16:creationId xmlns:a16="http://schemas.microsoft.com/office/drawing/2014/main" id="{D81C44B6-B95A-2A03-AD64-AE9CF18CD93E}"/>
              </a:ext>
            </a:extLst>
          </p:cNvPr>
          <p:cNvSpPr txBox="1">
            <a:spLocks/>
          </p:cNvSpPr>
          <p:nvPr/>
        </p:nvSpPr>
        <p:spPr>
          <a:xfrm>
            <a:off x="1200251" y="3219971"/>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sz="4000" dirty="0">
                <a:latin typeface="Times New Roman" panose="02020603050405020304" pitchFamily="18" charset="0"/>
                <a:cs typeface="Times New Roman" panose="02020603050405020304" pitchFamily="18" charset="0"/>
              </a:rPr>
              <a:t>Fine-tune smaller LLM with teacher-generated dataset</a:t>
            </a:r>
          </a:p>
          <a:p>
            <a:pPr hangingPunct="1"/>
            <a:r>
              <a:rPr lang="en-US" sz="4000" dirty="0">
                <a:latin typeface="Times New Roman" panose="02020603050405020304" pitchFamily="18" charset="0"/>
                <a:cs typeface="Times New Roman" panose="02020603050405020304" pitchFamily="18" charset="0"/>
              </a:rPr>
              <a:t>Achieve faster inference with reliable accuracy</a:t>
            </a:r>
          </a:p>
          <a:p>
            <a:pPr hangingPunct="1"/>
            <a:endParaRPr lang="en-US" sz="4000" dirty="0"/>
          </a:p>
        </p:txBody>
      </p:sp>
      <p:pic>
        <p:nvPicPr>
          <p:cNvPr id="9220" name="Picture 4">
            <a:extLst>
              <a:ext uri="{FF2B5EF4-FFF2-40B4-BE49-F238E27FC236}">
                <a16:creationId xmlns:a16="http://schemas.microsoft.com/office/drawing/2014/main" id="{47F7ECF2-2963-6AF3-500D-662CD0CD4D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9895" y="5419747"/>
            <a:ext cx="11871712" cy="7986425"/>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D2CB5A7F-BF09-A657-A69E-8C73975A9B82}"/>
              </a:ext>
            </a:extLst>
          </p:cNvPr>
          <p:cNvSpPr>
            <a:spLocks noGrp="1"/>
          </p:cNvSpPr>
          <p:nvPr>
            <p:ph type="sldNum" sz="quarter" idx="2"/>
          </p:nvPr>
        </p:nvSpPr>
        <p:spPr/>
        <p:txBody>
          <a:bodyPr/>
          <a:lstStyle/>
          <a:p>
            <a:fld id="{86CB4B4D-7CA3-9044-876B-883B54F8677D}" type="slidenum">
              <a:rPr lang="en-US" altLang="zh-TW" smtClean="0"/>
              <a:t>55</a:t>
            </a:fld>
            <a:endParaRPr lang="zh-TW" altLang="en-US"/>
          </a:p>
        </p:txBody>
      </p:sp>
    </p:spTree>
    <p:extLst>
      <p:ext uri="{BB962C8B-B14F-4D97-AF65-F5344CB8AC3E}">
        <p14:creationId xmlns:p14="http://schemas.microsoft.com/office/powerpoint/2010/main" val="3832421621"/>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7" name="System Overview"/>
          <p:cNvSpPr txBox="1">
            <a:spLocks noGrp="1"/>
          </p:cNvSpPr>
          <p:nvPr>
            <p:ph type="title"/>
          </p:nvPr>
        </p:nvSpPr>
        <p:spPr>
          <a:prstGeom prst="rect">
            <a:avLst/>
          </a:prstGeom>
        </p:spPr>
        <p:txBody>
          <a:bodyPr/>
          <a:lstStyle/>
          <a:p>
            <a:r>
              <a:rPr dirty="0"/>
              <a:t>System Overview</a:t>
            </a:r>
          </a:p>
        </p:txBody>
      </p:sp>
      <p:sp>
        <p:nvSpPr>
          <p:cNvPr id="268" name="Slide Subtitle"/>
          <p:cNvSpPr txBox="1">
            <a:spLocks noGrp="1"/>
          </p:cNvSpPr>
          <p:nvPr>
            <p:ph type="body" idx="4294967295"/>
          </p:nvPr>
        </p:nvSpPr>
        <p:spPr>
          <a:xfrm>
            <a:off x="1206500" y="2372962"/>
            <a:ext cx="21971000" cy="934780"/>
          </a:xfrm>
          <a:prstGeom prst="rect">
            <a:avLst/>
          </a:prstGeom>
        </p:spPr>
        <p:txBody>
          <a:bodyPr/>
          <a:lstStyle/>
          <a:p>
            <a:endParaRPr/>
          </a:p>
        </p:txBody>
      </p:sp>
      <p:pic>
        <p:nvPicPr>
          <p:cNvPr id="2" name="Picture 2">
            <a:extLst>
              <a:ext uri="{FF2B5EF4-FFF2-40B4-BE49-F238E27FC236}">
                <a16:creationId xmlns:a16="http://schemas.microsoft.com/office/drawing/2014/main" id="{3B1E73AB-F87B-558F-92A0-5451C1609E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405" y="3578225"/>
            <a:ext cx="19893190" cy="8707695"/>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292D70EB-E3FC-1F2E-BB16-54A2DD371356}"/>
              </a:ext>
            </a:extLst>
          </p:cNvPr>
          <p:cNvSpPr>
            <a:spLocks noGrp="1"/>
          </p:cNvSpPr>
          <p:nvPr>
            <p:ph type="sldNum" sz="quarter" idx="2"/>
          </p:nvPr>
        </p:nvSpPr>
        <p:spPr/>
        <p:txBody>
          <a:bodyPr/>
          <a:lstStyle/>
          <a:p>
            <a:fld id="{86CB4B4D-7CA3-9044-876B-883B54F8677D}" type="slidenum">
              <a:rPr lang="en-US" altLang="zh-TW" smtClean="0"/>
              <a:t>56</a:t>
            </a:fld>
            <a:endParaRPr lang="zh-TW" altLang="en-US"/>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2491"/>
            <a:ext cx="21971000" cy="10893509"/>
          </a:xfrm>
          <a:prstGeom prst="rect">
            <a:avLst/>
          </a:prstGeom>
        </p:spPr>
        <p:txBody>
          <a:bodyPr>
            <a:normAutofit lnSpcReduction="10000"/>
          </a:bodyPr>
          <a:lstStyle/>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Catch Me if You Can: Effective Honeypot Placement in Dynamic AD Attack Graphs</a:t>
            </a:r>
          </a:p>
          <a:p>
            <a:pPr marL="514350" indent="-514350">
              <a:spcBef>
                <a:spcPts val="2400"/>
              </a:spcBef>
              <a:buSzPct val="100000"/>
              <a:buFont typeface="+mj-lt"/>
              <a:buAutoNum type="arabicPeriod"/>
              <a:defRPr sz="3000"/>
            </a:pPr>
            <a:r>
              <a:rPr lang="en-US" dirty="0" err="1">
                <a:latin typeface="Times New Roman" panose="02020603050405020304" pitchFamily="18" charset="0"/>
                <a:cs typeface="Times New Roman" panose="02020603050405020304" pitchFamily="18" charset="0"/>
              </a:rPr>
              <a:t>HoneyWin</a:t>
            </a:r>
            <a:r>
              <a:rPr lang="en-US" dirty="0">
                <a:latin typeface="Times New Roman" panose="02020603050405020304" pitchFamily="18" charset="0"/>
                <a:cs typeface="Times New Roman" panose="02020603050405020304" pitchFamily="18" charset="0"/>
              </a:rPr>
              <a:t>: High-Interaction Windows Honeypot in Enterprise Environment</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A Scalable High Fidelity Decoy Framework against Sophisticated Cyber Attacks</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Decoy-File-Based Deception without Usability Degradation</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A Comprehensive Approach: Developing A Honeypot System To Thwart Cyber Attackers</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Evolving ML-Based Intrusion Detection: Cyber Threat Intelligence for Dynamic Model Updates</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A Case Study of Unauthorized Login Attempts Against Honeypots via Remote Desktop</a:t>
            </a:r>
          </a:p>
          <a:p>
            <a:pPr marL="514350" indent="-514350">
              <a:spcBef>
                <a:spcPts val="2400"/>
              </a:spcBef>
              <a:buSzPct val="100000"/>
              <a:buFont typeface="+mj-lt"/>
              <a:buAutoNum type="arabicPeriod"/>
              <a:defRPr sz="3000"/>
            </a:pPr>
            <a:r>
              <a:rPr lang="en-US" altLang="zh-TW" dirty="0">
                <a:solidFill>
                  <a:schemeClr val="tx1"/>
                </a:solidFill>
                <a:latin typeface="Times New Roman" panose="02020603050405020304" pitchFamily="18" charset="0"/>
                <a:cs typeface="Times New Roman" panose="02020603050405020304" pitchFamily="18" charset="0"/>
              </a:rPr>
              <a:t>QRASSH: A Self-Adaptive SSH Honeypot Driven by Q-Learning</a:t>
            </a:r>
          </a:p>
          <a:p>
            <a:pPr marL="514350" indent="-514350">
              <a:spcBef>
                <a:spcPts val="2400"/>
              </a:spcBef>
              <a:buSzPct val="100000"/>
              <a:buFont typeface="+mj-lt"/>
              <a:buAutoNum type="arabicPeriod"/>
              <a:defRPr sz="3000"/>
            </a:pPr>
            <a:r>
              <a:rPr lang="en-US" dirty="0" err="1">
                <a:solidFill>
                  <a:schemeClr val="tx1"/>
                </a:solidFill>
                <a:latin typeface="Times New Roman" panose="02020603050405020304" pitchFamily="18" charset="0"/>
                <a:cs typeface="Times New Roman" panose="02020603050405020304" pitchFamily="18" charset="0"/>
              </a:rPr>
              <a:t>HoneyBog</a:t>
            </a:r>
            <a:r>
              <a:rPr lang="en-US" dirty="0">
                <a:solidFill>
                  <a:schemeClr val="tx1"/>
                </a:solidFill>
                <a:latin typeface="Times New Roman" panose="02020603050405020304" pitchFamily="18" charset="0"/>
                <a:cs typeface="Times New Roman" panose="02020603050405020304" pitchFamily="18" charset="0"/>
              </a:rPr>
              <a:t>: A Hybrid </a:t>
            </a:r>
            <a:r>
              <a:rPr lang="en-US" dirty="0" err="1">
                <a:solidFill>
                  <a:schemeClr val="tx1"/>
                </a:solidFill>
                <a:latin typeface="Times New Roman" panose="02020603050405020304" pitchFamily="18" charset="0"/>
                <a:cs typeface="Times New Roman" panose="02020603050405020304" pitchFamily="18" charset="0"/>
              </a:rPr>
              <a:t>Webshell</a:t>
            </a:r>
            <a:r>
              <a:rPr lang="en-US" dirty="0">
                <a:solidFill>
                  <a:schemeClr val="tx1"/>
                </a:solidFill>
                <a:latin typeface="Times New Roman" panose="02020603050405020304" pitchFamily="18" charset="0"/>
                <a:cs typeface="Times New Roman" panose="02020603050405020304" pitchFamily="18" charset="0"/>
              </a:rPr>
              <a:t> Honeypot Framework against Command Injection</a:t>
            </a:r>
          </a:p>
          <a:p>
            <a:pPr marL="514350" indent="-514350">
              <a:spcBef>
                <a:spcPts val="2400"/>
              </a:spcBef>
              <a:buSzPct val="100000"/>
              <a:buFont typeface="+mj-lt"/>
              <a:buAutoNum type="arabicPeriod"/>
              <a:defRPr sz="3000"/>
            </a:pPr>
            <a:r>
              <a:rPr lang="en-US" altLang="zh-TW" dirty="0" err="1">
                <a:solidFill>
                  <a:schemeClr val="tx1"/>
                </a:solidFill>
                <a:latin typeface="Times New Roman" panose="02020603050405020304" pitchFamily="18" charset="0"/>
                <a:cs typeface="Times New Roman" panose="02020603050405020304" pitchFamily="18" charset="0"/>
              </a:rPr>
              <a:t>HoneyGPT</a:t>
            </a:r>
            <a:r>
              <a:rPr lang="en-US" altLang="zh-TW" dirty="0">
                <a:solidFill>
                  <a:schemeClr val="tx1"/>
                </a:solidFill>
                <a:latin typeface="Times New Roman" panose="02020603050405020304" pitchFamily="18" charset="0"/>
                <a:cs typeface="Times New Roman" panose="02020603050405020304" pitchFamily="18" charset="0"/>
              </a:rPr>
              <a:t>: Breaking the Trilemma in Terminal Honeypots with Large Language Model</a:t>
            </a:r>
          </a:p>
          <a:p>
            <a:pPr marL="514350" indent="-514350">
              <a:spcBef>
                <a:spcPts val="2400"/>
              </a:spcBef>
              <a:buSzPct val="100000"/>
              <a:buFont typeface="+mj-lt"/>
              <a:buAutoNum type="arabicPeriod"/>
              <a:defRPr sz="3000"/>
            </a:pPr>
            <a:r>
              <a:rPr lang="en-US" altLang="zh-TW" dirty="0">
                <a:solidFill>
                  <a:schemeClr val="tx1"/>
                </a:solidFill>
                <a:latin typeface="Times New Roman" panose="02020603050405020304" pitchFamily="18" charset="0"/>
                <a:cs typeface="Times New Roman" panose="02020603050405020304" pitchFamily="18" charset="0"/>
              </a:rPr>
              <a:t>Active Directory Deception: A Reinforcement Learning Honeypot Aligned with MITRE Engage</a:t>
            </a:r>
          </a:p>
          <a:p>
            <a:pPr marL="514350" indent="-514350">
              <a:spcBef>
                <a:spcPts val="2400"/>
              </a:spcBef>
              <a:buSzPct val="100000"/>
              <a:buFont typeface="+mj-lt"/>
              <a:buAutoNum type="arabicPeriod"/>
              <a:defRPr sz="3000"/>
            </a:pPr>
            <a:r>
              <a:rPr lang="en-US" altLang="zh-TW" dirty="0">
                <a:solidFill>
                  <a:schemeClr val="tx1"/>
                </a:solidFill>
                <a:latin typeface="Times New Roman" panose="02020603050405020304" pitchFamily="18" charset="0"/>
                <a:cs typeface="Times New Roman" panose="02020603050405020304" pitchFamily="18" charset="0"/>
              </a:rPr>
              <a:t>Mirage: Cyber Deception Against Autonomous Cyber Attacks in Emulation and Simulation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Increasing Attacker Engagement on SSH Honeypots Using Semantic Embeddings of Cyber-Attack Patterns and Deep Reinforcement Learning</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An Adaptive Honeypot Using Q-Learning with Severity Analyzer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Leveraging Reinforcement Learning for LLM-based </a:t>
            </a:r>
            <a:r>
              <a:rPr lang="en-US" dirty="0" err="1">
                <a:latin typeface="Times New Roman" panose="02020603050405020304" pitchFamily="18" charset="0"/>
                <a:cs typeface="Times New Roman" panose="02020603050405020304" pitchFamily="18" charset="0"/>
              </a:rPr>
              <a:t>GenericHoneypots</a:t>
            </a:r>
            <a:r>
              <a:rPr lang="en-US" dirty="0">
                <a:latin typeface="Times New Roman" panose="02020603050405020304" pitchFamily="18" charset="0"/>
                <a:cs typeface="Times New Roman" panose="02020603050405020304" pitchFamily="18" charset="0"/>
              </a:rPr>
              <a:t> with MITRE Engage Framework</a:t>
            </a:r>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57</a:t>
            </a:fld>
            <a:endParaRPr lang="zh-TW" altLang="en-US"/>
          </a:p>
        </p:txBody>
      </p:sp>
    </p:spTree>
    <p:extLst>
      <p:ext uri="{BB962C8B-B14F-4D97-AF65-F5344CB8AC3E}">
        <p14:creationId xmlns:p14="http://schemas.microsoft.com/office/powerpoint/2010/main" val="1349392636"/>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021358-E27E-D6DD-3BAB-D91572A8F5EF}"/>
            </a:ext>
          </a:extLst>
        </p:cNvPr>
        <p:cNvGrpSpPr/>
        <p:nvPr/>
      </p:nvGrpSpPr>
      <p:grpSpPr>
        <a:xfrm>
          <a:off x="0" y="0"/>
          <a:ext cx="0" cy="0"/>
          <a:chOff x="0" y="0"/>
          <a:chExt cx="0" cy="0"/>
        </a:xfrm>
      </p:grpSpPr>
      <p:sp>
        <p:nvSpPr>
          <p:cNvPr id="223" name="Problem Statement">
            <a:extLst>
              <a:ext uri="{FF2B5EF4-FFF2-40B4-BE49-F238E27FC236}">
                <a16:creationId xmlns:a16="http://schemas.microsoft.com/office/drawing/2014/main" id="{F4B99441-D15F-777C-4261-D3E96FD38E49}"/>
              </a:ext>
            </a:extLst>
          </p:cNvPr>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p:sp>
        <p:nvSpPr>
          <p:cNvPr id="2" name="投影片編號版面配置區 1">
            <a:extLst>
              <a:ext uri="{FF2B5EF4-FFF2-40B4-BE49-F238E27FC236}">
                <a16:creationId xmlns:a16="http://schemas.microsoft.com/office/drawing/2014/main" id="{77C5EB0B-B8C5-D847-798A-D590E1C4D5FD}"/>
              </a:ext>
            </a:extLst>
          </p:cNvPr>
          <p:cNvSpPr>
            <a:spLocks noGrp="1"/>
          </p:cNvSpPr>
          <p:nvPr>
            <p:ph type="sldNum" sz="quarter" idx="2"/>
          </p:nvPr>
        </p:nvSpPr>
        <p:spPr/>
        <p:txBody>
          <a:bodyPr/>
          <a:lstStyle/>
          <a:p>
            <a:fld id="{86CB4B4D-7CA3-9044-876B-883B54F8677D}" type="slidenum">
              <a:rPr lang="en-US" altLang="zh-TW" smtClean="0"/>
              <a:t>58</a:t>
            </a:fld>
            <a:endParaRPr lang="zh-TW" altLang="en-US"/>
          </a:p>
        </p:txBody>
      </p:sp>
      <p:pic>
        <p:nvPicPr>
          <p:cNvPr id="1028" name="Picture 4">
            <a:extLst>
              <a:ext uri="{FF2B5EF4-FFF2-40B4-BE49-F238E27FC236}">
                <a16:creationId xmlns:a16="http://schemas.microsoft.com/office/drawing/2014/main" id="{AFF6C3A6-8E32-CE89-B61C-2D644A22B9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609" y="3987213"/>
            <a:ext cx="9028176" cy="828027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F323709B-7A50-AD51-9090-4CAF2E38476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41785" y="3854450"/>
            <a:ext cx="14813586" cy="8617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225206"/>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175D5D-DF10-DBE3-7069-00B463D1E8E0}"/>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AA896B8C-BED4-242A-5705-EB790195A200}"/>
              </a:ext>
            </a:extLst>
          </p:cNvPr>
          <p:cNvSpPr txBox="1">
            <a:spLocks noGrp="1"/>
          </p:cNvSpPr>
          <p:nvPr>
            <p:ph type="body" idx="1"/>
          </p:nvPr>
        </p:nvSpPr>
        <p:spPr>
          <a:xfrm>
            <a:off x="1200251" y="3048000"/>
            <a:ext cx="21971000" cy="8265669"/>
          </a:xfrm>
          <a:prstGeom prst="rect">
            <a:avLst/>
          </a:prstGeom>
        </p:spPr>
        <p:txBody>
          <a:bodyPr/>
          <a:lstStyle/>
          <a:p>
            <a:pPr>
              <a:lnSpc>
                <a:spcPct val="120000"/>
              </a:lnSpc>
              <a:spcBef>
                <a:spcPts val="300"/>
              </a:spcBef>
              <a:defRPr sz="4600"/>
            </a:pPr>
            <a:r>
              <a:rPr lang="en-US" dirty="0"/>
              <a:t>Why generate the dataset with an LLM?</a:t>
            </a:r>
          </a:p>
          <a:p>
            <a:pPr lvl="1">
              <a:lnSpc>
                <a:spcPct val="120000"/>
              </a:lnSpc>
              <a:spcBef>
                <a:spcPts val="300"/>
              </a:spcBef>
              <a:defRPr sz="4600"/>
            </a:pPr>
            <a:r>
              <a:rPr lang="en-US" sz="4000" b="1" dirty="0">
                <a:latin typeface="Times New Roman" panose="02020603050405020304" pitchFamily="18" charset="0"/>
                <a:cs typeface="Times New Roman" panose="02020603050405020304" pitchFamily="18" charset="0"/>
              </a:rPr>
              <a:t>Environment-specific</a:t>
            </a:r>
            <a:r>
              <a:rPr lang="en-US" sz="4000" dirty="0">
                <a:latin typeface="Times New Roman" panose="02020603050405020304" pitchFamily="18" charset="0"/>
                <a:cs typeface="Times New Roman" panose="02020603050405020304" pitchFamily="18" charset="0"/>
              </a:rPr>
              <a:t>: Public scripts don’t fit our AD/NAS/SQL/Windows/Ubuntu setup</a:t>
            </a:r>
          </a:p>
          <a:p>
            <a:pPr lvl="1">
              <a:lnSpc>
                <a:spcPct val="120000"/>
              </a:lnSpc>
              <a:spcBef>
                <a:spcPts val="300"/>
              </a:spcBef>
              <a:defRPr sz="4600"/>
            </a:pPr>
            <a:r>
              <a:rPr lang="en-US" sz="4000" b="1" dirty="0">
                <a:latin typeface="Times New Roman" panose="02020603050405020304" pitchFamily="18" charset="0"/>
                <a:cs typeface="Times New Roman" panose="02020603050405020304" pitchFamily="18" charset="0"/>
              </a:rPr>
              <a:t>Executable</a:t>
            </a:r>
            <a:r>
              <a:rPr lang="en-US" sz="4000" dirty="0">
                <a:latin typeface="Times New Roman" panose="02020603050405020304" pitchFamily="18" charset="0"/>
                <a:cs typeface="Times New Roman" panose="02020603050405020304" pitchFamily="18" charset="0"/>
              </a:rPr>
              <a:t>: All scripts can be sandbox-verified</a:t>
            </a:r>
          </a:p>
          <a:p>
            <a:pPr lvl="1">
              <a:lnSpc>
                <a:spcPct val="120000"/>
              </a:lnSpc>
              <a:spcBef>
                <a:spcPts val="300"/>
              </a:spcBef>
              <a:defRPr sz="4600"/>
            </a:pPr>
            <a:r>
              <a:rPr lang="en-US" sz="4000" b="1" dirty="0">
                <a:latin typeface="Times New Roman" panose="02020603050405020304" pitchFamily="18" charset="0"/>
                <a:cs typeface="Times New Roman" panose="02020603050405020304" pitchFamily="18" charset="0"/>
              </a:rPr>
              <a:t>Scalable</a:t>
            </a:r>
            <a:r>
              <a:rPr lang="en-US" sz="4000" dirty="0">
                <a:latin typeface="Times New Roman" panose="02020603050405020304" pitchFamily="18" charset="0"/>
                <a:cs typeface="Times New Roman" panose="02020603050405020304" pitchFamily="18" charset="0"/>
              </a:rPr>
              <a:t>: Manual creation is too slow for the needed volume</a:t>
            </a:r>
          </a:p>
        </p:txBody>
      </p:sp>
      <p:sp>
        <p:nvSpPr>
          <p:cNvPr id="250" name="Solution - Knowledge Distillation">
            <a:extLst>
              <a:ext uri="{FF2B5EF4-FFF2-40B4-BE49-F238E27FC236}">
                <a16:creationId xmlns:a16="http://schemas.microsoft.com/office/drawing/2014/main" id="{70E1D911-B305-6CB2-1BBF-0E9EDB1617B0}"/>
              </a:ext>
            </a:extLst>
          </p:cNvPr>
          <p:cNvSpPr txBox="1">
            <a:spLocks noGrp="1"/>
          </p:cNvSpPr>
          <p:nvPr>
            <p:ph type="title"/>
          </p:nvPr>
        </p:nvSpPr>
        <p:spPr>
          <a:prstGeom prst="rect">
            <a:avLst/>
          </a:prstGeom>
        </p:spPr>
        <p:txBody>
          <a:bodyPr/>
          <a:lstStyle/>
          <a:p>
            <a:r>
              <a:rPr dirty="0"/>
              <a:t>Solution </a:t>
            </a:r>
            <a:r>
              <a:rPr lang="en-US" altLang="zh-TW" dirty="0"/>
              <a:t>–</a:t>
            </a:r>
            <a:r>
              <a:rPr dirty="0"/>
              <a:t> </a:t>
            </a:r>
            <a:r>
              <a:rPr lang="en-US" dirty="0"/>
              <a:t>Dataset Generation</a:t>
            </a:r>
            <a:endParaRPr dirty="0"/>
          </a:p>
        </p:txBody>
      </p:sp>
      <p:sp>
        <p:nvSpPr>
          <p:cNvPr id="2" name="投影片編號版面配置區 1">
            <a:extLst>
              <a:ext uri="{FF2B5EF4-FFF2-40B4-BE49-F238E27FC236}">
                <a16:creationId xmlns:a16="http://schemas.microsoft.com/office/drawing/2014/main" id="{A927EFB6-DA0E-AFDE-D879-A527C972DCA3}"/>
              </a:ext>
            </a:extLst>
          </p:cNvPr>
          <p:cNvSpPr>
            <a:spLocks noGrp="1"/>
          </p:cNvSpPr>
          <p:nvPr>
            <p:ph type="sldNum" sz="quarter" idx="2"/>
          </p:nvPr>
        </p:nvSpPr>
        <p:spPr/>
        <p:txBody>
          <a:bodyPr/>
          <a:lstStyle/>
          <a:p>
            <a:fld id="{86CB4B4D-7CA3-9044-876B-883B54F8677D}" type="slidenum">
              <a:rPr lang="en-US" altLang="zh-TW" smtClean="0"/>
              <a:t>59</a:t>
            </a:fld>
            <a:endParaRPr lang="zh-TW" altLang="en-US"/>
          </a:p>
        </p:txBody>
      </p:sp>
      <p:pic>
        <p:nvPicPr>
          <p:cNvPr id="4098" name="Picture 2">
            <a:extLst>
              <a:ext uri="{FF2B5EF4-FFF2-40B4-BE49-F238E27FC236}">
                <a16:creationId xmlns:a16="http://schemas.microsoft.com/office/drawing/2014/main" id="{486F0DED-414A-8F0C-7422-37AA07DB50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23960" y="6472623"/>
            <a:ext cx="10936080" cy="7243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164710"/>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96C181-6FF9-A3E5-D81E-968F597C316A}"/>
              </a:ext>
            </a:extLst>
          </p:cNvPr>
          <p:cNvSpPr>
            <a:spLocks noGrp="1"/>
          </p:cNvSpPr>
          <p:nvPr>
            <p:ph type="title"/>
          </p:nvPr>
        </p:nvSpPr>
        <p:spPr/>
        <p:txBody>
          <a:bodyPr/>
          <a:lstStyle/>
          <a:p>
            <a:r>
              <a:rPr kumimoji="1" lang="en-US" altLang="zh-TW" dirty="0"/>
              <a:t>Solution – Supervised Fine-Tuning (SFT)</a:t>
            </a:r>
            <a:endParaRPr kumimoji="1" lang="zh-TW" altLang="en-US" dirty="0"/>
          </a:p>
        </p:txBody>
      </p:sp>
      <p:sp>
        <p:nvSpPr>
          <p:cNvPr id="3" name="文字版面配置區 2">
            <a:extLst>
              <a:ext uri="{FF2B5EF4-FFF2-40B4-BE49-F238E27FC236}">
                <a16:creationId xmlns:a16="http://schemas.microsoft.com/office/drawing/2014/main" id="{B60B0983-F6E2-27F2-1655-BEBCF524A0EE}"/>
              </a:ext>
            </a:extLst>
          </p:cNvPr>
          <p:cNvSpPr>
            <a:spLocks noGrp="1"/>
          </p:cNvSpPr>
          <p:nvPr>
            <p:ph type="body" idx="1"/>
          </p:nvPr>
        </p:nvSpPr>
        <p:spPr>
          <a:xfrm>
            <a:off x="1206500" y="3098800"/>
            <a:ext cx="21971000" cy="9405716"/>
          </a:xfrm>
        </p:spPr>
        <p:txBody>
          <a:bodyPr/>
          <a:lstStyle/>
          <a:p>
            <a:pPr>
              <a:lnSpc>
                <a:spcPct val="120000"/>
              </a:lnSpc>
              <a:spcBef>
                <a:spcPts val="300"/>
              </a:spcBef>
            </a:pPr>
            <a:r>
              <a:rPr kumimoji="1" lang="en-US" altLang="zh-TW" dirty="0"/>
              <a:t>Why fine-tune the Script Generator?</a:t>
            </a:r>
          </a:p>
          <a:p>
            <a:pPr lvl="1">
              <a:lnSpc>
                <a:spcPct val="120000"/>
              </a:lnSpc>
              <a:spcBef>
                <a:spcPts val="300"/>
              </a:spcBef>
            </a:pPr>
            <a:r>
              <a:rPr kumimoji="1" lang="en-US" altLang="zh-TW" sz="4000" b="1" dirty="0">
                <a:latin typeface="Times New Roman" panose="02020603050405020304" pitchFamily="18" charset="0"/>
                <a:cs typeface="Times New Roman" panose="02020603050405020304" pitchFamily="18" charset="0"/>
              </a:rPr>
              <a:t>Learns our environment</a:t>
            </a:r>
            <a:r>
              <a:rPr kumimoji="1" lang="en-US" altLang="zh-TW" sz="4000" dirty="0">
                <a:latin typeface="Times New Roman" panose="02020603050405020304" pitchFamily="18" charset="0"/>
                <a:cs typeface="Times New Roman" panose="02020603050405020304" pitchFamily="18" charset="0"/>
              </a:rPr>
              <a:t>: SFT teaches the model patterns specific to our verified scripts</a:t>
            </a:r>
          </a:p>
          <a:p>
            <a:pPr lvl="1">
              <a:lnSpc>
                <a:spcPct val="120000"/>
              </a:lnSpc>
              <a:spcBef>
                <a:spcPts val="300"/>
              </a:spcBef>
            </a:pPr>
            <a:r>
              <a:rPr kumimoji="1" lang="en-US" altLang="zh-TW" sz="4000" b="1" dirty="0">
                <a:latin typeface="Times New Roman" panose="02020603050405020304" pitchFamily="18" charset="0"/>
                <a:cs typeface="Times New Roman" panose="02020603050405020304" pitchFamily="18" charset="0"/>
              </a:rPr>
              <a:t>More reliable: </a:t>
            </a:r>
            <a:r>
              <a:rPr kumimoji="1" lang="en-US" altLang="zh-TW" sz="4000" dirty="0">
                <a:latin typeface="Times New Roman" panose="02020603050405020304" pitchFamily="18" charset="0"/>
                <a:cs typeface="Times New Roman" panose="02020603050405020304" pitchFamily="18" charset="0"/>
              </a:rPr>
              <a:t>SFT enables effective use of RAG content, RAG alone may not</a:t>
            </a:r>
          </a:p>
          <a:p>
            <a:pPr lvl="1">
              <a:lnSpc>
                <a:spcPct val="120000"/>
              </a:lnSpc>
              <a:spcBef>
                <a:spcPts val="300"/>
              </a:spcBef>
            </a:pPr>
            <a:r>
              <a:rPr kumimoji="1" lang="en-US" altLang="zh-TW" sz="4000" b="1" dirty="0">
                <a:latin typeface="Times New Roman" panose="02020603050405020304" pitchFamily="18" charset="0"/>
                <a:cs typeface="Times New Roman" panose="02020603050405020304" pitchFamily="18" charset="0"/>
              </a:rPr>
              <a:t>Compact model</a:t>
            </a:r>
            <a:r>
              <a:rPr kumimoji="1" lang="en-US" altLang="zh-TW" sz="4000" dirty="0">
                <a:latin typeface="Times New Roman" panose="02020603050405020304" pitchFamily="18" charset="0"/>
                <a:cs typeface="Times New Roman" panose="02020603050405020304" pitchFamily="18" charset="0"/>
              </a:rPr>
              <a:t>: Enables a smaller, cheaper model to reach high accuracy</a:t>
            </a:r>
            <a:endParaRPr kumimoji="1"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CD4FC53-1396-591A-C201-FFCD54DBC007}"/>
              </a:ext>
            </a:extLst>
          </p:cNvPr>
          <p:cNvSpPr>
            <a:spLocks noGrp="1"/>
          </p:cNvSpPr>
          <p:nvPr>
            <p:ph type="sldNum" sz="quarter" idx="2"/>
          </p:nvPr>
        </p:nvSpPr>
        <p:spPr/>
        <p:txBody>
          <a:bodyPr/>
          <a:lstStyle/>
          <a:p>
            <a:fld id="{86CB4B4D-7CA3-9044-876B-883B54F8677D}" type="slidenum">
              <a:rPr lang="en-US" altLang="zh-TW" smtClean="0"/>
              <a:t>60</a:t>
            </a:fld>
            <a:endParaRPr lang="zh-TW" altLang="en-US"/>
          </a:p>
        </p:txBody>
      </p:sp>
      <p:pic>
        <p:nvPicPr>
          <p:cNvPr id="1030" name="Picture 6">
            <a:extLst>
              <a:ext uri="{FF2B5EF4-FFF2-40B4-BE49-F238E27FC236}">
                <a16:creationId xmlns:a16="http://schemas.microsoft.com/office/drawing/2014/main" id="{49AA726B-76B9-A4ED-2FA4-9D5DF928CB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7284" y="6583926"/>
            <a:ext cx="12029431" cy="713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782611"/>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normAutofit/>
          </a:bodyPr>
          <a:lstStyle/>
          <a:p>
            <a:r>
              <a:rPr lang="en-US" dirty="0"/>
              <a:t>Solution </a:t>
            </a:r>
            <a:r>
              <a:rPr lang="en-US" altLang="zh-TW" dirty="0"/>
              <a:t>-</a:t>
            </a:r>
            <a:r>
              <a:rPr lang="en-US" dirty="0"/>
              <a:t> Reinforcement Fine-Tuning (RFT)</a:t>
            </a:r>
            <a:endParaRPr dirty="0"/>
          </a:p>
        </p:txBody>
      </p:sp>
      <p:sp>
        <p:nvSpPr>
          <p:cNvPr id="2" name="Generate a synthetic dataset using a &quot;teacher&quot; LLM to create scripts, validated via execution in a closed-loop sandbox.…">
            <a:extLst>
              <a:ext uri="{FF2B5EF4-FFF2-40B4-BE49-F238E27FC236}">
                <a16:creationId xmlns:a16="http://schemas.microsoft.com/office/drawing/2014/main" id="{E8B7DB36-074B-DE5F-DC20-20760E45F4C9}"/>
              </a:ext>
            </a:extLst>
          </p:cNvPr>
          <p:cNvSpPr txBox="1">
            <a:spLocks/>
          </p:cNvSpPr>
          <p:nvPr/>
        </p:nvSpPr>
        <p:spPr>
          <a:xfrm>
            <a:off x="1200250" y="3219971"/>
            <a:ext cx="21097041"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lnSpc>
                <a:spcPct val="120000"/>
              </a:lnSpc>
              <a:spcBef>
                <a:spcPts val="300"/>
              </a:spcBef>
            </a:pPr>
            <a:r>
              <a:rPr lang="en-US" sz="4600" dirty="0">
                <a:latin typeface="Times New Roman" panose="02020603050405020304" pitchFamily="18" charset="0"/>
                <a:cs typeface="Times New Roman" panose="02020603050405020304" pitchFamily="18" charset="0"/>
              </a:rPr>
              <a:t>Why RFT after SFT?</a:t>
            </a:r>
          </a:p>
          <a:p>
            <a:pPr lvl="1" hangingPunct="1">
              <a:lnSpc>
                <a:spcPct val="120000"/>
              </a:lnSpc>
              <a:spcBef>
                <a:spcPts val="300"/>
              </a:spcBef>
            </a:pPr>
            <a:r>
              <a:rPr lang="en-US" sz="4000" dirty="0">
                <a:latin typeface="Times New Roman" panose="02020603050405020304" pitchFamily="18" charset="0"/>
                <a:cs typeface="Times New Roman" panose="02020603050405020304" pitchFamily="18" charset="0"/>
              </a:rPr>
              <a:t>SFT teaches correct patterns, but not guaranteed execution</a:t>
            </a:r>
          </a:p>
          <a:p>
            <a:pPr lvl="1" hangingPunct="1">
              <a:lnSpc>
                <a:spcPct val="120000"/>
              </a:lnSpc>
              <a:spcBef>
                <a:spcPts val="300"/>
              </a:spcBef>
            </a:pPr>
            <a:r>
              <a:rPr lang="en-US" sz="4000" dirty="0">
                <a:latin typeface="Times New Roman" panose="02020603050405020304" pitchFamily="18" charset="0"/>
                <a:cs typeface="Times New Roman" panose="02020603050405020304" pitchFamily="18" charset="0"/>
              </a:rPr>
              <a:t>RFT learns from actual AD feedback, improving real execution success</a:t>
            </a:r>
          </a:p>
        </p:txBody>
      </p:sp>
      <p:sp>
        <p:nvSpPr>
          <p:cNvPr id="3" name="投影片編號版面配置區 2">
            <a:extLst>
              <a:ext uri="{FF2B5EF4-FFF2-40B4-BE49-F238E27FC236}">
                <a16:creationId xmlns:a16="http://schemas.microsoft.com/office/drawing/2014/main" id="{F774E428-9B4B-67D1-758A-743E270B8E00}"/>
              </a:ext>
            </a:extLst>
          </p:cNvPr>
          <p:cNvSpPr>
            <a:spLocks noGrp="1"/>
          </p:cNvSpPr>
          <p:nvPr>
            <p:ph type="sldNum" sz="quarter" idx="2"/>
          </p:nvPr>
        </p:nvSpPr>
        <p:spPr/>
        <p:txBody>
          <a:bodyPr/>
          <a:lstStyle/>
          <a:p>
            <a:fld id="{86CB4B4D-7CA3-9044-876B-883B54F8677D}" type="slidenum">
              <a:rPr lang="en-US" altLang="zh-TW" smtClean="0"/>
              <a:t>61</a:t>
            </a:fld>
            <a:endParaRPr lang="zh-TW" altLang="en-US"/>
          </a:p>
        </p:txBody>
      </p:sp>
      <p:pic>
        <p:nvPicPr>
          <p:cNvPr id="5" name="圖片 4">
            <a:extLst>
              <a:ext uri="{FF2B5EF4-FFF2-40B4-BE49-F238E27FC236}">
                <a16:creationId xmlns:a16="http://schemas.microsoft.com/office/drawing/2014/main" id="{C8B647B1-69DB-C352-DA01-B927A15326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6226" y="8710553"/>
            <a:ext cx="6281357" cy="1518776"/>
          </a:xfrm>
          <a:prstGeom prst="rect">
            <a:avLst/>
          </a:prstGeom>
        </p:spPr>
      </p:pic>
      <p:pic>
        <p:nvPicPr>
          <p:cNvPr id="5122" name="Picture 2">
            <a:extLst>
              <a:ext uri="{FF2B5EF4-FFF2-40B4-BE49-F238E27FC236}">
                <a16:creationId xmlns:a16="http://schemas.microsoft.com/office/drawing/2014/main" id="{C66946F0-0F77-E825-9307-8CA0BD6088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53445" y="5640271"/>
            <a:ext cx="12243846" cy="8075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874228"/>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0DF40D-1F9C-5F16-B914-E9DC90165443}"/>
            </a:ext>
          </a:extLst>
        </p:cNvPr>
        <p:cNvGrpSpPr/>
        <p:nvPr/>
      </p:nvGrpSpPr>
      <p:grpSpPr>
        <a:xfrm>
          <a:off x="0" y="0"/>
          <a:ext cx="0" cy="0"/>
          <a:chOff x="0" y="0"/>
          <a:chExt cx="0" cy="0"/>
        </a:xfrm>
      </p:grpSpPr>
      <p:sp>
        <p:nvSpPr>
          <p:cNvPr id="223" name="Problem Statement">
            <a:extLst>
              <a:ext uri="{FF2B5EF4-FFF2-40B4-BE49-F238E27FC236}">
                <a16:creationId xmlns:a16="http://schemas.microsoft.com/office/drawing/2014/main" id="{0F641774-9AD5-B57E-2AA5-C8CA405758E0}"/>
              </a:ext>
            </a:extLst>
          </p:cNvPr>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p:sp>
        <p:nvSpPr>
          <p:cNvPr id="2" name="投影片編號版面配置區 1">
            <a:extLst>
              <a:ext uri="{FF2B5EF4-FFF2-40B4-BE49-F238E27FC236}">
                <a16:creationId xmlns:a16="http://schemas.microsoft.com/office/drawing/2014/main" id="{97F378C7-5766-4CD1-CE84-4E783297E7A9}"/>
              </a:ext>
            </a:extLst>
          </p:cNvPr>
          <p:cNvSpPr>
            <a:spLocks noGrp="1"/>
          </p:cNvSpPr>
          <p:nvPr>
            <p:ph type="sldNum" sz="quarter" idx="2"/>
          </p:nvPr>
        </p:nvSpPr>
        <p:spPr/>
        <p:txBody>
          <a:bodyPr/>
          <a:lstStyle/>
          <a:p>
            <a:fld id="{86CB4B4D-7CA3-9044-876B-883B54F8677D}" type="slidenum">
              <a:rPr lang="en-US" altLang="zh-TW" smtClean="0"/>
              <a:t>62</a:t>
            </a:fld>
            <a:endParaRPr lang="zh-TW" altLang="en-US"/>
          </a:p>
        </p:txBody>
      </p:sp>
      <p:pic>
        <p:nvPicPr>
          <p:cNvPr id="3074" name="Picture 2">
            <a:extLst>
              <a:ext uri="{FF2B5EF4-FFF2-40B4-BE49-F238E27FC236}">
                <a16:creationId xmlns:a16="http://schemas.microsoft.com/office/drawing/2014/main" id="{B2B708EB-9BB5-E1C7-AE1D-4647D423BC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6638" y="3854450"/>
            <a:ext cx="14813586" cy="861796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6E95D85-CC49-9BC9-DE3B-99172586A7D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3900055"/>
            <a:ext cx="9346638" cy="8572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141165"/>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5483"/>
            <a:ext cx="21971000" cy="11533120"/>
          </a:xfrm>
          <a:prstGeom prst="rect">
            <a:avLst/>
          </a:prstGeom>
        </p:spPr>
        <p:txBody>
          <a:bodyPr>
            <a:normAutofit lnSpcReduction="10000"/>
          </a:bodyPr>
          <a:lstStyle/>
          <a:p>
            <a:pPr marL="514350" indent="-514350">
              <a:spcBef>
                <a:spcPts val="2400"/>
              </a:spcBef>
              <a:buSzPct val="100000"/>
              <a:buFont typeface="+mj-lt"/>
              <a:buAutoNum type="arabicPeriod" startAt="15"/>
              <a:defRPr sz="3000"/>
            </a:pPr>
            <a:r>
              <a:rPr lang="en-US" dirty="0"/>
              <a:t>Exploring LLM-based Automated Repairing of Ansible Script in Edge-Cloud Infrastructures</a:t>
            </a:r>
          </a:p>
          <a:p>
            <a:pPr marL="514350" indent="-514350">
              <a:spcBef>
                <a:spcPts val="2400"/>
              </a:spcBef>
              <a:buSzPct val="100000"/>
              <a:buFont typeface="+mj-lt"/>
              <a:buAutoNum type="arabicPeriod" startAt="15"/>
              <a:defRPr sz="3000"/>
            </a:pPr>
            <a:r>
              <a:rPr lang="en-US" dirty="0"/>
              <a:t>Automated Program Repair in the Era of Large Pre-trained Language Models</a:t>
            </a:r>
          </a:p>
          <a:p>
            <a:pPr marL="514350" indent="-514350">
              <a:spcBef>
                <a:spcPts val="2400"/>
              </a:spcBef>
              <a:buSzPct val="100000"/>
              <a:buFont typeface="+mj-lt"/>
              <a:buAutoNum type="arabicPeriod" startAt="15"/>
              <a:defRPr sz="3000"/>
            </a:pPr>
            <a:r>
              <a:rPr lang="en-US" dirty="0"/>
              <a:t>5GPT: 5G Vulnerability Detection by Combining Zero-Shot Capabilities of GPT-4 With Domain Aware Strategies Through Prompt Engineering</a:t>
            </a:r>
          </a:p>
          <a:p>
            <a:pPr marL="514350" indent="-514350">
              <a:spcBef>
                <a:spcPts val="2400"/>
              </a:spcBef>
              <a:buSzPct val="100000"/>
              <a:buFont typeface="+mj-lt"/>
              <a:buAutoNum type="arabicPeriod" startAt="15"/>
              <a:defRPr sz="3000"/>
            </a:pPr>
            <a:r>
              <a:rPr lang="en-US" dirty="0"/>
              <a:t>LLM2LLM: Boosting LLMs with Novel Iterative Data Enhancement</a:t>
            </a:r>
          </a:p>
          <a:p>
            <a:pPr marL="514350" indent="-514350">
              <a:spcBef>
                <a:spcPts val="2400"/>
              </a:spcBef>
              <a:buSzPct val="100000"/>
              <a:buFont typeface="+mj-lt"/>
              <a:buAutoNum type="arabicPeriod" startAt="15"/>
              <a:defRPr sz="3000"/>
            </a:pPr>
            <a:r>
              <a:rPr lang="en-US" dirty="0"/>
              <a:t>Unlock the Correlation Between Supervised Fine-Tuning and Reinforcement Learning in Training Code Large Language Models</a:t>
            </a:r>
          </a:p>
          <a:p>
            <a:pPr marL="514350" indent="-514350">
              <a:spcBef>
                <a:spcPts val="2400"/>
              </a:spcBef>
              <a:buSzPct val="100000"/>
              <a:buFont typeface="+mj-lt"/>
              <a:buAutoNum type="arabicPeriod" startAt="15"/>
              <a:defRPr sz="3000"/>
            </a:pPr>
            <a:r>
              <a:rPr lang="en-US" dirty="0"/>
              <a:t>UNVEILING THE SECRET RECIPE: A Guide for Supervised Fine-Tuning Small LLMs</a:t>
            </a:r>
          </a:p>
          <a:p>
            <a:pPr marL="514350" indent="-514350">
              <a:spcBef>
                <a:spcPts val="2400"/>
              </a:spcBef>
              <a:buSzPct val="100000"/>
              <a:buFont typeface="+mj-lt"/>
              <a:buAutoNum type="arabicPeriod" startAt="15"/>
              <a:defRPr sz="3000"/>
            </a:pPr>
            <a:r>
              <a:rPr lang="en-US" dirty="0"/>
              <a:t>Synthetic Data Generation Using Large Language Models: Advances in Text and Code</a:t>
            </a:r>
          </a:p>
          <a:p>
            <a:pPr marL="514350" indent="-514350">
              <a:spcBef>
                <a:spcPts val="2400"/>
              </a:spcBef>
              <a:buSzPct val="100000"/>
              <a:buFont typeface="+mj-lt"/>
              <a:buAutoNum type="arabicPeriod" startAt="15"/>
              <a:defRPr sz="3000"/>
            </a:pPr>
            <a:r>
              <a:rPr lang="en-US" dirty="0"/>
              <a:t>Integrating Machine Learning and Large Language Models to Advance Exploration of Inorganic Materials</a:t>
            </a:r>
          </a:p>
          <a:p>
            <a:pPr marL="514350" indent="-514350">
              <a:spcBef>
                <a:spcPts val="2400"/>
              </a:spcBef>
              <a:buSzPct val="100000"/>
              <a:buFont typeface="+mj-lt"/>
              <a:buAutoNum type="arabicPeriod" startAt="15"/>
              <a:defRPr sz="3000"/>
            </a:pPr>
            <a:r>
              <a:rPr lang="en-US" dirty="0"/>
              <a:t>Layer-Aware Task Arithmetic: Disentangling Task-Specific and Instruction-Following Knowledge</a:t>
            </a:r>
          </a:p>
          <a:p>
            <a:pPr marL="514350" indent="-514350">
              <a:spcBef>
                <a:spcPts val="2400"/>
              </a:spcBef>
              <a:buSzPct val="100000"/>
              <a:buFont typeface="+mj-lt"/>
              <a:buAutoNum type="arabicPeriod" startAt="15"/>
              <a:defRPr sz="3000"/>
            </a:pPr>
            <a:r>
              <a:rPr lang="en-US" dirty="0"/>
              <a:t>COMAT: A Cybersecurity Ontology based on MITRE ATT&amp;CK</a:t>
            </a:r>
          </a:p>
          <a:p>
            <a:pPr marL="514350" indent="-514350">
              <a:spcBef>
                <a:spcPts val="2400"/>
              </a:spcBef>
              <a:buSzPct val="100000"/>
              <a:buFont typeface="+mj-lt"/>
              <a:buAutoNum type="arabicPeriod" startAt="15"/>
              <a:defRPr sz="3000"/>
            </a:pPr>
            <a:r>
              <a:rPr lang="en-US" dirty="0"/>
              <a:t>Reproducing ATT&amp;CK Techniques and Lifecycles to Train Machine Learning Classifier</a:t>
            </a:r>
          </a:p>
          <a:p>
            <a:pPr marL="514350" indent="-514350">
              <a:spcBef>
                <a:spcPts val="2400"/>
              </a:spcBef>
              <a:buSzPct val="100000"/>
              <a:buFont typeface="+mj-lt"/>
              <a:buAutoNum type="arabicPeriod" startAt="15"/>
              <a:defRPr sz="3000"/>
            </a:pPr>
            <a:r>
              <a:rPr lang="en-US" dirty="0"/>
              <a:t>TRACE: Relationship Analysis and Causal Factor Extraction in Cyber Threat Intelligence Reports</a:t>
            </a:r>
          </a:p>
          <a:p>
            <a:pPr marL="514350" indent="-514350">
              <a:spcBef>
                <a:spcPts val="2400"/>
              </a:spcBef>
              <a:buSzPct val="100000"/>
              <a:buFont typeface="+mj-lt"/>
              <a:buAutoNum type="arabicPeriod" startAt="15"/>
              <a:defRPr sz="3000"/>
            </a:pPr>
            <a:r>
              <a:rPr lang="en-US" dirty="0"/>
              <a:t>From Flow to Packet: A Unified Machine Learning Approach for Advanced Intrusion Detection</a:t>
            </a:r>
          </a:p>
          <a:p>
            <a:pPr marL="514350" indent="-514350">
              <a:spcBef>
                <a:spcPts val="2400"/>
              </a:spcBef>
              <a:buSzPct val="100000"/>
              <a:buFont typeface="+mj-lt"/>
              <a:buAutoNum type="arabicPeriod" startAt="15"/>
              <a:defRPr sz="3000"/>
            </a:pPr>
            <a:r>
              <a:rPr lang="en-US" dirty="0"/>
              <a:t>ML-Based Intrusion Detection as a Service: Traffic Split Offloading and Cost Allocation in a Multi-Tier Architecture</a:t>
            </a:r>
          </a:p>
          <a:p>
            <a:pPr marL="514350" indent="-514350">
              <a:spcBef>
                <a:spcPts val="2400"/>
              </a:spcBef>
              <a:buSzPct val="100000"/>
              <a:buFont typeface="+mj-lt"/>
              <a:buAutoNum type="arabicPeriod" startAt="15"/>
              <a:defRPr sz="3000"/>
            </a:pPr>
            <a:r>
              <a:rPr lang="en-US" dirty="0"/>
              <a:t>Reinforcement Learning for AI as a Service: CPU-GPU Task Scheduling for Preprocessing, Training, and Inference Tasks</a:t>
            </a:r>
          </a:p>
          <a:p>
            <a:pPr marL="514350" indent="-514350">
              <a:spcBef>
                <a:spcPts val="2400"/>
              </a:spcBef>
              <a:buSzPct val="100000"/>
              <a:buFont typeface="+mj-lt"/>
              <a:buAutoNum type="arabicPeriod" startAt="15"/>
              <a:defRPr sz="3000"/>
            </a:pPr>
            <a:r>
              <a:rPr lang="en-US" dirty="0"/>
              <a:t>Synergistic Utilization of LLMs for Program Synthesis</a:t>
            </a:r>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63</a:t>
            </a:fld>
            <a:endParaRPr lang="zh-TW" altLang="en-US"/>
          </a:p>
        </p:txBody>
      </p:sp>
    </p:spTree>
    <p:extLst>
      <p:ext uri="{BB962C8B-B14F-4D97-AF65-F5344CB8AC3E}">
        <p14:creationId xmlns:p14="http://schemas.microsoft.com/office/powerpoint/2010/main" val="1640167733"/>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C2D0C3-27F7-D5FA-CAC0-9E14F34B17C5}"/>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2D4AD9A1-D9DB-5CA0-B789-4B61B78AF892}"/>
              </a:ext>
            </a:extLst>
          </p:cNvPr>
          <p:cNvSpPr txBox="1">
            <a:spLocks noGrp="1"/>
          </p:cNvSpPr>
          <p:nvPr>
            <p:ph type="title"/>
          </p:nvPr>
        </p:nvSpPr>
        <p:spPr>
          <a:prstGeom prst="rect">
            <a:avLst/>
          </a:prstGeom>
        </p:spPr>
        <p:txBody>
          <a:bodyPr/>
          <a:lstStyle/>
          <a:p>
            <a:r>
              <a:rPr lang="en-US" altLang="zh-TW" dirty="0"/>
              <a:t>Progress</a:t>
            </a:r>
            <a:endParaRPr dirty="0"/>
          </a:p>
        </p:txBody>
      </p:sp>
      <p:sp>
        <p:nvSpPr>
          <p:cNvPr id="163" name="Challenges in Existing Adaptive Honeypots…">
            <a:extLst>
              <a:ext uri="{FF2B5EF4-FFF2-40B4-BE49-F238E27FC236}">
                <a16:creationId xmlns:a16="http://schemas.microsoft.com/office/drawing/2014/main" id="{D6C2D31A-AF62-E70B-5EA3-7374D120BCF4}"/>
              </a:ext>
            </a:extLst>
          </p:cNvPr>
          <p:cNvSpPr txBox="1">
            <a:spLocks noGrp="1"/>
          </p:cNvSpPr>
          <p:nvPr>
            <p:ph type="body" idx="1"/>
          </p:nvPr>
        </p:nvSpPr>
        <p:spPr>
          <a:xfrm>
            <a:off x="1206500" y="3078480"/>
            <a:ext cx="21971000" cy="9426036"/>
          </a:xfrm>
          <a:prstGeom prst="rect">
            <a:avLst/>
          </a:prstGeom>
        </p:spPr>
        <p:txBody>
          <a:bodyPr/>
          <a:lstStyle/>
          <a:p>
            <a:pPr>
              <a:lnSpc>
                <a:spcPct val="150000"/>
              </a:lnSpc>
              <a:spcBef>
                <a:spcPts val="1500"/>
              </a:spcBef>
            </a:pPr>
            <a:r>
              <a:rPr lang="en-US" sz="4400" dirty="0">
                <a:solidFill>
                  <a:schemeClr val="tx1"/>
                </a:solidFill>
              </a:rPr>
              <a:t>MCP Tooling</a:t>
            </a:r>
          </a:p>
          <a:p>
            <a:pPr lvl="1">
              <a:lnSpc>
                <a:spcPct val="100000"/>
              </a:lnSpc>
              <a:spcBef>
                <a:spcPts val="1500"/>
              </a:spcBef>
              <a:buSzPct val="50000"/>
              <a:buFont typeface="Wingdings" pitchFamily="2" charset="2"/>
              <a:buChar char="n"/>
            </a:pPr>
            <a:r>
              <a:rPr lang="en-US" sz="4000" dirty="0">
                <a:solidFill>
                  <a:schemeClr val="tx1"/>
                </a:solidFill>
                <a:latin typeface="Times New Roman" panose="02020603050405020304" pitchFamily="18" charset="0"/>
                <a:cs typeface="Times New Roman" panose="02020603050405020304" pitchFamily="18" charset="0"/>
              </a:rPr>
              <a:t>Automated GPT API–based implementation completed.</a:t>
            </a:r>
          </a:p>
          <a:p>
            <a:pPr lvl="1">
              <a:lnSpc>
                <a:spcPct val="100000"/>
              </a:lnSpc>
              <a:spcBef>
                <a:spcPts val="1500"/>
              </a:spcBef>
              <a:buSzPct val="50000"/>
              <a:buFont typeface="Wingdings" pitchFamily="2" charset="2"/>
              <a:buChar char="n"/>
            </a:pPr>
            <a:r>
              <a:rPr lang="en-US" sz="4000" dirty="0">
                <a:solidFill>
                  <a:schemeClr val="tx1"/>
                </a:solidFill>
                <a:latin typeface="Times New Roman" panose="02020603050405020304" pitchFamily="18" charset="0"/>
                <a:cs typeface="Times New Roman" panose="02020603050405020304" pitchFamily="18" charset="0"/>
              </a:rPr>
              <a:t>A total of 66 tools have been developed, categorized as follows:</a:t>
            </a:r>
          </a:p>
        </p:txBody>
      </p:sp>
      <p:sp>
        <p:nvSpPr>
          <p:cNvPr id="2" name="投影片編號版面配置區 1">
            <a:extLst>
              <a:ext uri="{FF2B5EF4-FFF2-40B4-BE49-F238E27FC236}">
                <a16:creationId xmlns:a16="http://schemas.microsoft.com/office/drawing/2014/main" id="{435673EF-049A-41E6-EC5C-E50AA400A5C4}"/>
              </a:ext>
            </a:extLst>
          </p:cNvPr>
          <p:cNvSpPr>
            <a:spLocks noGrp="1"/>
          </p:cNvSpPr>
          <p:nvPr>
            <p:ph type="sldNum" sz="quarter" idx="2"/>
          </p:nvPr>
        </p:nvSpPr>
        <p:spPr/>
        <p:txBody>
          <a:bodyPr/>
          <a:lstStyle/>
          <a:p>
            <a:fld id="{86CB4B4D-7CA3-9044-876B-883B54F8677D}" type="slidenum">
              <a:rPr lang="en-US" altLang="zh-TW" smtClean="0"/>
              <a:t>64</a:t>
            </a:fld>
            <a:endParaRPr lang="zh-TW" altLang="en-US"/>
          </a:p>
        </p:txBody>
      </p:sp>
      <p:pic>
        <p:nvPicPr>
          <p:cNvPr id="4" name="圖片 3">
            <a:extLst>
              <a:ext uri="{FF2B5EF4-FFF2-40B4-BE49-F238E27FC236}">
                <a16:creationId xmlns:a16="http://schemas.microsoft.com/office/drawing/2014/main" id="{FF033A2A-CF0C-0C93-0C04-42988A9DF15C}"/>
              </a:ext>
            </a:extLst>
          </p:cNvPr>
          <p:cNvPicPr>
            <a:picLocks noChangeAspect="1"/>
          </p:cNvPicPr>
          <p:nvPr/>
        </p:nvPicPr>
        <p:blipFill>
          <a:blip r:embed="rId3">
            <a:extLst>
              <a:ext uri="{28A0092B-C50C-407E-A947-70E740481C1C}">
                <a14:useLocalDpi xmlns:a14="http://schemas.microsoft.com/office/drawing/2010/main" val="0"/>
              </a:ext>
            </a:extLst>
          </a:blip>
          <a:srcRect b="45803"/>
          <a:stretch>
            <a:fillRect/>
          </a:stretch>
        </p:blipFill>
        <p:spPr>
          <a:xfrm>
            <a:off x="1748016" y="6434982"/>
            <a:ext cx="12042427" cy="5712524"/>
          </a:xfrm>
          <a:prstGeom prst="rect">
            <a:avLst/>
          </a:prstGeom>
        </p:spPr>
      </p:pic>
      <p:pic>
        <p:nvPicPr>
          <p:cNvPr id="5" name="圖片 4">
            <a:extLst>
              <a:ext uri="{FF2B5EF4-FFF2-40B4-BE49-F238E27FC236}">
                <a16:creationId xmlns:a16="http://schemas.microsoft.com/office/drawing/2014/main" id="{B4C70C0B-81D5-FC5C-7C59-94A63BD95397}"/>
              </a:ext>
            </a:extLst>
          </p:cNvPr>
          <p:cNvPicPr>
            <a:picLocks noChangeAspect="1"/>
          </p:cNvPicPr>
          <p:nvPr/>
        </p:nvPicPr>
        <p:blipFill>
          <a:blip r:embed="rId3">
            <a:extLst>
              <a:ext uri="{28A0092B-C50C-407E-A947-70E740481C1C}">
                <a14:useLocalDpi xmlns:a14="http://schemas.microsoft.com/office/drawing/2010/main" val="0"/>
              </a:ext>
            </a:extLst>
          </a:blip>
          <a:srcRect t="56729"/>
          <a:stretch>
            <a:fillRect/>
          </a:stretch>
        </p:blipFill>
        <p:spPr>
          <a:xfrm>
            <a:off x="13350263" y="6617862"/>
            <a:ext cx="12042427" cy="4560899"/>
          </a:xfrm>
          <a:prstGeom prst="rect">
            <a:avLst/>
          </a:prstGeom>
        </p:spPr>
      </p:pic>
    </p:spTree>
    <p:extLst>
      <p:ext uri="{BB962C8B-B14F-4D97-AF65-F5344CB8AC3E}">
        <p14:creationId xmlns:p14="http://schemas.microsoft.com/office/powerpoint/2010/main" val="4133612541"/>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E0BE35-8BF5-9F41-2F50-4F6A378AB5FA}"/>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5BD9D18F-76DB-92ED-7504-8582E195947A}"/>
              </a:ext>
            </a:extLst>
          </p:cNvPr>
          <p:cNvSpPr txBox="1">
            <a:spLocks noGrp="1"/>
          </p:cNvSpPr>
          <p:nvPr>
            <p:ph type="title"/>
          </p:nvPr>
        </p:nvSpPr>
        <p:spPr>
          <a:prstGeom prst="rect">
            <a:avLst/>
          </a:prstGeom>
        </p:spPr>
        <p:txBody>
          <a:bodyPr/>
          <a:lstStyle/>
          <a:p>
            <a:r>
              <a:rPr lang="en-US" altLang="zh-TW" dirty="0"/>
              <a:t>Progress</a:t>
            </a:r>
            <a:r>
              <a:rPr lang="zh-TW" altLang="en-US" dirty="0"/>
              <a:t> </a:t>
            </a:r>
            <a:r>
              <a:rPr lang="en-US" altLang="zh-TW" dirty="0"/>
              <a:t>(cont.)</a:t>
            </a:r>
            <a:endParaRPr dirty="0"/>
          </a:p>
        </p:txBody>
      </p:sp>
      <p:sp>
        <p:nvSpPr>
          <p:cNvPr id="163" name="Challenges in Existing Adaptive Honeypots…">
            <a:extLst>
              <a:ext uri="{FF2B5EF4-FFF2-40B4-BE49-F238E27FC236}">
                <a16:creationId xmlns:a16="http://schemas.microsoft.com/office/drawing/2014/main" id="{E1174C37-0351-0A7B-525D-D1BB569F644D}"/>
              </a:ext>
            </a:extLst>
          </p:cNvPr>
          <p:cNvSpPr txBox="1">
            <a:spLocks noGrp="1"/>
          </p:cNvSpPr>
          <p:nvPr>
            <p:ph type="body" idx="1"/>
          </p:nvPr>
        </p:nvSpPr>
        <p:spPr>
          <a:xfrm>
            <a:off x="1206500" y="2743200"/>
            <a:ext cx="21971000" cy="10662972"/>
          </a:xfrm>
          <a:prstGeom prst="rect">
            <a:avLst/>
          </a:prstGeom>
        </p:spPr>
        <p:txBody>
          <a:bodyPr>
            <a:normAutofit/>
          </a:bodyPr>
          <a:lstStyle/>
          <a:p>
            <a:pPr>
              <a:lnSpc>
                <a:spcPct val="150000"/>
              </a:lnSpc>
              <a:spcBef>
                <a:spcPts val="2100"/>
              </a:spcBef>
            </a:pPr>
            <a:r>
              <a:rPr lang="en-US" sz="4400" dirty="0">
                <a:solidFill>
                  <a:schemeClr val="tx1"/>
                </a:solidFill>
              </a:rPr>
              <a:t>Tool Distribution by Host</a:t>
            </a:r>
          </a:p>
          <a:p>
            <a:pPr lvl="1">
              <a:lnSpc>
                <a:spcPct val="11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Domain Controller (DC): 16</a:t>
            </a:r>
          </a:p>
          <a:p>
            <a:pPr lvl="1">
              <a:lnSpc>
                <a:spcPct val="11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Linux Hosts: 19</a:t>
            </a:r>
          </a:p>
          <a:p>
            <a:pPr lvl="1">
              <a:lnSpc>
                <a:spcPct val="11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Mail Servers: 5</a:t>
            </a:r>
          </a:p>
          <a:p>
            <a:pPr>
              <a:lnSpc>
                <a:spcPct val="150000"/>
              </a:lnSpc>
              <a:spcBef>
                <a:spcPts val="2100"/>
              </a:spcBef>
            </a:pPr>
            <a:r>
              <a:rPr lang="en-US" sz="4400" dirty="0">
                <a:solidFill>
                  <a:schemeClr val="tx1"/>
                </a:solidFill>
              </a:rPr>
              <a:t>Evaluation Results</a:t>
            </a:r>
          </a:p>
          <a:p>
            <a:pPr lvl="1">
              <a:lnSpc>
                <a:spcPct val="150000"/>
              </a:lnSpc>
              <a:spcBef>
                <a:spcPts val="2100"/>
              </a:spcBef>
              <a:buSzPct val="50000"/>
              <a:buFont typeface="Wingdings" pitchFamily="2" charset="2"/>
              <a:buChar char="n"/>
            </a:pPr>
            <a:r>
              <a:rPr lang="en-US" sz="3600" dirty="0">
                <a:solidFill>
                  <a:schemeClr val="tx1"/>
                </a:solidFill>
                <a:latin typeface="Times New Roman" panose="02020603050405020304" pitchFamily="18" charset="0"/>
                <a:cs typeface="Times New Roman" panose="02020603050405020304" pitchFamily="18" charset="0"/>
              </a:rPr>
              <a:t>Tested on a dataset of 99 tasks generated by the Task Decomposer:</a:t>
            </a:r>
          </a:p>
          <a:p>
            <a:pPr lvl="2">
              <a:lnSpc>
                <a:spcPct val="100000"/>
              </a:lnSpc>
              <a:spcBef>
                <a:spcPts val="2100"/>
              </a:spcBef>
            </a:pPr>
            <a:r>
              <a:rPr lang="en-US" sz="3600" dirty="0">
                <a:solidFill>
                  <a:schemeClr val="tx1"/>
                </a:solidFill>
                <a:latin typeface="Times New Roman" panose="02020603050405020304" pitchFamily="18" charset="0"/>
                <a:cs typeface="Times New Roman" panose="02020603050405020304" pitchFamily="18" charset="0"/>
              </a:rPr>
              <a:t>Script Generator success rate: </a:t>
            </a:r>
            <a:r>
              <a:rPr lang="en-US" sz="3600" b="1" dirty="0">
                <a:solidFill>
                  <a:schemeClr val="tx1"/>
                </a:solidFill>
                <a:latin typeface="Times New Roman" panose="02020603050405020304" pitchFamily="18" charset="0"/>
                <a:cs typeface="Times New Roman" panose="02020603050405020304" pitchFamily="18" charset="0"/>
              </a:rPr>
              <a:t>24.24%</a:t>
            </a:r>
          </a:p>
          <a:p>
            <a:pPr lvl="2">
              <a:lnSpc>
                <a:spcPct val="100000"/>
              </a:lnSpc>
              <a:spcBef>
                <a:spcPts val="2100"/>
              </a:spcBef>
            </a:pPr>
            <a:r>
              <a:rPr lang="en-US" sz="3600" dirty="0">
                <a:solidFill>
                  <a:schemeClr val="tx1"/>
                </a:solidFill>
                <a:latin typeface="Times New Roman" panose="02020603050405020304" pitchFamily="18" charset="0"/>
                <a:cs typeface="Times New Roman" panose="02020603050405020304" pitchFamily="18" charset="0"/>
              </a:rPr>
              <a:t>Planner execution success rate: </a:t>
            </a:r>
            <a:r>
              <a:rPr lang="en-US" sz="3600" b="1" dirty="0">
                <a:solidFill>
                  <a:schemeClr val="tx1"/>
                </a:solidFill>
                <a:latin typeface="Times New Roman" panose="02020603050405020304" pitchFamily="18" charset="0"/>
                <a:cs typeface="Times New Roman" panose="02020603050405020304" pitchFamily="18" charset="0"/>
              </a:rPr>
              <a:t>83.06%</a:t>
            </a:r>
          </a:p>
          <a:p>
            <a:pPr lvl="2">
              <a:lnSpc>
                <a:spcPct val="100000"/>
              </a:lnSpc>
              <a:spcBef>
                <a:spcPts val="2100"/>
              </a:spcBef>
            </a:pPr>
            <a:r>
              <a:rPr lang="en-US" sz="3600" dirty="0">
                <a:solidFill>
                  <a:schemeClr val="tx1"/>
                </a:solidFill>
                <a:latin typeface="Times New Roman" panose="02020603050405020304" pitchFamily="18" charset="0"/>
                <a:cs typeface="Times New Roman" panose="02020603050405020304" pitchFamily="18" charset="0"/>
              </a:rPr>
              <a:t>Overall task success rate: </a:t>
            </a:r>
            <a:r>
              <a:rPr lang="en-US" sz="3600" b="1" dirty="0">
                <a:solidFill>
                  <a:schemeClr val="tx1"/>
                </a:solidFill>
                <a:latin typeface="Times New Roman" panose="02020603050405020304" pitchFamily="18" charset="0"/>
                <a:cs typeface="Times New Roman" panose="02020603050405020304" pitchFamily="18" charset="0"/>
              </a:rPr>
              <a:t>76.77%</a:t>
            </a:r>
          </a:p>
          <a:p>
            <a:pPr>
              <a:lnSpc>
                <a:spcPct val="150000"/>
              </a:lnSpc>
              <a:spcBef>
                <a:spcPts val="2100"/>
              </a:spcBef>
              <a:buFont typeface="Arial" panose="020B0604020202020204" pitchFamily="34" charset="0"/>
              <a:buChar char="•"/>
            </a:pPr>
            <a:r>
              <a:rPr lang="en-US" sz="4400" dirty="0">
                <a:solidFill>
                  <a:schemeClr val="tx1"/>
                </a:solidFill>
                <a:latin typeface="Times New Roman" panose="02020603050405020304" pitchFamily="18" charset="0"/>
                <a:cs typeface="Times New Roman" panose="02020603050405020304" pitchFamily="18" charset="0"/>
              </a:rPr>
              <a:t>Simultaneous support for MCP-Planner Mode and Script Generator Mode</a:t>
            </a:r>
          </a:p>
        </p:txBody>
      </p:sp>
      <p:sp>
        <p:nvSpPr>
          <p:cNvPr id="2" name="投影片編號版面配置區 1">
            <a:extLst>
              <a:ext uri="{FF2B5EF4-FFF2-40B4-BE49-F238E27FC236}">
                <a16:creationId xmlns:a16="http://schemas.microsoft.com/office/drawing/2014/main" id="{91AB6083-E5E7-8DA3-A1DA-52E2E4745D5C}"/>
              </a:ext>
            </a:extLst>
          </p:cNvPr>
          <p:cNvSpPr>
            <a:spLocks noGrp="1"/>
          </p:cNvSpPr>
          <p:nvPr>
            <p:ph type="sldNum" sz="quarter" idx="2"/>
          </p:nvPr>
        </p:nvSpPr>
        <p:spPr/>
        <p:txBody>
          <a:bodyPr/>
          <a:lstStyle/>
          <a:p>
            <a:fld id="{86CB4B4D-7CA3-9044-876B-883B54F8677D}" type="slidenum">
              <a:rPr lang="en-US" altLang="zh-TW" smtClean="0"/>
              <a:t>65</a:t>
            </a:fld>
            <a:endParaRPr lang="zh-TW" altLang="en-US"/>
          </a:p>
        </p:txBody>
      </p:sp>
      <p:sp>
        <p:nvSpPr>
          <p:cNvPr id="6" name="Challenges in Existing Adaptive Honeypots…">
            <a:extLst>
              <a:ext uri="{FF2B5EF4-FFF2-40B4-BE49-F238E27FC236}">
                <a16:creationId xmlns:a16="http://schemas.microsoft.com/office/drawing/2014/main" id="{0EF91975-4A1C-9D90-887F-FCCE93B4E573}"/>
              </a:ext>
            </a:extLst>
          </p:cNvPr>
          <p:cNvSpPr txBox="1">
            <a:spLocks/>
          </p:cNvSpPr>
          <p:nvPr/>
        </p:nvSpPr>
        <p:spPr>
          <a:xfrm>
            <a:off x="8743373" y="4031146"/>
            <a:ext cx="21971000" cy="106629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Times New Roman" panose="02020603050405020304" pitchFamily="18" charset="0"/>
                <a:ea typeface="+mn-ea"/>
                <a:cs typeface="Times New Roman" panose="02020603050405020304" pitchFamily="18" charset="0"/>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lvl="1" hangingPunct="1">
              <a:lnSpc>
                <a:spcPct val="10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SQL Servers: 6</a:t>
            </a:r>
          </a:p>
          <a:p>
            <a:pPr lvl="1" hangingPunct="1">
              <a:lnSpc>
                <a:spcPct val="10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Web Servers: 6</a:t>
            </a:r>
          </a:p>
          <a:p>
            <a:pPr lvl="1" hangingPunct="1">
              <a:lnSpc>
                <a:spcPct val="10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Windows Hosts: 14</a:t>
            </a:r>
            <a:endParaRPr lang="en-US" sz="4000" dirty="0">
              <a:solidFill>
                <a:schemeClr val="tx1"/>
              </a:solidFill>
            </a:endParaRPr>
          </a:p>
        </p:txBody>
      </p:sp>
    </p:spTree>
    <p:extLst>
      <p:ext uri="{BB962C8B-B14F-4D97-AF65-F5344CB8AC3E}">
        <p14:creationId xmlns:p14="http://schemas.microsoft.com/office/powerpoint/2010/main" val="1066940130"/>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7ACB94-F036-5086-E21B-FAC0C452209F}"/>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55791589-4AD1-DFC5-D862-2F76411CB4EC}"/>
              </a:ext>
            </a:extLst>
          </p:cNvPr>
          <p:cNvSpPr txBox="1">
            <a:spLocks noGrp="1"/>
          </p:cNvSpPr>
          <p:nvPr>
            <p:ph type="title"/>
          </p:nvPr>
        </p:nvSpPr>
        <p:spPr>
          <a:prstGeom prst="rect">
            <a:avLst/>
          </a:prstGeom>
        </p:spPr>
        <p:txBody>
          <a:bodyPr/>
          <a:lstStyle/>
          <a:p>
            <a:r>
              <a:rPr lang="en-US" altLang="zh-TW" dirty="0"/>
              <a:t>TODO</a:t>
            </a:r>
            <a:endParaRPr dirty="0"/>
          </a:p>
        </p:txBody>
      </p:sp>
      <p:sp>
        <p:nvSpPr>
          <p:cNvPr id="163" name="Challenges in Existing Adaptive Honeypots…">
            <a:extLst>
              <a:ext uri="{FF2B5EF4-FFF2-40B4-BE49-F238E27FC236}">
                <a16:creationId xmlns:a16="http://schemas.microsoft.com/office/drawing/2014/main" id="{4A1C3E61-D9FC-0915-5B19-2F6191DABEA8}"/>
              </a:ext>
            </a:extLst>
          </p:cNvPr>
          <p:cNvSpPr txBox="1">
            <a:spLocks noGrp="1"/>
          </p:cNvSpPr>
          <p:nvPr>
            <p:ph type="body" idx="1"/>
          </p:nvPr>
        </p:nvSpPr>
        <p:spPr>
          <a:xfrm>
            <a:off x="1206500" y="2743200"/>
            <a:ext cx="21971000" cy="10662972"/>
          </a:xfrm>
          <a:prstGeom prst="rect">
            <a:avLst/>
          </a:prstGeom>
        </p:spPr>
        <p:txBody>
          <a:bodyPr>
            <a:normAutofit/>
          </a:bodyPr>
          <a:lstStyle/>
          <a:p>
            <a:pPr>
              <a:lnSpc>
                <a:spcPct val="150000"/>
              </a:lnSpc>
              <a:spcBef>
                <a:spcPts val="2100"/>
              </a:spcBef>
            </a:pPr>
            <a:r>
              <a:rPr lang="en-US" sz="4400" dirty="0">
                <a:solidFill>
                  <a:schemeClr val="tx1"/>
                </a:solidFill>
              </a:rPr>
              <a:t>Improve Tool Quality</a:t>
            </a:r>
          </a:p>
          <a:p>
            <a:pPr lvl="1">
              <a:lnSpc>
                <a:spcPct val="150000"/>
              </a:lnSpc>
              <a:spcBef>
                <a:spcPts val="2100"/>
              </a:spcBef>
            </a:pPr>
            <a:r>
              <a:rPr lang="en-US" sz="4000" dirty="0">
                <a:solidFill>
                  <a:schemeClr val="tx1"/>
                </a:solidFill>
                <a:latin typeface="Times New Roman" panose="02020603050405020304" pitchFamily="18" charset="0"/>
                <a:cs typeface="Times New Roman" panose="02020603050405020304" pitchFamily="18" charset="0"/>
              </a:rPr>
              <a:t>Enhance robustness, reliability, and consistency across all tools.</a:t>
            </a:r>
          </a:p>
          <a:p>
            <a:pPr>
              <a:lnSpc>
                <a:spcPct val="150000"/>
              </a:lnSpc>
              <a:spcBef>
                <a:spcPts val="2100"/>
              </a:spcBef>
            </a:pPr>
            <a:r>
              <a:rPr lang="en-US" sz="4400" dirty="0">
                <a:solidFill>
                  <a:schemeClr val="tx1"/>
                </a:solidFill>
              </a:rPr>
              <a:t>Generate Task–Plan Dataset</a:t>
            </a:r>
          </a:p>
          <a:p>
            <a:pPr lvl="1">
              <a:lnSpc>
                <a:spcPct val="150000"/>
              </a:lnSpc>
              <a:spcBef>
                <a:spcPts val="2100"/>
              </a:spcBef>
            </a:pPr>
            <a:r>
              <a:rPr lang="en-US" sz="4000" dirty="0">
                <a:solidFill>
                  <a:schemeClr val="tx1"/>
                </a:solidFill>
                <a:latin typeface="Times New Roman" panose="02020603050405020304" pitchFamily="18" charset="0"/>
                <a:cs typeface="Times New Roman" panose="02020603050405020304" pitchFamily="18" charset="0"/>
              </a:rPr>
              <a:t>Build a structured dataset of tasks and corresponding execution plans for training and evaluation.</a:t>
            </a:r>
          </a:p>
          <a:p>
            <a:pPr>
              <a:lnSpc>
                <a:spcPct val="150000"/>
              </a:lnSpc>
              <a:spcBef>
                <a:spcPts val="2100"/>
              </a:spcBef>
            </a:pPr>
            <a:r>
              <a:rPr lang="en-US" sz="4400" dirty="0">
                <a:solidFill>
                  <a:schemeClr val="tx1"/>
                </a:solidFill>
              </a:rPr>
              <a:t>Design Evaluation Methodology and Metrics</a:t>
            </a:r>
          </a:p>
          <a:p>
            <a:pPr lvl="1">
              <a:lnSpc>
                <a:spcPct val="150000"/>
              </a:lnSpc>
              <a:spcBef>
                <a:spcPts val="2100"/>
              </a:spcBef>
            </a:pPr>
            <a:r>
              <a:rPr lang="en-US" sz="4000" dirty="0">
                <a:solidFill>
                  <a:schemeClr val="tx1"/>
                </a:solidFill>
                <a:latin typeface="Times New Roman" panose="02020603050405020304" pitchFamily="18" charset="0"/>
                <a:cs typeface="Times New Roman" panose="02020603050405020304" pitchFamily="18" charset="0"/>
              </a:rPr>
              <a:t>Define clear evaluation procedures, benchmarks, and quantitative metrics to measure performance and effectiveness.</a:t>
            </a:r>
          </a:p>
        </p:txBody>
      </p:sp>
      <p:sp>
        <p:nvSpPr>
          <p:cNvPr id="2" name="投影片編號版面配置區 1">
            <a:extLst>
              <a:ext uri="{FF2B5EF4-FFF2-40B4-BE49-F238E27FC236}">
                <a16:creationId xmlns:a16="http://schemas.microsoft.com/office/drawing/2014/main" id="{5B131C60-E660-5347-5ECF-435F64F8C483}"/>
              </a:ext>
            </a:extLst>
          </p:cNvPr>
          <p:cNvSpPr>
            <a:spLocks noGrp="1"/>
          </p:cNvSpPr>
          <p:nvPr>
            <p:ph type="sldNum" sz="quarter" idx="2"/>
          </p:nvPr>
        </p:nvSpPr>
        <p:spPr/>
        <p:txBody>
          <a:bodyPr/>
          <a:lstStyle/>
          <a:p>
            <a:fld id="{86CB4B4D-7CA3-9044-876B-883B54F8677D}" type="slidenum">
              <a:rPr lang="en-US" altLang="zh-TW" smtClean="0"/>
              <a:t>66</a:t>
            </a:fld>
            <a:endParaRPr lang="zh-TW" altLang="en-US"/>
          </a:p>
        </p:txBody>
      </p:sp>
    </p:spTree>
    <p:extLst>
      <p:ext uri="{BB962C8B-B14F-4D97-AF65-F5344CB8AC3E}">
        <p14:creationId xmlns:p14="http://schemas.microsoft.com/office/powerpoint/2010/main" val="2694914043"/>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926347-9744-D683-550F-320A3F54FACB}"/>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D3FE4C6B-8FFF-C443-B80E-E89B59D12412}"/>
              </a:ext>
            </a:extLst>
          </p:cNvPr>
          <p:cNvSpPr txBox="1">
            <a:spLocks noGrp="1"/>
          </p:cNvSpPr>
          <p:nvPr>
            <p:ph type="title"/>
          </p:nvPr>
        </p:nvSpPr>
        <p:spPr>
          <a:prstGeom prst="rect">
            <a:avLst/>
          </a:prstGeom>
        </p:spPr>
        <p:txBody>
          <a:bodyPr/>
          <a:lstStyle/>
          <a:p>
            <a:r>
              <a:rPr lang="en-US" altLang="zh-TW" dirty="0"/>
              <a:t>TODO - Attack Depth</a:t>
            </a:r>
            <a:endParaRPr dirty="0"/>
          </a:p>
        </p:txBody>
      </p:sp>
      <p:sp>
        <p:nvSpPr>
          <p:cNvPr id="2" name="投影片編號版面配置區 1">
            <a:extLst>
              <a:ext uri="{FF2B5EF4-FFF2-40B4-BE49-F238E27FC236}">
                <a16:creationId xmlns:a16="http://schemas.microsoft.com/office/drawing/2014/main" id="{1F298710-0F70-2530-618E-B617AEAEFB4E}"/>
              </a:ext>
            </a:extLst>
          </p:cNvPr>
          <p:cNvSpPr>
            <a:spLocks noGrp="1"/>
          </p:cNvSpPr>
          <p:nvPr>
            <p:ph type="sldNum" sz="quarter" idx="2"/>
          </p:nvPr>
        </p:nvSpPr>
        <p:spPr/>
        <p:txBody>
          <a:bodyPr/>
          <a:lstStyle/>
          <a:p>
            <a:fld id="{86CB4B4D-7CA3-9044-876B-883B54F8677D}" type="slidenum">
              <a:rPr lang="en-US" altLang="zh-TW" smtClean="0"/>
              <a:t>67</a:t>
            </a:fld>
            <a:endParaRPr lang="zh-TW" altLang="en-US"/>
          </a:p>
        </p:txBody>
      </p:sp>
      <p:pic>
        <p:nvPicPr>
          <p:cNvPr id="4" name="圖片 3">
            <a:extLst>
              <a:ext uri="{FF2B5EF4-FFF2-40B4-BE49-F238E27FC236}">
                <a16:creationId xmlns:a16="http://schemas.microsoft.com/office/drawing/2014/main" id="{7F6C09EF-F054-F152-1C45-2672316C1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963" y="4156841"/>
            <a:ext cx="11685512" cy="6812789"/>
          </a:xfrm>
          <a:prstGeom prst="rect">
            <a:avLst/>
          </a:prstGeom>
        </p:spPr>
      </p:pic>
      <p:pic>
        <p:nvPicPr>
          <p:cNvPr id="6" name="圖片 5">
            <a:extLst>
              <a:ext uri="{FF2B5EF4-FFF2-40B4-BE49-F238E27FC236}">
                <a16:creationId xmlns:a16="http://schemas.microsoft.com/office/drawing/2014/main" id="{0A52518E-C772-3638-9618-5B1DA47683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58527" y="4156841"/>
            <a:ext cx="11685512" cy="6812789"/>
          </a:xfrm>
          <a:prstGeom prst="rect">
            <a:avLst/>
          </a:prstGeom>
        </p:spPr>
      </p:pic>
    </p:spTree>
    <p:extLst>
      <p:ext uri="{BB962C8B-B14F-4D97-AF65-F5344CB8AC3E}">
        <p14:creationId xmlns:p14="http://schemas.microsoft.com/office/powerpoint/2010/main" val="3029559908"/>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95930A-66D9-2E07-E5CF-DDD5379263EA}"/>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5C0200AC-329A-0BFA-760B-D858B4FE981D}"/>
              </a:ext>
            </a:extLst>
          </p:cNvPr>
          <p:cNvSpPr txBox="1">
            <a:spLocks noGrp="1"/>
          </p:cNvSpPr>
          <p:nvPr>
            <p:ph type="title"/>
          </p:nvPr>
        </p:nvSpPr>
        <p:spPr>
          <a:prstGeom prst="rect">
            <a:avLst/>
          </a:prstGeom>
        </p:spPr>
        <p:txBody>
          <a:bodyPr/>
          <a:lstStyle/>
          <a:p>
            <a:r>
              <a:rPr lang="en-US" altLang="zh-TW" dirty="0"/>
              <a:t>TODO - Behavior Diversity</a:t>
            </a:r>
            <a:endParaRPr dirty="0"/>
          </a:p>
        </p:txBody>
      </p:sp>
      <p:sp>
        <p:nvSpPr>
          <p:cNvPr id="2" name="投影片編號版面配置區 1">
            <a:extLst>
              <a:ext uri="{FF2B5EF4-FFF2-40B4-BE49-F238E27FC236}">
                <a16:creationId xmlns:a16="http://schemas.microsoft.com/office/drawing/2014/main" id="{C4546ABB-A516-88D8-29DD-ECC1FB15D2E6}"/>
              </a:ext>
            </a:extLst>
          </p:cNvPr>
          <p:cNvSpPr>
            <a:spLocks noGrp="1"/>
          </p:cNvSpPr>
          <p:nvPr>
            <p:ph type="sldNum" sz="quarter" idx="2"/>
          </p:nvPr>
        </p:nvSpPr>
        <p:spPr/>
        <p:txBody>
          <a:bodyPr/>
          <a:lstStyle/>
          <a:p>
            <a:fld id="{86CB4B4D-7CA3-9044-876B-883B54F8677D}" type="slidenum">
              <a:rPr lang="en-US" altLang="zh-TW" smtClean="0"/>
              <a:t>68</a:t>
            </a:fld>
            <a:endParaRPr lang="zh-TW" altLang="en-US"/>
          </a:p>
        </p:txBody>
      </p:sp>
      <p:pic>
        <p:nvPicPr>
          <p:cNvPr id="5" name="圖片 4">
            <a:extLst>
              <a:ext uri="{FF2B5EF4-FFF2-40B4-BE49-F238E27FC236}">
                <a16:creationId xmlns:a16="http://schemas.microsoft.com/office/drawing/2014/main" id="{CD67BEFE-9F1C-1EA1-1D62-47E313D53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738" y="3849638"/>
            <a:ext cx="11711405" cy="6827885"/>
          </a:xfrm>
          <a:prstGeom prst="rect">
            <a:avLst/>
          </a:prstGeom>
        </p:spPr>
      </p:pic>
      <p:pic>
        <p:nvPicPr>
          <p:cNvPr id="8" name="圖片 7">
            <a:extLst>
              <a:ext uri="{FF2B5EF4-FFF2-40B4-BE49-F238E27FC236}">
                <a16:creationId xmlns:a16="http://schemas.microsoft.com/office/drawing/2014/main" id="{027EE6C3-EC52-CA5C-6E56-0566DDB54B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57300" y="3699426"/>
            <a:ext cx="12226700" cy="7128308"/>
          </a:xfrm>
          <a:prstGeom prst="rect">
            <a:avLst/>
          </a:prstGeom>
        </p:spPr>
      </p:pic>
    </p:spTree>
    <p:extLst>
      <p:ext uri="{BB962C8B-B14F-4D97-AF65-F5344CB8AC3E}">
        <p14:creationId xmlns:p14="http://schemas.microsoft.com/office/powerpoint/2010/main" val="1388082623"/>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0E0E25-DA72-A8C9-28C1-B3434DDA5778}"/>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07838C1F-8E66-F49D-87AF-F2344766A7A3}"/>
              </a:ext>
            </a:extLst>
          </p:cNvPr>
          <p:cNvSpPr txBox="1">
            <a:spLocks noGrp="1"/>
          </p:cNvSpPr>
          <p:nvPr>
            <p:ph type="title"/>
          </p:nvPr>
        </p:nvSpPr>
        <p:spPr>
          <a:prstGeom prst="rect">
            <a:avLst/>
          </a:prstGeom>
        </p:spPr>
        <p:txBody>
          <a:bodyPr/>
          <a:lstStyle/>
          <a:p>
            <a:r>
              <a:rPr lang="en-US" altLang="zh-TW" dirty="0"/>
              <a:t>TODO - Lateral Movement</a:t>
            </a:r>
            <a:endParaRPr dirty="0"/>
          </a:p>
        </p:txBody>
      </p:sp>
      <p:sp>
        <p:nvSpPr>
          <p:cNvPr id="2" name="投影片編號版面配置區 1">
            <a:extLst>
              <a:ext uri="{FF2B5EF4-FFF2-40B4-BE49-F238E27FC236}">
                <a16:creationId xmlns:a16="http://schemas.microsoft.com/office/drawing/2014/main" id="{036AB1A3-9F4C-CD5C-33BA-0E4A2FE2D6C9}"/>
              </a:ext>
            </a:extLst>
          </p:cNvPr>
          <p:cNvSpPr>
            <a:spLocks noGrp="1"/>
          </p:cNvSpPr>
          <p:nvPr>
            <p:ph type="sldNum" sz="quarter" idx="2"/>
          </p:nvPr>
        </p:nvSpPr>
        <p:spPr/>
        <p:txBody>
          <a:bodyPr/>
          <a:lstStyle/>
          <a:p>
            <a:fld id="{86CB4B4D-7CA3-9044-876B-883B54F8677D}" type="slidenum">
              <a:rPr lang="en-US" altLang="zh-TW" smtClean="0"/>
              <a:t>69</a:t>
            </a:fld>
            <a:endParaRPr lang="zh-TW" altLang="en-US"/>
          </a:p>
        </p:txBody>
      </p:sp>
      <p:pic>
        <p:nvPicPr>
          <p:cNvPr id="4" name="圖片 3">
            <a:extLst>
              <a:ext uri="{FF2B5EF4-FFF2-40B4-BE49-F238E27FC236}">
                <a16:creationId xmlns:a16="http://schemas.microsoft.com/office/drawing/2014/main" id="{B82960E0-C01B-C1E1-6FB8-2377ECE1E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99426"/>
            <a:ext cx="12226701" cy="7128308"/>
          </a:xfrm>
          <a:prstGeom prst="rect">
            <a:avLst/>
          </a:prstGeom>
        </p:spPr>
      </p:pic>
      <p:pic>
        <p:nvPicPr>
          <p:cNvPr id="7" name="圖片 6">
            <a:extLst>
              <a:ext uri="{FF2B5EF4-FFF2-40B4-BE49-F238E27FC236}">
                <a16:creationId xmlns:a16="http://schemas.microsoft.com/office/drawing/2014/main" id="{44857196-E79D-1147-DFC4-F9483C5C3A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60239" y="3699426"/>
            <a:ext cx="12226701" cy="7128308"/>
          </a:xfrm>
          <a:prstGeom prst="rect">
            <a:avLst/>
          </a:prstGeom>
        </p:spPr>
      </p:pic>
    </p:spTree>
    <p:extLst>
      <p:ext uri="{BB962C8B-B14F-4D97-AF65-F5344CB8AC3E}">
        <p14:creationId xmlns:p14="http://schemas.microsoft.com/office/powerpoint/2010/main" val="3600331643"/>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DDE7E2-6F21-6697-8C00-C64E6EC83FB8}"/>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79C67CDB-AE85-B5F1-388F-7750A12CCE02}"/>
              </a:ext>
            </a:extLst>
          </p:cNvPr>
          <p:cNvSpPr txBox="1">
            <a:spLocks noGrp="1"/>
          </p:cNvSpPr>
          <p:nvPr>
            <p:ph type="title"/>
          </p:nvPr>
        </p:nvSpPr>
        <p:spPr>
          <a:prstGeom prst="rect">
            <a:avLst/>
          </a:prstGeom>
        </p:spPr>
        <p:txBody>
          <a:bodyPr/>
          <a:lstStyle/>
          <a:p>
            <a:r>
              <a:rPr lang="en-US" altLang="zh-TW" dirty="0"/>
              <a:t>TODO - Planner &amp; Stability</a:t>
            </a:r>
            <a:endParaRPr dirty="0"/>
          </a:p>
        </p:txBody>
      </p:sp>
      <p:sp>
        <p:nvSpPr>
          <p:cNvPr id="2" name="投影片編號版面配置區 1">
            <a:extLst>
              <a:ext uri="{FF2B5EF4-FFF2-40B4-BE49-F238E27FC236}">
                <a16:creationId xmlns:a16="http://schemas.microsoft.com/office/drawing/2014/main" id="{63F63DAC-D729-003D-5DAF-83035F0D168E}"/>
              </a:ext>
            </a:extLst>
          </p:cNvPr>
          <p:cNvSpPr>
            <a:spLocks noGrp="1"/>
          </p:cNvSpPr>
          <p:nvPr>
            <p:ph type="sldNum" sz="quarter" idx="2"/>
          </p:nvPr>
        </p:nvSpPr>
        <p:spPr/>
        <p:txBody>
          <a:bodyPr/>
          <a:lstStyle/>
          <a:p>
            <a:fld id="{86CB4B4D-7CA3-9044-876B-883B54F8677D}" type="slidenum">
              <a:rPr lang="en-US" altLang="zh-TW" smtClean="0"/>
              <a:t>70</a:t>
            </a:fld>
            <a:endParaRPr lang="zh-TW" altLang="en-US"/>
          </a:p>
        </p:txBody>
      </p:sp>
      <p:pic>
        <p:nvPicPr>
          <p:cNvPr id="5" name="圖片 4">
            <a:extLst>
              <a:ext uri="{FF2B5EF4-FFF2-40B4-BE49-F238E27FC236}">
                <a16:creationId xmlns:a16="http://schemas.microsoft.com/office/drawing/2014/main" id="{DB1F7168-BDA7-8C83-3ECB-56498E981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01" y="3699426"/>
            <a:ext cx="12226701" cy="7128308"/>
          </a:xfrm>
          <a:prstGeom prst="rect">
            <a:avLst/>
          </a:prstGeom>
        </p:spPr>
      </p:pic>
      <p:pic>
        <p:nvPicPr>
          <p:cNvPr id="8" name="圖片 7">
            <a:extLst>
              <a:ext uri="{FF2B5EF4-FFF2-40B4-BE49-F238E27FC236}">
                <a16:creationId xmlns:a16="http://schemas.microsoft.com/office/drawing/2014/main" id="{FF45E292-53AF-BF27-D50D-F5C96222B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57300" y="3699426"/>
            <a:ext cx="12226700" cy="7128308"/>
          </a:xfrm>
          <a:prstGeom prst="rect">
            <a:avLst/>
          </a:prstGeom>
        </p:spPr>
      </p:pic>
    </p:spTree>
    <p:extLst>
      <p:ext uri="{BB962C8B-B14F-4D97-AF65-F5344CB8AC3E}">
        <p14:creationId xmlns:p14="http://schemas.microsoft.com/office/powerpoint/2010/main" val="1279273793"/>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7" name="Notations"/>
          <p:cNvSpPr txBox="1">
            <a:spLocks noGrp="1"/>
          </p:cNvSpPr>
          <p:nvPr>
            <p:ph type="title"/>
          </p:nvPr>
        </p:nvSpPr>
        <p:spPr>
          <a:prstGeom prst="rect">
            <a:avLst/>
          </a:prstGeom>
        </p:spPr>
        <p:txBody>
          <a:bodyPr/>
          <a:lstStyle/>
          <a:p>
            <a:r>
              <a:t>Notations</a:t>
            </a:r>
          </a:p>
        </p:txBody>
      </p:sp>
      <mc:AlternateContent xmlns:mc="http://schemas.openxmlformats.org/markup-compatibility/2006" xmlns:a14="http://schemas.microsoft.com/office/drawing/2010/main">
        <mc:Choice Requires="a14">
          <p:graphicFrame>
            <p:nvGraphicFramePr>
              <p:cNvPr id="210" name="表格 1"/>
              <p:cNvGraphicFramePr/>
              <p:nvPr/>
            </p:nvGraphicFramePr>
            <p:xfrm>
              <a:off x="1886446" y="2299689"/>
              <a:ext cx="20878305" cy="9823316"/>
            </p:xfrm>
            <a:graphic>
              <a:graphicData uri="http://schemas.openxmlformats.org/drawingml/2006/table">
                <a:tbl>
                  <a:tblPr>
                    <a:tableStyleId>{4C3C2611-4C71-4FC5-86AE-919BDF0F9419}</a:tableStyleId>
                  </a:tblPr>
                  <a:tblGrid>
                    <a:gridCol w="3873944">
                      <a:extLst>
                        <a:ext uri="{9D8B030D-6E8A-4147-A177-3AD203B41FA5}">
                          <a16:colId xmlns:a16="http://schemas.microsoft.com/office/drawing/2014/main" val="868843476"/>
                        </a:ext>
                      </a:extLst>
                    </a:gridCol>
                    <a:gridCol w="3873944">
                      <a:extLst>
                        <a:ext uri="{9D8B030D-6E8A-4147-A177-3AD203B41FA5}">
                          <a16:colId xmlns:a16="http://schemas.microsoft.com/office/drawing/2014/main" val="20001"/>
                        </a:ext>
                      </a:extLst>
                    </a:gridCol>
                    <a:gridCol w="13130417">
                      <a:extLst>
                        <a:ext uri="{9D8B030D-6E8A-4147-A177-3AD203B41FA5}">
                          <a16:colId xmlns:a16="http://schemas.microsoft.com/office/drawing/2014/main" val="20002"/>
                        </a:ext>
                      </a:extLst>
                    </a:gridCol>
                  </a:tblGrid>
                  <a:tr h="553304">
                    <a:tc>
                      <a:txBody>
                        <a:bodyPr/>
                        <a:lstStyle/>
                        <a:p>
                          <a:pPr defTabSz="914400"/>
                          <a:r>
                            <a:rPr lang="en-US" altLang="zh-TW" sz="3200" b="0" i="0" dirty="0">
                              <a:latin typeface="Times New Roman" panose="02020603050405020304" pitchFamily="18" charset="0"/>
                              <a:cs typeface="Times New Roman" panose="02020603050405020304" pitchFamily="18" charset="0"/>
                            </a:rPr>
                            <a:t>Categories</a:t>
                          </a:r>
                          <a:endParaRPr sz="32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Notation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Description</a:t>
                          </a:r>
                        </a:p>
                      </a:txBody>
                      <a:tcPr marL="50800" marR="50800" marT="50800" marB="50800" anchor="ctr" horzOverflow="overflow"/>
                    </a:tc>
                    <a:extLst>
                      <a:ext uri="{0D108BD9-81ED-4DB2-BD59-A6C34878D82A}">
                        <a16:rowId xmlns:a16="http://schemas.microsoft.com/office/drawing/2014/main" val="10000"/>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r>
                            <a:rPr kumimoji="0"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Interaction &amp; Session</a:t>
                          </a: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𝐻</m:t>
                                    </m:r>
                                  </m:sub>
                                </m:sSub>
                              </m:oMath>
                            </m:oMathPara>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lvl="1" algn="l" defTabSz="914400"/>
                          <a:r>
                            <a:rPr sz="2400" b="0" i="0" dirty="0">
                              <a:latin typeface="Times New Roman" panose="02020603050405020304" pitchFamily="18" charset="0"/>
                              <a:cs typeface="Times New Roman" panose="02020603050405020304" pitchFamily="18" charset="0"/>
                            </a:rPr>
                            <a:t>Number of computer host in the honeynet</a:t>
                          </a:r>
                        </a:p>
                      </a:txBody>
                      <a:tcPr marL="50800" marR="50800" marT="50800" marB="50800" anchor="ctr" horzOverflow="overflow"/>
                    </a:tc>
                    <a:extLst>
                      <a:ext uri="{0D108BD9-81ED-4DB2-BD59-A6C34878D82A}">
                        <a16:rowId xmlns:a16="http://schemas.microsoft.com/office/drawing/2014/main" val="10001"/>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𝐶</m:t>
                                    </m:r>
                                  </m:sub>
                                </m:sSub>
                              </m:oMath>
                            </m:oMathPara>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 of command in one session</a:t>
                          </a:r>
                        </a:p>
                      </a:txBody>
                      <a:tcPr marL="50800" marR="50800" marT="50800" marB="50800" anchor="ctr" horzOverflow="overflow"/>
                    </a:tc>
                    <a:extLst>
                      <a:ext uri="{0D108BD9-81ED-4DB2-BD59-A6C34878D82A}">
                        <a16:rowId xmlns:a16="http://schemas.microsoft.com/office/drawing/2014/main" val="1785228772"/>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mn-cs"/>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mn-cs"/>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mn-cs"/>
                                        <a:sym typeface="Helvetica Neue"/>
                                      </a:rPr>
                                      <m:t>𝑇</m:t>
                                    </m:r>
                                  </m:sub>
                                </m:sSub>
                              </m:oMath>
                            </m:oMathPara>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of</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attack tactics </a:t>
                          </a:r>
                        </a:p>
                      </a:txBody>
                      <a:tcPr marL="50800" marR="50800" marT="50800" marB="50800" anchor="ctr" horzOverflow="overflow"/>
                    </a:tc>
                    <a:extLst>
                      <a:ext uri="{0D108BD9-81ED-4DB2-BD59-A6C34878D82A}">
                        <a16:rowId xmlns:a16="http://schemas.microsoft.com/office/drawing/2014/main" val="146255929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 xmlns:m="http://schemas.openxmlformats.org/officeDocument/2006/math">
                              <m:r>
                                <a:rPr lang="ar-AE" altLang="zh-TW" sz="2400" b="0" i="1" smtClean="0">
                                  <a:latin typeface="Cambria Math" panose="02040503050406030204" pitchFamily="18" charset="0"/>
                                  <a:ea typeface="Cambria Math" panose="02040503050406030204" pitchFamily="18" charset="0"/>
                                </a:rPr>
                                <m:t>ℋ</m:t>
                              </m:r>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r>
                                    <a:rPr lang="ar-AE" altLang="zh-TW" sz="2400" b="0" i="1" smtClean="0">
                                      <a:latin typeface="Cambria Math" panose="02040503050406030204" pitchFamily="18" charset="0"/>
                                      <a:ea typeface="Cambria Math" panose="02040503050406030204" pitchFamily="18" charset="0"/>
                                    </a:rPr>
                                    <m:t>1</m:t>
                                  </m:r>
                                </m:sub>
                              </m:sSub>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ar-AE" altLang="zh-TW" sz="2400" b="0" i="1" smtClean="0">
                                          <a:latin typeface="Cambria Math" panose="02040503050406030204" pitchFamily="18" charset="0"/>
                                          <a:ea typeface="Cambria Math" panose="02040503050406030204" pitchFamily="18" charset="0"/>
                                        </a:rPr>
                                        <m:t>𝐻</m:t>
                                      </m:r>
                                    </m:sub>
                                  </m:sSub>
                                </m:sub>
                              </m:sSub>
                            </m:oMath>
                          </a14:m>
                          <a:r>
                            <a:rPr lang="ar-AE" altLang="zh-TW" sz="2400" b="0" i="1"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Set of honeynet hosts</a:t>
                          </a:r>
                        </a:p>
                      </a:txBody>
                      <a:tcPr marL="50800" marR="50800" marT="50800" marB="50800" anchor="ctr" horzOverflow="overflow"/>
                    </a:tc>
                    <a:extLst>
                      <a:ext uri="{0D108BD9-81ED-4DB2-BD59-A6C34878D82A}">
                        <a16:rowId xmlns:a16="http://schemas.microsoft.com/office/drawing/2014/main" val="153285905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ar-AE" altLang="zh-TW" sz="2400" b="0" i="1" smtClean="0">
                                    <a:latin typeface="Cambria Math" panose="02040503050406030204" pitchFamily="18" charset="0"/>
                                  </a:rPr>
                                  <m:t>𝑖</m:t>
                                </m:r>
                                <m:r>
                                  <a:rPr lang="ar-AE" altLang="zh-TW" sz="2400" b="0" i="1" smtClean="0">
                                    <a:latin typeface="Cambria Math" panose="02040503050406030204" pitchFamily="18" charset="0"/>
                                    <a:ea typeface="Cambria Math" panose="02040503050406030204" pitchFamily="18" charset="0"/>
                                  </a:rPr>
                                  <m:t>∈{1,…,</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en-US" altLang="zh-TW" sz="2400" b="0" i="1" smtClean="0">
                                        <a:latin typeface="Cambria Math" panose="02040503050406030204" pitchFamily="18" charset="0"/>
                                        <a:ea typeface="Cambria Math" panose="02040503050406030204" pitchFamily="18" charset="0"/>
                                      </a:rPr>
                                      <m:t>𝑐</m:t>
                                    </m:r>
                                  </m:sub>
                                </m:sSub>
                                <m:r>
                                  <a:rPr lang="ar-AE" altLang="zh-TW" sz="2400" b="0" i="1" smtClean="0">
                                    <a:latin typeface="Cambria Math" panose="02040503050406030204" pitchFamily="18" charset="0"/>
                                    <a:ea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Command issued by the attacker (derived from technique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𝑖</m:t>
                                  </m:r>
                                </m:sub>
                              </m:sSub>
                            </m:oMath>
                          </a14:m>
                          <a:r>
                            <a:rPr lang="en-US"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3962610161"/>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ar-AE" altLang="zh-TW" sz="2400" b="0" i="1" smtClean="0">
                                    <a:latin typeface="Cambria Math" panose="02040503050406030204" pitchFamily="18" charset="0"/>
                                  </a:rPr>
                                  <m:t>𝑖</m:t>
                                </m:r>
                                <m:r>
                                  <a:rPr lang="ar-AE" altLang="zh-TW" sz="2400" b="0" i="1" smtClean="0">
                                    <a:latin typeface="Cambria Math" panose="02040503050406030204" pitchFamily="18" charset="0"/>
                                    <a:ea typeface="Cambria Math" panose="02040503050406030204" pitchFamily="18" charset="0"/>
                                  </a:rPr>
                                  <m:t>∈{1,…,</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en-US" altLang="zh-TW" sz="2400" b="0" i="1" smtClean="0">
                                        <a:latin typeface="Cambria Math" panose="02040503050406030204" pitchFamily="18" charset="0"/>
                                        <a:ea typeface="Cambria Math" panose="02040503050406030204" pitchFamily="18" charset="0"/>
                                      </a:rPr>
                                      <m:t>𝑐</m:t>
                                    </m:r>
                                  </m:sub>
                                </m:sSub>
                                <m:r>
                                  <a:rPr lang="ar-AE" altLang="zh-TW" sz="2400" b="0" i="1" smtClean="0">
                                    <a:latin typeface="Cambria Math" panose="02040503050406030204" pitchFamily="18" charset="0"/>
                                    <a:ea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Response observed by the attacker after executing </a:t>
                          </a:r>
                          <a:r>
                            <a:rPr lang="en-US" altLang="zh-TW" sz="2400" b="0" i="0" dirty="0">
                              <a:latin typeface="Times New Roman" panose="02020603050405020304" pitchFamily="18" charset="0"/>
                              <a:cs typeface="Times New Roman" panose="02020603050405020304" pitchFamily="18" charset="0"/>
                            </a:rPr>
                            <a:t>command</a:t>
                          </a:r>
                          <a:r>
                            <a:rPr lang="en-US" sz="2400" b="0" i="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oMath>
                          </a14:m>
                          <a:endParaRPr lang="en-US"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22713571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altLang="zh-TW" sz="2400" b="0" i="1" smtClean="0">
                                    <a:latin typeface="Cambria Math" panose="02040503050406030204" pitchFamily="18" charset="0"/>
                                    <a:ea typeface="Cambria Math" panose="02040503050406030204" pitchFamily="18" charset="0"/>
                                  </a:rPr>
                                  <m:t>𝜋</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en-US" altLang="zh-TW" sz="2400" b="0" i="1" smtClean="0">
                                            <a:latin typeface="Cambria Math" panose="02040503050406030204" pitchFamily="18" charset="0"/>
                                          </a:rPr>
                                          <m:t>𝑐</m:t>
                                        </m:r>
                                      </m:sub>
                                    </m:sSub>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The action decide by the </a:t>
                          </a:r>
                          <a:r>
                            <a:rPr lang="en-US" altLang="zh-TW" sz="2400" b="0" i="0" dirty="0">
                              <a:latin typeface="Times New Roman" panose="02020603050405020304" pitchFamily="18" charset="0"/>
                              <a:cs typeface="Times New Roman" panose="02020603050405020304" pitchFamily="18" charset="0"/>
                            </a:rPr>
                            <a:t>LLM strategist</a:t>
                          </a:r>
                          <a:r>
                            <a:rPr lang="en-US" sz="2400" b="0" i="0" dirty="0">
                              <a:latin typeface="Times New Roman" panose="02020603050405020304" pitchFamily="18" charset="0"/>
                              <a:cs typeface="Times New Roman" panose="02020603050405020304" pitchFamily="18" charset="0"/>
                            </a:rPr>
                            <a:t> for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𝑖𝑡h</m:t>
                              </m:r>
                              <m:r>
                                <a:rPr lang="en-US" sz="2400" b="0" i="1" smtClean="0">
                                  <a:latin typeface="Cambria Math" panose="02040503050406030204" pitchFamily="18" charset="0"/>
                                  <a:cs typeface="Times New Roman" panose="02020603050405020304" pitchFamily="18" charset="0"/>
                                </a:rPr>
                                <m:t> </m:t>
                              </m:r>
                            </m:oMath>
                          </a14:m>
                          <a:r>
                            <a:rPr lang="en-US" sz="2400" b="0" i="0" dirty="0">
                              <a:latin typeface="Times New Roman" panose="02020603050405020304" pitchFamily="18" charset="0"/>
                              <a:cs typeface="Times New Roman" panose="02020603050405020304" pitchFamily="18" charset="0"/>
                            </a:rPr>
                            <a:t>input command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oMath>
                          </a14:m>
                          <a:r>
                            <a:rPr lang="en-US" altLang="zh-TW" sz="2400" b="0" i="0" dirty="0">
                              <a:latin typeface="Times New Roman" panose="02020603050405020304" pitchFamily="18" charset="0"/>
                              <a:cs typeface="Times New Roman" panose="02020603050405020304" pitchFamily="18" charset="0"/>
                            </a:rPr>
                            <a:t>; may be empty</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2051721293"/>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Executable script assigned to host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𝐻</m:t>
                                  </m:r>
                                </m:e>
                                <m:sub>
                                  <m:r>
                                    <a:rPr lang="en-US" altLang="zh-TW" sz="2400" b="0" i="1" smtClean="0">
                                      <a:latin typeface="Cambria Math" panose="02040503050406030204" pitchFamily="18" charset="0"/>
                                    </a:rPr>
                                    <m:t>𝑖</m:t>
                                  </m:r>
                                </m:sub>
                              </m:sSub>
                            </m:oMath>
                          </a14:m>
                          <a:r>
                            <a:rPr lang="en-US" sz="2400" b="0" i="0" dirty="0">
                              <a:latin typeface="Times New Roman" panose="02020603050405020304" pitchFamily="18" charset="0"/>
                              <a:cs typeface="Times New Roman" panose="02020603050405020304" pitchFamily="18" charset="0"/>
                            </a:rPr>
                            <a:t>; may be empty</a:t>
                          </a:r>
                        </a:p>
                      </a:txBody>
                      <a:tcPr marL="50800" marR="50800" marT="50800" marB="50800" anchor="ctr" horzOverflow="overflow"/>
                    </a:tc>
                    <a:extLst>
                      <a:ext uri="{0D108BD9-81ED-4DB2-BD59-A6C34878D82A}">
                        <a16:rowId xmlns:a16="http://schemas.microsoft.com/office/drawing/2014/main" val="3887981215"/>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altLang="zh-TW" sz="2400" b="0" i="1" smtClean="0">
                                    <a:latin typeface="Cambria Math" panose="02040503050406030204" pitchFamily="18" charset="0"/>
                                  </a:rPr>
                                  <m:t>𝐸</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Execution result from host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𝐻</m:t>
                                  </m:r>
                                </m:e>
                                <m:sub>
                                  <m:r>
                                    <a:rPr lang="en-US" altLang="zh-TW" sz="2400" b="0" i="1" smtClean="0">
                                      <a:latin typeface="Cambria Math" panose="02040503050406030204" pitchFamily="18" charset="0"/>
                                    </a:rPr>
                                    <m:t>𝑖</m:t>
                                  </m:r>
                                </m:sub>
                              </m:sSub>
                            </m:oMath>
                          </a14:m>
                          <a:r>
                            <a:rPr lang="en-US" altLang="zh-TW" sz="2400" b="0" i="0" dirty="0">
                              <a:latin typeface="Times New Roman" panose="02020603050405020304" pitchFamily="18" charset="0"/>
                              <a:cs typeface="Times New Roman" panose="02020603050405020304" pitchFamily="18" charset="0"/>
                            </a:rPr>
                            <a:t>; may be empty</a:t>
                          </a:r>
                        </a:p>
                      </a:txBody>
                      <a:tcPr marL="50800" marR="50800" marT="50800" marB="50800" anchor="ctr" horzOverflow="overflow"/>
                    </a:tc>
                    <a:extLst>
                      <a:ext uri="{0D108BD9-81ED-4DB2-BD59-A6C34878D82A}">
                        <a16:rowId xmlns:a16="http://schemas.microsoft.com/office/drawing/2014/main" val="1106355885"/>
                      </a:ext>
                    </a:extLst>
                  </a:tr>
                  <a:tr h="659574">
                    <a:tc>
                      <a:txBody>
                        <a:bodyPr/>
                        <a:lstStyle/>
                        <a:p>
                          <a:pPr defTabSz="914400"/>
                          <a:endParaRPr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𝑇𝐴</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Decomposed tasks corresponding to honeynet hosts. Each </a:t>
                          </a:r>
                          <a14:m>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en-US" altLang="zh-TW" sz="2400" b="0" i="1" smtClean="0">
                                      <a:latin typeface="Cambria Math" panose="02040503050406030204" pitchFamily="18" charset="0"/>
                                    </a:rPr>
                                    <m:t>𝑖</m:t>
                                  </m:r>
                                </m:sub>
                              </m:sSub>
                            </m:oMath>
                          </a14:m>
                          <a:r>
                            <a:rPr lang="en-US" sz="2400" b="0" i="0" dirty="0">
                              <a:latin typeface="Times New Roman" panose="02020603050405020304" pitchFamily="18" charset="0"/>
                              <a:cs typeface="Times New Roman" panose="02020603050405020304" pitchFamily="18" charset="0"/>
                            </a:rPr>
                            <a:t> is a textual task description</a:t>
                          </a:r>
                        </a:p>
                      </a:txBody>
                      <a:tcPr marL="50800" marR="50800" marT="50800" marB="50800" anchor="ctr" horzOverflow="overflow"/>
                    </a:tc>
                    <a:extLst>
                      <a:ext uri="{0D108BD9-81ED-4DB2-BD59-A6C34878D82A}">
                        <a16:rowId xmlns:a16="http://schemas.microsoft.com/office/drawing/2014/main" val="3250150898"/>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𝑇𝑆</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𝑡𝑠</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𝑡𝑠</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𝑡𝑠</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Retrieved template script for each task </a:t>
                          </a:r>
                          <a14:m>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en-US" altLang="zh-TW" sz="2400" b="0" i="1" smtClean="0">
                                      <a:latin typeface="Cambria Math" panose="02040503050406030204" pitchFamily="18" charset="0"/>
                                    </a:rPr>
                                    <m:t>𝑖</m:t>
                                  </m:r>
                                </m:sub>
                              </m:sSub>
                            </m:oMath>
                          </a14:m>
                          <a:endParaRPr lang="en-US"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485193405"/>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𝑇𝐶</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𝑡𝑐</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𝑡𝑐</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𝑡𝑐</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Confidence scores for each retrieved template script (relevance between task </a:t>
                          </a:r>
                          <a14:m>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en-US" altLang="zh-TW" sz="2400" b="0" i="1" smtClean="0">
                                      <a:latin typeface="Cambria Math" panose="02040503050406030204" pitchFamily="18" charset="0"/>
                                    </a:rPr>
                                    <m:t>𝑖</m:t>
                                  </m:r>
                                </m:sub>
                              </m:sSub>
                            </m:oMath>
                          </a14:m>
                          <a:r>
                            <a:rPr lang="en-US" sz="2400" b="0" i="1" dirty="0">
                              <a:latin typeface="Times New Roman" panose="02020603050405020304" pitchFamily="18" charset="0"/>
                              <a:cs typeface="Times New Roman" panose="02020603050405020304" pitchFamily="18" charset="0"/>
                            </a:rPr>
                            <a:t> </a:t>
                          </a:r>
                          <a:r>
                            <a:rPr lang="en-US" sz="2400" b="0" i="0" dirty="0">
                              <a:latin typeface="Times New Roman" panose="02020603050405020304" pitchFamily="18" charset="0"/>
                              <a:cs typeface="Times New Roman" panose="02020603050405020304" pitchFamily="18" charset="0"/>
                            </a:rPr>
                            <a:t>and template </a:t>
                          </a:r>
                          <a14:m>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𝑡𝑠</m:t>
                                  </m:r>
                                </m:e>
                                <m:sub>
                                  <m:r>
                                    <a:rPr lang="en-US" altLang="zh-TW" sz="2400" b="0" i="1" smtClean="0">
                                      <a:latin typeface="Cambria Math" panose="02040503050406030204" pitchFamily="18" charset="0"/>
                                    </a:rPr>
                                    <m:t>𝑖</m:t>
                                  </m:r>
                                </m:sub>
                              </m:sSub>
                            </m:oMath>
                          </a14:m>
                          <a:r>
                            <a:rPr lang="en-US"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2742165816"/>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𝑁</m:t>
                                    </m:r>
                                  </m:e>
                                  <m:sub>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𝑇</m:t>
                                        </m:r>
                                      </m:e>
                                    </m:acc>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Number</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of</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attack tactics observed during an engagement session </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723243793"/>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𝑇</m:t>
                                    </m:r>
                                  </m:e>
                                </m:acc>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𝑡</m:t>
                                        </m:r>
                                      </m:e>
                                    </m:acc>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𝑡</m:t>
                                        </m:r>
                                      </m:e>
                                    </m:acc>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𝑡</m:t>
                                        </m:r>
                                      </m:e>
                                    </m:acc>
                                  </m:e>
                                  <m:sub>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𝑁</m:t>
                                        </m:r>
                                      </m:e>
                                      <m:sub>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𝑇</m:t>
                                            </m:r>
                                          </m:e>
                                        </m:acc>
                                      </m:sub>
                                    </m:sSub>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Set of attack tactics observed during an engagement session (mapped to MITRE ATT&amp;CK)</a:t>
                          </a:r>
                        </a:p>
                      </a:txBody>
                      <a:tcPr marL="50800" marR="50800" marT="50800" marB="50800" anchor="ctr" horzOverflow="overflow"/>
                    </a:tc>
                    <a:extLst>
                      <a:ext uri="{0D108BD9-81ED-4DB2-BD59-A6C34878D82A}">
                        <a16:rowId xmlns:a16="http://schemas.microsoft.com/office/drawing/2014/main" val="3704602304"/>
                      </a:ext>
                    </a:extLst>
                  </a:tr>
                </a:tbl>
              </a:graphicData>
            </a:graphic>
          </p:graphicFrame>
        </mc:Choice>
        <mc:Fallback xmlns="">
          <p:graphicFrame>
            <p:nvGraphicFramePr>
              <p:cNvPr id="210" name="表格 1"/>
              <p:cNvGraphicFramePr/>
              <p:nvPr>
                <p:extLst>
                  <p:ext uri="{D42A27DB-BD31-4B8C-83A1-F6EECF244321}">
                    <p14:modId xmlns:p14="http://schemas.microsoft.com/office/powerpoint/2010/main" val="4283431213"/>
                  </p:ext>
                </p:extLst>
              </p:nvPr>
            </p:nvGraphicFramePr>
            <p:xfrm>
              <a:off x="1886446" y="2299689"/>
              <a:ext cx="20878305" cy="9823316"/>
            </p:xfrm>
            <a:graphic>
              <a:graphicData uri="http://schemas.openxmlformats.org/drawingml/2006/table">
                <a:tbl>
                  <a:tblPr>
                    <a:tableStyleId>{4C3C2611-4C71-4FC5-86AE-919BDF0F9419}</a:tableStyleId>
                  </a:tblPr>
                  <a:tblGrid>
                    <a:gridCol w="3873944">
                      <a:extLst>
                        <a:ext uri="{9D8B030D-6E8A-4147-A177-3AD203B41FA5}">
                          <a16:colId xmlns:a16="http://schemas.microsoft.com/office/drawing/2014/main" val="868843476"/>
                        </a:ext>
                      </a:extLst>
                    </a:gridCol>
                    <a:gridCol w="3873944">
                      <a:extLst>
                        <a:ext uri="{9D8B030D-6E8A-4147-A177-3AD203B41FA5}">
                          <a16:colId xmlns:a16="http://schemas.microsoft.com/office/drawing/2014/main" val="20001"/>
                        </a:ext>
                      </a:extLst>
                    </a:gridCol>
                    <a:gridCol w="13130417">
                      <a:extLst>
                        <a:ext uri="{9D8B030D-6E8A-4147-A177-3AD203B41FA5}">
                          <a16:colId xmlns:a16="http://schemas.microsoft.com/office/drawing/2014/main" val="20002"/>
                        </a:ext>
                      </a:extLst>
                    </a:gridCol>
                  </a:tblGrid>
                  <a:tr h="589280">
                    <a:tc>
                      <a:txBody>
                        <a:bodyPr/>
                        <a:lstStyle/>
                        <a:p>
                          <a:pPr defTabSz="914400"/>
                          <a:r>
                            <a:rPr lang="en-US" altLang="zh-TW" sz="3200" b="0" i="0" dirty="0">
                              <a:latin typeface="Times New Roman" panose="02020603050405020304" pitchFamily="18" charset="0"/>
                              <a:cs typeface="Times New Roman" panose="02020603050405020304" pitchFamily="18" charset="0"/>
                            </a:rPr>
                            <a:t>Categories</a:t>
                          </a:r>
                          <a:endParaRPr sz="32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Notation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Description</a:t>
                          </a:r>
                        </a:p>
                      </a:txBody>
                      <a:tcPr marL="50800" marR="50800" marT="50800" marB="50800" anchor="ctr" horzOverflow="overflow"/>
                    </a:tc>
                    <a:extLst>
                      <a:ext uri="{0D108BD9-81ED-4DB2-BD59-A6C34878D82A}">
                        <a16:rowId xmlns:a16="http://schemas.microsoft.com/office/drawing/2014/main" val="10000"/>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r>
                            <a:rPr kumimoji="0"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Interaction &amp; Session</a:t>
                          </a: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00000" r="-339672" b="-1307692"/>
                          </a:stretch>
                        </a:blipFill>
                      </a:tcPr>
                    </a:tc>
                    <a:tc>
                      <a:txBody>
                        <a:bodyPr/>
                        <a:lstStyle/>
                        <a:p>
                          <a:pPr lvl="1" algn="l" defTabSz="914400"/>
                          <a:r>
                            <a:rPr sz="2400" b="0" i="0" dirty="0">
                              <a:latin typeface="Times New Roman" panose="02020603050405020304" pitchFamily="18" charset="0"/>
                              <a:cs typeface="Times New Roman" panose="02020603050405020304" pitchFamily="18" charset="0"/>
                            </a:rPr>
                            <a:t>Number of computer host in the honeynet</a:t>
                          </a:r>
                        </a:p>
                      </a:txBody>
                      <a:tcPr marL="50800" marR="50800" marT="50800" marB="50800" anchor="ctr" horzOverflow="overflow"/>
                    </a:tc>
                    <a:extLst>
                      <a:ext uri="{0D108BD9-81ED-4DB2-BD59-A6C34878D82A}">
                        <a16:rowId xmlns:a16="http://schemas.microsoft.com/office/drawing/2014/main" val="10001"/>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200000" r="-339672" b="-1207692"/>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 of command in one session</a:t>
                          </a:r>
                        </a:p>
                      </a:txBody>
                      <a:tcPr marL="50800" marR="50800" marT="50800" marB="50800" anchor="ctr" horzOverflow="overflow"/>
                    </a:tc>
                    <a:extLst>
                      <a:ext uri="{0D108BD9-81ED-4DB2-BD59-A6C34878D82A}">
                        <a16:rowId xmlns:a16="http://schemas.microsoft.com/office/drawing/2014/main" val="1785228772"/>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300000" r="-339672" b="-1107692"/>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of</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attack tactics </a:t>
                          </a:r>
                        </a:p>
                      </a:txBody>
                      <a:tcPr marL="50800" marR="50800" marT="50800" marB="50800" anchor="ctr" horzOverflow="overflow"/>
                    </a:tc>
                    <a:extLst>
                      <a:ext uri="{0D108BD9-81ED-4DB2-BD59-A6C34878D82A}">
                        <a16:rowId xmlns:a16="http://schemas.microsoft.com/office/drawing/2014/main" val="146255929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400000" r="-339672" b="-1007692"/>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Set of honeynet hosts</a:t>
                          </a:r>
                        </a:p>
                      </a:txBody>
                      <a:tcPr marL="50800" marR="50800" marT="50800" marB="50800" anchor="ctr" horzOverflow="overflow"/>
                    </a:tc>
                    <a:extLst>
                      <a:ext uri="{0D108BD9-81ED-4DB2-BD59-A6C34878D82A}">
                        <a16:rowId xmlns:a16="http://schemas.microsoft.com/office/drawing/2014/main" val="153285905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500000" r="-339672" b="-907692"/>
                          </a:stretch>
                        </a:blipFill>
                      </a:tcPr>
                    </a:tc>
                    <a:tc>
                      <a:txBody>
                        <a:bodyPr/>
                        <a:lstStyle/>
                        <a:p>
                          <a:endParaRPr lang="zh-TW"/>
                        </a:p>
                      </a:txBody>
                      <a:tcPr marL="50800" marR="50800" marT="50800" marB="50800" anchor="ctr" horzOverflow="overflow">
                        <a:blipFill>
                          <a:blip r:embed="rId3"/>
                          <a:stretch>
                            <a:fillRect l="-59034" t="-500000" r="-97" b="-907692"/>
                          </a:stretch>
                        </a:blipFill>
                      </a:tcPr>
                    </a:tc>
                    <a:extLst>
                      <a:ext uri="{0D108BD9-81ED-4DB2-BD59-A6C34878D82A}">
                        <a16:rowId xmlns:a16="http://schemas.microsoft.com/office/drawing/2014/main" val="3962610161"/>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600000" r="-339672" b="-807692"/>
                          </a:stretch>
                        </a:blipFill>
                      </a:tcPr>
                    </a:tc>
                    <a:tc>
                      <a:txBody>
                        <a:bodyPr/>
                        <a:lstStyle/>
                        <a:p>
                          <a:endParaRPr lang="zh-TW"/>
                        </a:p>
                      </a:txBody>
                      <a:tcPr marL="50800" marR="50800" marT="50800" marB="50800" anchor="ctr" horzOverflow="overflow">
                        <a:blipFill>
                          <a:blip r:embed="rId3"/>
                          <a:stretch>
                            <a:fillRect l="-59034" t="-600000" r="-97" b="-807692"/>
                          </a:stretch>
                        </a:blipFill>
                      </a:tcPr>
                    </a:tc>
                    <a:extLst>
                      <a:ext uri="{0D108BD9-81ED-4DB2-BD59-A6C34878D82A}">
                        <a16:rowId xmlns:a16="http://schemas.microsoft.com/office/drawing/2014/main" val="122713571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700000" r="-339672" b="-707692"/>
                          </a:stretch>
                        </a:blipFill>
                      </a:tcPr>
                    </a:tc>
                    <a:tc>
                      <a:txBody>
                        <a:bodyPr/>
                        <a:lstStyle/>
                        <a:p>
                          <a:endParaRPr lang="zh-TW"/>
                        </a:p>
                      </a:txBody>
                      <a:tcPr marL="50800" marR="50800" marT="50800" marB="50800" anchor="ctr" horzOverflow="overflow">
                        <a:blipFill>
                          <a:blip r:embed="rId3"/>
                          <a:stretch>
                            <a:fillRect l="-59034" t="-700000" r="-97" b="-707692"/>
                          </a:stretch>
                        </a:blipFill>
                      </a:tcPr>
                    </a:tc>
                    <a:extLst>
                      <a:ext uri="{0D108BD9-81ED-4DB2-BD59-A6C34878D82A}">
                        <a16:rowId xmlns:a16="http://schemas.microsoft.com/office/drawing/2014/main" val="2051721293"/>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800000" r="-339672" b="-607692"/>
                          </a:stretch>
                        </a:blipFill>
                      </a:tcPr>
                    </a:tc>
                    <a:tc>
                      <a:txBody>
                        <a:bodyPr/>
                        <a:lstStyle/>
                        <a:p>
                          <a:endParaRPr lang="zh-TW"/>
                        </a:p>
                      </a:txBody>
                      <a:tcPr marL="50800" marR="50800" marT="50800" marB="50800" anchor="ctr" horzOverflow="overflow">
                        <a:blipFill>
                          <a:blip r:embed="rId3"/>
                          <a:stretch>
                            <a:fillRect l="-59034" t="-800000" r="-97" b="-607692"/>
                          </a:stretch>
                        </a:blipFill>
                      </a:tcPr>
                    </a:tc>
                    <a:extLst>
                      <a:ext uri="{0D108BD9-81ED-4DB2-BD59-A6C34878D82A}">
                        <a16:rowId xmlns:a16="http://schemas.microsoft.com/office/drawing/2014/main" val="3887981215"/>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900000" r="-339672" b="-507692"/>
                          </a:stretch>
                        </a:blipFill>
                      </a:tcPr>
                    </a:tc>
                    <a:tc>
                      <a:txBody>
                        <a:bodyPr/>
                        <a:lstStyle/>
                        <a:p>
                          <a:endParaRPr lang="zh-TW"/>
                        </a:p>
                      </a:txBody>
                      <a:tcPr marL="50800" marR="50800" marT="50800" marB="50800" anchor="ctr" horzOverflow="overflow">
                        <a:blipFill>
                          <a:blip r:embed="rId3"/>
                          <a:stretch>
                            <a:fillRect l="-59034" t="-900000" r="-97" b="-507692"/>
                          </a:stretch>
                        </a:blipFill>
                      </a:tcPr>
                    </a:tc>
                    <a:extLst>
                      <a:ext uri="{0D108BD9-81ED-4DB2-BD59-A6C34878D82A}">
                        <a16:rowId xmlns:a16="http://schemas.microsoft.com/office/drawing/2014/main" val="1106355885"/>
                      </a:ext>
                    </a:extLst>
                  </a:tr>
                  <a:tr h="659574">
                    <a:tc>
                      <a:txBody>
                        <a:bodyPr/>
                        <a:lstStyle/>
                        <a:p>
                          <a:pPr defTabSz="914400"/>
                          <a:endParaRPr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000000" r="-339672" b="-407692"/>
                          </a:stretch>
                        </a:blipFill>
                      </a:tcPr>
                    </a:tc>
                    <a:tc>
                      <a:txBody>
                        <a:bodyPr/>
                        <a:lstStyle/>
                        <a:p>
                          <a:endParaRPr lang="zh-TW"/>
                        </a:p>
                      </a:txBody>
                      <a:tcPr marL="50800" marR="50800" marT="50800" marB="50800" anchor="ctr" horzOverflow="overflow">
                        <a:blipFill>
                          <a:blip r:embed="rId3"/>
                          <a:stretch>
                            <a:fillRect l="-59034" t="-1000000" r="-97" b="-407692"/>
                          </a:stretch>
                        </a:blipFill>
                      </a:tcPr>
                    </a:tc>
                    <a:extLst>
                      <a:ext uri="{0D108BD9-81ED-4DB2-BD59-A6C34878D82A}">
                        <a16:rowId xmlns:a16="http://schemas.microsoft.com/office/drawing/2014/main" val="3250150898"/>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100000" r="-339672" b="-307692"/>
                          </a:stretch>
                        </a:blipFill>
                      </a:tcPr>
                    </a:tc>
                    <a:tc>
                      <a:txBody>
                        <a:bodyPr/>
                        <a:lstStyle/>
                        <a:p>
                          <a:endParaRPr lang="zh-TW"/>
                        </a:p>
                      </a:txBody>
                      <a:tcPr marL="50800" marR="50800" marT="50800" marB="50800" anchor="ctr" horzOverflow="overflow">
                        <a:blipFill>
                          <a:blip r:embed="rId3"/>
                          <a:stretch>
                            <a:fillRect l="-59034" t="-1100000" r="-97" b="-307692"/>
                          </a:stretch>
                        </a:blipFill>
                      </a:tcPr>
                    </a:tc>
                    <a:extLst>
                      <a:ext uri="{0D108BD9-81ED-4DB2-BD59-A6C34878D82A}">
                        <a16:rowId xmlns:a16="http://schemas.microsoft.com/office/drawing/2014/main" val="3485193405"/>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200000" r="-339672" b="-207692"/>
                          </a:stretch>
                        </a:blipFill>
                      </a:tcPr>
                    </a:tc>
                    <a:tc>
                      <a:txBody>
                        <a:bodyPr/>
                        <a:lstStyle/>
                        <a:p>
                          <a:endParaRPr lang="zh-TW"/>
                        </a:p>
                      </a:txBody>
                      <a:tcPr marL="50800" marR="50800" marT="50800" marB="50800" anchor="ctr" horzOverflow="overflow">
                        <a:blipFill>
                          <a:blip r:embed="rId3"/>
                          <a:stretch>
                            <a:fillRect l="-59034" t="-1200000" r="-97" b="-207692"/>
                          </a:stretch>
                        </a:blipFill>
                      </a:tcPr>
                    </a:tc>
                    <a:extLst>
                      <a:ext uri="{0D108BD9-81ED-4DB2-BD59-A6C34878D82A}">
                        <a16:rowId xmlns:a16="http://schemas.microsoft.com/office/drawing/2014/main" val="2742165816"/>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300000" r="-339672" b="-107692"/>
                          </a:stretch>
                        </a:blipFill>
                      </a:tcPr>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Number</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of</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attack tactics observed during an engagement session </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723243793"/>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400000" r="-339672" b="-7692"/>
                          </a:stretch>
                        </a:blipFill>
                      </a:tcPr>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Set of attack tactics observed during an engagement session (mapped to MITRE ATT&amp;CK)</a:t>
                          </a:r>
                        </a:p>
                      </a:txBody>
                      <a:tcPr marL="50800" marR="50800" marT="50800" marB="50800" anchor="ctr" horzOverflow="overflow"/>
                    </a:tc>
                    <a:extLst>
                      <a:ext uri="{0D108BD9-81ED-4DB2-BD59-A6C34878D82A}">
                        <a16:rowId xmlns:a16="http://schemas.microsoft.com/office/drawing/2014/main" val="3704602304"/>
                      </a:ext>
                    </a:extLst>
                  </a:tr>
                </a:tbl>
              </a:graphicData>
            </a:graphic>
          </p:graphicFrame>
        </mc:Fallback>
      </mc:AlternateContent>
      <p:sp>
        <p:nvSpPr>
          <p:cNvPr id="2" name="投影片編號版面配置區 1">
            <a:extLst>
              <a:ext uri="{FF2B5EF4-FFF2-40B4-BE49-F238E27FC236}">
                <a16:creationId xmlns:a16="http://schemas.microsoft.com/office/drawing/2014/main" id="{224F3116-11DB-116E-6036-D496C1E78430}"/>
              </a:ext>
            </a:extLst>
          </p:cNvPr>
          <p:cNvSpPr>
            <a:spLocks noGrp="1"/>
          </p:cNvSpPr>
          <p:nvPr>
            <p:ph type="sldNum" sz="quarter" idx="2"/>
          </p:nvPr>
        </p:nvSpPr>
        <p:spPr>
          <a:xfrm>
            <a:off x="23547425" y="13026581"/>
            <a:ext cx="359074" cy="379591"/>
          </a:xfrm>
        </p:spPr>
        <p:txBody>
          <a:bodyPr/>
          <a:lstStyle/>
          <a:p>
            <a:fld id="{E7D91E11-075F-3A46-B08C-0FD7A451C1A1}" type="slidenum">
              <a:rPr lang="en-US" altLang="zh-TW" smtClean="0"/>
              <a:t>71</a:t>
            </a:fld>
            <a:endParaRPr lang="zh-TW" altLang="en-US" dirty="0"/>
          </a:p>
        </p:txBody>
      </p:sp>
    </p:spTree>
    <p:extLst>
      <p:ext uri="{BB962C8B-B14F-4D97-AF65-F5344CB8AC3E}">
        <p14:creationId xmlns:p14="http://schemas.microsoft.com/office/powerpoint/2010/main" val="1877373428"/>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3" name="Problem Statement"/>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mc:AlternateContent xmlns:mc="http://schemas.openxmlformats.org/markup-compatibility/2006" xmlns:a14="http://schemas.microsoft.com/office/drawing/2010/main">
        <mc:Choice Requires="a14">
          <p:sp>
            <p:nvSpPr>
              <p:cNvPr id="224" name="Input:…"/>
              <p:cNvSpPr txBox="1">
                <a:spLocks noGrp="1"/>
              </p:cNvSpPr>
              <p:nvPr>
                <p:ph type="body" idx="1"/>
              </p:nvPr>
            </p:nvSpPr>
            <p:spPr>
              <a:xfrm>
                <a:off x="1206500" y="3365128"/>
                <a:ext cx="21971000" cy="9271372"/>
              </a:xfrm>
              <a:prstGeom prst="rect">
                <a:avLst/>
              </a:prstGeom>
            </p:spPr>
            <p:txBody>
              <a:bodyPr>
                <a:normAutofit/>
              </a:bodyPr>
              <a:lstStyle/>
              <a:p>
                <a:pPr marL="0" indent="0">
                  <a:lnSpc>
                    <a:spcPct val="60000"/>
                  </a:lnSpc>
                  <a:buSzTx/>
                  <a:buNone/>
                </a:pPr>
                <a:r>
                  <a:rPr lang="en-US" sz="4400" dirty="0">
                    <a:latin typeface="Times New Roman" panose="02020603050405020304" pitchFamily="18" charset="0"/>
                    <a:cs typeface="Times New Roman" panose="02020603050405020304" pitchFamily="18" charset="0"/>
                  </a:rPr>
                  <a:t>Input:</a:t>
                </a:r>
              </a:p>
              <a:p>
                <a:pPr lvl="1">
                  <a:lnSpc>
                    <a:spcPct val="30000"/>
                  </a:lnSpc>
                  <a:buFont typeface="Arial" panose="020B0604020202020204" pitchFamily="34" charset="0"/>
                  <a:buChar char="•"/>
                  <a:defRPr sz="4600"/>
                </a:pPr>
                <a14:m>
                  <m:oMath xmlns:m="http://schemas.openxmlformats.org/officeDocument/2006/math">
                    <m:sSub>
                      <m:sSubPr>
                        <m:ctrlPr>
                          <a:rPr lang="ar-AE" altLang="zh-TW" sz="3600" i="1" smtClean="0">
                            <a:latin typeface="Cambria Math" panose="02040503050406030204" pitchFamily="18" charset="0"/>
                          </a:rPr>
                        </m:ctrlPr>
                      </m:sSubPr>
                      <m:e>
                        <m:r>
                          <a:rPr lang="ar-AE" altLang="zh-TW" sz="3600" b="0" i="1" smtClean="0">
                            <a:latin typeface="Cambria Math" panose="02040503050406030204" pitchFamily="18" charset="0"/>
                          </a:rPr>
                          <m:t>𝐶</m:t>
                        </m:r>
                      </m:e>
                      <m:sub>
                        <m:r>
                          <a:rPr lang="ar-AE" altLang="zh-TW" sz="3600" b="0" i="1" smtClean="0">
                            <a:latin typeface="Cambria Math" panose="02040503050406030204" pitchFamily="18" charset="0"/>
                          </a:rPr>
                          <m:t>𝑖</m:t>
                        </m:r>
                      </m:sub>
                    </m:sSub>
                  </m:oMath>
                </a14:m>
                <a:r>
                  <a:rPr lang="ar-AE"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Attack command issued by the attacker</a:t>
                </a:r>
              </a:p>
              <a:p>
                <a:pPr marL="0" indent="0">
                  <a:lnSpc>
                    <a:spcPct val="60000"/>
                  </a:lnSpc>
                  <a:buSzTx/>
                  <a:buNone/>
                </a:pPr>
                <a:r>
                  <a:rPr lang="en-US" sz="4400" dirty="0">
                    <a:latin typeface="Times New Roman" panose="02020603050405020304" pitchFamily="18" charset="0"/>
                    <a:cs typeface="Times New Roman" panose="02020603050405020304" pitchFamily="18" charset="0"/>
                  </a:rPr>
                  <a:t>Output:</a:t>
                </a:r>
              </a:p>
              <a:p>
                <a:pPr lvl="1">
                  <a:lnSpc>
                    <a:spcPct val="60000"/>
                  </a:lnSpc>
                  <a:defRPr sz="4600"/>
                </a:pPr>
                <a14:m>
                  <m:oMath xmlns:m="http://schemas.openxmlformats.org/officeDocument/2006/math">
                    <m:sSub>
                      <m:sSubPr>
                        <m:ctrlPr>
                          <a:rPr lang="ar-AE" altLang="zh-TW" sz="3600" i="1" smtClean="0">
                            <a:latin typeface="Cambria Math" panose="02040503050406030204" pitchFamily="18" charset="0"/>
                          </a:rPr>
                        </m:ctrlPr>
                      </m:sSubPr>
                      <m:e>
                        <m:r>
                          <a:rPr lang="ar-AE" altLang="zh-TW" sz="3600" b="0" i="1" smtClean="0">
                            <a:latin typeface="Cambria Math" panose="02040503050406030204" pitchFamily="18" charset="0"/>
                          </a:rPr>
                          <m:t>𝑅</m:t>
                        </m:r>
                      </m:e>
                      <m:sub>
                        <m:r>
                          <a:rPr lang="ar-AE" altLang="zh-TW" sz="3600" b="0" i="1" smtClean="0">
                            <a:latin typeface="Cambria Math" panose="02040503050406030204" pitchFamily="18" charset="0"/>
                          </a:rPr>
                          <m:t>𝑖</m:t>
                        </m:r>
                      </m:sub>
                    </m:sSub>
                  </m:oMath>
                </a14:m>
                <a:r>
                  <a:rPr lang="ar-AE"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Honeynet response selected by the system</a:t>
                </a:r>
                <a:endParaRPr lang="en-US" sz="3600" dirty="0">
                  <a:latin typeface="Times New Roman" panose="02020603050405020304" pitchFamily="18" charset="0"/>
                  <a:cs typeface="Times New Roman" panose="02020603050405020304" pitchFamily="18" charset="0"/>
                </a:endParaRPr>
              </a:p>
              <a:p>
                <a:pPr marL="0" indent="0">
                  <a:lnSpc>
                    <a:spcPct val="60000"/>
                  </a:lnSpc>
                  <a:buSzTx/>
                  <a:buNone/>
                </a:pPr>
                <a:r>
                  <a:rPr lang="en-US" sz="4400" dirty="0">
                    <a:latin typeface="Times New Roman" panose="02020603050405020304" pitchFamily="18" charset="0"/>
                    <a:cs typeface="Times New Roman" panose="02020603050405020304" pitchFamily="18" charset="0"/>
                  </a:rPr>
                  <a:t>Objective:</a:t>
                </a:r>
              </a:p>
              <a:p>
                <a:pPr lvl="1">
                  <a:lnSpc>
                    <a:spcPct val="30000"/>
                  </a:lnSpc>
                  <a:defRPr sz="4600"/>
                </a:pPr>
                <a:r>
                  <a:rPr lang="en-US" altLang="zh-TW" sz="3600" dirty="0">
                    <a:latin typeface="Times New Roman" panose="02020603050405020304" pitchFamily="18" charset="0"/>
                    <a:cs typeface="Times New Roman" panose="02020603050405020304" pitchFamily="18" charset="0"/>
                  </a:rPr>
                  <a:t>Maximize engagement tactic depth:</a:t>
                </a:r>
                <a:r>
                  <a:rPr lang="zh-TW" altLang="en-US" sz="3600" dirty="0">
                    <a:latin typeface="Times New Roman" panose="02020603050405020304" pitchFamily="18" charset="0"/>
                    <a:cs typeface="Times New Roman" panose="02020603050405020304" pitchFamily="18" charset="0"/>
                  </a:rPr>
                  <a:t> </a:t>
                </a:r>
                <a14:m>
                  <m:oMath xmlns:m="http://schemas.openxmlformats.org/officeDocument/2006/math">
                    <m:func>
                      <m:funcPr>
                        <m:ctrlPr>
                          <a:rPr lang="en-US" altLang="zh-TW" sz="3600" i="1" smtClean="0">
                            <a:latin typeface="Cambria Math" panose="02040503050406030204" pitchFamily="18" charset="0"/>
                          </a:rPr>
                        </m:ctrlPr>
                      </m:funcPr>
                      <m:fName>
                        <m:limLow>
                          <m:limLowPr>
                            <m:ctrlPr>
                              <a:rPr lang="en-US" altLang="zh-TW" sz="3600" i="1" smtClean="0">
                                <a:latin typeface="Cambria Math" panose="02040503050406030204" pitchFamily="18" charset="0"/>
                              </a:rPr>
                            </m:ctrlPr>
                          </m:limLowPr>
                          <m:e>
                            <m:r>
                              <a:rPr lang="en-US" altLang="zh-TW" sz="3600" b="0" i="1" smtClean="0">
                                <a:latin typeface="Cambria Math" panose="02040503050406030204" pitchFamily="18" charset="0"/>
                              </a:rPr>
                              <m:t>𝑚𝑎𝑥</m:t>
                            </m:r>
                          </m:e>
                          <m:lim>
                            <m:r>
                              <a:rPr lang="en-US" altLang="zh-TW" sz="3600" b="0" i="1" smtClean="0">
                                <a:latin typeface="Cambria Math" panose="02040503050406030204" pitchFamily="18" charset="0"/>
                                <a:ea typeface="Cambria Math" panose="02040503050406030204" pitchFamily="18" charset="0"/>
                              </a:rPr>
                              <m:t>𝜋</m:t>
                            </m:r>
                          </m:lim>
                        </m:limLow>
                      </m:fName>
                      <m:e>
                        <m:r>
                          <a:rPr lang="en-US" altLang="zh-TW" sz="3600" b="0" i="1" smtClean="0">
                            <a:latin typeface="Cambria Math" panose="02040503050406030204" pitchFamily="18" charset="0"/>
                          </a:rPr>
                          <m:t>𝐸</m:t>
                        </m:r>
                        <m:r>
                          <a:rPr lang="en-US" altLang="zh-TW" sz="3600" b="0" i="1" smtClean="0">
                            <a:latin typeface="Cambria Math" panose="02040503050406030204" pitchFamily="18" charset="0"/>
                          </a:rPr>
                          <m:t>[</m:t>
                        </m:r>
                        <m:sSub>
                          <m:sSubPr>
                            <m:ctrlPr>
                              <a:rPr lang="en-US" altLang="zh-TW" sz="3600" i="1" smtClean="0">
                                <a:latin typeface="Cambria Math" panose="02040503050406030204" pitchFamily="18" charset="0"/>
                              </a:rPr>
                            </m:ctrlPr>
                          </m:sSubPr>
                          <m:e>
                            <m:r>
                              <a:rPr lang="en-US" altLang="zh-TW" sz="3600" b="0" i="1" smtClean="0">
                                <a:latin typeface="Cambria Math" panose="02040503050406030204" pitchFamily="18" charset="0"/>
                              </a:rPr>
                              <m:t>𝑁</m:t>
                            </m:r>
                          </m:e>
                          <m:sub>
                            <m:acc>
                              <m:accPr>
                                <m:chr m:val="̂"/>
                                <m:ctrlPr>
                                  <a:rPr lang="en-US" altLang="zh-TW" sz="3600" i="1" smtClean="0">
                                    <a:latin typeface="Cambria Math" panose="02040503050406030204" pitchFamily="18" charset="0"/>
                                  </a:rPr>
                                </m:ctrlPr>
                              </m:accPr>
                              <m:e>
                                <m:r>
                                  <a:rPr lang="en-US" altLang="zh-TW" sz="3600" b="0" i="1" smtClean="0">
                                    <a:latin typeface="Cambria Math" panose="02040503050406030204" pitchFamily="18" charset="0"/>
                                  </a:rPr>
                                  <m:t>𝑇</m:t>
                                </m:r>
                              </m:e>
                            </m:acc>
                          </m:sub>
                        </m:sSub>
                        <m:r>
                          <a:rPr lang="en-US" altLang="zh-TW" sz="3600" b="0" i="1" smtClean="0">
                            <a:latin typeface="Cambria Math" panose="02040503050406030204" pitchFamily="18" charset="0"/>
                          </a:rPr>
                          <m:t>]</m:t>
                        </m:r>
                      </m:e>
                    </m:func>
                  </m:oMath>
                </a14:m>
                <a:r>
                  <a:rPr lang="en-US" altLang="zh-TW" sz="3600" dirty="0">
                    <a:latin typeface="Times New Roman" panose="02020603050405020304" pitchFamily="18" charset="0"/>
                    <a:cs typeface="Times New Roman" panose="02020603050405020304" pitchFamily="18" charset="0"/>
                  </a:rPr>
                  <a: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where</a:t>
                </a:r>
                <a14:m>
                  <m:oMath xmlns:m="http://schemas.openxmlformats.org/officeDocument/2006/math">
                    <m:sSub>
                      <m:sSubPr>
                        <m:ctrlPr>
                          <a:rPr lang="en-US" altLang="zh-TW" sz="3600" i="1">
                            <a:latin typeface="Cambria Math" panose="02040503050406030204" pitchFamily="18" charset="0"/>
                          </a:rPr>
                        </m:ctrlPr>
                      </m:sSubPr>
                      <m:e>
                        <m:r>
                          <a:rPr lang="en-US" altLang="zh-TW" sz="3600" b="0" i="1" smtClean="0">
                            <a:latin typeface="Cambria Math" panose="02040503050406030204" pitchFamily="18" charset="0"/>
                          </a:rPr>
                          <m:t> </m:t>
                        </m:r>
                        <m:r>
                          <a:rPr lang="en-US" altLang="zh-TW" sz="3600" b="0" i="1" smtClean="0">
                            <a:latin typeface="Cambria Math" panose="02040503050406030204" pitchFamily="18" charset="0"/>
                          </a:rPr>
                          <m:t>𝑁</m:t>
                        </m:r>
                      </m:e>
                      <m:sub>
                        <m:acc>
                          <m:accPr>
                            <m:chr m:val="̂"/>
                            <m:ctrlPr>
                              <a:rPr lang="en-US" altLang="zh-TW" sz="3600" i="1">
                                <a:latin typeface="Cambria Math" panose="02040503050406030204" pitchFamily="18" charset="0"/>
                              </a:rPr>
                            </m:ctrlPr>
                          </m:accPr>
                          <m:e>
                            <m:r>
                              <a:rPr lang="en-US" altLang="zh-TW" sz="3600" b="0" i="1" smtClean="0">
                                <a:latin typeface="Cambria Math" panose="02040503050406030204" pitchFamily="18" charset="0"/>
                              </a:rPr>
                              <m:t>𝑇</m:t>
                            </m:r>
                          </m:e>
                        </m:acc>
                      </m:sub>
                    </m:sSub>
                  </m:oMath>
                </a14:m>
                <a:r>
                  <a:rPr lang="en-US" altLang="zh-TW" sz="3600" dirty="0">
                    <a:latin typeface="Times New Roman" panose="02020603050405020304" pitchFamily="18" charset="0"/>
                    <a:cs typeface="Times New Roman" panose="02020603050405020304" pitchFamily="18" charset="0"/>
                  </a:rPr>
                  <a:t> is</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the number of unique attack tactics</a:t>
                </a:r>
              </a:p>
              <a:p>
                <a:pPr marL="0" indent="0">
                  <a:lnSpc>
                    <a:spcPct val="60000"/>
                  </a:lnSpc>
                  <a:buSzTx/>
                  <a:buNone/>
                </a:pPr>
                <a:r>
                  <a:rPr lang="en-US" sz="4400" dirty="0">
                    <a:latin typeface="Times New Roman" panose="02020603050405020304" pitchFamily="18" charset="0"/>
                    <a:cs typeface="Times New Roman" panose="02020603050405020304" pitchFamily="18" charset="0"/>
                  </a:rPr>
                  <a:t>Constraint：</a:t>
                </a:r>
              </a:p>
              <a:p>
                <a:pPr lvl="1">
                  <a:lnSpc>
                    <a:spcPct val="30000"/>
                  </a:lnSpc>
                  <a:defRPr sz="4600"/>
                </a:pPr>
                <a:r>
                  <a:rPr lang="en-US" sz="3600" dirty="0">
                    <a:latin typeface="Times New Roman" panose="02020603050405020304" pitchFamily="18" charset="0"/>
                    <a:cs typeface="Times New Roman" panose="02020603050405020304" pitchFamily="18" charset="0"/>
                  </a:rPr>
                  <a:t>LLM must run</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locally</a:t>
                </a:r>
                <a:r>
                  <a:rPr lang="en-US" sz="3600" dirty="0">
                    <a:latin typeface="Times New Roman" panose="02020603050405020304" pitchFamily="18" charset="0"/>
                    <a:cs typeface="Times New Roman" panose="02020603050405020304" pitchFamily="18" charset="0"/>
                  </a:rPr>
                  <a:t> inside the honeynet</a:t>
                </a:r>
              </a:p>
              <a:p>
                <a:pPr lvl="1">
                  <a:lnSpc>
                    <a:spcPct val="30000"/>
                  </a:lnSpc>
                  <a:defRPr sz="4600"/>
                </a:pPr>
                <a:r>
                  <a:rPr lang="en-US" sz="3600" dirty="0">
                    <a:latin typeface="Times New Roman" panose="02020603050405020304" pitchFamily="18" charset="0"/>
                    <a:cs typeface="Times New Roman" panose="02020603050405020304" pitchFamily="18" charset="0"/>
                  </a:rPr>
                  <a:t>Limited</a:t>
                </a:r>
                <a:r>
                  <a:rPr lang="en-US" altLang="zh-TW" sz="3600" dirty="0">
                    <a:latin typeface="Times New Roman" panose="02020603050405020304" pitchFamily="18" charset="0"/>
                    <a:cs typeface="Times New Roman" panose="02020603050405020304" pitchFamily="18" charset="0"/>
                  </a:rPr>
                  <a:t> r</a:t>
                </a:r>
                <a:r>
                  <a:rPr lang="en-US" sz="3600" dirty="0">
                    <a:latin typeface="Times New Roman" panose="02020603050405020304" pitchFamily="18" charset="0"/>
                    <a:cs typeface="Times New Roman" panose="02020603050405020304" pitchFamily="18" charset="0"/>
                  </a:rPr>
                  <a:t>esponse time</a:t>
                </a:r>
              </a:p>
              <a:p>
                <a:pPr lvl="1">
                  <a:lnSpc>
                    <a:spcPct val="30000"/>
                  </a:lnSpc>
                  <a:defRPr sz="4600"/>
                </a:pPr>
                <a:r>
                  <a:rPr lang="en-US" sz="3600" dirty="0">
                    <a:latin typeface="Times New Roman" panose="02020603050405020304" pitchFamily="18" charset="0"/>
                    <a:cs typeface="Times New Roman" panose="02020603050405020304" pitchFamily="18" charset="0"/>
                  </a:rPr>
                  <a:t>Limited</a:t>
                </a:r>
                <a:r>
                  <a:rPr lang="en-US" altLang="zh-TW" sz="3600" dirty="0">
                    <a:latin typeface="Times New Roman" panose="02020603050405020304" pitchFamily="18" charset="0"/>
                    <a:cs typeface="Times New Roman" panose="02020603050405020304" pitchFamily="18" charset="0"/>
                  </a:rPr>
                  <a:t> context size</a:t>
                </a:r>
                <a:endParaRPr lang="en-US" sz="3600" dirty="0">
                  <a:latin typeface="Times New Roman" panose="02020603050405020304" pitchFamily="18" charset="0"/>
                  <a:cs typeface="Times New Roman" panose="02020603050405020304" pitchFamily="18" charset="0"/>
                </a:endParaRPr>
              </a:p>
            </p:txBody>
          </p:sp>
        </mc:Choice>
        <mc:Fallback xmlns="">
          <p:sp>
            <p:nvSpPr>
              <p:cNvPr id="224" name="Input:…"/>
              <p:cNvSpPr txBox="1">
                <a:spLocks noGrp="1" noRot="1" noChangeAspect="1" noMove="1" noResize="1" noEditPoints="1" noAdjustHandles="1" noChangeArrowheads="1" noChangeShapeType="1" noTextEdit="1"/>
              </p:cNvSpPr>
              <p:nvPr>
                <p:ph type="body" idx="1"/>
              </p:nvPr>
            </p:nvSpPr>
            <p:spPr>
              <a:xfrm>
                <a:off x="1206500" y="3365128"/>
                <a:ext cx="21971000" cy="9271372"/>
              </a:xfrm>
              <a:prstGeom prst="rect">
                <a:avLst/>
              </a:prstGeom>
              <a:blipFill>
                <a:blip r:embed="rId2"/>
                <a:stretch>
                  <a:fillRect l="-1329" t="-3689"/>
                </a:stretch>
              </a:blipFill>
            </p:spPr>
            <p:txBody>
              <a:bodyPr/>
              <a:lstStyle/>
              <a:p>
                <a:r>
                  <a:rPr lang="zh-TW" altLang="en-US">
                    <a:noFill/>
                  </a:rPr>
                  <a:t> </a:t>
                </a:r>
              </a:p>
            </p:txBody>
          </p:sp>
        </mc:Fallback>
      </mc:AlternateContent>
      <p:sp>
        <p:nvSpPr>
          <p:cNvPr id="2" name="投影片編號版面配置區 1">
            <a:extLst>
              <a:ext uri="{FF2B5EF4-FFF2-40B4-BE49-F238E27FC236}">
                <a16:creationId xmlns:a16="http://schemas.microsoft.com/office/drawing/2014/main" id="{3C69B7B1-E8F0-E57B-7A5F-E1B43C05EE44}"/>
              </a:ext>
            </a:extLst>
          </p:cNvPr>
          <p:cNvSpPr>
            <a:spLocks noGrp="1"/>
          </p:cNvSpPr>
          <p:nvPr>
            <p:ph type="sldNum" sz="quarter" idx="2"/>
          </p:nvPr>
        </p:nvSpPr>
        <p:spPr/>
        <p:txBody>
          <a:bodyPr/>
          <a:lstStyle/>
          <a:p>
            <a:fld id="{86CB4B4D-7CA3-9044-876B-883B54F8677D}" type="slidenum">
              <a:rPr lang="en-US" altLang="zh-TW" smtClean="0"/>
              <a:t>72</a:t>
            </a:fld>
            <a:endParaRPr lang="zh-TW" altLang="en-US"/>
          </a:p>
        </p:txBody>
      </p:sp>
    </p:spTree>
    <p:extLst>
      <p:ext uri="{BB962C8B-B14F-4D97-AF65-F5344CB8AC3E}">
        <p14:creationId xmlns:p14="http://schemas.microsoft.com/office/powerpoint/2010/main" val="8549859"/>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7" name="Issues"/>
          <p:cNvSpPr txBox="1">
            <a:spLocks noGrp="1"/>
          </p:cNvSpPr>
          <p:nvPr>
            <p:ph type="title"/>
          </p:nvPr>
        </p:nvSpPr>
        <p:spPr>
          <a:prstGeom prst="rect">
            <a:avLst/>
          </a:prstGeom>
        </p:spPr>
        <p:txBody>
          <a:bodyPr/>
          <a:lstStyle/>
          <a:p>
            <a:r>
              <a:rPr dirty="0"/>
              <a:t>Issues</a:t>
            </a:r>
          </a:p>
        </p:txBody>
      </p:sp>
      <p:sp>
        <p:nvSpPr>
          <p:cNvPr id="229" name="Degree of realism: Honeypot vs. Honeynet…"/>
          <p:cNvSpPr txBox="1">
            <a:spLocks noGrp="1"/>
          </p:cNvSpPr>
          <p:nvPr>
            <p:ph type="body" idx="1"/>
          </p:nvPr>
        </p:nvSpPr>
        <p:spPr>
          <a:prstGeom prst="rect">
            <a:avLst/>
          </a:prstGeom>
        </p:spPr>
        <p:txBody>
          <a:bodyPr>
            <a:normAutofit/>
          </a:bodyPr>
          <a:lstStyle/>
          <a:p>
            <a:pPr>
              <a:lnSpc>
                <a:spcPct val="100000"/>
              </a:lnSpc>
            </a:pPr>
            <a:r>
              <a:rPr lang="en-US" altLang="zh-TW" sz="4400" b="1" dirty="0"/>
              <a:t>Realism:</a:t>
            </a:r>
            <a:r>
              <a:rPr lang="en-US" altLang="zh-TW" sz="4400" dirty="0"/>
              <a:t> Does the honeynet present enterprise-plausible artifacts and environments?</a:t>
            </a:r>
          </a:p>
          <a:p>
            <a:pPr>
              <a:lnSpc>
                <a:spcPct val="100000"/>
              </a:lnSpc>
            </a:pPr>
            <a:r>
              <a:rPr lang="en-US" altLang="zh-TW" sz="4400" b="1" dirty="0"/>
              <a:t>Attack Depth:</a:t>
            </a:r>
            <a:r>
              <a:rPr lang="en-US" altLang="zh-TW" sz="4400" dirty="0"/>
              <a:t> Does the defender induce longer and more complete attack progressions?</a:t>
            </a:r>
          </a:p>
          <a:p>
            <a:pPr>
              <a:lnSpc>
                <a:spcPct val="100000"/>
              </a:lnSpc>
            </a:pPr>
            <a:r>
              <a:rPr lang="en-US" altLang="zh-TW" sz="4400" b="1" dirty="0"/>
              <a:t>Behavior Diversity:</a:t>
            </a:r>
            <a:r>
              <a:rPr lang="en-US" altLang="zh-TW" sz="4400" dirty="0"/>
              <a:t> Does the system elicit a wider range of attacker behaviors?</a:t>
            </a:r>
          </a:p>
          <a:p>
            <a:pPr>
              <a:lnSpc>
                <a:spcPct val="100000"/>
              </a:lnSpc>
            </a:pPr>
            <a:r>
              <a:rPr lang="en-US" altLang="zh-TW" sz="4400" b="1" dirty="0"/>
              <a:t>Lateral Movement:</a:t>
            </a:r>
            <a:r>
              <a:rPr lang="en-US" altLang="zh-TW" sz="4400" dirty="0"/>
              <a:t> Does the honeynet shape broader and more structured lateral movement?</a:t>
            </a:r>
          </a:p>
          <a:p>
            <a:pPr>
              <a:lnSpc>
                <a:spcPct val="100000"/>
              </a:lnSpc>
            </a:pPr>
            <a:r>
              <a:rPr lang="en-US" altLang="zh-TW" sz="4400" b="1" dirty="0"/>
              <a:t>Stability:</a:t>
            </a:r>
            <a:r>
              <a:rPr lang="en-US" altLang="zh-TW" sz="4400" dirty="0"/>
              <a:t> Can the defender operate reliably without breaking the environment?</a:t>
            </a:r>
          </a:p>
        </p:txBody>
      </p:sp>
      <p:sp>
        <p:nvSpPr>
          <p:cNvPr id="2" name="投影片編號版面配置區 1">
            <a:extLst>
              <a:ext uri="{FF2B5EF4-FFF2-40B4-BE49-F238E27FC236}">
                <a16:creationId xmlns:a16="http://schemas.microsoft.com/office/drawing/2014/main" id="{C710AE7C-D59A-2AE9-5090-94ECB3869B09}"/>
              </a:ext>
            </a:extLst>
          </p:cNvPr>
          <p:cNvSpPr>
            <a:spLocks noGrp="1"/>
          </p:cNvSpPr>
          <p:nvPr>
            <p:ph type="sldNum" sz="quarter" idx="2"/>
          </p:nvPr>
        </p:nvSpPr>
        <p:spPr/>
        <p:txBody>
          <a:bodyPr/>
          <a:lstStyle/>
          <a:p>
            <a:fld id="{86CB4B4D-7CA3-9044-876B-883B54F8677D}" type="slidenum">
              <a:rPr lang="en-US" altLang="zh-TW" smtClean="0"/>
              <a:t>73</a:t>
            </a:fld>
            <a:endParaRPr lang="zh-TW" altLang="en-US"/>
          </a:p>
        </p:txBody>
      </p:sp>
    </p:spTree>
    <p:extLst>
      <p:ext uri="{BB962C8B-B14F-4D97-AF65-F5344CB8AC3E}">
        <p14:creationId xmlns:p14="http://schemas.microsoft.com/office/powerpoint/2010/main" val="836338476"/>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7" name="Issues"/>
          <p:cNvSpPr txBox="1">
            <a:spLocks noGrp="1"/>
          </p:cNvSpPr>
          <p:nvPr>
            <p:ph type="title"/>
          </p:nvPr>
        </p:nvSpPr>
        <p:spPr>
          <a:prstGeom prst="rect">
            <a:avLst/>
          </a:prstGeom>
        </p:spPr>
        <p:txBody>
          <a:bodyPr/>
          <a:lstStyle/>
          <a:p>
            <a:r>
              <a:rPr lang="en-US" altLang="zh-TW" dirty="0"/>
              <a:t>Evaluation</a:t>
            </a:r>
            <a:endParaRPr dirty="0"/>
          </a:p>
        </p:txBody>
      </p:sp>
      <p:sp>
        <p:nvSpPr>
          <p:cNvPr id="229" name="Degree of realism: Honeypot vs. Honeynet…"/>
          <p:cNvSpPr txBox="1">
            <a:spLocks noGrp="1"/>
          </p:cNvSpPr>
          <p:nvPr>
            <p:ph type="body" idx="1"/>
          </p:nvPr>
        </p:nvSpPr>
        <p:spPr>
          <a:xfrm>
            <a:off x="1206500" y="3330756"/>
            <a:ext cx="21971000" cy="10518594"/>
          </a:xfrm>
          <a:prstGeom prst="rect">
            <a:avLst/>
          </a:prstGeom>
        </p:spPr>
        <p:txBody>
          <a:bodyPr>
            <a:normAutofit/>
          </a:bodyPr>
          <a:lstStyle/>
          <a:p>
            <a:pPr>
              <a:spcBef>
                <a:spcPts val="2100"/>
              </a:spcBef>
            </a:pPr>
            <a:r>
              <a:rPr lang="en-US" altLang="zh-TW" dirty="0"/>
              <a:t>Realism</a:t>
            </a:r>
          </a:p>
          <a:p>
            <a:pPr lvl="1">
              <a:spcBef>
                <a:spcPts val="2100"/>
              </a:spcBef>
              <a:spcAft>
                <a:spcPts val="1800"/>
              </a:spcAft>
            </a:pPr>
            <a:r>
              <a:rPr lang="en-US" sz="4000" dirty="0">
                <a:latin typeface="Times New Roman" panose="02020603050405020304" pitchFamily="18" charset="0"/>
                <a:cs typeface="Times New Roman" panose="02020603050405020304" pitchFamily="18" charset="0"/>
              </a:rPr>
              <a:t>Use an LLM judge to score artifact plausibility given host roles and deployed artifacts.</a:t>
            </a:r>
            <a:endParaRPr sz="4000" dirty="0">
              <a:latin typeface="Times New Roman" panose="02020603050405020304" pitchFamily="18" charset="0"/>
              <a:cs typeface="Times New Roman" panose="02020603050405020304" pitchFamily="18" charset="0"/>
            </a:endParaRPr>
          </a:p>
          <a:p>
            <a:pPr>
              <a:spcBef>
                <a:spcPts val="2100"/>
              </a:spcBef>
            </a:pPr>
            <a:r>
              <a:rPr lang="en-US" dirty="0"/>
              <a:t>Attack Depth</a:t>
            </a:r>
          </a:p>
          <a:p>
            <a:pPr lvl="1">
              <a:spcBef>
                <a:spcPts val="2100"/>
              </a:spcBef>
            </a:pPr>
            <a:r>
              <a:rPr lang="en-US" sz="4000" dirty="0">
                <a:latin typeface="Times New Roman" panose="02020603050405020304" pitchFamily="18" charset="0"/>
                <a:cs typeface="Times New Roman" panose="02020603050405020304" pitchFamily="18" charset="0"/>
              </a:rPr>
              <a:t>Measure session length and number of distinct attack stages per session.</a:t>
            </a:r>
          </a:p>
          <a:p>
            <a:pPr lvl="1">
              <a:spcBef>
                <a:spcPts val="2100"/>
              </a:spcBef>
              <a:spcAft>
                <a:spcPts val="1800"/>
              </a:spcAft>
            </a:pPr>
            <a:r>
              <a:rPr lang="en-US" sz="4000" dirty="0">
                <a:latin typeface="Times New Roman" panose="02020603050405020304" pitchFamily="18" charset="0"/>
                <a:cs typeface="Times New Roman" panose="02020603050405020304" pitchFamily="18" charset="0"/>
              </a:rPr>
              <a:t>Compare how far attacks progress under different defender designs.</a:t>
            </a:r>
            <a:endParaRPr sz="4000" dirty="0">
              <a:latin typeface="Times New Roman" panose="02020603050405020304" pitchFamily="18" charset="0"/>
              <a:cs typeface="Times New Roman" panose="02020603050405020304" pitchFamily="18" charset="0"/>
            </a:endParaRPr>
          </a:p>
          <a:p>
            <a:pPr>
              <a:spcBef>
                <a:spcPts val="2100"/>
              </a:spcBef>
            </a:pPr>
            <a:r>
              <a:rPr lang="en-US" dirty="0"/>
              <a:t>Behavior Diversity</a:t>
            </a:r>
          </a:p>
          <a:p>
            <a:pPr lvl="1">
              <a:spcBef>
                <a:spcPts val="2100"/>
              </a:spcBef>
            </a:pPr>
            <a:r>
              <a:rPr lang="en-US" sz="4000" dirty="0">
                <a:latin typeface="Times New Roman" panose="02020603050405020304" pitchFamily="18" charset="0"/>
                <a:cs typeface="Times New Roman" panose="02020603050405020304" pitchFamily="18" charset="0"/>
              </a:rPr>
              <a:t>Classify commands into predefined behavior categories.</a:t>
            </a:r>
          </a:p>
          <a:p>
            <a:pPr lvl="1">
              <a:spcBef>
                <a:spcPts val="2100"/>
              </a:spcBef>
            </a:pPr>
            <a:r>
              <a:rPr lang="en-US" sz="4000" dirty="0">
                <a:latin typeface="Times New Roman" panose="02020603050405020304" pitchFamily="18" charset="0"/>
                <a:cs typeface="Times New Roman" panose="02020603050405020304" pitchFamily="18" charset="0"/>
              </a:rPr>
              <a:t>Measure unique categories and behavior entropy per session.</a:t>
            </a:r>
            <a:r>
              <a:rPr lang="en-US" altLang="zh-TW" dirty="0"/>
              <a:t> </a:t>
            </a:r>
          </a:p>
          <a:p>
            <a:pPr lvl="1">
              <a:spcBef>
                <a:spcPts val="2100"/>
              </a:spcBef>
            </a:pPr>
            <a:endParaRPr lang="en-US" sz="4000" dirty="0">
              <a:latin typeface="Times New Roman" panose="02020603050405020304" pitchFamily="18" charset="0"/>
              <a:cs typeface="Times New Roman" panose="02020603050405020304" pitchFamily="18" charset="0"/>
            </a:endParaRPr>
          </a:p>
          <a:p>
            <a:pPr marL="609600" lvl="1" indent="0">
              <a:spcBef>
                <a:spcPts val="2100"/>
              </a:spcBef>
              <a:buNone/>
            </a:pPr>
            <a:endParaRPr lang="en-US" sz="4000"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C710AE7C-D59A-2AE9-5090-94ECB3869B09}"/>
              </a:ext>
            </a:extLst>
          </p:cNvPr>
          <p:cNvSpPr>
            <a:spLocks noGrp="1"/>
          </p:cNvSpPr>
          <p:nvPr>
            <p:ph type="sldNum" sz="quarter" idx="2"/>
          </p:nvPr>
        </p:nvSpPr>
        <p:spPr/>
        <p:txBody>
          <a:bodyPr/>
          <a:lstStyle/>
          <a:p>
            <a:fld id="{86CB4B4D-7CA3-9044-876B-883B54F8677D}" type="slidenum">
              <a:rPr lang="en-US" altLang="zh-TW" smtClean="0"/>
              <a:t>74</a:t>
            </a:fld>
            <a:endParaRPr lang="zh-TW" altLang="en-US"/>
          </a:p>
        </p:txBody>
      </p:sp>
    </p:spTree>
    <p:extLst>
      <p:ext uri="{BB962C8B-B14F-4D97-AF65-F5344CB8AC3E}">
        <p14:creationId xmlns:p14="http://schemas.microsoft.com/office/powerpoint/2010/main" val="1216619624"/>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892563-74CD-368F-BD85-9DA8E7E18101}"/>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02C86B7E-A6FD-2EEB-110B-46B80AF8FC57}"/>
              </a:ext>
            </a:extLst>
          </p:cNvPr>
          <p:cNvSpPr txBox="1">
            <a:spLocks noGrp="1"/>
          </p:cNvSpPr>
          <p:nvPr>
            <p:ph type="title"/>
          </p:nvPr>
        </p:nvSpPr>
        <p:spPr>
          <a:prstGeom prst="rect">
            <a:avLst/>
          </a:prstGeom>
        </p:spPr>
        <p:txBody>
          <a:bodyPr/>
          <a:lstStyle/>
          <a:p>
            <a:r>
              <a:rPr lang="en-US" altLang="zh-TW" dirty="0"/>
              <a:t>Evaluation</a:t>
            </a:r>
            <a:endParaRPr dirty="0"/>
          </a:p>
        </p:txBody>
      </p:sp>
      <p:sp>
        <p:nvSpPr>
          <p:cNvPr id="229" name="Degree of realism: Honeypot vs. Honeynet…">
            <a:extLst>
              <a:ext uri="{FF2B5EF4-FFF2-40B4-BE49-F238E27FC236}">
                <a16:creationId xmlns:a16="http://schemas.microsoft.com/office/drawing/2014/main" id="{E4AC4D81-3560-9B83-61AE-35B06AC5D957}"/>
              </a:ext>
            </a:extLst>
          </p:cNvPr>
          <p:cNvSpPr txBox="1">
            <a:spLocks noGrp="1"/>
          </p:cNvSpPr>
          <p:nvPr>
            <p:ph type="body" idx="1"/>
          </p:nvPr>
        </p:nvSpPr>
        <p:spPr>
          <a:xfrm>
            <a:off x="1206500" y="3330756"/>
            <a:ext cx="21971000" cy="10518594"/>
          </a:xfrm>
          <a:prstGeom prst="rect">
            <a:avLst/>
          </a:prstGeom>
        </p:spPr>
        <p:txBody>
          <a:bodyPr>
            <a:normAutofit/>
          </a:bodyPr>
          <a:lstStyle/>
          <a:p>
            <a:pPr>
              <a:spcBef>
                <a:spcPts val="2100"/>
              </a:spcBef>
            </a:pPr>
            <a:r>
              <a:rPr lang="en-US" altLang="zh-TW" dirty="0"/>
              <a:t>Lateral Movement</a:t>
            </a:r>
          </a:p>
          <a:p>
            <a:pPr lvl="1">
              <a:spcBef>
                <a:spcPts val="2100"/>
              </a:spcBef>
              <a:spcAft>
                <a:spcPts val="1800"/>
              </a:spcAft>
            </a:pPr>
            <a:r>
              <a:rPr lang="en-US" sz="4000" dirty="0">
                <a:latin typeface="Times New Roman" panose="02020603050405020304" pitchFamily="18" charset="0"/>
                <a:cs typeface="Times New Roman" panose="02020603050405020304" pitchFamily="18" charset="0"/>
              </a:rPr>
              <a:t>Measure host coverage and unique cross-host movement edges.</a:t>
            </a:r>
          </a:p>
          <a:p>
            <a:pPr lvl="1">
              <a:spcBef>
                <a:spcPts val="2100"/>
              </a:spcBef>
              <a:spcAft>
                <a:spcPts val="1800"/>
              </a:spcAft>
            </a:pPr>
            <a:r>
              <a:rPr lang="en-US" sz="4000" dirty="0">
                <a:latin typeface="Times New Roman" panose="02020603050405020304" pitchFamily="18" charset="0"/>
                <a:cs typeface="Times New Roman" panose="02020603050405020304" pitchFamily="18" charset="0"/>
              </a:rPr>
              <a:t>Compare the shape and breadth of lateral movement paths</a:t>
            </a:r>
            <a:endParaRPr sz="4000" dirty="0">
              <a:latin typeface="Times New Roman" panose="02020603050405020304" pitchFamily="18" charset="0"/>
              <a:cs typeface="Times New Roman" panose="02020603050405020304" pitchFamily="18" charset="0"/>
            </a:endParaRPr>
          </a:p>
          <a:p>
            <a:pPr>
              <a:spcBef>
                <a:spcPts val="2100"/>
              </a:spcBef>
            </a:pPr>
            <a:r>
              <a:rPr lang="en-US" dirty="0"/>
              <a:t>Stability</a:t>
            </a:r>
          </a:p>
          <a:p>
            <a:pPr lvl="1">
              <a:spcBef>
                <a:spcPts val="2100"/>
              </a:spcBef>
            </a:pPr>
            <a:r>
              <a:rPr lang="en-US" sz="4000" dirty="0">
                <a:latin typeface="Times New Roman" panose="02020603050405020304" pitchFamily="18" charset="0"/>
                <a:cs typeface="Times New Roman" panose="02020603050405020304" pitchFamily="18" charset="0"/>
              </a:rPr>
              <a:t>Measure defender tool execution success rate.</a:t>
            </a:r>
          </a:p>
          <a:p>
            <a:pPr lvl="1">
              <a:spcBef>
                <a:spcPts val="2100"/>
              </a:spcBef>
            </a:pPr>
            <a:r>
              <a:rPr lang="en-US" sz="4000" dirty="0">
                <a:latin typeface="Times New Roman" panose="02020603050405020304" pitchFamily="18" charset="0"/>
                <a:cs typeface="Times New Roman" panose="02020603050405020304" pitchFamily="18" charset="0"/>
              </a:rPr>
              <a:t>Ensure dynamic defense does not disrupt system availability.</a:t>
            </a:r>
          </a:p>
          <a:p>
            <a:pPr lvl="1">
              <a:spcBef>
                <a:spcPts val="2100"/>
              </a:spcBef>
            </a:pPr>
            <a:endParaRPr lang="en-US" sz="4000" dirty="0">
              <a:latin typeface="Times New Roman" panose="02020603050405020304" pitchFamily="18" charset="0"/>
              <a:cs typeface="Times New Roman" panose="02020603050405020304" pitchFamily="18" charset="0"/>
            </a:endParaRPr>
          </a:p>
          <a:p>
            <a:pPr marL="609600" lvl="1" indent="0">
              <a:spcBef>
                <a:spcPts val="2100"/>
              </a:spcBef>
              <a:buNone/>
            </a:pPr>
            <a:endParaRPr lang="en-US" sz="4000"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7366A045-D181-2D54-FF1C-532D8F0E128A}"/>
              </a:ext>
            </a:extLst>
          </p:cNvPr>
          <p:cNvSpPr>
            <a:spLocks noGrp="1"/>
          </p:cNvSpPr>
          <p:nvPr>
            <p:ph type="sldNum" sz="quarter" idx="2"/>
          </p:nvPr>
        </p:nvSpPr>
        <p:spPr/>
        <p:txBody>
          <a:bodyPr/>
          <a:lstStyle/>
          <a:p>
            <a:fld id="{86CB4B4D-7CA3-9044-876B-883B54F8677D}" type="slidenum">
              <a:rPr lang="en-US" altLang="zh-TW" smtClean="0"/>
              <a:t>75</a:t>
            </a:fld>
            <a:endParaRPr lang="zh-TW" altLang="en-US"/>
          </a:p>
        </p:txBody>
      </p:sp>
    </p:spTree>
    <p:extLst>
      <p:ext uri="{BB962C8B-B14F-4D97-AF65-F5344CB8AC3E}">
        <p14:creationId xmlns:p14="http://schemas.microsoft.com/office/powerpoint/2010/main" val="1104087637"/>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9DEFC7-1B8E-A148-23F8-1DB2E8CE761A}"/>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7C297E2E-C564-1D95-F7CB-A7D21D3CC3DB}"/>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Collected After Deployment</a:t>
            </a:r>
            <a:endParaRPr sz="7700" dirty="0"/>
          </a:p>
        </p:txBody>
      </p:sp>
      <p:sp>
        <p:nvSpPr>
          <p:cNvPr id="2" name="投影片編號版面配置區 1">
            <a:extLst>
              <a:ext uri="{FF2B5EF4-FFF2-40B4-BE49-F238E27FC236}">
                <a16:creationId xmlns:a16="http://schemas.microsoft.com/office/drawing/2014/main" id="{B1937BEF-788D-F44C-37D4-A375CE94F5CE}"/>
              </a:ext>
            </a:extLst>
          </p:cNvPr>
          <p:cNvSpPr>
            <a:spLocks noGrp="1"/>
          </p:cNvSpPr>
          <p:nvPr>
            <p:ph type="sldNum" sz="quarter" idx="2"/>
          </p:nvPr>
        </p:nvSpPr>
        <p:spPr/>
        <p:txBody>
          <a:bodyPr/>
          <a:lstStyle/>
          <a:p>
            <a:fld id="{86CB4B4D-7CA3-9044-876B-883B54F8677D}" type="slidenum">
              <a:rPr lang="en-US" altLang="zh-TW" smtClean="0"/>
              <a:t>76</a:t>
            </a:fld>
            <a:endParaRPr lang="zh-TW" altLang="en-US"/>
          </a:p>
        </p:txBody>
      </p:sp>
      <p:sp>
        <p:nvSpPr>
          <p:cNvPr id="4" name="文字版面配置區 3">
            <a:extLst>
              <a:ext uri="{FF2B5EF4-FFF2-40B4-BE49-F238E27FC236}">
                <a16:creationId xmlns:a16="http://schemas.microsoft.com/office/drawing/2014/main" id="{0C4135D6-A357-01E5-A8AA-11BED8E06072}"/>
              </a:ext>
            </a:extLst>
          </p:cNvPr>
          <p:cNvSpPr>
            <a:spLocks noGrp="1"/>
          </p:cNvSpPr>
          <p:nvPr>
            <p:ph type="body" idx="1"/>
          </p:nvPr>
        </p:nvSpPr>
        <p:spPr>
          <a:xfrm>
            <a:off x="10830326" y="2246990"/>
            <a:ext cx="13350473" cy="11684893"/>
          </a:xfrm>
        </p:spPr>
        <p:txBody>
          <a:bodyPr>
            <a:normAutofit/>
          </a:bodyPr>
          <a:lstStyle/>
          <a:p>
            <a:pPr>
              <a:spcBef>
                <a:spcPts val="2700"/>
              </a:spcBef>
            </a:pPr>
            <a:endParaRPr lang="en-US" altLang="zh-TW" dirty="0"/>
          </a:p>
        </p:txBody>
      </p:sp>
      <p:pic>
        <p:nvPicPr>
          <p:cNvPr id="5" name="圖片 4">
            <a:extLst>
              <a:ext uri="{FF2B5EF4-FFF2-40B4-BE49-F238E27FC236}">
                <a16:creationId xmlns:a16="http://schemas.microsoft.com/office/drawing/2014/main" id="{5DF5A93B-15C4-3C89-4575-CA0B8BB5F0CD}"/>
              </a:ext>
            </a:extLst>
          </p:cNvPr>
          <p:cNvPicPr>
            <a:picLocks noChangeAspect="1"/>
          </p:cNvPicPr>
          <p:nvPr/>
        </p:nvPicPr>
        <p:blipFill>
          <a:blip r:embed="rId3"/>
          <a:stretch>
            <a:fillRect/>
          </a:stretch>
        </p:blipFill>
        <p:spPr>
          <a:xfrm>
            <a:off x="1301750" y="2328621"/>
            <a:ext cx="21780500" cy="10890251"/>
          </a:xfrm>
          <a:prstGeom prst="rect">
            <a:avLst/>
          </a:prstGeom>
        </p:spPr>
      </p:pic>
    </p:spTree>
    <p:extLst>
      <p:ext uri="{BB962C8B-B14F-4D97-AF65-F5344CB8AC3E}">
        <p14:creationId xmlns:p14="http://schemas.microsoft.com/office/powerpoint/2010/main" val="1480696625"/>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21FF2A7-1CC5-A234-6A29-508253206596}"/>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B8D69F5E-DB8F-ADEC-C184-C61B077E3006}"/>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Collected After Deployment</a:t>
            </a:r>
            <a:endParaRPr sz="7700" dirty="0"/>
          </a:p>
        </p:txBody>
      </p:sp>
      <p:sp>
        <p:nvSpPr>
          <p:cNvPr id="2" name="投影片編號版面配置區 1">
            <a:extLst>
              <a:ext uri="{FF2B5EF4-FFF2-40B4-BE49-F238E27FC236}">
                <a16:creationId xmlns:a16="http://schemas.microsoft.com/office/drawing/2014/main" id="{602AC5FB-D1F9-2389-55C3-C129EA2C17CF}"/>
              </a:ext>
            </a:extLst>
          </p:cNvPr>
          <p:cNvSpPr>
            <a:spLocks noGrp="1"/>
          </p:cNvSpPr>
          <p:nvPr>
            <p:ph type="sldNum" sz="quarter" idx="2"/>
          </p:nvPr>
        </p:nvSpPr>
        <p:spPr/>
        <p:txBody>
          <a:bodyPr/>
          <a:lstStyle/>
          <a:p>
            <a:fld id="{86CB4B4D-7CA3-9044-876B-883B54F8677D}" type="slidenum">
              <a:rPr lang="en-US" altLang="zh-TW" smtClean="0"/>
              <a:t>77</a:t>
            </a:fld>
            <a:endParaRPr lang="zh-TW" altLang="en-US"/>
          </a:p>
        </p:txBody>
      </p:sp>
      <p:sp>
        <p:nvSpPr>
          <p:cNvPr id="4" name="文字版面配置區 3">
            <a:extLst>
              <a:ext uri="{FF2B5EF4-FFF2-40B4-BE49-F238E27FC236}">
                <a16:creationId xmlns:a16="http://schemas.microsoft.com/office/drawing/2014/main" id="{6A85F9DC-AC3F-7607-D00D-798F1A76557E}"/>
              </a:ext>
            </a:extLst>
          </p:cNvPr>
          <p:cNvSpPr>
            <a:spLocks noGrp="1"/>
          </p:cNvSpPr>
          <p:nvPr>
            <p:ph type="body" idx="1"/>
          </p:nvPr>
        </p:nvSpPr>
        <p:spPr>
          <a:xfrm>
            <a:off x="10830326" y="2246990"/>
            <a:ext cx="13350473" cy="11684893"/>
          </a:xfrm>
        </p:spPr>
        <p:txBody>
          <a:bodyPr>
            <a:normAutofit/>
          </a:bodyPr>
          <a:lstStyle/>
          <a:p>
            <a:pPr>
              <a:spcBef>
                <a:spcPts val="2700"/>
              </a:spcBef>
            </a:pPr>
            <a:endParaRPr lang="en-US" altLang="zh-TW" dirty="0"/>
          </a:p>
        </p:txBody>
      </p:sp>
      <p:pic>
        <p:nvPicPr>
          <p:cNvPr id="6" name="圖片 5">
            <a:extLst>
              <a:ext uri="{FF2B5EF4-FFF2-40B4-BE49-F238E27FC236}">
                <a16:creationId xmlns:a16="http://schemas.microsoft.com/office/drawing/2014/main" id="{8E3CB8B8-28AA-CCB5-60DB-D25943702509}"/>
              </a:ext>
            </a:extLst>
          </p:cNvPr>
          <p:cNvPicPr>
            <a:picLocks noChangeAspect="1"/>
          </p:cNvPicPr>
          <p:nvPr/>
        </p:nvPicPr>
        <p:blipFill>
          <a:blip r:embed="rId3"/>
          <a:stretch>
            <a:fillRect/>
          </a:stretch>
        </p:blipFill>
        <p:spPr>
          <a:xfrm>
            <a:off x="10741660" y="3914070"/>
            <a:ext cx="12435840" cy="7772400"/>
          </a:xfrm>
          <a:prstGeom prst="rect">
            <a:avLst/>
          </a:prstGeom>
        </p:spPr>
      </p:pic>
      <p:pic>
        <p:nvPicPr>
          <p:cNvPr id="7" name="圖片 6">
            <a:extLst>
              <a:ext uri="{FF2B5EF4-FFF2-40B4-BE49-F238E27FC236}">
                <a16:creationId xmlns:a16="http://schemas.microsoft.com/office/drawing/2014/main" id="{0B93A476-BD75-CA7B-55F4-1AD903FFEDE0}"/>
              </a:ext>
            </a:extLst>
          </p:cNvPr>
          <p:cNvPicPr>
            <a:picLocks noChangeAspect="1"/>
          </p:cNvPicPr>
          <p:nvPr/>
        </p:nvPicPr>
        <p:blipFill>
          <a:blip r:embed="rId4"/>
          <a:stretch>
            <a:fillRect/>
          </a:stretch>
        </p:blipFill>
        <p:spPr>
          <a:xfrm>
            <a:off x="1524000" y="3429000"/>
            <a:ext cx="7772400" cy="7772400"/>
          </a:xfrm>
          <a:prstGeom prst="rect">
            <a:avLst/>
          </a:prstGeom>
        </p:spPr>
      </p:pic>
    </p:spTree>
    <p:extLst>
      <p:ext uri="{BB962C8B-B14F-4D97-AF65-F5344CB8AC3E}">
        <p14:creationId xmlns:p14="http://schemas.microsoft.com/office/powerpoint/2010/main" val="3114940293"/>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BF7E2B-5181-6E90-39FA-D433BB172BCA}"/>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456E44C1-FB63-3B5E-71C7-6280371368C6}"/>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Collected After Deployment</a:t>
            </a:r>
            <a:endParaRPr sz="7700" dirty="0"/>
          </a:p>
        </p:txBody>
      </p:sp>
      <p:sp>
        <p:nvSpPr>
          <p:cNvPr id="2" name="投影片編號版面配置區 1">
            <a:extLst>
              <a:ext uri="{FF2B5EF4-FFF2-40B4-BE49-F238E27FC236}">
                <a16:creationId xmlns:a16="http://schemas.microsoft.com/office/drawing/2014/main" id="{CA773FDC-7664-6811-1322-D6F3BF746F5B}"/>
              </a:ext>
            </a:extLst>
          </p:cNvPr>
          <p:cNvSpPr>
            <a:spLocks noGrp="1"/>
          </p:cNvSpPr>
          <p:nvPr>
            <p:ph type="sldNum" sz="quarter" idx="2"/>
          </p:nvPr>
        </p:nvSpPr>
        <p:spPr/>
        <p:txBody>
          <a:bodyPr/>
          <a:lstStyle/>
          <a:p>
            <a:fld id="{86CB4B4D-7CA3-9044-876B-883B54F8677D}" type="slidenum">
              <a:rPr lang="en-US" altLang="zh-TW" smtClean="0"/>
              <a:t>78</a:t>
            </a:fld>
            <a:endParaRPr lang="zh-TW" altLang="en-US"/>
          </a:p>
        </p:txBody>
      </p:sp>
      <p:sp>
        <p:nvSpPr>
          <p:cNvPr id="4" name="文字版面配置區 3">
            <a:extLst>
              <a:ext uri="{FF2B5EF4-FFF2-40B4-BE49-F238E27FC236}">
                <a16:creationId xmlns:a16="http://schemas.microsoft.com/office/drawing/2014/main" id="{A13B6A54-8593-C1EA-EFAB-F71ABC8812A3}"/>
              </a:ext>
            </a:extLst>
          </p:cNvPr>
          <p:cNvSpPr>
            <a:spLocks noGrp="1"/>
          </p:cNvSpPr>
          <p:nvPr>
            <p:ph type="body" idx="1"/>
          </p:nvPr>
        </p:nvSpPr>
        <p:spPr>
          <a:xfrm>
            <a:off x="10830326" y="2246990"/>
            <a:ext cx="13350473" cy="11684893"/>
          </a:xfrm>
        </p:spPr>
        <p:txBody>
          <a:bodyPr>
            <a:normAutofit/>
          </a:bodyPr>
          <a:lstStyle/>
          <a:p>
            <a:pPr>
              <a:spcBef>
                <a:spcPts val="2700"/>
              </a:spcBef>
            </a:pPr>
            <a:endParaRPr lang="en-US" altLang="zh-TW" dirty="0"/>
          </a:p>
        </p:txBody>
      </p:sp>
      <p:pic>
        <p:nvPicPr>
          <p:cNvPr id="5" name="圖片 4">
            <a:extLst>
              <a:ext uri="{FF2B5EF4-FFF2-40B4-BE49-F238E27FC236}">
                <a16:creationId xmlns:a16="http://schemas.microsoft.com/office/drawing/2014/main" id="{28B0E6C5-76AF-2145-889F-4832681C2F49}"/>
              </a:ext>
            </a:extLst>
          </p:cNvPr>
          <p:cNvPicPr>
            <a:picLocks noChangeAspect="1"/>
          </p:cNvPicPr>
          <p:nvPr/>
        </p:nvPicPr>
        <p:blipFill>
          <a:blip r:embed="rId3"/>
          <a:stretch>
            <a:fillRect/>
          </a:stretch>
        </p:blipFill>
        <p:spPr>
          <a:xfrm>
            <a:off x="4119763" y="2246990"/>
            <a:ext cx="16144474" cy="11016229"/>
          </a:xfrm>
          <a:prstGeom prst="rect">
            <a:avLst/>
          </a:prstGeom>
        </p:spPr>
      </p:pic>
    </p:spTree>
    <p:extLst>
      <p:ext uri="{BB962C8B-B14F-4D97-AF65-F5344CB8AC3E}">
        <p14:creationId xmlns:p14="http://schemas.microsoft.com/office/powerpoint/2010/main" val="2457081301"/>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AC193E-E9AB-4240-B1E4-B3F4C10C07AB}">
  <we:reference id="wa200005566" version="3.0.0.3" store="zh-TW"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155673</TotalTime>
  <Words>6821</Words>
  <Application>Microsoft Macintosh PowerPoint</Application>
  <PresentationFormat>自訂</PresentationFormat>
  <Paragraphs>972</Paragraphs>
  <Slides>78</Slides>
  <Notes>56</Notes>
  <HiddenSlides>42</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78</vt:i4>
      </vt:variant>
    </vt:vector>
  </HeadingPairs>
  <TitlesOfParts>
    <vt:vector size="86" baseType="lpstr">
      <vt:lpstr>Arial</vt:lpstr>
      <vt:lpstr>Calibri</vt:lpstr>
      <vt:lpstr>Cambria Math</vt:lpstr>
      <vt:lpstr>Helvetica Neue</vt:lpstr>
      <vt:lpstr>Helvetica Neue Medium</vt:lpstr>
      <vt:lpstr>Times New Roman</vt:lpstr>
      <vt:lpstr>Wingdings</vt:lpstr>
      <vt:lpstr>21_BasicWhite</vt:lpstr>
      <vt:lpstr>Engage-Agent: A 2-Layer MITRE Engage-driven LLM Agent in a Honeynet</vt:lpstr>
      <vt:lpstr>Outline</vt:lpstr>
      <vt:lpstr>Motivation</vt:lpstr>
      <vt:lpstr>Background - MITRE ENGAGE</vt:lpstr>
      <vt:lpstr>Background - LLM Agent</vt:lpstr>
      <vt:lpstr>Background - Model Context Protocol (MCP)</vt:lpstr>
      <vt:lpstr>Background - Active Directory (AD)</vt:lpstr>
      <vt:lpstr>Why Honeynet? A Comparison</vt:lpstr>
      <vt:lpstr>Notations</vt:lpstr>
      <vt:lpstr>Problem Statement – Engage Driven Honeynet</vt:lpstr>
      <vt:lpstr>Problem Statement – Engage Driven Honeynet</vt:lpstr>
      <vt:lpstr>Related Work on Honeypot / Honeynet</vt:lpstr>
      <vt:lpstr>Issues</vt:lpstr>
      <vt:lpstr>Solution Overview</vt:lpstr>
      <vt:lpstr>Solution - LLM Agent Design</vt:lpstr>
      <vt:lpstr>Solution - Strategist LLM Design</vt:lpstr>
      <vt:lpstr>Solution - Planner LLM and MCP Execution</vt:lpstr>
      <vt:lpstr>Solution - MCP ToolKit Design</vt:lpstr>
      <vt:lpstr>Implementation - System Architecture</vt:lpstr>
      <vt:lpstr>Implementation - Dataset Generation</vt:lpstr>
      <vt:lpstr>Implementation - MCP ToolKit Generation</vt:lpstr>
      <vt:lpstr>Implementation - Attacker Interaction Simulation</vt:lpstr>
      <vt:lpstr>Implementation - Tools and Models</vt:lpstr>
      <vt:lpstr>Evaluation</vt:lpstr>
      <vt:lpstr>Experiment - Realism Environment-level honeynet is the main source of realism </vt:lpstr>
      <vt:lpstr>Experiment - Attack Depth Ours reaches the deepest and most stable attack progression</vt:lpstr>
      <vt:lpstr>Experiment - Attack Depth  Training converge in 3 epochs</vt:lpstr>
      <vt:lpstr>Experiment - Attack Depth Ours gives the best overall plan quality</vt:lpstr>
      <vt:lpstr>Experiment - Behavior Diversity Honeynet variants keep behavior diversity high across sessions</vt:lpstr>
      <vt:lpstr>Experiment - Lateral Movement Ours creates the most attempts with real cross-host success</vt:lpstr>
      <vt:lpstr>Experiment - Real-world SSH Attack Activity</vt:lpstr>
      <vt:lpstr>Experiment - Real-world SSH Attack Activity</vt:lpstr>
      <vt:lpstr>Reference</vt:lpstr>
      <vt:lpstr>Reference</vt:lpstr>
      <vt:lpstr>Reference</vt:lpstr>
      <vt:lpstr>PowerPoint 簡報</vt:lpstr>
      <vt:lpstr>Schedule</vt:lpstr>
      <vt:lpstr>Problem Statement – Fine tuned LLM Agent</vt:lpstr>
      <vt:lpstr>Background - AD Honeynet</vt:lpstr>
      <vt:lpstr>Related Work on Honeypot / Honeynet</vt:lpstr>
      <vt:lpstr>Solution - LLM Agent Design (cont.)</vt:lpstr>
      <vt:lpstr>Background - RL-based Adaptive Honeypot</vt:lpstr>
      <vt:lpstr>Background - MITRE ATT&amp;CK</vt:lpstr>
      <vt:lpstr>Solution - Dataset Generation</vt:lpstr>
      <vt:lpstr>Solution - Augmented Dataset Generation</vt:lpstr>
      <vt:lpstr>Background - RAG</vt:lpstr>
      <vt:lpstr>Background</vt:lpstr>
      <vt:lpstr>Solution - Retrieval-Augmented Generation</vt:lpstr>
      <vt:lpstr>Solution - Augmented Dataset Generation</vt:lpstr>
      <vt:lpstr>Solution – Supervised Fine-Tuning</vt:lpstr>
      <vt:lpstr>Solution - Strategist Design</vt:lpstr>
      <vt:lpstr>Solution - LLM Agent Design</vt:lpstr>
      <vt:lpstr>Solution - Knowledge Distillation</vt:lpstr>
      <vt:lpstr>Related Work on Adaptive Honeypot / Honeynet</vt:lpstr>
      <vt:lpstr>Solution - Supervised Fine-Tuning</vt:lpstr>
      <vt:lpstr>System Overview</vt:lpstr>
      <vt:lpstr>Reference</vt:lpstr>
      <vt:lpstr>Problem Statement – Engage Driven Honeynet</vt:lpstr>
      <vt:lpstr>Solution – Dataset Generation</vt:lpstr>
      <vt:lpstr>Solution – Supervised Fine-Tuning (SFT)</vt:lpstr>
      <vt:lpstr>Solution - Reinforcement Fine-Tuning (RFT)</vt:lpstr>
      <vt:lpstr>Problem Statement – Engage Driven Honeynet</vt:lpstr>
      <vt:lpstr>Reference</vt:lpstr>
      <vt:lpstr>Progress</vt:lpstr>
      <vt:lpstr>Progress (cont.)</vt:lpstr>
      <vt:lpstr>TODO</vt:lpstr>
      <vt:lpstr>TODO - Attack Depth</vt:lpstr>
      <vt:lpstr>TODO - Behavior Diversity</vt:lpstr>
      <vt:lpstr>TODO - Lateral Movement</vt:lpstr>
      <vt:lpstr>TODO - Planner &amp; Stability</vt:lpstr>
      <vt:lpstr>Notations</vt:lpstr>
      <vt:lpstr>Problem Statement – Engage Driven Honeynet</vt:lpstr>
      <vt:lpstr>Issues</vt:lpstr>
      <vt:lpstr>Evaluation</vt:lpstr>
      <vt:lpstr>Evaluation</vt:lpstr>
      <vt:lpstr>Experiment - Collected After Deployment</vt:lpstr>
      <vt:lpstr>Experiment - Collected After Deployment</vt:lpstr>
      <vt:lpstr>Experiment - Collected After Deployment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Engage-Agent: A MITRE Engage-driven LLM Agent in a Honeynet</dc:title>
  <cp:lastModifiedBy>世揚 王</cp:lastModifiedBy>
  <cp:revision>274</cp:revision>
  <cp:lastPrinted>2026-05-08T02:09:00Z</cp:lastPrinted>
  <dcterms:modified xsi:type="dcterms:W3CDTF">2026-05-08T05:26:36Z</dcterms:modified>
</cp:coreProperties>
</file>