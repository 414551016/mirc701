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handoutMasterIdLst>
    <p:handoutMasterId r:id="rId54"/>
  </p:handoutMasterIdLst>
  <p:sldIdLst>
    <p:sldId id="256" r:id="rId2"/>
    <p:sldId id="296" r:id="rId3"/>
    <p:sldId id="765" r:id="rId4"/>
    <p:sldId id="825" r:id="rId5"/>
    <p:sldId id="329" r:id="rId6"/>
    <p:sldId id="261" r:id="rId7"/>
    <p:sldId id="325" r:id="rId8"/>
    <p:sldId id="734" r:id="rId9"/>
    <p:sldId id="761" r:id="rId10"/>
    <p:sldId id="826" r:id="rId11"/>
    <p:sldId id="739" r:id="rId12"/>
    <p:sldId id="736" r:id="rId13"/>
    <p:sldId id="735" r:id="rId14"/>
    <p:sldId id="732" r:id="rId15"/>
    <p:sldId id="749" r:id="rId16"/>
    <p:sldId id="762" r:id="rId17"/>
    <p:sldId id="774" r:id="rId18"/>
    <p:sldId id="746" r:id="rId19"/>
    <p:sldId id="752" r:id="rId20"/>
    <p:sldId id="827" r:id="rId21"/>
    <p:sldId id="331" r:id="rId22"/>
    <p:sldId id="818" r:id="rId23"/>
    <p:sldId id="772" r:id="rId24"/>
    <p:sldId id="779" r:id="rId25"/>
    <p:sldId id="789" r:id="rId26"/>
    <p:sldId id="766" r:id="rId27"/>
    <p:sldId id="768" r:id="rId28"/>
    <p:sldId id="775" r:id="rId29"/>
    <p:sldId id="754" r:id="rId30"/>
    <p:sldId id="820" r:id="rId31"/>
    <p:sldId id="755" r:id="rId32"/>
    <p:sldId id="823" r:id="rId33"/>
    <p:sldId id="731" r:id="rId34"/>
    <p:sldId id="793" r:id="rId35"/>
    <p:sldId id="756" r:id="rId36"/>
    <p:sldId id="811" r:id="rId37"/>
    <p:sldId id="808" r:id="rId38"/>
    <p:sldId id="813" r:id="rId39"/>
    <p:sldId id="816" r:id="rId40"/>
    <p:sldId id="817" r:id="rId41"/>
    <p:sldId id="812" r:id="rId42"/>
    <p:sldId id="809" r:id="rId43"/>
    <p:sldId id="822" r:id="rId44"/>
    <p:sldId id="810" r:id="rId45"/>
    <p:sldId id="815" r:id="rId46"/>
    <p:sldId id="345" r:id="rId47"/>
    <p:sldId id="318" r:id="rId48"/>
    <p:sldId id="821" r:id="rId49"/>
    <p:sldId id="824" r:id="rId50"/>
    <p:sldId id="785" r:id="rId51"/>
    <p:sldId id="764" r:id="rId52"/>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D9DDAD6-11AC-57F0-912F-6FFB3F835CD9}" name="孟開達" initials="孟3" userId="S::rasul.ee12@m365.nycu.edu.tw::03c9bc4f-4b65-4371-89b2-85efec9fe85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iket Aggarwal" initials="AA" lastIdx="4" clrIdx="0">
    <p:extLst>
      <p:ext uri="{19B8F6BF-5375-455C-9EA6-DF929625EA0E}">
        <p15:presenceInfo xmlns:p15="http://schemas.microsoft.com/office/powerpoint/2012/main" userId="017b14d5cddd19a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5196" autoAdjust="0"/>
  </p:normalViewPr>
  <p:slideViewPr>
    <p:cSldViewPr snapToGrid="0">
      <p:cViewPr varScale="1">
        <p:scale>
          <a:sx n="113" d="100"/>
          <a:sy n="113" d="100"/>
        </p:scale>
        <p:origin x="510"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573E58-2259-4404-A9FF-25AA53FA36CF}"/>
              </a:ext>
            </a:extLst>
          </p:cNvPr>
          <p:cNvSpPr>
            <a:spLocks noGrp="1"/>
          </p:cNvSpPr>
          <p:nvPr>
            <p:ph type="hdr" sz="quarter"/>
          </p:nvPr>
        </p:nvSpPr>
        <p:spPr>
          <a:xfrm>
            <a:off x="6" y="7"/>
            <a:ext cx="3169920" cy="481727"/>
          </a:xfrm>
          <a:prstGeom prst="rect">
            <a:avLst/>
          </a:prstGeom>
        </p:spPr>
        <p:txBody>
          <a:bodyPr vert="horz" lIns="95166" tIns="47582" rIns="95166" bIns="47582" rtlCol="0"/>
          <a:lstStyle>
            <a:lvl1pPr algn="l">
              <a:defRPr sz="1300"/>
            </a:lvl1pPr>
          </a:lstStyle>
          <a:p>
            <a:endParaRPr lang="en-US"/>
          </a:p>
        </p:txBody>
      </p:sp>
      <p:sp>
        <p:nvSpPr>
          <p:cNvPr id="3" name="Date Placeholder 2">
            <a:extLst>
              <a:ext uri="{FF2B5EF4-FFF2-40B4-BE49-F238E27FC236}">
                <a16:creationId xmlns:a16="http://schemas.microsoft.com/office/drawing/2014/main" id="{0A46DC3E-23D6-40DB-A1BE-E807C4BD9C2B}"/>
              </a:ext>
            </a:extLst>
          </p:cNvPr>
          <p:cNvSpPr>
            <a:spLocks noGrp="1"/>
          </p:cNvSpPr>
          <p:nvPr>
            <p:ph type="dt" sz="quarter" idx="1"/>
          </p:nvPr>
        </p:nvSpPr>
        <p:spPr>
          <a:xfrm>
            <a:off x="4143591" y="7"/>
            <a:ext cx="3169920" cy="481727"/>
          </a:xfrm>
          <a:prstGeom prst="rect">
            <a:avLst/>
          </a:prstGeom>
        </p:spPr>
        <p:txBody>
          <a:bodyPr vert="horz" lIns="95166" tIns="47582" rIns="95166" bIns="47582" rtlCol="0"/>
          <a:lstStyle>
            <a:lvl1pPr algn="r">
              <a:defRPr sz="1300"/>
            </a:lvl1pPr>
          </a:lstStyle>
          <a:p>
            <a:fld id="{3A0A2704-FFC7-4797-B66F-42F45ECBBFF1}" type="datetime1">
              <a:rPr lang="en-US" smtClean="0"/>
              <a:t>5/17/2026</a:t>
            </a:fld>
            <a:endParaRPr lang="en-US"/>
          </a:p>
        </p:txBody>
      </p:sp>
      <p:sp>
        <p:nvSpPr>
          <p:cNvPr id="4" name="Footer Placeholder 3">
            <a:extLst>
              <a:ext uri="{FF2B5EF4-FFF2-40B4-BE49-F238E27FC236}">
                <a16:creationId xmlns:a16="http://schemas.microsoft.com/office/drawing/2014/main" id="{D714A5C9-E46C-40FE-952E-E4C36006BA48}"/>
              </a:ext>
            </a:extLst>
          </p:cNvPr>
          <p:cNvSpPr>
            <a:spLocks noGrp="1"/>
          </p:cNvSpPr>
          <p:nvPr>
            <p:ph type="ftr" sz="quarter" idx="2"/>
          </p:nvPr>
        </p:nvSpPr>
        <p:spPr>
          <a:xfrm>
            <a:off x="6" y="9119475"/>
            <a:ext cx="3169920" cy="481726"/>
          </a:xfrm>
          <a:prstGeom prst="rect">
            <a:avLst/>
          </a:prstGeom>
        </p:spPr>
        <p:txBody>
          <a:bodyPr vert="horz" lIns="95166" tIns="47582" rIns="95166" bIns="47582" rtlCol="0" anchor="b"/>
          <a:lstStyle>
            <a:lvl1pPr algn="l">
              <a:defRPr sz="1300"/>
            </a:lvl1pPr>
          </a:lstStyle>
          <a:p>
            <a:endParaRPr lang="en-US"/>
          </a:p>
        </p:txBody>
      </p:sp>
      <p:sp>
        <p:nvSpPr>
          <p:cNvPr id="5" name="Slide Number Placeholder 4">
            <a:extLst>
              <a:ext uri="{FF2B5EF4-FFF2-40B4-BE49-F238E27FC236}">
                <a16:creationId xmlns:a16="http://schemas.microsoft.com/office/drawing/2014/main" id="{6E9BEDD8-0BF3-40FA-B400-4D624A23FA32}"/>
              </a:ext>
            </a:extLst>
          </p:cNvPr>
          <p:cNvSpPr>
            <a:spLocks noGrp="1"/>
          </p:cNvSpPr>
          <p:nvPr>
            <p:ph type="sldNum" sz="quarter" idx="3"/>
          </p:nvPr>
        </p:nvSpPr>
        <p:spPr>
          <a:xfrm>
            <a:off x="4143591" y="9119475"/>
            <a:ext cx="3169920" cy="481726"/>
          </a:xfrm>
          <a:prstGeom prst="rect">
            <a:avLst/>
          </a:prstGeom>
        </p:spPr>
        <p:txBody>
          <a:bodyPr vert="horz" lIns="95166" tIns="47582" rIns="95166" bIns="47582" rtlCol="0" anchor="b"/>
          <a:lstStyle>
            <a:lvl1pPr algn="r">
              <a:defRPr sz="1300"/>
            </a:lvl1pPr>
          </a:lstStyle>
          <a:p>
            <a:fld id="{5B11FF42-789C-4AA7-B5D7-C01536494EAB}" type="slidenum">
              <a:rPr lang="en-US" smtClean="0"/>
              <a:t>‹#›</a:t>
            </a:fld>
            <a:endParaRPr lang="en-US"/>
          </a:p>
        </p:txBody>
      </p:sp>
    </p:spTree>
    <p:extLst>
      <p:ext uri="{BB962C8B-B14F-4D97-AF65-F5344CB8AC3E}">
        <p14:creationId xmlns:p14="http://schemas.microsoft.com/office/powerpoint/2010/main" val="113696011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7"/>
            <a:ext cx="3169920" cy="481727"/>
          </a:xfrm>
          <a:prstGeom prst="rect">
            <a:avLst/>
          </a:prstGeom>
        </p:spPr>
        <p:txBody>
          <a:bodyPr vert="horz" lIns="95166" tIns="47582" rIns="95166" bIns="47582" rtlCol="0"/>
          <a:lstStyle>
            <a:lvl1pPr algn="l">
              <a:defRPr sz="1300"/>
            </a:lvl1pPr>
          </a:lstStyle>
          <a:p>
            <a:endParaRPr lang="en-US"/>
          </a:p>
        </p:txBody>
      </p:sp>
      <p:sp>
        <p:nvSpPr>
          <p:cNvPr id="3" name="Date Placeholder 2"/>
          <p:cNvSpPr>
            <a:spLocks noGrp="1"/>
          </p:cNvSpPr>
          <p:nvPr>
            <p:ph type="dt" idx="1"/>
          </p:nvPr>
        </p:nvSpPr>
        <p:spPr>
          <a:xfrm>
            <a:off x="4143591" y="7"/>
            <a:ext cx="3169920" cy="481727"/>
          </a:xfrm>
          <a:prstGeom prst="rect">
            <a:avLst/>
          </a:prstGeom>
        </p:spPr>
        <p:txBody>
          <a:bodyPr vert="horz" lIns="95166" tIns="47582" rIns="95166" bIns="47582" rtlCol="0"/>
          <a:lstStyle>
            <a:lvl1pPr algn="r">
              <a:defRPr sz="1300"/>
            </a:lvl1pPr>
          </a:lstStyle>
          <a:p>
            <a:fld id="{7D0A18A6-4094-46E5-9910-37512E3F51A6}" type="datetime1">
              <a:rPr lang="en-US" smtClean="0"/>
              <a:t>5/17/2026</a:t>
            </a:fld>
            <a:endParaRPr lang="en-US"/>
          </a:p>
        </p:txBody>
      </p:sp>
      <p:sp>
        <p:nvSpPr>
          <p:cNvPr id="4" name="Slide Image Placeholder 3"/>
          <p:cNvSpPr>
            <a:spLocks noGrp="1" noRot="1" noChangeAspect="1"/>
          </p:cNvSpPr>
          <p:nvPr>
            <p:ph type="sldImg" idx="2"/>
          </p:nvPr>
        </p:nvSpPr>
        <p:spPr>
          <a:xfrm>
            <a:off x="781050" y="1201738"/>
            <a:ext cx="5753100" cy="3236912"/>
          </a:xfrm>
          <a:prstGeom prst="rect">
            <a:avLst/>
          </a:prstGeom>
          <a:noFill/>
          <a:ln w="12700">
            <a:solidFill>
              <a:prstClr val="black"/>
            </a:solidFill>
          </a:ln>
        </p:spPr>
        <p:txBody>
          <a:bodyPr vert="horz" lIns="95166" tIns="47582" rIns="95166" bIns="47582" rtlCol="0" anchor="ctr"/>
          <a:lstStyle/>
          <a:p>
            <a:endParaRPr lang="en-US"/>
          </a:p>
        </p:txBody>
      </p:sp>
      <p:sp>
        <p:nvSpPr>
          <p:cNvPr id="5" name="Notes Placeholder 4"/>
          <p:cNvSpPr>
            <a:spLocks noGrp="1"/>
          </p:cNvSpPr>
          <p:nvPr>
            <p:ph type="body" sz="quarter" idx="3"/>
          </p:nvPr>
        </p:nvSpPr>
        <p:spPr>
          <a:xfrm>
            <a:off x="731521" y="4620584"/>
            <a:ext cx="5852160" cy="3780473"/>
          </a:xfrm>
          <a:prstGeom prst="rect">
            <a:avLst/>
          </a:prstGeom>
        </p:spPr>
        <p:txBody>
          <a:bodyPr vert="horz" lIns="95166" tIns="47582" rIns="95166" bIns="4758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119475"/>
            <a:ext cx="3169920" cy="481726"/>
          </a:xfrm>
          <a:prstGeom prst="rect">
            <a:avLst/>
          </a:prstGeom>
        </p:spPr>
        <p:txBody>
          <a:bodyPr vert="horz" lIns="95166" tIns="47582" rIns="95166" bIns="47582" rtlCol="0" anchor="b"/>
          <a:lstStyle>
            <a:lvl1pPr algn="l">
              <a:defRPr sz="1300"/>
            </a:lvl1pPr>
          </a:lstStyle>
          <a:p>
            <a:endParaRPr lang="en-US"/>
          </a:p>
        </p:txBody>
      </p:sp>
      <p:sp>
        <p:nvSpPr>
          <p:cNvPr id="7" name="Slide Number Placeholder 6"/>
          <p:cNvSpPr>
            <a:spLocks noGrp="1"/>
          </p:cNvSpPr>
          <p:nvPr>
            <p:ph type="sldNum" sz="quarter" idx="5"/>
          </p:nvPr>
        </p:nvSpPr>
        <p:spPr>
          <a:xfrm>
            <a:off x="4143591" y="9119475"/>
            <a:ext cx="3169920" cy="481726"/>
          </a:xfrm>
          <a:prstGeom prst="rect">
            <a:avLst/>
          </a:prstGeom>
        </p:spPr>
        <p:txBody>
          <a:bodyPr vert="horz" lIns="95166" tIns="47582" rIns="95166" bIns="47582" rtlCol="0" anchor="b"/>
          <a:lstStyle>
            <a:lvl1pPr algn="r">
              <a:defRPr sz="1300"/>
            </a:lvl1pPr>
          </a:lstStyle>
          <a:p>
            <a:fld id="{93D6DA25-0EE3-4F7F-8D40-EEA379C6332A}" type="slidenum">
              <a:rPr lang="en-US" smtClean="0"/>
              <a:t>‹#›</a:t>
            </a:fld>
            <a:endParaRPr lang="en-US"/>
          </a:p>
        </p:txBody>
      </p:sp>
    </p:spTree>
    <p:extLst>
      <p:ext uri="{BB962C8B-B14F-4D97-AF65-F5344CB8AC3E}">
        <p14:creationId xmlns:p14="http://schemas.microsoft.com/office/powerpoint/2010/main" val="3660982500"/>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Blue Team to detect and respond to Red Team activities.</a:t>
            </a:r>
          </a:p>
          <a:p>
            <a:r>
              <a:rPr lang="en-US" dirty="0"/>
              <a:t>And for the Blue Team to be more effective, it’s better to equip it with AI capabilities so it can better recognize Red Team behavior.</a:t>
            </a:r>
          </a:p>
          <a:p>
            <a:endParaRPr lang="en-US" dirty="0"/>
          </a:p>
          <a:p>
            <a:r>
              <a:rPr lang="en-US" dirty="0"/>
              <a:t>However, to acknowledge advance threats blue team should evolve — from its first generation into later generations — with each version outperforming the previous one.</a:t>
            </a:r>
          </a:p>
          <a:p>
            <a:r>
              <a:rPr lang="en-US" dirty="0"/>
              <a:t>but How do we improve the Blue Team AI?</a:t>
            </a:r>
          </a:p>
          <a:p>
            <a:endParaRPr lang="en-US" dirty="0"/>
          </a:p>
          <a:p>
            <a:r>
              <a:rPr lang="en-US" dirty="0"/>
              <a:t>So To improve the Blue Team AI, we need to use Red Team AI — an attacker that challenges </a:t>
            </a:r>
            <a:r>
              <a:rPr lang="en-US" dirty="0" err="1"/>
              <a:t>it.the</a:t>
            </a:r>
            <a:r>
              <a:rPr lang="en-US" dirty="0"/>
              <a:t> Blue Team AI must train against a Red Team AI until either:</a:t>
            </a:r>
          </a:p>
          <a:p>
            <a:endParaRPr lang="en-US" dirty="0"/>
          </a:p>
          <a:p>
            <a:r>
              <a:rPr lang="en-US" dirty="0"/>
              <a:t>It consistently beats the Red Team so with time the Blue Team learns to detect them.</a:t>
            </a:r>
          </a:p>
          <a:p>
            <a:r>
              <a:rPr lang="en-US" dirty="0"/>
              <a:t>but the problem is if the Red Team doesn’t improve, the Blue Team will stagnate.</a:t>
            </a:r>
          </a:p>
          <a:p>
            <a:r>
              <a:rPr lang="en-US" dirty="0"/>
              <a:t>We need both sides to grow together.so we will now use the new gen of blue team to train red time ai. </a:t>
            </a:r>
          </a:p>
          <a:p>
            <a:r>
              <a:rPr lang="en-US" dirty="0"/>
              <a:t>The Red Team gets better at attacking, and the Blue Team gets better at defending.</a:t>
            </a:r>
          </a:p>
          <a:p>
            <a:endParaRPr lang="en-US" dirty="0"/>
          </a:p>
          <a:p>
            <a:r>
              <a:rPr lang="en-US" dirty="0"/>
              <a:t>How does this training happen?</a:t>
            </a:r>
          </a:p>
          <a:p>
            <a:endParaRPr lang="en-US" dirty="0"/>
          </a:p>
          <a:p>
            <a:r>
              <a:rPr lang="en-US" dirty="0"/>
              <a:t>We begin with initial versions of each:</a:t>
            </a:r>
          </a:p>
          <a:p>
            <a:r>
              <a:rPr lang="en-US" dirty="0"/>
              <a:t>We fix the Red Team and train the Blue Team until it beats the Red Team 95% of the time. At that point, the Blue Team “graduates” to its next generation say from b0 to b1.</a:t>
            </a:r>
          </a:p>
          <a:p>
            <a:endParaRPr lang="en-US" dirty="0"/>
          </a:p>
          <a:p>
            <a:r>
              <a:rPr lang="en-US" dirty="0"/>
              <a:t>Then we fix that new Blue Team   b1 and train the Red Team r0 until it can bypass its defenses most of the time. That Red Team then becomes the next generation r0 to r1.</a:t>
            </a:r>
          </a:p>
          <a:p>
            <a:endParaRPr lang="en-US" dirty="0"/>
          </a:p>
          <a:p>
            <a:r>
              <a:rPr lang="en-US" dirty="0"/>
              <a:t>This back-and-forth continues:</a:t>
            </a:r>
          </a:p>
          <a:p>
            <a:r>
              <a:rPr lang="en-US" dirty="0"/>
              <a:t>Red trains Blue → stronger Blue.</a:t>
            </a:r>
          </a:p>
          <a:p>
            <a:r>
              <a:rPr lang="en-US" dirty="0"/>
              <a:t>Blue trains Red → stronger Red.</a:t>
            </a:r>
          </a:p>
          <a:p>
            <a:r>
              <a:rPr lang="en-US" dirty="0"/>
              <a:t>And so on — creating a continuous arms race where both sides improve through competition.</a:t>
            </a:r>
          </a:p>
          <a:p>
            <a:endParaRPr lang="en-US" dirty="0"/>
          </a:p>
          <a:p>
            <a:r>
              <a:rPr lang="en-US" dirty="0"/>
              <a:t>Since cyber attacks are multi-step and sequential. The Red Agent uses Reinforcement Learning (RL) to learn how to build complete attack chains (lifecycles) over time. RL helps it maximize long-term success — by chaining the right techniques from initial access to final impact. Once the Red Agent selects the best sequence, a Language Model (LLM) generates the actual attack payloads and script variations for execution.</a:t>
            </a:r>
          </a:p>
          <a:p>
            <a:endParaRPr lang="en-US" dirty="0"/>
          </a:p>
          <a:p>
            <a:r>
              <a:rPr lang="en-US" dirty="0"/>
              <a:t>The Blue Agent also uses RL to learn how to detect and stop these attacks at the right step. It observes raw logs and traffic, and uses an LLM to map them to likely MITRE techniques. RL then helps the agent choose the best defense actions across episodes. This enables the Blue Agent to adapt over time, even as the Red Agent evolves and changes strategies.</a:t>
            </a:r>
          </a:p>
          <a:p>
            <a:r>
              <a:rPr lang="en-US" dirty="0"/>
              <a:t>To train an AI Blue Team capable of defeating all variants of Red Team strategies — across evolving threat landscapes.</a:t>
            </a:r>
            <a:endParaRPr lang="en-IN" dirty="0"/>
          </a:p>
        </p:txBody>
      </p:sp>
    </p:spTree>
    <p:extLst>
      <p:ext uri="{BB962C8B-B14F-4D97-AF65-F5344CB8AC3E}">
        <p14:creationId xmlns:p14="http://schemas.microsoft.com/office/powerpoint/2010/main" val="946137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8357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Infrastructure at Risk</a:t>
            </a:r>
            <a:r>
              <a:rPr lang="en-US" dirty="0"/>
              <a:t>: Industrial systems like power grids and water treatment plants face sophisticated threats. Traditional methods can fall short when attackers use zero-day or advanced tactics specifically designed for ICS environments.</a:t>
            </a:r>
          </a:p>
          <a:p>
            <a:r>
              <a:rPr lang="en-US" b="1" dirty="0"/>
              <a:t>Shortcomings of Existing Security</a:t>
            </a:r>
            <a:r>
              <a:rPr lang="en-US" dirty="0"/>
              <a:t>: While IDS and static honeypots work in IT contexts, ICS attackers can detect and evade these simpler decoys. Current ICS honeypots exist, but many are static, offering limited engagement and realism.</a:t>
            </a:r>
          </a:p>
          <a:p>
            <a:r>
              <a:rPr lang="en-US" b="1" dirty="0"/>
              <a:t>ICS/OT vs. IT</a:t>
            </a:r>
            <a:r>
              <a:rPr lang="en-US" dirty="0"/>
              <a:t>: ICS protocols are not like typical IT protocols; they are often proprietary, binary, and real-time. This difference demands a more specialized honeypot approach. Some ICS-targeted honeypots do exist, but most lack adaptive, learning-based deception techniques.</a:t>
            </a:r>
          </a:p>
          <a:p>
            <a:r>
              <a:rPr lang="en-US" b="1" dirty="0"/>
              <a:t>Need for Innovative Defense</a:t>
            </a:r>
            <a:r>
              <a:rPr lang="en-US" dirty="0"/>
              <a:t>: An RL-driven honeypot can dynamically respond to attacker behavior, prolong engagement, and provide deeper insight into attacker tactics. This addresses the unique ICS vulnerabilities and helps defenders stay a step ahead.</a:t>
            </a:r>
          </a:p>
          <a:p>
            <a:endParaRPr lang="en-US" dirty="0"/>
          </a:p>
        </p:txBody>
      </p:sp>
    </p:spTree>
    <p:extLst>
      <p:ext uri="{BB962C8B-B14F-4D97-AF65-F5344CB8AC3E}">
        <p14:creationId xmlns:p14="http://schemas.microsoft.com/office/powerpoint/2010/main" val="4168810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Industrial Control Systems (ICS)</a:t>
            </a:r>
            <a:r>
              <a:rPr lang="en-US" dirty="0"/>
              <a:t>: ICS includes all the hardware and software (OT + IT) managing critical industrial processes (e.g., power generation, manufacturing). It’s broader than just PLCs—it also involves HMIs, SCADA systems, and the network infrastructure.</a:t>
            </a:r>
          </a:p>
          <a:p>
            <a:r>
              <a:rPr lang="en-US" b="1" dirty="0"/>
              <a:t>Cyber-Physical Systems (CPS)</a:t>
            </a:r>
            <a:r>
              <a:rPr lang="en-US" dirty="0"/>
              <a:t>: These combine computation with real-world processes in real time. In ICS settings, this means sensors, actuators, and PLCs constantly exchanging data and commands, making the system vulnerable to sophisticated cyber attacks.</a:t>
            </a:r>
          </a:p>
          <a:p>
            <a:r>
              <a:rPr lang="en-US" b="1" dirty="0"/>
              <a:t>Programmable Logic Controllers (PLCs)</a:t>
            </a:r>
            <a:r>
              <a:rPr lang="en-US" dirty="0"/>
              <a:t>: PLCs execute the control logic that directly manipulates physical equipment. They form the heart of automation in ICS. Because they run specialized code, manipulating or changing this logic can lead to severe physical outcomes.</a:t>
            </a:r>
          </a:p>
          <a:p>
            <a:r>
              <a:rPr lang="en-US" b="1" dirty="0"/>
              <a:t>Common Attacks</a:t>
            </a:r>
            <a:r>
              <a:rPr lang="en-US" dirty="0"/>
              <a:t>: Beyond just DoS and MitM, attackers often try to change PLC logic or firmware to gain deeper control or send unauthorized commands. This can disrupt or sabotage industrial operations.</a:t>
            </a:r>
          </a:p>
          <a:p>
            <a:endParaRPr lang="en-US" dirty="0"/>
          </a:p>
        </p:txBody>
      </p:sp>
    </p:spTree>
    <p:extLst>
      <p:ext uri="{BB962C8B-B14F-4D97-AF65-F5344CB8AC3E}">
        <p14:creationId xmlns:p14="http://schemas.microsoft.com/office/powerpoint/2010/main" val="1480036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71441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Comprehensive framework</a:t>
            </a:r>
          </a:p>
        </p:txBody>
      </p:sp>
    </p:spTree>
    <p:extLst>
      <p:ext uri="{BB962C8B-B14F-4D97-AF65-F5344CB8AC3E}">
        <p14:creationId xmlns:p14="http://schemas.microsoft.com/office/powerpoint/2010/main" val="3535691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DE9525-EC44-4C74-915E-FB09A07587F3}" type="slidenum">
              <a:rPr lang="en-US" smtClean="0"/>
              <a:t>7</a:t>
            </a:fld>
            <a:endParaRPr lang="en-US"/>
          </a:p>
        </p:txBody>
      </p:sp>
    </p:spTree>
    <p:extLst>
      <p:ext uri="{BB962C8B-B14F-4D97-AF65-F5344CB8AC3E}">
        <p14:creationId xmlns:p14="http://schemas.microsoft.com/office/powerpoint/2010/main" val="35667459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61685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17963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65725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393286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2749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767496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84776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29207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19453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Infrastructure at Risk</a:t>
            </a:r>
            <a:r>
              <a:rPr lang="en-US" dirty="0"/>
              <a:t>: Industrial systems like power grids and water treatment plants face sophisticated threats. Traditional methods can fall short when attackers use zero-day or advanced tactics specifically designed for ICS environments.</a:t>
            </a:r>
          </a:p>
          <a:p>
            <a:r>
              <a:rPr lang="en-US" b="1" dirty="0"/>
              <a:t>Shortcomings of Existing Security</a:t>
            </a:r>
            <a:r>
              <a:rPr lang="en-US" dirty="0"/>
              <a:t>: While IDS and static honeypots work in IT contexts, ICS attackers can detect and evade these simpler decoys. Current ICS honeypots exist, but many are static, offering limited engagement and realism.</a:t>
            </a:r>
          </a:p>
          <a:p>
            <a:r>
              <a:rPr lang="en-US" b="1" dirty="0"/>
              <a:t>ICS/OT vs. IT</a:t>
            </a:r>
            <a:r>
              <a:rPr lang="en-US" dirty="0"/>
              <a:t>: ICS protocols are not like typical IT protocols; they are often proprietary, binary, and real-time. This difference demands a more specialized honeypot approach. Some ICS-targeted honeypots do exist, but most lack adaptive, learning-based deception techniques.</a:t>
            </a:r>
          </a:p>
          <a:p>
            <a:r>
              <a:rPr lang="en-US" b="1" dirty="0"/>
              <a:t>Need for Innovative Defense</a:t>
            </a:r>
            <a:r>
              <a:rPr lang="en-US" dirty="0"/>
              <a:t>: An RL-driven honeypot can dynamically respond to attacker behavior, prolong engagement, and provide deeper insight into attacker tactics. This addresses the unique ICS vulnerabilities and helps defenders stay a step ahead.</a:t>
            </a:r>
          </a:p>
          <a:p>
            <a:endParaRPr lang="en-US" dirty="0"/>
          </a:p>
        </p:txBody>
      </p:sp>
    </p:spTree>
    <p:extLst>
      <p:ext uri="{BB962C8B-B14F-4D97-AF65-F5344CB8AC3E}">
        <p14:creationId xmlns:p14="http://schemas.microsoft.com/office/powerpoint/2010/main" val="2806797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DE9525-EC44-4C74-915E-FB09A07587F3}" type="slidenum">
              <a:rPr lang="en-US" smtClean="0"/>
              <a:t>18</a:t>
            </a:fld>
            <a:endParaRPr lang="en-US"/>
          </a:p>
        </p:txBody>
      </p:sp>
    </p:spTree>
    <p:extLst>
      <p:ext uri="{BB962C8B-B14F-4D97-AF65-F5344CB8AC3E}">
        <p14:creationId xmlns:p14="http://schemas.microsoft.com/office/powerpoint/2010/main" val="32798862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DCDE-E07B-9F5F-D0EC-984A18919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8505E-AC03-C9DF-D2BF-7663B840F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60659-4373-E19E-3D21-8CE208FA7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21234-207D-AEAD-E277-8D30EEF043CC}"/>
              </a:ext>
            </a:extLst>
          </p:cNvPr>
          <p:cNvSpPr>
            <a:spLocks noGrp="1"/>
          </p:cNvSpPr>
          <p:nvPr>
            <p:ph type="sldNum" sz="quarter" idx="5"/>
          </p:nvPr>
        </p:nvSpPr>
        <p:spPr/>
        <p:txBody>
          <a:bodyPr/>
          <a:lstStyle/>
          <a:p>
            <a:fld id="{00DE9525-EC44-4C74-915E-FB09A07587F3}" type="slidenum">
              <a:rPr lang="en-US" smtClean="0"/>
              <a:t>19</a:t>
            </a:fld>
            <a:endParaRPr lang="en-US"/>
          </a:p>
        </p:txBody>
      </p:sp>
    </p:spTree>
    <p:extLst>
      <p:ext uri="{BB962C8B-B14F-4D97-AF65-F5344CB8AC3E}">
        <p14:creationId xmlns:p14="http://schemas.microsoft.com/office/powerpoint/2010/main" val="25917504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DCDE-E07B-9F5F-D0EC-984A18919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48505E-AC03-C9DF-D2BF-7663B840F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60659-4373-E19E-3D21-8CE208FA71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21234-207D-AEAD-E277-8D30EEF043CC}"/>
              </a:ext>
            </a:extLst>
          </p:cNvPr>
          <p:cNvSpPr>
            <a:spLocks noGrp="1"/>
          </p:cNvSpPr>
          <p:nvPr>
            <p:ph type="sldNum" sz="quarter" idx="5"/>
          </p:nvPr>
        </p:nvSpPr>
        <p:spPr/>
        <p:txBody>
          <a:bodyPr/>
          <a:lstStyle/>
          <a:p>
            <a:fld id="{00DE9525-EC44-4C74-915E-FB09A07587F3}" type="slidenum">
              <a:rPr lang="en-US" smtClean="0"/>
              <a:t>20</a:t>
            </a:fld>
            <a:endParaRPr lang="en-US"/>
          </a:p>
        </p:txBody>
      </p:sp>
    </p:spTree>
    <p:extLst>
      <p:ext uri="{BB962C8B-B14F-4D97-AF65-F5344CB8AC3E}">
        <p14:creationId xmlns:p14="http://schemas.microsoft.com/office/powerpoint/2010/main" val="3819361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DE9525-EC44-4C74-915E-FB09A07587F3}" type="slidenum">
              <a:rPr lang="en-US" smtClean="0"/>
              <a:t>21</a:t>
            </a:fld>
            <a:endParaRPr lang="en-US"/>
          </a:p>
        </p:txBody>
      </p:sp>
    </p:spTree>
    <p:extLst>
      <p:ext uri="{BB962C8B-B14F-4D97-AF65-F5344CB8AC3E}">
        <p14:creationId xmlns:p14="http://schemas.microsoft.com/office/powerpoint/2010/main" val="4218925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802B6-1174-BB7B-3CBA-5E10A2DDC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46627-F1EE-831A-89BE-C08069C33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42E35-C879-056E-5FCE-A8350C78AB7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062099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5D790-D751-81BD-724F-E68CF0466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C56B4F-BF62-6E4C-F67C-9FB5012AE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B5833-758F-7CBB-CAC4-B7BCFBD867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0B3C5-8F80-BC17-2AE9-B867EC1ECD49}"/>
              </a:ext>
            </a:extLst>
          </p:cNvPr>
          <p:cNvSpPr>
            <a:spLocks noGrp="1"/>
          </p:cNvSpPr>
          <p:nvPr>
            <p:ph type="sldNum" sz="quarter" idx="5"/>
          </p:nvPr>
        </p:nvSpPr>
        <p:spPr/>
        <p:txBody>
          <a:bodyPr/>
          <a:lstStyle/>
          <a:p>
            <a:fld id="{00DE9525-EC44-4C74-915E-FB09A07587F3}" type="slidenum">
              <a:rPr lang="en-US" smtClean="0"/>
              <a:t>23</a:t>
            </a:fld>
            <a:endParaRPr lang="en-US"/>
          </a:p>
        </p:txBody>
      </p:sp>
    </p:spTree>
    <p:extLst>
      <p:ext uri="{BB962C8B-B14F-4D97-AF65-F5344CB8AC3E}">
        <p14:creationId xmlns:p14="http://schemas.microsoft.com/office/powerpoint/2010/main" val="10349593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3680-2718-8D65-A0A3-BF685589D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AFCCD-A7E1-7301-3BF4-BE7328232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914D1-21E4-6803-F234-E4C26EBB38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2352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F309D-1AC2-7B1A-91FA-82BFD7E53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B7C493-2CD3-9078-DB21-E57910FADB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D7EA2-FBE7-D719-8BA4-FB1F4E60624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532367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Infrastructure at Risk</a:t>
            </a:r>
            <a:r>
              <a:rPr lang="en-US" dirty="0"/>
              <a:t>: Industrial systems like power grids and water treatment plants face sophisticated threats. Traditional methods can fall short when attackers use zero-day or advanced tactics specifically designed for ICS environments.</a:t>
            </a:r>
          </a:p>
          <a:p>
            <a:r>
              <a:rPr lang="en-US" b="1" dirty="0"/>
              <a:t>Shortcomings of Existing Security</a:t>
            </a:r>
            <a:r>
              <a:rPr lang="en-US" dirty="0"/>
              <a:t>: While IDS and static honeypots work in IT contexts, ICS attackers can detect and evade these simpler decoys. Current ICS honeypots exist, but many are static, offering limited engagement and realism.</a:t>
            </a:r>
          </a:p>
          <a:p>
            <a:r>
              <a:rPr lang="en-US" b="1" dirty="0"/>
              <a:t>ICS/OT vs. IT</a:t>
            </a:r>
            <a:r>
              <a:rPr lang="en-US" dirty="0"/>
              <a:t>: ICS protocols are not like typical IT protocols; they are often proprietary, binary, and real-time. This difference demands a more specialized honeypot approach. Some ICS-targeted honeypots do exist, but most lack adaptive, learning-based deception techniques.</a:t>
            </a:r>
          </a:p>
          <a:p>
            <a:r>
              <a:rPr lang="en-US" b="1" dirty="0"/>
              <a:t>Need for Innovative Defense</a:t>
            </a:r>
            <a:r>
              <a:rPr lang="en-US" dirty="0"/>
              <a:t>: An RL-driven honeypot can dynamically respond to attacker behavior, prolong engagement, and provide deeper insight into attacker tactics. This addresses the unique ICS vulnerabilities and helps defenders stay a step ahead.</a:t>
            </a:r>
          </a:p>
          <a:p>
            <a:endParaRPr lang="en-US" dirty="0"/>
          </a:p>
        </p:txBody>
      </p:sp>
    </p:spTree>
    <p:extLst>
      <p:ext uri="{BB962C8B-B14F-4D97-AF65-F5344CB8AC3E}">
        <p14:creationId xmlns:p14="http://schemas.microsoft.com/office/powerpoint/2010/main" val="32520969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Infrastructure at Risk</a:t>
            </a:r>
            <a:r>
              <a:rPr lang="en-US" dirty="0"/>
              <a:t>: Industrial systems like power grids and water treatment plants face sophisticated threats. Traditional methods can fall short when attackers use zero-day or advanced tactics specifically designed for ICS environments.</a:t>
            </a:r>
          </a:p>
          <a:p>
            <a:r>
              <a:rPr lang="en-US" b="1" dirty="0"/>
              <a:t>Shortcomings of Existing Security</a:t>
            </a:r>
            <a:r>
              <a:rPr lang="en-US" dirty="0"/>
              <a:t>: While IDS and static honeypots work in IT contexts, ICS attackers can detect and evade these simpler decoys. Current ICS honeypots exist, but many are static, offering limited engagement and realism.</a:t>
            </a:r>
          </a:p>
          <a:p>
            <a:r>
              <a:rPr lang="en-US" b="1" dirty="0"/>
              <a:t>ICS/OT vs. IT</a:t>
            </a:r>
            <a:r>
              <a:rPr lang="en-US" dirty="0"/>
              <a:t>: ICS protocols are not like typical IT protocols; they are often proprietary, binary, and real-time. This difference demands a more specialized honeypot approach. Some ICS-targeted honeypots do exist, but most lack adaptive, learning-based deception techniques.</a:t>
            </a:r>
          </a:p>
          <a:p>
            <a:r>
              <a:rPr lang="en-US" b="1" dirty="0"/>
              <a:t>Need for Innovative Defense</a:t>
            </a:r>
            <a:r>
              <a:rPr lang="en-US" dirty="0"/>
              <a:t>: An RL-driven honeypot can dynamically respond to attacker behavior, prolong engagement, and provide deeper insight into attacker tactics. This addresses the unique ICS vulnerabilities and helps defenders stay a step ahead.</a:t>
            </a:r>
          </a:p>
          <a:p>
            <a:endParaRPr lang="en-US" dirty="0"/>
          </a:p>
        </p:txBody>
      </p:sp>
    </p:spTree>
    <p:extLst>
      <p:ext uri="{BB962C8B-B14F-4D97-AF65-F5344CB8AC3E}">
        <p14:creationId xmlns:p14="http://schemas.microsoft.com/office/powerpoint/2010/main" val="34547054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Critical Infrastructure at Risk</a:t>
            </a:r>
            <a:r>
              <a:rPr lang="en-US" dirty="0"/>
              <a:t>: Industrial systems like power grids and water treatment plants face sophisticated threats. Traditional methods can fall short when attackers use zero-day or advanced tactics specifically designed for ICS environments.</a:t>
            </a:r>
          </a:p>
          <a:p>
            <a:r>
              <a:rPr lang="en-US" b="1" dirty="0"/>
              <a:t>Shortcomings of Existing Security</a:t>
            </a:r>
            <a:r>
              <a:rPr lang="en-US" dirty="0"/>
              <a:t>: While IDS and static honeypots work in IT contexts, ICS attackers can detect and evade these simpler decoys. Current ICS honeypots exist, but many are static, offering limited engagement and realism.</a:t>
            </a:r>
          </a:p>
          <a:p>
            <a:r>
              <a:rPr lang="en-US" b="1" dirty="0"/>
              <a:t>ICS/OT vs. IT</a:t>
            </a:r>
            <a:r>
              <a:rPr lang="en-US" dirty="0"/>
              <a:t>: ICS protocols are not like typical IT protocols; they are often proprietary, binary, and real-time. This difference demands a more specialized honeypot approach. Some ICS-targeted honeypots do exist, but most lack adaptive, learning-based deception techniques.</a:t>
            </a:r>
          </a:p>
          <a:p>
            <a:r>
              <a:rPr lang="en-US" b="1" dirty="0"/>
              <a:t>Need for Innovative Defense</a:t>
            </a:r>
            <a:r>
              <a:rPr lang="en-US" dirty="0"/>
              <a:t>: An RL-driven honeypot can dynamically respond to attacker behavior, prolong engagement, and provide deeper insight into attacker tactics. This addresses the unique ICS vulnerabilities and helps defenders stay a step ahead.</a:t>
            </a:r>
          </a:p>
          <a:p>
            <a:endParaRPr lang="en-US" dirty="0"/>
          </a:p>
        </p:txBody>
      </p:sp>
    </p:spTree>
    <p:extLst>
      <p:ext uri="{BB962C8B-B14F-4D97-AF65-F5344CB8AC3E}">
        <p14:creationId xmlns:p14="http://schemas.microsoft.com/office/powerpoint/2010/main" val="4007865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3CB8-3356-4BEC-0825-D666937F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60463-F1F4-06D6-3B4B-924FBF751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6045-94AC-4C4F-B017-88AB7F80B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91B1D-97C9-F9A7-122A-95B589271D98}"/>
              </a:ext>
            </a:extLst>
          </p:cNvPr>
          <p:cNvSpPr>
            <a:spLocks noGrp="1"/>
          </p:cNvSpPr>
          <p:nvPr>
            <p:ph type="sldNum" sz="quarter" idx="5"/>
          </p:nvPr>
        </p:nvSpPr>
        <p:spPr/>
        <p:txBody>
          <a:bodyPr/>
          <a:lstStyle/>
          <a:p>
            <a:fld id="{00DE9525-EC44-4C74-915E-FB09A07587F3}" type="slidenum">
              <a:rPr lang="en-US" smtClean="0"/>
              <a:t>29</a:t>
            </a:fld>
            <a:endParaRPr lang="en-US"/>
          </a:p>
        </p:txBody>
      </p:sp>
    </p:spTree>
    <p:extLst>
      <p:ext uri="{BB962C8B-B14F-4D97-AF65-F5344CB8AC3E}">
        <p14:creationId xmlns:p14="http://schemas.microsoft.com/office/powerpoint/2010/main" val="30003480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83CB8-3356-4BEC-0825-D666937F01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C60463-F1F4-06D6-3B4B-924FBF7510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16045-94AC-4C4F-B017-88AB7F80BC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E91B1D-97C9-F9A7-122A-95B589271D98}"/>
              </a:ext>
            </a:extLst>
          </p:cNvPr>
          <p:cNvSpPr>
            <a:spLocks noGrp="1"/>
          </p:cNvSpPr>
          <p:nvPr>
            <p:ph type="sldNum" sz="quarter" idx="5"/>
          </p:nvPr>
        </p:nvSpPr>
        <p:spPr/>
        <p:txBody>
          <a:bodyPr/>
          <a:lstStyle/>
          <a:p>
            <a:fld id="{00DE9525-EC44-4C74-915E-FB09A07587F3}" type="slidenum">
              <a:rPr lang="en-US" smtClean="0"/>
              <a:t>30</a:t>
            </a:fld>
            <a:endParaRPr lang="en-US"/>
          </a:p>
        </p:txBody>
      </p:sp>
    </p:spTree>
    <p:extLst>
      <p:ext uri="{BB962C8B-B14F-4D97-AF65-F5344CB8AC3E}">
        <p14:creationId xmlns:p14="http://schemas.microsoft.com/office/powerpoint/2010/main" val="27250629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04F-A712-6897-8E70-CB39CDE26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A0E93-712D-1CAA-64FC-F5F5A59F0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8853-D2E1-C9EE-2F0D-60AFF5879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EC290-EB1A-5B43-3EB2-1A49ED400849}"/>
              </a:ext>
            </a:extLst>
          </p:cNvPr>
          <p:cNvSpPr>
            <a:spLocks noGrp="1"/>
          </p:cNvSpPr>
          <p:nvPr>
            <p:ph type="sldNum" sz="quarter" idx="5"/>
          </p:nvPr>
        </p:nvSpPr>
        <p:spPr/>
        <p:txBody>
          <a:bodyPr/>
          <a:lstStyle/>
          <a:p>
            <a:fld id="{00DE9525-EC44-4C74-915E-FB09A07587F3}" type="slidenum">
              <a:rPr lang="en-US" smtClean="0"/>
              <a:t>31</a:t>
            </a:fld>
            <a:endParaRPr lang="en-US"/>
          </a:p>
        </p:txBody>
      </p:sp>
    </p:spTree>
    <p:extLst>
      <p:ext uri="{BB962C8B-B14F-4D97-AF65-F5344CB8AC3E}">
        <p14:creationId xmlns:p14="http://schemas.microsoft.com/office/powerpoint/2010/main" val="15152164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2904F-A712-6897-8E70-CB39CDE26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A0E93-712D-1CAA-64FC-F5F5A59F01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18853-D2E1-C9EE-2F0D-60AFF5879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1EC290-EB1A-5B43-3EB2-1A49ED400849}"/>
              </a:ext>
            </a:extLst>
          </p:cNvPr>
          <p:cNvSpPr>
            <a:spLocks noGrp="1"/>
          </p:cNvSpPr>
          <p:nvPr>
            <p:ph type="sldNum" sz="quarter" idx="5"/>
          </p:nvPr>
        </p:nvSpPr>
        <p:spPr/>
        <p:txBody>
          <a:bodyPr/>
          <a:lstStyle/>
          <a:p>
            <a:fld id="{00DE9525-EC44-4C74-915E-FB09A07587F3}" type="slidenum">
              <a:rPr lang="en-US" smtClean="0"/>
              <a:t>32</a:t>
            </a:fld>
            <a:endParaRPr lang="en-US"/>
          </a:p>
        </p:txBody>
      </p:sp>
    </p:spTree>
    <p:extLst>
      <p:ext uri="{BB962C8B-B14F-4D97-AF65-F5344CB8AC3E}">
        <p14:creationId xmlns:p14="http://schemas.microsoft.com/office/powerpoint/2010/main" val="3837805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862425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D3680-2718-8D65-A0A3-BF685589D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AFCCD-A7E1-7301-3BF4-BE7328232C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8914D1-21E4-6803-F234-E4C26EBB38C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340715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D11DB-39FA-916D-C9D4-4F038A0B9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9FBCD-1809-0E9F-A710-786B87F026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D83D4-F437-8F65-2695-B2DE903A75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E8F34-C3B2-724C-1E4F-DAC9471F829E}"/>
              </a:ext>
            </a:extLst>
          </p:cNvPr>
          <p:cNvSpPr>
            <a:spLocks noGrp="1"/>
          </p:cNvSpPr>
          <p:nvPr>
            <p:ph type="sldNum" sz="quarter" idx="5"/>
          </p:nvPr>
        </p:nvSpPr>
        <p:spPr/>
        <p:txBody>
          <a:bodyPr/>
          <a:lstStyle/>
          <a:p>
            <a:fld id="{00DE9525-EC44-4C74-915E-FB09A07587F3}" type="slidenum">
              <a:rPr lang="en-US" smtClean="0"/>
              <a:t>35</a:t>
            </a:fld>
            <a:endParaRPr lang="en-US"/>
          </a:p>
        </p:txBody>
      </p:sp>
    </p:spTree>
    <p:extLst>
      <p:ext uri="{BB962C8B-B14F-4D97-AF65-F5344CB8AC3E}">
        <p14:creationId xmlns:p14="http://schemas.microsoft.com/office/powerpoint/2010/main" val="172859960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5164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852955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86153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749526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2247170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0431260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536408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769618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260508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90515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3C58D-2C3B-11B1-7BF3-DB8DD090FA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740A4-B337-976A-2196-2E8F18072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DFB3EB-CA0A-A1ED-B4B0-EC8D64C7C00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86712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Attacker Discovery and Connection: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 attacker discovers the honeypot through network scanning or via exposed services. They might identify what appears to be a vulnerable system through services like HTTP, SNMP, or Modbus exposed by your honeypot setup.</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Service Interaction: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The attacker interacts with the exposed services. For example:</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HTTP: The attacker might attempt to exploit a web application.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SNMP: They could try to fetch system information.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Modbus: Interaction might involve attempting to command a simulated PLC device.</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Scripting and Response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Py</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Scripts: These scripts can be used to automate responses to common queries or actions that an attacker might take, enhancing the realism of the honeypot.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s7comm and snap7 Server: Specifically handle industrial communication protocols, simulating realistic interactions with industrial control systems.</a:t>
            </a:r>
          </a:p>
          <a:p>
            <a:pPr algn="just">
              <a:defRPr/>
            </a:pPr>
            <a:r>
              <a:rPr lang="en-US" sz="24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and PLC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Acts as the primary honeypot daemon, managing and simulating the responses of various network services and devices.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PLC TCP/IP Stack Simulation: Specifically simulates the network stack of a PLC, making it seem as if the attacker is interacting with a real industrial control system.</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Data Logging: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Services: Captures all the interactions at the service level, such as commands issued, responses sent, and any anomalies detected.</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Interaction: Focuses more on the behavior of the attacker, like sequences of actions, times, and potential strategies deduced from their activity.</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LLM Agent: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Analyzes the interaction logs using advanced machine learning models to generate insights into the attacker’s methods and objectives.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Potentially adjusts the honeypot’s responses in real-time to continue engaging the attacker or to adapt to new tactics observed.</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Security Analysis and Reporting: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All captured data is analyzed to determine the nature of the attack, the potential threat it poses, and the effectiveness of the honeypot’s deception.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Detailed reports can be generated to inform security strategy adjustments and enhance overall defensive measures.</a:t>
            </a:r>
          </a:p>
          <a:p>
            <a:endParaRPr lang="en-US" dirty="0"/>
          </a:p>
        </p:txBody>
      </p:sp>
    </p:spTree>
    <p:extLst>
      <p:ext uri="{BB962C8B-B14F-4D97-AF65-F5344CB8AC3E}">
        <p14:creationId xmlns:p14="http://schemas.microsoft.com/office/powerpoint/2010/main" val="1511778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Font typeface="+mj-lt"/>
              <a:buAutoNum type="arabicPeriod"/>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Attacker Discovery and Connection: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 attacker discovers the honeypot through network scanning or via exposed services. They might identify what appears to be a vulnerable system through services like HTTP, SNMP, or Modbus exposed by your honeypot setup.</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Service Interaction: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The attacker interacts with the exposed services. For example:</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HTTP: The attacker might attempt to exploit a web application.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SNMP: They could try to fetch system information.</a:t>
            </a:r>
          </a:p>
          <a:p>
            <a:pPr marL="951652" lvl="2" algn="just">
              <a:defRPr/>
            </a:pPr>
            <a:r>
              <a:rPr lang="en-US" sz="16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Modbus: Interaction might involve attempting to command a simulated PLC device.</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Scripting and Response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Py</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Scripts: These scripts can be used to automate responses to common queries or actions that an attacker might take, enhancing the realism of the honeypot.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s7comm and snap7 Server: Specifically handle industrial communication protocols, simulating realistic interactions with industrial control systems.</a:t>
            </a:r>
          </a:p>
          <a:p>
            <a:pPr algn="just">
              <a:defRPr/>
            </a:pPr>
            <a:r>
              <a:rPr lang="en-US" sz="24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and PLC Simulation:</a:t>
            </a:r>
          </a:p>
          <a:p>
            <a:pPr marL="475826" lvl="1" algn="just">
              <a:defRPr/>
            </a:pPr>
            <a:r>
              <a:rPr lang="en-US" sz="2000" kern="100" dirty="0" err="1">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Honeyd</a:t>
            </a: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 Acts as the primary honeypot daemon, managing and simulating the responses of various network services and devices.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PLC TCP/IP Stack Simulation: Specifically simulates the network stack of a PLC, making it seem as if the attacker is interacting with a real industrial control system.</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Data Logging: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Services: Captures all the interactions at the service level, such as commands issued, responses sent, and any anomalies detected.</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Logs from Interaction: Focuses more on the behavior of the attacker, like sequences of actions, times, and potential strategies deduced from their activity.</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LLM Agent:</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Analyzes the interaction logs using advanced machine learning models to generate insights into the attacker’s methods and objectives.</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Potentially adjusts the honeypot’s responses in real-time to continue engaging the attacker or to adapt to new tactics observed.</a:t>
            </a:r>
          </a:p>
          <a:p>
            <a:pPr algn="just">
              <a:defRPr/>
            </a:pPr>
            <a:r>
              <a:rPr lang="en-US" sz="24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Security Analysis and Reporting:</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All captured data is analyzed to determine the nature of the attack, the potential threat it poses, and the effectiveness of the honeypot’s deception.</a:t>
            </a:r>
          </a:p>
          <a:p>
            <a:pPr marL="475826" lvl="1" algn="just">
              <a:defRPr/>
            </a:pPr>
            <a:r>
              <a:rPr lang="en-US" sz="2000" kern="100" dirty="0">
                <a:solidFill>
                  <a:prstClr val="black"/>
                </a:solidFill>
                <a:latin typeface="Times New Roman" panose="02020603050405020304" pitchFamily="18" charset="0"/>
                <a:ea typeface="PMingLiU" panose="02020500000000000000" pitchFamily="18" charset="-120"/>
                <a:cs typeface="Times New Roman" panose="02020603050405020304" pitchFamily="18" charset="0"/>
              </a:rPr>
              <a:t>Detailed reports can be generated to inform security strategy adjustments and enhance overall defensive measures.</a:t>
            </a:r>
          </a:p>
          <a:p>
            <a:endParaRPr lang="en-US" dirty="0"/>
          </a:p>
        </p:txBody>
      </p:sp>
    </p:spTree>
    <p:extLst>
      <p:ext uri="{BB962C8B-B14F-4D97-AF65-F5344CB8AC3E}">
        <p14:creationId xmlns:p14="http://schemas.microsoft.com/office/powerpoint/2010/main" val="24125756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584541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80197-E09D-1539-7263-53A12EC62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65972-1F08-FD77-0B38-FD5D83803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88BC2-DEBF-C614-14E9-707B94A7DD5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286263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664116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Дата 3"/>
          <p:cNvSpPr>
            <a:spLocks noGrp="1"/>
          </p:cNvSpPr>
          <p:nvPr>
            <p:ph type="dt" sz="half" idx="10"/>
          </p:nvPr>
        </p:nvSpPr>
        <p:spPr/>
        <p:txBody>
          <a:bodyPr/>
          <a:lstStyle/>
          <a:p>
            <a:fld id="{1B6A6340-A8B6-4C0E-9AF8-8C0E7362FD26}"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55203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Объект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Дата 3"/>
          <p:cNvSpPr>
            <a:spLocks noGrp="1"/>
          </p:cNvSpPr>
          <p:nvPr>
            <p:ph type="dt" sz="half" idx="10"/>
          </p:nvPr>
        </p:nvSpPr>
        <p:spPr/>
        <p:txBody>
          <a:bodyPr/>
          <a:lstStyle/>
          <a:p>
            <a:fld id="{51765F99-3523-4663-B96E-D7C8705C0A06}"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42685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Дата 3"/>
          <p:cNvSpPr>
            <a:spLocks noGrp="1"/>
          </p:cNvSpPr>
          <p:nvPr>
            <p:ph type="dt" sz="half" idx="10"/>
          </p:nvPr>
        </p:nvSpPr>
        <p:spPr/>
        <p:txBody>
          <a:bodyPr/>
          <a:lstStyle/>
          <a:p>
            <a:fld id="{86A236D1-0A5B-45B8-9FAD-0B2841F69442}"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83268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Объект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Объект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Дата 4"/>
          <p:cNvSpPr>
            <a:spLocks noGrp="1"/>
          </p:cNvSpPr>
          <p:nvPr>
            <p:ph type="dt" sz="half" idx="10"/>
          </p:nvPr>
        </p:nvSpPr>
        <p:spPr/>
        <p:txBody>
          <a:bodyPr/>
          <a:lstStyle/>
          <a:p>
            <a:fld id="{3C0EDF80-2212-4051-B308-90A24CBFEB17}" type="datetime1">
              <a:rPr lang="en-US" smtClean="0"/>
              <a:t>5/17/2026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984191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en-US"/>
              <a:t>Click to edit Master title style</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Объект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Объект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Дата 6"/>
          <p:cNvSpPr>
            <a:spLocks noGrp="1"/>
          </p:cNvSpPr>
          <p:nvPr>
            <p:ph type="dt" sz="half" idx="10"/>
          </p:nvPr>
        </p:nvSpPr>
        <p:spPr/>
        <p:txBody>
          <a:bodyPr/>
          <a:lstStyle/>
          <a:p>
            <a:fld id="{57B1ECC0-98D0-4FB2-9B03-5623D78B2C3E}" type="datetime1">
              <a:rPr lang="en-US" smtClean="0"/>
              <a:t>5/17/2026</a:t>
            </a:fld>
            <a:endParaRPr lang="en-US"/>
          </a:p>
        </p:txBody>
      </p:sp>
      <p:sp>
        <p:nvSpPr>
          <p:cNvPr id="8" name="Нижний колонтитул 7"/>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608442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Дата 2"/>
          <p:cNvSpPr>
            <a:spLocks noGrp="1"/>
          </p:cNvSpPr>
          <p:nvPr>
            <p:ph type="dt" sz="half" idx="10"/>
          </p:nvPr>
        </p:nvSpPr>
        <p:spPr/>
        <p:txBody>
          <a:bodyPr/>
          <a:lstStyle/>
          <a:p>
            <a:fld id="{32F8FE7A-36F5-4CF4-8173-09EAC8F5EAD0}" type="datetime1">
              <a:rPr lang="en-US" smtClean="0"/>
              <a:t>5/17/2026</a:t>
            </a:fld>
            <a:endParaRPr lang="en-US"/>
          </a:p>
        </p:txBody>
      </p:sp>
      <p:sp>
        <p:nvSpPr>
          <p:cNvPr id="4" name="Нижний колонтитул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50773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AB44C73-E374-47F5-B025-2F15A05EB485}" type="datetime1">
              <a:rPr lang="en-US" smtClean="0"/>
              <a:t>5/17/2026</a:t>
            </a:fld>
            <a:endParaRPr lang="en-US"/>
          </a:p>
        </p:txBody>
      </p:sp>
      <p:sp>
        <p:nvSpPr>
          <p:cNvPr id="3" name="Нижний колонтитул 2"/>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08621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Дата 4"/>
          <p:cNvSpPr>
            <a:spLocks noGrp="1"/>
          </p:cNvSpPr>
          <p:nvPr>
            <p:ph type="dt" sz="half" idx="10"/>
          </p:nvPr>
        </p:nvSpPr>
        <p:spPr/>
        <p:txBody>
          <a:bodyPr/>
          <a:lstStyle/>
          <a:p>
            <a:fld id="{8CC3DDEB-6326-4A6A-87BB-14011A6385DE}" type="datetime1">
              <a:rPr lang="en-US" smtClean="0"/>
              <a:t>5/17/2026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495117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Дата 4"/>
          <p:cNvSpPr>
            <a:spLocks noGrp="1"/>
          </p:cNvSpPr>
          <p:nvPr>
            <p:ph type="dt" sz="half" idx="10"/>
          </p:nvPr>
        </p:nvSpPr>
        <p:spPr/>
        <p:txBody>
          <a:bodyPr/>
          <a:lstStyle/>
          <a:p>
            <a:fld id="{4ABF89D8-83B1-4C9A-AEBA-21F44ABC6BDB}" type="datetime1">
              <a:rPr lang="en-US" smtClean="0"/>
              <a:t>5/17/2026</a:t>
            </a:fld>
            <a:endParaRPr lang="en-US"/>
          </a:p>
        </p:txBody>
      </p:sp>
      <p:sp>
        <p:nvSpPr>
          <p:cNvPr id="6" name="Нижний колонтитул 5"/>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07928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Вертикальный текст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EF197E6C-CCCA-4D49-910D-89376904EE4E}"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371722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F7DD7987-DC05-4168-9733-233892813167}"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778519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Заголовок и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a:t>Click to edit Master title style</a:t>
            </a:r>
          </a:p>
        </p:txBody>
      </p:sp>
      <p:sp>
        <p:nvSpPr>
          <p:cNvPr id="3" name="Текст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Дата 3"/>
          <p:cNvSpPr>
            <a:spLocks noGrp="1"/>
          </p:cNvSpPr>
          <p:nvPr>
            <p:ph type="dt" sz="half" idx="10"/>
          </p:nvPr>
        </p:nvSpPr>
        <p:spPr/>
        <p:txBody>
          <a:bodyPr/>
          <a:lstStyle/>
          <a:p>
            <a:fld id="{58825E15-E4A5-42D9-A826-86294B462643}" type="datetime1">
              <a:rPr lang="en-US" smtClean="0"/>
              <a:t>5/17/2026</a:t>
            </a:fld>
            <a:endParaRPr lang="en-US"/>
          </a:p>
        </p:txBody>
      </p:sp>
      <p:sp>
        <p:nvSpPr>
          <p:cNvPr id="5" name="Нижний колонтитул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98519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0"/>
            <a:ext cx="10515600" cy="1325563"/>
          </a:xfrm>
          <a:prstGeom prst="rect">
            <a:avLst/>
          </a:prstGeom>
        </p:spPr>
        <p:txBody>
          <a:bodyPr vert="horz" lIns="91440" tIns="45720" rIns="91440" bIns="45720" rtlCol="0" anchor="ctr">
            <a:normAutofit/>
          </a:bodyPr>
          <a:lstStyle/>
          <a:p>
            <a:r>
              <a:rPr lang="ru-RU" dirty="0"/>
              <a:t>Образец заголовка</a:t>
            </a:r>
            <a:endParaRPr lang="en-US" dirty="0"/>
          </a:p>
        </p:txBody>
      </p:sp>
      <p:sp>
        <p:nvSpPr>
          <p:cNvPr id="3" name="Текст 2"/>
          <p:cNvSpPr>
            <a:spLocks noGrp="1"/>
          </p:cNvSpPr>
          <p:nvPr>
            <p:ph type="body" idx="1"/>
          </p:nvPr>
        </p:nvSpPr>
        <p:spPr>
          <a:xfrm>
            <a:off x="838200" y="1325563"/>
            <a:ext cx="10515600" cy="4851400"/>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999A2-EE00-4074-837F-5E64CE342286}" type="datetime1">
              <a:rPr lang="en-US" smtClean="0"/>
              <a:t>5/17/2026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9" name="Номер слайда 5">
            <a:extLst>
              <a:ext uri="{FF2B5EF4-FFF2-40B4-BE49-F238E27FC236}">
                <a16:creationId xmlns:a16="http://schemas.microsoft.com/office/drawing/2014/main" id="{0B94E381-B2C1-388F-5047-69AA11306F8C}"/>
              </a:ext>
            </a:extLst>
          </p:cNvPr>
          <p:cNvSpPr>
            <a:spLocks noGrp="1"/>
          </p:cNvSpPr>
          <p:nvPr>
            <p:ph type="sldNum" sz="quarter" idx="4"/>
          </p:nvPr>
        </p:nvSpPr>
        <p:spPr>
          <a:xfrm>
            <a:off x="9167232" y="6356350"/>
            <a:ext cx="2743200" cy="365125"/>
          </a:xfrm>
          <a:prstGeom prst="rect">
            <a:avLst/>
          </a:prstGeom>
        </p:spPr>
        <p:txBody>
          <a:bodyPr/>
          <a:lstStyle>
            <a:lvl1pPr algn="r">
              <a:defRPr sz="1600">
                <a:latin typeface="Times New Roman" panose="02020603050405020304" pitchFamily="18" charset="0"/>
                <a:cs typeface="Times New Roman" panose="02020603050405020304" pitchFamily="18" charset="0"/>
              </a:defRPr>
            </a:lvl1pPr>
          </a:lstStyle>
          <a:p>
            <a:fld id="{0AC75AE4-2539-48B4-9085-ED268410DA8F}" type="slidenum">
              <a:rPr lang="en-US" smtClean="0"/>
              <a:t>‹#›</a:t>
            </a:fld>
            <a:endParaRPr lang="en-US"/>
          </a:p>
        </p:txBody>
      </p:sp>
      <p:pic>
        <p:nvPicPr>
          <p:cNvPr id="10" name="Picture 2" descr="一張含有 符號, 圓形, 標誌, 設計 的圖片&#10;&#10;自動產生的描述">
            <a:extLst>
              <a:ext uri="{FF2B5EF4-FFF2-40B4-BE49-F238E27FC236}">
                <a16:creationId xmlns:a16="http://schemas.microsoft.com/office/drawing/2014/main" id="{B1F4812E-68CA-7083-4272-BDA309E3E463}"/>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805532" y="0"/>
            <a:ext cx="1386468" cy="13864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683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410.png"/><Relationship Id="rId7" Type="http://schemas.openxmlformats.org/officeDocument/2006/relationships/image" Target="../media/image8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atomicredteam.io/" TargetMode="Externa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0.png"/></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4A29426D-721A-4698-BA97-DA736205D45B}"/>
              </a:ext>
            </a:extLst>
          </p:cNvPr>
          <p:cNvSpPr>
            <a:spLocks noGrp="1"/>
          </p:cNvSpPr>
          <p:nvPr>
            <p:ph type="ctrTitle"/>
          </p:nvPr>
        </p:nvSpPr>
        <p:spPr>
          <a:xfrm>
            <a:off x="699393" y="2072274"/>
            <a:ext cx="10793214" cy="1356726"/>
          </a:xfrm>
        </p:spPr>
        <p:txBody>
          <a:bodyPr>
            <a:noAutofit/>
          </a:bodyPr>
          <a:lstStyle/>
          <a:p>
            <a:r>
              <a:rPr lang="en-US" sz="3600" dirty="0"/>
              <a:t>RL-LLM Based Co-evolving Multi-generational Red-team and Blue-team AI Agents in a Cyber Range</a:t>
            </a:r>
          </a:p>
        </p:txBody>
      </p:sp>
      <p:sp>
        <p:nvSpPr>
          <p:cNvPr id="5" name="Подзаголовок 2">
            <a:extLst>
              <a:ext uri="{FF2B5EF4-FFF2-40B4-BE49-F238E27FC236}">
                <a16:creationId xmlns:a16="http://schemas.microsoft.com/office/drawing/2014/main" id="{0427FC9B-16F1-48E6-825A-45A4BF2902FA}"/>
              </a:ext>
            </a:extLst>
          </p:cNvPr>
          <p:cNvSpPr>
            <a:spLocks noGrp="1"/>
          </p:cNvSpPr>
          <p:nvPr>
            <p:ph type="subTitle" idx="1"/>
          </p:nvPr>
        </p:nvSpPr>
        <p:spPr>
          <a:xfrm>
            <a:off x="434110" y="4265209"/>
            <a:ext cx="9522691" cy="2396847"/>
          </a:xfrm>
        </p:spPr>
        <p:txBody>
          <a:bodyPr>
            <a:noAutofit/>
          </a:bodyPr>
          <a:lstStyle/>
          <a:p>
            <a:pPr algn="l"/>
            <a:r>
              <a:rPr lang="en-US" sz="1800" b="1" dirty="0">
                <a:latin typeface="Times New Roman" panose="02020603050405020304" pitchFamily="18" charset="0"/>
                <a:cs typeface="Times New Roman" panose="02020603050405020304" pitchFamily="18" charset="0"/>
              </a:rPr>
              <a:t>Student</a:t>
            </a:r>
            <a:r>
              <a:rPr lang="en-US" sz="1800" dirty="0">
                <a:latin typeface="Times New Roman" panose="02020603050405020304" pitchFamily="18" charset="0"/>
                <a:cs typeface="Times New Roman" panose="02020603050405020304" pitchFamily="18" charset="0"/>
              </a:rPr>
              <a:t>: </a:t>
            </a:r>
            <a:r>
              <a:rPr lang="en-US" altLang="zh-TW" sz="1800" dirty="0">
                <a:latin typeface="Times New Roman" panose="02020603050405020304" pitchFamily="18" charset="0"/>
                <a:cs typeface="Times New Roman" panose="02020603050405020304" pitchFamily="18" charset="0"/>
              </a:rPr>
              <a:t>Aniket Aggarwal</a:t>
            </a:r>
            <a:endParaRPr lang="en-US" sz="1800" dirty="0">
              <a:latin typeface="Times New Roman" panose="02020603050405020304" pitchFamily="18" charset="0"/>
              <a:cs typeface="Times New Roman" panose="02020603050405020304" pitchFamily="18" charset="0"/>
            </a:endParaRPr>
          </a:p>
          <a:p>
            <a:pPr algn="l"/>
            <a:endParaRPr lang="en-US" sz="1800" dirty="0">
              <a:latin typeface="Times New Roman" panose="02020603050405020304" pitchFamily="18" charset="0"/>
              <a:cs typeface="Times New Roman" panose="02020603050405020304" pitchFamily="18" charset="0"/>
            </a:endParaRPr>
          </a:p>
          <a:p>
            <a:pPr algn="l"/>
            <a:r>
              <a:rPr lang="en-US" sz="1800" b="1" dirty="0">
                <a:latin typeface="Times New Roman" panose="02020603050405020304" pitchFamily="18" charset="0"/>
                <a:cs typeface="Times New Roman" panose="02020603050405020304" pitchFamily="18" charset="0"/>
              </a:rPr>
              <a:t>Advisor</a:t>
            </a:r>
            <a:r>
              <a:rPr lang="en-US" sz="1800" dirty="0">
                <a:latin typeface="Times New Roman" panose="02020603050405020304" pitchFamily="18" charset="0"/>
                <a:cs typeface="Times New Roman" panose="02020603050405020304" pitchFamily="18" charset="0"/>
              </a:rPr>
              <a:t>: Professor Ying-Dar Lin , Professor Yuan </a:t>
            </a:r>
            <a:r>
              <a:rPr lang="en-US" sz="1800" dirty="0"/>
              <a:t>C</a:t>
            </a:r>
            <a:r>
              <a:rPr lang="en-US" sz="1800" dirty="0">
                <a:latin typeface="Times New Roman" panose="02020603050405020304" pitchFamily="18" charset="0"/>
                <a:cs typeface="Times New Roman" panose="02020603050405020304" pitchFamily="18" charset="0"/>
              </a:rPr>
              <a:t>heng Lai</a:t>
            </a:r>
          </a:p>
          <a:p>
            <a:pPr algn="l"/>
            <a:endParaRPr lang="en-US" sz="1800" dirty="0">
              <a:latin typeface="Times New Roman" panose="02020603050405020304" pitchFamily="18" charset="0"/>
              <a:cs typeface="Times New Roman" panose="02020603050405020304" pitchFamily="18" charset="0"/>
            </a:endParaRPr>
          </a:p>
          <a:p>
            <a:pPr algn="l"/>
            <a:r>
              <a:rPr lang="en-US" sz="1800" b="1" dirty="0">
                <a:latin typeface="Times New Roman" panose="02020603050405020304" pitchFamily="18" charset="0"/>
                <a:cs typeface="Times New Roman" panose="02020603050405020304" pitchFamily="18" charset="0"/>
              </a:rPr>
              <a:t>High Speed Network Lab</a:t>
            </a:r>
          </a:p>
          <a:p>
            <a:pPr algn="l"/>
            <a:r>
              <a:rPr lang="en-US" sz="1800" b="1" dirty="0">
                <a:latin typeface="Times New Roman" panose="02020603050405020304" pitchFamily="18" charset="0"/>
                <a:cs typeface="Times New Roman" panose="02020603050405020304" pitchFamily="18" charset="0"/>
              </a:rPr>
              <a:t>National Yang Ming Chiao</a:t>
            </a:r>
            <a:r>
              <a:rPr lang="en-US" sz="1800" b="1" dirty="0"/>
              <a:t> </a:t>
            </a:r>
            <a:r>
              <a:rPr lang="en-US" sz="1800" b="1" dirty="0">
                <a:latin typeface="Times New Roman" panose="02020603050405020304" pitchFamily="18" charset="0"/>
                <a:cs typeface="Times New Roman" panose="02020603050405020304" pitchFamily="18" charset="0"/>
              </a:rPr>
              <a:t>Tung University, Taiwan</a:t>
            </a:r>
          </a:p>
        </p:txBody>
      </p:sp>
    </p:spTree>
    <p:extLst>
      <p:ext uri="{BB962C8B-B14F-4D97-AF65-F5344CB8AC3E}">
        <p14:creationId xmlns:p14="http://schemas.microsoft.com/office/powerpoint/2010/main" val="2047344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Outline</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838200" y="1325562"/>
            <a:ext cx="10515600" cy="5532438"/>
          </a:xfrm>
        </p:spPr>
        <p:txBody>
          <a:bodyPr numCol="2">
            <a:normAutofit/>
          </a:bodyPr>
          <a:lstStyle/>
          <a:p>
            <a:pPr algn="just"/>
            <a:r>
              <a:rPr lang="en-US" sz="2400" dirty="0">
                <a:latin typeface="Times New Roman" panose="02020603050405020304" pitchFamily="18" charset="0"/>
                <a:cs typeface="Times New Roman" panose="02020603050405020304" pitchFamily="18" charset="0"/>
              </a:rPr>
              <a:t>Motivation</a:t>
            </a:r>
          </a:p>
          <a:p>
            <a:pPr algn="just"/>
            <a:r>
              <a:rPr lang="en-US" sz="2400" dirty="0">
                <a:latin typeface="Times New Roman" panose="02020603050405020304" pitchFamily="18" charset="0"/>
                <a:cs typeface="Times New Roman" panose="02020603050405020304" pitchFamily="18" charset="0"/>
              </a:rPr>
              <a:t>Background</a:t>
            </a:r>
          </a:p>
          <a:p>
            <a:pPr lvl="1" algn="just"/>
            <a:r>
              <a:rPr lang="en-US" dirty="0"/>
              <a:t>Adversarial Roles in Cybersecurity </a:t>
            </a:r>
          </a:p>
          <a:p>
            <a:pPr lvl="1" algn="just"/>
            <a:r>
              <a:rPr lang="en-US" dirty="0"/>
              <a:t>Agentic AI in Offensive and</a:t>
            </a:r>
          </a:p>
          <a:p>
            <a:pPr marL="457200" lvl="1" indent="0" algn="just">
              <a:buNone/>
            </a:pPr>
            <a:r>
              <a:rPr lang="en-US" dirty="0"/>
              <a:t>     Defensive Security </a:t>
            </a:r>
          </a:p>
          <a:p>
            <a:pPr lvl="1" algn="just"/>
            <a:r>
              <a:rPr lang="en-US" sz="2000" dirty="0">
                <a:ea typeface="微軟正黑體" panose="020B0604030504040204" pitchFamily="34" charset="-120"/>
              </a:rPr>
              <a:t>MITRE ATT&amp;CK</a:t>
            </a:r>
          </a:p>
          <a:p>
            <a:pPr lvl="1" algn="just"/>
            <a:r>
              <a:rPr lang="en-US" dirty="0">
                <a:latin typeface="Times New Roman" panose="02020603050405020304" pitchFamily="18" charset="0"/>
                <a:ea typeface="微軟正黑體" panose="020B0604030504040204" pitchFamily="34" charset="-120"/>
                <a:cs typeface="Times New Roman" panose="02020603050405020304" pitchFamily="18" charset="0"/>
              </a:rPr>
              <a:t>MITRE Engage</a:t>
            </a:r>
          </a:p>
          <a:p>
            <a:pPr lvl="1" algn="just"/>
            <a:r>
              <a:rPr lang="en-US" dirty="0">
                <a:latin typeface="Times New Roman" panose="02020603050405020304" pitchFamily="18" charset="0"/>
                <a:cs typeface="Times New Roman" panose="02020603050405020304" pitchFamily="18" charset="0"/>
              </a:rPr>
              <a:t>Reinforcement Learning</a:t>
            </a:r>
            <a:endParaRPr lang="en-US" dirty="0">
              <a:latin typeface="Times New Roman" panose="02020603050405020304" pitchFamily="18" charset="0"/>
              <a:ea typeface="微軟正黑體" panose="020B0604030504040204" pitchFamily="34" charset="-12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Related works</a:t>
            </a:r>
          </a:p>
          <a:p>
            <a:pPr lvl="1" algn="just"/>
            <a:r>
              <a:rPr lang="en-US" dirty="0"/>
              <a:t>AI-Based Red-Blue Teaming </a:t>
            </a:r>
          </a:p>
          <a:p>
            <a:pPr algn="just"/>
            <a:r>
              <a:rPr lang="en-US" dirty="0"/>
              <a:t>Issues</a:t>
            </a:r>
          </a:p>
          <a:p>
            <a:pPr algn="just"/>
            <a:r>
              <a:rPr lang="en-US" sz="2400" dirty="0"/>
              <a:t>Notations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Problem Statement</a:t>
            </a:r>
          </a:p>
          <a:p>
            <a:pPr lvl="1" algn="just"/>
            <a:endParaRPr lang="en-US" dirty="0">
              <a:latin typeface="Times New Roman" panose="02020603050405020304" pitchFamily="18" charset="0"/>
              <a:cs typeface="Times New Roman" panose="02020603050405020304" pitchFamily="18" charset="0"/>
            </a:endParaRPr>
          </a:p>
          <a:p>
            <a:pPr lvl="1" algn="just"/>
            <a:endParaRPr lang="en-US"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Solution</a:t>
            </a:r>
          </a:p>
          <a:p>
            <a:pPr lvl="1" algn="just"/>
            <a:r>
              <a:rPr lang="en-US" dirty="0"/>
              <a:t>Overview</a:t>
            </a:r>
          </a:p>
          <a:p>
            <a:pPr lvl="1" algn="just"/>
            <a:r>
              <a:rPr lang="en-US" dirty="0">
                <a:latin typeface="Times New Roman" panose="02020603050405020304" pitchFamily="18" charset="0"/>
                <a:cs typeface="Times New Roman" panose="02020603050405020304" pitchFamily="18" charset="0"/>
              </a:rPr>
              <a:t>B</a:t>
            </a:r>
            <a:r>
              <a:rPr lang="en-US" dirty="0"/>
              <a:t>lue Agent Process</a:t>
            </a:r>
          </a:p>
          <a:p>
            <a:pPr lvl="1" algn="just"/>
            <a:r>
              <a:rPr lang="en-US" dirty="0"/>
              <a:t>Red Agent Process</a:t>
            </a:r>
          </a:p>
          <a:p>
            <a:pPr algn="just"/>
            <a:r>
              <a:rPr lang="en-US" dirty="0"/>
              <a:t>Implementation</a:t>
            </a:r>
          </a:p>
          <a:p>
            <a:pPr algn="just"/>
            <a:r>
              <a:rPr lang="en-US" dirty="0"/>
              <a:t>Evaluation</a:t>
            </a:r>
          </a:p>
          <a:p>
            <a:pPr algn="just"/>
            <a:r>
              <a:rPr lang="en-US" dirty="0"/>
              <a:t>Schedule</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References</a:t>
            </a:r>
          </a:p>
        </p:txBody>
      </p:sp>
      <p:sp>
        <p:nvSpPr>
          <p:cNvPr id="3" name="Slide Number Placeholder 3">
            <a:extLst>
              <a:ext uri="{FF2B5EF4-FFF2-40B4-BE49-F238E27FC236}">
                <a16:creationId xmlns:a16="http://schemas.microsoft.com/office/drawing/2014/main" id="{6BC03CB8-D563-1237-DE90-8D26C6E343FD}"/>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a:t>
            </a:fld>
            <a:endParaRPr lang="en-US" dirty="0"/>
          </a:p>
        </p:txBody>
      </p:sp>
    </p:spTree>
    <p:extLst>
      <p:ext uri="{BB962C8B-B14F-4D97-AF65-F5344CB8AC3E}">
        <p14:creationId xmlns:p14="http://schemas.microsoft.com/office/powerpoint/2010/main" val="824782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425824" y="-143436"/>
            <a:ext cx="10515600" cy="1325563"/>
          </a:xfrm>
        </p:spPr>
        <p:txBody>
          <a:bodyPr/>
          <a:lstStyle/>
          <a:p>
            <a:pPr algn="just"/>
            <a:r>
              <a:rPr lang="en-US" dirty="0">
                <a:latin typeface="Times New Roman" panose="02020603050405020304" pitchFamily="18" charset="0"/>
                <a:cs typeface="Times New Roman" panose="02020603050405020304" pitchFamily="18" charset="0"/>
              </a:rPr>
              <a:t>Motivation</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542364" y="1182127"/>
            <a:ext cx="10515600" cy="4851400"/>
          </a:xfrm>
        </p:spPr>
        <p:txBody>
          <a:bodyPr>
            <a:noAutofit/>
          </a:bodyPr>
          <a:lstStyle/>
          <a:p>
            <a:r>
              <a:rPr lang="en-US" b="1" dirty="0"/>
              <a:t>Why AI Based Red/Blue Team?</a:t>
            </a:r>
          </a:p>
          <a:p>
            <a:pPr lvl="1"/>
            <a:r>
              <a:rPr lang="en-US" dirty="0"/>
              <a:t>Human simulation → Costly, slow, expert-dependent</a:t>
            </a:r>
          </a:p>
          <a:p>
            <a:pPr lvl="1"/>
            <a:r>
              <a:rPr lang="en-US" dirty="0"/>
              <a:t>AI agents → Scalable, fast, repeatable cyber exercises</a:t>
            </a:r>
          </a:p>
          <a:p>
            <a:pPr lvl="1"/>
            <a:r>
              <a:rPr lang="en-US" dirty="0"/>
              <a:t>Automates both attack (Red) &amp; defense (Blue)</a:t>
            </a:r>
          </a:p>
          <a:p>
            <a:r>
              <a:rPr lang="en-US" b="1" dirty="0"/>
              <a:t> Why Co-evolve Red and Blue Agents?</a:t>
            </a:r>
          </a:p>
          <a:p>
            <a:pPr lvl="1"/>
            <a:r>
              <a:rPr lang="en-US" dirty="0"/>
              <a:t>Static Blue agent → Overfit to outdated attacks</a:t>
            </a:r>
          </a:p>
          <a:p>
            <a:pPr lvl="1"/>
            <a:r>
              <a:rPr lang="en-US" dirty="0"/>
              <a:t>RL-based Red ↔ RL-based Blue evolve together → Adaptive, robust strategies</a:t>
            </a:r>
          </a:p>
          <a:p>
            <a:pPr lvl="1"/>
            <a:r>
              <a:rPr lang="en-US" dirty="0"/>
              <a:t>Adaptive attacker &amp; defender agents → Scalable, autonomous, and continuously improving</a:t>
            </a:r>
          </a:p>
          <a:p>
            <a:r>
              <a:rPr lang="en-US" b="1" dirty="0"/>
              <a:t>Why RL-based?</a:t>
            </a:r>
          </a:p>
          <a:p>
            <a:pPr lvl="1"/>
            <a:r>
              <a:rPr lang="en-US" dirty="0"/>
              <a:t>Cyber kill chains → Sequential + Multi-stage decision problems </a:t>
            </a:r>
          </a:p>
          <a:p>
            <a:pPr lvl="1"/>
            <a:r>
              <a:rPr lang="en-US" dirty="0"/>
              <a:t>RL → Learns optimal attack/defense over time beyond rule-based or heuristic systems.</a:t>
            </a:r>
          </a:p>
          <a:p>
            <a:pPr marL="457200" lvl="1" indent="0">
              <a:buNone/>
            </a:pPr>
            <a:endParaRPr lang="en-US" dirty="0"/>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a:t>
            </a:fld>
            <a:endParaRPr lang="en-US" dirty="0"/>
          </a:p>
        </p:txBody>
      </p:sp>
    </p:spTree>
    <p:extLst>
      <p:ext uri="{BB962C8B-B14F-4D97-AF65-F5344CB8AC3E}">
        <p14:creationId xmlns:p14="http://schemas.microsoft.com/office/powerpoint/2010/main" val="289367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Background – </a:t>
            </a:r>
            <a:r>
              <a:rPr lang="en-US" dirty="0"/>
              <a:t>Cybersecurity Training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838200" y="1325562"/>
            <a:ext cx="10515600" cy="5275654"/>
          </a:xfrm>
        </p:spPr>
        <p:txBody>
          <a:bodyPr>
            <a:normAutofit/>
          </a:bodyPr>
          <a:lstStyle/>
          <a:p>
            <a:pPr marR="0" algn="just">
              <a:spcAft>
                <a:spcPts val="800"/>
              </a:spcAft>
            </a:pPr>
            <a:r>
              <a:rPr lang="en-US" dirty="0"/>
              <a:t>Red Team (Attacker Simulation)</a:t>
            </a:r>
          </a:p>
          <a:p>
            <a:pPr lvl="1" algn="just">
              <a:spcAft>
                <a:spcPts val="800"/>
              </a:spcAft>
            </a:pPr>
            <a:r>
              <a:rPr lang="en-US" dirty="0"/>
              <a:t>Emulates real-world adversaries using offensive tactics and exploits</a:t>
            </a:r>
          </a:p>
          <a:p>
            <a:pPr lvl="1" algn="just">
              <a:spcAft>
                <a:spcPts val="800"/>
              </a:spcAft>
            </a:pPr>
            <a:r>
              <a:rPr lang="en-US" dirty="0"/>
              <a:t>Tests the organization’s detection and response capabilities</a:t>
            </a:r>
          </a:p>
          <a:p>
            <a:pPr algn="just">
              <a:spcAft>
                <a:spcPts val="800"/>
              </a:spcAft>
            </a:pPr>
            <a:r>
              <a:rPr lang="en-US" dirty="0"/>
              <a:t> Blue Team (Defender Operations)</a:t>
            </a:r>
          </a:p>
          <a:p>
            <a:pPr lvl="1" algn="just">
              <a:spcAft>
                <a:spcPts val="800"/>
              </a:spcAft>
            </a:pPr>
            <a:r>
              <a:rPr lang="en-US" dirty="0"/>
              <a:t>Detects, responds to, and mitigates ongoing attacks</a:t>
            </a:r>
          </a:p>
          <a:p>
            <a:pPr lvl="1" algn="just">
              <a:spcAft>
                <a:spcPts val="800"/>
              </a:spcAft>
            </a:pPr>
            <a:r>
              <a:rPr lang="en-US" dirty="0"/>
              <a:t>Maintains system integrity, logs, alerts, and incident response</a:t>
            </a:r>
          </a:p>
        </p:txBody>
      </p:sp>
      <p:sp>
        <p:nvSpPr>
          <p:cNvPr id="7" name="Slide Number Placeholder 3">
            <a:extLst>
              <a:ext uri="{FF2B5EF4-FFF2-40B4-BE49-F238E27FC236}">
                <a16:creationId xmlns:a16="http://schemas.microsoft.com/office/drawing/2014/main" id="{573A1295-25A0-C9F9-04D0-1B2184EFD15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a:t>
            </a:fld>
            <a:endParaRPr lang="en-US" dirty="0"/>
          </a:p>
        </p:txBody>
      </p:sp>
    </p:spTree>
    <p:extLst>
      <p:ext uri="{BB962C8B-B14F-4D97-AF65-F5344CB8AC3E}">
        <p14:creationId xmlns:p14="http://schemas.microsoft.com/office/powerpoint/2010/main" val="1921427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723B25-3314-407E-91F0-C111F4485803}"/>
              </a:ext>
            </a:extLst>
          </p:cNvPr>
          <p:cNvPicPr>
            <a:picLocks noChangeAspect="1"/>
          </p:cNvPicPr>
          <p:nvPr/>
        </p:nvPicPr>
        <p:blipFill>
          <a:blip r:embed="rId3">
            <a:alphaModFix amt="70000"/>
          </a:blip>
          <a:stretch>
            <a:fillRect/>
          </a:stretch>
        </p:blipFill>
        <p:spPr>
          <a:xfrm>
            <a:off x="3674533" y="1417826"/>
            <a:ext cx="8517467" cy="4872907"/>
          </a:xfrm>
          <a:prstGeom prst="rect">
            <a:avLst/>
          </a:prstGeom>
        </p:spPr>
      </p:pic>
      <p:sp>
        <p:nvSpPr>
          <p:cNvPr id="2" name="Title 1">
            <a:extLst>
              <a:ext uri="{FF2B5EF4-FFF2-40B4-BE49-F238E27FC236}">
                <a16:creationId xmlns:a16="http://schemas.microsoft.com/office/drawing/2014/main" id="{773EB630-23EE-044E-8D18-ABC9542278E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Background – MITRE ATT&amp;CK</a:t>
            </a:r>
            <a:endParaRPr lang="en-US" dirty="0"/>
          </a:p>
        </p:txBody>
      </p:sp>
      <p:sp>
        <p:nvSpPr>
          <p:cNvPr id="3" name="Content Placeholder 2">
            <a:extLst>
              <a:ext uri="{FF2B5EF4-FFF2-40B4-BE49-F238E27FC236}">
                <a16:creationId xmlns:a16="http://schemas.microsoft.com/office/drawing/2014/main" id="{880AAA72-7BD2-60B7-9BE4-71CD56DCA22D}"/>
              </a:ext>
            </a:extLst>
          </p:cNvPr>
          <p:cNvSpPr>
            <a:spLocks noGrp="1"/>
          </p:cNvSpPr>
          <p:nvPr>
            <p:ph idx="1"/>
          </p:nvPr>
        </p:nvSpPr>
        <p:spPr>
          <a:xfrm>
            <a:off x="257175" y="1325563"/>
            <a:ext cx="3554691" cy="5149665"/>
          </a:xfrm>
        </p:spPr>
        <p:txBody>
          <a:bodyPr>
            <a:noAutofit/>
          </a:bodyPr>
          <a:lstStyle/>
          <a:p>
            <a:r>
              <a:rPr lang="en-US" sz="1800" dirty="0"/>
              <a:t>MITRE ATT&amp;CK Framework:</a:t>
            </a:r>
          </a:p>
          <a:p>
            <a:pPr lvl="1"/>
            <a:r>
              <a:rPr lang="en-US" sz="1600" dirty="0"/>
              <a:t>Defines attacker Tactics, Techniques, Procedures (TTPs)</a:t>
            </a:r>
          </a:p>
          <a:p>
            <a:pPr lvl="1"/>
            <a:r>
              <a:rPr lang="en-US" sz="1600" dirty="0"/>
              <a:t>Provides structured understanding of attack lifecycle</a:t>
            </a:r>
          </a:p>
          <a:p>
            <a:r>
              <a:rPr lang="en-US" sz="1800" dirty="0"/>
              <a:t>Lifecycle (kill chain): a sequence of techniques</a:t>
            </a:r>
          </a:p>
          <a:p>
            <a:r>
              <a:rPr lang="en-US" sz="1800" dirty="0"/>
              <a:t>For Enterprise:</a:t>
            </a:r>
          </a:p>
          <a:p>
            <a:pPr lvl="1"/>
            <a:r>
              <a:rPr lang="en-US" sz="1800" dirty="0"/>
              <a:t>14 tactics, </a:t>
            </a:r>
          </a:p>
          <a:p>
            <a:pPr lvl="1"/>
            <a:r>
              <a:rPr lang="en-US" sz="1800" dirty="0"/>
              <a:t>202 techniques, </a:t>
            </a:r>
          </a:p>
          <a:p>
            <a:pPr lvl="1"/>
            <a:r>
              <a:rPr lang="en-US" sz="1800" dirty="0"/>
              <a:t>435 sub-techniques</a:t>
            </a:r>
          </a:p>
        </p:txBody>
      </p:sp>
      <p:sp>
        <p:nvSpPr>
          <p:cNvPr id="15" name="Slide Number Placeholder 3">
            <a:extLst>
              <a:ext uri="{FF2B5EF4-FFF2-40B4-BE49-F238E27FC236}">
                <a16:creationId xmlns:a16="http://schemas.microsoft.com/office/drawing/2014/main" id="{05CAD59C-AE97-7FCC-B681-9B46C203C47A}"/>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5</a:t>
            </a:fld>
            <a:endParaRPr lang="en-US" dirty="0"/>
          </a:p>
        </p:txBody>
      </p:sp>
      <p:sp>
        <p:nvSpPr>
          <p:cNvPr id="13" name="TextBox 12">
            <a:extLst>
              <a:ext uri="{FF2B5EF4-FFF2-40B4-BE49-F238E27FC236}">
                <a16:creationId xmlns:a16="http://schemas.microsoft.com/office/drawing/2014/main" id="{640CCDBA-3EB5-4B87-A6F8-BCDBD15735A7}"/>
              </a:ext>
            </a:extLst>
          </p:cNvPr>
          <p:cNvSpPr txBox="1"/>
          <p:nvPr/>
        </p:nvSpPr>
        <p:spPr>
          <a:xfrm>
            <a:off x="7556568" y="6370637"/>
            <a:ext cx="1647136" cy="523220"/>
          </a:xfrm>
          <a:prstGeom prst="rect">
            <a:avLst/>
          </a:prstGeom>
          <a:noFill/>
        </p:spPr>
        <p:txBody>
          <a:bodyPr wrap="square">
            <a:spAutoFit/>
          </a:bodyPr>
          <a:lstStyle/>
          <a:p>
            <a:r>
              <a:rPr lang="en-US" sz="1400" dirty="0"/>
              <a:t>MITRE ATT&amp;CK Enterprise</a:t>
            </a:r>
          </a:p>
        </p:txBody>
      </p:sp>
    </p:spTree>
    <p:extLst>
      <p:ext uri="{BB962C8B-B14F-4D97-AF65-F5344CB8AC3E}">
        <p14:creationId xmlns:p14="http://schemas.microsoft.com/office/powerpoint/2010/main" val="2170136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2EA16-3491-DF01-9EAF-5F407EEF0E3C}"/>
              </a:ext>
            </a:extLst>
          </p:cNvPr>
          <p:cNvSpPr>
            <a:spLocks noGrp="1"/>
          </p:cNvSpPr>
          <p:nvPr>
            <p:ph type="title"/>
          </p:nvPr>
        </p:nvSpPr>
        <p:spPr/>
        <p:txBody>
          <a:bodyPr/>
          <a:lstStyle/>
          <a:p>
            <a:r>
              <a:rPr lang="en-US" dirty="0"/>
              <a:t>Background – MITRE ATT&amp;CK</a:t>
            </a:r>
          </a:p>
        </p:txBody>
      </p:sp>
      <p:sp>
        <p:nvSpPr>
          <p:cNvPr id="3" name="Content Placeholder 2">
            <a:extLst>
              <a:ext uri="{FF2B5EF4-FFF2-40B4-BE49-F238E27FC236}">
                <a16:creationId xmlns:a16="http://schemas.microsoft.com/office/drawing/2014/main" id="{54399A67-F101-922D-03CC-88EBB6C84ACD}"/>
              </a:ext>
            </a:extLst>
          </p:cNvPr>
          <p:cNvSpPr>
            <a:spLocks noGrp="1"/>
          </p:cNvSpPr>
          <p:nvPr>
            <p:ph idx="1"/>
          </p:nvPr>
        </p:nvSpPr>
        <p:spPr>
          <a:xfrm>
            <a:off x="668867" y="1473200"/>
            <a:ext cx="7933266" cy="5065712"/>
          </a:xfrm>
        </p:spPr>
        <p:txBody>
          <a:bodyPr>
            <a:noAutofit/>
          </a:bodyPr>
          <a:lstStyle/>
          <a:p>
            <a:pPr marL="0" lvl="1"/>
            <a:r>
              <a:rPr lang="en-US" b="1" dirty="0"/>
              <a:t>Focus</a:t>
            </a:r>
            <a:r>
              <a:rPr lang="en-US" dirty="0"/>
              <a:t>: Data confidentiality, availability, and business continuity</a:t>
            </a:r>
          </a:p>
          <a:p>
            <a:pPr marL="0" lvl="1"/>
            <a:r>
              <a:rPr lang="en-US" b="1" dirty="0"/>
              <a:t>Characteristics</a:t>
            </a:r>
            <a:r>
              <a:rPr lang="en-US" dirty="0"/>
              <a:t>: Modern IT stack, frequent updates, 3–5 year lifecycle</a:t>
            </a:r>
          </a:p>
          <a:p>
            <a:pPr marL="0" lvl="1"/>
            <a:r>
              <a:rPr lang="en-US" b="1" dirty="0"/>
              <a:t>System</a:t>
            </a:r>
            <a:r>
              <a:rPr lang="en-US" dirty="0"/>
              <a:t>: Uses standard protocols: HTTP(S), SMB, LDAP, VPN, RDP  ; Centralized services: Active       Directory, EDR, email, SSO</a:t>
            </a:r>
          </a:p>
          <a:p>
            <a:pPr marL="0" lvl="1"/>
            <a:r>
              <a:rPr lang="en-US" b="1" dirty="0"/>
              <a:t>Adversary</a:t>
            </a:r>
            <a:r>
              <a:rPr lang="en-US" dirty="0"/>
              <a:t> </a:t>
            </a:r>
            <a:r>
              <a:rPr lang="en-US" b="1" dirty="0"/>
              <a:t>Goals</a:t>
            </a:r>
            <a:r>
              <a:rPr lang="en-US" dirty="0"/>
              <a:t> :  Steal data, disrupt operations, ransom critical services</a:t>
            </a:r>
          </a:p>
          <a:p>
            <a:r>
              <a:rPr lang="en-US" sz="2000" b="1" dirty="0"/>
              <a:t>Important Techniques in Enterprise Attacks</a:t>
            </a:r>
            <a:r>
              <a:rPr lang="en-US" sz="2000" dirty="0"/>
              <a:t>:</a:t>
            </a:r>
          </a:p>
          <a:p>
            <a:pPr lvl="1"/>
            <a:r>
              <a:rPr lang="en-US" dirty="0"/>
              <a:t>Credential Dumping (T1003): Extracting user credentials from memory or LSASS</a:t>
            </a:r>
          </a:p>
          <a:p>
            <a:pPr lvl="1"/>
            <a:r>
              <a:rPr lang="en-US" dirty="0"/>
              <a:t>Command and Scripting Interpreter (T1059): Using PowerShell, </a:t>
            </a:r>
            <a:r>
              <a:rPr lang="en-US" dirty="0" err="1"/>
              <a:t>cmd</a:t>
            </a:r>
            <a:r>
              <a:rPr lang="en-US" dirty="0"/>
              <a:t>, or bash for post-exploitation</a:t>
            </a:r>
          </a:p>
          <a:p>
            <a:pPr lvl="1"/>
            <a:r>
              <a:rPr lang="en-US" dirty="0"/>
              <a:t>Domain Trust Abuse (T1484.002): Exploiting AD misconfigurations to move laterally or escalate</a:t>
            </a:r>
          </a:p>
          <a:p>
            <a:pPr lvl="1"/>
            <a:r>
              <a:rPr lang="en-US" dirty="0"/>
              <a:t>Data Encrypted for Impact (T1486): Encrypting files/systems to execute ransomware attacks</a:t>
            </a:r>
          </a:p>
        </p:txBody>
      </p:sp>
      <p:sp>
        <p:nvSpPr>
          <p:cNvPr id="4" name="Slide Number Placeholder 3">
            <a:extLst>
              <a:ext uri="{FF2B5EF4-FFF2-40B4-BE49-F238E27FC236}">
                <a16:creationId xmlns:a16="http://schemas.microsoft.com/office/drawing/2014/main" id="{2DB06DF7-9559-B14E-7C94-7A85513A044E}"/>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6</a:t>
            </a:fld>
            <a:endParaRPr lang="en-US" dirty="0"/>
          </a:p>
        </p:txBody>
      </p:sp>
    </p:spTree>
    <p:extLst>
      <p:ext uri="{BB962C8B-B14F-4D97-AF65-F5344CB8AC3E}">
        <p14:creationId xmlns:p14="http://schemas.microsoft.com/office/powerpoint/2010/main" val="372780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Background – Reinforcement Learning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p:txBody>
              <a:bodyPr>
                <a:normAutofit/>
              </a:bodyPr>
              <a:lstStyle/>
              <a:p>
                <a:pPr algn="just"/>
                <a:r>
                  <a:rPr lang="en-US" sz="2200" dirty="0">
                    <a:latin typeface="Times New Roman" panose="02020603050405020304" pitchFamily="18" charset="0"/>
                    <a:cs typeface="Times New Roman" panose="02020603050405020304" pitchFamily="18" charset="0"/>
                  </a:rPr>
                  <a:t>RL Components</a:t>
                </a:r>
              </a:p>
              <a:p>
                <a:pPr lvl="1" algn="just"/>
                <a:r>
                  <a:rPr lang="en-US" dirty="0">
                    <a:latin typeface="Times New Roman" panose="02020603050405020304" pitchFamily="18" charset="0"/>
                    <a:cs typeface="Times New Roman" panose="02020603050405020304" pitchFamily="18" charset="0"/>
                  </a:rPr>
                  <a:t>Agent: Learns and makes decisions</a:t>
                </a:r>
              </a:p>
              <a:p>
                <a:pPr lvl="1" algn="just"/>
                <a:r>
                  <a:rPr lang="en-US" dirty="0">
                    <a:latin typeface="Times New Roman" panose="02020603050405020304" pitchFamily="18" charset="0"/>
                    <a:cs typeface="Times New Roman" panose="02020603050405020304" pitchFamily="18" charset="0"/>
                  </a:rPr>
                  <a:t>Environment: The system the agent interacts with</a:t>
                </a:r>
              </a:p>
              <a:p>
                <a:pPr lvl="1" algn="just"/>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State (</a:t>
                </a:r>
                <a14:m>
                  <m:oMath xmlns:m="http://schemas.openxmlformats.org/officeDocument/2006/math">
                    <m:sSub>
                      <m:sSubPr>
                        <m:ctrlP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ctrlPr>
                      </m:sSubPr>
                      <m:e>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𝑠</m:t>
                        </m:r>
                      </m:e>
                      <m:sub>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𝑡</m:t>
                        </m:r>
                      </m:sub>
                    </m:sSub>
                  </m:oMath>
                </a14:m>
                <a:r>
                  <a:rPr lang="en-US" dirty="0">
                    <a:latin typeface="Times New Roman" panose="02020603050405020304" pitchFamily="18" charset="0"/>
                    <a:cs typeface="Times New Roman" panose="02020603050405020304" pitchFamily="18" charset="0"/>
                  </a:rPr>
                  <a:t>): Current situation</a:t>
                </a:r>
              </a:p>
              <a:p>
                <a:pPr lvl="1" algn="just"/>
                <a:r>
                  <a:rPr lang="en-US" dirty="0">
                    <a:latin typeface="Times New Roman" panose="02020603050405020304" pitchFamily="18" charset="0"/>
                    <a:cs typeface="Times New Roman" panose="02020603050405020304" pitchFamily="18" charset="0"/>
                  </a:rPr>
                  <a:t>Action (</a:t>
                </a:r>
                <a14:m>
                  <m:oMath xmlns:m="http://schemas.openxmlformats.org/officeDocument/2006/math">
                    <m:sSub>
                      <m:sSubPr>
                        <m:ctrlP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ctrlPr>
                      </m:sSubPr>
                      <m:e>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𝑎</m:t>
                        </m:r>
                      </m:e>
                      <m:sub>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𝑡</m:t>
                        </m:r>
                      </m:sub>
                    </m:sSub>
                  </m:oMath>
                </a14:m>
                <a:r>
                  <a:rPr lang="en-US" dirty="0">
                    <a:latin typeface="Times New Roman" panose="02020603050405020304" pitchFamily="18" charset="0"/>
                    <a:cs typeface="Times New Roman" panose="02020603050405020304" pitchFamily="18" charset="0"/>
                  </a:rPr>
                  <a:t>): Decision made by the agent</a:t>
                </a:r>
              </a:p>
              <a:p>
                <a:pPr lvl="1" algn="just"/>
                <a:r>
                  <a:rPr lang="en-US" dirty="0">
                    <a:latin typeface="Times New Roman" panose="02020603050405020304" pitchFamily="18" charset="0"/>
                    <a:cs typeface="Times New Roman" panose="02020603050405020304" pitchFamily="18" charset="0"/>
                  </a:rPr>
                  <a:t>Reward (</a:t>
                </a:r>
                <a14:m>
                  <m:oMath xmlns:m="http://schemas.openxmlformats.org/officeDocument/2006/math">
                    <m:sSub>
                      <m:sSubPr>
                        <m:ctrlP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ctrlPr>
                      </m:sSubPr>
                      <m:e>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𝑟</m:t>
                        </m:r>
                      </m:e>
                      <m:sub>
                        <m:r>
                          <a:rPr lang="en-US" altLang="zh-TW" b="0" i="1" smtClean="0">
                            <a:latin typeface="Cambria Math" panose="02040503050406030204" pitchFamily="18" charset="0"/>
                            <a:ea typeface="微軟正黑體" panose="020B0604030504040204" pitchFamily="34" charset="-120"/>
                            <a:cs typeface="Times New Roman" panose="02020603050405020304" pitchFamily="18" charset="0"/>
                          </a:rPr>
                          <m:t>𝑡</m:t>
                        </m:r>
                      </m:sub>
                    </m:sSub>
                  </m:oMath>
                </a14:m>
                <a:r>
                  <a:rPr lang="en-US" dirty="0">
                    <a:latin typeface="Times New Roman" panose="02020603050405020304" pitchFamily="18" charset="0"/>
                    <a:cs typeface="Times New Roman" panose="02020603050405020304" pitchFamily="18" charset="0"/>
                  </a:rPr>
                  <a:t>): Feedback received</a:t>
                </a:r>
              </a:p>
              <a:p>
                <a:pPr lvl="1" algn="just"/>
                <a:endParaRPr lang="en-US"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Objective: Maximize cumulative rewards</a:t>
                </a:r>
              </a:p>
            </p:txBody>
          </p:sp>
        </mc:Choice>
        <mc:Fallback xmlns="">
          <p:sp>
            <p:nvSpPr>
              <p:cNvPr id="5" name="Content Placeholder 4">
                <a:extLst>
                  <a:ext uri="{FF2B5EF4-FFF2-40B4-BE49-F238E27FC236}">
                    <a16:creationId xmlns:a16="http://schemas.microsoft.com/office/drawing/2014/main" id="{A0771CE3-181A-0E94-EC8D-B209F0EB1D22}"/>
                  </a:ext>
                </a:extLst>
              </p:cNvPr>
              <p:cNvSpPr>
                <a:spLocks noGrp="1" noRot="1" noChangeAspect="1" noMove="1" noResize="1" noEditPoints="1" noAdjustHandles="1" noChangeArrowheads="1" noChangeShapeType="1" noTextEdit="1"/>
              </p:cNvSpPr>
              <p:nvPr>
                <p:ph idx="1"/>
              </p:nvPr>
            </p:nvSpPr>
            <p:spPr>
              <a:blipFill>
                <a:blip r:embed="rId3"/>
                <a:stretch>
                  <a:fillRect l="-696" t="-1382"/>
                </a:stretch>
              </a:blipFill>
            </p:spPr>
            <p:txBody>
              <a:bodyPr/>
              <a:lstStyle/>
              <a:p>
                <a:r>
                  <a:rPr lang="en-US">
                    <a:noFill/>
                  </a:rPr>
                  <a:t> </a:t>
                </a:r>
              </a:p>
            </p:txBody>
          </p:sp>
        </mc:Fallback>
      </mc:AlternateContent>
      <p:grpSp>
        <p:nvGrpSpPr>
          <p:cNvPr id="1041" name="Group 1040">
            <a:extLst>
              <a:ext uri="{FF2B5EF4-FFF2-40B4-BE49-F238E27FC236}">
                <a16:creationId xmlns:a16="http://schemas.microsoft.com/office/drawing/2014/main" id="{E35F3323-F5ED-4836-8FFF-DC3DCEBF425C}"/>
              </a:ext>
            </a:extLst>
          </p:cNvPr>
          <p:cNvGrpSpPr/>
          <p:nvPr/>
        </p:nvGrpSpPr>
        <p:grpSpPr>
          <a:xfrm>
            <a:off x="6375176" y="2488281"/>
            <a:ext cx="4555194" cy="2907423"/>
            <a:chOff x="7044479" y="2553552"/>
            <a:chExt cx="4555194" cy="2907423"/>
          </a:xfrm>
        </p:grpSpPr>
        <p:sp>
          <p:nvSpPr>
            <p:cNvPr id="7" name="文字方塊 6">
              <a:extLst>
                <a:ext uri="{FF2B5EF4-FFF2-40B4-BE49-F238E27FC236}">
                  <a16:creationId xmlns:a16="http://schemas.microsoft.com/office/drawing/2014/main" id="{5B8AF506-A21E-7947-7795-278CB1FEC10B}"/>
                </a:ext>
              </a:extLst>
            </p:cNvPr>
            <p:cNvSpPr txBox="1"/>
            <p:nvPr/>
          </p:nvSpPr>
          <p:spPr>
            <a:xfrm>
              <a:off x="7399148" y="5122421"/>
              <a:ext cx="4200525" cy="338554"/>
            </a:xfrm>
            <a:prstGeom prst="rect">
              <a:avLst/>
            </a:prstGeom>
            <a:noFill/>
          </p:spPr>
          <p:txBody>
            <a:bodyPr wrap="square">
              <a:spAutoFit/>
            </a:bodyPr>
            <a:lstStyle/>
            <a:p>
              <a:r>
                <a:rPr lang="en-US" altLang="zh-TW" sz="1600" dirty="0"/>
                <a:t>Figure. The agent-environment interaction in RL</a:t>
              </a:r>
              <a:endParaRPr lang="zh-TW" altLang="en-US" sz="1600" dirty="0"/>
            </a:p>
          </p:txBody>
        </p:sp>
        <p:grpSp>
          <p:nvGrpSpPr>
            <p:cNvPr id="1040" name="Group 1039">
              <a:extLst>
                <a:ext uri="{FF2B5EF4-FFF2-40B4-BE49-F238E27FC236}">
                  <a16:creationId xmlns:a16="http://schemas.microsoft.com/office/drawing/2014/main" id="{DAAFB39A-8A94-ECFE-4CE2-2F293D67F994}"/>
                </a:ext>
              </a:extLst>
            </p:cNvPr>
            <p:cNvGrpSpPr/>
            <p:nvPr/>
          </p:nvGrpSpPr>
          <p:grpSpPr>
            <a:xfrm>
              <a:off x="7044479" y="2553552"/>
              <a:ext cx="4555194" cy="2475403"/>
              <a:chOff x="179788" y="4246072"/>
              <a:chExt cx="4555194" cy="2475403"/>
            </a:xfrm>
          </p:grpSpPr>
          <p:sp>
            <p:nvSpPr>
              <p:cNvPr id="8" name="矩形: 圓角 2">
                <a:extLst>
                  <a:ext uri="{FF2B5EF4-FFF2-40B4-BE49-F238E27FC236}">
                    <a16:creationId xmlns:a16="http://schemas.microsoft.com/office/drawing/2014/main" id="{393A5159-3591-A396-D873-D5393B49502F}"/>
                  </a:ext>
                </a:extLst>
              </p:cNvPr>
              <p:cNvSpPr/>
              <p:nvPr/>
            </p:nvSpPr>
            <p:spPr>
              <a:xfrm>
                <a:off x="1943400" y="4317851"/>
                <a:ext cx="1428868" cy="654626"/>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cs typeface="Times New Roman" panose="02020603050405020304" pitchFamily="18" charset="0"/>
                  </a:rPr>
                  <a:t>Agent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9" name="矩形: 圓角 2">
                <a:extLst>
                  <a:ext uri="{FF2B5EF4-FFF2-40B4-BE49-F238E27FC236}">
                    <a16:creationId xmlns:a16="http://schemas.microsoft.com/office/drawing/2014/main" id="{10000ADC-965C-13C7-2DF9-94912D59EDDB}"/>
                  </a:ext>
                </a:extLst>
              </p:cNvPr>
              <p:cNvSpPr/>
              <p:nvPr/>
            </p:nvSpPr>
            <p:spPr>
              <a:xfrm>
                <a:off x="1943400" y="6029037"/>
                <a:ext cx="1428868" cy="654626"/>
              </a:xfrm>
              <a:prstGeom prst="round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cs typeface="Times New Roman" panose="02020603050405020304" pitchFamily="18" charset="0"/>
                  </a:rPr>
                  <a:t>Environment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字方塊 86">
                    <a:extLst>
                      <a:ext uri="{FF2B5EF4-FFF2-40B4-BE49-F238E27FC236}">
                        <a16:creationId xmlns:a16="http://schemas.microsoft.com/office/drawing/2014/main" id="{367B72BA-B654-F3C0-0D50-307724F745CE}"/>
                      </a:ext>
                    </a:extLst>
                  </p:cNvPr>
                  <p:cNvSpPr txBox="1"/>
                  <p:nvPr/>
                </p:nvSpPr>
                <p:spPr>
                  <a:xfrm>
                    <a:off x="764486" y="5958414"/>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Next State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𝑠</m:t>
                            </m:r>
                          </m:e>
                          <m:sub>
                            <m:r>
                              <a:rPr lang="en-US" altLang="zh-TW" sz="1200" b="0" i="1" smtClean="0">
                                <a:latin typeface="Cambria Math" panose="02040503050406030204" pitchFamily="18" charset="0"/>
                              </a:rPr>
                              <m:t>𝑡</m:t>
                            </m:r>
                            <m:r>
                              <a:rPr lang="en-US" altLang="zh-TW" sz="1200" b="0" i="1" smtClean="0">
                                <a:latin typeface="Cambria Math" panose="02040503050406030204" pitchFamily="18" charset="0"/>
                              </a:rPr>
                              <m:t>+1</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4" name="文字方塊 86">
                    <a:extLst>
                      <a:ext uri="{FF2B5EF4-FFF2-40B4-BE49-F238E27FC236}">
                        <a16:creationId xmlns:a16="http://schemas.microsoft.com/office/drawing/2014/main" id="{367B72BA-B654-F3C0-0D50-307724F745CE}"/>
                      </a:ext>
                    </a:extLst>
                  </p:cNvPr>
                  <p:cNvSpPr txBox="1">
                    <a:spLocks noRot="1" noChangeAspect="1" noMove="1" noResize="1" noEditPoints="1" noAdjustHandles="1" noChangeArrowheads="1" noChangeShapeType="1" noTextEdit="1"/>
                  </p:cNvSpPr>
                  <p:nvPr/>
                </p:nvSpPr>
                <p:spPr>
                  <a:xfrm>
                    <a:off x="764486" y="5958414"/>
                    <a:ext cx="1187605" cy="276999"/>
                  </a:xfrm>
                  <a:prstGeom prst="rect">
                    <a:avLst/>
                  </a:prstGeom>
                  <a:blipFill>
                    <a:blip r:embed="rId4"/>
                    <a:stretch>
                      <a:fillRect l="-513" b="-15217"/>
                    </a:stretch>
                  </a:blipFill>
                </p:spPr>
                <p:txBody>
                  <a:bodyPr/>
                  <a:lstStyle/>
                  <a:p>
                    <a:r>
                      <a:rPr lang="en-US">
                        <a:noFill/>
                      </a:rPr>
                      <a:t> </a:t>
                    </a:r>
                  </a:p>
                </p:txBody>
              </p:sp>
            </mc:Fallback>
          </mc:AlternateContent>
          <p:cxnSp>
            <p:nvCxnSpPr>
              <p:cNvPr id="21" name="Connector: Elbow 20">
                <a:extLst>
                  <a:ext uri="{FF2B5EF4-FFF2-40B4-BE49-F238E27FC236}">
                    <a16:creationId xmlns:a16="http://schemas.microsoft.com/office/drawing/2014/main" id="{F9138682-F8D9-DB23-D59E-114E5F424E22}"/>
                  </a:ext>
                </a:extLst>
              </p:cNvPr>
              <p:cNvCxnSpPr>
                <a:cxnSpLocks/>
                <a:stCxn id="8" idx="3"/>
                <a:endCxn id="9" idx="3"/>
              </p:cNvCxnSpPr>
              <p:nvPr/>
            </p:nvCxnSpPr>
            <p:spPr>
              <a:xfrm>
                <a:off x="3372268" y="4645164"/>
                <a:ext cx="12700" cy="1711186"/>
              </a:xfrm>
              <a:prstGeom prst="bentConnector3">
                <a:avLst>
                  <a:gd name="adj1" fmla="val 1200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24" name="Connector: Elbow 1023">
                <a:extLst>
                  <a:ext uri="{FF2B5EF4-FFF2-40B4-BE49-F238E27FC236}">
                    <a16:creationId xmlns:a16="http://schemas.microsoft.com/office/drawing/2014/main" id="{84582AAB-4430-1E0E-66DC-9B6F77B0A2C6}"/>
                  </a:ext>
                </a:extLst>
              </p:cNvPr>
              <p:cNvCxnSpPr>
                <a:cxnSpLocks/>
              </p:cNvCxnSpPr>
              <p:nvPr/>
            </p:nvCxnSpPr>
            <p:spPr>
              <a:xfrm rot="10800000" flipH="1">
                <a:off x="1943400" y="4766102"/>
                <a:ext cx="4398" cy="1469311"/>
              </a:xfrm>
              <a:prstGeom prst="bentConnector3">
                <a:avLst>
                  <a:gd name="adj1" fmla="val -27721692"/>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032" name="Connector: Elbow 1031">
                <a:extLst>
                  <a:ext uri="{FF2B5EF4-FFF2-40B4-BE49-F238E27FC236}">
                    <a16:creationId xmlns:a16="http://schemas.microsoft.com/office/drawing/2014/main" id="{A6E82019-3109-99A5-2C37-5F01DC9A56FC}"/>
                  </a:ext>
                </a:extLst>
              </p:cNvPr>
              <p:cNvCxnSpPr>
                <a:cxnSpLocks/>
              </p:cNvCxnSpPr>
              <p:nvPr/>
            </p:nvCxnSpPr>
            <p:spPr>
              <a:xfrm rot="10800000" flipH="1">
                <a:off x="1943400" y="4535637"/>
                <a:ext cx="8690" cy="1930240"/>
              </a:xfrm>
              <a:prstGeom prst="bentConnector3">
                <a:avLst>
                  <a:gd name="adj1" fmla="val -19437284"/>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035" name="文字方塊 86">
                    <a:extLst>
                      <a:ext uri="{FF2B5EF4-FFF2-40B4-BE49-F238E27FC236}">
                        <a16:creationId xmlns:a16="http://schemas.microsoft.com/office/drawing/2014/main" id="{D5C33EF8-5C6D-2ACE-D929-299FE2053E66}"/>
                      </a:ext>
                    </a:extLst>
                  </p:cNvPr>
                  <p:cNvSpPr txBox="1"/>
                  <p:nvPr/>
                </p:nvSpPr>
                <p:spPr>
                  <a:xfrm>
                    <a:off x="263951" y="6444476"/>
                    <a:ext cx="1688140" cy="276999"/>
                  </a:xfrm>
                  <a:prstGeom prst="rect">
                    <a:avLst/>
                  </a:prstGeom>
                  <a:noFill/>
                </p:spPr>
                <p:txBody>
                  <a:bodyPr wrap="square" rtlCol="0">
                    <a:spAutoFit/>
                  </a:bodyPr>
                  <a:lstStyle/>
                  <a:p>
                    <a:r>
                      <a:rPr lang="en-US" altLang="zh-TW" sz="1200" b="0" dirty="0"/>
                      <a:t>Immediate Reward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𝑟</m:t>
                            </m:r>
                          </m:e>
                          <m:sub>
                            <m:r>
                              <a:rPr lang="en-US" altLang="zh-TW" sz="1200" b="0" i="1" smtClean="0">
                                <a:latin typeface="Cambria Math" panose="02040503050406030204" pitchFamily="18" charset="0"/>
                              </a:rPr>
                              <m:t>𝑡</m:t>
                            </m:r>
                            <m:r>
                              <a:rPr lang="en-US" altLang="zh-TW" sz="1200" b="0" i="1" smtClean="0">
                                <a:latin typeface="Cambria Math" panose="02040503050406030204" pitchFamily="18" charset="0"/>
                              </a:rPr>
                              <m:t>+1</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5" name="文字方塊 86">
                    <a:extLst>
                      <a:ext uri="{FF2B5EF4-FFF2-40B4-BE49-F238E27FC236}">
                        <a16:creationId xmlns:a16="http://schemas.microsoft.com/office/drawing/2014/main" id="{D5C33EF8-5C6D-2ACE-D929-299FE2053E66}"/>
                      </a:ext>
                    </a:extLst>
                  </p:cNvPr>
                  <p:cNvSpPr txBox="1">
                    <a:spLocks noRot="1" noChangeAspect="1" noMove="1" noResize="1" noEditPoints="1" noAdjustHandles="1" noChangeArrowheads="1" noChangeShapeType="1" noTextEdit="1"/>
                  </p:cNvSpPr>
                  <p:nvPr/>
                </p:nvSpPr>
                <p:spPr>
                  <a:xfrm>
                    <a:off x="263951" y="6444476"/>
                    <a:ext cx="1688140" cy="276999"/>
                  </a:xfrm>
                  <a:prstGeom prst="rect">
                    <a:avLst/>
                  </a:prstGeom>
                  <a:blipFill>
                    <a:blip r:embed="rId5"/>
                    <a:stretch>
                      <a:fillRect l="-361" t="-2222"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6" name="文字方塊 86">
                    <a:extLst>
                      <a:ext uri="{FF2B5EF4-FFF2-40B4-BE49-F238E27FC236}">
                        <a16:creationId xmlns:a16="http://schemas.microsoft.com/office/drawing/2014/main" id="{6970AA10-E2EC-93D3-217E-BD5BF7A24146}"/>
                      </a:ext>
                    </a:extLst>
                  </p:cNvPr>
                  <p:cNvSpPr txBox="1"/>
                  <p:nvPr/>
                </p:nvSpPr>
                <p:spPr>
                  <a:xfrm>
                    <a:off x="687256" y="4766102"/>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State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𝑠</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6" name="文字方塊 86">
                    <a:extLst>
                      <a:ext uri="{FF2B5EF4-FFF2-40B4-BE49-F238E27FC236}">
                        <a16:creationId xmlns:a16="http://schemas.microsoft.com/office/drawing/2014/main" id="{6970AA10-E2EC-93D3-217E-BD5BF7A24146}"/>
                      </a:ext>
                    </a:extLst>
                  </p:cNvPr>
                  <p:cNvSpPr txBox="1">
                    <a:spLocks noRot="1" noChangeAspect="1" noMove="1" noResize="1" noEditPoints="1" noAdjustHandles="1" noChangeArrowheads="1" noChangeShapeType="1" noTextEdit="1"/>
                  </p:cNvSpPr>
                  <p:nvPr/>
                </p:nvSpPr>
                <p:spPr>
                  <a:xfrm>
                    <a:off x="687256" y="4766102"/>
                    <a:ext cx="1187605" cy="276999"/>
                  </a:xfrm>
                  <a:prstGeom prst="rect">
                    <a:avLst/>
                  </a:prstGeom>
                  <a:blipFill>
                    <a:blip r:embed="rId6"/>
                    <a:stretch>
                      <a:fillRect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7" name="文字方塊 86">
                    <a:extLst>
                      <a:ext uri="{FF2B5EF4-FFF2-40B4-BE49-F238E27FC236}">
                        <a16:creationId xmlns:a16="http://schemas.microsoft.com/office/drawing/2014/main" id="{F8FDFE26-DFEB-7427-2E25-5D44DB2A7F7C}"/>
                      </a:ext>
                    </a:extLst>
                  </p:cNvPr>
                  <p:cNvSpPr txBox="1"/>
                  <p:nvPr/>
                </p:nvSpPr>
                <p:spPr>
                  <a:xfrm>
                    <a:off x="179788" y="4246072"/>
                    <a:ext cx="1688140" cy="276999"/>
                  </a:xfrm>
                  <a:prstGeom prst="rect">
                    <a:avLst/>
                  </a:prstGeom>
                  <a:noFill/>
                </p:spPr>
                <p:txBody>
                  <a:bodyPr wrap="square" rtlCol="0">
                    <a:spAutoFit/>
                  </a:bodyPr>
                  <a:lstStyle/>
                  <a:p>
                    <a:r>
                      <a:rPr lang="en-US" altLang="zh-TW" sz="1200" b="0" dirty="0"/>
                      <a:t>Received Reward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𝑟</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7" name="文字方塊 86">
                    <a:extLst>
                      <a:ext uri="{FF2B5EF4-FFF2-40B4-BE49-F238E27FC236}">
                        <a16:creationId xmlns:a16="http://schemas.microsoft.com/office/drawing/2014/main" id="{F8FDFE26-DFEB-7427-2E25-5D44DB2A7F7C}"/>
                      </a:ext>
                    </a:extLst>
                  </p:cNvPr>
                  <p:cNvSpPr txBox="1">
                    <a:spLocks noRot="1" noChangeAspect="1" noMove="1" noResize="1" noEditPoints="1" noAdjustHandles="1" noChangeArrowheads="1" noChangeShapeType="1" noTextEdit="1"/>
                  </p:cNvSpPr>
                  <p:nvPr/>
                </p:nvSpPr>
                <p:spPr>
                  <a:xfrm>
                    <a:off x="179788" y="4246072"/>
                    <a:ext cx="1688140" cy="276999"/>
                  </a:xfrm>
                  <a:prstGeom prst="rect">
                    <a:avLst/>
                  </a:prstGeom>
                  <a:blipFill>
                    <a:blip r:embed="rId7"/>
                    <a:stretch>
                      <a:fillRect l="-361"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8" name="文字方塊 86">
                    <a:extLst>
                      <a:ext uri="{FF2B5EF4-FFF2-40B4-BE49-F238E27FC236}">
                        <a16:creationId xmlns:a16="http://schemas.microsoft.com/office/drawing/2014/main" id="{21942E67-53ED-B786-C12A-B882D61B9545}"/>
                      </a:ext>
                    </a:extLst>
                  </p:cNvPr>
                  <p:cNvSpPr txBox="1"/>
                  <p:nvPr/>
                </p:nvSpPr>
                <p:spPr>
                  <a:xfrm>
                    <a:off x="3547377" y="4367511"/>
                    <a:ext cx="1187605" cy="276999"/>
                  </a:xfrm>
                  <a:prstGeom prst="rect">
                    <a:avLst/>
                  </a:prstGeom>
                  <a:noFill/>
                </p:spPr>
                <p:txBody>
                  <a:bodyPr wrap="square" rtlCol="0">
                    <a:spAutoFit/>
                  </a:bodyPr>
                  <a:lstStyle/>
                  <a:p>
                    <a:r>
                      <a:rPr lang="en-US" altLang="zh-TW" sz="1200" dirty="0">
                        <a:latin typeface="Times New Roman" panose="02020603050405020304" pitchFamily="18" charset="0"/>
                        <a:cs typeface="Times New Roman" panose="02020603050405020304" pitchFamily="18" charset="0"/>
                      </a:rPr>
                      <a:t>Action </a:t>
                    </a:r>
                    <a14:m>
                      <m:oMath xmlns:m="http://schemas.openxmlformats.org/officeDocument/2006/math">
                        <m:sSub>
                          <m:sSubPr>
                            <m:ctrlPr>
                              <a:rPr lang="en-US" altLang="zh-TW" sz="1200" b="0" i="1" smtClean="0">
                                <a:latin typeface="Cambria Math" panose="02040503050406030204" pitchFamily="18" charset="0"/>
                              </a:rPr>
                            </m:ctrlPr>
                          </m:sSubPr>
                          <m:e>
                            <m:r>
                              <a:rPr lang="en-US" altLang="zh-TW" sz="1200" b="0" i="1" smtClean="0">
                                <a:latin typeface="Cambria Math" panose="02040503050406030204" pitchFamily="18" charset="0"/>
                              </a:rPr>
                              <m:t>𝑎</m:t>
                            </m:r>
                          </m:e>
                          <m:sub>
                            <m:r>
                              <a:rPr lang="en-US" altLang="zh-TW" sz="1200" b="0" i="1" smtClean="0">
                                <a:latin typeface="Cambria Math" panose="02040503050406030204" pitchFamily="18" charset="0"/>
                              </a:rPr>
                              <m:t>𝑡</m:t>
                            </m:r>
                          </m:sub>
                        </m:sSub>
                      </m:oMath>
                    </a14:m>
                    <a:endParaRPr lang="zh-TW" altLang="en-US" sz="1200" dirty="0">
                      <a:latin typeface="Times New Roman" panose="02020603050405020304" pitchFamily="18" charset="0"/>
                      <a:cs typeface="Times New Roman" panose="02020603050405020304" pitchFamily="18" charset="0"/>
                    </a:endParaRPr>
                  </a:p>
                </p:txBody>
              </p:sp>
            </mc:Choice>
            <mc:Fallback xmlns="">
              <p:sp>
                <p:nvSpPr>
                  <p:cNvPr id="1038" name="文字方塊 86">
                    <a:extLst>
                      <a:ext uri="{FF2B5EF4-FFF2-40B4-BE49-F238E27FC236}">
                        <a16:creationId xmlns:a16="http://schemas.microsoft.com/office/drawing/2014/main" id="{21942E67-53ED-B786-C12A-B882D61B9545}"/>
                      </a:ext>
                    </a:extLst>
                  </p:cNvPr>
                  <p:cNvSpPr txBox="1">
                    <a:spLocks noRot="1" noChangeAspect="1" noMove="1" noResize="1" noEditPoints="1" noAdjustHandles="1" noChangeArrowheads="1" noChangeShapeType="1" noTextEdit="1"/>
                  </p:cNvSpPr>
                  <p:nvPr/>
                </p:nvSpPr>
                <p:spPr>
                  <a:xfrm>
                    <a:off x="3547377" y="4367511"/>
                    <a:ext cx="1187605" cy="276999"/>
                  </a:xfrm>
                  <a:prstGeom prst="rect">
                    <a:avLst/>
                  </a:prstGeom>
                  <a:blipFill>
                    <a:blip r:embed="rId8"/>
                    <a:stretch>
                      <a:fillRect b="-15217"/>
                    </a:stretch>
                  </a:blipFill>
                </p:spPr>
                <p:txBody>
                  <a:bodyPr/>
                  <a:lstStyle/>
                  <a:p>
                    <a:r>
                      <a:rPr lang="en-US">
                        <a:noFill/>
                      </a:rPr>
                      <a:t> </a:t>
                    </a:r>
                  </a:p>
                </p:txBody>
              </p:sp>
            </mc:Fallback>
          </mc:AlternateContent>
        </p:grpSp>
      </p:grpSp>
      <p:sp>
        <p:nvSpPr>
          <p:cNvPr id="1042" name="Slide Number Placeholder 3">
            <a:extLst>
              <a:ext uri="{FF2B5EF4-FFF2-40B4-BE49-F238E27FC236}">
                <a16:creationId xmlns:a16="http://schemas.microsoft.com/office/drawing/2014/main" id="{DF5AD9C0-153D-FA37-4359-548A31F53BDE}"/>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7</a:t>
            </a:fld>
            <a:endParaRPr lang="en-US" dirty="0"/>
          </a:p>
        </p:txBody>
      </p:sp>
    </p:spTree>
    <p:extLst>
      <p:ext uri="{BB962C8B-B14F-4D97-AF65-F5344CB8AC3E}">
        <p14:creationId xmlns:p14="http://schemas.microsoft.com/office/powerpoint/2010/main" val="3650303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110565" y="-191030"/>
            <a:ext cx="10515600" cy="1325563"/>
          </a:xfrm>
        </p:spPr>
        <p:txBody>
          <a:bodyPr/>
          <a:lstStyle/>
          <a:p>
            <a:pPr algn="just"/>
            <a:r>
              <a:rPr lang="en-US" dirty="0">
                <a:latin typeface="Times New Roman" panose="02020603050405020304" pitchFamily="18" charset="0"/>
                <a:cs typeface="Times New Roman" panose="02020603050405020304" pitchFamily="18" charset="0"/>
              </a:rPr>
              <a:t>Related work on </a:t>
            </a:r>
            <a:r>
              <a:rPr lang="en-US" dirty="0"/>
              <a:t>AI-Based Red-Blue Teaming</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647BB8B-68B5-2534-03FB-3940E66FCA99}"/>
              </a:ext>
            </a:extLst>
          </p:cNvPr>
          <p:cNvSpPr txBox="1">
            <a:spLocks/>
          </p:cNvSpPr>
          <p:nvPr/>
        </p:nvSpPr>
        <p:spPr>
          <a:xfrm>
            <a:off x="9326096" y="645371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8</a:t>
            </a:fld>
            <a:endParaRPr lang="en-US" dirty="0"/>
          </a:p>
        </p:txBody>
      </p:sp>
      <p:graphicFrame>
        <p:nvGraphicFramePr>
          <p:cNvPr id="3" name="Content Placeholder 2">
            <a:extLst>
              <a:ext uri="{FF2B5EF4-FFF2-40B4-BE49-F238E27FC236}">
                <a16:creationId xmlns:a16="http://schemas.microsoft.com/office/drawing/2014/main" id="{1187010D-0C1B-4E38-8A8B-1FD436C75779}"/>
              </a:ext>
            </a:extLst>
          </p:cNvPr>
          <p:cNvGraphicFramePr>
            <a:graphicFrameLocks noGrp="1"/>
          </p:cNvGraphicFramePr>
          <p:nvPr>
            <p:ph idx="1"/>
            <p:extLst>
              <p:ext uri="{D42A27DB-BD31-4B8C-83A1-F6EECF244321}">
                <p14:modId xmlns:p14="http://schemas.microsoft.com/office/powerpoint/2010/main" val="3830419495"/>
              </p:ext>
            </p:extLst>
          </p:nvPr>
        </p:nvGraphicFramePr>
        <p:xfrm>
          <a:off x="308460" y="1134533"/>
          <a:ext cx="11350142" cy="5587245"/>
        </p:xfrm>
        <a:graphic>
          <a:graphicData uri="http://schemas.openxmlformats.org/drawingml/2006/table">
            <a:tbl>
              <a:tblPr/>
              <a:tblGrid>
                <a:gridCol w="1486473">
                  <a:extLst>
                    <a:ext uri="{9D8B030D-6E8A-4147-A177-3AD203B41FA5}">
                      <a16:colId xmlns:a16="http://schemas.microsoft.com/office/drawing/2014/main" val="2406668091"/>
                    </a:ext>
                  </a:extLst>
                </a:gridCol>
                <a:gridCol w="1303867">
                  <a:extLst>
                    <a:ext uri="{9D8B030D-6E8A-4147-A177-3AD203B41FA5}">
                      <a16:colId xmlns:a16="http://schemas.microsoft.com/office/drawing/2014/main" val="881309389"/>
                    </a:ext>
                  </a:extLst>
                </a:gridCol>
                <a:gridCol w="1185333">
                  <a:extLst>
                    <a:ext uri="{9D8B030D-6E8A-4147-A177-3AD203B41FA5}">
                      <a16:colId xmlns:a16="http://schemas.microsoft.com/office/drawing/2014/main" val="2179463598"/>
                    </a:ext>
                  </a:extLst>
                </a:gridCol>
                <a:gridCol w="1380067">
                  <a:extLst>
                    <a:ext uri="{9D8B030D-6E8A-4147-A177-3AD203B41FA5}">
                      <a16:colId xmlns:a16="http://schemas.microsoft.com/office/drawing/2014/main" val="3618241338"/>
                    </a:ext>
                  </a:extLst>
                </a:gridCol>
                <a:gridCol w="1422400">
                  <a:extLst>
                    <a:ext uri="{9D8B030D-6E8A-4147-A177-3AD203B41FA5}">
                      <a16:colId xmlns:a16="http://schemas.microsoft.com/office/drawing/2014/main" val="333583067"/>
                    </a:ext>
                  </a:extLst>
                </a:gridCol>
                <a:gridCol w="1123244">
                  <a:extLst>
                    <a:ext uri="{9D8B030D-6E8A-4147-A177-3AD203B41FA5}">
                      <a16:colId xmlns:a16="http://schemas.microsoft.com/office/drawing/2014/main" val="1898208122"/>
                    </a:ext>
                  </a:extLst>
                </a:gridCol>
                <a:gridCol w="1171223">
                  <a:extLst>
                    <a:ext uri="{9D8B030D-6E8A-4147-A177-3AD203B41FA5}">
                      <a16:colId xmlns:a16="http://schemas.microsoft.com/office/drawing/2014/main" val="2527084054"/>
                    </a:ext>
                  </a:extLst>
                </a:gridCol>
                <a:gridCol w="1126066">
                  <a:extLst>
                    <a:ext uri="{9D8B030D-6E8A-4147-A177-3AD203B41FA5}">
                      <a16:colId xmlns:a16="http://schemas.microsoft.com/office/drawing/2014/main" val="3430971971"/>
                    </a:ext>
                  </a:extLst>
                </a:gridCol>
                <a:gridCol w="1151469">
                  <a:extLst>
                    <a:ext uri="{9D8B030D-6E8A-4147-A177-3AD203B41FA5}">
                      <a16:colId xmlns:a16="http://schemas.microsoft.com/office/drawing/2014/main" val="3764682224"/>
                    </a:ext>
                  </a:extLst>
                </a:gridCol>
              </a:tblGrid>
              <a:tr h="464231">
                <a:tc rowSpan="3">
                  <a:txBody>
                    <a:bodyPr/>
                    <a:lstStyle/>
                    <a:p>
                      <a:pPr algn="ctr"/>
                      <a:r>
                        <a:rPr lang="en-US" sz="1600" b="1" dirty="0"/>
                        <a:t>Study</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dirty="0"/>
                        <a:t>Red Team AI</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dirty="0"/>
                        <a:t>Blue Team AI</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gridSpan="2">
                  <a:txBody>
                    <a:bodyPr/>
                    <a:lstStyle/>
                    <a:p>
                      <a:pPr algn="ctr"/>
                      <a:r>
                        <a:rPr lang="en-US" sz="1600" b="1" dirty="0"/>
                        <a:t>RL Algorithm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rowSpan="2" hMerge="1">
                  <a:txBody>
                    <a:bodyPr/>
                    <a:lstStyle/>
                    <a:p>
                      <a:pPr algn="ctr"/>
                      <a:r>
                        <a:rPr lang="en-US" sz="1600" b="1" dirty="0"/>
                        <a:t>RL Algorithm (Blue)</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algn="ctr"/>
                      <a:r>
                        <a:rPr lang="en-US" sz="1600" b="1" dirty="0"/>
                        <a:t>Training Method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n-US" sz="1600" b="1" dirty="0"/>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a:r>
                        <a:rPr lang="en-US" sz="1600" b="1" dirty="0"/>
                        <a:t>Multi-Generation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665402"/>
                  </a:ext>
                </a:extLst>
              </a:tr>
              <a:tr h="0">
                <a:tc vMerge="1">
                  <a:txBody>
                    <a:bodyPr/>
                    <a:lstStyle/>
                    <a:p>
                      <a:endParaRPr lang="en-US"/>
                    </a:p>
                  </a:txBody>
                  <a:tcPr/>
                </a:tc>
                <a:tc vMerge="1">
                  <a:txBody>
                    <a:bodyPr/>
                    <a:lstStyle/>
                    <a:p>
                      <a:endParaRPr lang="en-US"/>
                    </a:p>
                  </a:txBody>
                  <a:tcPr/>
                </a:tc>
                <a:tc vMerge="1">
                  <a:txBody>
                    <a:bodyPr/>
                    <a:lstStyle/>
                    <a:p>
                      <a:endParaRPr lang="en-US"/>
                    </a:p>
                  </a:txBody>
                  <a:tcPr/>
                </a:tc>
                <a:tc gridSpan="2" vMerge="1">
                  <a:txBody>
                    <a:bodyPr/>
                    <a:lstStyle/>
                    <a:p>
                      <a:endParaRPr lang="en-US"/>
                    </a:p>
                  </a:txBody>
                  <a:tcPr/>
                </a:tc>
                <a:tc hMerge="1" vMerge="1">
                  <a:txBody>
                    <a:bodyPr/>
                    <a:lstStyle/>
                    <a:p>
                      <a:endParaRPr lang="en-US"/>
                    </a:p>
                  </a:txBody>
                  <a:tcPr/>
                </a:tc>
                <a:tc rowSpan="2">
                  <a:txBody>
                    <a:bodyPr/>
                    <a:lstStyle/>
                    <a:p>
                      <a:pPr algn="ctr"/>
                      <a:r>
                        <a:rPr lang="en-US" sz="1600" b="1" dirty="0"/>
                        <a:t>Fixed Opponent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dirty="0"/>
                        <a:t>Sim. C-Evo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a:r>
                        <a:rPr lang="en-US" sz="1600" b="1" dirty="0"/>
                        <a:t>Alt. C-Evo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681080932"/>
                  </a:ext>
                </a:extLst>
              </a:tr>
              <a:tr h="51707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1600" b="1" dirty="0"/>
                        <a:t>Red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Blue</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548035910"/>
                  </a:ext>
                </a:extLst>
              </a:tr>
              <a:tr h="649925">
                <a:tc>
                  <a:txBody>
                    <a:bodyPr/>
                    <a:lstStyle/>
                    <a:p>
                      <a:pPr algn="ctr"/>
                      <a:r>
                        <a:rPr lang="en-US" sz="1600" dirty="0"/>
                        <a:t>[5]</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LLM + RL</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6880466"/>
                  </a:ext>
                </a:extLst>
              </a:tr>
              <a:tr h="639880">
                <a:tc>
                  <a:txBody>
                    <a:bodyPr/>
                    <a:lstStyle/>
                    <a:p>
                      <a:pPr algn="ctr"/>
                      <a:r>
                        <a:rPr lang="en-US" sz="1600" dirty="0"/>
                        <a:t>[6]</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DQN, 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4414140"/>
                  </a:ext>
                </a:extLst>
              </a:tr>
              <a:tr h="649925">
                <a:tc>
                  <a:txBody>
                    <a:bodyPr/>
                    <a:lstStyle/>
                    <a:p>
                      <a:pPr algn="ctr"/>
                      <a:r>
                        <a:rPr lang="en-US" sz="1600" dirty="0"/>
                        <a:t>[3]</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PPO</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2891481"/>
                  </a:ext>
                </a:extLst>
              </a:tr>
              <a:tr h="649925">
                <a:tc>
                  <a:txBody>
                    <a:bodyPr/>
                    <a:lstStyle/>
                    <a:p>
                      <a:pPr algn="ctr"/>
                      <a:r>
                        <a:rPr lang="en-US" sz="1600" dirty="0"/>
                        <a:t>[4]</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DQN variants</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6093990"/>
                  </a:ext>
                </a:extLst>
              </a:tr>
              <a:tr h="649925">
                <a:tc>
                  <a:txBody>
                    <a:bodyPr/>
                    <a:lstStyle/>
                    <a:p>
                      <a:pPr algn="ctr"/>
                      <a:r>
                        <a:rPr lang="en-US" sz="1600" dirty="0"/>
                        <a:t>[7]</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Scripted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0437024"/>
                  </a:ext>
                </a:extLst>
              </a:tr>
              <a:tr h="649925">
                <a:tc>
                  <a:txBody>
                    <a:bodyPr/>
                    <a:lstStyle/>
                    <a:p>
                      <a:pPr algn="ctr"/>
                      <a:r>
                        <a:rPr lang="en-US" sz="1600" dirty="0"/>
                        <a:t>[9]</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RL-based</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PPO, A2C</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PPO, A2C</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64488510"/>
                  </a:ext>
                </a:extLst>
              </a:tr>
              <a:tr h="649925">
                <a:tc>
                  <a:txBody>
                    <a:bodyPr/>
                    <a:lstStyle/>
                    <a:p>
                      <a:pPr algn="ctr"/>
                      <a:r>
                        <a:rPr lang="en-US" sz="1400" b="1" dirty="0"/>
                        <a:t>MG-</a:t>
                      </a:r>
                      <a:r>
                        <a:rPr lang="en-US" sz="1400" b="1" dirty="0" err="1"/>
                        <a:t>CoE</a:t>
                      </a:r>
                      <a:r>
                        <a:rPr lang="en-US" sz="1400" b="1" dirty="0"/>
                        <a:t> (Ours</a:t>
                      </a: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RL + LLM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RL + LLM</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t>DDQN</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a:t>
                      </a:r>
                    </a:p>
                  </a:txBody>
                  <a:tcPr marL="82227" marR="82227" marT="41114" marB="411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5450669"/>
                  </a:ext>
                </a:extLst>
              </a:tr>
            </a:tbl>
          </a:graphicData>
        </a:graphic>
      </p:graphicFrame>
    </p:spTree>
    <p:extLst>
      <p:ext uri="{BB962C8B-B14F-4D97-AF65-F5344CB8AC3E}">
        <p14:creationId xmlns:p14="http://schemas.microsoft.com/office/powerpoint/2010/main" val="21127903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2D4B7C3F-BE16-4763-9668-3FD6AE1B7CD7}"/>
              </a:ext>
            </a:extLst>
          </p:cNvPr>
          <p:cNvPicPr>
            <a:picLocks noChangeAspect="1"/>
          </p:cNvPicPr>
          <p:nvPr/>
        </p:nvPicPr>
        <p:blipFill rotWithShape="1">
          <a:blip r:embed="rId3">
            <a:extLst>
              <a:ext uri="{28A0092B-C50C-407E-A947-70E740481C1C}">
                <a14:useLocalDpi xmlns:a14="http://schemas.microsoft.com/office/drawing/2010/main" val="0"/>
              </a:ext>
            </a:extLst>
          </a:blip>
          <a:srcRect l="4773" t="6572" r="4840" b="33587"/>
          <a:stretch/>
        </p:blipFill>
        <p:spPr>
          <a:xfrm>
            <a:off x="231775" y="985837"/>
            <a:ext cx="11455401" cy="5482695"/>
          </a:xfrm>
          <a:prstGeom prst="rect">
            <a:avLst/>
          </a:prstGeom>
        </p:spPr>
      </p:pic>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31775" y="-273314"/>
            <a:ext cx="10515600" cy="1325563"/>
          </a:xfrm>
        </p:spPr>
        <p:txBody>
          <a:bodyPr/>
          <a:lstStyle/>
          <a:p>
            <a:pPr algn="just"/>
            <a:r>
              <a:rPr lang="en-US" dirty="0">
                <a:latin typeface="Times New Roman" panose="02020603050405020304" pitchFamily="18" charset="0"/>
                <a:cs typeface="Times New Roman" panose="02020603050405020304" pitchFamily="18" charset="0"/>
              </a:rPr>
              <a:t>Notations (1/2)</a:t>
            </a:r>
          </a:p>
        </p:txBody>
      </p:sp>
      <p:sp>
        <p:nvSpPr>
          <p:cNvPr id="5" name="Slide Number Placeholder 3">
            <a:extLst>
              <a:ext uri="{FF2B5EF4-FFF2-40B4-BE49-F238E27FC236}">
                <a16:creationId xmlns:a16="http://schemas.microsoft.com/office/drawing/2014/main" id="{4B81CE25-1AB9-9937-EC98-D65124342AB3}"/>
              </a:ext>
            </a:extLst>
          </p:cNvPr>
          <p:cNvSpPr txBox="1">
            <a:spLocks/>
          </p:cNvSpPr>
          <p:nvPr/>
        </p:nvSpPr>
        <p:spPr>
          <a:xfrm>
            <a:off x="92170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9</a:t>
            </a:fld>
            <a:endParaRPr lang="en-US" dirty="0"/>
          </a:p>
        </p:txBody>
      </p:sp>
    </p:spTree>
    <p:extLst>
      <p:ext uri="{BB962C8B-B14F-4D97-AF65-F5344CB8AC3E}">
        <p14:creationId xmlns:p14="http://schemas.microsoft.com/office/powerpoint/2010/main" val="416257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C7946CC-8FF6-488A-AB01-88DAD6F9CE9D}"/>
              </a:ext>
            </a:extLst>
          </p:cNvPr>
          <p:cNvPicPr>
            <a:picLocks noChangeAspect="1"/>
          </p:cNvPicPr>
          <p:nvPr/>
        </p:nvPicPr>
        <p:blipFill rotWithShape="1">
          <a:blip r:embed="rId3">
            <a:extLst>
              <a:ext uri="{28A0092B-C50C-407E-A947-70E740481C1C}">
                <a14:useLocalDpi xmlns:a14="http://schemas.microsoft.com/office/drawing/2010/main" val="0"/>
              </a:ext>
            </a:extLst>
          </a:blip>
          <a:srcRect l="4773" t="7548" r="4840" b="89198"/>
          <a:stretch/>
        </p:blipFill>
        <p:spPr>
          <a:xfrm>
            <a:off x="180973" y="1126067"/>
            <a:ext cx="11829430" cy="332050"/>
          </a:xfrm>
          <a:prstGeom prst="rect">
            <a:avLst/>
          </a:prstGeom>
        </p:spPr>
      </p:pic>
      <p:pic>
        <p:nvPicPr>
          <p:cNvPr id="12" name="Picture 11">
            <a:extLst>
              <a:ext uri="{FF2B5EF4-FFF2-40B4-BE49-F238E27FC236}">
                <a16:creationId xmlns:a16="http://schemas.microsoft.com/office/drawing/2014/main" id="{2D4B7C3F-BE16-4763-9668-3FD6AE1B7CD7}"/>
              </a:ext>
            </a:extLst>
          </p:cNvPr>
          <p:cNvPicPr>
            <a:picLocks noChangeAspect="1"/>
          </p:cNvPicPr>
          <p:nvPr/>
        </p:nvPicPr>
        <p:blipFill rotWithShape="1">
          <a:blip r:embed="rId3">
            <a:extLst>
              <a:ext uri="{28A0092B-C50C-407E-A947-70E740481C1C}">
                <a14:useLocalDpi xmlns:a14="http://schemas.microsoft.com/office/drawing/2010/main" val="0"/>
              </a:ext>
            </a:extLst>
          </a:blip>
          <a:srcRect l="4804" t="66178" r="4950" b="1695"/>
          <a:stretch/>
        </p:blipFill>
        <p:spPr>
          <a:xfrm>
            <a:off x="181285" y="1458117"/>
            <a:ext cx="11829430" cy="3941765"/>
          </a:xfrm>
          <a:prstGeom prst="rect">
            <a:avLst/>
          </a:prstGeom>
        </p:spPr>
      </p:pic>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42888" y="-199496"/>
            <a:ext cx="10515600" cy="1325563"/>
          </a:xfrm>
        </p:spPr>
        <p:txBody>
          <a:bodyPr/>
          <a:lstStyle/>
          <a:p>
            <a:pPr algn="just"/>
            <a:r>
              <a:rPr lang="en-US" dirty="0">
                <a:latin typeface="Times New Roman" panose="02020603050405020304" pitchFamily="18" charset="0"/>
                <a:cs typeface="Times New Roman" panose="02020603050405020304" pitchFamily="18" charset="0"/>
              </a:rPr>
              <a:t>Notations (2/2)</a:t>
            </a:r>
          </a:p>
        </p:txBody>
      </p:sp>
      <p:sp>
        <p:nvSpPr>
          <p:cNvPr id="5" name="Slide Number Placeholder 3">
            <a:extLst>
              <a:ext uri="{FF2B5EF4-FFF2-40B4-BE49-F238E27FC236}">
                <a16:creationId xmlns:a16="http://schemas.microsoft.com/office/drawing/2014/main" id="{4B81CE25-1AB9-9937-EC98-D65124342AB3}"/>
              </a:ext>
            </a:extLst>
          </p:cNvPr>
          <p:cNvSpPr txBox="1">
            <a:spLocks/>
          </p:cNvSpPr>
          <p:nvPr/>
        </p:nvSpPr>
        <p:spPr>
          <a:xfrm>
            <a:off x="92170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10</a:t>
            </a:fld>
            <a:endParaRPr lang="en-US" dirty="0"/>
          </a:p>
        </p:txBody>
      </p:sp>
    </p:spTree>
    <p:extLst>
      <p:ext uri="{BB962C8B-B14F-4D97-AF65-F5344CB8AC3E}">
        <p14:creationId xmlns:p14="http://schemas.microsoft.com/office/powerpoint/2010/main" val="3096326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45D82-994F-73BA-1D61-A21572D3A04E}"/>
              </a:ext>
            </a:extLst>
          </p:cNvPr>
          <p:cNvSpPr>
            <a:spLocks noGrp="1"/>
          </p:cNvSpPr>
          <p:nvPr>
            <p:ph type="title"/>
          </p:nvPr>
        </p:nvSpPr>
        <p:spPr>
          <a:xfrm>
            <a:off x="152400" y="0"/>
            <a:ext cx="10515600" cy="1325563"/>
          </a:xfrm>
        </p:spPr>
        <p:txBody>
          <a:bodyPr/>
          <a:lstStyle/>
          <a:p>
            <a:r>
              <a:rPr lang="en-US" dirty="0"/>
              <a:t>Problem Overview </a:t>
            </a:r>
            <a:endParaRPr lang="en-IN" dirty="0"/>
          </a:p>
        </p:txBody>
      </p:sp>
      <p:sp>
        <p:nvSpPr>
          <p:cNvPr id="3" name="Content Placeholder 2">
            <a:extLst>
              <a:ext uri="{FF2B5EF4-FFF2-40B4-BE49-F238E27FC236}">
                <a16:creationId xmlns:a16="http://schemas.microsoft.com/office/drawing/2014/main" id="{A53B47AC-89E7-A9FE-07A8-9E11A78746D9}"/>
              </a:ext>
            </a:extLst>
          </p:cNvPr>
          <p:cNvSpPr>
            <a:spLocks noGrp="1"/>
          </p:cNvSpPr>
          <p:nvPr>
            <p:ph idx="1"/>
          </p:nvPr>
        </p:nvSpPr>
        <p:spPr>
          <a:xfrm>
            <a:off x="508000" y="1422400"/>
            <a:ext cx="10515600" cy="4851400"/>
          </a:xfrm>
        </p:spPr>
        <p:txBody>
          <a:bodyPr/>
          <a:lstStyle/>
          <a:p>
            <a:r>
              <a:rPr lang="en-US" dirty="0"/>
              <a:t>Red Team Problem: Kill Chain Completion</a:t>
            </a:r>
          </a:p>
          <a:p>
            <a:pPr lvl="1"/>
            <a:r>
              <a:rPr lang="en-US" dirty="0"/>
              <a:t>How do Red Agent move from one technique to the next technique in order to complete the kill chain?</a:t>
            </a:r>
          </a:p>
          <a:p>
            <a:r>
              <a:rPr lang="en-US" dirty="0"/>
              <a:t>Blue Team Problem: Kill Chain Disruption</a:t>
            </a:r>
          </a:p>
          <a:p>
            <a:pPr lvl="1"/>
            <a:r>
              <a:rPr lang="en-US" dirty="0"/>
              <a:t>How do Blue Agent detect and respond with action to stop the kill chain?</a:t>
            </a:r>
          </a:p>
        </p:txBody>
      </p:sp>
      <p:sp>
        <p:nvSpPr>
          <p:cNvPr id="4" name="Slide Number Placeholder 3">
            <a:extLst>
              <a:ext uri="{FF2B5EF4-FFF2-40B4-BE49-F238E27FC236}">
                <a16:creationId xmlns:a16="http://schemas.microsoft.com/office/drawing/2014/main" id="{02CB5102-1A95-1BE8-8E56-038E6B5221B3}"/>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11</a:t>
            </a:fld>
            <a:endParaRPr lang="en-US" dirty="0"/>
          </a:p>
        </p:txBody>
      </p:sp>
      <p:sp>
        <p:nvSpPr>
          <p:cNvPr id="5" name="AutoShape 2">
            <a:extLst>
              <a:ext uri="{FF2B5EF4-FFF2-40B4-BE49-F238E27FC236}">
                <a16:creationId xmlns:a16="http://schemas.microsoft.com/office/drawing/2014/main" id="{13D1E35F-C875-4B48-B1BD-4708E59FABC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2" name="Picture 4">
            <a:extLst>
              <a:ext uri="{FF2B5EF4-FFF2-40B4-BE49-F238E27FC236}">
                <a16:creationId xmlns:a16="http://schemas.microsoft.com/office/drawing/2014/main" id="{AEC1CF7A-36DC-407D-84B9-BEFEC60F3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678237"/>
            <a:ext cx="11851447" cy="2334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5457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104775" y="-118534"/>
            <a:ext cx="10515600" cy="1325563"/>
          </a:xfrm>
        </p:spPr>
        <p:txBody>
          <a:bodyPr>
            <a:normAutofit/>
          </a:bodyPr>
          <a:lstStyle/>
          <a:p>
            <a:r>
              <a:rPr lang="en-US" sz="3200" dirty="0"/>
              <a:t>Red Team Problem: Kill Chain Completion</a:t>
            </a:r>
            <a:endParaRPr lang="en-US"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D2F5C4-B156-F5F2-E30D-ED600E8F5F19}"/>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12</a:t>
            </a:fld>
            <a:endParaRPr lang="en-US"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339B8B66-F526-44DF-848E-42B3A65D34C8}"/>
                  </a:ext>
                </a:extLst>
              </p:cNvPr>
              <p:cNvSpPr>
                <a:spLocks noGrp="1"/>
              </p:cNvSpPr>
              <p:nvPr>
                <p:ph idx="1"/>
              </p:nvPr>
            </p:nvSpPr>
            <p:spPr>
              <a:xfrm>
                <a:off x="330201" y="982132"/>
                <a:ext cx="11184466" cy="5875867"/>
              </a:xfrm>
            </p:spPr>
            <p:txBody>
              <a:bodyPr>
                <a:normAutofit/>
              </a:bodyPr>
              <a:lstStyle/>
              <a:p>
                <a:pPr>
                  <a:lnSpc>
                    <a:spcPct val="110000"/>
                  </a:lnSpc>
                  <a:defRPr sz="1600"/>
                </a:pPr>
                <a:r>
                  <a:rPr lang="en-US" sz="2000" b="1" u="sng" dirty="0"/>
                  <a:t>Input</a:t>
                </a:r>
                <a:r>
                  <a:rPr lang="en-US" sz="2000" dirty="0"/>
                  <a:t>:</a:t>
                </a:r>
                <a:endParaRPr lang="en-IN" sz="1900" dirty="0"/>
              </a:p>
              <a:p>
                <a:pPr lvl="1">
                  <a:lnSpc>
                    <a:spcPct val="110000"/>
                  </a:lnSpc>
                  <a:defRPr sz="1600"/>
                </a:pPr>
                <a14:m>
                  <m:oMath xmlns:m="http://schemas.openxmlformats.org/officeDocument/2006/math">
                    <m:sSubSup>
                      <m:sSubSupPr>
                        <m:ctrlPr>
                          <a:rPr lang="en-US" altLang="zh-TW" sz="1800" i="1" smtClean="0">
                            <a:solidFill>
                              <a:schemeClr val="tx1"/>
                            </a:solidFill>
                            <a:latin typeface="Cambria Math" panose="02040503050406030204" pitchFamily="18" charset="0"/>
                          </a:rPr>
                        </m:ctrlPr>
                      </m:sSubSupPr>
                      <m:e>
                        <m:r>
                          <a:rPr lang="en-US" altLang="zh-TW" sz="1800" b="0" i="1" smtClean="0">
                            <a:solidFill>
                              <a:schemeClr val="tx1"/>
                            </a:solidFill>
                            <a:latin typeface="Cambria Math" panose="02040503050406030204" pitchFamily="18" charset="0"/>
                          </a:rPr>
                          <m:t>𝑂</m:t>
                        </m:r>
                      </m:e>
                      <m:sub>
                        <m:r>
                          <a:rPr lang="en-US" altLang="zh-TW" sz="1800" b="0" i="1" smtClean="0">
                            <a:solidFill>
                              <a:schemeClr val="tx1"/>
                            </a:solidFill>
                            <a:latin typeface="Cambria Math" panose="02040503050406030204" pitchFamily="18" charset="0"/>
                          </a:rPr>
                          <m:t>𝑟</m:t>
                        </m:r>
                        <m:r>
                          <a:rPr lang="en-US" altLang="zh-TW" sz="1800" b="0" i="1" smtClean="0">
                            <a:solidFill>
                              <a:schemeClr val="tx1"/>
                            </a:solidFill>
                            <a:latin typeface="Cambria Math" panose="02040503050406030204" pitchFamily="18" charset="0"/>
                          </a:rPr>
                          <m:t>,</m:t>
                        </m:r>
                        <m:r>
                          <a:rPr lang="en-US" altLang="zh-TW" sz="1800" b="0" i="1" smtClean="0">
                            <a:solidFill>
                              <a:schemeClr val="tx1"/>
                            </a:solidFill>
                            <a:latin typeface="Cambria Math" panose="02040503050406030204" pitchFamily="18" charset="0"/>
                          </a:rPr>
                          <m:t>𝑗</m:t>
                        </m:r>
                      </m:sub>
                      <m:sup>
                        <m:r>
                          <a:rPr lang="en-US" altLang="zh-TW" sz="1800" b="0" i="1" smtClean="0">
                            <a:solidFill>
                              <a:schemeClr val="tx1"/>
                            </a:solidFill>
                            <a:latin typeface="Cambria Math" panose="02040503050406030204" pitchFamily="18" charset="0"/>
                          </a:rPr>
                          <m:t>𝑅</m:t>
                        </m:r>
                      </m:sup>
                    </m:sSubSup>
                  </m:oMath>
                </a14:m>
                <a:r>
                  <a:rPr lang="en-US" sz="1800" baseline="-25000" dirty="0">
                    <a:solidFill>
                      <a:schemeClr val="tx1"/>
                    </a:solidFill>
                  </a:rPr>
                  <a:t> </a:t>
                </a:r>
                <a:r>
                  <a:rPr lang="en-US" sz="2000" dirty="0">
                    <a:solidFill>
                      <a:schemeClr val="tx1"/>
                    </a:solidFill>
                  </a:rPr>
                  <a:t>: Red-team observation at step </a:t>
                </a:r>
                <a:r>
                  <a:rPr lang="en-US" sz="2000" dirty="0">
                    <a:solidFill>
                      <a:schemeClr val="tx1"/>
                    </a:solidFill>
                    <a:latin typeface="Cambria Math" panose="02040503050406030204" pitchFamily="18" charset="0"/>
                    <a:ea typeface="Cambria Math" panose="02040503050406030204" pitchFamily="18" charset="0"/>
                  </a:rPr>
                  <a:t>j</a:t>
                </a:r>
                <a:r>
                  <a:rPr lang="en-US" sz="2000" dirty="0">
                    <a:solidFill>
                      <a:schemeClr val="tx1"/>
                    </a:solidFill>
                  </a:rPr>
                  <a:t> of episode </a:t>
                </a:r>
                <a:r>
                  <a:rPr lang="en-US" sz="2000" dirty="0">
                    <a:solidFill>
                      <a:schemeClr val="tx1"/>
                    </a:solidFill>
                    <a:latin typeface="Cambria Math" panose="02040503050406030204" pitchFamily="18" charset="0"/>
                    <a:ea typeface="Cambria Math" panose="02040503050406030204" pitchFamily="18" charset="0"/>
                  </a:rPr>
                  <a:t>e</a:t>
                </a:r>
                <a:r>
                  <a:rPr lang="en-US" sz="1800" dirty="0">
                    <a:solidFill>
                      <a:schemeClr val="tx1"/>
                    </a:solidFill>
                  </a:rPr>
                  <a:t>.</a:t>
                </a:r>
                <a:endParaRPr lang="en-US" sz="1800" dirty="0">
                  <a:solidFill>
                    <a:schemeClr val="tx1"/>
                  </a:solidFill>
                  <a:latin typeface="MV Boli" panose="02000500030200090000" pitchFamily="2" charset="0"/>
                  <a:cs typeface="MV Boli" panose="02000500030200090000" pitchFamily="2" charset="0"/>
                </a:endParaRPr>
              </a:p>
              <a:p>
                <a:pPr lvl="1">
                  <a:lnSpc>
                    <a:spcPct val="110000"/>
                  </a:lnSpc>
                  <a:defRPr sz="1600"/>
                </a:pPr>
                <a14:m>
                  <m:oMath xmlns:m="http://schemas.openxmlformats.org/officeDocument/2006/math">
                    <m:r>
                      <m:rPr>
                        <m:nor/>
                      </m:rPr>
                      <a:rPr lang="en-US" sz="1800" dirty="0">
                        <a:solidFill>
                          <a:schemeClr val="tx1"/>
                        </a:solidFill>
                        <a:latin typeface="MV Boli" panose="02000500030200090000" pitchFamily="2" charset="0"/>
                        <a:cs typeface="MV Boli" panose="02000500030200090000" pitchFamily="2" charset="0"/>
                      </a:rPr>
                      <m:t>T</m:t>
                    </m:r>
                  </m:oMath>
                </a14:m>
                <a:r>
                  <a:rPr lang="en-US" sz="1800" dirty="0">
                    <a:solidFill>
                      <a:schemeClr val="tx1"/>
                    </a:solidFill>
                  </a:rPr>
                  <a:t> : Catalogue of attack technique schemas.</a:t>
                </a:r>
              </a:p>
              <a:p>
                <a:pPr lvl="1">
                  <a:lnSpc>
                    <a:spcPct val="110000"/>
                  </a:lnSpc>
                  <a:defRPr sz="1600"/>
                </a:pPr>
                <a:r>
                  <a:rPr lang="en-US" sz="1800" b="0" dirty="0">
                    <a:solidFill>
                      <a:schemeClr val="tx1"/>
                    </a:solidFill>
                    <a:latin typeface="MV Boli" panose="02000500030200090000" pitchFamily="2" charset="0"/>
                    <a:cs typeface="MV Boli" panose="02000500030200090000" pitchFamily="2" charset="0"/>
                  </a:rPr>
                  <a:t>K</a:t>
                </a:r>
                <a:r>
                  <a:rPr lang="en-US" sz="1800" dirty="0">
                    <a:solidFill>
                      <a:schemeClr val="tx1"/>
                    </a:solidFill>
                    <a:latin typeface="MV Boli" panose="02000500030200090000" pitchFamily="2" charset="0"/>
                    <a:cs typeface="MV Boli" panose="02000500030200090000" pitchFamily="2" charset="0"/>
                  </a:rPr>
                  <a:t> </a:t>
                </a:r>
                <a:r>
                  <a:rPr lang="en-US" sz="1800" dirty="0">
                    <a:solidFill>
                      <a:schemeClr val="tx1"/>
                    </a:solidFill>
                    <a:latin typeface="+mn-lt"/>
                    <a:cs typeface="MV Boli" panose="02000500030200090000" pitchFamily="2" charset="0"/>
                  </a:rPr>
                  <a:t>:</a:t>
                </a:r>
                <a:r>
                  <a:rPr lang="en-US" sz="1800" dirty="0">
                    <a:solidFill>
                      <a:schemeClr val="tx1"/>
                    </a:solidFill>
                    <a:latin typeface="MV Boli" panose="02000500030200090000" pitchFamily="2" charset="0"/>
                    <a:cs typeface="MV Boli" panose="02000500030200090000" pitchFamily="2" charset="0"/>
                  </a:rPr>
                  <a:t> </a:t>
                </a:r>
                <a:r>
                  <a:rPr lang="en-US" sz="1800" b="0" dirty="0">
                    <a:solidFill>
                      <a:schemeClr val="tx1"/>
                    </a:solidFill>
                  </a:rPr>
                  <a:t>Set of Kill chains paths.</a:t>
                </a:r>
                <a:endParaRPr lang="en-US" sz="1800" dirty="0">
                  <a:solidFill>
                    <a:schemeClr val="tx1"/>
                  </a:solidFill>
                </a:endParaRPr>
              </a:p>
              <a:p>
                <a:pPr lvl="1">
                  <a:lnSpc>
                    <a:spcPct val="110000"/>
                  </a:lnSpc>
                  <a:defRPr sz="1600"/>
                </a:pPr>
                <a14:m>
                  <m:oMath xmlns:m="http://schemas.openxmlformats.org/officeDocument/2006/math">
                    <m:sSup>
                      <m:sSupPr>
                        <m:ctrlPr>
                          <a:rPr lang="en-US" altLang="zh-TW" sz="1800" i="1">
                            <a:solidFill>
                              <a:schemeClr val="tx1"/>
                            </a:solidFill>
                            <a:latin typeface="Cambria Math" panose="02040503050406030204" pitchFamily="18" charset="0"/>
                          </a:rPr>
                        </m:ctrlPr>
                      </m:sSupPr>
                      <m:e>
                        <m:r>
                          <a:rPr lang="en-US" altLang="zh-TW" sz="1800" b="0" i="0" smtClean="0">
                            <a:solidFill>
                              <a:schemeClr val="tx1"/>
                            </a:solidFill>
                            <a:latin typeface="Cambria Math" panose="02040503050406030204" pitchFamily="18" charset="0"/>
                          </a:rPr>
                          <m:t> </m:t>
                        </m:r>
                        <m:r>
                          <a:rPr lang="en-US" altLang="zh-TW" sz="1800">
                            <a:solidFill>
                              <a:schemeClr val="tx1"/>
                            </a:solidFill>
                            <a:latin typeface="Cambria Math" panose="02040503050406030204" pitchFamily="18" charset="0"/>
                          </a:rPr>
                          <m:t>𝑆</m:t>
                        </m:r>
                      </m:e>
                      <m:sup>
                        <m:r>
                          <a:rPr lang="en-US" altLang="zh-TW" sz="1800" i="1">
                            <a:solidFill>
                              <a:schemeClr val="tx1"/>
                            </a:solidFill>
                            <a:latin typeface="Cambria Math" panose="02040503050406030204" pitchFamily="18" charset="0"/>
                          </a:rPr>
                          <m:t>𝑅</m:t>
                        </m:r>
                      </m:sup>
                    </m:sSup>
                  </m:oMath>
                </a14:m>
                <a:r>
                  <a:rPr lang="en-US" altLang="en-US" sz="1800" dirty="0">
                    <a:solidFill>
                      <a:schemeClr val="tx1"/>
                    </a:solidFill>
                  </a:rPr>
                  <a:t>: Red-team action space.</a:t>
                </a:r>
              </a:p>
              <a:p>
                <a:pPr>
                  <a:lnSpc>
                    <a:spcPct val="110000"/>
                  </a:lnSpc>
                  <a:defRPr sz="1600"/>
                </a:pPr>
                <a:r>
                  <a:rPr lang="en-US" sz="2000" b="1" u="sng" dirty="0">
                    <a:solidFill>
                      <a:schemeClr val="tx1"/>
                    </a:solidFill>
                  </a:rPr>
                  <a:t>Output</a:t>
                </a:r>
                <a:r>
                  <a:rPr lang="en-US" sz="2000" dirty="0">
                    <a:solidFill>
                      <a:schemeClr val="tx1"/>
                    </a:solidFill>
                  </a:rPr>
                  <a:t>:</a:t>
                </a:r>
              </a:p>
              <a:p>
                <a:pPr lvl="1"/>
                <a14:m>
                  <m:oMath xmlns:m="http://schemas.openxmlformats.org/officeDocument/2006/math">
                    <m:sSub>
                      <m:sSubPr>
                        <m:ctrlPr>
                          <a:rPr lang="en-US" sz="1800" i="1" dirty="0">
                            <a:solidFill>
                              <a:schemeClr val="tx1"/>
                            </a:solidFill>
                            <a:latin typeface="Cambria Math" panose="02040503050406030204" pitchFamily="18" charset="0"/>
                            <a:ea typeface="Cambria Math" panose="02040503050406030204" pitchFamily="18" charset="0"/>
                          </a:rPr>
                        </m:ctrlPr>
                      </m:sSubPr>
                      <m:e>
                        <m:d>
                          <m:dPr>
                            <m:begChr m:val="{"/>
                            <m:endChr m:val="}"/>
                            <m:ctrlPr>
                              <a:rPr lang="en-US" sz="1800" i="1" dirty="0">
                                <a:solidFill>
                                  <a:schemeClr val="tx1"/>
                                </a:solidFill>
                                <a:latin typeface="Cambria Math" panose="02040503050406030204" pitchFamily="18" charset="0"/>
                                <a:ea typeface="Cambria Math" panose="02040503050406030204" pitchFamily="18" charset="0"/>
                              </a:rPr>
                            </m:ctrlPr>
                          </m:dPr>
                          <m:e>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i="1" dirty="0">
                                    <a:solidFill>
                                      <a:schemeClr val="tx1"/>
                                    </a:solidFill>
                                    <a:latin typeface="Cambria Math" panose="02040503050406030204" pitchFamily="18" charset="0"/>
                                    <a:ea typeface="Cambria Math" panose="02040503050406030204" pitchFamily="18" charset="0"/>
                                  </a:rPr>
                                  <m:t>𝑎</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e>
                        </m:d>
                      </m:e>
                      <m:sub>
                        <m:r>
                          <a:rPr lang="en-US" sz="1800" i="1" dirty="0">
                            <a:solidFill>
                              <a:schemeClr val="tx1"/>
                            </a:solidFill>
                            <a:latin typeface="Cambria Math" panose="02040503050406030204" pitchFamily="18" charset="0"/>
                            <a:ea typeface="Cambria Math" panose="02040503050406030204" pitchFamily="18" charset="0"/>
                          </a:rPr>
                          <m:t>𝑗</m:t>
                        </m:r>
                        <m:r>
                          <a:rPr lang="en-US" sz="1800" i="1" dirty="0">
                            <a:solidFill>
                              <a:schemeClr val="tx1"/>
                            </a:solidFill>
                            <a:latin typeface="Cambria Math" panose="02040503050406030204" pitchFamily="18" charset="0"/>
                            <a:ea typeface="Cambria Math" panose="02040503050406030204" pitchFamily="18" charset="0"/>
                          </a:rPr>
                          <m:t>≥1</m:t>
                        </m:r>
                      </m:sub>
                    </m:sSub>
                  </m:oMath>
                </a14:m>
                <a:r>
                  <a:rPr lang="en-US" sz="1800" dirty="0">
                    <a:solidFill>
                      <a:schemeClr val="tx1"/>
                    </a:solidFill>
                    <a:latin typeface="Cambria Math" panose="02040503050406030204" pitchFamily="18" charset="0"/>
                    <a:ea typeface="Cambria Math" panose="02040503050406030204" pitchFamily="18" charset="0"/>
                  </a:rPr>
                  <a:t> : </a:t>
                </a:r>
                <a:r>
                  <a:rPr lang="en-US" altLang="zh-TW" sz="1800" dirty="0">
                    <a:solidFill>
                      <a:schemeClr val="tx1"/>
                    </a:solidFill>
                    <a:ea typeface="微軟正黑體" panose="020B0604030504040204" pitchFamily="34" charset="-120"/>
                  </a:rPr>
                  <a:t>Sequence of Red-team actions </a:t>
                </a:r>
                <a:r>
                  <a:rPr lang="en-US" sz="1800" dirty="0">
                    <a:solidFill>
                      <a:schemeClr val="tx1"/>
                    </a:solidFill>
                    <a:latin typeface="Cambria Math" panose="02040503050406030204" pitchFamily="18" charset="0"/>
                    <a:ea typeface="Cambria Math" panose="02040503050406030204" pitchFamily="18" charset="0"/>
                  </a:rPr>
                  <a:t>in episode</a:t>
                </a:r>
                <a14:m>
                  <m:oMath xmlns:m="http://schemas.openxmlformats.org/officeDocument/2006/math">
                    <m:r>
                      <a:rPr lang="en-US" sz="1800" b="0" i="0" smtClean="0">
                        <a:solidFill>
                          <a:schemeClr val="tx1"/>
                        </a:solidFill>
                        <a:latin typeface="Cambria Math" panose="02040503050406030204" pitchFamily="18" charset="0"/>
                        <a:ea typeface="Cambria Math" panose="02040503050406030204" pitchFamily="18" charset="0"/>
                      </a:rPr>
                      <m:t> </m:t>
                    </m:r>
                    <m:r>
                      <a:rPr lang="en-US" sz="1800" b="0" i="1" smtClean="0">
                        <a:solidFill>
                          <a:schemeClr val="tx1"/>
                        </a:solidFill>
                        <a:latin typeface="Cambria Math" panose="02040503050406030204" pitchFamily="18" charset="0"/>
                        <a:ea typeface="Cambria Math" panose="02040503050406030204" pitchFamily="18" charset="0"/>
                      </a:rPr>
                      <m:t>𝑒</m:t>
                    </m:r>
                  </m:oMath>
                </a14:m>
                <a:r>
                  <a:rPr lang="en-US" sz="1800" dirty="0">
                    <a:solidFill>
                      <a:schemeClr val="tx1"/>
                    </a:solidFill>
                    <a:latin typeface="Cambria Math" panose="02040503050406030204" pitchFamily="18" charset="0"/>
                    <a:ea typeface="Cambria Math" panose="02040503050406030204" pitchFamily="18" charset="0"/>
                  </a:rPr>
                  <a:t>.</a:t>
                </a:r>
              </a:p>
              <a:p>
                <a:pPr lvl="1"/>
                <a14:m>
                  <m:oMath xmlns:m="http://schemas.openxmlformats.org/officeDocument/2006/math">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𝑦</m:t>
                        </m:r>
                      </m:e>
                      <m:sub>
                        <m:r>
                          <a:rPr lang="en-US" sz="1800" i="1" dirty="0">
                            <a:solidFill>
                              <a:schemeClr val="tx1"/>
                            </a:solidFill>
                            <a:latin typeface="Cambria Math" panose="02040503050406030204" pitchFamily="18" charset="0"/>
                            <a:ea typeface="Cambria Math" panose="02040503050406030204" pitchFamily="18" charset="0"/>
                          </a:rPr>
                          <m:t>ⅇ</m:t>
                        </m:r>
                      </m:sub>
                      <m:sup>
                        <m:r>
                          <a:rPr lang="en-US" sz="1800" i="1" dirty="0">
                            <a:solidFill>
                              <a:schemeClr val="tx1"/>
                            </a:solidFill>
                            <a:latin typeface="Cambria Math" panose="02040503050406030204" pitchFamily="18" charset="0"/>
                            <a:ea typeface="Cambria Math" panose="02040503050406030204" pitchFamily="18" charset="0"/>
                          </a:rPr>
                          <m:t>𝑅</m:t>
                        </m:r>
                      </m:sup>
                    </m:sSubSup>
                    <m:r>
                      <a:rPr lang="en-US" sz="1800" i="1" dirty="0">
                        <a:solidFill>
                          <a:schemeClr val="tx1"/>
                        </a:solidFill>
                        <a:latin typeface="Cambria Math" panose="02040503050406030204" pitchFamily="18" charset="0"/>
                        <a:ea typeface="Cambria Math" panose="02040503050406030204" pitchFamily="18" charset="0"/>
                      </a:rPr>
                      <m:t> </m:t>
                    </m:r>
                    <m:r>
                      <a:rPr lang="en-US" sz="1800" i="1" dirty="0" smtClean="0">
                        <a:solidFill>
                          <a:schemeClr val="tx1"/>
                        </a:solidFill>
                        <a:latin typeface="Cambria Math" panose="02040503050406030204" pitchFamily="18" charset="0"/>
                        <a:ea typeface="Cambria Math" panose="02040503050406030204" pitchFamily="18" charset="0"/>
                      </a:rPr>
                      <m:t>∈</m:t>
                    </m:r>
                    <m:d>
                      <m:dPr>
                        <m:begChr m:val="{"/>
                        <m:endChr m:val="}"/>
                        <m:ctrlPr>
                          <a:rPr lang="en-US" sz="1800" b="0" i="1" dirty="0" smtClean="0">
                            <a:solidFill>
                              <a:schemeClr val="tx1"/>
                            </a:solidFill>
                            <a:latin typeface="Cambria Math" panose="02040503050406030204" pitchFamily="18" charset="0"/>
                            <a:ea typeface="Cambria Math" panose="02040503050406030204" pitchFamily="18" charset="0"/>
                          </a:rPr>
                        </m:ctrlPr>
                      </m:dPr>
                      <m:e>
                        <m:r>
                          <a:rPr lang="en-US" sz="1800" b="0" i="1" dirty="0" smtClean="0">
                            <a:solidFill>
                              <a:schemeClr val="tx1"/>
                            </a:solidFill>
                            <a:latin typeface="Cambria Math" panose="02040503050406030204" pitchFamily="18" charset="0"/>
                            <a:ea typeface="Cambria Math" panose="02040503050406030204" pitchFamily="18" charset="0"/>
                          </a:rPr>
                          <m:t>0,1</m:t>
                        </m:r>
                      </m:e>
                    </m:d>
                    <m:r>
                      <a:rPr lang="en-US" sz="1800" b="0" i="1" dirty="0" smtClean="0">
                        <a:solidFill>
                          <a:schemeClr val="tx1"/>
                        </a:solidFill>
                        <a:latin typeface="Cambria Math" panose="02040503050406030204" pitchFamily="18" charset="0"/>
                        <a:ea typeface="Cambria Math" panose="02040503050406030204" pitchFamily="18" charset="0"/>
                      </a:rPr>
                      <m:t> </m:t>
                    </m:r>
                  </m:oMath>
                </a14:m>
                <a:r>
                  <a:rPr lang="en-US" sz="1800" dirty="0">
                    <a:solidFill>
                      <a:schemeClr val="tx1"/>
                    </a:solidFill>
                  </a:rPr>
                  <a:t>: Red-team Outcome flag.</a:t>
                </a:r>
              </a:p>
              <a:p>
                <a:pPr>
                  <a:lnSpc>
                    <a:spcPct val="110000"/>
                  </a:lnSpc>
                  <a:defRPr sz="1600"/>
                </a:pPr>
                <a:r>
                  <a:rPr lang="en-US" sz="2000" b="1" u="sng" dirty="0">
                    <a:solidFill>
                      <a:schemeClr val="tx1"/>
                    </a:solidFill>
                  </a:rPr>
                  <a:t>Objective</a:t>
                </a:r>
                <a:r>
                  <a:rPr lang="en-US" sz="2000" dirty="0">
                    <a:solidFill>
                      <a:schemeClr val="tx1"/>
                    </a:solidFill>
                  </a:rPr>
                  <a:t>:	</a:t>
                </a:r>
              </a:p>
              <a:p>
                <a:pPr lvl="1">
                  <a:lnSpc>
                    <a:spcPct val="100000"/>
                  </a:lnSpc>
                  <a:defRPr sz="1600"/>
                </a:pPr>
                <a:r>
                  <a:rPr lang="en-US" sz="1800" dirty="0" err="1">
                    <a:solidFill>
                      <a:schemeClr val="tx1"/>
                    </a:solidFill>
                  </a:rPr>
                  <a:t>Maximise</a:t>
                </a:r>
                <a:r>
                  <a:rPr lang="en-US" sz="1800" dirty="0">
                    <a:solidFill>
                      <a:schemeClr val="tx1"/>
                    </a:solidFill>
                  </a:rPr>
                  <a:t> the expected cumulative Red-team reward over the episode : </a:t>
                </a:r>
                <a14:m>
                  <m:oMath xmlns:m="http://schemas.openxmlformats.org/officeDocument/2006/math">
                    <m:limLow>
                      <m:limLowPr>
                        <m:ctrlPr>
                          <a:rPr lang="en-US" sz="1800" i="1" smtClean="0">
                            <a:solidFill>
                              <a:schemeClr val="tx1"/>
                            </a:solidFill>
                            <a:latin typeface="Cambria Math" panose="02040503050406030204" pitchFamily="18" charset="0"/>
                          </a:rPr>
                        </m:ctrlPr>
                      </m:limLowPr>
                      <m:e>
                        <m:r>
                          <m:rPr>
                            <m:sty m:val="p"/>
                          </m:rPr>
                          <a:rPr lang="en-US" sz="1800" smtClean="0">
                            <a:solidFill>
                              <a:schemeClr val="tx1"/>
                            </a:solidFill>
                            <a:latin typeface="Cambria Math" panose="02040503050406030204" pitchFamily="18" charset="0"/>
                          </a:rPr>
                          <m:t>max</m:t>
                        </m:r>
                        <m:r>
                          <a:rPr lang="en-US" sz="1800" b="0" i="0" smtClean="0">
                            <a:solidFill>
                              <a:schemeClr val="tx1"/>
                            </a:solidFill>
                            <a:latin typeface="Cambria Math" panose="02040503050406030204" pitchFamily="18" charset="0"/>
                          </a:rPr>
                          <m:t> </m:t>
                        </m:r>
                      </m:e>
                      <m:lim>
                        <m:sSub>
                          <m:sSubPr>
                            <m:ctrlPr>
                              <a:rPr lang="en-US" sz="1800" i="1" smtClean="0">
                                <a:solidFill>
                                  <a:schemeClr val="tx1"/>
                                </a:solidFill>
                                <a:latin typeface="Cambria Math" panose="02040503050406030204" pitchFamily="18" charset="0"/>
                              </a:rPr>
                            </m:ctrlPr>
                          </m:sSubPr>
                          <m:e>
                            <m:r>
                              <a:rPr lang="en-US" sz="1800" i="1" smtClean="0">
                                <a:solidFill>
                                  <a:schemeClr val="tx1"/>
                                </a:solidFill>
                                <a:latin typeface="Cambria Math" panose="02040503050406030204" pitchFamily="18" charset="0"/>
                              </a:rPr>
                              <m:t>𝑅</m:t>
                            </m:r>
                          </m:e>
                          <m:sub>
                            <m:r>
                              <a:rPr lang="en-US" sz="1800" i="1" smtClean="0">
                                <a:solidFill>
                                  <a:schemeClr val="tx1"/>
                                </a:solidFill>
                                <a:latin typeface="Cambria Math" panose="02040503050406030204" pitchFamily="18" charset="0"/>
                              </a:rPr>
                              <m:t>𝑛</m:t>
                            </m:r>
                          </m:sub>
                        </m:sSub>
                      </m:lim>
                    </m:limLow>
                    <m:r>
                      <a:rPr lang="en-US" sz="1800" i="1" smtClean="0">
                        <a:solidFill>
                          <a:schemeClr val="tx1"/>
                        </a:solidFill>
                        <a:latin typeface="Cambria Math" panose="02040503050406030204" pitchFamily="18" charset="0"/>
                      </a:rPr>
                      <m:t>𝐸</m:t>
                    </m:r>
                    <m:d>
                      <m:dPr>
                        <m:begChr m:val="["/>
                        <m:endChr m:val="]"/>
                        <m:ctrlPr>
                          <a:rPr lang="en-US" sz="1800" i="1" smtClean="0">
                            <a:solidFill>
                              <a:schemeClr val="tx1"/>
                            </a:solidFill>
                            <a:latin typeface="Cambria Math" panose="02040503050406030204" pitchFamily="18" charset="0"/>
                          </a:rPr>
                        </m:ctrlPr>
                      </m:dPr>
                      <m:e>
                        <m:nary>
                          <m:naryPr>
                            <m:chr m:val="∑"/>
                            <m:grow m:val="on"/>
                            <m:subHide m:val="on"/>
                            <m:supHide m:val="on"/>
                            <m:ctrlPr>
                              <a:rPr lang="en-US" sz="1800" i="1" smtClean="0">
                                <a:solidFill>
                                  <a:schemeClr val="tx1"/>
                                </a:solidFill>
                                <a:latin typeface="Cambria Math" panose="02040503050406030204" pitchFamily="18" charset="0"/>
                              </a:rPr>
                            </m:ctrlPr>
                          </m:naryPr>
                          <m:sub/>
                          <m:sup/>
                          <m:e>
                            <m:sSubSup>
                              <m:sSubSupPr>
                                <m:ctrlPr>
                                  <a:rPr lang="en-US" sz="1800" i="1" smtClean="0">
                                    <a:solidFill>
                                      <a:schemeClr val="tx1"/>
                                    </a:solidFill>
                                    <a:latin typeface="Cambria Math" panose="02040503050406030204" pitchFamily="18" charset="0"/>
                                  </a:rPr>
                                </m:ctrlPr>
                              </m:sSubSupPr>
                              <m:e>
                                <m:r>
                                  <a:rPr lang="en-US" sz="1800" i="1" smtClean="0">
                                    <a:solidFill>
                                      <a:schemeClr val="tx1"/>
                                    </a:solidFill>
                                    <a:latin typeface="Cambria Math" panose="02040503050406030204" pitchFamily="18" charset="0"/>
                                  </a:rPr>
                                  <m:t>𝑃</m:t>
                                </m:r>
                              </m:e>
                              <m:sub>
                                <m:r>
                                  <a:rPr lang="en-US" sz="1800" i="0" smtClean="0">
                                    <a:solidFill>
                                      <a:schemeClr val="tx1"/>
                                    </a:solidFill>
                                    <a:latin typeface="Cambria Math" panose="02040503050406030204" pitchFamily="18" charset="0"/>
                                  </a:rPr>
                                  <m:t>ⅇ,</m:t>
                                </m:r>
                                <m:r>
                                  <a:rPr lang="en-US" sz="1800" i="1" smtClean="0">
                                    <a:solidFill>
                                      <a:schemeClr val="tx1"/>
                                    </a:solidFill>
                                    <a:latin typeface="Cambria Math" panose="02040503050406030204" pitchFamily="18" charset="0"/>
                                  </a:rPr>
                                  <m:t>𝑗</m:t>
                                </m:r>
                              </m:sub>
                              <m:sup>
                                <m:r>
                                  <a:rPr lang="en-US" sz="1800" i="1" smtClean="0">
                                    <a:solidFill>
                                      <a:schemeClr val="tx1"/>
                                    </a:solidFill>
                                    <a:latin typeface="Cambria Math" panose="02040503050406030204" pitchFamily="18" charset="0"/>
                                  </a:rPr>
                                  <m:t>𝑅</m:t>
                                </m:r>
                              </m:sup>
                            </m:sSubSup>
                          </m:e>
                        </m:nary>
                      </m:e>
                    </m:d>
                  </m:oMath>
                </a14:m>
                <a:endParaRPr lang="en-US" sz="1800" dirty="0">
                  <a:solidFill>
                    <a:schemeClr val="tx1"/>
                  </a:solidFill>
                </a:endParaRPr>
              </a:p>
              <a:p>
                <a:pPr>
                  <a:lnSpc>
                    <a:spcPct val="110000"/>
                  </a:lnSpc>
                  <a:defRPr sz="1600"/>
                </a:pPr>
                <a:r>
                  <a:rPr lang="en-US" sz="2000" b="1" u="sng" dirty="0">
                    <a:solidFill>
                      <a:schemeClr val="tx1"/>
                    </a:solidFill>
                  </a:rPr>
                  <a:t>Constraints</a:t>
                </a:r>
                <a:r>
                  <a:rPr lang="en-US" sz="2000" dirty="0">
                    <a:solidFill>
                      <a:schemeClr val="tx1"/>
                    </a:solidFill>
                  </a:rPr>
                  <a:t>:</a:t>
                </a:r>
                <a:endParaRPr lang="en-US" altLang="en-US" sz="1800" dirty="0">
                  <a:solidFill>
                    <a:schemeClr val="tx1"/>
                  </a:solidFill>
                </a:endParaRPr>
              </a:p>
              <a:p>
                <a:pPr marL="457200" lvl="1" indent="0" eaLnBrk="0" fontAlgn="base" hangingPunct="0">
                  <a:lnSpc>
                    <a:spcPct val="110000"/>
                  </a:lnSpc>
                  <a:spcBef>
                    <a:spcPct val="0"/>
                  </a:spcBef>
                  <a:spcAft>
                    <a:spcPct val="0"/>
                  </a:spcAft>
                  <a:buFontTx/>
                  <a:buChar char="•"/>
                </a:pPr>
                <a:r>
                  <a:rPr lang="en-US" altLang="en-US" sz="1800" dirty="0">
                    <a:solidFill>
                      <a:schemeClr val="tx1"/>
                    </a:solidFill>
                  </a:rPr>
                  <a:t>  A valid kill-chain path </a:t>
                </a:r>
                <a14:m>
                  <m:oMath xmlns:m="http://schemas.openxmlformats.org/officeDocument/2006/math">
                    <m:sSubSup>
                      <m:sSubSupPr>
                        <m:ctrlPr>
                          <a:rPr lang="en-US" sz="2000" dirty="0" smtClean="0">
                            <a:solidFill>
                              <a:schemeClr val="tx1"/>
                            </a:solidFill>
                            <a:latin typeface="Cambria Math" panose="02040503050406030204" pitchFamily="18" charset="0"/>
                          </a:rPr>
                        </m:ctrlPr>
                      </m:sSubSupPr>
                      <m:e>
                        <m:r>
                          <a:rPr lang="en-US" sz="2000" b="0" i="1" dirty="0" smtClean="0">
                            <a:solidFill>
                              <a:schemeClr val="tx1"/>
                            </a:solidFill>
                            <a:latin typeface="Cambria Math" panose="02040503050406030204" pitchFamily="18" charset="0"/>
                          </a:rPr>
                          <m:t>𝑘</m:t>
                        </m:r>
                      </m:e>
                      <m:sub>
                        <m:r>
                          <a:rPr lang="en-US" sz="2000" i="1" dirty="0">
                            <a:solidFill>
                              <a:schemeClr val="tx1"/>
                            </a:solidFill>
                            <a:latin typeface="Cambria Math" panose="02040503050406030204" pitchFamily="18" charset="0"/>
                          </a:rPr>
                          <m:t>𝑒</m:t>
                        </m:r>
                      </m:sub>
                      <m:sup>
                        <m:r>
                          <a:rPr lang="en-US" sz="2000" i="1" dirty="0">
                            <a:solidFill>
                              <a:schemeClr val="tx1"/>
                            </a:solidFill>
                            <a:latin typeface="Cambria Math" panose="02040503050406030204" pitchFamily="18" charset="0"/>
                          </a:rPr>
                          <m:t>𝑅</m:t>
                        </m:r>
                      </m:sup>
                    </m:sSubSup>
                    <m:r>
                      <a:rPr lang="en-US" sz="2000" b="0" i="1" dirty="0" smtClean="0">
                        <a:solidFill>
                          <a:schemeClr val="tx1"/>
                        </a:solidFill>
                        <a:latin typeface="Cambria Math" panose="02040503050406030204" pitchFamily="18" charset="0"/>
                      </a:rPr>
                      <m:t> </m:t>
                    </m:r>
                    <m:r>
                      <a:rPr lang="en-US" sz="2000" b="0" i="1" dirty="0" smtClean="0">
                        <a:solidFill>
                          <a:schemeClr val="tx1"/>
                        </a:solidFill>
                        <a:latin typeface="Cambria Math" panose="02040503050406030204" pitchFamily="18" charset="0"/>
                        <a:ea typeface="Cambria Math" panose="02040503050406030204" pitchFamily="18" charset="0"/>
                      </a:rPr>
                      <m:t>∈</m:t>
                    </m:r>
                    <m:r>
                      <a:rPr lang="en-US" sz="2000" b="0" i="1" dirty="0" smtClean="0">
                        <a:solidFill>
                          <a:schemeClr val="tx1"/>
                        </a:solidFill>
                        <a:latin typeface="Cambria Math" panose="02040503050406030204" pitchFamily="18" charset="0"/>
                      </a:rPr>
                      <m:t> </m:t>
                    </m:r>
                  </m:oMath>
                </a14:m>
                <a:r>
                  <a:rPr lang="en-US" dirty="0">
                    <a:solidFill>
                      <a:schemeClr val="tx1"/>
                    </a:solidFill>
                    <a:latin typeface="MV Boli" panose="02000500030200090000" pitchFamily="2" charset="0"/>
                    <a:cs typeface="MV Boli" panose="02000500030200090000" pitchFamily="2" charset="0"/>
                  </a:rPr>
                  <a:t>K </a:t>
                </a:r>
                <a:r>
                  <a:rPr lang="en-US" sz="1800" dirty="0">
                    <a:solidFill>
                      <a:schemeClr val="tx1"/>
                    </a:solidFill>
                    <a:ea typeface="微軟正黑體" panose="020B0604030504040204" pitchFamily="34" charset="-120"/>
                  </a:rPr>
                  <a:t>is selected at the start of episode </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𝑒</m:t>
                    </m:r>
                  </m:oMath>
                </a14:m>
                <a:r>
                  <a:rPr lang="en-US" sz="1800" dirty="0">
                    <a:solidFill>
                      <a:schemeClr val="tx1"/>
                    </a:solidFill>
                    <a:latin typeface="Cambria Math" panose="02040503050406030204" pitchFamily="18" charset="0"/>
                    <a:ea typeface="Cambria Math" panose="02040503050406030204" pitchFamily="18" charset="0"/>
                  </a:rPr>
                  <a:t>.</a:t>
                </a:r>
              </a:p>
              <a:p>
                <a:pPr marL="457200" lvl="1" indent="0" eaLnBrk="0" fontAlgn="base" hangingPunct="0">
                  <a:lnSpc>
                    <a:spcPct val="110000"/>
                  </a:lnSpc>
                  <a:spcBef>
                    <a:spcPct val="0"/>
                  </a:spcBef>
                  <a:spcAft>
                    <a:spcPct val="0"/>
                  </a:spcAft>
                  <a:buFontTx/>
                  <a:buChar char="•"/>
                </a:pPr>
                <a:r>
                  <a:rPr lang="en-US" sz="1800" dirty="0">
                    <a:solidFill>
                      <a:schemeClr val="tx1"/>
                    </a:solidFill>
                    <a:latin typeface="Cambria Math" panose="02040503050406030204" pitchFamily="18" charset="0"/>
                    <a:ea typeface="Cambria Math" panose="02040503050406030204" pitchFamily="18" charset="0"/>
                  </a:rPr>
                  <a:t>At each step j , the selected action must satisfy </a:t>
                </a:r>
                <a14:m>
                  <m:oMath xmlns:m="http://schemas.openxmlformats.org/officeDocument/2006/math">
                    <m:sSubSup>
                      <m:sSubSupPr>
                        <m:ctrlPr>
                          <a:rPr lang="en-US" sz="1800" i="1" dirty="0" smtClean="0">
                            <a:solidFill>
                              <a:schemeClr val="tx1"/>
                            </a:solidFill>
                            <a:latin typeface="Cambria Math" panose="02040503050406030204" pitchFamily="18" charset="0"/>
                            <a:ea typeface="Cambria Math" panose="02040503050406030204" pitchFamily="18" charset="0"/>
                          </a:rPr>
                        </m:ctrlPr>
                      </m:sSubSupPr>
                      <m:e>
                        <m:r>
                          <a:rPr lang="en-US" sz="1800" i="1" dirty="0">
                            <a:solidFill>
                              <a:schemeClr val="tx1"/>
                            </a:solidFill>
                            <a:latin typeface="Cambria Math" panose="02040503050406030204" pitchFamily="18" charset="0"/>
                            <a:ea typeface="Cambria Math" panose="02040503050406030204" pitchFamily="18" charset="0"/>
                          </a:rPr>
                          <m:t>𝑎</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oMath>
                </a14:m>
                <a:r>
                  <a:rPr lang="en-US" sz="1800"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r>
                      <a:rPr lang="en-US" sz="1800" b="0" i="0" dirty="0" smtClean="0">
                        <a:solidFill>
                          <a:schemeClr val="tx1"/>
                        </a:solidFill>
                        <a:latin typeface="Cambria Math" panose="02040503050406030204" pitchFamily="18" charset="0"/>
                        <a:ea typeface="Cambria Math" panose="02040503050406030204" pitchFamily="18" charset="0"/>
                      </a:rPr>
                      <m:t> {</m:t>
                    </m:r>
                    <m:sSubSup>
                      <m:sSubSupPr>
                        <m:ctrlPr>
                          <a:rPr lang="en-US" sz="1800" i="1" dirty="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𝑡</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oMath>
                </a14:m>
                <a:r>
                  <a:rPr lang="en-US" sz="1800" dirty="0">
                    <a:solidFill>
                      <a:schemeClr val="tx1"/>
                    </a:solidFill>
                    <a:latin typeface="Cambria Math" panose="02040503050406030204" pitchFamily="18" charset="0"/>
                    <a:ea typeface="Cambria Math" panose="02040503050406030204" pitchFamily="18" charset="0"/>
                  </a:rPr>
                  <a:t>,</a:t>
                </a:r>
                <a:r>
                  <a:rPr lang="en-US" sz="1800" dirty="0">
                    <a:solidFill>
                      <a:schemeClr val="tx1"/>
                    </a:solidFill>
                    <a:ea typeface="Cambria Math" panose="02040503050406030204" pitchFamily="18" charset="0"/>
                  </a:rPr>
                  <a:t> </a:t>
                </a:r>
                <a14:m>
                  <m:oMath xmlns:m="http://schemas.openxmlformats.org/officeDocument/2006/math">
                    <m:sSubSup>
                      <m:sSubSupPr>
                        <m:ctrlPr>
                          <a:rPr lang="en-US" sz="1800" i="1" dirty="0" smtClean="0">
                            <a:solidFill>
                              <a:schemeClr val="tx1"/>
                            </a:solidFill>
                            <a:latin typeface="Cambria Math" panose="02040503050406030204" pitchFamily="18" charset="0"/>
                            <a:ea typeface="Cambria Math" panose="02040503050406030204" pitchFamily="18" charset="0"/>
                          </a:rPr>
                        </m:ctrlPr>
                      </m:sSubSupPr>
                      <m:e>
                        <m:r>
                          <a:rPr lang="en-US" sz="1800" b="0" i="1" dirty="0" smtClean="0">
                            <a:solidFill>
                              <a:schemeClr val="tx1"/>
                            </a:solidFill>
                            <a:latin typeface="Cambria Math" panose="02040503050406030204" pitchFamily="18" charset="0"/>
                            <a:ea typeface="Cambria Math" panose="02040503050406030204" pitchFamily="18" charset="0"/>
                          </a:rPr>
                          <m:t>𝑥</m:t>
                        </m:r>
                      </m:e>
                      <m:sub>
                        <m:r>
                          <a:rPr lang="en-US" sz="1800" i="1" dirty="0">
                            <a:solidFill>
                              <a:schemeClr val="tx1"/>
                            </a:solidFill>
                            <a:latin typeface="Cambria Math" panose="02040503050406030204" pitchFamily="18" charset="0"/>
                            <a:ea typeface="Cambria Math" panose="02040503050406030204" pitchFamily="18" charset="0"/>
                          </a:rPr>
                          <m:t>ⅇ,</m:t>
                        </m:r>
                        <m:r>
                          <a:rPr lang="en-US" sz="1800" i="1" dirty="0">
                            <a:solidFill>
                              <a:schemeClr val="tx1"/>
                            </a:solidFill>
                            <a:latin typeface="Cambria Math" panose="02040503050406030204" pitchFamily="18" charset="0"/>
                            <a:ea typeface="Cambria Math" panose="02040503050406030204" pitchFamily="18" charset="0"/>
                          </a:rPr>
                          <m:t>𝑗</m:t>
                        </m:r>
                      </m:sub>
                      <m:sup>
                        <m:r>
                          <a:rPr lang="en-US" sz="1800" i="1" dirty="0">
                            <a:solidFill>
                              <a:schemeClr val="tx1"/>
                            </a:solidFill>
                            <a:latin typeface="Cambria Math" panose="02040503050406030204" pitchFamily="18" charset="0"/>
                            <a:ea typeface="Cambria Math" panose="02040503050406030204" pitchFamily="18" charset="0"/>
                          </a:rPr>
                          <m:t>𝑅</m:t>
                        </m:r>
                      </m:sup>
                    </m:sSubSup>
                    <m:r>
                      <a:rPr lang="en-US" sz="1800" b="0" i="1" dirty="0" smtClean="0">
                        <a:solidFill>
                          <a:schemeClr val="tx1"/>
                        </a:solidFill>
                        <a:latin typeface="Cambria Math" panose="02040503050406030204" pitchFamily="18" charset="0"/>
                        <a:ea typeface="Cambria Math" panose="02040503050406030204" pitchFamily="18" charset="0"/>
                      </a:rPr>
                      <m:t>}∈</m:t>
                    </m:r>
                    <m:sSup>
                      <m:sSupPr>
                        <m:ctrlPr>
                          <a:rPr lang="en-US" sz="1800" b="0" i="1" dirty="0" smtClean="0">
                            <a:solidFill>
                              <a:schemeClr val="tx1"/>
                            </a:solidFill>
                            <a:latin typeface="Cambria Math" panose="02040503050406030204" pitchFamily="18" charset="0"/>
                            <a:ea typeface="Cambria Math" panose="02040503050406030204" pitchFamily="18" charset="0"/>
                          </a:rPr>
                        </m:ctrlPr>
                      </m:sSupPr>
                      <m:e>
                        <m:r>
                          <a:rPr lang="en-US" sz="1800" b="0" i="1" dirty="0" smtClean="0">
                            <a:solidFill>
                              <a:schemeClr val="tx1"/>
                            </a:solidFill>
                            <a:latin typeface="Cambria Math" panose="02040503050406030204" pitchFamily="18" charset="0"/>
                            <a:ea typeface="Cambria Math" panose="02040503050406030204" pitchFamily="18" charset="0"/>
                          </a:rPr>
                          <m:t>𝑆</m:t>
                        </m:r>
                      </m:e>
                      <m:sup>
                        <m:r>
                          <a:rPr lang="en-US" sz="1800" b="0" i="1" dirty="0" smtClean="0">
                            <a:solidFill>
                              <a:schemeClr val="tx1"/>
                            </a:solidFill>
                            <a:latin typeface="Cambria Math" panose="02040503050406030204" pitchFamily="18" charset="0"/>
                            <a:ea typeface="Cambria Math" panose="02040503050406030204" pitchFamily="18" charset="0"/>
                          </a:rPr>
                          <m:t>𝑅</m:t>
                        </m:r>
                      </m:sup>
                    </m:sSup>
                  </m:oMath>
                </a14:m>
                <a:endParaRPr lang="en-US" sz="1800" dirty="0">
                  <a:latin typeface="Cambria Math" panose="02040503050406030204" pitchFamily="18" charset="0"/>
                  <a:ea typeface="Cambria Math" panose="02040503050406030204" pitchFamily="18" charset="0"/>
                </a:endParaRPr>
              </a:p>
              <a:p>
                <a:pPr marL="457200" lvl="1" indent="0" eaLnBrk="0" fontAlgn="base" hangingPunct="0">
                  <a:lnSpc>
                    <a:spcPct val="110000"/>
                  </a:lnSpc>
                  <a:spcBef>
                    <a:spcPct val="0"/>
                  </a:spcBef>
                  <a:spcAft>
                    <a:spcPct val="0"/>
                  </a:spcAft>
                  <a:buFontTx/>
                  <a:buChar char="•"/>
                </a:pPr>
                <a:endParaRPr lang="en-US" sz="1800" dirty="0">
                  <a:ea typeface="微軟正黑體" panose="020B0604030504040204" pitchFamily="34" charset="-120"/>
                </a:endParaRPr>
              </a:p>
            </p:txBody>
          </p:sp>
        </mc:Choice>
        <mc:Fallback>
          <p:sp>
            <p:nvSpPr>
              <p:cNvPr id="7" name="Content Placeholder 6">
                <a:extLst>
                  <a:ext uri="{FF2B5EF4-FFF2-40B4-BE49-F238E27FC236}">
                    <a16:creationId xmlns:a16="http://schemas.microsoft.com/office/drawing/2014/main" id="{339B8B66-F526-44DF-848E-42B3A65D34C8}"/>
                  </a:ext>
                </a:extLst>
              </p:cNvPr>
              <p:cNvSpPr>
                <a:spLocks noGrp="1" noRot="1" noChangeAspect="1" noMove="1" noResize="1" noEditPoints="1" noAdjustHandles="1" noChangeArrowheads="1" noChangeShapeType="1" noTextEdit="1"/>
              </p:cNvSpPr>
              <p:nvPr>
                <p:ph idx="1"/>
              </p:nvPr>
            </p:nvSpPr>
            <p:spPr>
              <a:xfrm>
                <a:off x="330201" y="982132"/>
                <a:ext cx="11184466" cy="5875867"/>
              </a:xfrm>
              <a:blipFill>
                <a:blip r:embed="rId3"/>
                <a:stretch>
                  <a:fillRect l="-490" t="-415"/>
                </a:stretch>
              </a:blipFill>
            </p:spPr>
            <p:txBody>
              <a:bodyPr/>
              <a:lstStyle/>
              <a:p>
                <a:r>
                  <a:rPr lang="en-US">
                    <a:noFill/>
                  </a:rPr>
                  <a:t> </a:t>
                </a:r>
              </a:p>
            </p:txBody>
          </p:sp>
        </mc:Fallback>
      </mc:AlternateContent>
    </p:spTree>
    <p:extLst>
      <p:ext uri="{BB962C8B-B14F-4D97-AF65-F5344CB8AC3E}">
        <p14:creationId xmlns:p14="http://schemas.microsoft.com/office/powerpoint/2010/main" val="3003099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99480" y="-213942"/>
            <a:ext cx="10515600" cy="1325563"/>
          </a:xfrm>
        </p:spPr>
        <p:txBody>
          <a:bodyPr>
            <a:normAutofit/>
          </a:bodyPr>
          <a:lstStyle/>
          <a:p>
            <a:r>
              <a:rPr lang="en-US" sz="3200" dirty="0"/>
              <a:t>Blue Team Problem: Kill Chain Disruption</a:t>
            </a:r>
            <a:endParaRPr lang="en-US" sz="32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9D2F5C4-B156-F5F2-E30D-ED600E8F5F19}"/>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13</a:t>
            </a:fld>
            <a:endParaRPr lang="en-US" dirty="0"/>
          </a:p>
        </p:txBody>
      </p:sp>
      <mc:AlternateContent xmlns:mc="http://schemas.openxmlformats.org/markup-compatibility/2006">
        <mc:Choice xmlns:a14="http://schemas.microsoft.com/office/drawing/2010/main" Requires="a14">
          <p:sp>
            <p:nvSpPr>
              <p:cNvPr id="7" name="Content Placeholder 6">
                <a:extLst>
                  <a:ext uri="{FF2B5EF4-FFF2-40B4-BE49-F238E27FC236}">
                    <a16:creationId xmlns:a16="http://schemas.microsoft.com/office/drawing/2014/main" id="{339B8B66-F526-44DF-848E-42B3A65D34C8}"/>
                  </a:ext>
                </a:extLst>
              </p:cNvPr>
              <p:cNvSpPr>
                <a:spLocks noGrp="1"/>
              </p:cNvSpPr>
              <p:nvPr>
                <p:ph idx="1"/>
              </p:nvPr>
            </p:nvSpPr>
            <p:spPr>
              <a:xfrm>
                <a:off x="333372" y="993089"/>
                <a:ext cx="11079693" cy="5624139"/>
              </a:xfrm>
            </p:spPr>
            <p:txBody>
              <a:bodyPr>
                <a:normAutofit fontScale="62500" lnSpcReduction="20000"/>
              </a:bodyPr>
              <a:lstStyle/>
              <a:p>
                <a:pPr>
                  <a:lnSpc>
                    <a:spcPct val="120000"/>
                  </a:lnSpc>
                  <a:defRPr sz="1600"/>
                </a:pPr>
                <a:r>
                  <a:rPr lang="en-US" sz="3600" b="1" u="sng" dirty="0"/>
                  <a:t>Input:</a:t>
                </a:r>
              </a:p>
              <a:p>
                <a:pPr lvl="1">
                  <a:lnSpc>
                    <a:spcPct val="110000"/>
                  </a:lnSpc>
                  <a:defRPr sz="1600"/>
                </a:pPr>
                <a:r>
                  <a:rPr lang="en-US" sz="3300" dirty="0"/>
                  <a:t>Observation </a:t>
                </a:r>
                <a14:m>
                  <m:oMath xmlns:m="http://schemas.openxmlformats.org/officeDocument/2006/math">
                    <m:sSubSup>
                      <m:sSubSupPr>
                        <m:ctrlPr>
                          <a:rPr lang="en-US" altLang="zh-TW" sz="3300" i="1" smtClean="0">
                            <a:latin typeface="Cambria Math" panose="02040503050406030204" pitchFamily="18" charset="0"/>
                          </a:rPr>
                        </m:ctrlPr>
                      </m:sSubSupPr>
                      <m:e>
                        <m:r>
                          <a:rPr lang="en-US" altLang="zh-TW" sz="3300" b="0" i="1" smtClean="0">
                            <a:latin typeface="Cambria Math" panose="02040503050406030204" pitchFamily="18" charset="0"/>
                          </a:rPr>
                          <m:t>𝑂</m:t>
                        </m:r>
                      </m:e>
                      <m:sub>
                        <m:r>
                          <a:rPr lang="en-US" altLang="zh-TW" sz="3300" b="0" i="1" smtClean="0">
                            <a:latin typeface="Cambria Math" panose="02040503050406030204" pitchFamily="18" charset="0"/>
                          </a:rPr>
                          <m:t>𝑒</m:t>
                        </m:r>
                        <m:r>
                          <a:rPr lang="en-US" altLang="zh-TW" sz="3300" b="0" i="1" smtClean="0">
                            <a:latin typeface="Cambria Math" panose="02040503050406030204" pitchFamily="18" charset="0"/>
                          </a:rPr>
                          <m:t>,</m:t>
                        </m:r>
                        <m:r>
                          <a:rPr lang="en-US" altLang="zh-TW" sz="3300" b="0" i="1" smtClean="0">
                            <a:latin typeface="Cambria Math" panose="02040503050406030204" pitchFamily="18" charset="0"/>
                          </a:rPr>
                          <m:t>𝑖</m:t>
                        </m:r>
                      </m:sub>
                      <m:sup>
                        <m:r>
                          <a:rPr lang="en-US" altLang="zh-TW" sz="3300" b="0" i="1" smtClean="0">
                            <a:latin typeface="Cambria Math" panose="02040503050406030204" pitchFamily="18" charset="0"/>
                          </a:rPr>
                          <m:t>𝐵</m:t>
                        </m:r>
                      </m:sup>
                    </m:sSubSup>
                  </m:oMath>
                </a14:m>
                <a:r>
                  <a:rPr lang="en-US" sz="3300" dirty="0"/>
                  <a:t>: Blue-team observation at step </a:t>
                </a:r>
                <a:r>
                  <a:rPr lang="en-US" sz="3300" dirty="0">
                    <a:latin typeface="Cambria Math" panose="02040503050406030204" pitchFamily="18" charset="0"/>
                    <a:ea typeface="Cambria Math" panose="02040503050406030204" pitchFamily="18" charset="0"/>
                  </a:rPr>
                  <a:t>i</a:t>
                </a:r>
                <a:r>
                  <a:rPr lang="en-US" sz="3300" dirty="0"/>
                  <a:t> of episode </a:t>
                </a:r>
                <a:r>
                  <a:rPr lang="en-US" sz="3300" dirty="0">
                    <a:latin typeface="Cambria Math" panose="02040503050406030204" pitchFamily="18" charset="0"/>
                    <a:ea typeface="Cambria Math" panose="02040503050406030204" pitchFamily="18" charset="0"/>
                  </a:rPr>
                  <a:t>e</a:t>
                </a:r>
                <a:r>
                  <a:rPr lang="en-US" sz="3300" dirty="0"/>
                  <a:t>.</a:t>
                </a:r>
                <a:endParaRPr lang="en-IN" sz="3300" dirty="0"/>
              </a:p>
              <a:p>
                <a:pPr lvl="1">
                  <a:lnSpc>
                    <a:spcPct val="130000"/>
                  </a:lnSpc>
                  <a:defRPr sz="1600"/>
                </a:pPr>
                <a14:m>
                  <m:oMath xmlns:m="http://schemas.openxmlformats.org/officeDocument/2006/math">
                    <m:sSup>
                      <m:sSupPr>
                        <m:ctrlPr>
                          <a:rPr lang="en-US" altLang="zh-TW" sz="3300" b="0" i="1" smtClean="0">
                            <a:latin typeface="Cambria Math" panose="02040503050406030204" pitchFamily="18" charset="0"/>
                          </a:rPr>
                        </m:ctrlPr>
                      </m:sSupPr>
                      <m:e>
                        <m:r>
                          <a:rPr lang="en-US" altLang="zh-TW" sz="3300" b="0" i="1" smtClean="0">
                            <a:latin typeface="Cambria Math" panose="02040503050406030204" pitchFamily="18" charset="0"/>
                          </a:rPr>
                          <m:t>𝑆</m:t>
                        </m:r>
                      </m:e>
                      <m:sup>
                        <m:r>
                          <a:rPr lang="en-US" altLang="zh-TW" sz="3300" b="0" i="1" smtClean="0">
                            <a:latin typeface="Cambria Math" panose="02040503050406030204" pitchFamily="18" charset="0"/>
                          </a:rPr>
                          <m:t>𝐵</m:t>
                        </m:r>
                      </m:sup>
                    </m:sSup>
                  </m:oMath>
                </a14:m>
                <a:r>
                  <a:rPr lang="en-US" sz="3300" dirty="0"/>
                  <a:t>: Blue</a:t>
                </a:r>
                <a:r>
                  <a:rPr lang="en-US" altLang="en-US" sz="3300" dirty="0"/>
                  <a:t>-team action space.</a:t>
                </a:r>
                <a:endParaRPr lang="en-US" sz="3300" dirty="0"/>
              </a:p>
              <a:p>
                <a:pPr>
                  <a:lnSpc>
                    <a:spcPct val="120000"/>
                  </a:lnSpc>
                  <a:defRPr sz="1600"/>
                </a:pPr>
                <a:r>
                  <a:rPr lang="en-US" sz="3600" b="1" u="sng" dirty="0"/>
                  <a:t>Output:</a:t>
                </a:r>
              </a:p>
              <a:p>
                <a:pPr lvl="1">
                  <a:lnSpc>
                    <a:spcPct val="120000"/>
                  </a:lnSpc>
                </a:pPr>
                <a14:m>
                  <m:oMath xmlns:m="http://schemas.openxmlformats.org/officeDocument/2006/math">
                    <m:sSub>
                      <m:sSubPr>
                        <m:ctrlPr>
                          <a:rPr lang="en-US" sz="3300" i="1" dirty="0" smtClean="0">
                            <a:solidFill>
                              <a:schemeClr val="tx1"/>
                            </a:solidFill>
                            <a:latin typeface="Cambria Math" panose="02040503050406030204" pitchFamily="18" charset="0"/>
                            <a:ea typeface="Cambria Math" panose="02040503050406030204" pitchFamily="18" charset="0"/>
                          </a:rPr>
                        </m:ctrlPr>
                      </m:sSubPr>
                      <m:e>
                        <m:d>
                          <m:dPr>
                            <m:begChr m:val="{"/>
                            <m:endChr m:val="}"/>
                            <m:ctrlPr>
                              <a:rPr lang="en-US" sz="3300" i="1" dirty="0">
                                <a:solidFill>
                                  <a:schemeClr val="tx1"/>
                                </a:solidFill>
                                <a:latin typeface="Cambria Math" panose="02040503050406030204" pitchFamily="18" charset="0"/>
                                <a:ea typeface="Cambria Math" panose="02040503050406030204" pitchFamily="18" charset="0"/>
                              </a:rPr>
                            </m:ctrlPr>
                          </m:dPr>
                          <m:e>
                            <m:sSubSup>
                              <m:sSubSupPr>
                                <m:ctrlPr>
                                  <a:rPr lang="en-US" sz="3300" i="1" dirty="0">
                                    <a:solidFill>
                                      <a:schemeClr val="tx1"/>
                                    </a:solidFill>
                                    <a:latin typeface="Cambria Math" panose="02040503050406030204" pitchFamily="18" charset="0"/>
                                    <a:ea typeface="Cambria Math" panose="02040503050406030204" pitchFamily="18" charset="0"/>
                                  </a:rPr>
                                </m:ctrlPr>
                              </m:sSubSupPr>
                              <m:e>
                                <m:r>
                                  <a:rPr lang="en-US" sz="3300" i="1" dirty="0">
                                    <a:solidFill>
                                      <a:schemeClr val="tx1"/>
                                    </a:solidFill>
                                    <a:latin typeface="Cambria Math" panose="02040503050406030204" pitchFamily="18" charset="0"/>
                                    <a:ea typeface="Cambria Math" panose="02040503050406030204" pitchFamily="18" charset="0"/>
                                  </a:rPr>
                                  <m:t>𝑎</m:t>
                                </m:r>
                              </m:e>
                              <m:sub>
                                <m:r>
                                  <a:rPr lang="en-US" sz="3300" i="1" dirty="0">
                                    <a:solidFill>
                                      <a:schemeClr val="tx1"/>
                                    </a:solidFill>
                                    <a:latin typeface="Cambria Math" panose="02040503050406030204" pitchFamily="18" charset="0"/>
                                    <a:ea typeface="Cambria Math" panose="02040503050406030204" pitchFamily="18" charset="0"/>
                                  </a:rPr>
                                  <m:t>ⅇ,</m:t>
                                </m:r>
                                <m:r>
                                  <a:rPr lang="en-US" sz="3300" b="0" i="1" dirty="0" smtClean="0">
                                    <a:solidFill>
                                      <a:schemeClr val="tx1"/>
                                    </a:solidFill>
                                    <a:latin typeface="Cambria Math" panose="02040503050406030204" pitchFamily="18" charset="0"/>
                                    <a:ea typeface="Cambria Math" panose="02040503050406030204" pitchFamily="18" charset="0"/>
                                  </a:rPr>
                                  <m:t>𝑖</m:t>
                                </m:r>
                              </m:sub>
                              <m:sup>
                                <m:r>
                                  <a:rPr lang="en-US" sz="3300" b="0" i="1" dirty="0" smtClean="0">
                                    <a:solidFill>
                                      <a:schemeClr val="tx1"/>
                                    </a:solidFill>
                                    <a:latin typeface="Cambria Math" panose="02040503050406030204" pitchFamily="18" charset="0"/>
                                    <a:ea typeface="Cambria Math" panose="02040503050406030204" pitchFamily="18" charset="0"/>
                                  </a:rPr>
                                  <m:t>𝐵</m:t>
                                </m:r>
                              </m:sup>
                            </m:sSubSup>
                          </m:e>
                        </m:d>
                      </m:e>
                      <m:sub>
                        <m:r>
                          <a:rPr lang="en-US" sz="3300" i="1" dirty="0">
                            <a:solidFill>
                              <a:schemeClr val="tx1"/>
                            </a:solidFill>
                            <a:latin typeface="Cambria Math" panose="02040503050406030204" pitchFamily="18" charset="0"/>
                            <a:ea typeface="Cambria Math" panose="02040503050406030204" pitchFamily="18" charset="0"/>
                          </a:rPr>
                          <m:t>𝑗</m:t>
                        </m:r>
                        <m:r>
                          <a:rPr lang="en-US" sz="3300" i="1" dirty="0">
                            <a:solidFill>
                              <a:schemeClr val="tx1"/>
                            </a:solidFill>
                            <a:latin typeface="Cambria Math" panose="02040503050406030204" pitchFamily="18" charset="0"/>
                            <a:ea typeface="Cambria Math" panose="02040503050406030204" pitchFamily="18" charset="0"/>
                          </a:rPr>
                          <m:t>≥1</m:t>
                        </m:r>
                      </m:sub>
                    </m:sSub>
                  </m:oMath>
                </a14:m>
                <a:r>
                  <a:rPr lang="en-US" sz="3300" dirty="0">
                    <a:solidFill>
                      <a:schemeClr val="tx1"/>
                    </a:solidFill>
                    <a:latin typeface="Cambria Math" panose="02040503050406030204" pitchFamily="18" charset="0"/>
                    <a:ea typeface="Cambria Math" panose="02040503050406030204" pitchFamily="18" charset="0"/>
                  </a:rPr>
                  <a:t> : </a:t>
                </a:r>
                <a:r>
                  <a:rPr lang="en-US" altLang="zh-TW" sz="3300" dirty="0">
                    <a:solidFill>
                      <a:schemeClr val="tx1"/>
                    </a:solidFill>
                    <a:ea typeface="微軟正黑體" panose="020B0604030504040204" pitchFamily="34" charset="-120"/>
                  </a:rPr>
                  <a:t>Sequence of  Blue-team actions </a:t>
                </a:r>
                <a:r>
                  <a:rPr lang="en-US" sz="3300" dirty="0">
                    <a:solidFill>
                      <a:schemeClr val="tx1"/>
                    </a:solidFill>
                    <a:latin typeface="Cambria Math" panose="02040503050406030204" pitchFamily="18" charset="0"/>
                    <a:ea typeface="Cambria Math" panose="02040503050406030204" pitchFamily="18" charset="0"/>
                  </a:rPr>
                  <a:t>in episode</a:t>
                </a:r>
                <a14:m>
                  <m:oMath xmlns:m="http://schemas.openxmlformats.org/officeDocument/2006/math">
                    <m:r>
                      <a:rPr lang="en-US" sz="3300">
                        <a:solidFill>
                          <a:schemeClr val="tx1"/>
                        </a:solidFill>
                        <a:latin typeface="Cambria Math" panose="02040503050406030204" pitchFamily="18" charset="0"/>
                        <a:ea typeface="Cambria Math" panose="02040503050406030204" pitchFamily="18" charset="0"/>
                      </a:rPr>
                      <m:t> </m:t>
                    </m:r>
                    <m:r>
                      <a:rPr lang="en-US" sz="3300" i="1">
                        <a:solidFill>
                          <a:schemeClr val="tx1"/>
                        </a:solidFill>
                        <a:latin typeface="Cambria Math" panose="02040503050406030204" pitchFamily="18" charset="0"/>
                        <a:ea typeface="Cambria Math" panose="02040503050406030204" pitchFamily="18" charset="0"/>
                      </a:rPr>
                      <m:t>𝑒</m:t>
                    </m:r>
                  </m:oMath>
                </a14:m>
                <a:r>
                  <a:rPr lang="en-US" sz="3300" dirty="0">
                    <a:solidFill>
                      <a:schemeClr val="tx1"/>
                    </a:solidFill>
                    <a:latin typeface="Cambria Math" panose="02040503050406030204" pitchFamily="18" charset="0"/>
                    <a:ea typeface="Cambria Math" panose="02040503050406030204" pitchFamily="18" charset="0"/>
                  </a:rPr>
                  <a:t>.</a:t>
                </a:r>
              </a:p>
              <a:p>
                <a:pPr lvl="1"/>
                <a14:m>
                  <m:oMath xmlns:m="http://schemas.openxmlformats.org/officeDocument/2006/math">
                    <m:sSubSup>
                      <m:sSubSupPr>
                        <m:ctrlPr>
                          <a:rPr lang="en-US" sz="3300" i="1" dirty="0">
                            <a:solidFill>
                              <a:schemeClr val="tx1"/>
                            </a:solidFill>
                            <a:latin typeface="Cambria Math" panose="02040503050406030204" pitchFamily="18" charset="0"/>
                            <a:ea typeface="Cambria Math" panose="02040503050406030204" pitchFamily="18" charset="0"/>
                          </a:rPr>
                        </m:ctrlPr>
                      </m:sSubSupPr>
                      <m:e>
                        <m:r>
                          <a:rPr lang="en-US" sz="3300" i="1" dirty="0">
                            <a:solidFill>
                              <a:schemeClr val="tx1"/>
                            </a:solidFill>
                            <a:latin typeface="Cambria Math" panose="02040503050406030204" pitchFamily="18" charset="0"/>
                            <a:ea typeface="Cambria Math" panose="02040503050406030204" pitchFamily="18" charset="0"/>
                          </a:rPr>
                          <m:t>𝑦</m:t>
                        </m:r>
                      </m:e>
                      <m:sub>
                        <m:r>
                          <a:rPr lang="en-US" sz="3300" i="1" dirty="0">
                            <a:solidFill>
                              <a:schemeClr val="tx1"/>
                            </a:solidFill>
                            <a:latin typeface="Cambria Math" panose="02040503050406030204" pitchFamily="18" charset="0"/>
                            <a:ea typeface="Cambria Math" panose="02040503050406030204" pitchFamily="18" charset="0"/>
                          </a:rPr>
                          <m:t>ⅇ</m:t>
                        </m:r>
                      </m:sub>
                      <m:sup>
                        <m:r>
                          <a:rPr lang="en-US" sz="3300" b="0" i="1" dirty="0" smtClean="0">
                            <a:solidFill>
                              <a:schemeClr val="tx1"/>
                            </a:solidFill>
                            <a:latin typeface="Cambria Math" panose="02040503050406030204" pitchFamily="18" charset="0"/>
                            <a:ea typeface="Cambria Math" panose="02040503050406030204" pitchFamily="18" charset="0"/>
                          </a:rPr>
                          <m:t>𝐵</m:t>
                        </m:r>
                      </m:sup>
                    </m:sSubSup>
                    <m:r>
                      <a:rPr lang="en-US" sz="3300" i="1" dirty="0">
                        <a:solidFill>
                          <a:schemeClr val="tx1"/>
                        </a:solidFill>
                        <a:latin typeface="Cambria Math" panose="02040503050406030204" pitchFamily="18" charset="0"/>
                        <a:ea typeface="Cambria Math" panose="02040503050406030204" pitchFamily="18" charset="0"/>
                      </a:rPr>
                      <m:t> </m:t>
                    </m:r>
                    <m:r>
                      <a:rPr lang="en-US" sz="3300" i="1" dirty="0">
                        <a:solidFill>
                          <a:schemeClr val="tx1"/>
                        </a:solidFill>
                        <a:latin typeface="Cambria Math" panose="02040503050406030204" pitchFamily="18" charset="0"/>
                        <a:ea typeface="Cambria Math" panose="02040503050406030204" pitchFamily="18" charset="0"/>
                      </a:rPr>
                      <m:t>∈</m:t>
                    </m:r>
                    <m:d>
                      <m:dPr>
                        <m:begChr m:val="{"/>
                        <m:endChr m:val="}"/>
                        <m:ctrlPr>
                          <a:rPr lang="en-US" sz="3300" i="1" dirty="0">
                            <a:solidFill>
                              <a:schemeClr val="tx1"/>
                            </a:solidFill>
                            <a:latin typeface="Cambria Math" panose="02040503050406030204" pitchFamily="18" charset="0"/>
                            <a:ea typeface="Cambria Math" panose="02040503050406030204" pitchFamily="18" charset="0"/>
                          </a:rPr>
                        </m:ctrlPr>
                      </m:dPr>
                      <m:e>
                        <m:r>
                          <a:rPr lang="en-US" sz="3300" i="1" dirty="0">
                            <a:solidFill>
                              <a:schemeClr val="tx1"/>
                            </a:solidFill>
                            <a:latin typeface="Cambria Math" panose="02040503050406030204" pitchFamily="18" charset="0"/>
                            <a:ea typeface="Cambria Math" panose="02040503050406030204" pitchFamily="18" charset="0"/>
                          </a:rPr>
                          <m:t>0,1</m:t>
                        </m:r>
                      </m:e>
                    </m:d>
                    <m:r>
                      <a:rPr lang="en-US" sz="3300" i="1" dirty="0">
                        <a:solidFill>
                          <a:schemeClr val="tx1"/>
                        </a:solidFill>
                        <a:latin typeface="Cambria Math" panose="02040503050406030204" pitchFamily="18" charset="0"/>
                        <a:ea typeface="Cambria Math" panose="02040503050406030204" pitchFamily="18" charset="0"/>
                      </a:rPr>
                      <m:t> </m:t>
                    </m:r>
                  </m:oMath>
                </a14:m>
                <a:r>
                  <a:rPr lang="en-US" sz="3300" dirty="0">
                    <a:solidFill>
                      <a:schemeClr val="tx1"/>
                    </a:solidFill>
                  </a:rPr>
                  <a:t>: Blue-team Outcome flag.</a:t>
                </a:r>
                <a:endParaRPr lang="en-IN" sz="3300" dirty="0">
                  <a:solidFill>
                    <a:schemeClr val="tx1"/>
                  </a:solidFill>
                </a:endParaRPr>
              </a:p>
              <a:p>
                <a:pPr>
                  <a:lnSpc>
                    <a:spcPct val="120000"/>
                  </a:lnSpc>
                  <a:defRPr sz="1600"/>
                </a:pPr>
                <a:r>
                  <a:rPr lang="en-US" sz="3600" b="1" u="sng" dirty="0">
                    <a:solidFill>
                      <a:schemeClr val="tx1"/>
                    </a:solidFill>
                  </a:rPr>
                  <a:t>Objective:</a:t>
                </a:r>
                <a:r>
                  <a:rPr lang="en-US" sz="3000" dirty="0">
                    <a:solidFill>
                      <a:schemeClr val="tx1"/>
                    </a:solidFill>
                  </a:rPr>
                  <a:t>	</a:t>
                </a:r>
              </a:p>
              <a:p>
                <a:pPr marL="530627" lvl="1" indent="-163615">
                  <a:lnSpc>
                    <a:spcPct val="120000"/>
                  </a:lnSpc>
                  <a:spcBef>
                    <a:spcPts val="216"/>
                  </a:spcBef>
                  <a:buFont typeface="Arial MT"/>
                  <a:buChar char="•"/>
                  <a:tabLst>
                    <a:tab pos="530627" algn="l"/>
                  </a:tabLst>
                </a:pPr>
                <a:r>
                  <a:rPr lang="en-US" sz="3300" dirty="0">
                    <a:solidFill>
                      <a:schemeClr val="tx1"/>
                    </a:solidFill>
                  </a:rPr>
                  <a:t>Maximise the expected cumulative Blue-team reward over the episode :</a:t>
                </a:r>
              </a:p>
              <a:p>
                <a:pPr marL="367012" lvl="1" indent="0">
                  <a:lnSpc>
                    <a:spcPct val="120000"/>
                  </a:lnSpc>
                  <a:spcBef>
                    <a:spcPts val="216"/>
                  </a:spcBef>
                  <a:buNone/>
                  <a:tabLst>
                    <a:tab pos="530627" algn="l"/>
                  </a:tabLst>
                </a:pPr>
                <a:r>
                  <a:rPr lang="en-US" sz="3300" dirty="0">
                    <a:solidFill>
                      <a:schemeClr val="tx1"/>
                    </a:solidFill>
                  </a:rPr>
                  <a:t>					</a:t>
                </a:r>
                <a14:m>
                  <m:oMath xmlns:m="http://schemas.openxmlformats.org/officeDocument/2006/math">
                    <m:limLow>
                      <m:limLowPr>
                        <m:ctrlPr>
                          <a:rPr lang="en-US" sz="3300" i="1" smtClean="0">
                            <a:solidFill>
                              <a:schemeClr val="tx1"/>
                            </a:solidFill>
                            <a:latin typeface="Cambria Math" panose="02040503050406030204" pitchFamily="18" charset="0"/>
                          </a:rPr>
                        </m:ctrlPr>
                      </m:limLowPr>
                      <m:e>
                        <m:r>
                          <m:rPr>
                            <m:sty m:val="p"/>
                          </m:rPr>
                          <a:rPr lang="en-US" sz="3300" smtClean="0">
                            <a:solidFill>
                              <a:schemeClr val="tx1"/>
                            </a:solidFill>
                            <a:latin typeface="Cambria Math" panose="02040503050406030204" pitchFamily="18" charset="0"/>
                          </a:rPr>
                          <m:t>max</m:t>
                        </m:r>
                        <m:r>
                          <a:rPr lang="en-US" sz="3300" b="0" i="0" smtClean="0">
                            <a:solidFill>
                              <a:schemeClr val="tx1"/>
                            </a:solidFill>
                            <a:latin typeface="Cambria Math" panose="02040503050406030204" pitchFamily="18" charset="0"/>
                          </a:rPr>
                          <m:t> </m:t>
                        </m:r>
                      </m:e>
                      <m:lim>
                        <m:sSub>
                          <m:sSubPr>
                            <m:ctrlPr>
                              <a:rPr lang="en-US" sz="3300" i="1" smtClean="0">
                                <a:solidFill>
                                  <a:schemeClr val="tx1"/>
                                </a:solidFill>
                                <a:latin typeface="Cambria Math" panose="02040503050406030204" pitchFamily="18" charset="0"/>
                              </a:rPr>
                            </m:ctrlPr>
                          </m:sSubPr>
                          <m:e>
                            <m:r>
                              <a:rPr lang="en-US" sz="3300" b="0" i="1" smtClean="0">
                                <a:solidFill>
                                  <a:schemeClr val="tx1"/>
                                </a:solidFill>
                                <a:latin typeface="Cambria Math" panose="02040503050406030204" pitchFamily="18" charset="0"/>
                              </a:rPr>
                              <m:t>𝐵</m:t>
                            </m:r>
                          </m:e>
                          <m:sub>
                            <m:r>
                              <a:rPr lang="en-US" sz="3300" i="1" smtClean="0">
                                <a:solidFill>
                                  <a:schemeClr val="tx1"/>
                                </a:solidFill>
                                <a:latin typeface="Cambria Math" panose="02040503050406030204" pitchFamily="18" charset="0"/>
                              </a:rPr>
                              <m:t>𝑛</m:t>
                            </m:r>
                          </m:sub>
                        </m:sSub>
                      </m:lim>
                    </m:limLow>
                    <m:r>
                      <a:rPr lang="en-US" sz="3300" i="1" smtClean="0">
                        <a:solidFill>
                          <a:schemeClr val="tx1"/>
                        </a:solidFill>
                        <a:latin typeface="Cambria Math" panose="02040503050406030204" pitchFamily="18" charset="0"/>
                      </a:rPr>
                      <m:t>𝐸</m:t>
                    </m:r>
                    <m:d>
                      <m:dPr>
                        <m:begChr m:val="["/>
                        <m:endChr m:val="]"/>
                        <m:ctrlPr>
                          <a:rPr lang="en-US" sz="3300" i="1" smtClean="0">
                            <a:solidFill>
                              <a:schemeClr val="tx1"/>
                            </a:solidFill>
                            <a:latin typeface="Cambria Math" panose="02040503050406030204" pitchFamily="18" charset="0"/>
                          </a:rPr>
                        </m:ctrlPr>
                      </m:dPr>
                      <m:e>
                        <m:nary>
                          <m:naryPr>
                            <m:chr m:val="∑"/>
                            <m:grow m:val="on"/>
                            <m:subHide m:val="on"/>
                            <m:supHide m:val="on"/>
                            <m:ctrlPr>
                              <a:rPr lang="en-US" sz="3300" i="1" smtClean="0">
                                <a:solidFill>
                                  <a:schemeClr val="tx1"/>
                                </a:solidFill>
                                <a:latin typeface="Cambria Math" panose="02040503050406030204" pitchFamily="18" charset="0"/>
                              </a:rPr>
                            </m:ctrlPr>
                          </m:naryPr>
                          <m:sub/>
                          <m:sup/>
                          <m:e>
                            <m:sSubSup>
                              <m:sSubSupPr>
                                <m:ctrlPr>
                                  <a:rPr lang="en-US" sz="3300" i="1" smtClean="0">
                                    <a:solidFill>
                                      <a:schemeClr val="tx1"/>
                                    </a:solidFill>
                                    <a:latin typeface="Cambria Math" panose="02040503050406030204" pitchFamily="18" charset="0"/>
                                  </a:rPr>
                                </m:ctrlPr>
                              </m:sSubSupPr>
                              <m:e>
                                <m:r>
                                  <a:rPr lang="en-US" sz="3300" i="1" smtClean="0">
                                    <a:solidFill>
                                      <a:schemeClr val="tx1"/>
                                    </a:solidFill>
                                    <a:latin typeface="Cambria Math" panose="02040503050406030204" pitchFamily="18" charset="0"/>
                                  </a:rPr>
                                  <m:t>𝑃</m:t>
                                </m:r>
                              </m:e>
                              <m:sub>
                                <m:r>
                                  <a:rPr lang="en-US" sz="3300" i="0" smtClean="0">
                                    <a:solidFill>
                                      <a:schemeClr val="tx1"/>
                                    </a:solidFill>
                                    <a:latin typeface="Cambria Math" panose="02040503050406030204" pitchFamily="18" charset="0"/>
                                  </a:rPr>
                                  <m:t>ⅇ,</m:t>
                                </m:r>
                                <m:r>
                                  <a:rPr lang="en-US" sz="3300" i="1" smtClean="0">
                                    <a:solidFill>
                                      <a:schemeClr val="tx1"/>
                                    </a:solidFill>
                                    <a:latin typeface="Cambria Math" panose="02040503050406030204" pitchFamily="18" charset="0"/>
                                  </a:rPr>
                                  <m:t>𝑗</m:t>
                                </m:r>
                              </m:sub>
                              <m:sup>
                                <m:r>
                                  <a:rPr lang="en-US" sz="3300" b="0" i="1" smtClean="0">
                                    <a:solidFill>
                                      <a:schemeClr val="tx1"/>
                                    </a:solidFill>
                                    <a:latin typeface="Cambria Math" panose="02040503050406030204" pitchFamily="18" charset="0"/>
                                  </a:rPr>
                                  <m:t>𝐵</m:t>
                                </m:r>
                              </m:sup>
                            </m:sSubSup>
                          </m:e>
                        </m:nary>
                      </m:e>
                    </m:d>
                    <m:r>
                      <a:rPr lang="en-US" sz="3300" i="1" smtClean="0">
                        <a:solidFill>
                          <a:schemeClr val="tx1"/>
                        </a:solidFill>
                        <a:latin typeface="Cambria Math" panose="02040503050406030204" pitchFamily="18" charset="0"/>
                      </a:rPr>
                      <m:t> </m:t>
                    </m:r>
                  </m:oMath>
                </a14:m>
                <a:endParaRPr lang="en-US" sz="3300" b="1" u="sng" dirty="0">
                  <a:solidFill>
                    <a:schemeClr val="tx1"/>
                  </a:solidFill>
                </a:endParaRPr>
              </a:p>
              <a:p>
                <a:pPr marL="73427" indent="-163615">
                  <a:lnSpc>
                    <a:spcPct val="120000"/>
                  </a:lnSpc>
                  <a:spcBef>
                    <a:spcPts val="216"/>
                  </a:spcBef>
                  <a:buFont typeface="Arial MT"/>
                  <a:buChar char="•"/>
                  <a:tabLst>
                    <a:tab pos="530627" algn="l"/>
                  </a:tabLst>
                </a:pPr>
                <a:r>
                  <a:rPr lang="en-US" sz="3600" b="1" u="sng" dirty="0"/>
                  <a:t>Constraints:</a:t>
                </a:r>
              </a:p>
              <a:p>
                <a:pPr marL="530627" lvl="1" indent="-163615">
                  <a:lnSpc>
                    <a:spcPct val="120000"/>
                  </a:lnSpc>
                  <a:spcBef>
                    <a:spcPts val="216"/>
                  </a:spcBef>
                  <a:buFont typeface="Arial MT"/>
                  <a:buChar char="•"/>
                  <a:tabLst>
                    <a:tab pos="530627" algn="l"/>
                  </a:tabLst>
                </a:pPr>
                <a:r>
                  <a:rPr lang="en-US" sz="3300" dirty="0"/>
                  <a:t>At each step </a:t>
                </a:r>
                <a:r>
                  <a:rPr lang="en-US" sz="3300" dirty="0" err="1"/>
                  <a:t>i</a:t>
                </a:r>
                <a:r>
                  <a:rPr lang="en-US" sz="3300" dirty="0"/>
                  <a:t>, the Blue-team </a:t>
                </a:r>
                <a:r>
                  <a:rPr lang="en-US" sz="3300" dirty="0" err="1"/>
                  <a:t>agnt</a:t>
                </a:r>
                <a:r>
                  <a:rPr lang="en-US" sz="3300" dirty="0"/>
                  <a:t> selects one response action </a:t>
                </a:r>
                <a14:m>
                  <m:oMath xmlns:m="http://schemas.openxmlformats.org/officeDocument/2006/math">
                    <m:sSubSup>
                      <m:sSubSupPr>
                        <m:ctrlPr>
                          <a:rPr lang="en-US" sz="3300" i="1" dirty="0" smtClean="0">
                            <a:solidFill>
                              <a:schemeClr val="tx1"/>
                            </a:solidFill>
                            <a:latin typeface="Cambria Math" panose="02040503050406030204" pitchFamily="18" charset="0"/>
                            <a:ea typeface="Cambria Math" panose="02040503050406030204" pitchFamily="18" charset="0"/>
                          </a:rPr>
                        </m:ctrlPr>
                      </m:sSubSupPr>
                      <m:e>
                        <m:r>
                          <a:rPr lang="en-US" sz="3300" i="1" dirty="0">
                            <a:solidFill>
                              <a:schemeClr val="tx1"/>
                            </a:solidFill>
                            <a:latin typeface="Cambria Math" panose="02040503050406030204" pitchFamily="18" charset="0"/>
                            <a:ea typeface="Cambria Math" panose="02040503050406030204" pitchFamily="18" charset="0"/>
                          </a:rPr>
                          <m:t>𝑎</m:t>
                        </m:r>
                      </m:e>
                      <m:sub>
                        <m:r>
                          <a:rPr lang="en-US" sz="3300" i="1" dirty="0">
                            <a:solidFill>
                              <a:schemeClr val="tx1"/>
                            </a:solidFill>
                            <a:latin typeface="Cambria Math" panose="02040503050406030204" pitchFamily="18" charset="0"/>
                            <a:ea typeface="Cambria Math" panose="02040503050406030204" pitchFamily="18" charset="0"/>
                          </a:rPr>
                          <m:t>ⅇ,</m:t>
                        </m:r>
                        <m:r>
                          <a:rPr lang="en-US" sz="3300" b="0" i="1" dirty="0" smtClean="0">
                            <a:solidFill>
                              <a:schemeClr val="tx1"/>
                            </a:solidFill>
                            <a:latin typeface="Cambria Math" panose="02040503050406030204" pitchFamily="18" charset="0"/>
                            <a:ea typeface="Cambria Math" panose="02040503050406030204" pitchFamily="18" charset="0"/>
                          </a:rPr>
                          <m:t>𝑖</m:t>
                        </m:r>
                      </m:sub>
                      <m:sup>
                        <m:r>
                          <a:rPr lang="en-US" sz="3300" b="0" i="1" dirty="0" smtClean="0">
                            <a:solidFill>
                              <a:schemeClr val="tx1"/>
                            </a:solidFill>
                            <a:latin typeface="Cambria Math" panose="02040503050406030204" pitchFamily="18" charset="0"/>
                            <a:ea typeface="Cambria Math" panose="02040503050406030204" pitchFamily="18" charset="0"/>
                          </a:rPr>
                          <m:t>𝐵</m:t>
                        </m:r>
                      </m:sup>
                    </m:sSubSup>
                    <m:r>
                      <a:rPr lang="en-US" sz="3300" b="0" i="1" dirty="0" smtClean="0">
                        <a:solidFill>
                          <a:schemeClr val="tx1"/>
                        </a:solidFill>
                        <a:latin typeface="Cambria Math" panose="02040503050406030204" pitchFamily="18" charset="0"/>
                        <a:ea typeface="Cambria Math" panose="02040503050406030204" pitchFamily="18" charset="0"/>
                      </a:rPr>
                      <m:t>∈ </m:t>
                    </m:r>
                    <m:sSup>
                      <m:sSupPr>
                        <m:ctrlPr>
                          <a:rPr lang="en-US" sz="3300" b="0" i="1" dirty="0" smtClean="0">
                            <a:solidFill>
                              <a:schemeClr val="tx1"/>
                            </a:solidFill>
                            <a:latin typeface="Cambria Math" panose="02040503050406030204" pitchFamily="18" charset="0"/>
                            <a:ea typeface="Cambria Math" panose="02040503050406030204" pitchFamily="18" charset="0"/>
                          </a:rPr>
                        </m:ctrlPr>
                      </m:sSupPr>
                      <m:e>
                        <m:r>
                          <a:rPr lang="en-US" sz="3300" b="0" i="1" dirty="0" smtClean="0">
                            <a:solidFill>
                              <a:schemeClr val="tx1"/>
                            </a:solidFill>
                            <a:latin typeface="Cambria Math" panose="02040503050406030204" pitchFamily="18" charset="0"/>
                            <a:ea typeface="Cambria Math" panose="02040503050406030204" pitchFamily="18" charset="0"/>
                          </a:rPr>
                          <m:t>𝑆</m:t>
                        </m:r>
                      </m:e>
                      <m:sup>
                        <m:r>
                          <a:rPr lang="en-US" sz="3300" b="0" i="1" dirty="0" smtClean="0">
                            <a:solidFill>
                              <a:schemeClr val="tx1"/>
                            </a:solidFill>
                            <a:latin typeface="Cambria Math" panose="02040503050406030204" pitchFamily="18" charset="0"/>
                            <a:ea typeface="Cambria Math" panose="02040503050406030204" pitchFamily="18" charset="0"/>
                          </a:rPr>
                          <m:t>𝐵</m:t>
                        </m:r>
                      </m:sup>
                    </m:sSup>
                  </m:oMath>
                </a14:m>
                <a:endParaRPr lang="en-US" sz="3300" dirty="0"/>
              </a:p>
              <a:p>
                <a:pPr marL="530627" lvl="1" indent="-163615">
                  <a:lnSpc>
                    <a:spcPct val="120000"/>
                  </a:lnSpc>
                  <a:spcBef>
                    <a:spcPts val="216"/>
                  </a:spcBef>
                  <a:buFont typeface="Arial MT"/>
                  <a:buChar char="•"/>
                  <a:tabLst>
                    <a:tab pos="530627" algn="l"/>
                  </a:tabLst>
                </a:pPr>
                <a:r>
                  <a:rPr lang="en-US" sz="3300" dirty="0"/>
                  <a:t>The response action is conditioned on the detection flag </a:t>
                </a:r>
                <a14:m>
                  <m:oMath xmlns:m="http://schemas.openxmlformats.org/officeDocument/2006/math">
                    <m:sSub>
                      <m:sSubPr>
                        <m:ctrlPr>
                          <a:rPr lang="en-US" sz="3300" i="1" dirty="0" smtClean="0">
                            <a:solidFill>
                              <a:schemeClr val="tx1"/>
                            </a:solidFill>
                            <a:latin typeface="Cambria Math" panose="02040503050406030204" pitchFamily="18" charset="0"/>
                            <a:ea typeface="Cambria Math" panose="02040503050406030204" pitchFamily="18" charset="0"/>
                          </a:rPr>
                        </m:ctrlPr>
                      </m:sSubPr>
                      <m:e>
                        <m:r>
                          <a:rPr lang="en-US" sz="3300" b="0" i="1" dirty="0" smtClean="0">
                            <a:solidFill>
                              <a:schemeClr val="tx1"/>
                            </a:solidFill>
                            <a:latin typeface="Cambria Math" panose="02040503050406030204" pitchFamily="18" charset="0"/>
                            <a:ea typeface="Cambria Math" panose="02040503050406030204" pitchFamily="18" charset="0"/>
                          </a:rPr>
                          <m:t>𝑑</m:t>
                        </m:r>
                      </m:e>
                      <m:sub>
                        <m:r>
                          <a:rPr lang="en-US" sz="3300" b="0" i="1" dirty="0" smtClean="0">
                            <a:solidFill>
                              <a:schemeClr val="tx1"/>
                            </a:solidFill>
                            <a:latin typeface="Cambria Math" panose="02040503050406030204" pitchFamily="18" charset="0"/>
                            <a:ea typeface="Cambria Math" panose="02040503050406030204" pitchFamily="18" charset="0"/>
                          </a:rPr>
                          <m:t>𝑒</m:t>
                        </m:r>
                        <m:r>
                          <a:rPr lang="en-US" sz="3300" b="0" i="1" dirty="0" smtClean="0">
                            <a:solidFill>
                              <a:schemeClr val="tx1"/>
                            </a:solidFill>
                            <a:latin typeface="Cambria Math" panose="02040503050406030204" pitchFamily="18" charset="0"/>
                            <a:ea typeface="Cambria Math" panose="02040503050406030204" pitchFamily="18" charset="0"/>
                          </a:rPr>
                          <m:t>,</m:t>
                        </m:r>
                        <m:r>
                          <a:rPr lang="en-US" sz="3300" b="0" i="1" dirty="0" smtClean="0">
                            <a:solidFill>
                              <a:schemeClr val="tx1"/>
                            </a:solidFill>
                            <a:latin typeface="Cambria Math" panose="02040503050406030204" pitchFamily="18" charset="0"/>
                            <a:ea typeface="Cambria Math" panose="02040503050406030204" pitchFamily="18" charset="0"/>
                          </a:rPr>
                          <m:t>𝑖</m:t>
                        </m:r>
                      </m:sub>
                    </m:sSub>
                  </m:oMath>
                </a14:m>
                <a:r>
                  <a:rPr lang="en-US" sz="3300" dirty="0"/>
                  <a:t> and the observable Cyber Range state </a:t>
                </a:r>
              </a:p>
            </p:txBody>
          </p:sp>
        </mc:Choice>
        <mc:Fallback>
          <p:sp>
            <p:nvSpPr>
              <p:cNvPr id="7" name="Content Placeholder 6">
                <a:extLst>
                  <a:ext uri="{FF2B5EF4-FFF2-40B4-BE49-F238E27FC236}">
                    <a16:creationId xmlns:a16="http://schemas.microsoft.com/office/drawing/2014/main" id="{339B8B66-F526-44DF-848E-42B3A65D34C8}"/>
                  </a:ext>
                </a:extLst>
              </p:cNvPr>
              <p:cNvSpPr>
                <a:spLocks noGrp="1" noRot="1" noChangeAspect="1" noMove="1" noResize="1" noEditPoints="1" noAdjustHandles="1" noChangeArrowheads="1" noChangeShapeType="1" noTextEdit="1"/>
              </p:cNvSpPr>
              <p:nvPr>
                <p:ph idx="1"/>
              </p:nvPr>
            </p:nvSpPr>
            <p:spPr>
              <a:xfrm>
                <a:off x="333372" y="993089"/>
                <a:ext cx="11079693" cy="5624139"/>
              </a:xfrm>
              <a:blipFill>
                <a:blip r:embed="rId3"/>
                <a:stretch>
                  <a:fillRect l="-660" t="-975"/>
                </a:stretch>
              </a:blipFill>
            </p:spPr>
            <p:txBody>
              <a:bodyPr/>
              <a:lstStyle/>
              <a:p>
                <a:r>
                  <a:rPr lang="en-US">
                    <a:noFill/>
                  </a:rPr>
                  <a:t> </a:t>
                </a:r>
              </a:p>
            </p:txBody>
          </p:sp>
        </mc:Fallback>
      </mc:AlternateContent>
    </p:spTree>
    <p:extLst>
      <p:ext uri="{BB962C8B-B14F-4D97-AF65-F5344CB8AC3E}">
        <p14:creationId xmlns:p14="http://schemas.microsoft.com/office/powerpoint/2010/main" val="2908452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DA09B67-039D-459E-A6F4-16BAEC99CE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0947" y="1002585"/>
            <a:ext cx="6013878" cy="5377017"/>
          </a:xfrm>
          <a:prstGeom prst="rect">
            <a:avLst/>
          </a:prstGeom>
        </p:spPr>
      </p:pic>
      <p:sp>
        <p:nvSpPr>
          <p:cNvPr id="2" name="Title 1">
            <a:extLst>
              <a:ext uri="{FF2B5EF4-FFF2-40B4-BE49-F238E27FC236}">
                <a16:creationId xmlns:a16="http://schemas.microsoft.com/office/drawing/2014/main" id="{7EE06B37-F0C4-4C46-A388-CD536C385855}"/>
              </a:ext>
            </a:extLst>
          </p:cNvPr>
          <p:cNvSpPr>
            <a:spLocks noGrp="1"/>
          </p:cNvSpPr>
          <p:nvPr>
            <p:ph type="title"/>
          </p:nvPr>
        </p:nvSpPr>
        <p:spPr>
          <a:xfrm>
            <a:off x="47625" y="-184384"/>
            <a:ext cx="10515600" cy="1325563"/>
          </a:xfrm>
        </p:spPr>
        <p:txBody>
          <a:bodyPr/>
          <a:lstStyle/>
          <a:p>
            <a:r>
              <a:rPr lang="en-US" dirty="0">
                <a:latin typeface="Times New Roman" panose="02020603050405020304" pitchFamily="18" charset="0"/>
                <a:cs typeface="Times New Roman" panose="02020603050405020304" pitchFamily="18" charset="0"/>
              </a:rPr>
              <a:t>Solution overview</a:t>
            </a:r>
            <a:endParaRPr lang="en-US" dirty="0"/>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93306A2E-F3D5-40BA-AC63-52C31B8136AD}"/>
                  </a:ext>
                </a:extLst>
              </p:cNvPr>
              <p:cNvSpPr txBox="1"/>
              <p:nvPr/>
            </p:nvSpPr>
            <p:spPr>
              <a:xfrm>
                <a:off x="140467" y="1511349"/>
                <a:ext cx="5780480" cy="3477875"/>
              </a:xfrm>
              <a:prstGeom prst="rect">
                <a:avLst/>
              </a:prstGeom>
              <a:noFill/>
            </p:spPr>
            <p:txBody>
              <a:bodyPr wrap="square" rtlCol="0">
                <a:spAutoFit/>
              </a:bodyPr>
              <a:lstStyle/>
              <a:p>
                <a:pPr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Start with initial agents</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 (</a:t>
                </a:r>
                <a:r>
                  <a:rPr lang="en-US" altLang="en-US" sz="2000" dirty="0"/>
                  <a:t>Red Agent</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a:t>
                </a:r>
                <a:r>
                  <a:rPr lang="en-US" altLang="en-US" sz="2000" dirty="0"/>
                  <a:t>Blue Agent</a:t>
                </a:r>
                <a:r>
                  <a:rPr kumimoji="0" lang="en-US" altLang="en-US" sz="2000" b="0" i="0" u="none" strike="noStrike" cap="none" normalizeH="0" baseline="0" dirty="0">
                    <a:ln>
                      <a:noFill/>
                    </a:ln>
                    <a:solidFill>
                      <a:schemeClr val="tx1"/>
                    </a:solidFill>
                    <a:effectLst/>
                  </a:rPr>
                  <a:t>).</a:t>
                </a:r>
              </a:p>
              <a:p>
                <a:pPr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Train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𝑅</m:t>
                        </m:r>
                      </m:e>
                      <m:sub>
                        <m:r>
                          <a:rPr lang="en-US" altLang="zh-TW" sz="2000" i="1">
                            <a:latin typeface="Cambria Math" panose="02040503050406030204" pitchFamily="18" charset="0"/>
                          </a:rPr>
                          <m:t>0</m:t>
                        </m:r>
                      </m:sub>
                    </m:sSub>
                  </m:oMath>
                </a14:m>
                <a:r>
                  <a:rPr kumimoji="0" lang="en-US" altLang="en-US" sz="2000" b="1" i="0" u="none" strike="noStrike" cap="none" normalizeH="0" baseline="0" dirty="0">
                    <a:ln>
                      <a:noFill/>
                    </a:ln>
                    <a:solidFill>
                      <a:schemeClr val="tx1"/>
                    </a:solidFill>
                    <a:effectLst/>
                  </a:rPr>
                  <a:t> against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r>
                      <a:rPr lang="en-US" altLang="zh-TW" sz="2000" i="1">
                        <a:latin typeface="Cambria Math" panose="02040503050406030204" pitchFamily="18" charset="0"/>
                      </a:rPr>
                      <m:t> </m:t>
                    </m:r>
                  </m:oMath>
                </a14:m>
                <a:r>
                  <a:rPr lang="en-US" altLang="en-US" sz="2000" dirty="0"/>
                  <a:t>: Once </a:t>
                </a:r>
                <a14:m>
                  <m:oMath xmlns:m="http://schemas.openxmlformats.org/officeDocument/2006/math">
                    <m:sSub>
                      <m:sSubPr>
                        <m:ctrlPr>
                          <a:rPr lang="en-US" altLang="zh-TW" sz="2000" b="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0</m:t>
                        </m:r>
                      </m:sub>
                    </m:sSub>
                    <m:r>
                      <a:rPr lang="en-US" altLang="zh-TW" sz="2000" b="0" i="1" smtClean="0">
                        <a:latin typeface="Cambria Math" panose="02040503050406030204" pitchFamily="18" charset="0"/>
                      </a:rPr>
                      <m:t> </m:t>
                    </m:r>
                    <m:r>
                      <m:rPr>
                        <m:sty m:val="p"/>
                      </m:rPr>
                      <a:rPr lang="en-US" altLang="zh-TW" sz="2000" b="0" i="0" smtClean="0">
                        <a:latin typeface="Cambria Math" panose="02040503050406030204" pitchFamily="18" charset="0"/>
                      </a:rPr>
                      <m:t>passes</m:t>
                    </m:r>
                  </m:oMath>
                </a14:m>
                <a:r>
                  <a:rPr kumimoji="0" lang="en-US" altLang="en-US" sz="2000" b="0" i="0" u="none" strike="noStrike" cap="none" normalizeH="0" baseline="0" dirty="0">
                    <a:ln>
                      <a:noFill/>
                    </a:ln>
                    <a:solidFill>
                      <a:schemeClr val="tx1"/>
                    </a:solidFill>
                    <a:effectLst/>
                  </a:rPr>
                  <a:t> &gt;</a:t>
                </a:r>
                <a:r>
                  <a:rPr lang="en-US" altLang="en-US" sz="2000" dirty="0"/>
                  <a:t> </a:t>
                </a:r>
                <a14:m>
                  <m:oMath xmlns:m="http://schemas.openxmlformats.org/officeDocument/2006/math">
                    <m:sSup>
                      <m:sSupPr>
                        <m:ctrlPr>
                          <a:rPr lang="en-US" altLang="en-US" sz="2000" i="1" smtClean="0">
                            <a:latin typeface="Cambria Math" panose="02040503050406030204" pitchFamily="18" charset="0"/>
                          </a:rPr>
                        </m:ctrlPr>
                      </m:sSupPr>
                      <m:e>
                        <m:r>
                          <m:rPr>
                            <m:sty m:val="p"/>
                          </m:rPr>
                          <a:rPr lang="el-GR" altLang="en-US" sz="2000" b="0" i="1" smtClean="0">
                            <a:latin typeface="Cambria Math" panose="02040503050406030204" pitchFamily="18" charset="0"/>
                            <a:ea typeface="Cambria Math" panose="02040503050406030204" pitchFamily="18" charset="0"/>
                          </a:rPr>
                          <m:t>η</m:t>
                        </m:r>
                      </m:e>
                      <m:sup>
                        <m:r>
                          <a:rPr lang="en-US" altLang="en-US" sz="2000" b="0" i="1" smtClean="0">
                            <a:latin typeface="Cambria Math" panose="02040503050406030204" pitchFamily="18" charset="0"/>
                          </a:rPr>
                          <m:t>𝑅</m:t>
                        </m:r>
                      </m:sup>
                    </m:sSup>
                  </m:oMath>
                </a14:m>
                <a:r>
                  <a:rPr kumimoji="0" lang="en-US" altLang="en-US" sz="2000" b="0" i="0" u="none" strike="noStrike" cap="none" normalizeH="0" baseline="0" dirty="0">
                    <a:ln>
                      <a:noFill/>
                    </a:ln>
                    <a:solidFill>
                      <a:schemeClr val="tx1"/>
                    </a:solidFill>
                    <a:effectLst/>
                  </a:rPr>
                  <a:t>  bypassing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 upgrade</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0</m:t>
                        </m:r>
                      </m:sub>
                    </m:sSub>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𝑡𝑜</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1</m:t>
                        </m:r>
                      </m:sub>
                    </m:sSub>
                    <m:r>
                      <a:rPr lang="en-US" altLang="zh-TW" sz="2000" i="1">
                        <a:latin typeface="Cambria Math" panose="02040503050406030204" pitchFamily="18" charset="0"/>
                      </a:rPr>
                      <m:t> </m:t>
                    </m:r>
                  </m:oMath>
                </a14:m>
                <a:r>
                  <a:rPr kumimoji="0" lang="en-US" altLang="en-US" sz="2000" b="0" i="0" u="none" strike="noStrike" cap="none" normalizeH="0" baseline="0" dirty="0">
                    <a:ln>
                      <a:noFill/>
                    </a:ln>
                    <a:solidFill>
                      <a:schemeClr val="tx1"/>
                    </a:solidFill>
                    <a:effectLst/>
                  </a:rPr>
                  <a:t>.</a:t>
                </a:r>
              </a:p>
              <a:p>
                <a:pPr lvl="0"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Then Use </a:t>
                </a:r>
                <a14:m>
                  <m:oMath xmlns:m="http://schemas.openxmlformats.org/officeDocument/2006/math">
                    <m:sSub>
                      <m:sSubPr>
                        <m:ctrlPr>
                          <a:rPr lang="en-US" altLang="zh-TW" sz="2000" i="1" smtClean="0">
                            <a:solidFill>
                              <a:schemeClr val="tx1"/>
                            </a:solidFill>
                            <a:latin typeface="Cambria Math" panose="02040503050406030204" pitchFamily="18" charset="0"/>
                          </a:rPr>
                        </m:ctrlPr>
                      </m:sSubPr>
                      <m:e>
                        <m:r>
                          <a:rPr lang="en-US" altLang="zh-TW" sz="2000" b="0" i="1" smtClean="0">
                            <a:solidFill>
                              <a:schemeClr val="tx1"/>
                            </a:solidFill>
                            <a:latin typeface="Cambria Math" panose="02040503050406030204" pitchFamily="18" charset="0"/>
                          </a:rPr>
                          <m:t>𝑅</m:t>
                        </m:r>
                      </m:e>
                      <m:sub>
                        <m:r>
                          <a:rPr lang="en-US" altLang="zh-TW" sz="2000" i="1">
                            <a:solidFill>
                              <a:schemeClr val="tx1"/>
                            </a:solidFill>
                            <a:latin typeface="Cambria Math" panose="02040503050406030204" pitchFamily="18" charset="0"/>
                          </a:rPr>
                          <m:t>1</m:t>
                        </m:r>
                      </m:sub>
                    </m:sSub>
                    <m:r>
                      <a:rPr lang="en-US" altLang="zh-TW" sz="2000" i="1">
                        <a:latin typeface="Cambria Math" panose="02040503050406030204" pitchFamily="18" charset="0"/>
                      </a:rPr>
                      <m:t> </m:t>
                    </m:r>
                  </m:oMath>
                </a14:m>
                <a:r>
                  <a:rPr kumimoji="0" lang="en-US" altLang="en-US" sz="2000" b="1" i="0" u="none" strike="noStrike" cap="none" normalizeH="0" baseline="0" dirty="0">
                    <a:ln>
                      <a:noFill/>
                    </a:ln>
                    <a:solidFill>
                      <a:schemeClr val="tx1"/>
                    </a:solidFill>
                    <a:effectLst/>
                  </a:rPr>
                  <a:t>to train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 If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i="1">
                            <a:latin typeface="Cambria Math" panose="02040503050406030204" pitchFamily="18" charset="0"/>
                          </a:rPr>
                          <m:t>0</m:t>
                        </m:r>
                      </m:sub>
                    </m:sSub>
                  </m:oMath>
                </a14:m>
                <a:r>
                  <a:rPr kumimoji="0" lang="en-US" altLang="en-US" sz="2000" b="0" i="0" u="none" strike="noStrike" cap="none" normalizeH="0" baseline="0" dirty="0">
                    <a:ln>
                      <a:noFill/>
                    </a:ln>
                    <a:solidFill>
                      <a:schemeClr val="tx1"/>
                    </a:solidFill>
                    <a:effectLst/>
                  </a:rPr>
                  <a:t> can</a:t>
                </a:r>
                <a:r>
                  <a:rPr kumimoji="0" lang="en-US" altLang="en-US" sz="2000" b="0" i="0" u="none" strike="noStrike" cap="none" normalizeH="0" dirty="0">
                    <a:ln>
                      <a:noFill/>
                    </a:ln>
                    <a:solidFill>
                      <a:schemeClr val="tx1"/>
                    </a:solidFill>
                    <a:effectLst/>
                  </a:rPr>
                  <a:t> detect and respond</a:t>
                </a:r>
                <a:r>
                  <a:rPr kumimoji="0" lang="en-US" altLang="en-US" sz="2000" b="0" i="0" u="none" strike="noStrike" cap="none" normalizeH="0" baseline="0" dirty="0">
                    <a:ln>
                      <a:noFill/>
                    </a:ln>
                    <a:solidFill>
                      <a:schemeClr val="tx1"/>
                    </a:solidFill>
                    <a:effectLst/>
                  </a:rPr>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1</m:t>
                        </m:r>
                      </m:sub>
                    </m:sSub>
                  </m:oMath>
                </a14:m>
                <a:r>
                  <a:rPr kumimoji="0" lang="en-US" altLang="en-US" sz="2000" b="0" i="0" u="none" strike="noStrike" cap="none" normalizeH="0" baseline="0" dirty="0">
                    <a:ln>
                      <a:noFill/>
                    </a:ln>
                    <a:solidFill>
                      <a:schemeClr val="tx1"/>
                    </a:solidFill>
                    <a:effectLst/>
                  </a:rPr>
                  <a:t> consistently , upgrade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r>
                      <a:rPr lang="en-US" altLang="zh-TW" sz="2000" i="1">
                        <a:latin typeface="Cambria Math" panose="02040503050406030204" pitchFamily="18" charset="0"/>
                      </a:rPr>
                      <m:t> </m:t>
                    </m:r>
                    <m:r>
                      <a:rPr lang="en-US" altLang="zh-TW" sz="2000" b="0" i="1" smtClean="0">
                        <a:latin typeface="Cambria Math" panose="02040503050406030204" pitchFamily="18" charset="0"/>
                      </a:rPr>
                      <m:t>𝑡𝑜</m:t>
                    </m:r>
                    <m:r>
                      <a:rPr lang="en-US" altLang="zh-TW" sz="2000" b="0" i="1" smtClean="0">
                        <a:latin typeface="Cambria Math" panose="02040503050406030204" pitchFamily="18" charset="0"/>
                      </a:rPr>
                      <m:t> </m:t>
                    </m:r>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1</m:t>
                        </m:r>
                      </m:sub>
                    </m:sSub>
                  </m:oMath>
                </a14:m>
                <a:r>
                  <a:rPr lang="en-US" altLang="en-US" sz="2000" dirty="0"/>
                  <a:t> </a:t>
                </a:r>
                <a:r>
                  <a:rPr kumimoji="0" lang="en-US" altLang="en-US" sz="2000" b="0" i="0" u="none" strike="noStrike" cap="none" normalizeH="0" baseline="0" dirty="0">
                    <a:ln>
                      <a:noFill/>
                    </a:ln>
                    <a:solidFill>
                      <a:schemeClr val="tx1"/>
                    </a:solidFill>
                    <a:effectLst/>
                  </a:rPr>
                  <a:t>.</a:t>
                </a:r>
              </a:p>
              <a:p>
                <a:pPr lvl="0" eaLnBrk="0" fontAlgn="base" hangingPunct="0">
                  <a:spcBef>
                    <a:spcPct val="0"/>
                  </a:spcBef>
                  <a:spcAft>
                    <a:spcPct val="0"/>
                  </a:spcAft>
                  <a:buFontTx/>
                  <a:buChar char="•"/>
                </a:pPr>
                <a:endParaRPr kumimoji="0" lang="en-US" altLang="en-US" sz="2000" b="0" i="0" u="none" strike="noStrike" cap="none" normalizeH="0" baseline="0" dirty="0">
                  <a:ln>
                    <a:noFill/>
                  </a:ln>
                  <a:solidFill>
                    <a:schemeClr val="tx1"/>
                  </a:solidFill>
                  <a:effectLst/>
                </a:endParaRPr>
              </a:p>
              <a:p>
                <a:pPr lvl="0" eaLnBrk="0" fontAlgn="base" hangingPunct="0">
                  <a:spcBef>
                    <a:spcPct val="0"/>
                  </a:spcBef>
                  <a:spcAft>
                    <a:spcPct val="0"/>
                  </a:spcAft>
                  <a:buFontTx/>
                  <a:buChar char="•"/>
                </a:pPr>
                <a:r>
                  <a:rPr kumimoji="0" lang="en-US" altLang="en-US" sz="2000" b="1" i="0" u="none" strike="noStrike" cap="none" normalizeH="0" baseline="0" dirty="0">
                    <a:ln>
                      <a:noFill/>
                    </a:ln>
                    <a:solidFill>
                      <a:schemeClr val="tx1"/>
                    </a:solidFill>
                    <a:effectLst/>
                  </a:rPr>
                  <a:t>Repeat</a:t>
                </a:r>
                <a:r>
                  <a:rPr kumimoji="0" lang="en-US" altLang="en-US" sz="2000" b="0" i="0" u="none" strike="noStrike" cap="none" normalizeH="0" baseline="0" dirty="0">
                    <a:ln>
                      <a:noFill/>
                    </a:ln>
                    <a:solidFill>
                      <a:schemeClr val="tx1"/>
                    </a:solidFill>
                    <a:effectLst/>
                  </a:rPr>
                  <a:t> this mutual training cycle:</a:t>
                </a:r>
                <a:br>
                  <a:rPr kumimoji="0" lang="en-US" altLang="en-US" sz="2000" b="0" i="0" u="none" strike="noStrike" cap="none" normalizeH="0" baseline="0" dirty="0">
                    <a:ln>
                      <a:noFill/>
                    </a:ln>
                    <a:solidFill>
                      <a:schemeClr val="tx1"/>
                    </a:solidFill>
                    <a:effectLst/>
                  </a:rPr>
                </a:b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i="1">
                            <a:latin typeface="Cambria Math" panose="02040503050406030204" pitchFamily="18" charset="0"/>
                          </a:rPr>
                          <m:t>0</m:t>
                        </m:r>
                      </m:sub>
                    </m:sSub>
                  </m:oMath>
                </a14:m>
                <a:r>
                  <a:rPr lang="en-US" altLang="en-US" sz="2000" dirty="0"/>
                  <a:t>→ </a:t>
                </a:r>
                <a14:m>
                  <m:oMath xmlns:m="http://schemas.openxmlformats.org/officeDocument/2006/math">
                    <m:sSub>
                      <m:sSubPr>
                        <m:ctrlPr>
                          <a:rPr lang="en-US" altLang="zh-TW" sz="2000" i="1" smtClean="0">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b="0" i="1" smtClean="0">
                            <a:latin typeface="Cambria Math" panose="02040503050406030204" pitchFamily="18" charset="0"/>
                          </a:rPr>
                          <m:t>1</m:t>
                        </m:r>
                      </m:sub>
                    </m:sSub>
                    <m:r>
                      <a:rPr lang="en-US" altLang="zh-TW" sz="2000" i="1">
                        <a:latin typeface="Cambria Math" panose="02040503050406030204" pitchFamily="18" charset="0"/>
                      </a:rPr>
                      <m:t> </m:t>
                    </m:r>
                  </m:oMath>
                </a14:m>
                <a:r>
                  <a:rPr lang="en-US" altLang="en-US" sz="2000" dirty="0"/>
                  <a:t>,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𝑅</m:t>
                        </m:r>
                      </m:e>
                      <m:sub>
                        <m:r>
                          <a:rPr lang="en-US" altLang="zh-TW" sz="2000" i="1">
                            <a:latin typeface="Cambria Math" panose="02040503050406030204" pitchFamily="18" charset="0"/>
                          </a:rPr>
                          <m:t>1</m:t>
                        </m:r>
                      </m:sub>
                    </m:sSub>
                  </m:oMath>
                </a14:m>
                <a:r>
                  <a:rPr lang="en-US" altLang="en-US" sz="2000" dirty="0"/>
                  <a:t> → </a:t>
                </a:r>
                <a14:m>
                  <m:oMath xmlns:m="http://schemas.openxmlformats.org/officeDocument/2006/math">
                    <m:sSub>
                      <m:sSubPr>
                        <m:ctrlPr>
                          <a:rPr lang="en-US" altLang="zh-TW" sz="2000" i="1">
                            <a:latin typeface="Cambria Math" panose="02040503050406030204" pitchFamily="18" charset="0"/>
                          </a:rPr>
                        </m:ctrlPr>
                      </m:sSubPr>
                      <m:e>
                        <m:r>
                          <a:rPr lang="en-US" altLang="zh-TW" sz="2000" b="0" i="1" smtClean="0">
                            <a:latin typeface="Cambria Math" panose="02040503050406030204" pitchFamily="18" charset="0"/>
                          </a:rPr>
                          <m:t>𝐵</m:t>
                        </m:r>
                      </m:e>
                      <m:sub>
                        <m:r>
                          <a:rPr lang="en-US" altLang="zh-TW" sz="2000" b="0" i="1" smtClean="0">
                            <a:latin typeface="Cambria Math" panose="02040503050406030204" pitchFamily="18" charset="0"/>
                          </a:rPr>
                          <m:t>1</m:t>
                        </m:r>
                      </m:sub>
                    </m:sSub>
                  </m:oMath>
                </a14:m>
                <a:r>
                  <a:rPr lang="en-US" altLang="en-US" sz="2000" dirty="0"/>
                  <a:t> , … until final generations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𝐵</m:t>
                        </m:r>
                      </m:e>
                      <m:sub>
                        <m:r>
                          <a:rPr lang="en-US" altLang="zh-TW" sz="2000" b="0" i="1" smtClean="0">
                            <a:latin typeface="Cambria Math" panose="02040503050406030204" pitchFamily="18" charset="0"/>
                          </a:rPr>
                          <m:t>𝑛</m:t>
                        </m:r>
                      </m:sub>
                    </m:sSub>
                    <m:r>
                      <a:rPr lang="en-US" altLang="zh-TW" sz="2000" i="1">
                        <a:latin typeface="Cambria Math" panose="02040503050406030204" pitchFamily="18" charset="0"/>
                      </a:rPr>
                      <m:t> </m:t>
                    </m:r>
                  </m:oMath>
                </a14:m>
                <a:r>
                  <a:rPr lang="en-US" altLang="en-US" sz="2000" dirty="0"/>
                  <a:t>, </a:t>
                </a:r>
                <a14:m>
                  <m:oMath xmlns:m="http://schemas.openxmlformats.org/officeDocument/2006/math">
                    <m:sSub>
                      <m:sSubPr>
                        <m:ctrlPr>
                          <a:rPr lang="en-US" altLang="zh-TW" sz="2000" i="1">
                            <a:latin typeface="Cambria Math" panose="02040503050406030204" pitchFamily="18" charset="0"/>
                          </a:rPr>
                        </m:ctrlPr>
                      </m:sSubPr>
                      <m:e>
                        <m:r>
                          <a:rPr lang="en-US" altLang="zh-TW" sz="2000" i="1">
                            <a:latin typeface="Cambria Math" panose="02040503050406030204" pitchFamily="18" charset="0"/>
                          </a:rPr>
                          <m:t>𝑅</m:t>
                        </m:r>
                      </m:e>
                      <m:sub>
                        <m:r>
                          <a:rPr lang="en-US" altLang="zh-TW" sz="2000" b="0" i="1" smtClean="0">
                            <a:latin typeface="Cambria Math" panose="02040503050406030204" pitchFamily="18" charset="0"/>
                          </a:rPr>
                          <m:t>𝑛</m:t>
                        </m:r>
                      </m:sub>
                    </m:sSub>
                  </m:oMath>
                </a14:m>
                <a:r>
                  <a:rPr lang="en-US" altLang="en-US" sz="2000" dirty="0"/>
                  <a:t> </a:t>
                </a:r>
                <a:endParaRPr lang="en-US" altLang="en-US" sz="2000" baseline="-25000" dirty="0"/>
              </a:p>
            </p:txBody>
          </p:sp>
        </mc:Choice>
        <mc:Fallback>
          <p:sp>
            <p:nvSpPr>
              <p:cNvPr id="9" name="TextBox 8">
                <a:extLst>
                  <a:ext uri="{FF2B5EF4-FFF2-40B4-BE49-F238E27FC236}">
                    <a16:creationId xmlns:a16="http://schemas.microsoft.com/office/drawing/2014/main" id="{93306A2E-F3D5-40BA-AC63-52C31B8136AD}"/>
                  </a:ext>
                </a:extLst>
              </p:cNvPr>
              <p:cNvSpPr txBox="1">
                <a:spLocks noRot="1" noChangeAspect="1" noMove="1" noResize="1" noEditPoints="1" noAdjustHandles="1" noChangeArrowheads="1" noChangeShapeType="1" noTextEdit="1"/>
              </p:cNvSpPr>
              <p:nvPr/>
            </p:nvSpPr>
            <p:spPr>
              <a:xfrm>
                <a:off x="140467" y="1511349"/>
                <a:ext cx="5780480" cy="3477875"/>
              </a:xfrm>
              <a:prstGeom prst="rect">
                <a:avLst/>
              </a:prstGeom>
              <a:blipFill>
                <a:blip r:embed="rId4"/>
                <a:stretch>
                  <a:fillRect l="-1055" t="-1053" b="-2281"/>
                </a:stretch>
              </a:blipFill>
            </p:spPr>
            <p:txBody>
              <a:bodyPr/>
              <a:lstStyle/>
              <a:p>
                <a:r>
                  <a:rPr lang="en-US">
                    <a:noFill/>
                  </a:rPr>
                  <a:t> </a:t>
                </a:r>
              </a:p>
            </p:txBody>
          </p:sp>
        </mc:Fallback>
      </mc:AlternateContent>
      <p:sp>
        <p:nvSpPr>
          <p:cNvPr id="3" name="Slide Number Placeholder 3">
            <a:extLst>
              <a:ext uri="{FF2B5EF4-FFF2-40B4-BE49-F238E27FC236}">
                <a16:creationId xmlns:a16="http://schemas.microsoft.com/office/drawing/2014/main" id="{603E5737-D2AE-F12A-807D-D3991C6B68CF}"/>
              </a:ext>
            </a:extLst>
          </p:cNvPr>
          <p:cNvSpPr txBox="1">
            <a:spLocks/>
          </p:cNvSpPr>
          <p:nvPr/>
        </p:nvSpPr>
        <p:spPr>
          <a:xfrm>
            <a:off x="9191625" y="6379602"/>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14</a:t>
            </a:fld>
            <a:endParaRPr lang="en-US" dirty="0"/>
          </a:p>
        </p:txBody>
      </p:sp>
      <p:sp>
        <p:nvSpPr>
          <p:cNvPr id="5" name="AutoShape 2">
            <a:extLst>
              <a:ext uri="{FF2B5EF4-FFF2-40B4-BE49-F238E27FC236}">
                <a16:creationId xmlns:a16="http://schemas.microsoft.com/office/drawing/2014/main" id="{E1BAEAF9-2D93-4DB2-A6AF-9FA992816358}"/>
              </a:ext>
            </a:extLst>
          </p:cNvPr>
          <p:cNvSpPr>
            <a:spLocks noChangeAspect="1" noChangeArrowheads="1"/>
          </p:cNvSpPr>
          <p:nvPr/>
        </p:nvSpPr>
        <p:spPr bwMode="auto">
          <a:xfrm>
            <a:off x="7659196" y="4665185"/>
            <a:ext cx="3048000" cy="3048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5244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15</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47625" y="-243819"/>
            <a:ext cx="10515600" cy="1325563"/>
          </a:xfrm>
        </p:spPr>
        <p:txBody>
          <a:bodyPr>
            <a:normAutofit/>
          </a:bodyPr>
          <a:lstStyle/>
          <a:p>
            <a:pPr algn="just"/>
            <a:r>
              <a:rPr lang="en-US" dirty="0">
                <a:latin typeface="Times New Roman" panose="02020603050405020304" pitchFamily="18" charset="0"/>
                <a:cs typeface="Times New Roman" panose="02020603050405020304" pitchFamily="18" charset="0"/>
              </a:rPr>
              <a:t>Solution overview</a:t>
            </a:r>
          </a:p>
        </p:txBody>
      </p:sp>
      <p:pic>
        <p:nvPicPr>
          <p:cNvPr id="3076" name="Picture 4">
            <a:extLst>
              <a:ext uri="{FF2B5EF4-FFF2-40B4-BE49-F238E27FC236}">
                <a16:creationId xmlns:a16="http://schemas.microsoft.com/office/drawing/2014/main" id="{01E7B85F-8C26-4772-955F-576B141A7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65" y="687314"/>
            <a:ext cx="11226190" cy="6170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5739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16</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129107" y="-211666"/>
            <a:ext cx="10515600" cy="1325563"/>
          </a:xfrm>
        </p:spPr>
        <p:txBody>
          <a:bodyPr>
            <a:normAutofit/>
          </a:bodyPr>
          <a:lstStyle/>
          <a:p>
            <a:pPr algn="just"/>
            <a:r>
              <a:rPr lang="en-US" dirty="0">
                <a:latin typeface="Times New Roman" panose="02020603050405020304" pitchFamily="18" charset="0"/>
                <a:cs typeface="Times New Roman" panose="02020603050405020304" pitchFamily="18" charset="0"/>
              </a:rPr>
              <a:t>Red Team Agent : Action Space</a:t>
            </a:r>
          </a:p>
        </p:txBody>
      </p:sp>
      <p:graphicFrame>
        <p:nvGraphicFramePr>
          <p:cNvPr id="3" name="Table 2">
            <a:extLst>
              <a:ext uri="{FF2B5EF4-FFF2-40B4-BE49-F238E27FC236}">
                <a16:creationId xmlns:a16="http://schemas.microsoft.com/office/drawing/2014/main" id="{4052299F-BA5C-4B75-8FA9-5C28B8D3D411}"/>
              </a:ext>
            </a:extLst>
          </p:cNvPr>
          <p:cNvGraphicFramePr>
            <a:graphicFrameLocks noGrp="1"/>
          </p:cNvGraphicFramePr>
          <p:nvPr>
            <p:extLst>
              <p:ext uri="{D42A27DB-BD31-4B8C-83A1-F6EECF244321}">
                <p14:modId xmlns:p14="http://schemas.microsoft.com/office/powerpoint/2010/main" val="2420378217"/>
              </p:ext>
            </p:extLst>
          </p:nvPr>
        </p:nvGraphicFramePr>
        <p:xfrm>
          <a:off x="406401" y="955343"/>
          <a:ext cx="10600266" cy="5690994"/>
        </p:xfrm>
        <a:graphic>
          <a:graphicData uri="http://schemas.openxmlformats.org/drawingml/2006/table">
            <a:tbl>
              <a:tblPr/>
              <a:tblGrid>
                <a:gridCol w="2568985">
                  <a:extLst>
                    <a:ext uri="{9D8B030D-6E8A-4147-A177-3AD203B41FA5}">
                      <a16:colId xmlns:a16="http://schemas.microsoft.com/office/drawing/2014/main" val="3227107821"/>
                    </a:ext>
                  </a:extLst>
                </a:gridCol>
                <a:gridCol w="1578944">
                  <a:extLst>
                    <a:ext uri="{9D8B030D-6E8A-4147-A177-3AD203B41FA5}">
                      <a16:colId xmlns:a16="http://schemas.microsoft.com/office/drawing/2014/main" val="2393228228"/>
                    </a:ext>
                  </a:extLst>
                </a:gridCol>
                <a:gridCol w="6452337">
                  <a:extLst>
                    <a:ext uri="{9D8B030D-6E8A-4147-A177-3AD203B41FA5}">
                      <a16:colId xmlns:a16="http://schemas.microsoft.com/office/drawing/2014/main" val="3789542113"/>
                    </a:ext>
                  </a:extLst>
                </a:gridCol>
              </a:tblGrid>
              <a:tr h="381284">
                <a:tc>
                  <a:txBody>
                    <a:bodyPr/>
                    <a:lstStyle/>
                    <a:p>
                      <a:pPr algn="ctr"/>
                      <a:r>
                        <a:rPr lang="en-US" sz="1600" b="1" dirty="0"/>
                        <a:t>Tactic</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No.</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Representative techniques</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6425874"/>
                  </a:ext>
                </a:extLst>
              </a:tr>
              <a:tr h="587311">
                <a:tc>
                  <a:txBody>
                    <a:bodyPr/>
                    <a:lstStyle/>
                    <a:p>
                      <a:pPr algn="ctr"/>
                      <a:r>
                        <a:rPr lang="en-US" sz="1300" dirty="0"/>
                        <a:t>Reconnaissance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T1595 Active Scanning; T1592 Gather Victim Host Information; T1590 Gather Victim Network Information.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744807"/>
                  </a:ext>
                </a:extLst>
              </a:tr>
              <a:tr h="429309">
                <a:tc>
                  <a:txBody>
                    <a:bodyPr/>
                    <a:lstStyle/>
                    <a:p>
                      <a:pPr algn="ctr"/>
                      <a:r>
                        <a:rPr lang="en-US" sz="1300"/>
                        <a:t>Execution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T1059.001 PowerShell; T1059.003 Windows Command Shell; T1059.006 Python.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266100"/>
                  </a:ext>
                </a:extLst>
              </a:tr>
              <a:tr h="429309">
                <a:tc>
                  <a:txBody>
                    <a:bodyPr/>
                    <a:lstStyle/>
                    <a:p>
                      <a:pPr algn="ctr"/>
                      <a:r>
                        <a:rPr lang="en-US" sz="1300"/>
                        <a:t>Persistence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56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T1098 Account Manipulation; T1547.001 Registry Run Keys; T1053 Scheduled Task/Job.</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24415375"/>
                  </a:ext>
                </a:extLst>
              </a:tr>
              <a:tr h="429309">
                <a:tc>
                  <a:txBody>
                    <a:bodyPr/>
                    <a:lstStyle/>
                    <a:p>
                      <a:pPr algn="ctr"/>
                      <a:r>
                        <a:rPr lang="en-US" sz="1300" dirty="0"/>
                        <a:t>Privilege Escalation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33</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T1548.002 Bypass UAC; T1134.001 Token Impersonation; T1543.003 Windows Service.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9718254"/>
                  </a:ext>
                </a:extLst>
              </a:tr>
              <a:tr h="429309">
                <a:tc>
                  <a:txBody>
                    <a:bodyPr/>
                    <a:lstStyle/>
                    <a:p>
                      <a:pPr algn="ctr"/>
                      <a:r>
                        <a:rPr lang="en-US" sz="1300"/>
                        <a:t>Defense Evasion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12</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T1027 Obfuscated Files; T1562 Impair Defenses; T1070 Indicator Removal.</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1134356"/>
                  </a:ext>
                </a:extLst>
              </a:tr>
              <a:tr h="429309">
                <a:tc>
                  <a:txBody>
                    <a:bodyPr/>
                    <a:lstStyle/>
                    <a:p>
                      <a:pPr algn="ctr"/>
                      <a:r>
                        <a:rPr lang="en-US" sz="1300"/>
                        <a:t>Credential Access</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35</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T1003.001 LSASS Memory; T1555 Credential Stores; T1557.001 SMB Relay.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1291183"/>
                  </a:ext>
                </a:extLst>
              </a:tr>
              <a:tr h="429309">
                <a:tc>
                  <a:txBody>
                    <a:bodyPr/>
                    <a:lstStyle/>
                    <a:p>
                      <a:pPr algn="ctr"/>
                      <a:r>
                        <a:rPr lang="en-US" sz="1300"/>
                        <a:t>Discovery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38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T1087 Account Discovery; T1046 Network Service Discovery; T1057 Process Discovery.</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692353"/>
                  </a:ext>
                </a:extLst>
              </a:tr>
              <a:tr h="429309">
                <a:tc>
                  <a:txBody>
                    <a:bodyPr/>
                    <a:lstStyle/>
                    <a:p>
                      <a:pPr algn="ctr"/>
                      <a:r>
                        <a:rPr lang="en-US" sz="1300"/>
                        <a:t>Lateral Movement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6</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T1021 Remote Services; T1021.002 SMB/Admin Shares; T1080 Taint Shared Content.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576501"/>
                  </a:ext>
                </a:extLst>
              </a:tr>
              <a:tr h="429309">
                <a:tc>
                  <a:txBody>
                    <a:bodyPr/>
                    <a:lstStyle/>
                    <a:p>
                      <a:pPr algn="ctr"/>
                      <a:r>
                        <a:rPr lang="en-US" sz="1300"/>
                        <a:t>Collection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18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T1005 Data from Local System; T1560.001 Archive via Utility; T1113 Screen Capture.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2044339"/>
                  </a:ext>
                </a:extLst>
              </a:tr>
              <a:tr h="429309">
                <a:tc>
                  <a:txBody>
                    <a:bodyPr/>
                    <a:lstStyle/>
                    <a:p>
                      <a:pPr algn="ctr"/>
                      <a:r>
                        <a:rPr lang="en-US" sz="1300"/>
                        <a:t>Command and Control</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21</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T1071.001 Web Protocols; T1105 Tool Transfer; T1572 Protocol Tunneling.</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6136979"/>
                  </a:ext>
                </a:extLst>
              </a:tr>
              <a:tr h="429309">
                <a:tc>
                  <a:txBody>
                    <a:bodyPr/>
                    <a:lstStyle/>
                    <a:p>
                      <a:pPr algn="ctr"/>
                      <a:r>
                        <a:rPr lang="en-US" sz="1300"/>
                        <a:t>Exfiltration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a:t>8</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a:t>T1041 Exfiltration over C2; T1048 Alternative Protocol; T1020 Automated Exfiltration.</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70221"/>
                  </a:ext>
                </a:extLst>
              </a:tr>
              <a:tr h="429309">
                <a:tc>
                  <a:txBody>
                    <a:bodyPr/>
                    <a:lstStyle/>
                    <a:p>
                      <a:pPr algn="ctr"/>
                      <a:r>
                        <a:rPr lang="en-US" sz="1300"/>
                        <a:t>Impact</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300" dirty="0"/>
                        <a:t>20</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00" dirty="0"/>
                        <a:t>T1485 Data Destruction; T1486 Data Encrypted for Impact; T1561.002 Disk Wipe.</a:t>
                      </a:r>
                    </a:p>
                  </a:txBody>
                  <a:tcPr marL="38200" marR="38200" marT="19100" marB="19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8838835"/>
                  </a:ext>
                </a:extLst>
              </a:tr>
            </a:tbl>
          </a:graphicData>
        </a:graphic>
      </p:graphicFrame>
    </p:spTree>
    <p:extLst>
      <p:ext uri="{BB962C8B-B14F-4D97-AF65-F5344CB8AC3E}">
        <p14:creationId xmlns:p14="http://schemas.microsoft.com/office/powerpoint/2010/main" val="187812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235FB5-44F0-47D8-95AC-0C586725BBBD}"/>
              </a:ext>
            </a:extLst>
          </p:cNvPr>
          <p:cNvSpPr txBox="1"/>
          <p:nvPr/>
        </p:nvSpPr>
        <p:spPr>
          <a:xfrm>
            <a:off x="7689647" y="151179"/>
            <a:ext cx="4245177" cy="655564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sz="1200" b="1" dirty="0" err="1"/>
              <a:t>technique</a:t>
            </a:r>
            <a:r>
              <a:rPr lang="en-US" sz="1200" dirty="0" err="1"/>
              <a:t>_</a:t>
            </a:r>
            <a:r>
              <a:rPr lang="en-US" sz="1200" b="1" dirty="0" err="1"/>
              <a:t>id</a:t>
            </a:r>
            <a:r>
              <a:rPr lang="en-US" sz="1200" dirty="0"/>
              <a:t>: T1021.002</a:t>
            </a:r>
          </a:p>
          <a:p>
            <a:r>
              <a:rPr lang="en-US" sz="1200" b="1" dirty="0" err="1"/>
              <a:t>technique</a:t>
            </a:r>
            <a:r>
              <a:rPr lang="en-US" sz="1200" dirty="0" err="1"/>
              <a:t>_</a:t>
            </a:r>
            <a:r>
              <a:rPr lang="en-US" sz="1200" b="1" dirty="0" err="1"/>
              <a:t>name</a:t>
            </a:r>
            <a:r>
              <a:rPr lang="en-US" sz="1200" dirty="0"/>
              <a:t>: SMB/Windows Admin Shares</a:t>
            </a:r>
          </a:p>
          <a:p>
            <a:r>
              <a:rPr lang="en-US" sz="1200" b="1" dirty="0"/>
              <a:t>tactic</a:t>
            </a:r>
            <a:r>
              <a:rPr lang="en-US" sz="1200" dirty="0"/>
              <a:t>: </a:t>
            </a:r>
            <a:r>
              <a:rPr lang="en-US" sz="1200" dirty="0" err="1"/>
              <a:t>LateralMovement</a:t>
            </a:r>
            <a:endParaRPr lang="en-US" sz="1200" dirty="0"/>
          </a:p>
          <a:p>
            <a:r>
              <a:rPr lang="en-US" sz="1200" b="1" dirty="0"/>
              <a:t>tool</a:t>
            </a:r>
            <a:r>
              <a:rPr lang="en-US" sz="1200" dirty="0"/>
              <a:t>: </a:t>
            </a:r>
            <a:r>
              <a:rPr lang="en-US" sz="1200" dirty="0" err="1"/>
              <a:t>metasploit</a:t>
            </a:r>
            <a:endParaRPr lang="en-US" sz="1200" dirty="0"/>
          </a:p>
          <a:p>
            <a:endParaRPr lang="en-US" sz="1200" b="1" dirty="0"/>
          </a:p>
          <a:p>
            <a:r>
              <a:rPr lang="en-US" sz="1200" b="1" dirty="0" err="1"/>
              <a:t>required</a:t>
            </a:r>
            <a:r>
              <a:rPr lang="en-US" sz="1200" dirty="0" err="1"/>
              <a:t>_</a:t>
            </a:r>
            <a:r>
              <a:rPr lang="en-US" sz="1200" b="1" dirty="0" err="1"/>
              <a:t>state</a:t>
            </a:r>
            <a:r>
              <a:rPr lang="en-US" sz="1200" dirty="0"/>
              <a:t>:               # Preconditions (must be true in state)</a:t>
            </a:r>
          </a:p>
          <a:p>
            <a:r>
              <a:rPr lang="en-US" sz="1200" dirty="0"/>
              <a:t>  - </a:t>
            </a:r>
            <a:r>
              <a:rPr lang="en-US" sz="1200" dirty="0" err="1"/>
              <a:t>has_valid_creds</a:t>
            </a:r>
            <a:endParaRPr lang="en-US" sz="1200" dirty="0"/>
          </a:p>
          <a:p>
            <a:r>
              <a:rPr lang="en-US" sz="1200" dirty="0"/>
              <a:t>  - has_port_445</a:t>
            </a:r>
          </a:p>
          <a:p>
            <a:r>
              <a:rPr lang="en-US" sz="1200" dirty="0"/>
              <a:t>  - </a:t>
            </a:r>
            <a:r>
              <a:rPr lang="en-US" sz="1200" dirty="0" err="1"/>
              <a:t>os_family</a:t>
            </a:r>
            <a:r>
              <a:rPr lang="en-US" sz="1200" dirty="0"/>
              <a:t> == Windows</a:t>
            </a:r>
          </a:p>
          <a:p>
            <a:endParaRPr lang="en-US" sz="1200" dirty="0"/>
          </a:p>
          <a:p>
            <a:r>
              <a:rPr lang="en-US" sz="1200" b="1" dirty="0" err="1"/>
              <a:t>required</a:t>
            </a:r>
            <a:r>
              <a:rPr lang="en-US" sz="1200" dirty="0" err="1"/>
              <a:t>_</a:t>
            </a:r>
            <a:r>
              <a:rPr lang="en-US" sz="1200" b="1" dirty="0" err="1"/>
              <a:t>params</a:t>
            </a:r>
            <a:r>
              <a:rPr lang="en-US" sz="1200" dirty="0"/>
              <a:t>:              # Parameters selected by RL (after preconditions pass)</a:t>
            </a:r>
          </a:p>
          <a:p>
            <a:r>
              <a:rPr lang="en-US" sz="1200" dirty="0"/>
              <a:t>  </a:t>
            </a:r>
            <a:r>
              <a:rPr lang="en-US" sz="1200" dirty="0" err="1"/>
              <a:t>target_ip</a:t>
            </a:r>
            <a:r>
              <a:rPr lang="en-US" sz="1200" dirty="0"/>
              <a:t>:</a:t>
            </a:r>
          </a:p>
          <a:p>
            <a:r>
              <a:rPr lang="en-US" sz="1200" dirty="0"/>
              <a:t>    source: </a:t>
            </a:r>
            <a:r>
              <a:rPr lang="en-US" sz="1200" dirty="0" err="1"/>
              <a:t>discovered_hosts</a:t>
            </a:r>
            <a:endParaRPr lang="en-US" sz="1200" dirty="0"/>
          </a:p>
          <a:p>
            <a:r>
              <a:rPr lang="en-US" sz="1200" dirty="0"/>
              <a:t>  </a:t>
            </a:r>
            <a:r>
              <a:rPr lang="en-US" sz="1200" dirty="0" err="1"/>
              <a:t>credential_id</a:t>
            </a:r>
            <a:r>
              <a:rPr lang="en-US" sz="1200" dirty="0"/>
              <a:t>:</a:t>
            </a:r>
          </a:p>
          <a:p>
            <a:r>
              <a:rPr lang="en-US" sz="1200" dirty="0"/>
              <a:t>    source: </a:t>
            </a:r>
            <a:r>
              <a:rPr lang="en-US" sz="1200" dirty="0" err="1"/>
              <a:t>credential_store</a:t>
            </a:r>
            <a:endParaRPr lang="en-US" sz="1200" dirty="0"/>
          </a:p>
          <a:p>
            <a:r>
              <a:rPr lang="en-US" sz="1200" dirty="0"/>
              <a:t>  port:</a:t>
            </a:r>
          </a:p>
          <a:p>
            <a:r>
              <a:rPr lang="en-US" sz="1200" dirty="0"/>
              <a:t>    fixed: 445</a:t>
            </a:r>
          </a:p>
          <a:p>
            <a:endParaRPr lang="en-US" sz="1200" dirty="0"/>
          </a:p>
          <a:p>
            <a:r>
              <a:rPr lang="en-US" sz="1200" b="1" dirty="0" err="1"/>
              <a:t>expected</a:t>
            </a:r>
            <a:r>
              <a:rPr lang="en-US" sz="1200" dirty="0" err="1"/>
              <a:t>_</a:t>
            </a:r>
            <a:r>
              <a:rPr lang="en-US" sz="1200" b="1" dirty="0" err="1"/>
              <a:t>state</a:t>
            </a:r>
            <a:r>
              <a:rPr lang="en-US" sz="1200" dirty="0" err="1"/>
              <a:t>_</a:t>
            </a:r>
            <a:r>
              <a:rPr lang="en-US" sz="1200" b="1" dirty="0" err="1"/>
              <a:t>updates</a:t>
            </a:r>
            <a:r>
              <a:rPr lang="en-US" sz="1200" dirty="0"/>
              <a:t>:       # What the environment updates after execution</a:t>
            </a:r>
          </a:p>
          <a:p>
            <a:r>
              <a:rPr lang="en-US" sz="1200" dirty="0"/>
              <a:t>  </a:t>
            </a:r>
            <a:r>
              <a:rPr lang="en-US" sz="1200" dirty="0" err="1"/>
              <a:t>on_success</a:t>
            </a:r>
            <a:r>
              <a:rPr lang="en-US" sz="1200" dirty="0"/>
              <a:t>:</a:t>
            </a:r>
          </a:p>
          <a:p>
            <a:r>
              <a:rPr lang="en-US" sz="1200" dirty="0"/>
              <a:t>    - </a:t>
            </a:r>
            <a:r>
              <a:rPr lang="en-US" sz="1200" dirty="0" err="1"/>
              <a:t>session_established</a:t>
            </a:r>
            <a:r>
              <a:rPr lang="en-US" sz="1200" dirty="0"/>
              <a:t> = true</a:t>
            </a:r>
          </a:p>
          <a:p>
            <a:r>
              <a:rPr lang="en-US" sz="1200" dirty="0"/>
              <a:t>    - </a:t>
            </a:r>
            <a:r>
              <a:rPr lang="en-US" sz="1200" dirty="0" err="1"/>
              <a:t>compromised_hosts</a:t>
            </a:r>
            <a:r>
              <a:rPr lang="en-US" sz="1200" dirty="0"/>
              <a:t> += </a:t>
            </a:r>
            <a:r>
              <a:rPr lang="en-US" sz="1200" dirty="0" err="1"/>
              <a:t>target_ip</a:t>
            </a:r>
            <a:endParaRPr lang="en-US" sz="1200" dirty="0"/>
          </a:p>
          <a:p>
            <a:r>
              <a:rPr lang="en-US" sz="1200" dirty="0"/>
              <a:t>    - </a:t>
            </a:r>
            <a:r>
              <a:rPr lang="en-US" sz="1200" dirty="0" err="1"/>
              <a:t>new_host_access_level</a:t>
            </a:r>
            <a:r>
              <a:rPr lang="en-US" sz="1200" dirty="0"/>
              <a:t> = admin</a:t>
            </a:r>
          </a:p>
          <a:p>
            <a:r>
              <a:rPr lang="en-US" sz="1200" dirty="0"/>
              <a:t>  </a:t>
            </a:r>
            <a:r>
              <a:rPr lang="en-US" sz="1200" dirty="0" err="1"/>
              <a:t>on_failure</a:t>
            </a:r>
            <a:r>
              <a:rPr lang="en-US" sz="1200" dirty="0"/>
              <a:t>:</a:t>
            </a:r>
          </a:p>
          <a:p>
            <a:r>
              <a:rPr lang="en-US" sz="1200" dirty="0"/>
              <a:t>    - </a:t>
            </a:r>
            <a:r>
              <a:rPr lang="en-US" sz="1200" dirty="0" err="1"/>
              <a:t>failed_lateral_attempts</a:t>
            </a:r>
            <a:r>
              <a:rPr lang="en-US" sz="1200" dirty="0"/>
              <a:t> += 1</a:t>
            </a:r>
          </a:p>
          <a:p>
            <a:endParaRPr lang="en-US" sz="1200" dirty="0"/>
          </a:p>
          <a:p>
            <a:r>
              <a:rPr lang="en-US" sz="1200" b="1" dirty="0"/>
              <a:t>evidence</a:t>
            </a:r>
            <a:r>
              <a:rPr lang="en-US" sz="1200" dirty="0"/>
              <a:t>:                     # Observable artifacts (logs / signals)</a:t>
            </a:r>
          </a:p>
          <a:p>
            <a:r>
              <a:rPr lang="en-US" sz="1200" dirty="0"/>
              <a:t>  - </a:t>
            </a:r>
            <a:r>
              <a:rPr lang="en-US" sz="1200" dirty="0" err="1"/>
              <a:t>session_established</a:t>
            </a:r>
            <a:endParaRPr lang="en-US" sz="1200" dirty="0"/>
          </a:p>
          <a:p>
            <a:r>
              <a:rPr lang="en-US" sz="1200" dirty="0"/>
              <a:t>  - </a:t>
            </a:r>
            <a:r>
              <a:rPr lang="en-US" sz="1200" dirty="0" err="1"/>
              <a:t>smb_auth_success</a:t>
            </a:r>
            <a:endParaRPr lang="en-US" sz="1200" dirty="0"/>
          </a:p>
          <a:p>
            <a:r>
              <a:rPr lang="en-US" sz="1200" dirty="0"/>
              <a:t>  - </a:t>
            </a:r>
            <a:r>
              <a:rPr lang="en-US" sz="1200" dirty="0" err="1"/>
              <a:t>new_process_created</a:t>
            </a:r>
            <a:endParaRPr lang="en-US" sz="1200" dirty="0"/>
          </a:p>
          <a:p>
            <a:endParaRPr lang="en-US" sz="1200" dirty="0"/>
          </a:p>
          <a:p>
            <a:r>
              <a:rPr lang="en-US" sz="1200" b="1" dirty="0"/>
              <a:t>risk</a:t>
            </a:r>
            <a:r>
              <a:rPr lang="en-US" sz="1200" dirty="0"/>
              <a:t>:                         # Risk level for Blue Team detection</a:t>
            </a:r>
          </a:p>
          <a:p>
            <a:r>
              <a:rPr lang="en-US" sz="1200" dirty="0"/>
              <a:t>  detectability: high</a:t>
            </a:r>
          </a:p>
        </p:txBody>
      </p:sp>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11300" y="-304056"/>
            <a:ext cx="6973295" cy="1325563"/>
          </a:xfrm>
        </p:spPr>
        <p:txBody>
          <a:bodyPr>
            <a:normAutofit/>
          </a:bodyPr>
          <a:lstStyle/>
          <a:p>
            <a:pPr algn="just"/>
            <a:r>
              <a:rPr lang="en-US" sz="3200" dirty="0">
                <a:latin typeface="Times New Roman" panose="02020603050405020304" pitchFamily="18" charset="0"/>
                <a:cs typeface="Times New Roman" panose="02020603050405020304" pitchFamily="18" charset="0"/>
              </a:rPr>
              <a:t>Red Team Agent</a:t>
            </a:r>
            <a:r>
              <a:rPr lang="en-US" sz="3200" dirty="0"/>
              <a:t> – Technique Schema</a:t>
            </a:r>
            <a:endParaRPr lang="en-US" sz="3200" dirty="0">
              <a:latin typeface="Times New Roman" panose="02020603050405020304" pitchFamily="18" charset="0"/>
              <a:cs typeface="Times New Roman" panose="02020603050405020304" pitchFamily="18" charset="0"/>
            </a:endParaRPr>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17</a:t>
            </a:fld>
            <a:endParaRPr lang="en-US" dirty="0"/>
          </a:p>
        </p:txBody>
      </p:sp>
      <p:sp>
        <p:nvSpPr>
          <p:cNvPr id="9" name="TextBox 8">
            <a:extLst>
              <a:ext uri="{FF2B5EF4-FFF2-40B4-BE49-F238E27FC236}">
                <a16:creationId xmlns:a16="http://schemas.microsoft.com/office/drawing/2014/main" id="{F3AE6FB5-5EAC-4146-97E5-E8B8564D9F3F}"/>
              </a:ext>
            </a:extLst>
          </p:cNvPr>
          <p:cNvSpPr txBox="1"/>
          <p:nvPr/>
        </p:nvSpPr>
        <p:spPr>
          <a:xfrm>
            <a:off x="184868" y="1582469"/>
            <a:ext cx="6973294" cy="4431983"/>
          </a:xfrm>
          <a:prstGeom prst="rect">
            <a:avLst/>
          </a:prstGeom>
          <a:noFill/>
        </p:spPr>
        <p:txBody>
          <a:bodyPr wrap="square">
            <a:spAutoFit/>
          </a:bodyPr>
          <a:lstStyle/>
          <a:p>
            <a:pPr marL="285750" indent="-28575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Why? </a:t>
            </a:r>
            <a:r>
              <a:rPr lang="en-US" sz="1800" b="1" dirty="0"/>
              <a:t>Wasted exploration on impossible actions.</a:t>
            </a:r>
            <a:r>
              <a:rPr lang="en-US" sz="1800" dirty="0"/>
              <a:t> </a:t>
            </a:r>
          </a:p>
          <a:p>
            <a:pPr lvl="1"/>
            <a:r>
              <a:rPr lang="en-US" sz="1600" dirty="0"/>
              <a:t>The agent selects techniques even if needed conditions (like credentials or open ports) are not met.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b="1" dirty="0"/>
              <a:t>Solution- Defines each ATT&amp;CK technique in structured form</a:t>
            </a:r>
            <a:r>
              <a:rPr lang="en-US" sz="1600" b="1" dirty="0"/>
              <a:t>.</a:t>
            </a:r>
          </a:p>
          <a:p>
            <a:pPr lvl="1"/>
            <a:r>
              <a:rPr lang="en-US" sz="1600" dirty="0"/>
              <a:t>The schema checks whether a selected technique is valid in the current cyber-range observation, so Red cannot execute meaningless actions.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technique has a schema with </a:t>
            </a:r>
          </a:p>
          <a:p>
            <a:pPr marL="742950" lvl="1" indent="-285750">
              <a:buFont typeface="Arial" panose="020B0604020202020204" pitchFamily="34" charset="0"/>
              <a:buChar char="•"/>
            </a:pPr>
            <a:r>
              <a:rPr lang="en-US" sz="1400" b="1" dirty="0" err="1"/>
              <a:t>technique_id</a:t>
            </a:r>
            <a:r>
              <a:rPr lang="en-US" sz="1400" b="1" dirty="0"/>
              <a:t> </a:t>
            </a:r>
          </a:p>
          <a:p>
            <a:pPr marL="742950" lvl="1" indent="-285750">
              <a:buFont typeface="Arial" panose="020B0604020202020204" pitchFamily="34" charset="0"/>
              <a:buChar char="•"/>
            </a:pPr>
            <a:r>
              <a:rPr lang="en-US" sz="1400" b="1" dirty="0" err="1"/>
              <a:t>technique_name</a:t>
            </a:r>
            <a:r>
              <a:rPr lang="en-US" sz="1400" b="1" dirty="0"/>
              <a:t> </a:t>
            </a:r>
          </a:p>
          <a:p>
            <a:pPr marL="742950" lvl="1" indent="-285750">
              <a:buFont typeface="Arial" panose="020B0604020202020204" pitchFamily="34" charset="0"/>
              <a:buChar char="•"/>
            </a:pPr>
            <a:r>
              <a:rPr lang="en-US" sz="1400" b="1" dirty="0"/>
              <a:t>tactic  </a:t>
            </a:r>
          </a:p>
          <a:p>
            <a:pPr marL="742950" lvl="1" indent="-285750">
              <a:buFont typeface="Arial" panose="020B0604020202020204" pitchFamily="34" charset="0"/>
              <a:buChar char="•"/>
            </a:pPr>
            <a:r>
              <a:rPr lang="en-US" sz="1400" b="1" dirty="0"/>
              <a:t>tool  </a:t>
            </a:r>
            <a:endParaRPr lang="en-US" sz="1600"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Execution flow</a:t>
            </a:r>
            <a:r>
              <a:rPr lang="en-US" dirty="0"/>
              <a:t>: RL selects technique → Validator checks </a:t>
            </a:r>
            <a:r>
              <a:rPr lang="en-US" dirty="0" err="1"/>
              <a:t>required_state</a:t>
            </a:r>
            <a:r>
              <a:rPr lang="en-US" dirty="0"/>
              <a:t> → if valid, RL selects required parameters → Send action to cyber range → execute.</a:t>
            </a:r>
            <a:endParaRPr lang="en-US" sz="1800" dirty="0"/>
          </a:p>
        </p:txBody>
      </p:sp>
      <p:pic>
        <p:nvPicPr>
          <p:cNvPr id="4" name="Picture 3">
            <a:extLst>
              <a:ext uri="{FF2B5EF4-FFF2-40B4-BE49-F238E27FC236}">
                <a16:creationId xmlns:a16="http://schemas.microsoft.com/office/drawing/2014/main" id="{70004CF1-FF6C-4DF4-B230-0D6EB36F2ABF}"/>
              </a:ext>
            </a:extLst>
          </p:cNvPr>
          <p:cNvPicPr>
            <a:picLocks noChangeAspect="1"/>
          </p:cNvPicPr>
          <p:nvPr/>
        </p:nvPicPr>
        <p:blipFill>
          <a:blip r:embed="rId3"/>
          <a:stretch>
            <a:fillRect/>
          </a:stretch>
        </p:blipFill>
        <p:spPr>
          <a:xfrm>
            <a:off x="10846943" y="209617"/>
            <a:ext cx="994747" cy="811890"/>
          </a:xfrm>
          <a:prstGeom prst="rect">
            <a:avLst/>
          </a:prstGeom>
        </p:spPr>
      </p:pic>
      <p:sp>
        <p:nvSpPr>
          <p:cNvPr id="10" name="TextBox 9">
            <a:extLst>
              <a:ext uri="{FF2B5EF4-FFF2-40B4-BE49-F238E27FC236}">
                <a16:creationId xmlns:a16="http://schemas.microsoft.com/office/drawing/2014/main" id="{2D17DF49-3978-4C89-8ED5-2A8C3E8D6F65}"/>
              </a:ext>
            </a:extLst>
          </p:cNvPr>
          <p:cNvSpPr txBox="1"/>
          <p:nvPr/>
        </p:nvSpPr>
        <p:spPr>
          <a:xfrm>
            <a:off x="2817284" y="3920065"/>
            <a:ext cx="6167966" cy="954107"/>
          </a:xfrm>
          <a:prstGeom prst="rect">
            <a:avLst/>
          </a:prstGeom>
          <a:noFill/>
        </p:spPr>
        <p:txBody>
          <a:bodyPr wrap="square">
            <a:spAutoFit/>
          </a:bodyPr>
          <a:lstStyle/>
          <a:p>
            <a:pPr marL="742950" lvl="1" indent="-285750">
              <a:buFont typeface="Arial" panose="020B0604020202020204" pitchFamily="34" charset="0"/>
              <a:buChar char="•"/>
            </a:pPr>
            <a:r>
              <a:rPr lang="en-US" sz="1400" b="1" dirty="0" err="1"/>
              <a:t>required_state</a:t>
            </a:r>
            <a:r>
              <a:rPr lang="en-US" sz="1400" b="1" dirty="0"/>
              <a:t>, </a:t>
            </a:r>
          </a:p>
          <a:p>
            <a:pPr marL="742950" lvl="1" indent="-285750">
              <a:buFont typeface="Arial" panose="020B0604020202020204" pitchFamily="34" charset="0"/>
              <a:buChar char="•"/>
            </a:pPr>
            <a:r>
              <a:rPr lang="en-US" sz="1400" b="1" dirty="0" err="1"/>
              <a:t>required_params</a:t>
            </a:r>
            <a:r>
              <a:rPr lang="en-US" sz="1400" b="1" dirty="0"/>
              <a:t>, </a:t>
            </a:r>
          </a:p>
          <a:p>
            <a:pPr marL="742950" lvl="1" indent="-285750">
              <a:buFont typeface="Arial" panose="020B0604020202020204" pitchFamily="34" charset="0"/>
              <a:buChar char="•"/>
            </a:pPr>
            <a:r>
              <a:rPr lang="en-US" sz="1400" b="1" dirty="0"/>
              <a:t>expected stage change, </a:t>
            </a:r>
          </a:p>
          <a:p>
            <a:pPr marL="742950" lvl="1" indent="-285750">
              <a:buFont typeface="Arial" panose="020B0604020202020204" pitchFamily="34" charset="0"/>
              <a:buChar char="•"/>
            </a:pPr>
            <a:r>
              <a:rPr lang="en-US" sz="1400" b="1" dirty="0"/>
              <a:t>evidence, risk</a:t>
            </a:r>
          </a:p>
        </p:txBody>
      </p:sp>
    </p:spTree>
    <p:extLst>
      <p:ext uri="{BB962C8B-B14F-4D97-AF65-F5344CB8AC3E}">
        <p14:creationId xmlns:p14="http://schemas.microsoft.com/office/powerpoint/2010/main" val="4228601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0" y="-180495"/>
            <a:ext cx="10515600" cy="1325563"/>
          </a:xfrm>
        </p:spPr>
        <p:txBody>
          <a:bodyPr/>
          <a:lstStyle/>
          <a:p>
            <a:pPr algn="just"/>
            <a:r>
              <a:rPr lang="en-US" dirty="0">
                <a:latin typeface="Times New Roman" panose="02020603050405020304" pitchFamily="18" charset="0"/>
                <a:cs typeface="Times New Roman" panose="02020603050405020304" pitchFamily="18" charset="0"/>
              </a:rPr>
              <a:t> Red Team Agent </a:t>
            </a:r>
            <a:r>
              <a:rPr lang="en-US" dirty="0"/>
              <a:t>– Action Selection</a:t>
            </a:r>
            <a:endParaRPr 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7C3DA3FE-4253-FE1B-EE00-F11A7DFB6363}"/>
                  </a:ext>
                </a:extLst>
              </p:cNvPr>
              <p:cNvSpPr>
                <a:spLocks noGrp="1"/>
              </p:cNvSpPr>
              <p:nvPr>
                <p:ph idx="1"/>
              </p:nvPr>
            </p:nvSpPr>
            <p:spPr>
              <a:xfrm>
                <a:off x="719667" y="1190157"/>
                <a:ext cx="10515600" cy="4851400"/>
              </a:xfrm>
            </p:spPr>
            <p:txBody>
              <a:bodyPr>
                <a:normAutofit/>
              </a:bodyPr>
              <a:lstStyle/>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Action Selection Process:</a:t>
                </a:r>
              </a:p>
              <a:p>
                <a:pPr lvl="1"/>
                <a:r>
                  <a:rPr lang="en-US" sz="1800" b="1" dirty="0"/>
                  <a:t>Technique selection:</a:t>
                </a:r>
                <a:r>
                  <a:rPr lang="en-US" sz="1800" dirty="0"/>
                  <a:t> choose from </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𝑡</m:t>
                        </m:r>
                      </m:e>
                      <m:sub>
                        <m:r>
                          <a:rPr lang="en-US" altLang="zh-TW" sz="1800" b="0" i="1" smtClean="0">
                            <a:latin typeface="Cambria Math" panose="02040503050406030204" pitchFamily="18" charset="0"/>
                          </a:rPr>
                          <m:t>𝑒</m:t>
                        </m:r>
                        <m:r>
                          <a:rPr lang="en-US" altLang="zh-TW" sz="1800" b="0" i="1" smtClean="0">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r>
                      <a:rPr lang="en-US" altLang="zh-TW" sz="1800" i="1">
                        <a:latin typeface="Cambria Math" panose="02040503050406030204" pitchFamily="18" charset="0"/>
                      </a:rPr>
                      <m:t> </m:t>
                    </m:r>
                  </m:oMath>
                </a14:m>
                <a:r>
                  <a:rPr lang="en-US" sz="1800" dirty="0"/>
                  <a:t> tactic-matched set </a:t>
                </a:r>
                <a:r>
                  <a:rPr lang="el-GR" sz="1800" dirty="0"/>
                  <a:t>​</a:t>
                </a:r>
                <a14:m>
                  <m:oMath xmlns:m="http://schemas.openxmlformats.org/officeDocument/2006/math">
                    <m:sSubSup>
                      <m:sSubSupPr>
                        <m:ctrlPr>
                          <a:rPr lang="en-US" sz="1800" i="1" dirty="0">
                            <a:solidFill>
                              <a:srgbClr val="836967"/>
                            </a:solidFill>
                            <a:latin typeface="Cambria Math" panose="02040503050406030204" pitchFamily="18" charset="0"/>
                          </a:rPr>
                        </m:ctrlPr>
                      </m:sSubSupPr>
                      <m:e>
                        <m:r>
                          <a:rPr lang="en-US" sz="1800" i="1" dirty="0">
                            <a:latin typeface="Cambria Math" panose="02040503050406030204" pitchFamily="18" charset="0"/>
                          </a:rPr>
                          <m:t>𝑘</m:t>
                        </m:r>
                      </m:e>
                      <m:sub>
                        <m:r>
                          <a:rPr lang="en-US" sz="1800" i="1" dirty="0">
                            <a:latin typeface="Cambria Math" panose="02040503050406030204" pitchFamily="18" charset="0"/>
                          </a:rPr>
                          <m:t>𝑒</m:t>
                        </m:r>
                      </m:sub>
                      <m:sup>
                        <m:r>
                          <a:rPr lang="en-US" sz="1800" i="1" dirty="0">
                            <a:latin typeface="Cambria Math" panose="02040503050406030204" pitchFamily="18" charset="0"/>
                          </a:rPr>
                          <m:t>𝑅</m:t>
                        </m:r>
                      </m:sup>
                    </m:sSubSup>
                  </m:oMath>
                </a14:m>
                <a:r>
                  <a:rPr lang="el-GR" sz="1800" dirty="0"/>
                  <a:t>. </a:t>
                </a:r>
              </a:p>
              <a:p>
                <a:pPr lvl="1"/>
                <a:r>
                  <a:rPr lang="en-US" sz="1800" b="1" dirty="0"/>
                  <a:t>Validation:</a:t>
                </a:r>
                <a:r>
                  <a:rPr lang="en-US" sz="1800" dirty="0"/>
                  <a:t> check valid(</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𝑡</m:t>
                        </m:r>
                      </m:e>
                      <m:sub>
                        <m:r>
                          <a:rPr lang="en-US" altLang="zh-TW" sz="1800" b="0" i="1" smtClean="0">
                            <a:latin typeface="Cambria Math" panose="02040503050406030204" pitchFamily="18" charset="0"/>
                          </a:rPr>
                          <m:t>𝑒</m:t>
                        </m:r>
                        <m:r>
                          <a:rPr lang="en-US" altLang="zh-TW" sz="1800" b="0" i="1" smtClean="0">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𝑂</m:t>
                        </m:r>
                      </m:e>
                      <m:sub>
                        <m:r>
                          <a:rPr lang="en-US" altLang="zh-TW" sz="1800" i="1">
                            <a:latin typeface="Cambria Math" panose="02040503050406030204" pitchFamily="18" charset="0"/>
                          </a:rPr>
                          <m:t>𝑟</m:t>
                        </m:r>
                        <m:r>
                          <a:rPr lang="en-US" altLang="zh-TW" sz="1800" i="1">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 = 1 before execution. </a:t>
                </a:r>
              </a:p>
              <a:p>
                <a:pPr lvl="1"/>
                <a:r>
                  <a:rPr lang="en-US" sz="1800" b="1" dirty="0"/>
                  <a:t>Parameter resolving:</a:t>
                </a:r>
                <a:r>
                  <a:rPr lang="en-US" sz="1800" dirty="0"/>
                  <a:t> ​assign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𝑥</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𝑗</m:t>
                        </m:r>
                      </m:sub>
                      <m:sup>
                        <m:r>
                          <a:rPr lang="en-US" altLang="zh-TW" sz="1800" i="1">
                            <a:latin typeface="Cambria Math" panose="02040503050406030204" pitchFamily="18" charset="0"/>
                          </a:rPr>
                          <m:t>𝑅</m:t>
                        </m:r>
                      </m:sup>
                    </m:sSubSup>
                  </m:oMath>
                </a14:m>
                <a:r>
                  <a:rPr lang="en-US" sz="1800" dirty="0"/>
                  <a:t> and form </a:t>
                </a:r>
                <a14:m>
                  <m:oMath xmlns:m="http://schemas.openxmlformats.org/officeDocument/2006/math">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𝑎</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r>
                      <a:rPr lang="en-US" sz="1600" b="0" i="1" smtClean="0">
                        <a:latin typeface="Cambria Math" panose="02040503050406030204" pitchFamily="18" charset="0"/>
                      </a:rPr>
                      <m:t>(</m:t>
                    </m:r>
                    <m:sSubSup>
                      <m:sSubSupPr>
                        <m:ctrlPr>
                          <a:rPr lang="en-US" altLang="zh-TW" sz="1600" i="1">
                            <a:latin typeface="Cambria Math" panose="02040503050406030204" pitchFamily="18" charset="0"/>
                          </a:rPr>
                        </m:ctrlPr>
                      </m:sSubSupPr>
                      <m:e>
                        <m:r>
                          <a:rPr lang="en-US" altLang="zh-TW" sz="1600" b="0" i="1" smtClean="0">
                            <a:latin typeface="Cambria Math" panose="02040503050406030204" pitchFamily="18" charset="0"/>
                          </a:rPr>
                          <m:t>𝑡</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sSubSup>
                      <m:sSubSupPr>
                        <m:ctrlPr>
                          <a:rPr lang="en-US" altLang="zh-TW" sz="1600" i="1" smtClean="0">
                            <a:latin typeface="Cambria Math" panose="02040503050406030204" pitchFamily="18" charset="0"/>
                          </a:rPr>
                        </m:ctrlPr>
                      </m:sSubSupPr>
                      <m:e>
                        <m:r>
                          <a:rPr lang="en-US" altLang="zh-TW" sz="1600" b="0" i="1" smtClean="0">
                            <a:latin typeface="Cambria Math" panose="02040503050406030204" pitchFamily="18" charset="0"/>
                          </a:rPr>
                          <m:t>𝑥</m:t>
                        </m:r>
                      </m:e>
                      <m:sub>
                        <m:r>
                          <a:rPr lang="en-US" altLang="zh-TW" sz="1600" b="0" i="1" smtClean="0">
                            <a:latin typeface="Cambria Math" panose="02040503050406030204" pitchFamily="18" charset="0"/>
                          </a:rPr>
                          <m:t>𝑒</m:t>
                        </m:r>
                        <m:r>
                          <a:rPr lang="en-US" altLang="zh-TW" sz="1600" b="0" i="1" smtClean="0">
                            <a:latin typeface="Cambria Math" panose="02040503050406030204" pitchFamily="18" charset="0"/>
                          </a:rPr>
                          <m:t>,</m:t>
                        </m:r>
                        <m:r>
                          <a:rPr lang="en-US" altLang="zh-TW" sz="1600" i="1">
                            <a:latin typeface="Cambria Math" panose="02040503050406030204" pitchFamily="18" charset="0"/>
                          </a:rPr>
                          <m:t>𝑗</m:t>
                        </m:r>
                      </m:sub>
                      <m:sup>
                        <m:r>
                          <a:rPr lang="en-US" altLang="zh-TW" sz="1600" i="1">
                            <a:latin typeface="Cambria Math" panose="02040503050406030204" pitchFamily="18" charset="0"/>
                          </a:rPr>
                          <m:t>𝑅</m:t>
                        </m:r>
                      </m:sup>
                    </m:sSubSup>
                    <m:r>
                      <a:rPr lang="en-US" altLang="zh-TW" sz="1600" b="0" i="1" smtClean="0">
                        <a:latin typeface="Cambria Math" panose="02040503050406030204" pitchFamily="18" charset="0"/>
                      </a:rPr>
                      <m:t>)</m:t>
                    </m:r>
                  </m:oMath>
                </a14:m>
                <a:endParaRPr lang="en-US" sz="1800" dirty="0"/>
              </a:p>
              <a:p>
                <a:pPr>
                  <a:buSzPct val="100000"/>
                </a:pPr>
                <a:r>
                  <a:rPr lang="en-US" altLang="zh-TW" sz="1800" dirty="0">
                    <a:latin typeface="Times New Roman" panose="02020603050405020304" pitchFamily="18" charset="0"/>
                    <a:ea typeface="微軟正黑體" panose="020B0604030504040204" pitchFamily="34" charset="-120"/>
                    <a:cs typeface="Times New Roman" panose="02020603050405020304" pitchFamily="18" charset="0"/>
                  </a:rPr>
                  <a:t>Goal: </a:t>
                </a:r>
                <a:r>
                  <a:rPr lang="en-US" sz="1600" dirty="0">
                    <a:ea typeface="微軟正黑體" panose="020B0604030504040204" pitchFamily="34" charset="-120"/>
                  </a:rPr>
                  <a:t>Progress through kill chain → Maximize kill chain completion and Reward</a:t>
                </a:r>
                <a:endParaRPr lang="en-US" altLang="zh-TW" sz="1600" dirty="0">
                  <a:ea typeface="微軟正黑體" panose="020B0604030504040204" pitchFamily="34" charset="-120"/>
                </a:endParaRPr>
              </a:p>
            </p:txBody>
          </p:sp>
        </mc:Choice>
        <mc:Fallback>
          <p:sp>
            <p:nvSpPr>
              <p:cNvPr id="8" name="Content Placeholder 7">
                <a:extLst>
                  <a:ext uri="{FF2B5EF4-FFF2-40B4-BE49-F238E27FC236}">
                    <a16:creationId xmlns:a16="http://schemas.microsoft.com/office/drawing/2014/main" id="{7C3DA3FE-4253-FE1B-EE00-F11A7DFB6363}"/>
                  </a:ext>
                </a:extLst>
              </p:cNvPr>
              <p:cNvSpPr>
                <a:spLocks noGrp="1" noRot="1" noChangeAspect="1" noMove="1" noResize="1" noEditPoints="1" noAdjustHandles="1" noChangeArrowheads="1" noChangeShapeType="1" noTextEdit="1"/>
              </p:cNvSpPr>
              <p:nvPr>
                <p:ph idx="1"/>
              </p:nvPr>
            </p:nvSpPr>
            <p:spPr>
              <a:xfrm>
                <a:off x="719667" y="1190157"/>
                <a:ext cx="10515600" cy="4851400"/>
              </a:xfrm>
              <a:blipFill>
                <a:blip r:embed="rId3"/>
                <a:stretch>
                  <a:fillRect l="-522" t="-1256"/>
                </a:stretch>
              </a:blipFill>
            </p:spPr>
            <p:txBody>
              <a:bodyPr/>
              <a:lstStyle/>
              <a:p>
                <a:r>
                  <a:rPr lang="en-US">
                    <a:noFill/>
                  </a:rPr>
                  <a:t> </a:t>
                </a:r>
              </a:p>
            </p:txBody>
          </p:sp>
        </mc:Fallback>
      </mc:AlternateContent>
      <p:sp>
        <p:nvSpPr>
          <p:cNvPr id="28" name="內容版面配置區 2">
            <a:extLst>
              <a:ext uri="{FF2B5EF4-FFF2-40B4-BE49-F238E27FC236}">
                <a16:creationId xmlns:a16="http://schemas.microsoft.com/office/drawing/2014/main" id="{03CDED9D-C297-830D-B3D5-581A388FD34B}"/>
              </a:ext>
            </a:extLst>
          </p:cNvPr>
          <p:cNvSpPr txBox="1">
            <a:spLocks/>
          </p:cNvSpPr>
          <p:nvPr/>
        </p:nvSpPr>
        <p:spPr>
          <a:xfrm>
            <a:off x="2415429" y="3305490"/>
            <a:ext cx="7827357" cy="2042039"/>
          </a:xfrm>
          <a:prstGeom prst="rect">
            <a:avLst/>
          </a:prstGeom>
          <a:solidFill>
            <a:schemeClr val="bg1"/>
          </a:solidFill>
          <a:ln w="19050" cap="flat" cmpd="sng" algn="ctr">
            <a:solidFill>
              <a:schemeClr val="tx1"/>
            </a:solid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None/>
            </a:pPr>
            <a:endParaRPr lang="en-US" altLang="zh-TW" sz="2000" u="sng"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29" name="文字方塊 27">
            <a:extLst>
              <a:ext uri="{FF2B5EF4-FFF2-40B4-BE49-F238E27FC236}">
                <a16:creationId xmlns:a16="http://schemas.microsoft.com/office/drawing/2014/main" id="{AC9C8891-86AE-2A21-1056-A041A85CA4BA}"/>
              </a:ext>
            </a:extLst>
          </p:cNvPr>
          <p:cNvSpPr txBox="1"/>
          <p:nvPr/>
        </p:nvSpPr>
        <p:spPr>
          <a:xfrm>
            <a:off x="5110004" y="3230699"/>
            <a:ext cx="2634171" cy="461665"/>
          </a:xfrm>
          <a:prstGeom prst="rect">
            <a:avLst/>
          </a:prstGeom>
          <a:noFill/>
        </p:spPr>
        <p:txBody>
          <a:bodyPr wrap="square" rtlCol="0">
            <a:spAutoFit/>
          </a:bodyPr>
          <a:lstStyle/>
          <a:p>
            <a:r>
              <a:rPr lang="en-US" altLang="zh-TW" sz="2400" b="1" dirty="0"/>
              <a:t> Red Team Agent </a:t>
            </a:r>
            <a:endParaRPr lang="en-US" altLang="zh-TW" sz="2200" b="1" i="1" dirty="0">
              <a:highlight>
                <a:srgbClr val="C0C0C0"/>
              </a:highlight>
              <a:latin typeface="Times New Roman" panose="02020603050405020304" pitchFamily="18" charset="0"/>
              <a:ea typeface="微軟正黑體" panose="020B0604030504040204" pitchFamily="34" charset="-120"/>
              <a:cs typeface="Times New Roman" panose="02020603050405020304" pitchFamily="18" charset="0"/>
            </a:endParaRPr>
          </a:p>
        </p:txBody>
      </p:sp>
      <p:cxnSp>
        <p:nvCxnSpPr>
          <p:cNvPr id="31" name="直線接點 29">
            <a:extLst>
              <a:ext uri="{FF2B5EF4-FFF2-40B4-BE49-F238E27FC236}">
                <a16:creationId xmlns:a16="http://schemas.microsoft.com/office/drawing/2014/main" id="{6FF16D05-A2A9-39C2-0CE2-29A1E20C9D83}"/>
              </a:ext>
            </a:extLst>
          </p:cNvPr>
          <p:cNvCxnSpPr>
            <a:cxnSpLocks/>
          </p:cNvCxnSpPr>
          <p:nvPr/>
        </p:nvCxnSpPr>
        <p:spPr>
          <a:xfrm flipH="1">
            <a:off x="10242786" y="4410162"/>
            <a:ext cx="22072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0">
            <a:extLst>
              <a:ext uri="{FF2B5EF4-FFF2-40B4-BE49-F238E27FC236}">
                <a16:creationId xmlns:a16="http://schemas.microsoft.com/office/drawing/2014/main" id="{7EFBA4D4-D1A9-481A-D296-710B132FCE7A}"/>
              </a:ext>
            </a:extLst>
          </p:cNvPr>
          <p:cNvCxnSpPr>
            <a:cxnSpLocks/>
          </p:cNvCxnSpPr>
          <p:nvPr/>
        </p:nvCxnSpPr>
        <p:spPr>
          <a:xfrm>
            <a:off x="10463508" y="4406414"/>
            <a:ext cx="1" cy="18547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文字方塊 31">
                <a:extLst>
                  <a:ext uri="{FF2B5EF4-FFF2-40B4-BE49-F238E27FC236}">
                    <a16:creationId xmlns:a16="http://schemas.microsoft.com/office/drawing/2014/main" id="{03590D67-A270-1052-C354-3C02C9A72BEB}"/>
                  </a:ext>
                </a:extLst>
              </p:cNvPr>
              <p:cNvSpPr txBox="1"/>
              <p:nvPr/>
            </p:nvSpPr>
            <p:spPr>
              <a:xfrm>
                <a:off x="9015381" y="5809370"/>
                <a:ext cx="1534085" cy="451790"/>
              </a:xfrm>
              <a:prstGeom prst="rect">
                <a:avLst/>
              </a:prstGeom>
              <a:noFill/>
            </p:spPr>
            <p:txBody>
              <a:bodyPr wrap="square" rtlCol="0">
                <a:spAutoFit/>
              </a:bodyPr>
              <a:lstStyle/>
              <a:p>
                <a:r>
                  <a:rPr lang="en-US" altLang="zh-TW" sz="2000" dirty="0"/>
                  <a:t>Action</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 </m:t>
                        </m:r>
                        <m:r>
                          <a:rPr lang="en-US" altLang="zh-TW" sz="2000" i="1">
                            <a:latin typeface="Cambria Math" panose="02040503050406030204" pitchFamily="18" charset="0"/>
                          </a:rPr>
                          <m:t>𝑎</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𝑗</m:t>
                        </m:r>
                      </m:sub>
                      <m:sup>
                        <m:r>
                          <a:rPr lang="en-US" altLang="zh-TW" sz="2000" i="1">
                            <a:latin typeface="Cambria Math" panose="02040503050406030204" pitchFamily="18" charset="0"/>
                          </a:rPr>
                          <m:t>𝑅</m:t>
                        </m:r>
                      </m:sup>
                    </m:sSubSup>
                  </m:oMath>
                </a14:m>
                <a:endParaRPr lang="en-US" altLang="zh-TW" sz="2000" dirty="0"/>
              </a:p>
            </p:txBody>
          </p:sp>
        </mc:Choice>
        <mc:Fallback>
          <p:sp>
            <p:nvSpPr>
              <p:cNvPr id="33" name="文字方塊 31">
                <a:extLst>
                  <a:ext uri="{FF2B5EF4-FFF2-40B4-BE49-F238E27FC236}">
                    <a16:creationId xmlns:a16="http://schemas.microsoft.com/office/drawing/2014/main" id="{03590D67-A270-1052-C354-3C02C9A72BEB}"/>
                  </a:ext>
                </a:extLst>
              </p:cNvPr>
              <p:cNvSpPr txBox="1">
                <a:spLocks noRot="1" noChangeAspect="1" noMove="1" noResize="1" noEditPoints="1" noAdjustHandles="1" noChangeArrowheads="1" noChangeShapeType="1" noTextEdit="1"/>
              </p:cNvSpPr>
              <p:nvPr/>
            </p:nvSpPr>
            <p:spPr>
              <a:xfrm>
                <a:off x="9015381" y="5809370"/>
                <a:ext cx="1534085" cy="451790"/>
              </a:xfrm>
              <a:prstGeom prst="rect">
                <a:avLst/>
              </a:prstGeom>
              <a:blipFill>
                <a:blip r:embed="rId4"/>
                <a:stretch>
                  <a:fillRect l="-4365" t="-5405" b="-14865"/>
                </a:stretch>
              </a:blipFill>
            </p:spPr>
            <p:txBody>
              <a:bodyPr/>
              <a:lstStyle/>
              <a:p>
                <a:r>
                  <a:rPr lang="en-US">
                    <a:noFill/>
                  </a:rPr>
                  <a:t> </a:t>
                </a:r>
              </a:p>
            </p:txBody>
          </p:sp>
        </mc:Fallback>
      </mc:AlternateContent>
      <p:sp>
        <p:nvSpPr>
          <p:cNvPr id="34" name="矩形 32">
            <a:extLst>
              <a:ext uri="{FF2B5EF4-FFF2-40B4-BE49-F238E27FC236}">
                <a16:creationId xmlns:a16="http://schemas.microsoft.com/office/drawing/2014/main" id="{977400F1-745C-4AD7-7370-6F63E0B20248}"/>
              </a:ext>
            </a:extLst>
          </p:cNvPr>
          <p:cNvSpPr/>
          <p:nvPr/>
        </p:nvSpPr>
        <p:spPr>
          <a:xfrm>
            <a:off x="4986371" y="5895162"/>
            <a:ext cx="3016672" cy="71187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dirty="0">
              <a:solidFill>
                <a:schemeClr val="tx1"/>
              </a:solidFill>
            </a:endParaRPr>
          </a:p>
        </p:txBody>
      </p:sp>
      <p:cxnSp>
        <p:nvCxnSpPr>
          <p:cNvPr id="35" name="直線單箭頭接點 33">
            <a:extLst>
              <a:ext uri="{FF2B5EF4-FFF2-40B4-BE49-F238E27FC236}">
                <a16:creationId xmlns:a16="http://schemas.microsoft.com/office/drawing/2014/main" id="{D6E2FE8B-0B48-3E5E-128B-7C0613854724}"/>
              </a:ext>
            </a:extLst>
          </p:cNvPr>
          <p:cNvCxnSpPr/>
          <p:nvPr/>
        </p:nvCxnSpPr>
        <p:spPr>
          <a:xfrm flipH="1">
            <a:off x="3399307" y="6125022"/>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文字方塊 34">
                <a:extLst>
                  <a:ext uri="{FF2B5EF4-FFF2-40B4-BE49-F238E27FC236}">
                    <a16:creationId xmlns:a16="http://schemas.microsoft.com/office/drawing/2014/main" id="{D3E353B4-56DA-39B6-3ED3-509BDB51C684}"/>
                  </a:ext>
                </a:extLst>
              </p:cNvPr>
              <p:cNvSpPr txBox="1"/>
              <p:nvPr/>
            </p:nvSpPr>
            <p:spPr>
              <a:xfrm>
                <a:off x="3887224" y="5699690"/>
                <a:ext cx="862497" cy="4517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𝑗</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𝑅</m:t>
                          </m:r>
                        </m:sup>
                      </m:sSubSup>
                    </m:oMath>
                  </m:oMathPara>
                </a14:m>
                <a:endParaRPr lang="en-US" altLang="zh-TW" sz="2000" dirty="0"/>
              </a:p>
            </p:txBody>
          </p:sp>
        </mc:Choice>
        <mc:Fallback>
          <p:sp>
            <p:nvSpPr>
              <p:cNvPr id="36" name="文字方塊 34">
                <a:extLst>
                  <a:ext uri="{FF2B5EF4-FFF2-40B4-BE49-F238E27FC236}">
                    <a16:creationId xmlns:a16="http://schemas.microsoft.com/office/drawing/2014/main" id="{D3E353B4-56DA-39B6-3ED3-509BDB51C684}"/>
                  </a:ext>
                </a:extLst>
              </p:cNvPr>
              <p:cNvSpPr txBox="1">
                <a:spLocks noRot="1" noChangeAspect="1" noMove="1" noResize="1" noEditPoints="1" noAdjustHandles="1" noChangeArrowheads="1" noChangeShapeType="1" noTextEdit="1"/>
              </p:cNvSpPr>
              <p:nvPr/>
            </p:nvSpPr>
            <p:spPr>
              <a:xfrm>
                <a:off x="3887224" y="5699690"/>
                <a:ext cx="862497" cy="451790"/>
              </a:xfrm>
              <a:prstGeom prst="rect">
                <a:avLst/>
              </a:prstGeom>
              <a:blipFill>
                <a:blip r:embed="rId5"/>
                <a:stretch>
                  <a:fillRect b="-8108"/>
                </a:stretch>
              </a:blipFill>
            </p:spPr>
            <p:txBody>
              <a:bodyPr/>
              <a:lstStyle/>
              <a:p>
                <a:r>
                  <a:rPr lang="en-US">
                    <a:noFill/>
                  </a:rPr>
                  <a:t> </a:t>
                </a:r>
              </a:p>
            </p:txBody>
          </p:sp>
        </mc:Fallback>
      </mc:AlternateContent>
      <p:sp>
        <p:nvSpPr>
          <p:cNvPr id="37" name="文字方塊 35">
            <a:extLst>
              <a:ext uri="{FF2B5EF4-FFF2-40B4-BE49-F238E27FC236}">
                <a16:creationId xmlns:a16="http://schemas.microsoft.com/office/drawing/2014/main" id="{0392AE30-3778-A644-A8B0-B15D1577A03E}"/>
              </a:ext>
            </a:extLst>
          </p:cNvPr>
          <p:cNvSpPr txBox="1"/>
          <p:nvPr/>
        </p:nvSpPr>
        <p:spPr>
          <a:xfrm>
            <a:off x="5510221" y="5985339"/>
            <a:ext cx="2029325" cy="461665"/>
          </a:xfrm>
          <a:prstGeom prst="rect">
            <a:avLst/>
          </a:prstGeom>
          <a:noFill/>
        </p:spPr>
        <p:txBody>
          <a:bodyPr wrap="square" rtlCol="0">
            <a:spAutoFit/>
          </a:bodyPr>
          <a:lstStyle/>
          <a:p>
            <a:r>
              <a:rPr lang="en-US" altLang="zh-TW" sz="2400" dirty="0"/>
              <a:t>Cyber Range</a:t>
            </a:r>
            <a:endParaRPr lang="zh-TW" altLang="en-US" sz="2400" dirty="0"/>
          </a:p>
        </p:txBody>
      </p:sp>
      <p:cxnSp>
        <p:nvCxnSpPr>
          <p:cNvPr id="38" name="直線單箭頭接點 36">
            <a:extLst>
              <a:ext uri="{FF2B5EF4-FFF2-40B4-BE49-F238E27FC236}">
                <a16:creationId xmlns:a16="http://schemas.microsoft.com/office/drawing/2014/main" id="{A6D96991-D21E-CF77-20D3-D332B47EDB7C}"/>
              </a:ext>
            </a:extLst>
          </p:cNvPr>
          <p:cNvCxnSpPr/>
          <p:nvPr/>
        </p:nvCxnSpPr>
        <p:spPr>
          <a:xfrm flipH="1">
            <a:off x="3390064" y="6417779"/>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字方塊 37">
                <a:extLst>
                  <a:ext uri="{FF2B5EF4-FFF2-40B4-BE49-F238E27FC236}">
                    <a16:creationId xmlns:a16="http://schemas.microsoft.com/office/drawing/2014/main" id="{20D8AF00-BCC3-7424-9999-D91EDFD7AD0D}"/>
                  </a:ext>
                </a:extLst>
              </p:cNvPr>
              <p:cNvSpPr txBox="1"/>
              <p:nvPr/>
            </p:nvSpPr>
            <p:spPr>
              <a:xfrm>
                <a:off x="3913914" y="6406210"/>
                <a:ext cx="666347" cy="45179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𝑗</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𝑅</m:t>
                          </m:r>
                        </m:sup>
                      </m:sSubSup>
                    </m:oMath>
                  </m:oMathPara>
                </a14:m>
                <a:endParaRPr lang="en-US" altLang="zh-TW" sz="2000" dirty="0"/>
              </a:p>
            </p:txBody>
          </p:sp>
        </mc:Choice>
        <mc:Fallback>
          <p:sp>
            <p:nvSpPr>
              <p:cNvPr id="39" name="文字方塊 37">
                <a:extLst>
                  <a:ext uri="{FF2B5EF4-FFF2-40B4-BE49-F238E27FC236}">
                    <a16:creationId xmlns:a16="http://schemas.microsoft.com/office/drawing/2014/main" id="{20D8AF00-BCC3-7424-9999-D91EDFD7AD0D}"/>
                  </a:ext>
                </a:extLst>
              </p:cNvPr>
              <p:cNvSpPr txBox="1">
                <a:spLocks noRot="1" noChangeAspect="1" noMove="1" noResize="1" noEditPoints="1" noAdjustHandles="1" noChangeArrowheads="1" noChangeShapeType="1" noTextEdit="1"/>
              </p:cNvSpPr>
              <p:nvPr/>
            </p:nvSpPr>
            <p:spPr>
              <a:xfrm>
                <a:off x="3913914" y="6406210"/>
                <a:ext cx="666347" cy="451790"/>
              </a:xfrm>
              <a:prstGeom prst="rect">
                <a:avLst/>
              </a:prstGeom>
              <a:blipFill>
                <a:blip r:embed="rId6"/>
                <a:stretch>
                  <a:fillRect r="-20183" b="-8108"/>
                </a:stretch>
              </a:blipFill>
            </p:spPr>
            <p:txBody>
              <a:bodyPr/>
              <a:lstStyle/>
              <a:p>
                <a:r>
                  <a:rPr lang="en-US">
                    <a:noFill/>
                  </a:rPr>
                  <a:t> </a:t>
                </a:r>
              </a:p>
            </p:txBody>
          </p:sp>
        </mc:Fallback>
      </mc:AlternateContent>
      <p:cxnSp>
        <p:nvCxnSpPr>
          <p:cNvPr id="40" name="直線接點 38">
            <a:extLst>
              <a:ext uri="{FF2B5EF4-FFF2-40B4-BE49-F238E27FC236}">
                <a16:creationId xmlns:a16="http://schemas.microsoft.com/office/drawing/2014/main" id="{A0969CB2-8500-426A-C31F-E71AFD9C75FA}"/>
              </a:ext>
            </a:extLst>
          </p:cNvPr>
          <p:cNvCxnSpPr>
            <a:cxnSpLocks/>
          </p:cNvCxnSpPr>
          <p:nvPr/>
        </p:nvCxnSpPr>
        <p:spPr>
          <a:xfrm flipH="1">
            <a:off x="1397586" y="6129223"/>
            <a:ext cx="20140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文字方塊 39">
                <a:extLst>
                  <a:ext uri="{FF2B5EF4-FFF2-40B4-BE49-F238E27FC236}">
                    <a16:creationId xmlns:a16="http://schemas.microsoft.com/office/drawing/2014/main" id="{11D1F68C-C5BE-5DF6-E722-9B940F2349CD}"/>
                  </a:ext>
                </a:extLst>
              </p:cNvPr>
              <p:cNvSpPr txBox="1"/>
              <p:nvPr/>
            </p:nvSpPr>
            <p:spPr>
              <a:xfrm>
                <a:off x="1448476" y="5083287"/>
                <a:ext cx="903889" cy="759567"/>
              </a:xfrm>
              <a:prstGeom prst="rect">
                <a:avLst/>
              </a:prstGeom>
              <a:noFill/>
            </p:spPr>
            <p:txBody>
              <a:bodyPr wrap="square" rtlCol="0">
                <a:spAutoFit/>
              </a:bodyPr>
              <a:lstStyle/>
              <a:p>
                <a:pPr algn="ctr"/>
                <a:r>
                  <a:rPr lang="en-US" altLang="zh-TW" sz="2000" dirty="0"/>
                  <a:t>reward</a:t>
                </a:r>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𝑗</m:t>
                          </m:r>
                        </m:sub>
                        <m:sup>
                          <m:r>
                            <a:rPr lang="en-US" altLang="zh-TW" sz="2000" i="1">
                              <a:latin typeface="Cambria Math" panose="02040503050406030204" pitchFamily="18" charset="0"/>
                            </a:rPr>
                            <m:t>𝑅</m:t>
                          </m:r>
                        </m:sup>
                      </m:sSubSup>
                    </m:oMath>
                  </m:oMathPara>
                </a14:m>
                <a:endParaRPr lang="en-US" altLang="zh-TW" sz="2000" dirty="0"/>
              </a:p>
            </p:txBody>
          </p:sp>
        </mc:Choice>
        <mc:Fallback>
          <p:sp>
            <p:nvSpPr>
              <p:cNvPr id="41" name="文字方塊 39">
                <a:extLst>
                  <a:ext uri="{FF2B5EF4-FFF2-40B4-BE49-F238E27FC236}">
                    <a16:creationId xmlns:a16="http://schemas.microsoft.com/office/drawing/2014/main" id="{11D1F68C-C5BE-5DF6-E722-9B940F2349CD}"/>
                  </a:ext>
                </a:extLst>
              </p:cNvPr>
              <p:cNvSpPr txBox="1">
                <a:spLocks noRot="1" noChangeAspect="1" noMove="1" noResize="1" noEditPoints="1" noAdjustHandles="1" noChangeArrowheads="1" noChangeShapeType="1" noTextEdit="1"/>
              </p:cNvSpPr>
              <p:nvPr/>
            </p:nvSpPr>
            <p:spPr>
              <a:xfrm>
                <a:off x="1448476" y="5083287"/>
                <a:ext cx="903889" cy="759567"/>
              </a:xfrm>
              <a:prstGeom prst="rect">
                <a:avLst/>
              </a:prstGeom>
              <a:blipFill>
                <a:blip r:embed="rId7"/>
                <a:stretch>
                  <a:fillRect l="-7432" t="-4839" r="-6081" b="-4839"/>
                </a:stretch>
              </a:blipFill>
            </p:spPr>
            <p:txBody>
              <a:bodyPr/>
              <a:lstStyle/>
              <a:p>
                <a:r>
                  <a:rPr lang="en-US">
                    <a:noFill/>
                  </a:rPr>
                  <a:t> </a:t>
                </a:r>
              </a:p>
            </p:txBody>
          </p:sp>
        </mc:Fallback>
      </mc:AlternateContent>
      <p:cxnSp>
        <p:nvCxnSpPr>
          <p:cNvPr id="42" name="直線接點 40">
            <a:extLst>
              <a:ext uri="{FF2B5EF4-FFF2-40B4-BE49-F238E27FC236}">
                <a16:creationId xmlns:a16="http://schemas.microsoft.com/office/drawing/2014/main" id="{0476BBD7-1BE4-CFBB-A272-9BB4AC541859}"/>
              </a:ext>
            </a:extLst>
          </p:cNvPr>
          <p:cNvCxnSpPr>
            <a:cxnSpLocks/>
          </p:cNvCxnSpPr>
          <p:nvPr/>
        </p:nvCxnSpPr>
        <p:spPr>
          <a:xfrm flipH="1" flipV="1">
            <a:off x="1397586" y="4705255"/>
            <a:ext cx="1" cy="1419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單箭頭接點 41">
            <a:extLst>
              <a:ext uri="{FF2B5EF4-FFF2-40B4-BE49-F238E27FC236}">
                <a16:creationId xmlns:a16="http://schemas.microsoft.com/office/drawing/2014/main" id="{8AADD4AB-9E9C-2A41-72A6-5E87098EC26E}"/>
              </a:ext>
            </a:extLst>
          </p:cNvPr>
          <p:cNvCxnSpPr>
            <a:cxnSpLocks/>
          </p:cNvCxnSpPr>
          <p:nvPr/>
        </p:nvCxnSpPr>
        <p:spPr>
          <a:xfrm>
            <a:off x="1397586" y="4705255"/>
            <a:ext cx="10178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D820630-368D-CD4A-F985-4FD9F28FE6E2}"/>
              </a:ext>
            </a:extLst>
          </p:cNvPr>
          <p:cNvCxnSpPr>
            <a:cxnSpLocks/>
          </p:cNvCxnSpPr>
          <p:nvPr/>
        </p:nvCxnSpPr>
        <p:spPr>
          <a:xfrm flipH="1">
            <a:off x="1176867" y="6417779"/>
            <a:ext cx="2245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15B57701-0E47-9F50-32A1-5627D7D02B69}"/>
              </a:ext>
            </a:extLst>
          </p:cNvPr>
          <p:cNvCxnSpPr>
            <a:cxnSpLocks/>
          </p:cNvCxnSpPr>
          <p:nvPr/>
        </p:nvCxnSpPr>
        <p:spPr>
          <a:xfrm flipV="1">
            <a:off x="1176867" y="4184993"/>
            <a:ext cx="0" cy="22327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1A45EF70-D2EB-3522-82FC-231C3302C9C8}"/>
              </a:ext>
            </a:extLst>
          </p:cNvPr>
          <p:cNvCxnSpPr>
            <a:cxnSpLocks/>
          </p:cNvCxnSpPr>
          <p:nvPr/>
        </p:nvCxnSpPr>
        <p:spPr>
          <a:xfrm>
            <a:off x="1176867" y="4184993"/>
            <a:ext cx="123856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文字方塊 46">
                <a:extLst>
                  <a:ext uri="{FF2B5EF4-FFF2-40B4-BE49-F238E27FC236}">
                    <a16:creationId xmlns:a16="http://schemas.microsoft.com/office/drawing/2014/main" id="{B14A5E09-F3B1-937F-3FC5-B1CFA28F90EE}"/>
                  </a:ext>
                </a:extLst>
              </p:cNvPr>
              <p:cNvSpPr txBox="1"/>
              <p:nvPr/>
            </p:nvSpPr>
            <p:spPr>
              <a:xfrm>
                <a:off x="403036" y="4560582"/>
                <a:ext cx="806958" cy="786947"/>
              </a:xfrm>
              <a:prstGeom prst="rect">
                <a:avLst/>
              </a:prstGeom>
              <a:noFill/>
            </p:spPr>
            <p:txBody>
              <a:bodyPr wrap="square" rtlCol="0">
                <a:spAutoFit/>
              </a:bodyPr>
              <a:lstStyle/>
              <a:p>
                <a:pPr algn="ctr"/>
                <a:endParaRPr lang="en-US" altLang="zh-TW" sz="2000" dirty="0"/>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𝑗</m:t>
                          </m:r>
                        </m:sub>
                        <m:sup>
                          <m:r>
                            <a:rPr lang="en-US" altLang="zh-TW" sz="2000" i="1">
                              <a:latin typeface="Cambria Math" panose="02040503050406030204" pitchFamily="18" charset="0"/>
                            </a:rPr>
                            <m:t>𝑅</m:t>
                          </m:r>
                        </m:sup>
                      </m:sSubSup>
                    </m:oMath>
                  </m:oMathPara>
                </a14:m>
                <a:endParaRPr lang="en-US" altLang="zh-TW" sz="2000" dirty="0"/>
              </a:p>
            </p:txBody>
          </p:sp>
        </mc:Choice>
        <mc:Fallback>
          <p:sp>
            <p:nvSpPr>
              <p:cNvPr id="47" name="文字方塊 46">
                <a:extLst>
                  <a:ext uri="{FF2B5EF4-FFF2-40B4-BE49-F238E27FC236}">
                    <a16:creationId xmlns:a16="http://schemas.microsoft.com/office/drawing/2014/main" id="{B14A5E09-F3B1-937F-3FC5-B1CFA28F90EE}"/>
                  </a:ext>
                </a:extLst>
              </p:cNvPr>
              <p:cNvSpPr txBox="1">
                <a:spLocks noRot="1" noChangeAspect="1" noMove="1" noResize="1" noEditPoints="1" noAdjustHandles="1" noChangeArrowheads="1" noChangeShapeType="1" noTextEdit="1"/>
              </p:cNvSpPr>
              <p:nvPr/>
            </p:nvSpPr>
            <p:spPr>
              <a:xfrm>
                <a:off x="403036" y="4560582"/>
                <a:ext cx="806958" cy="786947"/>
              </a:xfrm>
              <a:prstGeom prst="rect">
                <a:avLst/>
              </a:prstGeom>
              <a:blipFill>
                <a:blip r:embed="rId8"/>
                <a:stretch>
                  <a:fillRect b="-1550"/>
                </a:stretch>
              </a:blipFill>
            </p:spPr>
            <p:txBody>
              <a:bodyPr/>
              <a:lstStyle/>
              <a:p>
                <a:r>
                  <a:rPr lang="en-US">
                    <a:noFill/>
                  </a:rPr>
                  <a:t> </a:t>
                </a:r>
              </a:p>
            </p:txBody>
          </p:sp>
        </mc:Fallback>
      </mc:AlternateContent>
      <p:cxnSp>
        <p:nvCxnSpPr>
          <p:cNvPr id="48" name="直線單箭頭接點 47">
            <a:extLst>
              <a:ext uri="{FF2B5EF4-FFF2-40B4-BE49-F238E27FC236}">
                <a16:creationId xmlns:a16="http://schemas.microsoft.com/office/drawing/2014/main" id="{1EDA4B3C-050A-25F2-9AB8-ACF8A09D17B9}"/>
              </a:ext>
            </a:extLst>
          </p:cNvPr>
          <p:cNvCxnSpPr>
            <a:cxnSpLocks/>
          </p:cNvCxnSpPr>
          <p:nvPr/>
        </p:nvCxnSpPr>
        <p:spPr>
          <a:xfrm flipH="1" flipV="1">
            <a:off x="8003045" y="6251097"/>
            <a:ext cx="2460463" cy="10063"/>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3">
            <a:extLst>
              <a:ext uri="{FF2B5EF4-FFF2-40B4-BE49-F238E27FC236}">
                <a16:creationId xmlns:a16="http://schemas.microsoft.com/office/drawing/2014/main" id="{D1B703BF-4F54-342A-1B57-EEC663C3DF6F}"/>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18</a:t>
            </a:fld>
            <a:endParaRPr lang="en-US" dirty="0"/>
          </a:p>
        </p:txBody>
      </p:sp>
      <p:sp>
        <p:nvSpPr>
          <p:cNvPr id="3" name="Rectangle: Rounded Corners 2">
            <a:extLst>
              <a:ext uri="{FF2B5EF4-FFF2-40B4-BE49-F238E27FC236}">
                <a16:creationId xmlns:a16="http://schemas.microsoft.com/office/drawing/2014/main" id="{61EAF224-E384-42B2-806C-D58880A5671E}"/>
              </a:ext>
            </a:extLst>
          </p:cNvPr>
          <p:cNvSpPr/>
          <p:nvPr/>
        </p:nvSpPr>
        <p:spPr>
          <a:xfrm>
            <a:off x="2583994" y="3471101"/>
            <a:ext cx="1508169" cy="89693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Technique Selector</a:t>
            </a:r>
          </a:p>
          <a:p>
            <a:pPr algn="ctr"/>
            <a:r>
              <a:rPr lang="en-US" dirty="0">
                <a:solidFill>
                  <a:schemeClr val="tx1"/>
                </a:solidFill>
              </a:rPr>
              <a:t>(RL/DDQN) </a:t>
            </a:r>
          </a:p>
        </p:txBody>
      </p:sp>
      <p:sp>
        <p:nvSpPr>
          <p:cNvPr id="27" name="Rectangle: Rounded Corners 26">
            <a:extLst>
              <a:ext uri="{FF2B5EF4-FFF2-40B4-BE49-F238E27FC236}">
                <a16:creationId xmlns:a16="http://schemas.microsoft.com/office/drawing/2014/main" id="{36948210-E8E5-4E71-9908-32C17EDA4147}"/>
              </a:ext>
            </a:extLst>
          </p:cNvPr>
          <p:cNvSpPr/>
          <p:nvPr/>
        </p:nvSpPr>
        <p:spPr>
          <a:xfrm>
            <a:off x="4812784" y="3833270"/>
            <a:ext cx="2747187" cy="38327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Validator</a:t>
            </a:r>
          </a:p>
        </p:txBody>
      </p:sp>
      <p:sp>
        <p:nvSpPr>
          <p:cNvPr id="30" name="Rectangle: Rounded Corners 29">
            <a:extLst>
              <a:ext uri="{FF2B5EF4-FFF2-40B4-BE49-F238E27FC236}">
                <a16:creationId xmlns:a16="http://schemas.microsoft.com/office/drawing/2014/main" id="{5A3D3E20-8251-4422-88FA-4663782A9B5F}"/>
              </a:ext>
            </a:extLst>
          </p:cNvPr>
          <p:cNvSpPr/>
          <p:nvPr/>
        </p:nvSpPr>
        <p:spPr>
          <a:xfrm>
            <a:off x="8294365" y="3596299"/>
            <a:ext cx="1618953" cy="89693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Parameter Selector</a:t>
            </a:r>
          </a:p>
          <a:p>
            <a:pPr algn="ctr"/>
            <a:r>
              <a:rPr lang="en-US" dirty="0">
                <a:solidFill>
                  <a:schemeClr val="tx1"/>
                </a:solidFill>
              </a:rPr>
              <a:t>(RL/DDQN)</a:t>
            </a:r>
          </a:p>
        </p:txBody>
      </p:sp>
      <p:sp>
        <p:nvSpPr>
          <p:cNvPr id="10" name="Flowchart: Magnetic Disk 9">
            <a:extLst>
              <a:ext uri="{FF2B5EF4-FFF2-40B4-BE49-F238E27FC236}">
                <a16:creationId xmlns:a16="http://schemas.microsoft.com/office/drawing/2014/main" id="{CEDA0065-B70E-4976-A62A-8522F11A0E75}"/>
              </a:ext>
            </a:extLst>
          </p:cNvPr>
          <p:cNvSpPr/>
          <p:nvPr/>
        </p:nvSpPr>
        <p:spPr>
          <a:xfrm>
            <a:off x="5487958" y="4585777"/>
            <a:ext cx="1113801" cy="680285"/>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Technique Schema</a:t>
            </a:r>
          </a:p>
        </p:txBody>
      </p:sp>
      <p:cxnSp>
        <p:nvCxnSpPr>
          <p:cNvPr id="12" name="Straight Arrow Connector 11">
            <a:extLst>
              <a:ext uri="{FF2B5EF4-FFF2-40B4-BE49-F238E27FC236}">
                <a16:creationId xmlns:a16="http://schemas.microsoft.com/office/drawing/2014/main" id="{E1C5EDE9-EF14-4483-946A-FD301AC99C76}"/>
              </a:ext>
            </a:extLst>
          </p:cNvPr>
          <p:cNvCxnSpPr>
            <a:cxnSpLocks/>
            <a:endCxn id="27" idx="1"/>
          </p:cNvCxnSpPr>
          <p:nvPr/>
        </p:nvCxnSpPr>
        <p:spPr>
          <a:xfrm>
            <a:off x="4108432" y="4024906"/>
            <a:ext cx="7043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a:extLst>
              <a:ext uri="{FF2B5EF4-FFF2-40B4-BE49-F238E27FC236}">
                <a16:creationId xmlns:a16="http://schemas.microsoft.com/office/drawing/2014/main" id="{EDE528BD-88D8-4560-AEE6-4D79C1EA745B}"/>
              </a:ext>
            </a:extLst>
          </p:cNvPr>
          <p:cNvCxnSpPr>
            <a:cxnSpLocks/>
          </p:cNvCxnSpPr>
          <p:nvPr/>
        </p:nvCxnSpPr>
        <p:spPr>
          <a:xfrm>
            <a:off x="7572350" y="4024906"/>
            <a:ext cx="75797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9A49D18C-A1F0-4B5F-A7D7-19BDDAB760E9}"/>
              </a:ext>
            </a:extLst>
          </p:cNvPr>
          <p:cNvCxnSpPr>
            <a:cxnSpLocks/>
          </p:cNvCxnSpPr>
          <p:nvPr/>
        </p:nvCxnSpPr>
        <p:spPr>
          <a:xfrm>
            <a:off x="6002866" y="4210188"/>
            <a:ext cx="0" cy="375589"/>
          </a:xfrm>
          <a:prstGeom prst="straightConnector1">
            <a:avLst/>
          </a:prstGeom>
          <a:ln>
            <a:prstDash val="sysDot"/>
            <a:headEnd type="triangle" w="med" len="med"/>
            <a:tailEnd type="none" w="med" len="med"/>
          </a:ln>
        </p:spPr>
        <p:style>
          <a:lnRef idx="3">
            <a:schemeClr val="dk1"/>
          </a:lnRef>
          <a:fillRef idx="0">
            <a:schemeClr val="dk1"/>
          </a:fillRef>
          <a:effectRef idx="2">
            <a:schemeClr val="dk1"/>
          </a:effectRef>
          <a:fontRef idx="minor">
            <a:schemeClr val="tx1"/>
          </a:fontRef>
        </p:style>
      </p:cxnSp>
      <p:sp>
        <p:nvSpPr>
          <p:cNvPr id="52" name="Flowchart: Magnetic Disk 51">
            <a:extLst>
              <a:ext uri="{FF2B5EF4-FFF2-40B4-BE49-F238E27FC236}">
                <a16:creationId xmlns:a16="http://schemas.microsoft.com/office/drawing/2014/main" id="{502BD77B-4EE4-4409-BB4E-C017F73400D2}"/>
              </a:ext>
            </a:extLst>
          </p:cNvPr>
          <p:cNvSpPr/>
          <p:nvPr/>
        </p:nvSpPr>
        <p:spPr>
          <a:xfrm>
            <a:off x="2797446" y="4705255"/>
            <a:ext cx="961947" cy="588942"/>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Red Action Space</a:t>
            </a:r>
          </a:p>
        </p:txBody>
      </p:sp>
      <p:cxnSp>
        <p:nvCxnSpPr>
          <p:cNvPr id="53" name="Straight Arrow Connector 52">
            <a:extLst>
              <a:ext uri="{FF2B5EF4-FFF2-40B4-BE49-F238E27FC236}">
                <a16:creationId xmlns:a16="http://schemas.microsoft.com/office/drawing/2014/main" id="{560E76CB-8B3F-449A-A776-9073B3C6D010}"/>
              </a:ext>
            </a:extLst>
          </p:cNvPr>
          <p:cNvCxnSpPr>
            <a:cxnSpLocks/>
          </p:cNvCxnSpPr>
          <p:nvPr/>
        </p:nvCxnSpPr>
        <p:spPr>
          <a:xfrm flipV="1">
            <a:off x="3233674" y="4406414"/>
            <a:ext cx="0" cy="290374"/>
          </a:xfrm>
          <a:prstGeom prst="straightConnector1">
            <a:avLst/>
          </a:prstGeom>
          <a:ln>
            <a:prstDash val="sysDot"/>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527380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3ED3-8B47-F2C5-FE41-DFBD46E633C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BCEDE839-49AE-BBB9-F32D-210F90F2BC4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19</a:t>
            </a:fld>
            <a:endParaRPr lang="en-US" dirty="0"/>
          </a:p>
        </p:txBody>
      </p:sp>
      <p:pic>
        <p:nvPicPr>
          <p:cNvPr id="3" name="Picture 2">
            <a:extLst>
              <a:ext uri="{FF2B5EF4-FFF2-40B4-BE49-F238E27FC236}">
                <a16:creationId xmlns:a16="http://schemas.microsoft.com/office/drawing/2014/main" id="{D59E57A1-0A3A-4F42-A5FE-C6F6C39755DD}"/>
              </a:ext>
            </a:extLst>
          </p:cNvPr>
          <p:cNvPicPr>
            <a:picLocks noChangeAspect="1"/>
          </p:cNvPicPr>
          <p:nvPr/>
        </p:nvPicPr>
        <p:blipFill>
          <a:blip r:embed="rId3"/>
          <a:stretch>
            <a:fillRect/>
          </a:stretch>
        </p:blipFill>
        <p:spPr>
          <a:xfrm>
            <a:off x="121605" y="1401764"/>
            <a:ext cx="10614128" cy="5151436"/>
          </a:xfrm>
          <a:prstGeom prst="rect">
            <a:avLst/>
          </a:prstGeom>
        </p:spPr>
      </p:pic>
      <p:sp>
        <p:nvSpPr>
          <p:cNvPr id="7" name="Title 1">
            <a:extLst>
              <a:ext uri="{FF2B5EF4-FFF2-40B4-BE49-F238E27FC236}">
                <a16:creationId xmlns:a16="http://schemas.microsoft.com/office/drawing/2014/main" id="{6DF40C9F-3A21-47F1-864B-203BE3D809E9}"/>
              </a:ext>
            </a:extLst>
          </p:cNvPr>
          <p:cNvSpPr>
            <a:spLocks noGrp="1"/>
          </p:cNvSpPr>
          <p:nvPr>
            <p:ph type="title"/>
          </p:nvPr>
        </p:nvSpPr>
        <p:spPr>
          <a:xfrm>
            <a:off x="0" y="-180495"/>
            <a:ext cx="10515600" cy="1325563"/>
          </a:xfrm>
        </p:spPr>
        <p:txBody>
          <a:bodyPr/>
          <a:lstStyle/>
          <a:p>
            <a:pPr algn="just"/>
            <a:r>
              <a:rPr lang="en-US" dirty="0">
                <a:latin typeface="Times New Roman" panose="02020603050405020304" pitchFamily="18" charset="0"/>
                <a:cs typeface="Times New Roman" panose="02020603050405020304" pitchFamily="18" charset="0"/>
              </a:rPr>
              <a:t> Red Team Agent </a:t>
            </a:r>
            <a:r>
              <a:rPr lang="en-US" dirty="0"/>
              <a:t>– Algorithm updates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306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13ED3-8B47-F2C5-FE41-DFBD46E633C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BCEDE839-49AE-BBB9-F32D-210F90F2BC42}"/>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20</a:t>
            </a:fld>
            <a:endParaRPr lang="en-US" dirty="0"/>
          </a:p>
        </p:txBody>
      </p:sp>
      <p:sp>
        <p:nvSpPr>
          <p:cNvPr id="5" name="Title 1">
            <a:extLst>
              <a:ext uri="{FF2B5EF4-FFF2-40B4-BE49-F238E27FC236}">
                <a16:creationId xmlns:a16="http://schemas.microsoft.com/office/drawing/2014/main" id="{B8C78DAF-EC12-D30D-F061-4F278E1137B7}"/>
              </a:ext>
            </a:extLst>
          </p:cNvPr>
          <p:cNvSpPr txBox="1">
            <a:spLocks/>
          </p:cNvSpPr>
          <p:nvPr/>
        </p:nvSpPr>
        <p:spPr>
          <a:xfrm>
            <a:off x="152399" y="-19473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dirty="0"/>
              <a:t>Blue Team Agent : Action Space </a:t>
            </a:r>
          </a:p>
        </p:txBody>
      </p:sp>
      <p:graphicFrame>
        <p:nvGraphicFramePr>
          <p:cNvPr id="2" name="Table 1">
            <a:extLst>
              <a:ext uri="{FF2B5EF4-FFF2-40B4-BE49-F238E27FC236}">
                <a16:creationId xmlns:a16="http://schemas.microsoft.com/office/drawing/2014/main" id="{E09246AE-6323-495C-8FD9-E3910F0698F9}"/>
              </a:ext>
            </a:extLst>
          </p:cNvPr>
          <p:cNvGraphicFramePr>
            <a:graphicFrameLocks noGrp="1"/>
          </p:cNvGraphicFramePr>
          <p:nvPr>
            <p:extLst>
              <p:ext uri="{D42A27DB-BD31-4B8C-83A1-F6EECF244321}">
                <p14:modId xmlns:p14="http://schemas.microsoft.com/office/powerpoint/2010/main" val="409157321"/>
              </p:ext>
            </p:extLst>
          </p:nvPr>
        </p:nvGraphicFramePr>
        <p:xfrm>
          <a:off x="711199" y="1520506"/>
          <a:ext cx="10710333" cy="4631056"/>
        </p:xfrm>
        <a:graphic>
          <a:graphicData uri="http://schemas.openxmlformats.org/drawingml/2006/table">
            <a:tbl>
              <a:tblPr/>
              <a:tblGrid>
                <a:gridCol w="2252134">
                  <a:extLst>
                    <a:ext uri="{9D8B030D-6E8A-4147-A177-3AD203B41FA5}">
                      <a16:colId xmlns:a16="http://schemas.microsoft.com/office/drawing/2014/main" val="3424087326"/>
                    </a:ext>
                  </a:extLst>
                </a:gridCol>
                <a:gridCol w="2624667">
                  <a:extLst>
                    <a:ext uri="{9D8B030D-6E8A-4147-A177-3AD203B41FA5}">
                      <a16:colId xmlns:a16="http://schemas.microsoft.com/office/drawing/2014/main" val="235717979"/>
                    </a:ext>
                  </a:extLst>
                </a:gridCol>
                <a:gridCol w="5833532">
                  <a:extLst>
                    <a:ext uri="{9D8B030D-6E8A-4147-A177-3AD203B41FA5}">
                      <a16:colId xmlns:a16="http://schemas.microsoft.com/office/drawing/2014/main" val="3859888797"/>
                    </a:ext>
                  </a:extLst>
                </a:gridCol>
              </a:tblGrid>
              <a:tr h="421005">
                <a:tc>
                  <a:txBody>
                    <a:bodyPr/>
                    <a:lstStyle/>
                    <a:p>
                      <a:pPr algn="ctr"/>
                      <a:r>
                        <a:rPr lang="en-US" b="1" dirty="0"/>
                        <a:t>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Level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7053901"/>
                  </a:ext>
                </a:extLst>
              </a:tr>
              <a:tr h="736759">
                <a:tc>
                  <a:txBody>
                    <a:bodyPr/>
                    <a:lstStyle/>
                    <a:p>
                      <a:r>
                        <a:rPr lang="en-US" dirty="0"/>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None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No response when evidence is insufficient.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2364659"/>
                  </a:ext>
                </a:extLst>
              </a:tr>
              <a:tr h="736759">
                <a:tc>
                  <a:txBody>
                    <a:bodyPr/>
                    <a:lstStyle/>
                    <a:p>
                      <a:r>
                        <a:rPr lang="en-US"/>
                        <a:t>investigate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Gather evidence without changing reachability.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543977"/>
                  </a:ext>
                </a:extLst>
              </a:tr>
              <a:tr h="421005">
                <a:tc>
                  <a:txBody>
                    <a:bodyPr/>
                    <a:lstStyle/>
                    <a:p>
                      <a:r>
                        <a:rPr lang="en-US"/>
                        <a:t>kill_process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Stop a suspicious process.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66803615"/>
                  </a:ext>
                </a:extLst>
              </a:tr>
              <a:tr h="421005">
                <a:tc>
                  <a:txBody>
                    <a:bodyPr/>
                    <a:lstStyle/>
                    <a:p>
                      <a:r>
                        <a:rPr lang="en-US" dirty="0" err="1"/>
                        <a:t>force_sign_out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Terminate active sessions.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2003426"/>
                  </a:ext>
                </a:extLst>
              </a:tr>
              <a:tr h="421005">
                <a:tc>
                  <a:txBody>
                    <a:bodyPr/>
                    <a:lstStyle/>
                    <a:p>
                      <a:r>
                        <a:rPr lang="en-US" dirty="0" err="1"/>
                        <a:t>revoke_credentials</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Invalidate credentials used by 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314715"/>
                  </a:ext>
                </a:extLst>
              </a:tr>
              <a:tr h="736759">
                <a:tc>
                  <a:txBody>
                    <a:bodyPr/>
                    <a:lstStyle/>
                    <a:p>
                      <a:r>
                        <a:rPr lang="en-US"/>
                        <a:t>block_ip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Block communication from a host or address.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1842964"/>
                  </a:ext>
                </a:extLst>
              </a:tr>
              <a:tr h="736759">
                <a:tc>
                  <a:txBody>
                    <a:bodyPr/>
                    <a:lstStyle/>
                    <a:p>
                      <a:r>
                        <a:rPr lang="en-US" dirty="0" err="1"/>
                        <a:t>isolate_host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Hard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Remove the host from reachable interaction.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8656212"/>
                  </a:ext>
                </a:extLst>
              </a:tr>
            </a:tbl>
          </a:graphicData>
        </a:graphic>
      </p:graphicFrame>
    </p:spTree>
    <p:extLst>
      <p:ext uri="{BB962C8B-B14F-4D97-AF65-F5344CB8AC3E}">
        <p14:creationId xmlns:p14="http://schemas.microsoft.com/office/powerpoint/2010/main" val="1536840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3204FFB5-606E-E699-02FC-A7CD16AB7300}"/>
              </a:ext>
            </a:extLst>
          </p:cNvPr>
          <p:cNvGrpSpPr/>
          <p:nvPr/>
        </p:nvGrpSpPr>
        <p:grpSpPr>
          <a:xfrm>
            <a:off x="521569" y="3273389"/>
            <a:ext cx="9180413" cy="3490065"/>
            <a:chOff x="588251" y="3323992"/>
            <a:chExt cx="9180413" cy="3490065"/>
          </a:xfrm>
        </p:grpSpPr>
        <p:sp>
          <p:nvSpPr>
            <p:cNvPr id="28" name="內容版面配置區 2">
              <a:extLst>
                <a:ext uri="{FF2B5EF4-FFF2-40B4-BE49-F238E27FC236}">
                  <a16:creationId xmlns:a16="http://schemas.microsoft.com/office/drawing/2014/main" id="{03CDED9D-C297-830D-B3D5-581A388FD34B}"/>
                </a:ext>
              </a:extLst>
            </p:cNvPr>
            <p:cNvSpPr txBox="1">
              <a:spLocks/>
            </p:cNvSpPr>
            <p:nvPr/>
          </p:nvSpPr>
          <p:spPr>
            <a:xfrm>
              <a:off x="2600642" y="3344136"/>
              <a:ext cx="6523645" cy="2066769"/>
            </a:xfrm>
            <a:prstGeom prst="rect">
              <a:avLst/>
            </a:prstGeom>
            <a:solidFill>
              <a:schemeClr val="bg1"/>
            </a:solidFill>
            <a:ln w="19050" cap="flat" cmpd="sng" algn="ctr">
              <a:solidFill>
                <a:schemeClr val="tx1"/>
              </a:solidFill>
              <a:prstDash val="solid"/>
              <a:miter lim="800000"/>
            </a:ln>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endParaRPr lang="en-US" altLang="zh-TW" sz="2000" u="sng" dirty="0">
                <a:latin typeface="Times New Roman" panose="02020603050405020304" pitchFamily="18" charset="0"/>
                <a:ea typeface="微軟正黑體" panose="020B0604030504040204" pitchFamily="34" charset="-120"/>
                <a:cs typeface="Times New Roman" panose="02020603050405020304" pitchFamily="18" charset="0"/>
              </a:endParaRPr>
            </a:p>
          </p:txBody>
        </p:sp>
        <p:sp>
          <p:nvSpPr>
            <p:cNvPr id="29" name="文字方塊 27">
              <a:extLst>
                <a:ext uri="{FF2B5EF4-FFF2-40B4-BE49-F238E27FC236}">
                  <a16:creationId xmlns:a16="http://schemas.microsoft.com/office/drawing/2014/main" id="{AC9C8891-86AE-2A21-1056-A041A85CA4BA}"/>
                </a:ext>
              </a:extLst>
            </p:cNvPr>
            <p:cNvSpPr txBox="1"/>
            <p:nvPr/>
          </p:nvSpPr>
          <p:spPr>
            <a:xfrm>
              <a:off x="4503687" y="3323992"/>
              <a:ext cx="3519725" cy="461665"/>
            </a:xfrm>
            <a:prstGeom prst="rect">
              <a:avLst/>
            </a:prstGeom>
            <a:noFill/>
          </p:spPr>
          <p:txBody>
            <a:bodyPr wrap="square" rtlCol="0">
              <a:spAutoFit/>
            </a:bodyPr>
            <a:lstStyle/>
            <a:p>
              <a:r>
                <a:rPr lang="en-US" altLang="zh-TW" sz="2400" dirty="0"/>
                <a:t>Blue Team  Agent </a:t>
              </a:r>
              <a:endParaRPr lang="en-US" altLang="zh-TW" sz="2200" i="1" dirty="0">
                <a:highlight>
                  <a:srgbClr val="C0C0C0"/>
                </a:highlight>
                <a:latin typeface="Times New Roman" panose="02020603050405020304" pitchFamily="18" charset="0"/>
                <a:ea typeface="微軟正黑體" panose="020B0604030504040204" pitchFamily="34" charset="-120"/>
                <a:cs typeface="Times New Roman" panose="02020603050405020304" pitchFamily="18" charset="0"/>
              </a:endParaRPr>
            </a:p>
          </p:txBody>
        </p:sp>
        <p:cxnSp>
          <p:nvCxnSpPr>
            <p:cNvPr id="31" name="直線接點 29">
              <a:extLst>
                <a:ext uri="{FF2B5EF4-FFF2-40B4-BE49-F238E27FC236}">
                  <a16:creationId xmlns:a16="http://schemas.microsoft.com/office/drawing/2014/main" id="{6FF16D05-A2A9-39C2-0CE2-29A1E20C9D83}"/>
                </a:ext>
              </a:extLst>
            </p:cNvPr>
            <p:cNvCxnSpPr>
              <a:cxnSpLocks/>
            </p:cNvCxnSpPr>
            <p:nvPr/>
          </p:nvCxnSpPr>
          <p:spPr>
            <a:xfrm flipH="1">
              <a:off x="9124289" y="4368046"/>
              <a:ext cx="3488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線接點 30">
              <a:extLst>
                <a:ext uri="{FF2B5EF4-FFF2-40B4-BE49-F238E27FC236}">
                  <a16:creationId xmlns:a16="http://schemas.microsoft.com/office/drawing/2014/main" id="{7EFBA4D4-D1A9-481A-D296-710B132FCE7A}"/>
                </a:ext>
              </a:extLst>
            </p:cNvPr>
            <p:cNvCxnSpPr>
              <a:cxnSpLocks/>
            </p:cNvCxnSpPr>
            <p:nvPr/>
          </p:nvCxnSpPr>
          <p:spPr>
            <a:xfrm>
              <a:off x="9473149" y="4368046"/>
              <a:ext cx="0" cy="183621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 name="文字方塊 31">
                  <a:extLst>
                    <a:ext uri="{FF2B5EF4-FFF2-40B4-BE49-F238E27FC236}">
                      <a16:creationId xmlns:a16="http://schemas.microsoft.com/office/drawing/2014/main" id="{03590D67-A270-1052-C354-3C02C9A72BEB}"/>
                    </a:ext>
                  </a:extLst>
                </p:cNvPr>
                <p:cNvSpPr txBox="1"/>
                <p:nvPr/>
              </p:nvSpPr>
              <p:spPr>
                <a:xfrm>
                  <a:off x="8277588" y="5639802"/>
                  <a:ext cx="1491076" cy="440505"/>
                </a:xfrm>
                <a:prstGeom prst="rect">
                  <a:avLst/>
                </a:prstGeom>
                <a:noFill/>
              </p:spPr>
              <p:txBody>
                <a:bodyPr wrap="square" rtlCol="0">
                  <a:spAutoFit/>
                </a:bodyPr>
                <a:lstStyle/>
                <a:p>
                  <a:r>
                    <a:rPr lang="en-US" altLang="zh-TW" sz="2000" dirty="0"/>
                    <a:t>action</a:t>
                  </a:r>
                  <a:r>
                    <a:rPr lang="en-US" altLang="zh-TW" sz="2000" dirty="0">
                      <a:ea typeface="微軟正黑體" panose="020B0604030504040204" pitchFamily="34" charset="-120"/>
                      <a:cs typeface="Times New Roman" panose="02020603050405020304" pitchFamily="18" charset="0"/>
                    </a:rPr>
                    <a:t> </a:t>
                  </a:r>
                  <a14:m>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𝑎</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sub>
                        <m:sup>
                          <m:r>
                            <a:rPr lang="en-US" altLang="zh-TW" sz="2000" i="1">
                              <a:latin typeface="Cambria Math" panose="02040503050406030204" pitchFamily="18" charset="0"/>
                            </a:rPr>
                            <m:t>𝐵</m:t>
                          </m:r>
                        </m:sup>
                      </m:sSubSup>
                    </m:oMath>
                  </a14:m>
                  <a:endParaRPr lang="en-US" altLang="zh-TW" sz="2000" dirty="0"/>
                </a:p>
              </p:txBody>
            </p:sp>
          </mc:Choice>
          <mc:Fallback>
            <p:sp>
              <p:nvSpPr>
                <p:cNvPr id="33" name="文字方塊 31">
                  <a:extLst>
                    <a:ext uri="{FF2B5EF4-FFF2-40B4-BE49-F238E27FC236}">
                      <a16:creationId xmlns:a16="http://schemas.microsoft.com/office/drawing/2014/main" id="{03590D67-A270-1052-C354-3C02C9A72BEB}"/>
                    </a:ext>
                  </a:extLst>
                </p:cNvPr>
                <p:cNvSpPr txBox="1">
                  <a:spLocks noRot="1" noChangeAspect="1" noMove="1" noResize="1" noEditPoints="1" noAdjustHandles="1" noChangeArrowheads="1" noChangeShapeType="1" noTextEdit="1"/>
                </p:cNvSpPr>
                <p:nvPr/>
              </p:nvSpPr>
              <p:spPr>
                <a:xfrm>
                  <a:off x="8277588" y="5639802"/>
                  <a:ext cx="1491076" cy="440505"/>
                </a:xfrm>
                <a:prstGeom prst="rect">
                  <a:avLst/>
                </a:prstGeom>
                <a:blipFill>
                  <a:blip r:embed="rId3"/>
                  <a:stretch>
                    <a:fillRect l="-4490" t="-5556" b="-18056"/>
                  </a:stretch>
                </a:blipFill>
              </p:spPr>
              <p:txBody>
                <a:bodyPr/>
                <a:lstStyle/>
                <a:p>
                  <a:r>
                    <a:rPr lang="en-US">
                      <a:noFill/>
                    </a:rPr>
                    <a:t> </a:t>
                  </a:r>
                </a:p>
              </p:txBody>
            </p:sp>
          </mc:Fallback>
        </mc:AlternateContent>
        <p:sp>
          <p:nvSpPr>
            <p:cNvPr id="34" name="矩形 32">
              <a:extLst>
                <a:ext uri="{FF2B5EF4-FFF2-40B4-BE49-F238E27FC236}">
                  <a16:creationId xmlns:a16="http://schemas.microsoft.com/office/drawing/2014/main" id="{977400F1-745C-4AD7-7370-6F63E0B20248}"/>
                </a:ext>
              </a:extLst>
            </p:cNvPr>
            <p:cNvSpPr/>
            <p:nvPr/>
          </p:nvSpPr>
          <p:spPr>
            <a:xfrm>
              <a:off x="5171587" y="5837751"/>
              <a:ext cx="3016672" cy="71187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TW" sz="2000" dirty="0">
                <a:solidFill>
                  <a:schemeClr val="tx1"/>
                </a:solidFill>
              </a:endParaRPr>
            </a:p>
          </p:txBody>
        </p:sp>
        <p:cxnSp>
          <p:nvCxnSpPr>
            <p:cNvPr id="35" name="直線單箭頭接點 33">
              <a:extLst>
                <a:ext uri="{FF2B5EF4-FFF2-40B4-BE49-F238E27FC236}">
                  <a16:creationId xmlns:a16="http://schemas.microsoft.com/office/drawing/2014/main" id="{D6E2FE8B-0B48-3E5E-128B-7C0613854724}"/>
                </a:ext>
              </a:extLst>
            </p:cNvPr>
            <p:cNvCxnSpPr/>
            <p:nvPr/>
          </p:nvCxnSpPr>
          <p:spPr>
            <a:xfrm flipH="1">
              <a:off x="3584522" y="6092364"/>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 name="文字方塊 34">
                  <a:extLst>
                    <a:ext uri="{FF2B5EF4-FFF2-40B4-BE49-F238E27FC236}">
                      <a16:creationId xmlns:a16="http://schemas.microsoft.com/office/drawing/2014/main" id="{D3E353B4-56DA-39B6-3ED3-509BDB51C684}"/>
                    </a:ext>
                  </a:extLst>
                </p:cNvPr>
                <p:cNvSpPr txBox="1"/>
                <p:nvPr/>
              </p:nvSpPr>
              <p:spPr>
                <a:xfrm>
                  <a:off x="4072439" y="5667032"/>
                  <a:ext cx="862497" cy="7482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𝐵</m:t>
                            </m:r>
                          </m:sup>
                        </m:sSubSup>
                      </m:oMath>
                    </m:oMathPara>
                  </a14:m>
                  <a:endParaRPr lang="en-US" altLang="zh-TW" sz="2000" dirty="0"/>
                </a:p>
                <a:p>
                  <a:endParaRPr lang="en-US" altLang="zh-TW" sz="2000" dirty="0"/>
                </a:p>
              </p:txBody>
            </p:sp>
          </mc:Choice>
          <mc:Fallback>
            <p:sp>
              <p:nvSpPr>
                <p:cNvPr id="36" name="文字方塊 34">
                  <a:extLst>
                    <a:ext uri="{FF2B5EF4-FFF2-40B4-BE49-F238E27FC236}">
                      <a16:creationId xmlns:a16="http://schemas.microsoft.com/office/drawing/2014/main" id="{D3E353B4-56DA-39B6-3ED3-509BDB51C684}"/>
                    </a:ext>
                  </a:extLst>
                </p:cNvPr>
                <p:cNvSpPr txBox="1">
                  <a:spLocks noRot="1" noChangeAspect="1" noMove="1" noResize="1" noEditPoints="1" noAdjustHandles="1" noChangeArrowheads="1" noChangeShapeType="1" noTextEdit="1"/>
                </p:cNvSpPr>
                <p:nvPr/>
              </p:nvSpPr>
              <p:spPr>
                <a:xfrm>
                  <a:off x="4072439" y="5667032"/>
                  <a:ext cx="862497" cy="748282"/>
                </a:xfrm>
                <a:prstGeom prst="rect">
                  <a:avLst/>
                </a:prstGeom>
                <a:blipFill>
                  <a:blip r:embed="rId4"/>
                  <a:stretch>
                    <a:fillRect/>
                  </a:stretch>
                </a:blipFill>
              </p:spPr>
              <p:txBody>
                <a:bodyPr/>
                <a:lstStyle/>
                <a:p>
                  <a:r>
                    <a:rPr lang="en-US">
                      <a:noFill/>
                    </a:rPr>
                    <a:t> </a:t>
                  </a:r>
                </a:p>
              </p:txBody>
            </p:sp>
          </mc:Fallback>
        </mc:AlternateContent>
        <p:sp>
          <p:nvSpPr>
            <p:cNvPr id="37" name="文字方塊 35">
              <a:extLst>
                <a:ext uri="{FF2B5EF4-FFF2-40B4-BE49-F238E27FC236}">
                  <a16:creationId xmlns:a16="http://schemas.microsoft.com/office/drawing/2014/main" id="{0392AE30-3778-A644-A8B0-B15D1577A03E}"/>
                </a:ext>
              </a:extLst>
            </p:cNvPr>
            <p:cNvSpPr txBox="1"/>
            <p:nvPr/>
          </p:nvSpPr>
          <p:spPr>
            <a:xfrm>
              <a:off x="5650441" y="5953273"/>
              <a:ext cx="2029325" cy="461665"/>
            </a:xfrm>
            <a:prstGeom prst="rect">
              <a:avLst/>
            </a:prstGeom>
            <a:noFill/>
          </p:spPr>
          <p:txBody>
            <a:bodyPr wrap="square" rtlCol="0">
              <a:spAutoFit/>
            </a:bodyPr>
            <a:lstStyle/>
            <a:p>
              <a:r>
                <a:rPr lang="en-US" altLang="zh-TW" sz="2400" dirty="0"/>
                <a:t>Cyber Range</a:t>
              </a:r>
              <a:endParaRPr lang="zh-TW" altLang="en-US" sz="2400" dirty="0"/>
            </a:p>
          </p:txBody>
        </p:sp>
        <p:cxnSp>
          <p:nvCxnSpPr>
            <p:cNvPr id="38" name="直線單箭頭接點 36">
              <a:extLst>
                <a:ext uri="{FF2B5EF4-FFF2-40B4-BE49-F238E27FC236}">
                  <a16:creationId xmlns:a16="http://schemas.microsoft.com/office/drawing/2014/main" id="{A6D96991-D21E-CF77-20D3-D332B47EDB7C}"/>
                </a:ext>
              </a:extLst>
            </p:cNvPr>
            <p:cNvCxnSpPr/>
            <p:nvPr/>
          </p:nvCxnSpPr>
          <p:spPr>
            <a:xfrm flipH="1">
              <a:off x="3575279" y="6385121"/>
              <a:ext cx="15870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9" name="文字方塊 37">
                  <a:extLst>
                    <a:ext uri="{FF2B5EF4-FFF2-40B4-BE49-F238E27FC236}">
                      <a16:creationId xmlns:a16="http://schemas.microsoft.com/office/drawing/2014/main" id="{20D8AF00-BCC3-7424-9999-D91EDFD7AD0D}"/>
                    </a:ext>
                  </a:extLst>
                </p:cNvPr>
                <p:cNvSpPr txBox="1"/>
                <p:nvPr/>
              </p:nvSpPr>
              <p:spPr>
                <a:xfrm>
                  <a:off x="4099129" y="6373552"/>
                  <a:ext cx="666347" cy="44050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TW" sz="2000" i="1" smtClean="0">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r>
                              <a:rPr lang="en-US" altLang="zh-TW" sz="2000" b="0" i="1" smtClean="0">
                                <a:latin typeface="Cambria Math" panose="02040503050406030204" pitchFamily="18" charset="0"/>
                              </a:rPr>
                              <m:t>+1</m:t>
                            </m:r>
                          </m:sub>
                          <m:sup>
                            <m:r>
                              <a:rPr lang="en-US" altLang="zh-TW" sz="2000" i="1">
                                <a:latin typeface="Cambria Math" panose="02040503050406030204" pitchFamily="18" charset="0"/>
                              </a:rPr>
                              <m:t>𝐵</m:t>
                            </m:r>
                          </m:sup>
                        </m:sSubSup>
                      </m:oMath>
                    </m:oMathPara>
                  </a14:m>
                  <a:endParaRPr lang="en-US" altLang="zh-TW" sz="2000" dirty="0"/>
                </a:p>
              </p:txBody>
            </p:sp>
          </mc:Choice>
          <mc:Fallback>
            <p:sp>
              <p:nvSpPr>
                <p:cNvPr id="39" name="文字方塊 37">
                  <a:extLst>
                    <a:ext uri="{FF2B5EF4-FFF2-40B4-BE49-F238E27FC236}">
                      <a16:creationId xmlns:a16="http://schemas.microsoft.com/office/drawing/2014/main" id="{20D8AF00-BCC3-7424-9999-D91EDFD7AD0D}"/>
                    </a:ext>
                  </a:extLst>
                </p:cNvPr>
                <p:cNvSpPr txBox="1">
                  <a:spLocks noRot="1" noChangeAspect="1" noMove="1" noResize="1" noEditPoints="1" noAdjustHandles="1" noChangeArrowheads="1" noChangeShapeType="1" noTextEdit="1"/>
                </p:cNvSpPr>
                <p:nvPr/>
              </p:nvSpPr>
              <p:spPr>
                <a:xfrm>
                  <a:off x="4099129" y="6373552"/>
                  <a:ext cx="666347" cy="440505"/>
                </a:xfrm>
                <a:prstGeom prst="rect">
                  <a:avLst/>
                </a:prstGeom>
                <a:blipFill>
                  <a:blip r:embed="rId5"/>
                  <a:stretch>
                    <a:fillRect r="-15455"/>
                  </a:stretch>
                </a:blipFill>
              </p:spPr>
              <p:txBody>
                <a:bodyPr/>
                <a:lstStyle/>
                <a:p>
                  <a:r>
                    <a:rPr lang="en-US">
                      <a:noFill/>
                    </a:rPr>
                    <a:t> </a:t>
                  </a:r>
                </a:p>
              </p:txBody>
            </p:sp>
          </mc:Fallback>
        </mc:AlternateContent>
        <p:cxnSp>
          <p:nvCxnSpPr>
            <p:cNvPr id="40" name="直線接點 38">
              <a:extLst>
                <a:ext uri="{FF2B5EF4-FFF2-40B4-BE49-F238E27FC236}">
                  <a16:creationId xmlns:a16="http://schemas.microsoft.com/office/drawing/2014/main" id="{A0969CB2-8500-426A-C31F-E71AFD9C75FA}"/>
                </a:ext>
              </a:extLst>
            </p:cNvPr>
            <p:cNvCxnSpPr>
              <a:cxnSpLocks/>
            </p:cNvCxnSpPr>
            <p:nvPr/>
          </p:nvCxnSpPr>
          <p:spPr>
            <a:xfrm flipH="1">
              <a:off x="1582801" y="6096565"/>
              <a:ext cx="2014081"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文字方塊 39">
                  <a:extLst>
                    <a:ext uri="{FF2B5EF4-FFF2-40B4-BE49-F238E27FC236}">
                      <a16:creationId xmlns:a16="http://schemas.microsoft.com/office/drawing/2014/main" id="{11D1F68C-C5BE-5DF6-E722-9B940F2349CD}"/>
                    </a:ext>
                  </a:extLst>
                </p:cNvPr>
                <p:cNvSpPr txBox="1"/>
                <p:nvPr/>
              </p:nvSpPr>
              <p:spPr>
                <a:xfrm>
                  <a:off x="1633691" y="5050629"/>
                  <a:ext cx="903889" cy="1056058"/>
                </a:xfrm>
                <a:prstGeom prst="rect">
                  <a:avLst/>
                </a:prstGeom>
                <a:noFill/>
              </p:spPr>
              <p:txBody>
                <a:bodyPr wrap="square" rtlCol="0">
                  <a:spAutoFit/>
                </a:bodyPr>
                <a:lstStyle/>
                <a:p>
                  <a:pPr algn="ctr"/>
                  <a:r>
                    <a:rPr lang="en-US" altLang="zh-TW" sz="2000" dirty="0"/>
                    <a:t>reward</a:t>
                  </a:r>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i="1">
                                <a:latin typeface="Cambria Math" panose="02040503050406030204" pitchFamily="18" charset="0"/>
                              </a:rPr>
                              <m:t>𝑃</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sub>
                          <m:sup>
                            <m:r>
                              <a:rPr lang="en-US" altLang="zh-TW" sz="2000" i="1">
                                <a:latin typeface="Cambria Math" panose="02040503050406030204" pitchFamily="18" charset="0"/>
                              </a:rPr>
                              <m:t>𝐵</m:t>
                            </m:r>
                          </m:sup>
                        </m:sSubSup>
                      </m:oMath>
                    </m:oMathPara>
                  </a14:m>
                  <a:endParaRPr lang="en-US" altLang="zh-TW" sz="2000" dirty="0"/>
                </a:p>
                <a:p>
                  <a:pPr algn="ctr"/>
                  <a:endParaRPr lang="en-US" altLang="zh-TW" sz="2000" dirty="0"/>
                </a:p>
              </p:txBody>
            </p:sp>
          </mc:Choice>
          <mc:Fallback>
            <p:sp>
              <p:nvSpPr>
                <p:cNvPr id="41" name="文字方塊 39">
                  <a:extLst>
                    <a:ext uri="{FF2B5EF4-FFF2-40B4-BE49-F238E27FC236}">
                      <a16:creationId xmlns:a16="http://schemas.microsoft.com/office/drawing/2014/main" id="{11D1F68C-C5BE-5DF6-E722-9B940F2349CD}"/>
                    </a:ext>
                  </a:extLst>
                </p:cNvPr>
                <p:cNvSpPr txBox="1">
                  <a:spLocks noRot="1" noChangeAspect="1" noMove="1" noResize="1" noEditPoints="1" noAdjustHandles="1" noChangeArrowheads="1" noChangeShapeType="1" noTextEdit="1"/>
                </p:cNvSpPr>
                <p:nvPr/>
              </p:nvSpPr>
              <p:spPr>
                <a:xfrm>
                  <a:off x="1633691" y="5050629"/>
                  <a:ext cx="903889" cy="1056058"/>
                </a:xfrm>
                <a:prstGeom prst="rect">
                  <a:avLst/>
                </a:prstGeom>
                <a:blipFill>
                  <a:blip r:embed="rId6"/>
                  <a:stretch>
                    <a:fillRect l="-6757" t="-2890" r="-6757"/>
                  </a:stretch>
                </a:blipFill>
              </p:spPr>
              <p:txBody>
                <a:bodyPr/>
                <a:lstStyle/>
                <a:p>
                  <a:r>
                    <a:rPr lang="en-US">
                      <a:noFill/>
                    </a:rPr>
                    <a:t> </a:t>
                  </a:r>
                </a:p>
              </p:txBody>
            </p:sp>
          </mc:Fallback>
        </mc:AlternateContent>
        <p:cxnSp>
          <p:nvCxnSpPr>
            <p:cNvPr id="42" name="直線接點 40">
              <a:extLst>
                <a:ext uri="{FF2B5EF4-FFF2-40B4-BE49-F238E27FC236}">
                  <a16:creationId xmlns:a16="http://schemas.microsoft.com/office/drawing/2014/main" id="{0476BBD7-1BE4-CFBB-A272-9BB4AC541859}"/>
                </a:ext>
              </a:extLst>
            </p:cNvPr>
            <p:cNvCxnSpPr>
              <a:cxnSpLocks/>
            </p:cNvCxnSpPr>
            <p:nvPr/>
          </p:nvCxnSpPr>
          <p:spPr>
            <a:xfrm flipH="1" flipV="1">
              <a:off x="1582801" y="4672597"/>
              <a:ext cx="1" cy="14197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單箭頭接點 41">
              <a:extLst>
                <a:ext uri="{FF2B5EF4-FFF2-40B4-BE49-F238E27FC236}">
                  <a16:creationId xmlns:a16="http://schemas.microsoft.com/office/drawing/2014/main" id="{8AADD4AB-9E9C-2A41-72A6-5E87098EC26E}"/>
                </a:ext>
              </a:extLst>
            </p:cNvPr>
            <p:cNvCxnSpPr>
              <a:cxnSpLocks/>
            </p:cNvCxnSpPr>
            <p:nvPr/>
          </p:nvCxnSpPr>
          <p:spPr>
            <a:xfrm>
              <a:off x="1582801" y="4672597"/>
              <a:ext cx="1017842"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接點 43">
              <a:extLst>
                <a:ext uri="{FF2B5EF4-FFF2-40B4-BE49-F238E27FC236}">
                  <a16:creationId xmlns:a16="http://schemas.microsoft.com/office/drawing/2014/main" id="{9D820630-368D-CD4A-F985-4FD9F28FE6E2}"/>
                </a:ext>
              </a:extLst>
            </p:cNvPr>
            <p:cNvCxnSpPr>
              <a:cxnSpLocks/>
            </p:cNvCxnSpPr>
            <p:nvPr/>
          </p:nvCxnSpPr>
          <p:spPr>
            <a:xfrm flipH="1">
              <a:off x="1362082" y="6385121"/>
              <a:ext cx="224590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線接點 44">
              <a:extLst>
                <a:ext uri="{FF2B5EF4-FFF2-40B4-BE49-F238E27FC236}">
                  <a16:creationId xmlns:a16="http://schemas.microsoft.com/office/drawing/2014/main" id="{15B57701-0E47-9F50-32A1-5627D7D02B69}"/>
                </a:ext>
              </a:extLst>
            </p:cNvPr>
            <p:cNvCxnSpPr>
              <a:cxnSpLocks/>
            </p:cNvCxnSpPr>
            <p:nvPr/>
          </p:nvCxnSpPr>
          <p:spPr>
            <a:xfrm flipH="1" flipV="1">
              <a:off x="1328956" y="4078011"/>
              <a:ext cx="33126" cy="2307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單箭頭接點 45">
              <a:extLst>
                <a:ext uri="{FF2B5EF4-FFF2-40B4-BE49-F238E27FC236}">
                  <a16:creationId xmlns:a16="http://schemas.microsoft.com/office/drawing/2014/main" id="{1A45EF70-D2EB-3522-82FC-231C3302C9C8}"/>
                </a:ext>
              </a:extLst>
            </p:cNvPr>
            <p:cNvCxnSpPr>
              <a:cxnSpLocks/>
              <a:endCxn id="26" idx="1"/>
            </p:cNvCxnSpPr>
            <p:nvPr/>
          </p:nvCxnSpPr>
          <p:spPr>
            <a:xfrm>
              <a:off x="1328956" y="4078011"/>
              <a:ext cx="1674596" cy="944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文字方塊 46">
                  <a:extLst>
                    <a:ext uri="{FF2B5EF4-FFF2-40B4-BE49-F238E27FC236}">
                      <a16:creationId xmlns:a16="http://schemas.microsoft.com/office/drawing/2014/main" id="{B14A5E09-F3B1-937F-3FC5-B1CFA28F90EE}"/>
                    </a:ext>
                  </a:extLst>
                </p:cNvPr>
                <p:cNvSpPr txBox="1"/>
                <p:nvPr/>
              </p:nvSpPr>
              <p:spPr>
                <a:xfrm>
                  <a:off x="588251" y="4527924"/>
                  <a:ext cx="806958" cy="748282"/>
                </a:xfrm>
                <a:prstGeom prst="rect">
                  <a:avLst/>
                </a:prstGeom>
                <a:noFill/>
              </p:spPr>
              <p:txBody>
                <a:bodyPr wrap="square" rtlCol="0">
                  <a:spAutoFit/>
                </a:bodyPr>
                <a:lstStyle/>
                <a:p>
                  <a:pPr algn="ctr"/>
                  <a:r>
                    <a:rPr lang="en-US" altLang="zh-TW" sz="2000" dirty="0"/>
                    <a:t>state</a:t>
                  </a:r>
                </a:p>
                <a:p>
                  <a:pPr algn="ctr"/>
                  <a14:m>
                    <m:oMathPara xmlns:m="http://schemas.openxmlformats.org/officeDocument/2006/math">
                      <m:oMathParaPr>
                        <m:jc m:val="centerGroup"/>
                      </m:oMathParaPr>
                      <m:oMath xmlns:m="http://schemas.openxmlformats.org/officeDocument/2006/math">
                        <m:sSubSup>
                          <m:sSubSupPr>
                            <m:ctrlPr>
                              <a:rPr lang="en-US" altLang="zh-TW" sz="2000" i="1">
                                <a:latin typeface="Cambria Math" panose="02040503050406030204" pitchFamily="18" charset="0"/>
                              </a:rPr>
                            </m:ctrlPr>
                          </m:sSubSupPr>
                          <m:e>
                            <m:r>
                              <a:rPr lang="en-US" altLang="zh-TW" sz="2000" b="0" i="1" smtClean="0">
                                <a:latin typeface="Cambria Math" panose="02040503050406030204" pitchFamily="18" charset="0"/>
                              </a:rPr>
                              <m:t>𝑂</m:t>
                            </m:r>
                          </m:e>
                          <m:sub>
                            <m:r>
                              <a:rPr lang="en-US" altLang="zh-TW" sz="2000" b="0" i="1" smtClean="0">
                                <a:latin typeface="Cambria Math" panose="02040503050406030204" pitchFamily="18" charset="0"/>
                              </a:rPr>
                              <m:t>𝑒</m:t>
                            </m:r>
                            <m:r>
                              <a:rPr lang="en-US" altLang="zh-TW" sz="2000" b="0" i="1" smtClean="0">
                                <a:latin typeface="Cambria Math" panose="02040503050406030204" pitchFamily="18" charset="0"/>
                              </a:rPr>
                              <m:t>,</m:t>
                            </m:r>
                            <m:r>
                              <a:rPr lang="en-US" altLang="zh-TW" sz="2000" i="1">
                                <a:latin typeface="Cambria Math" panose="02040503050406030204" pitchFamily="18" charset="0"/>
                              </a:rPr>
                              <m:t>𝑖</m:t>
                            </m:r>
                          </m:sub>
                          <m:sup>
                            <m:r>
                              <a:rPr lang="en-US" altLang="zh-TW" sz="2000" i="1">
                                <a:latin typeface="Cambria Math" panose="02040503050406030204" pitchFamily="18" charset="0"/>
                              </a:rPr>
                              <m:t>𝐵</m:t>
                            </m:r>
                          </m:sup>
                        </m:sSubSup>
                      </m:oMath>
                    </m:oMathPara>
                  </a14:m>
                  <a:endParaRPr lang="en-US" altLang="zh-TW" sz="2000" dirty="0"/>
                </a:p>
              </p:txBody>
            </p:sp>
          </mc:Choice>
          <mc:Fallback>
            <p:sp>
              <p:nvSpPr>
                <p:cNvPr id="47" name="文字方塊 46">
                  <a:extLst>
                    <a:ext uri="{FF2B5EF4-FFF2-40B4-BE49-F238E27FC236}">
                      <a16:creationId xmlns:a16="http://schemas.microsoft.com/office/drawing/2014/main" id="{B14A5E09-F3B1-937F-3FC5-B1CFA28F90EE}"/>
                    </a:ext>
                  </a:extLst>
                </p:cNvPr>
                <p:cNvSpPr txBox="1">
                  <a:spLocks noRot="1" noChangeAspect="1" noMove="1" noResize="1" noEditPoints="1" noAdjustHandles="1" noChangeArrowheads="1" noChangeShapeType="1" noTextEdit="1"/>
                </p:cNvSpPr>
                <p:nvPr/>
              </p:nvSpPr>
              <p:spPr>
                <a:xfrm>
                  <a:off x="588251" y="4527924"/>
                  <a:ext cx="806958" cy="748282"/>
                </a:xfrm>
                <a:prstGeom prst="rect">
                  <a:avLst/>
                </a:prstGeom>
                <a:blipFill>
                  <a:blip r:embed="rId7"/>
                  <a:stretch>
                    <a:fillRect t="-4065"/>
                  </a:stretch>
                </a:blipFill>
              </p:spPr>
              <p:txBody>
                <a:bodyPr/>
                <a:lstStyle/>
                <a:p>
                  <a:r>
                    <a:rPr lang="en-US">
                      <a:noFill/>
                    </a:rPr>
                    <a:t> </a:t>
                  </a:r>
                </a:p>
              </p:txBody>
            </p:sp>
          </mc:Fallback>
        </mc:AlternateContent>
        <p:cxnSp>
          <p:nvCxnSpPr>
            <p:cNvPr id="48" name="直線單箭頭接點 47">
              <a:extLst>
                <a:ext uri="{FF2B5EF4-FFF2-40B4-BE49-F238E27FC236}">
                  <a16:creationId xmlns:a16="http://schemas.microsoft.com/office/drawing/2014/main" id="{1EDA4B3C-050A-25F2-9AB8-ACF8A09D17B9}"/>
                </a:ext>
              </a:extLst>
            </p:cNvPr>
            <p:cNvCxnSpPr>
              <a:cxnSpLocks/>
            </p:cNvCxnSpPr>
            <p:nvPr/>
          </p:nvCxnSpPr>
          <p:spPr>
            <a:xfrm flipH="1">
              <a:off x="8196727" y="6209972"/>
              <a:ext cx="128488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5" name="Diamond 14">
            <a:extLst>
              <a:ext uri="{FF2B5EF4-FFF2-40B4-BE49-F238E27FC236}">
                <a16:creationId xmlns:a16="http://schemas.microsoft.com/office/drawing/2014/main" id="{B1E98D5B-93CE-45C6-AF35-46CB33652AC1}"/>
              </a:ext>
            </a:extLst>
          </p:cNvPr>
          <p:cNvSpPr/>
          <p:nvPr/>
        </p:nvSpPr>
        <p:spPr>
          <a:xfrm>
            <a:off x="4993787" y="3736645"/>
            <a:ext cx="690482" cy="604802"/>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125480" y="-101401"/>
            <a:ext cx="10515600" cy="1325563"/>
          </a:xfrm>
        </p:spPr>
        <p:txBody>
          <a:bodyPr/>
          <a:lstStyle/>
          <a:p>
            <a:pPr algn="just"/>
            <a:r>
              <a:rPr lang="en-US" dirty="0">
                <a:latin typeface="Times New Roman" panose="02020603050405020304" pitchFamily="18" charset="0"/>
                <a:cs typeface="Times New Roman" panose="02020603050405020304" pitchFamily="18" charset="0"/>
              </a:rPr>
              <a:t>Blue Team Agent: Detection and Response</a:t>
            </a:r>
          </a:p>
        </p:txBody>
      </p:sp>
      <mc:AlternateContent xmlns:mc="http://schemas.openxmlformats.org/markup-compatibility/2006">
        <mc:Choice xmlns:a14="http://schemas.microsoft.com/office/drawing/2010/main" Requires="a14">
          <p:sp>
            <p:nvSpPr>
              <p:cNvPr id="8" name="Content Placeholder 7">
                <a:extLst>
                  <a:ext uri="{FF2B5EF4-FFF2-40B4-BE49-F238E27FC236}">
                    <a16:creationId xmlns:a16="http://schemas.microsoft.com/office/drawing/2014/main" id="{7C3DA3FE-4253-FE1B-EE00-F11A7DFB6363}"/>
                  </a:ext>
                </a:extLst>
              </p:cNvPr>
              <p:cNvSpPr>
                <a:spLocks noGrp="1"/>
              </p:cNvSpPr>
              <p:nvPr>
                <p:ph idx="1"/>
              </p:nvPr>
            </p:nvSpPr>
            <p:spPr/>
            <p:txBody>
              <a:bodyPr>
                <a:normAutofit/>
              </a:bodyPr>
              <a:lstStyle/>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Detection and Response </a:t>
                </a:r>
                <a:r>
                  <a:rPr lang="en-US" altLang="zh-TW" sz="1800" dirty="0">
                    <a:latin typeface="Times New Roman" panose="02020603050405020304" pitchFamily="18" charset="0"/>
                    <a:ea typeface="微軟正黑體" panose="020B0604030504040204" pitchFamily="34" charset="-120"/>
                    <a:cs typeface="Times New Roman" panose="02020603050405020304" pitchFamily="18" charset="0"/>
                  </a:rPr>
                  <a:t>:</a:t>
                </a:r>
              </a:p>
              <a:p>
                <a:pPr lvl="1">
                  <a:buSzPct val="100000"/>
                </a:pPr>
                <a:r>
                  <a:rPr lang="en-US" sz="1800" b="1" dirty="0"/>
                  <a:t>Detection:</a:t>
                </a:r>
                <a:r>
                  <a:rPr lang="en-US" sz="1800" dirty="0"/>
                  <a:t> Blue observes </a:t>
                </a:r>
                <a14:m>
                  <m:oMath xmlns:m="http://schemas.openxmlformats.org/officeDocument/2006/math">
                    <m:sSubSup>
                      <m:sSubSupPr>
                        <m:ctrlPr>
                          <a:rPr lang="en-US" altLang="zh-TW" sz="1800" i="1" smtClean="0">
                            <a:latin typeface="Cambria Math" panose="02040503050406030204" pitchFamily="18" charset="0"/>
                          </a:rPr>
                        </m:ctrlPr>
                      </m:sSubSupPr>
                      <m:e>
                        <m:r>
                          <a:rPr lang="en-US" altLang="zh-TW" sz="1800" b="0" i="1" smtClean="0">
                            <a:latin typeface="Cambria Math" panose="02040503050406030204" pitchFamily="18" charset="0"/>
                          </a:rPr>
                          <m:t>𝑂</m:t>
                        </m:r>
                      </m:e>
                      <m:sub>
                        <m:r>
                          <a:rPr lang="en-US" altLang="zh-TW" sz="1800" b="0" i="1" smtClean="0">
                            <a:latin typeface="Cambria Math" panose="02040503050406030204" pitchFamily="18" charset="0"/>
                          </a:rPr>
                          <m:t>𝑒</m:t>
                        </m:r>
                        <m:r>
                          <a:rPr lang="en-US" altLang="zh-TW" sz="1800" b="0" i="1" smtClean="0">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i="1">
                        <a:latin typeface="Cambria Math" panose="02040503050406030204" pitchFamily="18" charset="0"/>
                      </a:rPr>
                      <m:t> </m:t>
                    </m:r>
                  </m:oMath>
                </a14:m>
                <a:r>
                  <a:rPr lang="en-US" sz="1800" dirty="0"/>
                  <a:t>​ and extracts log features</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𝑒</m:t>
                        </m:r>
                        <m:r>
                          <a:rPr lang="en-US" sz="1800" i="1">
                            <a:latin typeface="Cambria Math" panose="02040503050406030204" pitchFamily="18" charset="0"/>
                          </a:rPr>
                          <m:t>,</m:t>
                        </m:r>
                        <m:r>
                          <a:rPr lang="en-US" sz="1800" i="1">
                            <a:latin typeface="Cambria Math" panose="02040503050406030204" pitchFamily="18" charset="0"/>
                          </a:rPr>
                          <m:t>𝑖</m:t>
                        </m:r>
                      </m:sub>
                    </m:sSub>
                    <m:r>
                      <a:rPr lang="en-US" sz="1800" b="0" i="0" smtClean="0">
                        <a:latin typeface="Cambria Math" panose="02040503050406030204" pitchFamily="18" charset="0"/>
                      </a:rPr>
                      <m:t>.</m:t>
                    </m:r>
                  </m:oMath>
                </a14:m>
                <a:endParaRPr lang="en-US" sz="1800" dirty="0"/>
              </a:p>
              <a:p>
                <a:pPr lvl="1">
                  <a:buSzPct val="100000"/>
                </a:pPr>
                <a:r>
                  <a:rPr lang="en-US" sz="1800" b="1" dirty="0"/>
                  <a:t>Alert decision:</a:t>
                </a:r>
                <a:r>
                  <a:rPr lang="en-US" sz="1800" dirty="0"/>
                  <a:t> Detection module outputs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𝑒</m:t>
                        </m:r>
                        <m:r>
                          <a:rPr lang="en-US" sz="1800" b="0" i="1" smtClean="0">
                            <a:latin typeface="Cambria Math" panose="02040503050406030204" pitchFamily="18" charset="0"/>
                          </a:rPr>
                          <m:t>,</m:t>
                        </m:r>
                        <m:r>
                          <a:rPr lang="en-US" sz="1800" b="0" i="1" smtClean="0">
                            <a:latin typeface="Cambria Math" panose="02040503050406030204" pitchFamily="18" charset="0"/>
                          </a:rPr>
                          <m:t>𝑖</m:t>
                        </m:r>
                      </m:sub>
                    </m:sSub>
                    <m:r>
                      <a:rPr lang="en-US" sz="1800" b="0" i="0" smtClean="0">
                        <a:latin typeface="Cambria Math" panose="02040503050406030204" pitchFamily="18" charset="0"/>
                      </a:rPr>
                      <m:t> </m:t>
                    </m:r>
                  </m:oMath>
                </a14:m>
                <a:r>
                  <a:rPr lang="en-US" sz="1800" dirty="0"/>
                  <a:t>∈{0,1}. </a:t>
                </a:r>
              </a:p>
              <a:p>
                <a:pPr lvl="1">
                  <a:buSzPct val="100000"/>
                </a:pPr>
                <a:r>
                  <a:rPr lang="en-US" sz="1800" b="1" dirty="0"/>
                  <a:t>Response:</a:t>
                </a:r>
                <a:r>
                  <a:rPr lang="en-US" sz="1800" dirty="0"/>
                  <a:t> If </a:t>
                </a: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𝐷</m:t>
                        </m:r>
                      </m:e>
                      <m:sub>
                        <m:r>
                          <a:rPr lang="en-US" sz="1800" b="0" i="1" smtClean="0">
                            <a:latin typeface="Cambria Math" panose="02040503050406030204" pitchFamily="18" charset="0"/>
                          </a:rPr>
                          <m:t>𝑒</m:t>
                        </m:r>
                        <m:r>
                          <a:rPr lang="en-US" sz="1800" b="0" i="1" smtClean="0">
                            <a:latin typeface="Cambria Math" panose="02040503050406030204" pitchFamily="18" charset="0"/>
                          </a:rPr>
                          <m:t>,</m:t>
                        </m:r>
                        <m:r>
                          <a:rPr lang="en-US" sz="1800" b="0" i="1" smtClean="0">
                            <a:latin typeface="Cambria Math" panose="02040503050406030204" pitchFamily="18" charset="0"/>
                          </a:rPr>
                          <m:t>𝑖</m:t>
                        </m:r>
                      </m:sub>
                    </m:sSub>
                    <m:r>
                      <a:rPr lang="en-US" sz="1800" b="0" i="0" smtClean="0">
                        <a:latin typeface="Cambria Math" panose="02040503050406030204" pitchFamily="18" charset="0"/>
                      </a:rPr>
                      <m:t> </m:t>
                    </m:r>
                  </m:oMath>
                </a14:m>
                <a:r>
                  <a:rPr lang="en-US" sz="1800" dirty="0"/>
                  <a:t>=1, Blue selects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𝑎</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i="1" smtClean="0">
                        <a:latin typeface="Cambria Math" panose="02040503050406030204" pitchFamily="18" charset="0"/>
                        <a:ea typeface="Cambria Math" panose="02040503050406030204" pitchFamily="18" charset="0"/>
                      </a:rPr>
                      <m:t>∈</m:t>
                    </m:r>
                    <m:sSup>
                      <m:sSupPr>
                        <m:ctrlPr>
                          <a:rPr lang="en-US" altLang="zh-TW" sz="1800" b="0" i="1" smtClean="0">
                            <a:latin typeface="Cambria Math" panose="02040503050406030204" pitchFamily="18" charset="0"/>
                            <a:ea typeface="Cambria Math" panose="02040503050406030204" pitchFamily="18" charset="0"/>
                          </a:rPr>
                        </m:ctrlPr>
                      </m:sSupPr>
                      <m:e>
                        <m:r>
                          <a:rPr lang="en-US" altLang="zh-TW" sz="1800" b="0" i="1" smtClean="0">
                            <a:latin typeface="Cambria Math" panose="02040503050406030204" pitchFamily="18" charset="0"/>
                            <a:ea typeface="Cambria Math" panose="02040503050406030204" pitchFamily="18" charset="0"/>
                          </a:rPr>
                          <m:t>𝑆</m:t>
                        </m:r>
                      </m:e>
                      <m:sup>
                        <m:r>
                          <a:rPr lang="en-US" altLang="zh-TW" sz="1800" b="0" i="1" smtClean="0">
                            <a:latin typeface="Cambria Math" panose="02040503050406030204" pitchFamily="18" charset="0"/>
                            <a:ea typeface="Cambria Math" panose="02040503050406030204" pitchFamily="18" charset="0"/>
                          </a:rPr>
                          <m:t>𝐵</m:t>
                        </m:r>
                      </m:sup>
                    </m:sSup>
                  </m:oMath>
                </a14:m>
                <a:r>
                  <a:rPr lang="en-US" sz="1800" dirty="0"/>
                  <a:t> to disrupt Red else </a:t>
                </a:r>
                <a14:m>
                  <m:oMath xmlns:m="http://schemas.openxmlformats.org/officeDocument/2006/math">
                    <m:sSubSup>
                      <m:sSubSupPr>
                        <m:ctrlPr>
                          <a:rPr lang="en-US" altLang="zh-TW" sz="1800" i="1">
                            <a:latin typeface="Cambria Math" panose="02040503050406030204" pitchFamily="18" charset="0"/>
                          </a:rPr>
                        </m:ctrlPr>
                      </m:sSubSupPr>
                      <m:e>
                        <m:r>
                          <a:rPr lang="en-US" altLang="zh-TW" sz="1800" i="1">
                            <a:latin typeface="Cambria Math" panose="02040503050406030204" pitchFamily="18" charset="0"/>
                          </a:rPr>
                          <m:t>𝑎</m:t>
                        </m:r>
                      </m:e>
                      <m:sub>
                        <m:r>
                          <a:rPr lang="en-US" altLang="zh-TW" sz="1800" i="1">
                            <a:latin typeface="Cambria Math" panose="02040503050406030204" pitchFamily="18" charset="0"/>
                          </a:rPr>
                          <m:t>𝑒</m:t>
                        </m:r>
                        <m:r>
                          <a:rPr lang="en-US" altLang="zh-TW" sz="1800" i="1">
                            <a:latin typeface="Cambria Math" panose="02040503050406030204" pitchFamily="18" charset="0"/>
                          </a:rPr>
                          <m:t>,</m:t>
                        </m:r>
                        <m:r>
                          <a:rPr lang="en-US" altLang="zh-TW" sz="1800" i="1">
                            <a:latin typeface="Cambria Math" panose="02040503050406030204" pitchFamily="18" charset="0"/>
                          </a:rPr>
                          <m:t>𝑖</m:t>
                        </m:r>
                      </m:sub>
                      <m:sup>
                        <m:r>
                          <a:rPr lang="en-US" altLang="zh-TW" sz="1800" i="1">
                            <a:latin typeface="Cambria Math" panose="02040503050406030204" pitchFamily="18" charset="0"/>
                          </a:rPr>
                          <m:t>𝐵</m:t>
                        </m:r>
                      </m:sup>
                    </m:sSubSup>
                    <m:r>
                      <a:rPr lang="en-US" altLang="zh-TW" sz="1800" b="0" i="1" smtClean="0">
                        <a:latin typeface="Cambria Math" panose="02040503050406030204" pitchFamily="18" charset="0"/>
                      </a:rPr>
                      <m:t>=</m:t>
                    </m:r>
                    <m:r>
                      <a:rPr lang="en-US" altLang="zh-TW" sz="1800" b="0" i="1" smtClean="0">
                        <a:latin typeface="Cambria Math" panose="02040503050406030204" pitchFamily="18" charset="0"/>
                      </a:rPr>
                      <m:t>𝑛𝑜𝑛𝑒</m:t>
                    </m:r>
                  </m:oMath>
                </a14:m>
                <a:r>
                  <a:rPr lang="en-US" sz="1800" dirty="0"/>
                  <a:t>.</a:t>
                </a:r>
              </a:p>
              <a:p>
                <a:pPr>
                  <a:buSzPct val="100000"/>
                </a:pPr>
                <a:r>
                  <a:rPr lang="en-US" altLang="zh-TW" sz="2000" dirty="0">
                    <a:latin typeface="Times New Roman" panose="02020603050405020304" pitchFamily="18" charset="0"/>
                    <a:ea typeface="微軟正黑體" panose="020B0604030504040204" pitchFamily="34" charset="-120"/>
                    <a:cs typeface="Times New Roman" panose="02020603050405020304" pitchFamily="18" charset="0"/>
                  </a:rPr>
                  <a:t>Goal: </a:t>
                </a:r>
                <a:r>
                  <a:rPr lang="en-US" altLang="zh-TW" sz="2000" dirty="0">
                    <a:ea typeface="微軟正黑體" panose="020B0604030504040204" pitchFamily="34" charset="-120"/>
                  </a:rPr>
                  <a:t>D</a:t>
                </a:r>
                <a:r>
                  <a:rPr lang="en-US" sz="2000" dirty="0">
                    <a:ea typeface="微軟正黑體" panose="020B0604030504040204" pitchFamily="34" charset="-120"/>
                  </a:rPr>
                  <a:t>etect multi-stage attacks early in the kill chain, minimizing damage</a:t>
                </a:r>
                <a:endParaRPr lang="en-US" altLang="zh-TW" sz="2000" dirty="0">
                  <a:ea typeface="微軟正黑體" panose="020B0604030504040204" pitchFamily="34" charset="-120"/>
                </a:endParaRPr>
              </a:p>
            </p:txBody>
          </p:sp>
        </mc:Choice>
        <mc:Fallback>
          <p:sp>
            <p:nvSpPr>
              <p:cNvPr id="8" name="Content Placeholder 7">
                <a:extLst>
                  <a:ext uri="{FF2B5EF4-FFF2-40B4-BE49-F238E27FC236}">
                    <a16:creationId xmlns:a16="http://schemas.microsoft.com/office/drawing/2014/main" id="{7C3DA3FE-4253-FE1B-EE00-F11A7DFB6363}"/>
                  </a:ext>
                </a:extLst>
              </p:cNvPr>
              <p:cNvSpPr>
                <a:spLocks noGrp="1" noRot="1" noChangeAspect="1" noMove="1" noResize="1" noEditPoints="1" noAdjustHandles="1" noChangeArrowheads="1" noChangeShapeType="1" noTextEdit="1"/>
              </p:cNvSpPr>
              <p:nvPr>
                <p:ph idx="1"/>
              </p:nvPr>
            </p:nvSpPr>
            <p:spPr>
              <a:blipFill>
                <a:blip r:embed="rId8"/>
                <a:stretch>
                  <a:fillRect l="-522" t="-1256"/>
                </a:stretch>
              </a:blipFill>
            </p:spPr>
            <p:txBody>
              <a:bodyPr/>
              <a:lstStyle/>
              <a:p>
                <a:r>
                  <a:rPr lang="en-US">
                    <a:noFill/>
                  </a:rPr>
                  <a:t> </a:t>
                </a:r>
              </a:p>
            </p:txBody>
          </p:sp>
        </mc:Fallback>
      </mc:AlternateContent>
      <p:sp>
        <p:nvSpPr>
          <p:cNvPr id="6" name="Slide Number Placeholder 3">
            <a:extLst>
              <a:ext uri="{FF2B5EF4-FFF2-40B4-BE49-F238E27FC236}">
                <a16:creationId xmlns:a16="http://schemas.microsoft.com/office/drawing/2014/main" id="{D1B703BF-4F54-342A-1B57-EEC663C3DF6F}"/>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21</a:t>
            </a:fld>
            <a:endParaRPr lang="en-US" dirty="0"/>
          </a:p>
        </p:txBody>
      </p:sp>
      <p:sp>
        <p:nvSpPr>
          <p:cNvPr id="26" name="Rectangle: Rounded Corners 25">
            <a:extLst>
              <a:ext uri="{FF2B5EF4-FFF2-40B4-BE49-F238E27FC236}">
                <a16:creationId xmlns:a16="http://schemas.microsoft.com/office/drawing/2014/main" id="{55FAE5A6-E7D9-4601-BE89-97C29485FFF0}"/>
              </a:ext>
            </a:extLst>
          </p:cNvPr>
          <p:cNvSpPr/>
          <p:nvPr/>
        </p:nvSpPr>
        <p:spPr>
          <a:xfrm>
            <a:off x="2936870" y="3732391"/>
            <a:ext cx="1272310" cy="60892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Detection</a:t>
            </a:r>
          </a:p>
        </p:txBody>
      </p:sp>
      <p:sp>
        <p:nvSpPr>
          <p:cNvPr id="27" name="Rectangle: Rounded Corners 26">
            <a:extLst>
              <a:ext uri="{FF2B5EF4-FFF2-40B4-BE49-F238E27FC236}">
                <a16:creationId xmlns:a16="http://schemas.microsoft.com/office/drawing/2014/main" id="{6911B664-AF6E-4E19-B08D-F82231DD336A}"/>
              </a:ext>
            </a:extLst>
          </p:cNvPr>
          <p:cNvSpPr/>
          <p:nvPr/>
        </p:nvSpPr>
        <p:spPr>
          <a:xfrm>
            <a:off x="6749545" y="3762644"/>
            <a:ext cx="1229040" cy="578673"/>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Response</a:t>
            </a:r>
          </a:p>
        </p:txBody>
      </p:sp>
      <p:cxnSp>
        <p:nvCxnSpPr>
          <p:cNvPr id="49" name="Straight Arrow Connector 48">
            <a:extLst>
              <a:ext uri="{FF2B5EF4-FFF2-40B4-BE49-F238E27FC236}">
                <a16:creationId xmlns:a16="http://schemas.microsoft.com/office/drawing/2014/main" id="{CD2113B0-F685-429C-8C1C-A4813F6B9ED0}"/>
              </a:ext>
            </a:extLst>
          </p:cNvPr>
          <p:cNvCxnSpPr>
            <a:cxnSpLocks/>
          </p:cNvCxnSpPr>
          <p:nvPr/>
        </p:nvCxnSpPr>
        <p:spPr>
          <a:xfrm flipV="1">
            <a:off x="4198578" y="4041758"/>
            <a:ext cx="802856" cy="844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845CB123-4ADC-4A93-AC42-08B2D887823B}"/>
                  </a:ext>
                </a:extLst>
              </p:cNvPr>
              <p:cNvSpPr txBox="1"/>
              <p:nvPr/>
            </p:nvSpPr>
            <p:spPr>
              <a:xfrm>
                <a:off x="4601487" y="3892916"/>
                <a:ext cx="1508168" cy="2689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100" i="1">
                              <a:latin typeface="Cambria Math" panose="02040503050406030204" pitchFamily="18" charset="0"/>
                            </a:rPr>
                          </m:ctrlPr>
                        </m:sSubPr>
                        <m:e>
                          <m:r>
                            <a:rPr lang="en-US" sz="1100" i="1">
                              <a:latin typeface="Cambria Math" panose="02040503050406030204" pitchFamily="18" charset="0"/>
                            </a:rPr>
                            <m:t>𝐷</m:t>
                          </m:r>
                        </m:e>
                        <m:sub>
                          <m:r>
                            <a:rPr lang="en-US" sz="1100" i="1">
                              <a:latin typeface="Cambria Math" panose="02040503050406030204" pitchFamily="18" charset="0"/>
                            </a:rPr>
                            <m:t>𝑒</m:t>
                          </m:r>
                          <m:r>
                            <a:rPr lang="en-US" sz="1100" i="1">
                              <a:latin typeface="Cambria Math" panose="02040503050406030204" pitchFamily="18" charset="0"/>
                            </a:rPr>
                            <m:t>,</m:t>
                          </m:r>
                          <m:r>
                            <a:rPr lang="en-US" sz="1100" i="1">
                              <a:latin typeface="Cambria Math" panose="02040503050406030204" pitchFamily="18" charset="0"/>
                            </a:rPr>
                            <m:t>𝑖</m:t>
                          </m:r>
                        </m:sub>
                      </m:sSub>
                      <m:r>
                        <a:rPr lang="en-US" sz="1100" b="0" i="0" smtClean="0">
                          <a:latin typeface="Cambria Math" panose="02040503050406030204" pitchFamily="18" charset="0"/>
                        </a:rPr>
                        <m:t>=1</m:t>
                      </m:r>
                      <m:r>
                        <a:rPr lang="en-US" sz="1100" b="0" i="0" smtClean="0">
                          <a:latin typeface="Cambria Math" panose="02040503050406030204" pitchFamily="18" charset="0"/>
                        </a:rPr>
                        <m:t> </m:t>
                      </m:r>
                    </m:oMath>
                  </m:oMathPara>
                </a14:m>
                <a:endParaRPr lang="en-US" sz="1100" dirty="0"/>
              </a:p>
            </p:txBody>
          </p:sp>
        </mc:Choice>
        <mc:Fallback>
          <p:sp>
            <p:nvSpPr>
              <p:cNvPr id="50" name="TextBox 49">
                <a:extLst>
                  <a:ext uri="{FF2B5EF4-FFF2-40B4-BE49-F238E27FC236}">
                    <a16:creationId xmlns:a16="http://schemas.microsoft.com/office/drawing/2014/main" id="{845CB123-4ADC-4A93-AC42-08B2D887823B}"/>
                  </a:ext>
                </a:extLst>
              </p:cNvPr>
              <p:cNvSpPr txBox="1">
                <a:spLocks noRot="1" noChangeAspect="1" noMove="1" noResize="1" noEditPoints="1" noAdjustHandles="1" noChangeArrowheads="1" noChangeShapeType="1" noTextEdit="1"/>
              </p:cNvSpPr>
              <p:nvPr/>
            </p:nvSpPr>
            <p:spPr>
              <a:xfrm>
                <a:off x="4601487" y="3892916"/>
                <a:ext cx="1508168" cy="268984"/>
              </a:xfrm>
              <a:prstGeom prst="rect">
                <a:avLst/>
              </a:prstGeom>
              <a:blipFill>
                <a:blip r:embed="rId9"/>
                <a:stretch>
                  <a:fillRect/>
                </a:stretch>
              </a:blipFill>
            </p:spPr>
            <p:txBody>
              <a:bodyPr/>
              <a:lstStyle/>
              <a:p>
                <a:r>
                  <a:rPr lang="en-US">
                    <a:noFill/>
                  </a:rPr>
                  <a:t> </a:t>
                </a:r>
              </a:p>
            </p:txBody>
          </p:sp>
        </mc:Fallback>
      </mc:AlternateContent>
      <p:cxnSp>
        <p:nvCxnSpPr>
          <p:cNvPr id="51" name="Straight Arrow Connector 50">
            <a:extLst>
              <a:ext uri="{FF2B5EF4-FFF2-40B4-BE49-F238E27FC236}">
                <a16:creationId xmlns:a16="http://schemas.microsoft.com/office/drawing/2014/main" id="{1107AE0D-0830-4232-80AA-631C3328DE32}"/>
              </a:ext>
            </a:extLst>
          </p:cNvPr>
          <p:cNvCxnSpPr>
            <a:cxnSpLocks/>
          </p:cNvCxnSpPr>
          <p:nvPr/>
        </p:nvCxnSpPr>
        <p:spPr>
          <a:xfrm>
            <a:off x="5684269" y="4039046"/>
            <a:ext cx="1089904" cy="2613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0726A67B-E198-40AC-AB28-5589CFBBE445}"/>
                  </a:ext>
                </a:extLst>
              </p:cNvPr>
              <p:cNvSpPr txBox="1"/>
              <p:nvPr/>
            </p:nvSpPr>
            <p:spPr>
              <a:xfrm>
                <a:off x="5739207" y="3739794"/>
                <a:ext cx="1068709" cy="335989"/>
              </a:xfrm>
              <a:prstGeom prst="rect">
                <a:avLst/>
              </a:prstGeom>
              <a:noFill/>
            </p:spPr>
            <p:txBody>
              <a:bodyPr wrap="square">
                <a:spAutoFit/>
              </a:bodyPr>
              <a:lstStyle/>
              <a:p>
                <a:pPr/>
                <a14:m>
                  <m:oMath xmlns:m="http://schemas.openxmlformats.org/officeDocument/2006/math">
                    <m:sSub>
                      <m:sSubPr>
                        <m:ctrlPr>
                          <a:rPr lang="en-US" sz="1400" i="1" smtClean="0">
                            <a:latin typeface="Cambria Math" panose="02040503050406030204" pitchFamily="18" charset="0"/>
                          </a:rPr>
                        </m:ctrlPr>
                      </m:sSubPr>
                      <m:e>
                        <m:r>
                          <a:rPr lang="en-US" sz="1400" i="1">
                            <a:latin typeface="Cambria Math" panose="02040503050406030204" pitchFamily="18" charset="0"/>
                          </a:rPr>
                          <m:t>𝐹</m:t>
                        </m:r>
                      </m:e>
                      <m:sub>
                        <m:r>
                          <a:rPr lang="en-US" sz="1400" i="1">
                            <a:latin typeface="Cambria Math" panose="02040503050406030204" pitchFamily="18" charset="0"/>
                          </a:rPr>
                          <m:t>𝑒</m:t>
                        </m:r>
                        <m:r>
                          <a:rPr lang="en-US" sz="1400" i="1">
                            <a:latin typeface="Cambria Math" panose="02040503050406030204" pitchFamily="18" charset="0"/>
                          </a:rPr>
                          <m:t>,</m:t>
                        </m:r>
                        <m:r>
                          <a:rPr lang="en-US" sz="1400" i="1">
                            <a:latin typeface="Cambria Math" panose="02040503050406030204" pitchFamily="18" charset="0"/>
                          </a:rPr>
                          <m:t>𝑖</m:t>
                        </m:r>
                      </m:sub>
                    </m:sSub>
                  </m:oMath>
                </a14:m>
                <a:r>
                  <a:rPr lang="en-US" sz="1400" dirty="0"/>
                  <a:t>,</a:t>
                </a:r>
                <a:r>
                  <a:rPr lang="en-US" altLang="zh-TW" sz="1400" dirty="0"/>
                  <a:t> </a:t>
                </a:r>
                <a14:m>
                  <m:oMath xmlns:m="http://schemas.openxmlformats.org/officeDocument/2006/math">
                    <m:sSubSup>
                      <m:sSubSupPr>
                        <m:ctrlPr>
                          <a:rPr lang="en-US" altLang="zh-TW" sz="1400" i="1">
                            <a:latin typeface="Cambria Math" panose="02040503050406030204" pitchFamily="18" charset="0"/>
                          </a:rPr>
                        </m:ctrlPr>
                      </m:sSubSupPr>
                      <m:e>
                        <m:r>
                          <a:rPr lang="en-US" altLang="zh-TW" sz="1400" i="1">
                            <a:latin typeface="Cambria Math" panose="02040503050406030204" pitchFamily="18" charset="0"/>
                          </a:rPr>
                          <m:t>𝑂</m:t>
                        </m:r>
                      </m:e>
                      <m:sub>
                        <m:r>
                          <a:rPr lang="en-US" altLang="zh-TW" sz="1400" i="1">
                            <a:latin typeface="Cambria Math" panose="02040503050406030204" pitchFamily="18" charset="0"/>
                          </a:rPr>
                          <m:t>𝑒</m:t>
                        </m:r>
                        <m:r>
                          <a:rPr lang="en-US" altLang="zh-TW" sz="1400" i="1">
                            <a:latin typeface="Cambria Math" panose="02040503050406030204" pitchFamily="18" charset="0"/>
                          </a:rPr>
                          <m:t>,</m:t>
                        </m:r>
                        <m:r>
                          <a:rPr lang="en-US" altLang="zh-TW" sz="1400" i="1">
                            <a:latin typeface="Cambria Math" panose="02040503050406030204" pitchFamily="18" charset="0"/>
                          </a:rPr>
                          <m:t>𝑖</m:t>
                        </m:r>
                      </m:sub>
                      <m:sup>
                        <m:r>
                          <a:rPr lang="en-US" altLang="zh-TW" sz="1400" i="1">
                            <a:latin typeface="Cambria Math" panose="02040503050406030204" pitchFamily="18" charset="0"/>
                          </a:rPr>
                          <m:t>𝐵</m:t>
                        </m:r>
                      </m:sup>
                    </m:sSubSup>
                  </m:oMath>
                </a14:m>
                <a:endParaRPr lang="en-US" sz="1400" dirty="0"/>
              </a:p>
            </p:txBody>
          </p:sp>
        </mc:Choice>
        <mc:Fallback>
          <p:sp>
            <p:nvSpPr>
              <p:cNvPr id="52" name="TextBox 51">
                <a:extLst>
                  <a:ext uri="{FF2B5EF4-FFF2-40B4-BE49-F238E27FC236}">
                    <a16:creationId xmlns:a16="http://schemas.microsoft.com/office/drawing/2014/main" id="{0726A67B-E198-40AC-AB28-5589CFBBE445}"/>
                  </a:ext>
                </a:extLst>
              </p:cNvPr>
              <p:cNvSpPr txBox="1">
                <a:spLocks noRot="1" noChangeAspect="1" noMove="1" noResize="1" noEditPoints="1" noAdjustHandles="1" noChangeArrowheads="1" noChangeShapeType="1" noTextEdit="1"/>
              </p:cNvSpPr>
              <p:nvPr/>
            </p:nvSpPr>
            <p:spPr>
              <a:xfrm>
                <a:off x="5739207" y="3739794"/>
                <a:ext cx="1068709" cy="335989"/>
              </a:xfrm>
              <a:prstGeom prst="rect">
                <a:avLst/>
              </a:prstGeom>
              <a:blipFill>
                <a:blip r:embed="rId10"/>
                <a:stretch>
                  <a:fillRect b="-12500"/>
                </a:stretch>
              </a:blipFill>
            </p:spPr>
            <p:txBody>
              <a:bodyPr/>
              <a:lstStyle/>
              <a:p>
                <a:r>
                  <a:rPr lang="en-US">
                    <a:noFill/>
                  </a:rPr>
                  <a:t> </a:t>
                </a:r>
              </a:p>
            </p:txBody>
          </p:sp>
        </mc:Fallback>
      </mc:AlternateContent>
      <p:sp>
        <p:nvSpPr>
          <p:cNvPr id="54" name="Flowchart: Magnetic Disk 53">
            <a:extLst>
              <a:ext uri="{FF2B5EF4-FFF2-40B4-BE49-F238E27FC236}">
                <a16:creationId xmlns:a16="http://schemas.microsoft.com/office/drawing/2014/main" id="{37ADDF88-7BC0-4B12-9602-582E4163CEF4}"/>
              </a:ext>
            </a:extLst>
          </p:cNvPr>
          <p:cNvSpPr/>
          <p:nvPr/>
        </p:nvSpPr>
        <p:spPr>
          <a:xfrm>
            <a:off x="6967556" y="4768164"/>
            <a:ext cx="793017" cy="535496"/>
          </a:xfrm>
          <a:prstGeom prst="flowChartMagneticDisk">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900" dirty="0"/>
              <a:t>Blue Action Space</a:t>
            </a:r>
          </a:p>
        </p:txBody>
      </p:sp>
      <p:cxnSp>
        <p:nvCxnSpPr>
          <p:cNvPr id="55" name="Straight Arrow Connector 54">
            <a:extLst>
              <a:ext uri="{FF2B5EF4-FFF2-40B4-BE49-F238E27FC236}">
                <a16:creationId xmlns:a16="http://schemas.microsoft.com/office/drawing/2014/main" id="{A7F93AAB-8EC1-4EAE-9EAE-CBAFB42CA4E1}"/>
              </a:ext>
            </a:extLst>
          </p:cNvPr>
          <p:cNvCxnSpPr>
            <a:cxnSpLocks/>
          </p:cNvCxnSpPr>
          <p:nvPr/>
        </p:nvCxnSpPr>
        <p:spPr>
          <a:xfrm flipV="1">
            <a:off x="7314608" y="4341317"/>
            <a:ext cx="0" cy="426847"/>
          </a:xfrm>
          <a:prstGeom prst="straightConnector1">
            <a:avLst/>
          </a:prstGeom>
          <a:ln>
            <a:prstDash val="sysDot"/>
            <a:tailEnd type="triangle"/>
          </a:ln>
        </p:spPr>
        <p:style>
          <a:lnRef idx="3">
            <a:schemeClr val="dk1"/>
          </a:lnRef>
          <a:fillRef idx="0">
            <a:schemeClr val="dk1"/>
          </a:fillRef>
          <a:effectRef idx="2">
            <a:schemeClr val="dk1"/>
          </a:effectRef>
          <a:fontRef idx="minor">
            <a:schemeClr val="tx1"/>
          </a:fontRef>
        </p:style>
      </p:cxnSp>
      <mc:AlternateContent xmlns:mc="http://schemas.openxmlformats.org/markup-compatibility/2006">
        <mc:Choice xmlns:a14="http://schemas.microsoft.com/office/drawing/2010/main" Requires="a14">
          <p:sp>
            <p:nvSpPr>
              <p:cNvPr id="56" name="TextBox 55">
                <a:extLst>
                  <a:ext uri="{FF2B5EF4-FFF2-40B4-BE49-F238E27FC236}">
                    <a16:creationId xmlns:a16="http://schemas.microsoft.com/office/drawing/2014/main" id="{A7B7E761-8C7A-4A46-881C-D076B65E69A8}"/>
                  </a:ext>
                </a:extLst>
              </p:cNvPr>
              <p:cNvSpPr txBox="1"/>
              <p:nvPr/>
            </p:nvSpPr>
            <p:spPr>
              <a:xfrm>
                <a:off x="4252625" y="3747955"/>
                <a:ext cx="378206" cy="3172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𝐷</m:t>
                          </m:r>
                        </m:e>
                        <m:sub>
                          <m:r>
                            <a:rPr lang="en-US" sz="1400" b="0" i="1" smtClean="0">
                              <a:latin typeface="Cambria Math" panose="02040503050406030204" pitchFamily="18" charset="0"/>
                            </a:rPr>
                            <m:t>𝑒</m:t>
                          </m:r>
                          <m:r>
                            <a:rPr lang="en-US" sz="1400" b="0" i="1" smtClean="0">
                              <a:latin typeface="Cambria Math" panose="02040503050406030204" pitchFamily="18" charset="0"/>
                            </a:rPr>
                            <m:t>,</m:t>
                          </m:r>
                          <m:r>
                            <a:rPr lang="en-US" sz="1400" b="0" i="1" smtClean="0">
                              <a:latin typeface="Cambria Math" panose="02040503050406030204" pitchFamily="18" charset="0"/>
                            </a:rPr>
                            <m:t>𝑖</m:t>
                          </m:r>
                        </m:sub>
                      </m:sSub>
                    </m:oMath>
                  </m:oMathPara>
                </a14:m>
                <a:endParaRPr lang="en-US" sz="1400" dirty="0"/>
              </a:p>
            </p:txBody>
          </p:sp>
        </mc:Choice>
        <mc:Fallback>
          <p:sp>
            <p:nvSpPr>
              <p:cNvPr id="56" name="TextBox 55">
                <a:extLst>
                  <a:ext uri="{FF2B5EF4-FFF2-40B4-BE49-F238E27FC236}">
                    <a16:creationId xmlns:a16="http://schemas.microsoft.com/office/drawing/2014/main" id="{A7B7E761-8C7A-4A46-881C-D076B65E69A8}"/>
                  </a:ext>
                </a:extLst>
              </p:cNvPr>
              <p:cNvSpPr txBox="1">
                <a:spLocks noRot="1" noChangeAspect="1" noMove="1" noResize="1" noEditPoints="1" noAdjustHandles="1" noChangeArrowheads="1" noChangeShapeType="1" noTextEdit="1"/>
              </p:cNvSpPr>
              <p:nvPr/>
            </p:nvSpPr>
            <p:spPr>
              <a:xfrm>
                <a:off x="4252625" y="3747955"/>
                <a:ext cx="378206" cy="317203"/>
              </a:xfrm>
              <a:prstGeom prst="rect">
                <a:avLst/>
              </a:prstGeom>
              <a:blipFill>
                <a:blip r:embed="rId11"/>
                <a:stretch>
                  <a:fillRect r="-3226"/>
                </a:stretch>
              </a:blipFill>
            </p:spPr>
            <p:txBody>
              <a:bodyPr/>
              <a:lstStyle/>
              <a:p>
                <a:r>
                  <a:rPr lang="en-US">
                    <a:noFill/>
                  </a:rPr>
                  <a:t> </a:t>
                </a:r>
              </a:p>
            </p:txBody>
          </p:sp>
        </mc:Fallback>
      </mc:AlternateContent>
      <p:cxnSp>
        <p:nvCxnSpPr>
          <p:cNvPr id="57" name="Connector: Elbow 56">
            <a:extLst>
              <a:ext uri="{FF2B5EF4-FFF2-40B4-BE49-F238E27FC236}">
                <a16:creationId xmlns:a16="http://schemas.microsoft.com/office/drawing/2014/main" id="{4DF61CE6-BCA0-48E0-9D11-2511FE64A39A}"/>
              </a:ext>
            </a:extLst>
          </p:cNvPr>
          <p:cNvCxnSpPr>
            <a:cxnSpLocks/>
            <a:stCxn id="15" idx="2"/>
            <a:endCxn id="28" idx="3"/>
          </p:cNvCxnSpPr>
          <p:nvPr/>
        </p:nvCxnSpPr>
        <p:spPr>
          <a:xfrm rot="5400000" flipH="1" flipV="1">
            <a:off x="7191051" y="2474894"/>
            <a:ext cx="14529" cy="3718577"/>
          </a:xfrm>
          <a:prstGeom prst="bentConnector4">
            <a:avLst>
              <a:gd name="adj1" fmla="val -2350616"/>
              <a:gd name="adj2" fmla="val 92259"/>
            </a:avLst>
          </a:prstGeom>
          <a:ln>
            <a:tailEnd type="triangle"/>
          </a:ln>
        </p:spPr>
        <p:style>
          <a:lnRef idx="1">
            <a:schemeClr val="dk1"/>
          </a:lnRef>
          <a:fillRef idx="0">
            <a:schemeClr val="dk1"/>
          </a:fillRef>
          <a:effectRef idx="0">
            <a:schemeClr val="dk1"/>
          </a:effectRef>
          <a:fontRef idx="minor">
            <a:schemeClr val="tx1"/>
          </a:fontRef>
        </p:style>
      </p:cxnSp>
      <p:cxnSp>
        <p:nvCxnSpPr>
          <p:cNvPr id="63" name="Connector: Elbow 62">
            <a:extLst>
              <a:ext uri="{FF2B5EF4-FFF2-40B4-BE49-F238E27FC236}">
                <a16:creationId xmlns:a16="http://schemas.microsoft.com/office/drawing/2014/main" id="{3085C755-083D-4D4B-BF66-DFE358160B00}"/>
              </a:ext>
            </a:extLst>
          </p:cNvPr>
          <p:cNvCxnSpPr>
            <a:endCxn id="28" idx="3"/>
          </p:cNvCxnSpPr>
          <p:nvPr/>
        </p:nvCxnSpPr>
        <p:spPr>
          <a:xfrm>
            <a:off x="7996912" y="4045981"/>
            <a:ext cx="1060693" cy="280937"/>
          </a:xfrm>
          <a:prstGeom prst="bentConnector3">
            <a:avLst>
              <a:gd name="adj1" fmla="val 72860"/>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67" name="TextBox 66">
                <a:extLst>
                  <a:ext uri="{FF2B5EF4-FFF2-40B4-BE49-F238E27FC236}">
                    <a16:creationId xmlns:a16="http://schemas.microsoft.com/office/drawing/2014/main" id="{C29FD42E-DC47-4FFD-9964-9D94D4788506}"/>
                  </a:ext>
                </a:extLst>
              </p:cNvPr>
              <p:cNvSpPr txBox="1"/>
              <p:nvPr/>
            </p:nvSpPr>
            <p:spPr>
              <a:xfrm>
                <a:off x="5284459" y="4341317"/>
                <a:ext cx="1492211" cy="3359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TW" sz="1400" i="1" smtClean="0">
                              <a:latin typeface="Cambria Math" panose="02040503050406030204" pitchFamily="18" charset="0"/>
                            </a:rPr>
                          </m:ctrlPr>
                        </m:sSubSupPr>
                        <m:e>
                          <m:r>
                            <a:rPr lang="en-US" altLang="zh-TW" sz="1400" i="1">
                              <a:latin typeface="Cambria Math" panose="02040503050406030204" pitchFamily="18" charset="0"/>
                            </a:rPr>
                            <m:t>𝑎</m:t>
                          </m:r>
                        </m:e>
                        <m:sub>
                          <m:r>
                            <a:rPr lang="en-US" altLang="zh-TW" sz="1400" i="1">
                              <a:latin typeface="Cambria Math" panose="02040503050406030204" pitchFamily="18" charset="0"/>
                            </a:rPr>
                            <m:t>𝑒</m:t>
                          </m:r>
                          <m:r>
                            <a:rPr lang="en-US" altLang="zh-TW" sz="1400" i="1">
                              <a:latin typeface="Cambria Math" panose="02040503050406030204" pitchFamily="18" charset="0"/>
                            </a:rPr>
                            <m:t>,</m:t>
                          </m:r>
                          <m:r>
                            <a:rPr lang="en-US" altLang="zh-TW" sz="1400" i="1">
                              <a:latin typeface="Cambria Math" panose="02040503050406030204" pitchFamily="18" charset="0"/>
                            </a:rPr>
                            <m:t>𝑖</m:t>
                          </m:r>
                        </m:sub>
                        <m:sup>
                          <m:r>
                            <a:rPr lang="en-US" altLang="zh-TW" sz="1400" i="1">
                              <a:latin typeface="Cambria Math" panose="02040503050406030204" pitchFamily="18" charset="0"/>
                            </a:rPr>
                            <m:t>𝐵</m:t>
                          </m:r>
                        </m:sup>
                      </m:sSubSup>
                      <m:r>
                        <a:rPr lang="en-US" altLang="zh-TW" sz="1400" b="0" i="1" smtClean="0">
                          <a:latin typeface="Cambria Math" panose="02040503050406030204" pitchFamily="18" charset="0"/>
                        </a:rPr>
                        <m:t>=</m:t>
                      </m:r>
                      <m:r>
                        <a:rPr lang="en-US" altLang="zh-TW" sz="1400" b="0" i="1" smtClean="0">
                          <a:latin typeface="Cambria Math" panose="02040503050406030204" pitchFamily="18" charset="0"/>
                        </a:rPr>
                        <m:t>𝑛𝑜𝑛𝑒</m:t>
                      </m:r>
                    </m:oMath>
                  </m:oMathPara>
                </a14:m>
                <a:endParaRPr lang="en-US" sz="1400" dirty="0"/>
              </a:p>
            </p:txBody>
          </p:sp>
        </mc:Choice>
        <mc:Fallback>
          <p:sp>
            <p:nvSpPr>
              <p:cNvPr id="67" name="TextBox 66">
                <a:extLst>
                  <a:ext uri="{FF2B5EF4-FFF2-40B4-BE49-F238E27FC236}">
                    <a16:creationId xmlns:a16="http://schemas.microsoft.com/office/drawing/2014/main" id="{C29FD42E-DC47-4FFD-9964-9D94D4788506}"/>
                  </a:ext>
                </a:extLst>
              </p:cNvPr>
              <p:cNvSpPr txBox="1">
                <a:spLocks noRot="1" noChangeAspect="1" noMove="1" noResize="1" noEditPoints="1" noAdjustHandles="1" noChangeArrowheads="1" noChangeShapeType="1" noTextEdit="1"/>
              </p:cNvSpPr>
              <p:nvPr/>
            </p:nvSpPr>
            <p:spPr>
              <a:xfrm>
                <a:off x="5284459" y="4341317"/>
                <a:ext cx="1492211" cy="335989"/>
              </a:xfrm>
              <a:prstGeom prst="rect">
                <a:avLst/>
              </a:prstGeom>
              <a:blipFill>
                <a:blip r:embed="rId1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2070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2E5EE-4E08-1317-C362-D796E5D49CD7}"/>
            </a:ext>
          </a:extLst>
        </p:cNvPr>
        <p:cNvGrpSpPr/>
        <p:nvPr/>
      </p:nvGrpSpPr>
      <p:grpSpPr>
        <a:xfrm>
          <a:off x="0" y="0"/>
          <a:ext cx="0" cy="0"/>
          <a:chOff x="0" y="0"/>
          <a:chExt cx="0" cy="0"/>
        </a:xfrm>
      </p:grpSpPr>
      <p:sp>
        <p:nvSpPr>
          <p:cNvPr id="123" name="Slide Number Placeholder 3">
            <a:extLst>
              <a:ext uri="{FF2B5EF4-FFF2-40B4-BE49-F238E27FC236}">
                <a16:creationId xmlns:a16="http://schemas.microsoft.com/office/drawing/2014/main" id="{5B546E56-669E-3456-82DB-A698492B4B6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22</a:t>
            </a:fld>
            <a:endParaRPr lang="en-US" dirty="0"/>
          </a:p>
        </p:txBody>
      </p:sp>
      <p:sp>
        <p:nvSpPr>
          <p:cNvPr id="2" name="Title 1">
            <a:extLst>
              <a:ext uri="{FF2B5EF4-FFF2-40B4-BE49-F238E27FC236}">
                <a16:creationId xmlns:a16="http://schemas.microsoft.com/office/drawing/2014/main" id="{57F90826-5391-469C-9E25-6C35A093825D}"/>
              </a:ext>
            </a:extLst>
          </p:cNvPr>
          <p:cNvSpPr>
            <a:spLocks noGrp="1"/>
          </p:cNvSpPr>
          <p:nvPr>
            <p:ph type="title"/>
          </p:nvPr>
        </p:nvSpPr>
        <p:spPr>
          <a:xfrm>
            <a:off x="112174" y="-152400"/>
            <a:ext cx="10515600" cy="1325563"/>
          </a:xfrm>
        </p:spPr>
        <p:txBody>
          <a:bodyPr>
            <a:normAutofit/>
          </a:bodyPr>
          <a:lstStyle/>
          <a:p>
            <a:pPr algn="just"/>
            <a:r>
              <a:rPr lang="en-US" dirty="0"/>
              <a:t>Solution</a:t>
            </a:r>
            <a:r>
              <a:rPr lang="en-US" spc="-22" dirty="0"/>
              <a:t> </a:t>
            </a:r>
            <a:r>
              <a:rPr lang="en-US" dirty="0"/>
              <a:t>–</a:t>
            </a:r>
            <a:r>
              <a:rPr lang="en-US" spc="-9" dirty="0"/>
              <a:t> </a:t>
            </a:r>
            <a:r>
              <a:rPr lang="en-US" dirty="0"/>
              <a:t>Blue</a:t>
            </a:r>
            <a:r>
              <a:rPr lang="en-US" spc="-168" dirty="0"/>
              <a:t> </a:t>
            </a:r>
            <a:r>
              <a:rPr lang="en-US" dirty="0"/>
              <a:t>Agent Algorithm</a:t>
            </a:r>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4FE06FE-0614-4803-9C99-25DDC59A2EDC}"/>
              </a:ext>
            </a:extLst>
          </p:cNvPr>
          <p:cNvPicPr>
            <a:picLocks noChangeAspect="1"/>
          </p:cNvPicPr>
          <p:nvPr/>
        </p:nvPicPr>
        <p:blipFill>
          <a:blip r:embed="rId3"/>
          <a:stretch>
            <a:fillRect/>
          </a:stretch>
        </p:blipFill>
        <p:spPr>
          <a:xfrm>
            <a:off x="582083" y="956917"/>
            <a:ext cx="8609541" cy="5620568"/>
          </a:xfrm>
          <a:prstGeom prst="rect">
            <a:avLst/>
          </a:prstGeom>
        </p:spPr>
      </p:pic>
    </p:spTree>
    <p:extLst>
      <p:ext uri="{BB962C8B-B14F-4D97-AF65-F5344CB8AC3E}">
        <p14:creationId xmlns:p14="http://schemas.microsoft.com/office/powerpoint/2010/main" val="3559556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F37A8-AB0D-8909-92C2-08F4D1E0AAB0}"/>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7E6C5289-F847-7CDF-EE02-29140899DC10}"/>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23</a:t>
            </a:fld>
            <a:endParaRPr lang="en-US" dirty="0"/>
          </a:p>
        </p:txBody>
      </p:sp>
      <p:sp>
        <p:nvSpPr>
          <p:cNvPr id="5" name="Title 1">
            <a:extLst>
              <a:ext uri="{FF2B5EF4-FFF2-40B4-BE49-F238E27FC236}">
                <a16:creationId xmlns:a16="http://schemas.microsoft.com/office/drawing/2014/main" id="{555585AB-6CB6-03B3-E128-804BFAB3396D}"/>
              </a:ext>
            </a:extLst>
          </p:cNvPr>
          <p:cNvSpPr>
            <a:spLocks noGrp="1"/>
          </p:cNvSpPr>
          <p:nvPr>
            <p:ph type="title"/>
          </p:nvPr>
        </p:nvSpPr>
        <p:spPr>
          <a:xfrm>
            <a:off x="465666" y="76200"/>
            <a:ext cx="10515600" cy="1325563"/>
          </a:xfrm>
        </p:spPr>
        <p:txBody>
          <a:bodyPr/>
          <a:lstStyle/>
          <a:p>
            <a:r>
              <a:rPr lang="en-US" dirty="0">
                <a:latin typeface="Times New Roman" panose="02020603050405020304" pitchFamily="18" charset="0"/>
                <a:cs typeface="Times New Roman" panose="02020603050405020304" pitchFamily="18" charset="0"/>
              </a:rPr>
              <a:t>Solution – </a:t>
            </a:r>
            <a:r>
              <a:rPr lang="en-US" dirty="0"/>
              <a:t>ATT&amp;CK</a:t>
            </a:r>
            <a:r>
              <a:rPr lang="en-US" dirty="0">
                <a:latin typeface="Times New Roman" panose="02020603050405020304" pitchFamily="18" charset="0"/>
                <a:cs typeface="Times New Roman" panose="02020603050405020304" pitchFamily="18" charset="0"/>
              </a:rPr>
              <a:t> </a:t>
            </a:r>
            <a:r>
              <a:rPr lang="en-US" dirty="0"/>
              <a:t>Graph </a:t>
            </a:r>
            <a:r>
              <a:rPr lang="en-US" dirty="0">
                <a:latin typeface="Times New Roman" panose="02020603050405020304" pitchFamily="18" charset="0"/>
                <a:cs typeface="Times New Roman" panose="02020603050405020304" pitchFamily="18" charset="0"/>
              </a:rPr>
              <a:t>for Red Team Agent </a:t>
            </a:r>
            <a:endParaRPr lang="en-US" dirty="0"/>
          </a:p>
        </p:txBody>
      </p:sp>
      <p:pic>
        <p:nvPicPr>
          <p:cNvPr id="3" name="Picture 2">
            <a:extLst>
              <a:ext uri="{FF2B5EF4-FFF2-40B4-BE49-F238E27FC236}">
                <a16:creationId xmlns:a16="http://schemas.microsoft.com/office/drawing/2014/main" id="{3F8F65E2-CB1A-46F5-944C-7651494FB0D6}"/>
              </a:ext>
            </a:extLst>
          </p:cNvPr>
          <p:cNvPicPr>
            <a:picLocks noChangeAspect="1"/>
          </p:cNvPicPr>
          <p:nvPr/>
        </p:nvPicPr>
        <p:blipFill>
          <a:blip r:embed="rId3"/>
          <a:stretch>
            <a:fillRect/>
          </a:stretch>
        </p:blipFill>
        <p:spPr>
          <a:xfrm>
            <a:off x="223805" y="1592223"/>
            <a:ext cx="10757461" cy="4846124"/>
          </a:xfrm>
          <a:prstGeom prst="rect">
            <a:avLst/>
          </a:prstGeom>
        </p:spPr>
      </p:pic>
    </p:spTree>
    <p:extLst>
      <p:ext uri="{BB962C8B-B14F-4D97-AF65-F5344CB8AC3E}">
        <p14:creationId xmlns:p14="http://schemas.microsoft.com/office/powerpoint/2010/main" val="445863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27F3-CE82-FB43-4668-A8887B4BF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7C4B8-CB67-F407-0780-863215A0E79B}"/>
              </a:ext>
            </a:extLst>
          </p:cNvPr>
          <p:cNvSpPr>
            <a:spLocks noGrp="1"/>
          </p:cNvSpPr>
          <p:nvPr>
            <p:ph type="title"/>
          </p:nvPr>
        </p:nvSpPr>
        <p:spPr>
          <a:xfrm>
            <a:off x="237565" y="-231893"/>
            <a:ext cx="10515600" cy="1325563"/>
          </a:xfrm>
        </p:spPr>
        <p:txBody>
          <a:bodyPr>
            <a:normAutofit/>
          </a:bodyPr>
          <a:lstStyle/>
          <a:p>
            <a:br>
              <a:rPr lang="en-US" sz="3200" dirty="0"/>
            </a:br>
            <a:r>
              <a:rPr lang="en-US" sz="3200" dirty="0"/>
              <a:t>Simulation Execution Loop (Red PAMDP + Blue RL)</a:t>
            </a: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BC07FE32-FCF9-1F88-E2FC-409FFC74F9B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24</a:t>
            </a:fld>
            <a:endParaRPr lang="en-US" dirty="0"/>
          </a:p>
        </p:txBody>
      </p:sp>
      <p:sp>
        <p:nvSpPr>
          <p:cNvPr id="12" name="TextBox 11">
            <a:extLst>
              <a:ext uri="{FF2B5EF4-FFF2-40B4-BE49-F238E27FC236}">
                <a16:creationId xmlns:a16="http://schemas.microsoft.com/office/drawing/2014/main" id="{2F436A6D-A7D9-8634-489A-C8B91CEA2612}"/>
              </a:ext>
            </a:extLst>
          </p:cNvPr>
          <p:cNvSpPr txBox="1"/>
          <p:nvPr/>
        </p:nvSpPr>
        <p:spPr>
          <a:xfrm>
            <a:off x="358587" y="1093670"/>
            <a:ext cx="5271247" cy="5078313"/>
          </a:xfrm>
          <a:prstGeom prst="rect">
            <a:avLst/>
          </a:prstGeom>
          <a:noFill/>
          <a:ln>
            <a:solidFill>
              <a:schemeClr val="tx1"/>
            </a:solidFill>
          </a:ln>
        </p:spPr>
        <p:txBody>
          <a:bodyPr wrap="square">
            <a:spAutoFit/>
          </a:bodyPr>
          <a:lstStyle/>
          <a:p>
            <a:r>
              <a:rPr lang="en-US" dirty="0"/>
              <a:t>Initialize base_state using Recon + LLM</a:t>
            </a:r>
          </a:p>
          <a:p>
            <a:r>
              <a:rPr lang="en-US" dirty="0"/>
              <a:t>FOR each episode:</a:t>
            </a:r>
          </a:p>
          <a:p>
            <a:r>
              <a:rPr lang="en-US" dirty="0"/>
              <a:t>    Reset state ← base_state</a:t>
            </a:r>
          </a:p>
          <a:p>
            <a:r>
              <a:rPr lang="en-US" dirty="0"/>
              <a:t>    Select kill-chain path and initial target</a:t>
            </a:r>
          </a:p>
          <a:p>
            <a:r>
              <a:rPr lang="en-US" dirty="0"/>
              <a:t>    WHILE tactics remain AND goal not reached:</a:t>
            </a:r>
          </a:p>
          <a:p>
            <a:r>
              <a:rPr lang="en-US" dirty="0"/>
              <a:t>        Select valid technique via Red RL</a:t>
            </a:r>
          </a:p>
          <a:p>
            <a:r>
              <a:rPr lang="en-US" dirty="0"/>
              <a:t>        Execute technique in cyber range</a:t>
            </a:r>
          </a:p>
          <a:p>
            <a:r>
              <a:rPr lang="en-US" dirty="0"/>
              <a:t>        IF detected:</a:t>
            </a:r>
          </a:p>
          <a:p>
            <a:r>
              <a:rPr lang="en-US" dirty="0"/>
              <a:t>            Blue selects defensive action</a:t>
            </a:r>
          </a:p>
          <a:p>
            <a:r>
              <a:rPr lang="en-US" dirty="0"/>
              <a:t>            IF block or isolate:</a:t>
            </a:r>
          </a:p>
          <a:p>
            <a:r>
              <a:rPr lang="en-US" dirty="0"/>
              <a:t>                Reset episode</a:t>
            </a:r>
          </a:p>
          <a:p>
            <a:r>
              <a:rPr lang="en-US" dirty="0"/>
              <a:t>        IF execution successful:</a:t>
            </a:r>
          </a:p>
          <a:p>
            <a:r>
              <a:rPr lang="en-US" dirty="0"/>
              <a:t>            Update state via technique schema</a:t>
            </a:r>
          </a:p>
          <a:p>
            <a:r>
              <a:rPr lang="en-US" dirty="0"/>
              <a:t>            Assign rewards to Red and Blue</a:t>
            </a:r>
          </a:p>
          <a:p>
            <a:r>
              <a:rPr lang="en-US" dirty="0"/>
              <a:t>            IF lateral movement:</a:t>
            </a:r>
          </a:p>
          <a:p>
            <a:r>
              <a:rPr lang="en-US" dirty="0"/>
              <a:t>                Spawn next segment with new target</a:t>
            </a:r>
          </a:p>
          <a:p>
            <a:r>
              <a:rPr lang="en-US" dirty="0"/>
              <a:t>    END WHILE</a:t>
            </a:r>
          </a:p>
          <a:p>
            <a:r>
              <a:rPr lang="en-US" dirty="0"/>
              <a:t>END FOR</a:t>
            </a:r>
            <a:endParaRPr lang="en-IN" dirty="0"/>
          </a:p>
        </p:txBody>
      </p:sp>
      <p:sp>
        <p:nvSpPr>
          <p:cNvPr id="20" name="TextBox 19">
            <a:extLst>
              <a:ext uri="{FF2B5EF4-FFF2-40B4-BE49-F238E27FC236}">
                <a16:creationId xmlns:a16="http://schemas.microsoft.com/office/drawing/2014/main" id="{7A446A24-8DD1-5662-89D0-6D14FD8D3E35}"/>
              </a:ext>
            </a:extLst>
          </p:cNvPr>
          <p:cNvSpPr txBox="1"/>
          <p:nvPr/>
        </p:nvSpPr>
        <p:spPr>
          <a:xfrm>
            <a:off x="5970492" y="1093670"/>
            <a:ext cx="5271247" cy="3693319"/>
          </a:xfrm>
          <a:prstGeom prst="rect">
            <a:avLst/>
          </a:prstGeom>
          <a:noFill/>
          <a:ln>
            <a:solidFill>
              <a:schemeClr val="tx1"/>
            </a:solidFill>
          </a:ln>
        </p:spPr>
        <p:txBody>
          <a:bodyPr wrap="square">
            <a:spAutoFit/>
          </a:bodyPr>
          <a:lstStyle/>
          <a:p>
            <a:r>
              <a:rPr lang="en-US" b="1" dirty="0"/>
              <a:t>Input</a:t>
            </a:r>
            <a:r>
              <a:rPr lang="en-US" dirty="0"/>
              <a:t>:  </a:t>
            </a:r>
          </a:p>
          <a:p>
            <a:r>
              <a:rPr lang="en-US" dirty="0"/>
              <a:t>- base_state_json : initial state vector template (from Recon + LLM)  </a:t>
            </a:r>
          </a:p>
          <a:p>
            <a:pPr marL="285750" indent="-285750">
              <a:buFontTx/>
              <a:buChar char="-"/>
            </a:pPr>
            <a:r>
              <a:rPr lang="en-US" dirty="0"/>
              <a:t>technique_schemas : {TechniqueSchema} with required_state, required_params, expected_state_updates  </a:t>
            </a:r>
          </a:p>
          <a:p>
            <a:pPr marL="285750" indent="-285750">
              <a:buFontTx/>
              <a:buChar char="-"/>
            </a:pPr>
            <a:r>
              <a:rPr lang="en-US" dirty="0"/>
              <a:t>MAX_EPISODES  </a:t>
            </a:r>
          </a:p>
          <a:p>
            <a:pPr marL="285750" indent="-285750">
              <a:buFontTx/>
              <a:buChar char="-"/>
            </a:pPr>
            <a:r>
              <a:rPr lang="en-US" dirty="0"/>
              <a:t>MAX_SELECT_TRIES = 5          // max technique-selection attempts per tactic </a:t>
            </a:r>
          </a:p>
          <a:p>
            <a:pPr marL="285750" indent="-285750">
              <a:buFontTx/>
              <a:buChar char="-"/>
            </a:pPr>
            <a:r>
              <a:rPr lang="en-US" dirty="0"/>
              <a:t>MAX_EXEC_FAILS  = 5           // max execution failures before episode reset  </a:t>
            </a:r>
          </a:p>
          <a:p>
            <a:pPr marL="285750" indent="-285750">
              <a:buFontTx/>
              <a:buChar char="-"/>
            </a:pPr>
            <a:r>
              <a:rPr lang="en-US" b="1" dirty="0"/>
              <a:t>GOAL_HOST </a:t>
            </a:r>
            <a:r>
              <a:rPr lang="en-US" dirty="0"/>
              <a:t>= 192.168.81.131 </a:t>
            </a:r>
          </a:p>
          <a:p>
            <a:pPr marL="285750" indent="-285750">
              <a:buFontTx/>
              <a:buChar char="-"/>
            </a:pPr>
            <a:r>
              <a:rPr lang="en-US" b="1" dirty="0"/>
              <a:t>GOAL_TACTICS </a:t>
            </a:r>
            <a:r>
              <a:rPr lang="en-US" dirty="0"/>
              <a:t>= {Impact, Exfiltration}</a:t>
            </a:r>
            <a:endParaRPr lang="en-IN" dirty="0"/>
          </a:p>
        </p:txBody>
      </p:sp>
    </p:spTree>
    <p:extLst>
      <p:ext uri="{BB962C8B-B14F-4D97-AF65-F5344CB8AC3E}">
        <p14:creationId xmlns:p14="http://schemas.microsoft.com/office/powerpoint/2010/main" val="2496496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E165-649A-3E4C-7E5F-B818535E67B7}"/>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9520EA00-FD55-E22B-4F5C-A3025E46FB5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25</a:t>
            </a:fld>
            <a:endParaRPr lang="en-US" dirty="0"/>
          </a:p>
        </p:txBody>
      </p:sp>
      <p:pic>
        <p:nvPicPr>
          <p:cNvPr id="1026" name="Picture 2">
            <a:extLst>
              <a:ext uri="{FF2B5EF4-FFF2-40B4-BE49-F238E27FC236}">
                <a16:creationId xmlns:a16="http://schemas.microsoft.com/office/drawing/2014/main" id="{1BCA88DB-F5FA-481D-4FB8-863E3B88E0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 y="-1"/>
            <a:ext cx="11110072" cy="6926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703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22457" y="320563"/>
            <a:ext cx="6571324" cy="1325563"/>
          </a:xfrm>
        </p:spPr>
        <p:txBody>
          <a:bodyPr>
            <a:normAutofit fontScale="90000"/>
          </a:bodyPr>
          <a:lstStyle/>
          <a:p>
            <a:pPr algn="just"/>
            <a:r>
              <a:rPr lang="en-US" spc="-9" dirty="0"/>
              <a:t>Problems - RL + LLM Red Agent</a:t>
            </a:r>
            <a:br>
              <a:rPr lang="en-US" sz="2400" b="1" dirty="0"/>
            </a:br>
            <a:br>
              <a:rPr lang="en-US" sz="4000" b="1" dirty="0">
                <a:latin typeface="Times New Roman"/>
                <a:cs typeface="Times New Roman"/>
              </a:rPr>
            </a:br>
            <a:r>
              <a:rPr lang="en-US" sz="4000" spc="-9" dirty="0"/>
              <a:t> </a:t>
            </a:r>
            <a:endParaRPr lang="en-US" dirty="0">
              <a:latin typeface="Times New Roman" panose="02020603050405020304" pitchFamily="18" charset="0"/>
              <a:cs typeface="Times New Roman" panose="02020603050405020304" pitchFamily="18" charset="0"/>
            </a:endParaRPr>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26</a:t>
            </a:fld>
            <a:endParaRPr lang="en-US" dirty="0"/>
          </a:p>
        </p:txBody>
      </p:sp>
      <p:sp>
        <p:nvSpPr>
          <p:cNvPr id="6" name="TextBox 5">
            <a:extLst>
              <a:ext uri="{FF2B5EF4-FFF2-40B4-BE49-F238E27FC236}">
                <a16:creationId xmlns:a16="http://schemas.microsoft.com/office/drawing/2014/main" id="{2EA4B828-981B-4C36-A1DE-026E10D3925B}"/>
              </a:ext>
            </a:extLst>
          </p:cNvPr>
          <p:cNvSpPr txBox="1"/>
          <p:nvPr/>
        </p:nvSpPr>
        <p:spPr>
          <a:xfrm>
            <a:off x="322457" y="1335073"/>
            <a:ext cx="11114598" cy="4154984"/>
          </a:xfrm>
          <a:prstGeom prst="rect">
            <a:avLst/>
          </a:prstGeom>
          <a:noFill/>
        </p:spPr>
        <p:txBody>
          <a:bodyPr wrap="square">
            <a:spAutoFit/>
          </a:bodyPr>
          <a:lstStyle/>
          <a:p>
            <a:pPr lvl="3"/>
            <a:r>
              <a:rPr lang="en-US" sz="2400" dirty="0">
                <a:latin typeface="Times New Roman" panose="02020603050405020304" pitchFamily="18" charset="0"/>
                <a:cs typeface="Times New Roman" panose="02020603050405020304" pitchFamily="18" charset="0"/>
              </a:rPr>
              <a:t>	</a:t>
            </a:r>
          </a:p>
          <a:p>
            <a:r>
              <a:rPr lang="en-US" sz="2400" b="1" dirty="0">
                <a:latin typeface="Times New Roman" panose="02020603050405020304" pitchFamily="18" charset="0"/>
                <a:cs typeface="Times New Roman" panose="02020603050405020304" pitchFamily="18" charset="0"/>
              </a:rPr>
              <a:t>Problem 1: </a:t>
            </a:r>
            <a:r>
              <a:rPr lang="en-US" sz="2400" b="1" dirty="0"/>
              <a:t>Invalid / missing parameters:</a:t>
            </a:r>
            <a:r>
              <a:rPr lang="en-US" sz="2400" dirty="0"/>
              <a:t> many actions require parameters (e.g., ports, exploit IDs, creds), but the agent previously selected only the target IP, causing non-executable actions.</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Problem 2: </a:t>
            </a:r>
            <a:r>
              <a:rPr lang="en-US" sz="2400" b="1" dirty="0"/>
              <a:t>Wasted exploration on impossible actions:</a:t>
            </a:r>
            <a:r>
              <a:rPr lang="en-US" sz="2400" dirty="0"/>
              <a:t> The agent selects techniques even if needed conditions (like credentials or open ports) are not met.</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Problem 3</a:t>
            </a:r>
            <a:r>
              <a:rPr lang="en-US" sz="2400" dirty="0">
                <a:latin typeface="Times New Roman" panose="02020603050405020304" pitchFamily="18" charset="0"/>
                <a:cs typeface="Times New Roman" panose="02020603050405020304" pitchFamily="18" charset="0"/>
              </a:rPr>
              <a:t>: </a:t>
            </a:r>
            <a:r>
              <a:rPr lang="en-US" sz="2400" b="1" dirty="0"/>
              <a:t>Dynamic action space hurts learning:</a:t>
            </a:r>
            <a:r>
              <a:rPr lang="en-US" sz="2400" dirty="0"/>
              <a:t> parameters (open ports, available exploits, discovered creds) change over time, making the effective action space unstable and slowing policy learning.</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985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78115" y="-61099"/>
            <a:ext cx="8066637" cy="1325563"/>
          </a:xfrm>
        </p:spPr>
        <p:txBody>
          <a:bodyPr>
            <a:normAutofit/>
          </a:bodyPr>
          <a:lstStyle/>
          <a:p>
            <a:pPr algn="just"/>
            <a:r>
              <a:rPr lang="en-US" sz="4000" dirty="0"/>
              <a:t>Solution 1 - </a:t>
            </a:r>
            <a:r>
              <a:rPr lang="en-US" dirty="0"/>
              <a:t>Parameterized RL [7] </a:t>
            </a:r>
            <a:endParaRPr lang="en-US" dirty="0">
              <a:latin typeface="Times New Roman" panose="02020603050405020304" pitchFamily="18" charset="0"/>
              <a:cs typeface="Times New Roman" panose="02020603050405020304" pitchFamily="18" charset="0"/>
            </a:endParaRPr>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27</a:t>
            </a:fld>
            <a:endParaRPr lang="en-US"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181D824F-4FE2-4B66-8244-90205C228EBD}"/>
                  </a:ext>
                </a:extLst>
              </p:cNvPr>
              <p:cNvSpPr txBox="1"/>
              <p:nvPr/>
            </p:nvSpPr>
            <p:spPr>
              <a:xfrm>
                <a:off x="266798" y="1264464"/>
                <a:ext cx="9477954" cy="4386585"/>
              </a:xfrm>
              <a:prstGeom prst="rect">
                <a:avLst/>
              </a:prstGeom>
              <a:noFill/>
            </p:spPr>
            <p:txBody>
              <a:bodyPr wrap="square">
                <a:spAutoFit/>
              </a:bodyPr>
              <a:lstStyle/>
              <a:p>
                <a:r>
                  <a:rPr lang="en-US" b="1" dirty="0"/>
                  <a:t>Two-level policy </a:t>
                </a:r>
              </a:p>
              <a:p>
                <a:endParaRPr lang="en-US" b="1" dirty="0"/>
              </a:p>
              <a:p>
                <a:r>
                  <a:rPr lang="en-US" dirty="0"/>
                  <a:t>Instead of one policy over a huge flat action list, we learn:</a:t>
                </a:r>
              </a:p>
              <a:p>
                <a:pPr>
                  <a:buFont typeface="+mj-lt"/>
                  <a:buAutoNum type="arabicPeriod"/>
                </a:pPr>
                <a:r>
                  <a:rPr lang="en-US" b="1" dirty="0"/>
                  <a:t>Technique policy</a:t>
                </a:r>
              </a:p>
              <a:p>
                <a:pPr>
                  <a:buFont typeface="+mj-lt"/>
                  <a:buAutoNum type="arabicPeriod"/>
                </a:pPr>
                <a:endParaRPr lang="en-US" b="1" dirty="0"/>
              </a:p>
              <a:p>
                <a:pPr/>
                <a14:m>
                  <m:oMathPara xmlns:m="http://schemas.openxmlformats.org/officeDocument/2006/math">
                    <m:oMathParaPr>
                      <m:jc m:val="centerGroup"/>
                    </m:oMathParaPr>
                    <m:oMath xmlns:m="http://schemas.openxmlformats.org/officeDocument/2006/math">
                      <m:r>
                        <a:rPr lang="el-GR" i="1" smtClean="0">
                          <a:latin typeface="Cambria Math" panose="02040503050406030204" pitchFamily="18" charset="0"/>
                        </a:rPr>
                        <m:t>𝜋</m:t>
                      </m:r>
                      <m:r>
                        <a:rPr lang="en-US" b="0" i="1" baseline="-25000" smtClean="0">
                          <a:latin typeface="Cambria Math" panose="02040503050406030204" pitchFamily="18" charset="0"/>
                        </a:rPr>
                        <m:t>𝑇</m:t>
                      </m:r>
                      <m:r>
                        <a:rPr lang="en-US"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𝑡</m:t>
                          </m:r>
                        </m:e>
                        <m:sub>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𝑆𝑡</m:t>
                          </m:r>
                        </m:e>
                        <m:sub>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oMath>
                  </m:oMathPara>
                </a14:m>
                <a:endParaRPr lang="en-US" baseline="-25000" dirty="0"/>
              </a:p>
              <a:p>
                <a:r>
                  <a:rPr lang="en-US" dirty="0"/>
                  <a:t>Chooses </a:t>
                </a:r>
                <a:r>
                  <a:rPr lang="en-US" i="1" dirty="0"/>
                  <a:t>what</a:t>
                </a:r>
                <a:r>
                  <a:rPr lang="en-US" dirty="0"/>
                  <a:t> to do next given state.</a:t>
                </a:r>
              </a:p>
              <a:p>
                <a:pPr>
                  <a:buFont typeface="+mj-lt"/>
                  <a:buAutoNum type="arabicPeriod" startAt="2"/>
                </a:pPr>
                <a:r>
                  <a:rPr lang="en-US" b="1" dirty="0"/>
                  <a:t>Parameter policy</a:t>
                </a:r>
                <a:r>
                  <a:rPr lang="en-US" dirty="0"/>
                  <a:t> (conditioned on the chosen technique)</a:t>
                </a:r>
              </a:p>
              <a:p>
                <a:pPr>
                  <a:buFont typeface="+mj-lt"/>
                  <a:buAutoNum type="arabicPeriod" startAt="2"/>
                </a:pPr>
                <a:endParaRPr lang="en-US" dirty="0"/>
              </a:p>
              <a:p>
                <a:pPr/>
                <a14:m>
                  <m:oMathPara xmlns:m="http://schemas.openxmlformats.org/officeDocument/2006/math">
                    <m:oMathParaPr>
                      <m:jc m:val="centerGroup"/>
                    </m:oMathParaPr>
                    <m:oMath xmlns:m="http://schemas.openxmlformats.org/officeDocument/2006/math">
                      <m:r>
                        <a:rPr lang="el-GR" i="1" smtClean="0">
                          <a:latin typeface="Cambria Math" panose="02040503050406030204" pitchFamily="18" charset="0"/>
                        </a:rPr>
                        <m:t>𝜋</m:t>
                      </m:r>
                      <m:r>
                        <a:rPr lang="en-US" b="0" i="1" baseline="-25000" smtClean="0">
                          <a:latin typeface="Cambria Math" panose="02040503050406030204" pitchFamily="18" charset="0"/>
                        </a:rPr>
                        <m:t>𝑄</m:t>
                      </m:r>
                      <m:r>
                        <a:rPr lang="en-US"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𝑥</m:t>
                          </m:r>
                        </m:e>
                        <m:sub>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𝑎</m:t>
                          </m:r>
                        </m:e>
                        <m:sub>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i="1">
                              <a:latin typeface="Cambria Math" panose="02040503050406030204" pitchFamily="18" charset="0"/>
                            </a:rPr>
                            <m:t>𝑆𝑡</m:t>
                          </m:r>
                        </m:e>
                        <m:sub>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oMath>
                  </m:oMathPara>
                </a14:m>
                <a:endParaRPr lang="en-US" baseline="-25000" dirty="0"/>
              </a:p>
              <a:p>
                <a:pPr>
                  <a:buFont typeface="+mj-lt"/>
                  <a:buAutoNum type="arabicPeriod" startAt="2"/>
                </a:pPr>
                <a:endParaRPr lang="en-US" dirty="0"/>
              </a:p>
              <a:p>
                <a:r>
                  <a:rPr lang="en-US" dirty="0"/>
                  <a:t>Chooses </a:t>
                </a:r>
                <a:r>
                  <a:rPr lang="en-US" i="1" dirty="0"/>
                  <a:t>what parameters to use </a:t>
                </a:r>
                <a:r>
                  <a:rPr lang="en-US" dirty="0"/>
                  <a:t>(target IP, port, exploit ID, credential ID, etc.)</a:t>
                </a:r>
              </a:p>
              <a:p>
                <a:r>
                  <a:rPr lang="en-US" dirty="0"/>
                  <a:t>So the final action is:</a:t>
                </a:r>
              </a:p>
              <a:p>
                <a:pPr/>
                <a14:m>
                  <m:oMathPara xmlns:m="http://schemas.openxmlformats.org/officeDocument/2006/math">
                    <m:oMathParaPr>
                      <m:jc m:val="centerGroup"/>
                    </m:oMathParaPr>
                    <m:oMath xmlns:m="http://schemas.openxmlformats.org/officeDocument/2006/math">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𝑒</m:t>
                          </m:r>
                          <m:r>
                            <a:rPr lang="en-US" altLang="zh-TW" b="0" i="1" smtClean="0">
                              <a:latin typeface="Cambria Math" panose="02040503050406030204" pitchFamily="18" charset="0"/>
                            </a:rPr>
                            <m:t>,</m:t>
                          </m:r>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r>
                        <a:rPr lang="en-US" b="0" i="1" smtClean="0">
                          <a:latin typeface="Cambria Math" panose="02040503050406030204" pitchFamily="18" charset="0"/>
                        </a:rPr>
                        <m:t>(</m:t>
                      </m:r>
                      <m:sSubSup>
                        <m:sSubSupPr>
                          <m:ctrlPr>
                            <a:rPr lang="en-US" altLang="zh-TW" i="1">
                              <a:latin typeface="Cambria Math" panose="02040503050406030204" pitchFamily="18" charset="0"/>
                            </a:rPr>
                          </m:ctrlPr>
                        </m:sSubSupPr>
                        <m:e>
                          <m:r>
                            <a:rPr lang="en-US" altLang="zh-TW" b="0" i="1" smtClean="0">
                              <a:latin typeface="Cambria Math" panose="02040503050406030204" pitchFamily="18" charset="0"/>
                            </a:rPr>
                            <m:t>𝑡</m:t>
                          </m:r>
                        </m:e>
                        <m:sub>
                          <m:r>
                            <a:rPr lang="en-US" altLang="zh-TW" b="0" i="1" smtClean="0">
                              <a:latin typeface="Cambria Math" panose="02040503050406030204" pitchFamily="18" charset="0"/>
                            </a:rPr>
                            <m:t>𝑒</m:t>
                          </m:r>
                          <m:r>
                            <a:rPr lang="en-US" altLang="zh-TW" b="0" i="1" smtClean="0">
                              <a:latin typeface="Cambria Math" panose="02040503050406030204" pitchFamily="18" charset="0"/>
                            </a:rPr>
                            <m:t>,</m:t>
                          </m:r>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sSubSup>
                        <m:sSubSupPr>
                          <m:ctrlPr>
                            <a:rPr lang="en-US" altLang="zh-TW" i="1" smtClean="0">
                              <a:latin typeface="Cambria Math" panose="02040503050406030204" pitchFamily="18" charset="0"/>
                            </a:rPr>
                          </m:ctrlPr>
                        </m:sSubSupPr>
                        <m:e>
                          <m:r>
                            <a:rPr lang="en-US" altLang="zh-TW" b="0" i="1" smtClean="0">
                              <a:latin typeface="Cambria Math" panose="02040503050406030204" pitchFamily="18" charset="0"/>
                            </a:rPr>
                            <m:t>𝑥</m:t>
                          </m:r>
                        </m:e>
                        <m:sub>
                          <m:r>
                            <a:rPr lang="en-US" altLang="zh-TW" b="0" i="1" smtClean="0">
                              <a:latin typeface="Cambria Math" panose="02040503050406030204" pitchFamily="18" charset="0"/>
                            </a:rPr>
                            <m:t>𝑒</m:t>
                          </m:r>
                          <m:r>
                            <a:rPr lang="en-US" altLang="zh-TW" b="0" i="1" smtClean="0">
                              <a:latin typeface="Cambria Math" panose="02040503050406030204" pitchFamily="18" charset="0"/>
                            </a:rPr>
                            <m:t>,</m:t>
                          </m:r>
                          <m:r>
                            <a:rPr lang="en-US" altLang="zh-TW" i="1">
                              <a:latin typeface="Cambria Math" panose="02040503050406030204" pitchFamily="18" charset="0"/>
                            </a:rPr>
                            <m:t>𝑗</m:t>
                          </m:r>
                        </m:sub>
                        <m:sup>
                          <m:r>
                            <a:rPr lang="en-US" altLang="zh-TW" i="1">
                              <a:latin typeface="Cambria Math" panose="02040503050406030204" pitchFamily="18" charset="0"/>
                            </a:rPr>
                            <m:t>𝑅</m:t>
                          </m:r>
                        </m:sup>
                      </m:sSubSup>
                      <m:r>
                        <a:rPr lang="en-US" altLang="zh-TW" b="0" i="1" smtClean="0">
                          <a:latin typeface="Cambria Math" panose="02040503050406030204" pitchFamily="18" charset="0"/>
                        </a:rPr>
                        <m:t>)</m:t>
                      </m:r>
                    </m:oMath>
                  </m:oMathPara>
                </a14:m>
                <a:endParaRPr lang="en-US" baseline="-25000" dirty="0"/>
              </a:p>
              <a:p>
                <a:endParaRPr lang="en-US" dirty="0"/>
              </a:p>
            </p:txBody>
          </p:sp>
        </mc:Choice>
        <mc:Fallback>
          <p:sp>
            <p:nvSpPr>
              <p:cNvPr id="8" name="TextBox 7">
                <a:extLst>
                  <a:ext uri="{FF2B5EF4-FFF2-40B4-BE49-F238E27FC236}">
                    <a16:creationId xmlns:a16="http://schemas.microsoft.com/office/drawing/2014/main" id="{181D824F-4FE2-4B66-8244-90205C228EBD}"/>
                  </a:ext>
                </a:extLst>
              </p:cNvPr>
              <p:cNvSpPr txBox="1">
                <a:spLocks noRot="1" noChangeAspect="1" noMove="1" noResize="1" noEditPoints="1" noAdjustHandles="1" noChangeArrowheads="1" noChangeShapeType="1" noTextEdit="1"/>
              </p:cNvSpPr>
              <p:nvPr/>
            </p:nvSpPr>
            <p:spPr>
              <a:xfrm>
                <a:off x="266798" y="1264464"/>
                <a:ext cx="9477954" cy="4386585"/>
              </a:xfrm>
              <a:prstGeom prst="rect">
                <a:avLst/>
              </a:prstGeom>
              <a:blipFill>
                <a:blip r:embed="rId3"/>
                <a:stretch>
                  <a:fillRect l="-579" t="-694"/>
                </a:stretch>
              </a:blipFill>
            </p:spPr>
            <p:txBody>
              <a:bodyPr/>
              <a:lstStyle/>
              <a:p>
                <a:r>
                  <a:rPr lang="en-US">
                    <a:noFill/>
                  </a:rPr>
                  <a:t> </a:t>
                </a:r>
              </a:p>
            </p:txBody>
          </p:sp>
        </mc:Fallback>
      </mc:AlternateContent>
      <p:pic>
        <p:nvPicPr>
          <p:cNvPr id="4098" name="Picture 2">
            <a:extLst>
              <a:ext uri="{FF2B5EF4-FFF2-40B4-BE49-F238E27FC236}">
                <a16:creationId xmlns:a16="http://schemas.microsoft.com/office/drawing/2014/main" id="{51FA384D-798A-8F50-3D18-048979AE17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84547" y="1206950"/>
            <a:ext cx="3950278" cy="5090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39151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465580" y="-100856"/>
            <a:ext cx="9099837" cy="1325563"/>
          </a:xfrm>
        </p:spPr>
        <p:txBody>
          <a:bodyPr>
            <a:normAutofit/>
          </a:bodyPr>
          <a:lstStyle/>
          <a:p>
            <a:pPr algn="just"/>
            <a:r>
              <a:rPr lang="en-US" sz="4000" dirty="0"/>
              <a:t>Solution 3 – </a:t>
            </a:r>
            <a:r>
              <a:rPr lang="en-US" dirty="0"/>
              <a:t>Fixed Recon</a:t>
            </a:r>
            <a:endParaRPr lang="en-US" dirty="0">
              <a:latin typeface="Times New Roman" panose="02020603050405020304" pitchFamily="18" charset="0"/>
              <a:cs typeface="Times New Roman" panose="02020603050405020304" pitchFamily="18" charset="0"/>
            </a:endParaRPr>
          </a:p>
        </p:txBody>
      </p:sp>
      <p:sp>
        <p:nvSpPr>
          <p:cNvPr id="7" name="Slide Number Placeholder 3">
            <a:extLst>
              <a:ext uri="{FF2B5EF4-FFF2-40B4-BE49-F238E27FC236}">
                <a16:creationId xmlns:a16="http://schemas.microsoft.com/office/drawing/2014/main" id="{42079826-DAA3-96BC-9856-625451C89A9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28</a:t>
            </a:fld>
            <a:endParaRPr lang="en-US" dirty="0"/>
          </a:p>
        </p:txBody>
      </p:sp>
      <p:sp>
        <p:nvSpPr>
          <p:cNvPr id="9" name="TextBox 8">
            <a:extLst>
              <a:ext uri="{FF2B5EF4-FFF2-40B4-BE49-F238E27FC236}">
                <a16:creationId xmlns:a16="http://schemas.microsoft.com/office/drawing/2014/main" id="{F3AE6FB5-5EAC-4146-97E5-E8B8564D9F3F}"/>
              </a:ext>
            </a:extLst>
          </p:cNvPr>
          <p:cNvSpPr txBox="1"/>
          <p:nvPr/>
        </p:nvSpPr>
        <p:spPr>
          <a:xfrm>
            <a:off x="547858" y="1105391"/>
            <a:ext cx="9380551" cy="4524315"/>
          </a:xfrm>
          <a:prstGeom prst="rect">
            <a:avLst/>
          </a:prstGeom>
          <a:noFill/>
        </p:spPr>
        <p:txBody>
          <a:bodyPr wrap="square">
            <a:spAutoFit/>
          </a:bodyPr>
          <a:lstStyle/>
          <a:p>
            <a:r>
              <a:rPr lang="en-US" b="1" dirty="0"/>
              <a:t>Fixed Recon-first stage to stabilize future action space:</a:t>
            </a:r>
          </a:p>
          <a:p>
            <a:endParaRPr lang="en-US" dirty="0"/>
          </a:p>
          <a:p>
            <a:pPr lvl="1">
              <a:buFont typeface="Arial" panose="020B0604020202020204" pitchFamily="34" charset="0"/>
              <a:buChar char="•"/>
            </a:pPr>
            <a:r>
              <a:rPr lang="en-US" dirty="0"/>
              <a:t>Recon runs first to populate a richer </a:t>
            </a:r>
            <a:r>
              <a:rPr lang="en-US" b="1" dirty="0"/>
              <a:t>post-exploitation-ready state vector</a:t>
            </a:r>
            <a:r>
              <a:rPr lang="en-US" dirty="0"/>
              <a:t> (ports/services/creds candidates).</a:t>
            </a:r>
          </a:p>
          <a:p>
            <a:pPr lvl="1">
              <a:buFont typeface="Arial" panose="020B0604020202020204" pitchFamily="34" charset="0"/>
              <a:buChar char="•"/>
            </a:pPr>
            <a:endParaRPr lang="en-US" dirty="0"/>
          </a:p>
          <a:p>
            <a:pPr lvl="1">
              <a:buFont typeface="Arial" panose="020B0604020202020204" pitchFamily="34" charset="0"/>
              <a:buChar char="•"/>
            </a:pPr>
            <a:r>
              <a:rPr lang="en-US" dirty="0"/>
              <a:t>This stabilizes parameter candidate sets for later tactics so RL can learn a consistent policy instead of chasing a constantly changing action space.</a:t>
            </a:r>
          </a:p>
          <a:p>
            <a:pPr lvl="1">
              <a:buFont typeface="Arial" panose="020B0604020202020204" pitchFamily="34" charset="0"/>
              <a:buChar char="•"/>
            </a:pPr>
            <a:r>
              <a:rPr lang="en-US" dirty="0"/>
              <a:t>Recon phase runs first: </a:t>
            </a:r>
            <a:r>
              <a:rPr lang="en-US" dirty="0" err="1"/>
              <a:t>ActiveRecon</a:t>
            </a:r>
            <a:r>
              <a:rPr lang="en-US" dirty="0"/>
              <a:t> → </a:t>
            </a:r>
            <a:r>
              <a:rPr lang="en-US" dirty="0" err="1"/>
              <a:t>ScanPorts</a:t>
            </a:r>
            <a:r>
              <a:rPr lang="en-US" dirty="0"/>
              <a:t> → </a:t>
            </a:r>
            <a:r>
              <a:rPr lang="en-US" dirty="0" err="1"/>
              <a:t>ServiceDetect</a:t>
            </a:r>
            <a:r>
              <a:rPr lang="en-US" dirty="0"/>
              <a:t> → </a:t>
            </a:r>
            <a:r>
              <a:rPr lang="en-US" dirty="0" err="1"/>
              <a:t>CredDiscovery</a:t>
            </a:r>
            <a:endParaRPr lang="en-US" dirty="0"/>
          </a:p>
          <a:p>
            <a:endParaRPr lang="en-US" dirty="0"/>
          </a:p>
          <a:p>
            <a:endParaRPr lang="en-US" dirty="0"/>
          </a:p>
          <a:p>
            <a:r>
              <a:rPr lang="en-US" dirty="0"/>
              <a:t>State after Recon:</a:t>
            </a:r>
          </a:p>
          <a:p>
            <a:pPr marL="285750" indent="-285750">
              <a:buFont typeface="Arial" panose="020B0604020202020204" pitchFamily="34" charset="0"/>
              <a:buChar char="•"/>
            </a:pPr>
            <a:r>
              <a:rPr lang="en-US" dirty="0" err="1"/>
              <a:t>discovered_hosts</a:t>
            </a:r>
            <a:r>
              <a:rPr lang="en-US" dirty="0"/>
              <a:t> = {10.0.0.5, 10.0.0.9}</a:t>
            </a:r>
          </a:p>
          <a:p>
            <a:pPr marL="285750" indent="-285750">
              <a:buFont typeface="Arial" panose="020B0604020202020204" pitchFamily="34" charset="0"/>
              <a:buChar char="•"/>
            </a:pPr>
            <a:r>
              <a:rPr lang="en-US" dirty="0" err="1"/>
              <a:t>open_ports</a:t>
            </a:r>
            <a:r>
              <a:rPr lang="en-US" dirty="0"/>
              <a:t>[10.0.0.5] = {22, 445}</a:t>
            </a:r>
          </a:p>
          <a:p>
            <a:pPr marL="285750" indent="-285750">
              <a:buFont typeface="Arial" panose="020B0604020202020204" pitchFamily="34" charset="0"/>
              <a:buChar char="•"/>
            </a:pPr>
            <a:r>
              <a:rPr lang="en-US" dirty="0"/>
              <a:t>services[10.0.0.5] = {SMB, SSH}</a:t>
            </a:r>
          </a:p>
          <a:p>
            <a:pPr marL="285750" indent="-285750">
              <a:buFont typeface="Arial" panose="020B0604020202020204" pitchFamily="34" charset="0"/>
              <a:buChar char="•"/>
            </a:pPr>
            <a:r>
              <a:rPr lang="en-US" dirty="0" err="1"/>
              <a:t>credential_store</a:t>
            </a:r>
            <a:r>
              <a:rPr lang="en-US" dirty="0"/>
              <a:t> = {cred_1}</a:t>
            </a:r>
          </a:p>
          <a:p>
            <a:pPr lvl="1">
              <a:buFont typeface="Arial" panose="020B0604020202020204" pitchFamily="34" charset="0"/>
              <a:buChar char="•"/>
            </a:pPr>
            <a:endParaRPr lang="en-US" dirty="0"/>
          </a:p>
        </p:txBody>
      </p:sp>
      <p:sp>
        <p:nvSpPr>
          <p:cNvPr id="10" name="TextBox 9">
            <a:extLst>
              <a:ext uri="{FF2B5EF4-FFF2-40B4-BE49-F238E27FC236}">
                <a16:creationId xmlns:a16="http://schemas.microsoft.com/office/drawing/2014/main" id="{119B52D5-B8B8-4D9C-B07C-3DCB6F5E2702}"/>
              </a:ext>
            </a:extLst>
          </p:cNvPr>
          <p:cNvSpPr txBox="1"/>
          <p:nvPr/>
        </p:nvSpPr>
        <p:spPr>
          <a:xfrm>
            <a:off x="5015497" y="3782949"/>
            <a:ext cx="6094674" cy="1477328"/>
          </a:xfrm>
          <a:prstGeom prst="rect">
            <a:avLst/>
          </a:prstGeom>
          <a:noFill/>
        </p:spPr>
        <p:txBody>
          <a:bodyPr wrap="square">
            <a:spAutoFit/>
          </a:bodyPr>
          <a:lstStyle/>
          <a:p>
            <a:r>
              <a:rPr lang="en-US" dirty="0"/>
              <a:t>Post-Recon (stable action space)</a:t>
            </a:r>
          </a:p>
          <a:p>
            <a:r>
              <a:rPr lang="en-US" dirty="0" err="1"/>
              <a:t>Exploit_Service</a:t>
            </a:r>
            <a:r>
              <a:rPr lang="en-US" dirty="0"/>
              <a:t> parameters are now fixed to valid candidates:</a:t>
            </a:r>
          </a:p>
          <a:p>
            <a:pPr marL="285750" indent="-285750">
              <a:buFont typeface="Arial" panose="020B0604020202020204" pitchFamily="34" charset="0"/>
              <a:buChar char="•"/>
            </a:pPr>
            <a:r>
              <a:rPr lang="en-US" dirty="0" err="1"/>
              <a:t>target_ip</a:t>
            </a:r>
            <a:r>
              <a:rPr lang="en-US" dirty="0"/>
              <a:t> ∈ {10.0.0.5, 10.0.0.9}</a:t>
            </a:r>
          </a:p>
          <a:p>
            <a:pPr marL="285750" indent="-285750">
              <a:buFont typeface="Arial" panose="020B0604020202020204" pitchFamily="34" charset="0"/>
              <a:buChar char="•"/>
            </a:pPr>
            <a:r>
              <a:rPr lang="en-US" dirty="0"/>
              <a:t>port ∈ {22, 445} (masked per IP)</a:t>
            </a:r>
          </a:p>
          <a:p>
            <a:pPr marL="285750" indent="-285750">
              <a:buFont typeface="Arial" panose="020B0604020202020204" pitchFamily="34" charset="0"/>
              <a:buChar char="•"/>
            </a:pPr>
            <a:r>
              <a:rPr lang="en-US" dirty="0" err="1"/>
              <a:t>credential_id</a:t>
            </a:r>
            <a:r>
              <a:rPr lang="en-US" dirty="0"/>
              <a:t> ∈ {cred_1}</a:t>
            </a:r>
          </a:p>
        </p:txBody>
      </p:sp>
      <p:sp>
        <p:nvSpPr>
          <p:cNvPr id="11" name="TextBox 10">
            <a:extLst>
              <a:ext uri="{FF2B5EF4-FFF2-40B4-BE49-F238E27FC236}">
                <a16:creationId xmlns:a16="http://schemas.microsoft.com/office/drawing/2014/main" id="{5A930F8B-36D4-48C2-B89E-B9CC7098CE48}"/>
              </a:ext>
            </a:extLst>
          </p:cNvPr>
          <p:cNvSpPr txBox="1"/>
          <p:nvPr/>
        </p:nvSpPr>
        <p:spPr>
          <a:xfrm>
            <a:off x="547858" y="5616905"/>
            <a:ext cx="10769613" cy="369332"/>
          </a:xfrm>
          <a:prstGeom prst="rect">
            <a:avLst/>
          </a:prstGeom>
          <a:noFill/>
        </p:spPr>
        <p:txBody>
          <a:bodyPr wrap="square">
            <a:spAutoFit/>
          </a:bodyPr>
          <a:lstStyle/>
          <a:p>
            <a:pPr marL="285750" indent="-285750">
              <a:buFont typeface="Arial" panose="020B0604020202020204" pitchFamily="34" charset="0"/>
              <a:buChar char="•"/>
            </a:pPr>
            <a:r>
              <a:rPr lang="en-US" dirty="0"/>
              <a:t>RL learns a consistent mapping from state → action instead of adapting to a moving parameter space.</a:t>
            </a:r>
          </a:p>
        </p:txBody>
      </p:sp>
    </p:spTree>
    <p:extLst>
      <p:ext uri="{BB962C8B-B14F-4D97-AF65-F5344CB8AC3E}">
        <p14:creationId xmlns:p14="http://schemas.microsoft.com/office/powerpoint/2010/main" val="24092575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C0CE-0A07-3C44-6F13-8A4A61AAC74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ADFA72C-D140-B91C-01C8-AEF19E44A605}"/>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29</a:t>
            </a:fld>
            <a:endParaRPr lang="en-US" dirty="0"/>
          </a:p>
        </p:txBody>
      </p:sp>
      <p:sp>
        <p:nvSpPr>
          <p:cNvPr id="5" name="Title 1">
            <a:extLst>
              <a:ext uri="{FF2B5EF4-FFF2-40B4-BE49-F238E27FC236}">
                <a16:creationId xmlns:a16="http://schemas.microsoft.com/office/drawing/2014/main" id="{DBF78AB0-109C-644B-A7EA-2FAC1BAD7135}"/>
              </a:ext>
            </a:extLst>
          </p:cNvPr>
          <p:cNvSpPr>
            <a:spLocks noGrp="1"/>
          </p:cNvSpPr>
          <p:nvPr>
            <p:ph type="title"/>
          </p:nvPr>
        </p:nvSpPr>
        <p:spPr>
          <a:xfrm>
            <a:off x="257175" y="0"/>
            <a:ext cx="10515600" cy="1325563"/>
          </a:xfrm>
        </p:spPr>
        <p:txBody>
          <a:bodyPr/>
          <a:lstStyle/>
          <a:p>
            <a:r>
              <a:rPr lang="en-US" dirty="0"/>
              <a:t>Implementation- Open-Source Tools and Libraries</a:t>
            </a:r>
          </a:p>
        </p:txBody>
      </p:sp>
      <p:graphicFrame>
        <p:nvGraphicFramePr>
          <p:cNvPr id="2" name="Table 1">
            <a:extLst>
              <a:ext uri="{FF2B5EF4-FFF2-40B4-BE49-F238E27FC236}">
                <a16:creationId xmlns:a16="http://schemas.microsoft.com/office/drawing/2014/main" id="{CAD65691-9B04-00E3-9473-8EAD01AE710A}"/>
              </a:ext>
            </a:extLst>
          </p:cNvPr>
          <p:cNvGraphicFramePr>
            <a:graphicFrameLocks noGrp="1"/>
          </p:cNvGraphicFramePr>
          <p:nvPr>
            <p:extLst>
              <p:ext uri="{D42A27DB-BD31-4B8C-83A1-F6EECF244321}">
                <p14:modId xmlns:p14="http://schemas.microsoft.com/office/powerpoint/2010/main" val="1739168830"/>
              </p:ext>
            </p:extLst>
          </p:nvPr>
        </p:nvGraphicFramePr>
        <p:xfrm>
          <a:off x="257175" y="1121005"/>
          <a:ext cx="11241738" cy="5530390"/>
        </p:xfrm>
        <a:graphic>
          <a:graphicData uri="http://schemas.openxmlformats.org/drawingml/2006/table">
            <a:tbl>
              <a:tblPr>
                <a:tableStyleId>{2D5ABB26-0587-4C30-8999-92F81FD0307C}</a:tableStyleId>
              </a:tblPr>
              <a:tblGrid>
                <a:gridCol w="2504768">
                  <a:extLst>
                    <a:ext uri="{9D8B030D-6E8A-4147-A177-3AD203B41FA5}">
                      <a16:colId xmlns:a16="http://schemas.microsoft.com/office/drawing/2014/main" val="1535964953"/>
                    </a:ext>
                  </a:extLst>
                </a:gridCol>
                <a:gridCol w="2504768">
                  <a:extLst>
                    <a:ext uri="{9D8B030D-6E8A-4147-A177-3AD203B41FA5}">
                      <a16:colId xmlns:a16="http://schemas.microsoft.com/office/drawing/2014/main" val="2884508567"/>
                    </a:ext>
                  </a:extLst>
                </a:gridCol>
                <a:gridCol w="2556676">
                  <a:extLst>
                    <a:ext uri="{9D8B030D-6E8A-4147-A177-3AD203B41FA5}">
                      <a16:colId xmlns:a16="http://schemas.microsoft.com/office/drawing/2014/main" val="2269845081"/>
                    </a:ext>
                  </a:extLst>
                </a:gridCol>
                <a:gridCol w="3675526">
                  <a:extLst>
                    <a:ext uri="{9D8B030D-6E8A-4147-A177-3AD203B41FA5}">
                      <a16:colId xmlns:a16="http://schemas.microsoft.com/office/drawing/2014/main" val="2260306204"/>
                    </a:ext>
                  </a:extLst>
                </a:gridCol>
              </a:tblGrid>
              <a:tr h="250081">
                <a:tc>
                  <a:txBody>
                    <a:bodyPr/>
                    <a:lstStyle/>
                    <a:p>
                      <a:pPr algn="ctr" fontAlgn="ctr">
                        <a:buNone/>
                      </a:pPr>
                      <a:r>
                        <a:rPr lang="en-IN" sz="1400" b="1" u="none" strike="noStrike" dirty="0">
                          <a:effectLst/>
                        </a:rPr>
                        <a:t>Category</a:t>
                      </a:r>
                      <a:endParaRPr lang="en-IN" sz="1400" b="1"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400" b="1" u="none" strike="noStrike" dirty="0">
                          <a:effectLst/>
                        </a:rPr>
                        <a:t>Sub Category</a:t>
                      </a:r>
                      <a:endParaRPr lang="en-IN" sz="1400" b="1" i="0" u="none" strike="noStrike" dirty="0">
                        <a:solidFill>
                          <a:srgbClr val="000000"/>
                        </a:solidFill>
                        <a:effectLst/>
                        <a:latin typeface="Calibri" panose="020F0502020204030204" pitchFamily="34" charset="0"/>
                      </a:endParaRPr>
                    </a:p>
                  </a:txBody>
                  <a:tcPr marL="5741" marR="5741" marT="5741"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1" u="none" strike="noStrike">
                          <a:effectLst/>
                        </a:rPr>
                        <a:t>Name</a:t>
                      </a:r>
                      <a:endParaRPr lang="en-IN" sz="1400" b="1"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1" u="none" strike="noStrike" dirty="0">
                          <a:effectLst/>
                        </a:rPr>
                        <a:t>Description</a:t>
                      </a:r>
                      <a:endParaRPr lang="en-IN" sz="1400" b="1"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8034957"/>
                  </a:ext>
                </a:extLst>
              </a:tr>
              <a:tr h="534012">
                <a:tc rowSpan="6">
                  <a:txBody>
                    <a:bodyPr/>
                    <a:lstStyle/>
                    <a:p>
                      <a:pPr algn="ctr" fontAlgn="ctr">
                        <a:buNone/>
                      </a:pPr>
                      <a:r>
                        <a:rPr lang="en-IN" sz="1400" b="1" u="none" strike="noStrike" dirty="0">
                          <a:effectLst/>
                        </a:rPr>
                        <a:t>TOOLS </a:t>
                      </a:r>
                      <a:endParaRPr lang="en-IN" sz="1400" b="1"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3">
                  <a:txBody>
                    <a:bodyPr/>
                    <a:lstStyle/>
                    <a:p>
                      <a:pPr algn="ctr" fontAlgn="ctr">
                        <a:buNone/>
                      </a:pPr>
                      <a:r>
                        <a:rPr lang="en-IN" sz="1400" b="0" u="none" strike="noStrike" dirty="0">
                          <a:effectLst/>
                        </a:rPr>
                        <a:t>Environment / Orchestration</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dirty="0">
                          <a:effectLst/>
                        </a:rPr>
                        <a:t>Kubernetes</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dirty="0">
                          <a:effectLst/>
                        </a:rPr>
                        <a:t>Container orchestration platform to manage multi-host cyber range, pods, and services.</a:t>
                      </a:r>
                      <a:endParaRPr lang="en-US"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9605681"/>
                  </a:ext>
                </a:extLst>
              </a:tr>
              <a:tr h="408224">
                <a:tc vMerge="1">
                  <a:txBody>
                    <a:bodyPr/>
                    <a:lstStyle/>
                    <a:p>
                      <a:endParaRPr lang="en-IN"/>
                    </a:p>
                  </a:txBody>
                  <a:tcPr/>
                </a:tc>
                <a:tc vMerge="1">
                  <a:txBody>
                    <a:bodyPr/>
                    <a:lstStyle/>
                    <a:p>
                      <a:endParaRPr lang="en-IN"/>
                    </a:p>
                  </a:txBody>
                  <a:tcPr/>
                </a:tc>
                <a:tc>
                  <a:txBody>
                    <a:bodyPr/>
                    <a:lstStyle/>
                    <a:p>
                      <a:pPr algn="l" fontAlgn="ctr">
                        <a:buNone/>
                      </a:pPr>
                      <a:r>
                        <a:rPr lang="en-IN" sz="1400" b="0" u="none" strike="noStrike" dirty="0">
                          <a:effectLst/>
                        </a:rPr>
                        <a:t>Docker</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dirty="0">
                          <a:effectLst/>
                        </a:rPr>
                        <a:t>Container runtime used to package and run applications.</a:t>
                      </a:r>
                      <a:endParaRPr lang="en-US"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3060562"/>
                  </a:ext>
                </a:extLst>
              </a:tr>
              <a:tr h="609626">
                <a:tc vMerge="1">
                  <a:txBody>
                    <a:bodyPr/>
                    <a:lstStyle/>
                    <a:p>
                      <a:endParaRPr lang="en-IN"/>
                    </a:p>
                  </a:txBody>
                  <a:tcPr/>
                </a:tc>
                <a:tc vMerge="1">
                  <a:txBody>
                    <a:bodyPr/>
                    <a:lstStyle/>
                    <a:p>
                      <a:endParaRPr lang="en-IN"/>
                    </a:p>
                  </a:txBody>
                  <a:tcPr/>
                </a:tc>
                <a:tc>
                  <a:txBody>
                    <a:bodyPr/>
                    <a:lstStyle/>
                    <a:p>
                      <a:pPr algn="l" fontAlgn="ctr">
                        <a:buNone/>
                      </a:pPr>
                      <a:r>
                        <a:rPr lang="en-IN" sz="1400" b="0" u="none" strike="noStrike" dirty="0">
                          <a:effectLst/>
                        </a:rPr>
                        <a:t>Kubernetes Jobs</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a:effectLst/>
                        </a:rPr>
                        <a:t>Framework for running batch or one-off tasks (e.g., attack simulations, telemetry jobs).</a:t>
                      </a:r>
                      <a:endParaRPr lang="en-US"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1939791"/>
                  </a:ext>
                </a:extLst>
              </a:tr>
              <a:tr h="534012">
                <a:tc vMerge="1">
                  <a:txBody>
                    <a:bodyPr/>
                    <a:lstStyle/>
                    <a:p>
                      <a:endParaRPr lang="en-IN"/>
                    </a:p>
                  </a:txBody>
                  <a:tcPr/>
                </a:tc>
                <a:tc>
                  <a:txBody>
                    <a:bodyPr/>
                    <a:lstStyle/>
                    <a:p>
                      <a:pPr algn="ctr" fontAlgn="ctr">
                        <a:buNone/>
                      </a:pPr>
                      <a:r>
                        <a:rPr lang="en-IN" sz="1400" b="0" u="none" strike="noStrike" dirty="0">
                          <a:effectLst/>
                        </a:rPr>
                        <a:t>Telemetry &amp; Preprocessing</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a:effectLst/>
                        </a:rPr>
                        <a:t>Zeek</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dirty="0">
                          <a:effectLst/>
                        </a:rPr>
                        <a:t>Network security monitoring tool that captures and logs detailed traffic metadata.</a:t>
                      </a:r>
                      <a:endParaRPr lang="en-US"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6877153"/>
                  </a:ext>
                </a:extLst>
              </a:tr>
              <a:tr h="408224">
                <a:tc vMerge="1">
                  <a:txBody>
                    <a:bodyPr/>
                    <a:lstStyle/>
                    <a:p>
                      <a:endParaRPr lang="en-IN"/>
                    </a:p>
                  </a:txBody>
                  <a:tcPr/>
                </a:tc>
                <a:tc rowSpan="2">
                  <a:txBody>
                    <a:bodyPr/>
                    <a:lstStyle/>
                    <a:p>
                      <a:pPr algn="ctr" fontAlgn="ctr">
                        <a:buNone/>
                      </a:pPr>
                      <a:r>
                        <a:rPr lang="en-IN" sz="1400" b="0" u="none" strike="noStrike" dirty="0">
                          <a:effectLst/>
                        </a:rPr>
                        <a:t>Storage / Observation Space</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a:effectLst/>
                        </a:rPr>
                        <a:t>MinIO</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a:effectLst/>
                        </a:rPr>
                        <a:t>Open-source, S3-compatible object storage system.</a:t>
                      </a:r>
                      <a:endParaRPr lang="en-US"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024996"/>
                  </a:ext>
                </a:extLst>
              </a:tr>
              <a:tr h="500635">
                <a:tc vMerge="1">
                  <a:txBody>
                    <a:bodyPr/>
                    <a:lstStyle/>
                    <a:p>
                      <a:endParaRPr lang="en-IN"/>
                    </a:p>
                  </a:txBody>
                  <a:tcPr/>
                </a:tc>
                <a:tc vMerge="1">
                  <a:txBody>
                    <a:bodyPr/>
                    <a:lstStyle/>
                    <a:p>
                      <a:endParaRPr lang="en-IN"/>
                    </a:p>
                  </a:txBody>
                  <a:tcPr/>
                </a:tc>
                <a:tc>
                  <a:txBody>
                    <a:bodyPr/>
                    <a:lstStyle/>
                    <a:p>
                      <a:pPr algn="l" fontAlgn="ctr">
                        <a:buNone/>
                      </a:pPr>
                      <a:r>
                        <a:rPr lang="en-IN" sz="1400" b="0" u="none" strike="noStrike">
                          <a:effectLst/>
                        </a:rPr>
                        <a:t>Parquet</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a:effectLst/>
                        </a:rPr>
                        <a:t>Columnar data storage format optimized for analytics and ML pipelines.</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7101313"/>
                  </a:ext>
                </a:extLst>
              </a:tr>
              <a:tr h="609626">
                <a:tc rowSpan="4">
                  <a:txBody>
                    <a:bodyPr/>
                    <a:lstStyle/>
                    <a:p>
                      <a:pPr algn="ctr" fontAlgn="ctr">
                        <a:buNone/>
                      </a:pPr>
                      <a:r>
                        <a:rPr lang="en-IN" sz="1400" b="1" u="none" strike="noStrike" dirty="0">
                          <a:effectLst/>
                        </a:rPr>
                        <a:t>Python Libraries</a:t>
                      </a:r>
                      <a:endParaRPr lang="en-IN" sz="1400" b="1"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IN" sz="1400" b="0" u="none" strike="noStrike" dirty="0">
                          <a:effectLst/>
                        </a:rPr>
                        <a:t>RL / AI Frameworks</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a:effectLst/>
                        </a:rPr>
                        <a:t>PyTorch</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a:effectLst/>
                        </a:rPr>
                        <a:t>Deep learning framework used for reinforcement learning agents (red/blue team).</a:t>
                      </a:r>
                      <a:endParaRPr lang="en-US"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1707445"/>
                  </a:ext>
                </a:extLst>
              </a:tr>
              <a:tr h="609626">
                <a:tc vMerge="1">
                  <a:txBody>
                    <a:bodyPr/>
                    <a:lstStyle/>
                    <a:p>
                      <a:endParaRPr lang="en-IN"/>
                    </a:p>
                  </a:txBody>
                  <a:tcPr/>
                </a:tc>
                <a:tc>
                  <a:txBody>
                    <a:bodyPr/>
                    <a:lstStyle/>
                    <a:p>
                      <a:pPr algn="ctr" fontAlgn="ctr">
                        <a:buNone/>
                      </a:pPr>
                      <a:r>
                        <a:rPr lang="en-IN" sz="1400" b="0" u="none" strike="noStrike">
                          <a:effectLst/>
                        </a:rPr>
                        <a:t>LLM</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dirty="0">
                          <a:effectLst/>
                        </a:rPr>
                        <a:t>ChatGPT API (OpenAI)</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a:effectLst/>
                        </a:rPr>
                        <a:t>API access to large language models for code generation, inference, and mapping techniques.</a:t>
                      </a:r>
                      <a:endParaRPr lang="en-US"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4693803"/>
                  </a:ext>
                </a:extLst>
              </a:tr>
              <a:tr h="408224">
                <a:tc vMerge="1">
                  <a:txBody>
                    <a:bodyPr/>
                    <a:lstStyle/>
                    <a:p>
                      <a:endParaRPr lang="en-IN"/>
                    </a:p>
                  </a:txBody>
                  <a:tcPr/>
                </a:tc>
                <a:tc rowSpan="2">
                  <a:txBody>
                    <a:bodyPr/>
                    <a:lstStyle/>
                    <a:p>
                      <a:pPr algn="ctr" fontAlgn="ctr">
                        <a:buNone/>
                      </a:pPr>
                      <a:r>
                        <a:rPr lang="en-IN" sz="1400" b="0" u="none" strike="noStrike">
                          <a:effectLst/>
                        </a:rPr>
                        <a:t>Feature Engineering</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IN" sz="1400" b="0" u="none" strike="noStrike">
                          <a:effectLst/>
                        </a:rPr>
                        <a:t>Pandas</a:t>
                      </a:r>
                      <a:endParaRPr lang="en-IN" sz="1400" b="0" i="0" u="none" strike="noStrike">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dirty="0">
                          <a:effectLst/>
                        </a:rPr>
                        <a:t>Python library for data manipulation and feature engineering.</a:t>
                      </a:r>
                      <a:endParaRPr lang="en-US"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0719215"/>
                  </a:ext>
                </a:extLst>
              </a:tr>
              <a:tr h="609626">
                <a:tc vMerge="1">
                  <a:txBody>
                    <a:bodyPr/>
                    <a:lstStyle/>
                    <a:p>
                      <a:endParaRPr lang="en-IN"/>
                    </a:p>
                  </a:txBody>
                  <a:tcPr/>
                </a:tc>
                <a:tc vMerge="1">
                  <a:txBody>
                    <a:bodyPr/>
                    <a:lstStyle/>
                    <a:p>
                      <a:endParaRPr lang="en-IN"/>
                    </a:p>
                  </a:txBody>
                  <a:tcPr/>
                </a:tc>
                <a:tc>
                  <a:txBody>
                    <a:bodyPr/>
                    <a:lstStyle/>
                    <a:p>
                      <a:pPr algn="l" fontAlgn="ctr">
                        <a:buNone/>
                      </a:pPr>
                      <a:r>
                        <a:rPr lang="en-IN" sz="1400" b="0" u="none" strike="noStrike" dirty="0">
                          <a:effectLst/>
                        </a:rPr>
                        <a:t>NumPy</a:t>
                      </a:r>
                      <a:endParaRPr lang="en-IN"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ctr">
                        <a:buNone/>
                      </a:pPr>
                      <a:r>
                        <a:rPr lang="en-US" sz="1400" b="0" u="none" strike="noStrike" dirty="0">
                          <a:effectLst/>
                        </a:rPr>
                        <a:t>Core numerical library for fast array computations, often used before Pandas/ML.</a:t>
                      </a:r>
                      <a:endParaRPr lang="en-US" sz="1400" b="0" i="0" u="none" strike="noStrike" dirty="0">
                        <a:solidFill>
                          <a:srgbClr val="000000"/>
                        </a:solidFill>
                        <a:effectLst/>
                        <a:latin typeface="Calibri" panose="020F0502020204030204" pitchFamily="34" charset="0"/>
                      </a:endParaRPr>
                    </a:p>
                  </a:txBody>
                  <a:tcPr marL="5741" marR="5741" marT="57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4939263"/>
                  </a:ext>
                </a:extLst>
              </a:tr>
            </a:tbl>
          </a:graphicData>
        </a:graphic>
      </p:graphicFrame>
    </p:spTree>
    <p:extLst>
      <p:ext uri="{BB962C8B-B14F-4D97-AF65-F5344CB8AC3E}">
        <p14:creationId xmlns:p14="http://schemas.microsoft.com/office/powerpoint/2010/main" val="1036229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C0CE-0A07-3C44-6F13-8A4A61AAC746}"/>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ADFA72C-D140-B91C-01C8-AEF19E44A605}"/>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30</a:t>
            </a:fld>
            <a:endParaRPr lang="en-US" dirty="0"/>
          </a:p>
        </p:txBody>
      </p:sp>
      <p:sp>
        <p:nvSpPr>
          <p:cNvPr id="5" name="Title 1">
            <a:extLst>
              <a:ext uri="{FF2B5EF4-FFF2-40B4-BE49-F238E27FC236}">
                <a16:creationId xmlns:a16="http://schemas.microsoft.com/office/drawing/2014/main" id="{DBF78AB0-109C-644B-A7EA-2FAC1BAD7135}"/>
              </a:ext>
            </a:extLst>
          </p:cNvPr>
          <p:cNvSpPr>
            <a:spLocks noGrp="1"/>
          </p:cNvSpPr>
          <p:nvPr>
            <p:ph type="title"/>
          </p:nvPr>
        </p:nvSpPr>
        <p:spPr>
          <a:xfrm>
            <a:off x="172508" y="-142486"/>
            <a:ext cx="10515600" cy="1325563"/>
          </a:xfrm>
        </p:spPr>
        <p:txBody>
          <a:bodyPr/>
          <a:lstStyle/>
          <a:p>
            <a:r>
              <a:rPr lang="en-US" dirty="0"/>
              <a:t>Implementation- Modules</a:t>
            </a:r>
          </a:p>
        </p:txBody>
      </p:sp>
      <p:graphicFrame>
        <p:nvGraphicFramePr>
          <p:cNvPr id="7" name="Table 6">
            <a:extLst>
              <a:ext uri="{FF2B5EF4-FFF2-40B4-BE49-F238E27FC236}">
                <a16:creationId xmlns:a16="http://schemas.microsoft.com/office/drawing/2014/main" id="{26BB18CD-857D-4B5F-A402-C105FFC5819C}"/>
              </a:ext>
            </a:extLst>
          </p:cNvPr>
          <p:cNvGraphicFramePr>
            <a:graphicFrameLocks noGrp="1"/>
          </p:cNvGraphicFramePr>
          <p:nvPr>
            <p:extLst>
              <p:ext uri="{D42A27DB-BD31-4B8C-83A1-F6EECF244321}">
                <p14:modId xmlns:p14="http://schemas.microsoft.com/office/powerpoint/2010/main" val="2426309676"/>
              </p:ext>
            </p:extLst>
          </p:nvPr>
        </p:nvGraphicFramePr>
        <p:xfrm>
          <a:off x="628187" y="1183077"/>
          <a:ext cx="10302280" cy="5361656"/>
        </p:xfrm>
        <a:graphic>
          <a:graphicData uri="http://schemas.openxmlformats.org/drawingml/2006/table">
            <a:tbl>
              <a:tblPr/>
              <a:tblGrid>
                <a:gridCol w="5151140">
                  <a:extLst>
                    <a:ext uri="{9D8B030D-6E8A-4147-A177-3AD203B41FA5}">
                      <a16:colId xmlns:a16="http://schemas.microsoft.com/office/drawing/2014/main" val="1995153955"/>
                    </a:ext>
                  </a:extLst>
                </a:gridCol>
                <a:gridCol w="5151140">
                  <a:extLst>
                    <a:ext uri="{9D8B030D-6E8A-4147-A177-3AD203B41FA5}">
                      <a16:colId xmlns:a16="http://schemas.microsoft.com/office/drawing/2014/main" val="177162175"/>
                    </a:ext>
                  </a:extLst>
                </a:gridCol>
              </a:tblGrid>
              <a:tr h="334940">
                <a:tc>
                  <a:txBody>
                    <a:bodyPr/>
                    <a:lstStyle/>
                    <a:p>
                      <a:pPr algn="ctr"/>
                      <a:r>
                        <a:rPr lang="en-US" sz="1500" b="1" u="none" dirty="0"/>
                        <a:t>Module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b="1" u="none" dirty="0"/>
                        <a:t>Responsibility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8832393"/>
                  </a:ext>
                </a:extLst>
              </a:tr>
              <a:tr h="334940">
                <a:tc>
                  <a:txBody>
                    <a:bodyPr/>
                    <a:lstStyle/>
                    <a:p>
                      <a:r>
                        <a:rPr lang="en-US" sz="1500" dirty="0"/>
                        <a:t>state_persistence.py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Loads, updates, saves, and resets the base world state.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15445811"/>
                  </a:ext>
                </a:extLst>
              </a:tr>
              <a:tr h="586472">
                <a:tc>
                  <a:txBody>
                    <a:bodyPr/>
                    <a:lstStyle/>
                    <a:p>
                      <a:r>
                        <a:rPr lang="en-US" sz="1500"/>
                        <a:t>technique_loader.py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Loads, validates, and indexes the technique schema catalogue.</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7671533"/>
                  </a:ext>
                </a:extLst>
              </a:tr>
              <a:tr h="586472">
                <a:tc>
                  <a:txBody>
                    <a:bodyPr/>
                    <a:lstStyle/>
                    <a:p>
                      <a:r>
                        <a:rPr lang="en-US" sz="1500"/>
                        <a:t>technique_validator.py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Checks schema preconditions and returns feasible techniques and targets.</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0919964"/>
                  </a:ext>
                </a:extLst>
              </a:tr>
              <a:tr h="586472">
                <a:tc>
                  <a:txBody>
                    <a:bodyPr/>
                    <a:lstStyle/>
                    <a:p>
                      <a:r>
                        <a:rPr lang="en-US" sz="1500"/>
                        <a:t>technique_selector.py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Implements the Red path selector, target selector, state encoder, and technique-selection DDQN.</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8319767"/>
                  </a:ext>
                </a:extLst>
              </a:tr>
              <a:tr h="586472">
                <a:tc>
                  <a:txBody>
                    <a:bodyPr/>
                    <a:lstStyle/>
                    <a:p>
                      <a:r>
                        <a:rPr lang="en-US" sz="1500"/>
                        <a:t>param_selector.py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Resolves required technique parameters using state lookup and a tabular parameter-selection policy.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894885"/>
                  </a:ext>
                </a:extLst>
              </a:tr>
              <a:tr h="586472">
                <a:tc>
                  <a:txBody>
                    <a:bodyPr/>
                    <a:lstStyle/>
                    <a:p>
                      <a:r>
                        <a:rPr lang="en-US" sz="1500"/>
                        <a:t>blue_detection_agent.py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Encodes logs and implements the Blue detection classifier.</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0215809"/>
                  </a:ext>
                </a:extLst>
              </a:tr>
              <a:tr h="586472">
                <a:tc>
                  <a:txBody>
                    <a:bodyPr/>
                    <a:lstStyle/>
                    <a:p>
                      <a:r>
                        <a:rPr lang="en-US" sz="1500"/>
                        <a:t>blue_response_agent.py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a:t>Implements evidence-gated Blue response selection and the response action-value policy.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5048629"/>
                  </a:ext>
                </a:extLst>
              </a:tr>
              <a:tr h="586472">
                <a:tc>
                  <a:txBody>
                    <a:bodyPr/>
                    <a:lstStyle/>
                    <a:p>
                      <a:r>
                        <a:rPr lang="en-US" sz="1500"/>
                        <a:t>reward_calculator.py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Computes Red rewards, Blue detection rewards, Blue response rewards, and terminal rewards.</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0091204"/>
                  </a:ext>
                </a:extLst>
              </a:tr>
              <a:tr h="586472">
                <a:tc>
                  <a:txBody>
                    <a:bodyPr/>
                    <a:lstStyle/>
                    <a:p>
                      <a:r>
                        <a:rPr lang="en-US" sz="1500"/>
                        <a:t>experiment_config.py</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Stores training, evaluation, promotion, exploration, and reset parameters.</a:t>
                      </a:r>
                    </a:p>
                  </a:txBody>
                  <a:tcPr marL="75803" marR="75803" marT="37902" marB="379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73874"/>
                  </a:ext>
                </a:extLst>
              </a:tr>
            </a:tbl>
          </a:graphicData>
        </a:graphic>
      </p:graphicFrame>
    </p:spTree>
    <p:extLst>
      <p:ext uri="{BB962C8B-B14F-4D97-AF65-F5344CB8AC3E}">
        <p14:creationId xmlns:p14="http://schemas.microsoft.com/office/powerpoint/2010/main" val="4131739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69DD-0D8B-65C9-8055-3A755902B015}"/>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FA8AD9BD-956A-2384-BEBD-6EC2C715975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31</a:t>
            </a:fld>
            <a:endParaRPr lang="en-US" dirty="0"/>
          </a:p>
        </p:txBody>
      </p:sp>
      <p:sp>
        <p:nvSpPr>
          <p:cNvPr id="5" name="Title 1">
            <a:extLst>
              <a:ext uri="{FF2B5EF4-FFF2-40B4-BE49-F238E27FC236}">
                <a16:creationId xmlns:a16="http://schemas.microsoft.com/office/drawing/2014/main" id="{957FFB54-EECD-8C32-A488-5E02743FEC3E}"/>
              </a:ext>
            </a:extLst>
          </p:cNvPr>
          <p:cNvSpPr>
            <a:spLocks noGrp="1"/>
          </p:cNvSpPr>
          <p:nvPr>
            <p:ph type="title"/>
          </p:nvPr>
        </p:nvSpPr>
        <p:spPr>
          <a:xfrm>
            <a:off x="265641" y="-297657"/>
            <a:ext cx="10515600" cy="1325563"/>
          </a:xfrm>
        </p:spPr>
        <p:txBody>
          <a:bodyPr/>
          <a:lstStyle/>
          <a:p>
            <a:r>
              <a:rPr lang="en-US" dirty="0"/>
              <a:t>Implementation -  System Architecture</a:t>
            </a:r>
          </a:p>
        </p:txBody>
      </p:sp>
      <p:sp>
        <p:nvSpPr>
          <p:cNvPr id="3" name="AutoShape 4">
            <a:extLst>
              <a:ext uri="{FF2B5EF4-FFF2-40B4-BE49-F238E27FC236}">
                <a16:creationId xmlns:a16="http://schemas.microsoft.com/office/drawing/2014/main" id="{FB8A3F1B-7FBB-49A9-B79C-C2F1ECC13D0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2" name="Picture 6">
            <a:extLst>
              <a:ext uri="{FF2B5EF4-FFF2-40B4-BE49-F238E27FC236}">
                <a16:creationId xmlns:a16="http://schemas.microsoft.com/office/drawing/2014/main" id="{E1EFB980-644D-4114-8BD3-CEC1555AB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266" y="775890"/>
            <a:ext cx="9838267" cy="5959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7791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B69DD-0D8B-65C9-8055-3A755902B015}"/>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FA8AD9BD-956A-2384-BEBD-6EC2C7159751}"/>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32</a:t>
            </a:fld>
            <a:endParaRPr lang="en-US" dirty="0"/>
          </a:p>
        </p:txBody>
      </p:sp>
      <p:grpSp>
        <p:nvGrpSpPr>
          <p:cNvPr id="14" name="Group 13">
            <a:extLst>
              <a:ext uri="{FF2B5EF4-FFF2-40B4-BE49-F238E27FC236}">
                <a16:creationId xmlns:a16="http://schemas.microsoft.com/office/drawing/2014/main" id="{F5A45646-DBBC-4A77-9D59-CBCCEF17F7DF}"/>
              </a:ext>
            </a:extLst>
          </p:cNvPr>
          <p:cNvGrpSpPr/>
          <p:nvPr/>
        </p:nvGrpSpPr>
        <p:grpSpPr>
          <a:xfrm>
            <a:off x="464079" y="1225375"/>
            <a:ext cx="10424054" cy="5145262"/>
            <a:chOff x="143932" y="0"/>
            <a:chExt cx="11870267" cy="6601337"/>
          </a:xfrm>
        </p:grpSpPr>
        <p:grpSp>
          <p:nvGrpSpPr>
            <p:cNvPr id="10" name="Group 9">
              <a:extLst>
                <a:ext uri="{FF2B5EF4-FFF2-40B4-BE49-F238E27FC236}">
                  <a16:creationId xmlns:a16="http://schemas.microsoft.com/office/drawing/2014/main" id="{793638CB-D6AA-438F-A277-23C960B3D670}"/>
                </a:ext>
              </a:extLst>
            </p:cNvPr>
            <p:cNvGrpSpPr/>
            <p:nvPr/>
          </p:nvGrpSpPr>
          <p:grpSpPr>
            <a:xfrm>
              <a:off x="143932" y="0"/>
              <a:ext cx="11870267" cy="6282267"/>
              <a:chOff x="135467" y="689372"/>
              <a:chExt cx="11318874" cy="6019801"/>
            </a:xfrm>
          </p:grpSpPr>
          <p:pic>
            <p:nvPicPr>
              <p:cNvPr id="7" name="Picture 6">
                <a:extLst>
                  <a:ext uri="{FF2B5EF4-FFF2-40B4-BE49-F238E27FC236}">
                    <a16:creationId xmlns:a16="http://schemas.microsoft.com/office/drawing/2014/main" id="{826F7C59-4143-4C48-ABB6-3FF62C8655E6}"/>
                  </a:ext>
                </a:extLst>
              </p:cNvPr>
              <p:cNvPicPr/>
              <p:nvPr/>
            </p:nvPicPr>
            <p:blipFill>
              <a:blip r:embed="rId3">
                <a:extLst>
                  <a:ext uri="{28A0092B-C50C-407E-A947-70E740481C1C}">
                    <a14:useLocalDpi xmlns:a14="http://schemas.microsoft.com/office/drawing/2010/main" val="0"/>
                  </a:ext>
                </a:extLst>
              </a:blip>
              <a:stretch>
                <a:fillRect/>
              </a:stretch>
            </p:blipFill>
            <p:spPr>
              <a:xfrm>
                <a:off x="135467" y="689372"/>
                <a:ext cx="3860800" cy="6019800"/>
              </a:xfrm>
              <a:prstGeom prst="rect">
                <a:avLst/>
              </a:prstGeom>
            </p:spPr>
          </p:pic>
          <p:pic>
            <p:nvPicPr>
              <p:cNvPr id="4" name="Picture 3">
                <a:extLst>
                  <a:ext uri="{FF2B5EF4-FFF2-40B4-BE49-F238E27FC236}">
                    <a16:creationId xmlns:a16="http://schemas.microsoft.com/office/drawing/2014/main" id="{9FBF7A70-6B09-4A42-8953-FEA198C01954}"/>
                  </a:ext>
                </a:extLst>
              </p:cNvPr>
              <p:cNvPicPr>
                <a:picLocks noChangeAspect="1"/>
              </p:cNvPicPr>
              <p:nvPr/>
            </p:nvPicPr>
            <p:blipFill>
              <a:blip r:embed="rId4"/>
              <a:stretch>
                <a:fillRect/>
              </a:stretch>
            </p:blipFill>
            <p:spPr>
              <a:xfrm>
                <a:off x="3996267" y="689373"/>
                <a:ext cx="7458074" cy="6019800"/>
              </a:xfrm>
              <a:prstGeom prst="rect">
                <a:avLst/>
              </a:prstGeom>
            </p:spPr>
          </p:pic>
        </p:grpSp>
        <p:sp>
          <p:nvSpPr>
            <p:cNvPr id="11" name="TextBox 10">
              <a:extLst>
                <a:ext uri="{FF2B5EF4-FFF2-40B4-BE49-F238E27FC236}">
                  <a16:creationId xmlns:a16="http://schemas.microsoft.com/office/drawing/2014/main" id="{1AF335ED-D08D-458F-B3BF-EEB39DEC6083}"/>
                </a:ext>
              </a:extLst>
            </p:cNvPr>
            <p:cNvSpPr txBox="1"/>
            <p:nvPr/>
          </p:nvSpPr>
          <p:spPr>
            <a:xfrm>
              <a:off x="1716307" y="6178886"/>
              <a:ext cx="533400" cy="369332"/>
            </a:xfrm>
            <a:prstGeom prst="rect">
              <a:avLst/>
            </a:prstGeom>
            <a:noFill/>
          </p:spPr>
          <p:txBody>
            <a:bodyPr wrap="square" rtlCol="0">
              <a:spAutoFit/>
            </a:bodyPr>
            <a:lstStyle/>
            <a:p>
              <a:r>
                <a:rPr lang="en-US" dirty="0"/>
                <a:t>(a)</a:t>
              </a:r>
            </a:p>
          </p:txBody>
        </p:sp>
        <p:sp>
          <p:nvSpPr>
            <p:cNvPr id="12" name="TextBox 11">
              <a:extLst>
                <a:ext uri="{FF2B5EF4-FFF2-40B4-BE49-F238E27FC236}">
                  <a16:creationId xmlns:a16="http://schemas.microsoft.com/office/drawing/2014/main" id="{7120921C-6DBA-43AF-9CFE-36A31052187D}"/>
                </a:ext>
              </a:extLst>
            </p:cNvPr>
            <p:cNvSpPr txBox="1"/>
            <p:nvPr/>
          </p:nvSpPr>
          <p:spPr>
            <a:xfrm>
              <a:off x="5739717" y="6232005"/>
              <a:ext cx="533400" cy="369332"/>
            </a:xfrm>
            <a:prstGeom prst="rect">
              <a:avLst/>
            </a:prstGeom>
            <a:noFill/>
          </p:spPr>
          <p:txBody>
            <a:bodyPr wrap="square" rtlCol="0">
              <a:spAutoFit/>
            </a:bodyPr>
            <a:lstStyle/>
            <a:p>
              <a:r>
                <a:rPr lang="en-US" dirty="0"/>
                <a:t>(b)</a:t>
              </a:r>
            </a:p>
          </p:txBody>
        </p:sp>
        <p:sp>
          <p:nvSpPr>
            <p:cNvPr id="13" name="TextBox 12">
              <a:extLst>
                <a:ext uri="{FF2B5EF4-FFF2-40B4-BE49-F238E27FC236}">
                  <a16:creationId xmlns:a16="http://schemas.microsoft.com/office/drawing/2014/main" id="{19887396-EED7-4316-BC9A-147E1BF1B213}"/>
                </a:ext>
              </a:extLst>
            </p:cNvPr>
            <p:cNvSpPr txBox="1"/>
            <p:nvPr/>
          </p:nvSpPr>
          <p:spPr>
            <a:xfrm>
              <a:off x="10050241" y="6207478"/>
              <a:ext cx="533400" cy="369332"/>
            </a:xfrm>
            <a:prstGeom prst="rect">
              <a:avLst/>
            </a:prstGeom>
            <a:noFill/>
          </p:spPr>
          <p:txBody>
            <a:bodyPr wrap="square" rtlCol="0">
              <a:spAutoFit/>
            </a:bodyPr>
            <a:lstStyle/>
            <a:p>
              <a:r>
                <a:rPr lang="en-US" dirty="0"/>
                <a:t>(c)</a:t>
              </a:r>
            </a:p>
          </p:txBody>
        </p:sp>
      </p:grpSp>
      <p:sp>
        <p:nvSpPr>
          <p:cNvPr id="15" name="Title 1">
            <a:extLst>
              <a:ext uri="{FF2B5EF4-FFF2-40B4-BE49-F238E27FC236}">
                <a16:creationId xmlns:a16="http://schemas.microsoft.com/office/drawing/2014/main" id="{CC3D5DA9-A804-4E3D-B653-EC2BFF02FD8C}"/>
              </a:ext>
            </a:extLst>
          </p:cNvPr>
          <p:cNvSpPr>
            <a:spLocks noGrp="1"/>
          </p:cNvSpPr>
          <p:nvPr>
            <p:ph type="title"/>
          </p:nvPr>
        </p:nvSpPr>
        <p:spPr>
          <a:xfrm>
            <a:off x="265641" y="-297657"/>
            <a:ext cx="10515600" cy="1325563"/>
          </a:xfrm>
        </p:spPr>
        <p:txBody>
          <a:bodyPr/>
          <a:lstStyle/>
          <a:p>
            <a:r>
              <a:rPr lang="en-US" dirty="0"/>
              <a:t>Implementation -  System Architecture</a:t>
            </a:r>
          </a:p>
        </p:txBody>
      </p:sp>
    </p:spTree>
    <p:extLst>
      <p:ext uri="{BB962C8B-B14F-4D97-AF65-F5344CB8AC3E}">
        <p14:creationId xmlns:p14="http://schemas.microsoft.com/office/powerpoint/2010/main" val="613137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Issues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838200" y="1269618"/>
            <a:ext cx="10515600" cy="5283581"/>
          </a:xfrm>
        </p:spPr>
        <p:txBody>
          <a:bodyPr>
            <a:normAutofit/>
          </a:bodyPr>
          <a:lstStyle/>
          <a:p>
            <a:pPr marL="177062" indent="-165856">
              <a:lnSpc>
                <a:spcPct val="100000"/>
              </a:lnSpc>
              <a:buFont typeface="Arial MT"/>
              <a:buChar char="•"/>
              <a:tabLst>
                <a:tab pos="177062" algn="l"/>
              </a:tabLst>
            </a:pPr>
            <a:r>
              <a:rPr lang="en-US" b="1" dirty="0">
                <a:latin typeface="Times New Roman"/>
                <a:cs typeface="Times New Roman"/>
              </a:rPr>
              <a:t>Multi-Generation</a:t>
            </a:r>
            <a:r>
              <a:rPr lang="en-US" b="1" spc="79" dirty="0">
                <a:latin typeface="Times New Roman"/>
                <a:cs typeface="Times New Roman"/>
              </a:rPr>
              <a:t> </a:t>
            </a:r>
            <a:r>
              <a:rPr lang="en-US" b="1" spc="-9" dirty="0">
                <a:latin typeface="Times New Roman"/>
                <a:cs typeface="Times New Roman"/>
              </a:rPr>
              <a:t>Evolution</a:t>
            </a:r>
            <a:endParaRPr lang="en-US" dirty="0">
              <a:latin typeface="Times New Roman"/>
              <a:cs typeface="Times New Roman"/>
            </a:endParaRPr>
          </a:p>
          <a:p>
            <a:pPr marL="509895" lvl="1" indent="-165296">
              <a:lnSpc>
                <a:spcPct val="100000"/>
              </a:lnSpc>
              <a:spcBef>
                <a:spcPts val="31"/>
              </a:spcBef>
              <a:buFont typeface="Arial MT"/>
              <a:buChar char="•"/>
              <a:tabLst>
                <a:tab pos="509895" algn="l"/>
              </a:tabLst>
            </a:pPr>
            <a:r>
              <a:rPr lang="en-US" dirty="0">
                <a:latin typeface="Times New Roman"/>
                <a:cs typeface="Times New Roman"/>
              </a:rPr>
              <a:t>How</a:t>
            </a:r>
            <a:r>
              <a:rPr lang="en-US" spc="-31" dirty="0">
                <a:latin typeface="Times New Roman"/>
                <a:cs typeface="Times New Roman"/>
              </a:rPr>
              <a:t> </a:t>
            </a:r>
            <a:r>
              <a:rPr lang="en-US" dirty="0">
                <a:latin typeface="Times New Roman"/>
                <a:cs typeface="Times New Roman"/>
              </a:rPr>
              <a:t>defense</a:t>
            </a:r>
            <a:r>
              <a:rPr lang="en-US" spc="-53" dirty="0">
                <a:latin typeface="Times New Roman"/>
                <a:cs typeface="Times New Roman"/>
              </a:rPr>
              <a:t> </a:t>
            </a:r>
            <a:r>
              <a:rPr lang="en-US" dirty="0">
                <a:latin typeface="Times New Roman"/>
                <a:cs typeface="Times New Roman"/>
              </a:rPr>
              <a:t>performance</a:t>
            </a:r>
            <a:r>
              <a:rPr lang="en-US" spc="-40" dirty="0">
                <a:latin typeface="Times New Roman"/>
                <a:cs typeface="Times New Roman"/>
              </a:rPr>
              <a:t> </a:t>
            </a:r>
            <a:r>
              <a:rPr lang="en-US" dirty="0">
                <a:latin typeface="Times New Roman"/>
                <a:cs typeface="Times New Roman"/>
              </a:rPr>
              <a:t>changes</a:t>
            </a:r>
            <a:r>
              <a:rPr lang="en-US" spc="-49" dirty="0">
                <a:latin typeface="Times New Roman"/>
                <a:cs typeface="Times New Roman"/>
              </a:rPr>
              <a:t> </a:t>
            </a:r>
            <a:r>
              <a:rPr lang="en-US" dirty="0">
                <a:latin typeface="Times New Roman"/>
                <a:cs typeface="Times New Roman"/>
              </a:rPr>
              <a:t>as</a:t>
            </a:r>
            <a:r>
              <a:rPr lang="en-US" spc="-35" dirty="0">
                <a:latin typeface="Times New Roman"/>
                <a:cs typeface="Times New Roman"/>
              </a:rPr>
              <a:t> </a:t>
            </a:r>
            <a:r>
              <a:rPr lang="en-US" dirty="0">
                <a:latin typeface="Times New Roman"/>
                <a:cs typeface="Times New Roman"/>
              </a:rPr>
              <a:t>generations</a:t>
            </a:r>
            <a:r>
              <a:rPr lang="en-US" spc="-62" dirty="0">
                <a:latin typeface="Times New Roman"/>
                <a:cs typeface="Times New Roman"/>
              </a:rPr>
              <a:t> </a:t>
            </a:r>
            <a:r>
              <a:rPr lang="en-US" spc="-9" dirty="0">
                <a:latin typeface="Times New Roman"/>
                <a:cs typeface="Times New Roman"/>
              </a:rPr>
              <a:t>increase.</a:t>
            </a:r>
            <a:endParaRPr lang="en-US" dirty="0">
              <a:latin typeface="Times New Roman"/>
              <a:cs typeface="Times New Roman"/>
            </a:endParaRPr>
          </a:p>
          <a:p>
            <a:pPr marL="144003" indent="-132797">
              <a:lnSpc>
                <a:spcPct val="100000"/>
              </a:lnSpc>
              <a:spcBef>
                <a:spcPts val="115"/>
              </a:spcBef>
              <a:buFont typeface="Times New Roman"/>
              <a:buChar char="•"/>
              <a:tabLst>
                <a:tab pos="144003" algn="l"/>
              </a:tabLst>
            </a:pPr>
            <a:endParaRPr lang="en-US" b="1" dirty="0">
              <a:latin typeface="Times New Roman"/>
              <a:cs typeface="Times New Roman"/>
            </a:endParaRPr>
          </a:p>
          <a:p>
            <a:pPr marL="144003" indent="-132797">
              <a:lnSpc>
                <a:spcPct val="100000"/>
              </a:lnSpc>
              <a:buFont typeface="Times New Roman"/>
              <a:buChar char="•"/>
              <a:tabLst>
                <a:tab pos="144003" algn="l"/>
              </a:tabLst>
            </a:pPr>
            <a:r>
              <a:rPr lang="en-US" b="1" dirty="0">
                <a:latin typeface="Times New Roman"/>
                <a:cs typeface="Times New Roman"/>
              </a:rPr>
              <a:t>Cross-Generation performance</a:t>
            </a:r>
            <a:endParaRPr lang="en-US" dirty="0">
              <a:latin typeface="Times New Roman"/>
              <a:cs typeface="Times New Roman"/>
            </a:endParaRPr>
          </a:p>
          <a:p>
            <a:pPr marL="344599" marR="699845" lvl="1" indent="156891">
              <a:lnSpc>
                <a:spcPct val="100000"/>
              </a:lnSpc>
              <a:spcBef>
                <a:spcPts val="361"/>
              </a:spcBef>
              <a:buChar char="•"/>
              <a:tabLst>
                <a:tab pos="501490" algn="l"/>
              </a:tabLst>
            </a:pPr>
            <a:r>
              <a:rPr lang="en-US" dirty="0">
                <a:latin typeface="Times New Roman"/>
                <a:cs typeface="Times New Roman"/>
              </a:rPr>
              <a:t>How</a:t>
            </a:r>
            <a:r>
              <a:rPr lang="en-US" spc="-26" dirty="0">
                <a:latin typeface="Times New Roman"/>
                <a:cs typeface="Times New Roman"/>
              </a:rPr>
              <a:t> </a:t>
            </a:r>
            <a:r>
              <a:rPr lang="en-US" dirty="0">
                <a:latin typeface="Times New Roman"/>
                <a:cs typeface="Times New Roman"/>
              </a:rPr>
              <a:t>well</a:t>
            </a:r>
            <a:r>
              <a:rPr lang="en-US" spc="-31" dirty="0">
                <a:latin typeface="Times New Roman"/>
                <a:cs typeface="Times New Roman"/>
              </a:rPr>
              <a:t> </a:t>
            </a:r>
            <a:r>
              <a:rPr lang="en-US" dirty="0">
                <a:latin typeface="Times New Roman"/>
                <a:cs typeface="Times New Roman"/>
              </a:rPr>
              <a:t>does</a:t>
            </a:r>
            <a:r>
              <a:rPr lang="en-US" spc="-31" dirty="0">
                <a:latin typeface="Times New Roman"/>
                <a:cs typeface="Times New Roman"/>
              </a:rPr>
              <a:t> </a:t>
            </a:r>
            <a:r>
              <a:rPr lang="en-US" dirty="0">
                <a:latin typeface="Times New Roman"/>
                <a:cs typeface="Times New Roman"/>
              </a:rPr>
              <a:t>a</a:t>
            </a:r>
            <a:r>
              <a:rPr lang="en-US" spc="-9" dirty="0">
                <a:latin typeface="Times New Roman"/>
                <a:cs typeface="Times New Roman"/>
              </a:rPr>
              <a:t> </a:t>
            </a:r>
            <a:r>
              <a:rPr lang="en-US" dirty="0">
                <a:latin typeface="Times New Roman"/>
                <a:cs typeface="Times New Roman"/>
              </a:rPr>
              <a:t>new</a:t>
            </a:r>
            <a:r>
              <a:rPr lang="en-US" spc="-35" dirty="0">
                <a:latin typeface="Times New Roman"/>
                <a:cs typeface="Times New Roman"/>
              </a:rPr>
              <a:t> </a:t>
            </a:r>
            <a:r>
              <a:rPr lang="en-US" dirty="0">
                <a:latin typeface="Times New Roman"/>
                <a:cs typeface="Times New Roman"/>
              </a:rPr>
              <a:t>generation</a:t>
            </a:r>
            <a:r>
              <a:rPr lang="en-US" spc="-35" dirty="0">
                <a:latin typeface="Times New Roman"/>
                <a:cs typeface="Times New Roman"/>
              </a:rPr>
              <a:t> </a:t>
            </a:r>
            <a:r>
              <a:rPr lang="en-US" dirty="0">
                <a:latin typeface="Times New Roman"/>
                <a:cs typeface="Times New Roman"/>
              </a:rPr>
              <a:t>agent</a:t>
            </a:r>
            <a:r>
              <a:rPr lang="en-US" spc="-35" dirty="0">
                <a:latin typeface="Times New Roman"/>
                <a:cs typeface="Times New Roman"/>
              </a:rPr>
              <a:t> </a:t>
            </a:r>
            <a:r>
              <a:rPr lang="en-US" spc="-9" dirty="0">
                <a:latin typeface="Times New Roman"/>
                <a:cs typeface="Times New Roman"/>
              </a:rPr>
              <a:t>generalize</a:t>
            </a:r>
            <a:r>
              <a:rPr lang="en-US" spc="-40" dirty="0">
                <a:latin typeface="Times New Roman"/>
                <a:cs typeface="Times New Roman"/>
              </a:rPr>
              <a:t> </a:t>
            </a:r>
            <a:r>
              <a:rPr lang="en-US" dirty="0">
                <a:latin typeface="Times New Roman"/>
                <a:cs typeface="Times New Roman"/>
              </a:rPr>
              <a:t>when</a:t>
            </a:r>
            <a:r>
              <a:rPr lang="en-US" spc="-35" dirty="0">
                <a:latin typeface="Times New Roman"/>
                <a:cs typeface="Times New Roman"/>
              </a:rPr>
              <a:t> </a:t>
            </a:r>
            <a:r>
              <a:rPr lang="en-US" dirty="0">
                <a:latin typeface="Times New Roman"/>
                <a:cs typeface="Times New Roman"/>
              </a:rPr>
              <a:t>facing</a:t>
            </a:r>
            <a:r>
              <a:rPr lang="en-US" spc="-9" dirty="0">
                <a:latin typeface="Times New Roman"/>
                <a:cs typeface="Times New Roman"/>
              </a:rPr>
              <a:t> </a:t>
            </a:r>
            <a:r>
              <a:rPr lang="en-US" b="1" spc="-9" dirty="0">
                <a:latin typeface="Times New Roman"/>
                <a:cs typeface="Times New Roman"/>
              </a:rPr>
              <a:t>different-generation </a:t>
            </a:r>
            <a:r>
              <a:rPr lang="en-US" b="1" dirty="0">
                <a:latin typeface="Times New Roman"/>
                <a:cs typeface="Times New Roman"/>
              </a:rPr>
              <a:t>adversaries</a:t>
            </a:r>
            <a:r>
              <a:rPr lang="en-US" dirty="0">
                <a:latin typeface="Times New Roman"/>
                <a:cs typeface="Times New Roman"/>
              </a:rPr>
              <a:t>?</a:t>
            </a:r>
            <a:r>
              <a:rPr lang="en-US" spc="-49" dirty="0">
                <a:latin typeface="Times New Roman"/>
                <a:cs typeface="Times New Roman"/>
              </a:rPr>
              <a:t> </a:t>
            </a:r>
            <a:r>
              <a:rPr lang="en-US" dirty="0">
                <a:latin typeface="Times New Roman"/>
                <a:cs typeface="Times New Roman"/>
              </a:rPr>
              <a:t>(e.g.,</a:t>
            </a:r>
            <a:r>
              <a:rPr lang="en-US" spc="-57" dirty="0">
                <a:latin typeface="Times New Roman"/>
                <a:cs typeface="Times New Roman"/>
              </a:rPr>
              <a:t> </a:t>
            </a:r>
            <a:r>
              <a:rPr lang="en-US" dirty="0">
                <a:latin typeface="Times New Roman"/>
                <a:cs typeface="Times New Roman"/>
              </a:rPr>
              <a:t>how </a:t>
            </a:r>
            <a:r>
              <a:rPr lang="en-US" spc="-9" dirty="0">
                <a:latin typeface="Times New Roman"/>
                <a:cs typeface="Times New Roman"/>
              </a:rPr>
              <a:t> </a:t>
            </a:r>
            <a:r>
              <a:rPr lang="en-US" b="1" dirty="0">
                <a:latin typeface="Times New Roman"/>
                <a:cs typeface="Times New Roman"/>
              </a:rPr>
              <a:t>Blue</a:t>
            </a:r>
            <a:r>
              <a:rPr lang="en-US" b="1" spc="-31" dirty="0">
                <a:latin typeface="Times New Roman"/>
                <a:cs typeface="Times New Roman"/>
              </a:rPr>
              <a:t> </a:t>
            </a:r>
            <a:r>
              <a:rPr lang="en-US" b="1" spc="-9" dirty="0">
                <a:latin typeface="Times New Roman"/>
                <a:cs typeface="Times New Roman"/>
              </a:rPr>
              <a:t>Gen-1</a:t>
            </a:r>
            <a:r>
              <a:rPr lang="en-US" b="1" spc="-31" dirty="0">
                <a:latin typeface="Times New Roman"/>
                <a:cs typeface="Times New Roman"/>
              </a:rPr>
              <a:t> perform against </a:t>
            </a:r>
            <a:r>
              <a:rPr lang="en-US" b="1" dirty="0">
                <a:latin typeface="Times New Roman"/>
                <a:cs typeface="Times New Roman"/>
              </a:rPr>
              <a:t>Red</a:t>
            </a:r>
            <a:r>
              <a:rPr lang="en-US" b="1" spc="-22" dirty="0">
                <a:latin typeface="Times New Roman"/>
                <a:cs typeface="Times New Roman"/>
              </a:rPr>
              <a:t> </a:t>
            </a:r>
            <a:r>
              <a:rPr lang="en-US" b="1" spc="-9" dirty="0">
                <a:latin typeface="Times New Roman"/>
                <a:cs typeface="Times New Roman"/>
              </a:rPr>
              <a:t>Gen-</a:t>
            </a:r>
            <a:r>
              <a:rPr lang="en-US" b="1" spc="-22" dirty="0">
                <a:latin typeface="Times New Roman"/>
                <a:cs typeface="Times New Roman"/>
              </a:rPr>
              <a:t>3</a:t>
            </a:r>
            <a:r>
              <a:rPr lang="en-US" spc="-22" dirty="0">
                <a:latin typeface="Times New Roman"/>
                <a:cs typeface="Times New Roman"/>
              </a:rPr>
              <a:t>)</a:t>
            </a:r>
            <a:endParaRPr lang="en-US" dirty="0">
              <a:latin typeface="Times New Roman"/>
              <a:cs typeface="Times New Roman"/>
            </a:endParaRPr>
          </a:p>
          <a:p>
            <a:pPr marL="144003" indent="-132797">
              <a:lnSpc>
                <a:spcPct val="100000"/>
              </a:lnSpc>
              <a:spcBef>
                <a:spcPts val="115"/>
              </a:spcBef>
              <a:buFont typeface="Times New Roman"/>
              <a:buChar char="•"/>
              <a:tabLst>
                <a:tab pos="144003" algn="l"/>
              </a:tabLst>
            </a:pPr>
            <a:endParaRPr lang="en-US" b="1" dirty="0">
              <a:latin typeface="Times New Roman"/>
              <a:cs typeface="Times New Roman"/>
            </a:endParaRPr>
          </a:p>
          <a:p>
            <a:pPr marL="144003" indent="-132797">
              <a:lnSpc>
                <a:spcPct val="100000"/>
              </a:lnSpc>
              <a:spcBef>
                <a:spcPts val="115"/>
              </a:spcBef>
              <a:buFont typeface="Times New Roman"/>
              <a:buChar char="•"/>
              <a:tabLst>
                <a:tab pos="144003" algn="l"/>
              </a:tabLst>
            </a:pPr>
            <a:r>
              <a:rPr lang="en-US" b="1" dirty="0">
                <a:latin typeface="Times New Roman"/>
                <a:cs typeface="Times New Roman"/>
              </a:rPr>
              <a:t>Simultaneous Co-Evolution</a:t>
            </a:r>
            <a:r>
              <a:rPr lang="en-US" b="1" spc="53" dirty="0">
                <a:latin typeface="Times New Roman"/>
                <a:cs typeface="Times New Roman"/>
              </a:rPr>
              <a:t> vs </a:t>
            </a:r>
            <a:r>
              <a:rPr lang="en-US" b="1" dirty="0">
                <a:latin typeface="Times New Roman"/>
                <a:cs typeface="Times New Roman"/>
              </a:rPr>
              <a:t>Alternating Co-Evolution</a:t>
            </a:r>
            <a:r>
              <a:rPr lang="en-US" b="1" spc="53" dirty="0">
                <a:latin typeface="Times New Roman"/>
                <a:cs typeface="Times New Roman"/>
              </a:rPr>
              <a:t> </a:t>
            </a:r>
            <a:r>
              <a:rPr lang="en-US" b="1" dirty="0">
                <a:latin typeface="Times New Roman"/>
                <a:cs typeface="Times New Roman"/>
              </a:rPr>
              <a:t>vs</a:t>
            </a:r>
            <a:r>
              <a:rPr lang="en-US" b="1" spc="44" dirty="0">
                <a:latin typeface="Times New Roman"/>
                <a:cs typeface="Times New Roman"/>
              </a:rPr>
              <a:t> </a:t>
            </a:r>
            <a:r>
              <a:rPr lang="en-US" b="1" dirty="0">
                <a:latin typeface="Times New Roman"/>
                <a:cs typeface="Times New Roman"/>
              </a:rPr>
              <a:t>Fixed opponent</a:t>
            </a:r>
            <a:r>
              <a:rPr lang="en-US" b="1" spc="18" dirty="0">
                <a:latin typeface="Times New Roman"/>
                <a:cs typeface="Times New Roman"/>
              </a:rPr>
              <a:t> </a:t>
            </a:r>
            <a:r>
              <a:rPr lang="en-US" b="1" spc="-9" dirty="0">
                <a:latin typeface="Times New Roman"/>
                <a:cs typeface="Times New Roman"/>
              </a:rPr>
              <a:t>Training</a:t>
            </a:r>
            <a:endParaRPr lang="en-US" dirty="0">
              <a:latin typeface="Times New Roman"/>
              <a:cs typeface="Times New Roman"/>
            </a:endParaRPr>
          </a:p>
          <a:p>
            <a:pPr marL="344599" marR="10086" lvl="1" indent="156891">
              <a:lnSpc>
                <a:spcPct val="100000"/>
              </a:lnSpc>
              <a:spcBef>
                <a:spcPts val="79"/>
              </a:spcBef>
              <a:buChar char="•"/>
              <a:tabLst>
                <a:tab pos="501490" algn="l"/>
              </a:tabLst>
            </a:pPr>
            <a:r>
              <a:rPr lang="en-US" dirty="0">
                <a:latin typeface="Times New Roman"/>
                <a:cs typeface="Times New Roman"/>
              </a:rPr>
              <a:t>Does</a:t>
            </a:r>
            <a:r>
              <a:rPr lang="en-US" spc="-18" dirty="0">
                <a:latin typeface="Times New Roman"/>
                <a:cs typeface="Times New Roman"/>
              </a:rPr>
              <a:t> </a:t>
            </a:r>
            <a:r>
              <a:rPr lang="en-US" dirty="0">
                <a:latin typeface="Times New Roman"/>
                <a:cs typeface="Times New Roman"/>
              </a:rPr>
              <a:t>joint</a:t>
            </a:r>
            <a:r>
              <a:rPr lang="en-US" spc="-44" dirty="0">
                <a:latin typeface="Times New Roman"/>
                <a:cs typeface="Times New Roman"/>
              </a:rPr>
              <a:t> </a:t>
            </a:r>
            <a:r>
              <a:rPr lang="en-US" spc="-9" dirty="0">
                <a:latin typeface="Times New Roman"/>
                <a:cs typeface="Times New Roman"/>
              </a:rPr>
              <a:t>co-</a:t>
            </a:r>
            <a:r>
              <a:rPr lang="en-US" dirty="0">
                <a:latin typeface="Times New Roman"/>
                <a:cs typeface="Times New Roman"/>
              </a:rPr>
              <a:t>evolution</a:t>
            </a:r>
            <a:r>
              <a:rPr lang="en-US" spc="-31" dirty="0">
                <a:latin typeface="Times New Roman"/>
                <a:cs typeface="Times New Roman"/>
              </a:rPr>
              <a:t> </a:t>
            </a:r>
            <a:r>
              <a:rPr lang="en-US" spc="-9" dirty="0">
                <a:latin typeface="Times New Roman"/>
                <a:cs typeface="Times New Roman"/>
              </a:rPr>
              <a:t>(alternate</a:t>
            </a:r>
            <a:r>
              <a:rPr lang="en-US" spc="-22" dirty="0">
                <a:latin typeface="Times New Roman"/>
                <a:cs typeface="Times New Roman"/>
              </a:rPr>
              <a:t> </a:t>
            </a:r>
            <a:r>
              <a:rPr lang="en-US" dirty="0">
                <a:latin typeface="Times New Roman"/>
                <a:cs typeface="Times New Roman"/>
              </a:rPr>
              <a:t>Red</a:t>
            </a:r>
            <a:r>
              <a:rPr lang="en-US" spc="-18" dirty="0">
                <a:latin typeface="Times New Roman"/>
                <a:cs typeface="Times New Roman"/>
              </a:rPr>
              <a:t> </a:t>
            </a:r>
            <a:r>
              <a:rPr lang="en-US" dirty="0">
                <a:latin typeface="Calibri"/>
                <a:cs typeface="Calibri"/>
              </a:rPr>
              <a:t>↔</a:t>
            </a:r>
            <a:r>
              <a:rPr lang="en-US" spc="4" dirty="0">
                <a:latin typeface="Calibri"/>
                <a:cs typeface="Calibri"/>
              </a:rPr>
              <a:t> </a:t>
            </a:r>
            <a:r>
              <a:rPr lang="en-US" dirty="0">
                <a:latin typeface="Times New Roman"/>
                <a:cs typeface="Times New Roman"/>
              </a:rPr>
              <a:t>Blue</a:t>
            </a:r>
            <a:r>
              <a:rPr lang="en-US" spc="-18" dirty="0">
                <a:latin typeface="Times New Roman"/>
                <a:cs typeface="Times New Roman"/>
              </a:rPr>
              <a:t> </a:t>
            </a:r>
            <a:r>
              <a:rPr lang="en-US" dirty="0">
                <a:latin typeface="Times New Roman"/>
                <a:cs typeface="Times New Roman"/>
              </a:rPr>
              <a:t>updates)</a:t>
            </a:r>
            <a:r>
              <a:rPr lang="en-US" spc="-35" dirty="0">
                <a:latin typeface="Times New Roman"/>
                <a:cs typeface="Times New Roman"/>
              </a:rPr>
              <a:t> </a:t>
            </a:r>
            <a:r>
              <a:rPr lang="en-US" dirty="0">
                <a:latin typeface="Times New Roman"/>
                <a:cs typeface="Times New Roman"/>
              </a:rPr>
              <a:t>lead</a:t>
            </a:r>
            <a:r>
              <a:rPr lang="en-US" spc="-35" dirty="0">
                <a:latin typeface="Times New Roman"/>
                <a:cs typeface="Times New Roman"/>
              </a:rPr>
              <a:t> </a:t>
            </a:r>
            <a:r>
              <a:rPr lang="en-US" dirty="0">
                <a:latin typeface="Times New Roman"/>
                <a:cs typeface="Times New Roman"/>
              </a:rPr>
              <a:t>to</a:t>
            </a:r>
            <a:r>
              <a:rPr lang="en-US" spc="-31" dirty="0">
                <a:latin typeface="Times New Roman"/>
                <a:cs typeface="Times New Roman"/>
              </a:rPr>
              <a:t> </a:t>
            </a:r>
            <a:r>
              <a:rPr lang="en-US" dirty="0">
                <a:latin typeface="Times New Roman"/>
                <a:cs typeface="Times New Roman"/>
              </a:rPr>
              <a:t>more</a:t>
            </a:r>
            <a:r>
              <a:rPr lang="en-US" spc="-22" dirty="0">
                <a:latin typeface="Times New Roman"/>
                <a:cs typeface="Times New Roman"/>
              </a:rPr>
              <a:t> </a:t>
            </a:r>
            <a:r>
              <a:rPr lang="en-US" dirty="0">
                <a:latin typeface="Times New Roman"/>
                <a:cs typeface="Times New Roman"/>
              </a:rPr>
              <a:t>robust</a:t>
            </a:r>
            <a:r>
              <a:rPr lang="en-US" spc="-53" dirty="0">
                <a:latin typeface="Times New Roman"/>
                <a:cs typeface="Times New Roman"/>
              </a:rPr>
              <a:t> </a:t>
            </a:r>
            <a:r>
              <a:rPr lang="en-US" dirty="0">
                <a:latin typeface="Times New Roman"/>
                <a:cs typeface="Times New Roman"/>
              </a:rPr>
              <a:t>agents</a:t>
            </a:r>
            <a:r>
              <a:rPr lang="en-US" spc="-31" dirty="0">
                <a:latin typeface="Times New Roman"/>
                <a:cs typeface="Times New Roman"/>
              </a:rPr>
              <a:t> </a:t>
            </a:r>
            <a:r>
              <a:rPr lang="en-US" spc="-9" dirty="0">
                <a:latin typeface="Times New Roman"/>
                <a:cs typeface="Times New Roman"/>
              </a:rPr>
              <a:t>compared </a:t>
            </a:r>
            <a:r>
              <a:rPr lang="en-US" dirty="0">
                <a:latin typeface="Times New Roman"/>
                <a:cs typeface="Times New Roman"/>
              </a:rPr>
              <a:t>to</a:t>
            </a:r>
            <a:r>
              <a:rPr lang="en-US" spc="-44" dirty="0">
                <a:latin typeface="Times New Roman"/>
                <a:cs typeface="Times New Roman"/>
              </a:rPr>
              <a:t> </a:t>
            </a:r>
            <a:r>
              <a:rPr lang="en-US" dirty="0">
                <a:latin typeface="Times New Roman"/>
                <a:cs typeface="Times New Roman"/>
              </a:rPr>
              <a:t>training</a:t>
            </a:r>
            <a:r>
              <a:rPr lang="en-US" spc="-40" dirty="0">
                <a:latin typeface="Times New Roman"/>
                <a:cs typeface="Times New Roman"/>
              </a:rPr>
              <a:t> </a:t>
            </a:r>
            <a:r>
              <a:rPr lang="en-US" dirty="0">
                <a:latin typeface="Times New Roman"/>
                <a:cs typeface="Times New Roman"/>
              </a:rPr>
              <a:t>Red</a:t>
            </a:r>
            <a:r>
              <a:rPr lang="en-US" spc="-26" dirty="0">
                <a:latin typeface="Times New Roman"/>
                <a:cs typeface="Times New Roman"/>
              </a:rPr>
              <a:t> </a:t>
            </a:r>
            <a:r>
              <a:rPr lang="en-US" dirty="0">
                <a:latin typeface="Times New Roman"/>
                <a:cs typeface="Times New Roman"/>
              </a:rPr>
              <a:t>and</a:t>
            </a:r>
            <a:r>
              <a:rPr lang="en-US" spc="-22" dirty="0">
                <a:latin typeface="Times New Roman"/>
                <a:cs typeface="Times New Roman"/>
              </a:rPr>
              <a:t> </a:t>
            </a:r>
            <a:r>
              <a:rPr lang="en-US" dirty="0">
                <a:latin typeface="Times New Roman"/>
                <a:cs typeface="Times New Roman"/>
              </a:rPr>
              <a:t>Blue</a:t>
            </a:r>
            <a:r>
              <a:rPr lang="en-US" spc="-44" dirty="0">
                <a:latin typeface="Times New Roman"/>
                <a:cs typeface="Times New Roman"/>
              </a:rPr>
              <a:t> </a:t>
            </a:r>
            <a:r>
              <a:rPr lang="en-US" dirty="0">
                <a:latin typeface="Times New Roman"/>
                <a:cs typeface="Times New Roman"/>
              </a:rPr>
              <a:t>independently</a:t>
            </a:r>
            <a:r>
              <a:rPr lang="en-US" spc="-44" dirty="0">
                <a:latin typeface="Times New Roman"/>
                <a:cs typeface="Times New Roman"/>
              </a:rPr>
              <a:t> </a:t>
            </a:r>
            <a:r>
              <a:rPr lang="en-US" dirty="0" err="1">
                <a:latin typeface="Times New Roman"/>
                <a:cs typeface="Times New Roman"/>
              </a:rPr>
              <a:t>i.e</a:t>
            </a:r>
            <a:r>
              <a:rPr lang="en-US" spc="-44" dirty="0">
                <a:latin typeface="Times New Roman"/>
                <a:cs typeface="Times New Roman"/>
              </a:rPr>
              <a:t> </a:t>
            </a:r>
            <a:r>
              <a:rPr lang="en-US" dirty="0">
                <a:latin typeface="Times New Roman"/>
                <a:cs typeface="Times New Roman"/>
              </a:rPr>
              <a:t>Fixed</a:t>
            </a:r>
            <a:r>
              <a:rPr lang="en-US" spc="-40" dirty="0">
                <a:latin typeface="Times New Roman"/>
                <a:cs typeface="Times New Roman"/>
              </a:rPr>
              <a:t> </a:t>
            </a:r>
            <a:r>
              <a:rPr lang="en-US" spc="-9" dirty="0">
                <a:latin typeface="Times New Roman"/>
                <a:cs typeface="Times New Roman"/>
              </a:rPr>
              <a:t>opponent?</a:t>
            </a:r>
            <a:endParaRPr lang="en-US" dirty="0">
              <a:latin typeface="Times New Roman"/>
              <a:cs typeface="Times New Roman"/>
            </a:endParaRPr>
          </a:p>
          <a:p>
            <a:pPr marL="0" indent="0">
              <a:lnSpc>
                <a:spcPct val="100000"/>
              </a:lnSpc>
              <a:spcBef>
                <a:spcPts val="353"/>
              </a:spcBef>
              <a:buNone/>
            </a:pPr>
            <a:endParaRPr lang="en-US" sz="2000" dirty="0">
              <a:latin typeface="Times New Roman"/>
              <a:cs typeface="Times New Roman"/>
            </a:endParaRPr>
          </a:p>
          <a:p>
            <a:pPr>
              <a:lnSpc>
                <a:spcPct val="100000"/>
              </a:lnSpc>
              <a:spcBef>
                <a:spcPts val="427"/>
              </a:spcBef>
            </a:pPr>
            <a:endParaRPr lang="en-US" sz="2000" dirty="0">
              <a:latin typeface="Times New Roman"/>
              <a:cs typeface="Times New Roman"/>
            </a:endParaRPr>
          </a:p>
        </p:txBody>
      </p:sp>
      <p:sp>
        <p:nvSpPr>
          <p:cNvPr id="6" name="Slide Number Placeholder 3">
            <a:extLst>
              <a:ext uri="{FF2B5EF4-FFF2-40B4-BE49-F238E27FC236}">
                <a16:creationId xmlns:a16="http://schemas.microsoft.com/office/drawing/2014/main" id="{9EFEA49B-A1B4-4AFC-514A-BB81B398F79D}"/>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33</a:t>
            </a:fld>
            <a:endParaRPr lang="en-US" dirty="0"/>
          </a:p>
        </p:txBody>
      </p:sp>
    </p:spTree>
    <p:extLst>
      <p:ext uri="{BB962C8B-B14F-4D97-AF65-F5344CB8AC3E}">
        <p14:creationId xmlns:p14="http://schemas.microsoft.com/office/powerpoint/2010/main" val="35186879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27F3-CE82-FB43-4668-A8887B4BF4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F7C4B8-CB67-F407-0780-863215A0E79B}"/>
              </a:ext>
            </a:extLst>
          </p:cNvPr>
          <p:cNvSpPr>
            <a:spLocks noGrp="1"/>
          </p:cNvSpPr>
          <p:nvPr>
            <p:ph type="title"/>
          </p:nvPr>
        </p:nvSpPr>
        <p:spPr>
          <a:xfrm>
            <a:off x="237565" y="-231893"/>
            <a:ext cx="10515600" cy="1325563"/>
          </a:xfrm>
        </p:spPr>
        <p:txBody>
          <a:bodyPr>
            <a:normAutofit/>
          </a:bodyPr>
          <a:lstStyle/>
          <a:p>
            <a:r>
              <a:rPr lang="en-US" sz="3200" dirty="0"/>
              <a:t>Experimentation Setup</a:t>
            </a:r>
            <a:br>
              <a:rPr lang="en-US" sz="3200" dirty="0"/>
            </a:b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BC07FE32-FCF9-1F88-E2FC-409FFC74F9B4}"/>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34</a:t>
            </a:fld>
            <a:endParaRPr lang="en-US" dirty="0"/>
          </a:p>
        </p:txBody>
      </p:sp>
      <p:graphicFrame>
        <p:nvGraphicFramePr>
          <p:cNvPr id="4" name="Table 3">
            <a:extLst>
              <a:ext uri="{FF2B5EF4-FFF2-40B4-BE49-F238E27FC236}">
                <a16:creationId xmlns:a16="http://schemas.microsoft.com/office/drawing/2014/main" id="{7994682B-8540-4D8F-BC8E-EFD2DA4F4687}"/>
              </a:ext>
            </a:extLst>
          </p:cNvPr>
          <p:cNvGraphicFramePr>
            <a:graphicFrameLocks noGrp="1"/>
          </p:cNvGraphicFramePr>
          <p:nvPr>
            <p:extLst>
              <p:ext uri="{D42A27DB-BD31-4B8C-83A1-F6EECF244321}">
                <p14:modId xmlns:p14="http://schemas.microsoft.com/office/powerpoint/2010/main" val="85735039"/>
              </p:ext>
            </p:extLst>
          </p:nvPr>
        </p:nvGraphicFramePr>
        <p:xfrm>
          <a:off x="609600" y="855133"/>
          <a:ext cx="7772400" cy="5252763"/>
        </p:xfrm>
        <a:graphic>
          <a:graphicData uri="http://schemas.openxmlformats.org/drawingml/2006/table">
            <a:tbl>
              <a:tblPr/>
              <a:tblGrid>
                <a:gridCol w="1554480">
                  <a:extLst>
                    <a:ext uri="{9D8B030D-6E8A-4147-A177-3AD203B41FA5}">
                      <a16:colId xmlns:a16="http://schemas.microsoft.com/office/drawing/2014/main" val="1092022476"/>
                    </a:ext>
                  </a:extLst>
                </a:gridCol>
                <a:gridCol w="1554480">
                  <a:extLst>
                    <a:ext uri="{9D8B030D-6E8A-4147-A177-3AD203B41FA5}">
                      <a16:colId xmlns:a16="http://schemas.microsoft.com/office/drawing/2014/main" val="2614292595"/>
                    </a:ext>
                  </a:extLst>
                </a:gridCol>
                <a:gridCol w="1554480">
                  <a:extLst>
                    <a:ext uri="{9D8B030D-6E8A-4147-A177-3AD203B41FA5}">
                      <a16:colId xmlns:a16="http://schemas.microsoft.com/office/drawing/2014/main" val="3373575034"/>
                    </a:ext>
                  </a:extLst>
                </a:gridCol>
                <a:gridCol w="1554480">
                  <a:extLst>
                    <a:ext uri="{9D8B030D-6E8A-4147-A177-3AD203B41FA5}">
                      <a16:colId xmlns:a16="http://schemas.microsoft.com/office/drawing/2014/main" val="1227911256"/>
                    </a:ext>
                  </a:extLst>
                </a:gridCol>
                <a:gridCol w="1554480">
                  <a:extLst>
                    <a:ext uri="{9D8B030D-6E8A-4147-A177-3AD203B41FA5}">
                      <a16:colId xmlns:a16="http://schemas.microsoft.com/office/drawing/2014/main" val="1949119193"/>
                    </a:ext>
                  </a:extLst>
                </a:gridCol>
              </a:tblGrid>
              <a:tr h="456129">
                <a:tc>
                  <a:txBody>
                    <a:bodyPr/>
                    <a:lstStyle/>
                    <a:p>
                      <a:pPr algn="ctr"/>
                      <a:r>
                        <a:rPr lang="en-US" sz="1200" b="1" dirty="0"/>
                        <a:t>Setup</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Red Agent</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Blue Agent</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Learning Setup</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Episodes</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89078366"/>
                  </a:ext>
                </a:extLst>
              </a:tr>
              <a:tr h="1824513">
                <a:tc>
                  <a:txBody>
                    <a:bodyPr/>
                    <a:lstStyle/>
                    <a:p>
                      <a:pPr algn="ctr"/>
                      <a:r>
                        <a:rPr lang="en-US" sz="1200" b="1" dirty="0"/>
                        <a:t>1. Fixed Red vs Learning Blue</a:t>
                      </a:r>
                      <a:endParaRPr lang="en-US" sz="12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Fixed scripted attack policy (MITRE sequence / predefined attack chain)</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RL + LLM based defensive agent</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Only </a:t>
                      </a:r>
                      <a:r>
                        <a:rPr lang="en-US" sz="1200" b="1" dirty="0"/>
                        <a:t>Blue learns</a:t>
                      </a:r>
                      <a:r>
                        <a:rPr lang="en-US" sz="1200" dirty="0"/>
                        <a:t>. Red behavior does not change.</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Until convergence or performance threshold</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5859996"/>
                  </a:ext>
                </a:extLst>
              </a:tr>
              <a:tr h="1343092">
                <a:tc>
                  <a:txBody>
                    <a:bodyPr/>
                    <a:lstStyle/>
                    <a:p>
                      <a:pPr algn="ctr"/>
                      <a:r>
                        <a:rPr lang="en-US" sz="1200" b="1" dirty="0"/>
                        <a:t>2. Simultaneous Co-evolution SCE (Red ↔ Blue)</a:t>
                      </a:r>
                      <a:endParaRPr lang="en-US" sz="12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RL/LLM agent that evolves each Episode</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RL/LLM agent that evolves each Episode</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t>Both agents learn simultaneously</a:t>
                      </a:r>
                      <a:r>
                        <a:rPr lang="en-US" sz="1200" dirty="0"/>
                        <a:t> and adapt to each other</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~2000 episodes</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0150707"/>
                  </a:ext>
                </a:extLst>
              </a:tr>
              <a:tr h="1629029">
                <a:tc>
                  <a:txBody>
                    <a:bodyPr/>
                    <a:lstStyle/>
                    <a:p>
                      <a:pPr algn="ctr"/>
                      <a:r>
                        <a:rPr lang="en-US" sz="1200" b="1" dirty="0"/>
                        <a:t>3. Alternating Co-evolution CE</a:t>
                      </a:r>
                      <a:endParaRPr lang="en-US" sz="1200" dirty="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One agent </a:t>
                      </a:r>
                      <a:r>
                        <a:rPr lang="en-US" sz="1200" b="1"/>
                        <a:t>fixed policy</a:t>
                      </a:r>
                      <a:r>
                        <a:rPr lang="en-US" sz="1200"/>
                        <a:t> (trained model from previous generation)</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Other agent </a:t>
                      </a:r>
                      <a:r>
                        <a:rPr lang="en-US" sz="1200" b="1"/>
                        <a:t>continues learning</a:t>
                      </a:r>
                      <a:endParaRPr lang="en-US" sz="1200"/>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a:t>One side evolves while the opponent remains static</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t>~2000 episodes</a:t>
                      </a:r>
                    </a:p>
                  </a:txBody>
                  <a:tcPr marL="61410" marR="61410" marT="30705" marB="307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4308837"/>
                  </a:ext>
                </a:extLst>
              </a:tr>
            </a:tbl>
          </a:graphicData>
        </a:graphic>
      </p:graphicFrame>
      <p:pic>
        <p:nvPicPr>
          <p:cNvPr id="3078" name="Picture 6">
            <a:extLst>
              <a:ext uri="{FF2B5EF4-FFF2-40B4-BE49-F238E27FC236}">
                <a16:creationId xmlns:a16="http://schemas.microsoft.com/office/drawing/2014/main" id="{BFDE520E-0F0D-47C3-954F-870864E12F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6765" y="1600140"/>
            <a:ext cx="3617877" cy="4264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970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40349-EF14-2BAE-7B4D-13824CA7F0F2}"/>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47D326DC-ACC6-9E51-51C1-8D52FEA60916}"/>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35</a:t>
            </a:fld>
            <a:endParaRPr lang="en-US" dirty="0"/>
          </a:p>
        </p:txBody>
      </p:sp>
      <p:sp>
        <p:nvSpPr>
          <p:cNvPr id="5" name="Title 1">
            <a:extLst>
              <a:ext uri="{FF2B5EF4-FFF2-40B4-BE49-F238E27FC236}">
                <a16:creationId xmlns:a16="http://schemas.microsoft.com/office/drawing/2014/main" id="{2E315271-4ADF-55BD-DD63-65CB43DD43CF}"/>
              </a:ext>
            </a:extLst>
          </p:cNvPr>
          <p:cNvSpPr>
            <a:spLocks noGrp="1"/>
          </p:cNvSpPr>
          <p:nvPr>
            <p:ph type="title"/>
          </p:nvPr>
        </p:nvSpPr>
        <p:spPr>
          <a:xfrm>
            <a:off x="257175" y="0"/>
            <a:ext cx="10515600" cy="1325563"/>
          </a:xfrm>
        </p:spPr>
        <p:txBody>
          <a:bodyPr/>
          <a:lstStyle/>
          <a:p>
            <a:r>
              <a:rPr lang="en-US" dirty="0"/>
              <a:t>Evaluation</a:t>
            </a:r>
          </a:p>
        </p:txBody>
      </p:sp>
      <p:sp>
        <p:nvSpPr>
          <p:cNvPr id="11" name="TextBox 10">
            <a:extLst>
              <a:ext uri="{FF2B5EF4-FFF2-40B4-BE49-F238E27FC236}">
                <a16:creationId xmlns:a16="http://schemas.microsoft.com/office/drawing/2014/main" id="{0A7640CF-F0BA-4FCB-960C-51CAA78282B7}"/>
              </a:ext>
            </a:extLst>
          </p:cNvPr>
          <p:cNvSpPr txBox="1"/>
          <p:nvPr/>
        </p:nvSpPr>
        <p:spPr>
          <a:xfrm>
            <a:off x="397933" y="1166843"/>
            <a:ext cx="10515600" cy="3939540"/>
          </a:xfrm>
          <a:prstGeom prst="rect">
            <a:avLst/>
          </a:prstGeom>
          <a:noFill/>
        </p:spPr>
        <p:txBody>
          <a:bodyPr wrap="square">
            <a:spAutoFit/>
          </a:bodyPr>
          <a:lstStyle/>
          <a:p>
            <a:pPr marL="342900" indent="-342900">
              <a:buFont typeface="Arial" panose="020B0604020202020204" pitchFamily="34" charset="0"/>
              <a:buChar char="•"/>
            </a:pPr>
            <a:r>
              <a:rPr lang="en-US" sz="2000" b="1" dirty="0"/>
              <a:t>Intra-Setup Performance: ACE</a:t>
            </a:r>
          </a:p>
          <a:p>
            <a:pPr lvl="1"/>
            <a:r>
              <a:rPr lang="en-US" sz="2000" i="1" dirty="0"/>
              <a:t>Does each setup improve over its own generations?</a:t>
            </a:r>
            <a:endParaRPr lang="en-US" sz="2000" dirty="0"/>
          </a:p>
          <a:p>
            <a:pPr lvl="2">
              <a:buFont typeface="Arial" panose="020B0604020202020204" pitchFamily="34" charset="0"/>
              <a:buChar char="•"/>
            </a:pPr>
            <a:r>
              <a:rPr lang="en-US" b="1" dirty="0"/>
              <a:t>Multi-Gen Evolution:</a:t>
            </a:r>
            <a:r>
              <a:rPr lang="en-US" dirty="0"/>
              <a:t> Does Blue suppression ↑ each gen against a stronger Red? → Track suppression rate Gen1→Gen3 per setup</a:t>
            </a:r>
          </a:p>
          <a:p>
            <a:pPr lvl="2">
              <a:buFont typeface="Arial" panose="020B0604020202020204" pitchFamily="34" charset="0"/>
              <a:buChar char="•"/>
            </a:pPr>
            <a:r>
              <a:rPr lang="en-US" b="1" dirty="0"/>
              <a:t>Cross-Gen Performance:</a:t>
            </a:r>
            <a:r>
              <a:rPr lang="en-US" dirty="0"/>
              <a:t> Do agents generalize beyond their trained opponent? → Evaluate every Blue gen × every Red gen; measure performance gap vs unseen opponents</a:t>
            </a:r>
          </a:p>
          <a:p>
            <a:pPr lvl="1">
              <a:buFont typeface="Arial" panose="020B0604020202020204" pitchFamily="34" charset="0"/>
              <a:buChar char="•"/>
            </a:pPr>
            <a:endParaRPr lang="en-US" dirty="0"/>
          </a:p>
          <a:p>
            <a:pPr marL="342900" indent="-342900">
              <a:buFont typeface="Arial" panose="020B0604020202020204" pitchFamily="34" charset="0"/>
              <a:buChar char="•"/>
            </a:pPr>
            <a:r>
              <a:rPr lang="en-US" sz="2000" b="1" dirty="0"/>
              <a:t>Inter-Setup Performance: ACE vs FOT vs SCE</a:t>
            </a:r>
          </a:p>
          <a:p>
            <a:pPr lvl="1"/>
            <a:r>
              <a:rPr lang="en-US" sz="2000" i="1" dirty="0"/>
              <a:t>Which training setup produces the most robust agents?</a:t>
            </a:r>
            <a:endParaRPr lang="en-US" sz="2000" dirty="0"/>
          </a:p>
          <a:p>
            <a:pPr lvl="2">
              <a:buFont typeface="Arial" panose="020B0604020202020204" pitchFamily="34" charset="0"/>
              <a:buChar char="•"/>
            </a:pPr>
            <a:r>
              <a:rPr lang="en-US" sz="2000" b="1" dirty="0"/>
              <a:t>Setup Comparison:</a:t>
            </a:r>
            <a:r>
              <a:rPr lang="en-US" sz="2000" dirty="0"/>
              <a:t> Does co-evolution outperform fixed/simultaneous training? → Fix Red opponent; compare ACE_RF vs SCE vs FOT suppression at matched gen</a:t>
            </a:r>
          </a:p>
          <a:p>
            <a:pPr lvl="2">
              <a:buFont typeface="Arial" panose="020B0604020202020204" pitchFamily="34" charset="0"/>
              <a:buChar char="•"/>
            </a:pPr>
            <a:r>
              <a:rPr lang="en-US" sz="2000" b="1" dirty="0"/>
              <a:t>Behavioral Diversity:</a:t>
            </a:r>
            <a:r>
              <a:rPr lang="en-US" sz="2000" dirty="0"/>
              <a:t> Does co-evolution produce richer defense strategies? → Compare action type distribution &amp; kill chain length across all setups vs same Red opponent</a:t>
            </a:r>
          </a:p>
        </p:txBody>
      </p:sp>
    </p:spTree>
    <p:extLst>
      <p:ext uri="{BB962C8B-B14F-4D97-AF65-F5344CB8AC3E}">
        <p14:creationId xmlns:p14="http://schemas.microsoft.com/office/powerpoint/2010/main" val="30275090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Intra-Setup </a:t>
            </a:r>
            <a:r>
              <a:rPr lang="en-US" sz="3200" u="sng" dirty="0"/>
              <a:t>Evaluation : Multi-Generation </a:t>
            </a:r>
            <a:r>
              <a:rPr lang="en-US" sz="3200" u="sng" spc="-9" dirty="0">
                <a:latin typeface="Times New Roman"/>
                <a:cs typeface="Times New Roman"/>
              </a:rPr>
              <a:t>Evolution</a:t>
            </a:r>
            <a:br>
              <a:rPr lang="en-US" sz="3200" u="sng" spc="-9" dirty="0">
                <a:latin typeface="Times New Roman"/>
                <a:cs typeface="Times New Roman"/>
              </a:rPr>
            </a:br>
            <a:br>
              <a:rPr lang="en-US" sz="3200" u="sng" dirty="0">
                <a:latin typeface="Times New Roman"/>
                <a:cs typeface="Times New Roman"/>
              </a:rPr>
            </a:br>
            <a:r>
              <a:rPr lang="en-US" sz="3200" dirty="0"/>
              <a:t> </a:t>
            </a: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36</a:t>
            </a:fld>
            <a:endParaRPr lang="en-US" dirty="0"/>
          </a:p>
        </p:txBody>
      </p:sp>
      <p:sp>
        <p:nvSpPr>
          <p:cNvPr id="11" name="TextBox 10">
            <a:extLst>
              <a:ext uri="{FF2B5EF4-FFF2-40B4-BE49-F238E27FC236}">
                <a16:creationId xmlns:a16="http://schemas.microsoft.com/office/drawing/2014/main" id="{3443E72C-BD87-446A-BEB7-004A4F9A8CD0}"/>
              </a:ext>
            </a:extLst>
          </p:cNvPr>
          <p:cNvSpPr txBox="1"/>
          <p:nvPr/>
        </p:nvSpPr>
        <p:spPr>
          <a:xfrm>
            <a:off x="249767" y="633773"/>
            <a:ext cx="8743576"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Does Blue improve vs stronger Red over generations?</a:t>
            </a:r>
          </a:p>
        </p:txBody>
      </p:sp>
      <p:sp>
        <p:nvSpPr>
          <p:cNvPr id="14" name="TextBox 13">
            <a:extLst>
              <a:ext uri="{FF2B5EF4-FFF2-40B4-BE49-F238E27FC236}">
                <a16:creationId xmlns:a16="http://schemas.microsoft.com/office/drawing/2014/main" id="{04C12462-8F5D-4E8E-85D1-696ACA5DCBEC}"/>
              </a:ext>
            </a:extLst>
          </p:cNvPr>
          <p:cNvSpPr txBox="1"/>
          <p:nvPr/>
        </p:nvSpPr>
        <p:spPr>
          <a:xfrm>
            <a:off x="249767" y="1003105"/>
            <a:ext cx="6104466" cy="369332"/>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Yes — 4%→95.1% vs Red Gen3; ≥95.6% vs Red Gen1</a:t>
            </a:r>
            <a:endParaRPr lang="en-US" u="none" dirty="0">
              <a:solidFill>
                <a:schemeClr val="accent6">
                  <a:lumMod val="75000"/>
                </a:schemeClr>
              </a:solidFill>
            </a:endParaRPr>
          </a:p>
        </p:txBody>
      </p:sp>
      <p:graphicFrame>
        <p:nvGraphicFramePr>
          <p:cNvPr id="24" name="Table 23">
            <a:extLst>
              <a:ext uri="{FF2B5EF4-FFF2-40B4-BE49-F238E27FC236}">
                <a16:creationId xmlns:a16="http://schemas.microsoft.com/office/drawing/2014/main" id="{AA6EDF71-10EB-44BF-A00B-9EFDA6B596B9}"/>
              </a:ext>
            </a:extLst>
          </p:cNvPr>
          <p:cNvGraphicFramePr>
            <a:graphicFrameLocks noGrp="1"/>
          </p:cNvGraphicFramePr>
          <p:nvPr>
            <p:extLst>
              <p:ext uri="{D42A27DB-BD31-4B8C-83A1-F6EECF244321}">
                <p14:modId xmlns:p14="http://schemas.microsoft.com/office/powerpoint/2010/main" val="2760153010"/>
              </p:ext>
            </p:extLst>
          </p:nvPr>
        </p:nvGraphicFramePr>
        <p:xfrm>
          <a:off x="257175" y="1843704"/>
          <a:ext cx="5184402" cy="3642695"/>
        </p:xfrm>
        <a:graphic>
          <a:graphicData uri="http://schemas.openxmlformats.org/drawingml/2006/table">
            <a:tbl>
              <a:tblPr/>
              <a:tblGrid>
                <a:gridCol w="1728134">
                  <a:extLst>
                    <a:ext uri="{9D8B030D-6E8A-4147-A177-3AD203B41FA5}">
                      <a16:colId xmlns:a16="http://schemas.microsoft.com/office/drawing/2014/main" val="426490466"/>
                    </a:ext>
                  </a:extLst>
                </a:gridCol>
                <a:gridCol w="1728134">
                  <a:extLst>
                    <a:ext uri="{9D8B030D-6E8A-4147-A177-3AD203B41FA5}">
                      <a16:colId xmlns:a16="http://schemas.microsoft.com/office/drawing/2014/main" val="1147656286"/>
                    </a:ext>
                  </a:extLst>
                </a:gridCol>
                <a:gridCol w="1728134">
                  <a:extLst>
                    <a:ext uri="{9D8B030D-6E8A-4147-A177-3AD203B41FA5}">
                      <a16:colId xmlns:a16="http://schemas.microsoft.com/office/drawing/2014/main" val="2824826426"/>
                    </a:ext>
                  </a:extLst>
                </a:gridCol>
              </a:tblGrid>
              <a:tr h="485693">
                <a:tc>
                  <a:txBody>
                    <a:bodyPr/>
                    <a:lstStyle/>
                    <a:p>
                      <a:pPr algn="ctr"/>
                      <a:r>
                        <a:rPr lang="en-US" b="1" u="none"/>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8355210"/>
                  </a:ext>
                </a:extLst>
              </a:tr>
              <a:tr h="1578501">
                <a:tc>
                  <a:txBody>
                    <a:bodyPr/>
                    <a:lstStyle/>
                    <a:p>
                      <a:r>
                        <a:rPr lang="es-ES" dirty="0"/>
                        <a:t>vs Red Gen3: 4% → 95.1% (+91.1pp)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Blue Gen0 untrained → each gen more capable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Genuine skill ↑ confirmed vs strong opponent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56109523"/>
                  </a:ext>
                </a:extLst>
              </a:tr>
              <a:tr h="1578501">
                <a:tc>
                  <a:txBody>
                    <a:bodyPr/>
                    <a:lstStyle/>
                    <a:p>
                      <a:r>
                        <a:rPr lang="en-US"/>
                        <a:t>vs Red Gen1: ≥95.6% flat all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Red Gen1 too weak to differentiate Blue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Weak opponent = not a meaningful eval benchmark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3489621"/>
                  </a:ext>
                </a:extLst>
              </a:tr>
            </a:tbl>
          </a:graphicData>
        </a:graphic>
      </p:graphicFrame>
      <p:pic>
        <p:nvPicPr>
          <p:cNvPr id="6" name="Picture 5">
            <a:extLst>
              <a:ext uri="{FF2B5EF4-FFF2-40B4-BE49-F238E27FC236}">
                <a16:creationId xmlns:a16="http://schemas.microsoft.com/office/drawing/2014/main" id="{B9FF5B27-730E-45E2-8F69-650052B28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9383" y="1219618"/>
            <a:ext cx="5891684" cy="4418763"/>
          </a:xfrm>
          <a:prstGeom prst="rect">
            <a:avLst/>
          </a:prstGeom>
        </p:spPr>
      </p:pic>
    </p:spTree>
    <p:extLst>
      <p:ext uri="{BB962C8B-B14F-4D97-AF65-F5344CB8AC3E}">
        <p14:creationId xmlns:p14="http://schemas.microsoft.com/office/powerpoint/2010/main" val="25998582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Intra-Setup </a:t>
            </a:r>
            <a:r>
              <a:rPr lang="en-US" sz="3200" u="sng" dirty="0"/>
              <a:t>Evaluation :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a:t>
            </a:r>
            <a:br>
              <a:rPr lang="en-US" sz="3200" spc="-9" dirty="0">
                <a:latin typeface="Times New Roman"/>
                <a:cs typeface="Times New Roman"/>
              </a:rPr>
            </a:br>
            <a:br>
              <a:rPr lang="en-US" sz="3200" dirty="0">
                <a:latin typeface="Times New Roman"/>
                <a:cs typeface="Times New Roman"/>
              </a:rPr>
            </a:br>
            <a:r>
              <a:rPr lang="en-US" sz="3200" dirty="0"/>
              <a:t> </a:t>
            </a:r>
            <a:endParaRPr lang="en-US" sz="32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37</a:t>
            </a:fld>
            <a:endParaRPr lang="en-US" dirty="0"/>
          </a:p>
        </p:txBody>
      </p:sp>
      <p:pic>
        <p:nvPicPr>
          <p:cNvPr id="6" name="Picture 5">
            <a:extLst>
              <a:ext uri="{FF2B5EF4-FFF2-40B4-BE49-F238E27FC236}">
                <a16:creationId xmlns:a16="http://schemas.microsoft.com/office/drawing/2014/main" id="{835EAA9A-7C65-40FD-A6CB-03D5E52D5F66}"/>
              </a:ext>
            </a:extLst>
          </p:cNvPr>
          <p:cNvPicPr>
            <a:picLocks noChangeAspect="1"/>
          </p:cNvPicPr>
          <p:nvPr/>
        </p:nvPicPr>
        <p:blipFill>
          <a:blip r:embed="rId3"/>
          <a:stretch>
            <a:fillRect/>
          </a:stretch>
        </p:blipFill>
        <p:spPr>
          <a:xfrm>
            <a:off x="1478679" y="1449232"/>
            <a:ext cx="9084546" cy="3214208"/>
          </a:xfrm>
          <a:prstGeom prst="rect">
            <a:avLst/>
          </a:prstGeom>
        </p:spPr>
      </p:pic>
      <p:sp>
        <p:nvSpPr>
          <p:cNvPr id="11" name="TextBox 10">
            <a:extLst>
              <a:ext uri="{FF2B5EF4-FFF2-40B4-BE49-F238E27FC236}">
                <a16:creationId xmlns:a16="http://schemas.microsoft.com/office/drawing/2014/main" id="{0542A5DA-35BE-4741-B74C-DD695C34BA36}"/>
              </a:ext>
            </a:extLst>
          </p:cNvPr>
          <p:cNvSpPr txBox="1"/>
          <p:nvPr/>
        </p:nvSpPr>
        <p:spPr>
          <a:xfrm>
            <a:off x="249767" y="633773"/>
            <a:ext cx="8743576"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Is Red continuously discovering new attack strategies across generations? </a:t>
            </a:r>
          </a:p>
        </p:txBody>
      </p:sp>
      <p:sp>
        <p:nvSpPr>
          <p:cNvPr id="12" name="TextBox 11">
            <a:extLst>
              <a:ext uri="{FF2B5EF4-FFF2-40B4-BE49-F238E27FC236}">
                <a16:creationId xmlns:a16="http://schemas.microsoft.com/office/drawing/2014/main" id="{2AF9093A-4F90-41D0-890D-2E1A2D740E59}"/>
              </a:ext>
            </a:extLst>
          </p:cNvPr>
          <p:cNvSpPr txBox="1"/>
          <p:nvPr/>
        </p:nvSpPr>
        <p:spPr>
          <a:xfrm>
            <a:off x="249767" y="1003105"/>
            <a:ext cx="6104466" cy="369332"/>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Yes — cumulative kill chains ↑ every gen (→525)</a:t>
            </a:r>
          </a:p>
        </p:txBody>
      </p:sp>
      <p:graphicFrame>
        <p:nvGraphicFramePr>
          <p:cNvPr id="7" name="Table 6">
            <a:extLst>
              <a:ext uri="{FF2B5EF4-FFF2-40B4-BE49-F238E27FC236}">
                <a16:creationId xmlns:a16="http://schemas.microsoft.com/office/drawing/2014/main" id="{18C18D23-0514-4865-B5F3-DFE632A0CB0E}"/>
              </a:ext>
            </a:extLst>
          </p:cNvPr>
          <p:cNvGraphicFramePr>
            <a:graphicFrameLocks noGrp="1"/>
          </p:cNvGraphicFramePr>
          <p:nvPr>
            <p:extLst>
              <p:ext uri="{D42A27DB-BD31-4B8C-83A1-F6EECF244321}">
                <p14:modId xmlns:p14="http://schemas.microsoft.com/office/powerpoint/2010/main" val="3288605693"/>
              </p:ext>
            </p:extLst>
          </p:nvPr>
        </p:nvGraphicFramePr>
        <p:xfrm>
          <a:off x="838200" y="4663440"/>
          <a:ext cx="10515600" cy="2045751"/>
        </p:xfrm>
        <a:graphic>
          <a:graphicData uri="http://schemas.openxmlformats.org/drawingml/2006/table">
            <a:tbl>
              <a:tblPr/>
              <a:tblGrid>
                <a:gridCol w="3505200">
                  <a:extLst>
                    <a:ext uri="{9D8B030D-6E8A-4147-A177-3AD203B41FA5}">
                      <a16:colId xmlns:a16="http://schemas.microsoft.com/office/drawing/2014/main" val="3653246120"/>
                    </a:ext>
                  </a:extLst>
                </a:gridCol>
                <a:gridCol w="3505200">
                  <a:extLst>
                    <a:ext uri="{9D8B030D-6E8A-4147-A177-3AD203B41FA5}">
                      <a16:colId xmlns:a16="http://schemas.microsoft.com/office/drawing/2014/main" val="2302996536"/>
                    </a:ext>
                  </a:extLst>
                </a:gridCol>
                <a:gridCol w="3505200">
                  <a:extLst>
                    <a:ext uri="{9D8B030D-6E8A-4147-A177-3AD203B41FA5}">
                      <a16:colId xmlns:a16="http://schemas.microsoft.com/office/drawing/2014/main" val="1401099749"/>
                    </a:ext>
                  </a:extLst>
                </a:gridCol>
              </a:tblGrid>
              <a:tr h="340959">
                <a:tc>
                  <a:txBody>
                    <a:bodyPr/>
                    <a:lstStyle/>
                    <a:p>
                      <a:pPr algn="ctr"/>
                      <a:r>
                        <a:rPr lang="en-US" sz="16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5712042"/>
                  </a:ext>
                </a:extLst>
              </a:tr>
              <a:tr h="852396">
                <a:tc>
                  <a:txBody>
                    <a:bodyPr/>
                    <a:lstStyle/>
                    <a:p>
                      <a:r>
                        <a:rPr lang="en-US" sz="1600" dirty="0"/>
                        <a:t>New kill chains: Gen0=80, Gen1=222 (peak), Gen2=75 (↓), Gen3=156 (↑); cumulative: →525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Co-evolution: Blue improves → some Red strategies blocked → Red explores new chains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Red never stagnates; continuously diversifying attack repertoire across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420718"/>
                  </a:ext>
                </a:extLst>
              </a:tr>
              <a:tr h="852396">
                <a:tc>
                  <a:txBody>
                    <a:bodyPr/>
                    <a:lstStyle/>
                    <a:p>
                      <a:r>
                        <a:rPr lang="en-US" sz="1600" dirty="0"/>
                        <a:t>Cumulative ↑ monotonically (→300→375→525)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Each gen adds unique chains on top of prior; no repetition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Total Red threat surface expands every gen → Blue faces growing attack diversity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000103"/>
                  </a:ext>
                </a:extLst>
              </a:tr>
            </a:tbl>
          </a:graphicData>
        </a:graphic>
      </p:graphicFrame>
    </p:spTree>
    <p:extLst>
      <p:ext uri="{BB962C8B-B14F-4D97-AF65-F5344CB8AC3E}">
        <p14:creationId xmlns:p14="http://schemas.microsoft.com/office/powerpoint/2010/main" val="42151660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Intra-Setup  </a:t>
            </a:r>
            <a:r>
              <a:rPr lang="en-US" sz="3200" u="sng" dirty="0"/>
              <a:t>Evaluation :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38</a:t>
            </a:fld>
            <a:endParaRPr lang="en-US" dirty="0"/>
          </a:p>
        </p:txBody>
      </p:sp>
      <p:pic>
        <p:nvPicPr>
          <p:cNvPr id="6" name="Picture 5">
            <a:extLst>
              <a:ext uri="{FF2B5EF4-FFF2-40B4-BE49-F238E27FC236}">
                <a16:creationId xmlns:a16="http://schemas.microsoft.com/office/drawing/2014/main" id="{E1B6E4C4-6D1C-4B65-8AD0-07287BC7B26C}"/>
              </a:ext>
            </a:extLst>
          </p:cNvPr>
          <p:cNvPicPr>
            <a:picLocks noChangeAspect="1"/>
          </p:cNvPicPr>
          <p:nvPr/>
        </p:nvPicPr>
        <p:blipFill rotWithShape="1">
          <a:blip r:embed="rId3"/>
          <a:srcRect t="3140" r="65833"/>
          <a:stretch/>
        </p:blipFill>
        <p:spPr>
          <a:xfrm>
            <a:off x="7376832" y="890580"/>
            <a:ext cx="4165600" cy="5845182"/>
          </a:xfrm>
          <a:prstGeom prst="rect">
            <a:avLst/>
          </a:prstGeom>
        </p:spPr>
      </p:pic>
      <p:sp>
        <p:nvSpPr>
          <p:cNvPr id="7" name="TextBox 6">
            <a:extLst>
              <a:ext uri="{FF2B5EF4-FFF2-40B4-BE49-F238E27FC236}">
                <a16:creationId xmlns:a16="http://schemas.microsoft.com/office/drawing/2014/main" id="{427F3E26-AFF5-4396-A8F0-EAB67FBFAB8F}"/>
              </a:ext>
            </a:extLst>
          </p:cNvPr>
          <p:cNvSpPr txBox="1"/>
          <p:nvPr/>
        </p:nvSpPr>
        <p:spPr>
          <a:xfrm>
            <a:off x="249766" y="633773"/>
            <a:ext cx="9808633" cy="369332"/>
          </a:xfrm>
          <a:prstGeom prst="rect">
            <a:avLst/>
          </a:prstGeom>
          <a:noFill/>
        </p:spPr>
        <p:txBody>
          <a:bodyPr wrap="square">
            <a:spAutoFit/>
          </a:bodyPr>
          <a:lstStyle/>
          <a:p>
            <a:r>
              <a:rPr lang="en-US" b="1" i="0" u="sng" dirty="0">
                <a:solidFill>
                  <a:srgbClr val="C00000"/>
                </a:solidFill>
                <a:effectLst/>
                <a:latin typeface="DM Mono"/>
              </a:rPr>
              <a:t>Q:</a:t>
            </a:r>
            <a:r>
              <a:rPr lang="en-US" b="1" u="sng" dirty="0">
                <a:solidFill>
                  <a:srgbClr val="C00000"/>
                </a:solidFill>
                <a:latin typeface="DM Mono"/>
              </a:rPr>
              <a:t>Do Red and Blue rewards stabilize during training, and what do generational transitions reveal?</a:t>
            </a:r>
          </a:p>
        </p:txBody>
      </p:sp>
      <p:sp>
        <p:nvSpPr>
          <p:cNvPr id="8" name="TextBox 7">
            <a:extLst>
              <a:ext uri="{FF2B5EF4-FFF2-40B4-BE49-F238E27FC236}">
                <a16:creationId xmlns:a16="http://schemas.microsoft.com/office/drawing/2014/main" id="{B8CC5F3A-6589-4758-B561-9B613ED735F7}"/>
              </a:ext>
            </a:extLst>
          </p:cNvPr>
          <p:cNvSpPr txBox="1"/>
          <p:nvPr/>
        </p:nvSpPr>
        <p:spPr>
          <a:xfrm>
            <a:off x="249766" y="1003105"/>
            <a:ext cx="7127065" cy="646331"/>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Yes — both converge to stable plateaus; dips/spikes at gen changes show cost of adaptation but confirm multi-gen co-evolution benefit.</a:t>
            </a:r>
          </a:p>
        </p:txBody>
      </p:sp>
      <p:graphicFrame>
        <p:nvGraphicFramePr>
          <p:cNvPr id="9" name="Table 8">
            <a:extLst>
              <a:ext uri="{FF2B5EF4-FFF2-40B4-BE49-F238E27FC236}">
                <a16:creationId xmlns:a16="http://schemas.microsoft.com/office/drawing/2014/main" id="{953C4191-0C0B-4FF5-A447-94B38605FF5B}"/>
              </a:ext>
            </a:extLst>
          </p:cNvPr>
          <p:cNvGraphicFramePr>
            <a:graphicFrameLocks noGrp="1"/>
          </p:cNvGraphicFramePr>
          <p:nvPr>
            <p:extLst>
              <p:ext uri="{D42A27DB-BD31-4B8C-83A1-F6EECF244321}">
                <p14:modId xmlns:p14="http://schemas.microsoft.com/office/powerpoint/2010/main" val="895250091"/>
              </p:ext>
            </p:extLst>
          </p:nvPr>
        </p:nvGraphicFramePr>
        <p:xfrm>
          <a:off x="445807" y="2139423"/>
          <a:ext cx="6471459" cy="4231213"/>
        </p:xfrm>
        <a:graphic>
          <a:graphicData uri="http://schemas.openxmlformats.org/drawingml/2006/table">
            <a:tbl>
              <a:tblPr/>
              <a:tblGrid>
                <a:gridCol w="2157153">
                  <a:extLst>
                    <a:ext uri="{9D8B030D-6E8A-4147-A177-3AD203B41FA5}">
                      <a16:colId xmlns:a16="http://schemas.microsoft.com/office/drawing/2014/main" val="530900892"/>
                    </a:ext>
                  </a:extLst>
                </a:gridCol>
                <a:gridCol w="2157153">
                  <a:extLst>
                    <a:ext uri="{9D8B030D-6E8A-4147-A177-3AD203B41FA5}">
                      <a16:colId xmlns:a16="http://schemas.microsoft.com/office/drawing/2014/main" val="3323465189"/>
                    </a:ext>
                  </a:extLst>
                </a:gridCol>
                <a:gridCol w="2157153">
                  <a:extLst>
                    <a:ext uri="{9D8B030D-6E8A-4147-A177-3AD203B41FA5}">
                      <a16:colId xmlns:a16="http://schemas.microsoft.com/office/drawing/2014/main" val="3434393366"/>
                    </a:ext>
                  </a:extLst>
                </a:gridCol>
              </a:tblGrid>
              <a:tr h="443270">
                <a:tc>
                  <a:txBody>
                    <a:bodyPr/>
                    <a:lstStyle/>
                    <a:p>
                      <a:pPr algn="ctr"/>
                      <a:r>
                        <a:rPr lang="en-US" sz="16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1764154"/>
                  </a:ext>
                </a:extLst>
              </a:tr>
              <a:tr h="2055161">
                <a:tc>
                  <a:txBody>
                    <a:bodyPr/>
                    <a:lstStyle/>
                    <a:p>
                      <a:r>
                        <a:rPr lang="en-US" sz="1600"/>
                        <a:t>Red: spike ~600 → dip ~475 → plateau ~490–510; Blue: dip ~-110 → stabilizes ~-25; sharp disruptions at gen boundaries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Gen change = new opponent → temporary destabilization before re-adaptation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Disruptions confirm agents are genuinely responding to opponent upgrades, not overfitting to one policy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8663914"/>
                  </a:ext>
                </a:extLst>
              </a:tr>
              <a:tr h="1732782">
                <a:tc>
                  <a:txBody>
                    <a:bodyPr/>
                    <a:lstStyle/>
                    <a:p>
                      <a:r>
                        <a:rPr lang="en-US" sz="1600"/>
                        <a:t>Both agents recover &amp; re-stabilize after each gen transition; overall trend → tighter oscillation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Co-evolution pressure forces re-learning but prior training retained as base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Multi-gen training beneficial → each gen builds on prior; no catastrophic forgetting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3656533"/>
                  </a:ext>
                </a:extLst>
              </a:tr>
            </a:tbl>
          </a:graphicData>
        </a:graphic>
      </p:graphicFrame>
    </p:spTree>
    <p:extLst>
      <p:ext uri="{BB962C8B-B14F-4D97-AF65-F5344CB8AC3E}">
        <p14:creationId xmlns:p14="http://schemas.microsoft.com/office/powerpoint/2010/main" val="41976585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Intra-Setup  </a:t>
            </a:r>
            <a:r>
              <a:rPr lang="en-US" sz="3200" u="sng" dirty="0"/>
              <a:t>Evaluation :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39</a:t>
            </a:fld>
            <a:endParaRPr lang="en-US" dirty="0"/>
          </a:p>
        </p:txBody>
      </p:sp>
      <p:pic>
        <p:nvPicPr>
          <p:cNvPr id="5" name="Picture 4">
            <a:extLst>
              <a:ext uri="{FF2B5EF4-FFF2-40B4-BE49-F238E27FC236}">
                <a16:creationId xmlns:a16="http://schemas.microsoft.com/office/drawing/2014/main" id="{BDBC2CC2-5983-4609-B73D-4530B57F1369}"/>
              </a:ext>
            </a:extLst>
          </p:cNvPr>
          <p:cNvPicPr>
            <a:picLocks noChangeAspect="1"/>
          </p:cNvPicPr>
          <p:nvPr/>
        </p:nvPicPr>
        <p:blipFill>
          <a:blip r:embed="rId3"/>
          <a:stretch>
            <a:fillRect/>
          </a:stretch>
        </p:blipFill>
        <p:spPr>
          <a:xfrm>
            <a:off x="6411838" y="504295"/>
            <a:ext cx="5489085" cy="6231467"/>
          </a:xfrm>
          <a:prstGeom prst="rect">
            <a:avLst/>
          </a:prstGeom>
        </p:spPr>
      </p:pic>
      <p:sp>
        <p:nvSpPr>
          <p:cNvPr id="7" name="TextBox 6">
            <a:extLst>
              <a:ext uri="{FF2B5EF4-FFF2-40B4-BE49-F238E27FC236}">
                <a16:creationId xmlns:a16="http://schemas.microsoft.com/office/drawing/2014/main" id="{220D9143-06E9-4C7B-A645-B8E2126EBD0C}"/>
              </a:ext>
            </a:extLst>
          </p:cNvPr>
          <p:cNvSpPr txBox="1"/>
          <p:nvPr/>
        </p:nvSpPr>
        <p:spPr>
          <a:xfrm>
            <a:off x="249767" y="633773"/>
            <a:ext cx="8743576"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How Red shift techniques usage across generations?</a:t>
            </a:r>
          </a:p>
        </p:txBody>
      </p:sp>
      <p:sp>
        <p:nvSpPr>
          <p:cNvPr id="8" name="TextBox 7">
            <a:extLst>
              <a:ext uri="{FF2B5EF4-FFF2-40B4-BE49-F238E27FC236}">
                <a16:creationId xmlns:a16="http://schemas.microsoft.com/office/drawing/2014/main" id="{46B282CE-CA1A-44A4-8B41-71C1ED942E93}"/>
              </a:ext>
            </a:extLst>
          </p:cNvPr>
          <p:cNvSpPr txBox="1"/>
          <p:nvPr/>
        </p:nvSpPr>
        <p:spPr>
          <a:xfrm>
            <a:off x="249767" y="1003105"/>
            <a:ext cx="6421966" cy="646331"/>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Techniques rotate each gen, confirming strategic adaptation not repetition.</a:t>
            </a:r>
          </a:p>
        </p:txBody>
      </p:sp>
      <p:graphicFrame>
        <p:nvGraphicFramePr>
          <p:cNvPr id="9" name="Table 8">
            <a:extLst>
              <a:ext uri="{FF2B5EF4-FFF2-40B4-BE49-F238E27FC236}">
                <a16:creationId xmlns:a16="http://schemas.microsoft.com/office/drawing/2014/main" id="{6D30B4BB-0654-408A-9CF7-77B22E3AADB0}"/>
              </a:ext>
            </a:extLst>
          </p:cNvPr>
          <p:cNvGraphicFramePr>
            <a:graphicFrameLocks noGrp="1"/>
          </p:cNvGraphicFramePr>
          <p:nvPr>
            <p:extLst>
              <p:ext uri="{D42A27DB-BD31-4B8C-83A1-F6EECF244321}">
                <p14:modId xmlns:p14="http://schemas.microsoft.com/office/powerpoint/2010/main" val="2532111812"/>
              </p:ext>
            </p:extLst>
          </p:nvPr>
        </p:nvGraphicFramePr>
        <p:xfrm>
          <a:off x="308948" y="1843704"/>
          <a:ext cx="6043710" cy="4432832"/>
        </p:xfrm>
        <a:graphic>
          <a:graphicData uri="http://schemas.openxmlformats.org/drawingml/2006/table">
            <a:tbl>
              <a:tblPr/>
              <a:tblGrid>
                <a:gridCol w="2214241">
                  <a:extLst>
                    <a:ext uri="{9D8B030D-6E8A-4147-A177-3AD203B41FA5}">
                      <a16:colId xmlns:a16="http://schemas.microsoft.com/office/drawing/2014/main" val="757771509"/>
                    </a:ext>
                  </a:extLst>
                </a:gridCol>
                <a:gridCol w="1814899">
                  <a:extLst>
                    <a:ext uri="{9D8B030D-6E8A-4147-A177-3AD203B41FA5}">
                      <a16:colId xmlns:a16="http://schemas.microsoft.com/office/drawing/2014/main" val="1465388154"/>
                    </a:ext>
                  </a:extLst>
                </a:gridCol>
                <a:gridCol w="2014570">
                  <a:extLst>
                    <a:ext uri="{9D8B030D-6E8A-4147-A177-3AD203B41FA5}">
                      <a16:colId xmlns:a16="http://schemas.microsoft.com/office/drawing/2014/main" val="1392625022"/>
                    </a:ext>
                  </a:extLst>
                </a:gridCol>
              </a:tblGrid>
              <a:tr h="394030">
                <a:tc>
                  <a:txBody>
                    <a:bodyPr/>
                    <a:lstStyle/>
                    <a:p>
                      <a:pPr algn="ctr"/>
                      <a:r>
                        <a:rPr lang="en-US"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50068"/>
                  </a:ext>
                </a:extLst>
              </a:tr>
              <a:tr h="2462684">
                <a:tc>
                  <a:txBody>
                    <a:bodyPr/>
                    <a:lstStyle/>
                    <a:p>
                      <a:r>
                        <a:rPr lang="de-DE" sz="1600" dirty="0"/>
                        <a:t>Gen1: T1059.006=3613; Gen2: T1569=5083; Gen3: T1543.003=3999 — peaks rotate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Blue suppresses prior dominant techniques → Red shifts 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Red adapts per gen; Blue must broaden defense every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2410072"/>
                  </a:ext>
                </a:extLst>
              </a:tr>
              <a:tr h="1576118">
                <a:tc>
                  <a:txBody>
                    <a:bodyPr/>
                    <a:lstStyle/>
                    <a:p>
                      <a:r>
                        <a:rPr lang="de-DE" sz="1600"/>
                        <a:t>T1134.001: 5→1759; T1559: 402→3471 — near-zero Gen1 → dominant Gen3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Red discovers novel paths as Blue hardens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Genuine co-evolution; expanding attack surface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6307627"/>
                  </a:ext>
                </a:extLst>
              </a:tr>
            </a:tbl>
          </a:graphicData>
        </a:graphic>
      </p:graphicFrame>
    </p:spTree>
    <p:extLst>
      <p:ext uri="{BB962C8B-B14F-4D97-AF65-F5344CB8AC3E}">
        <p14:creationId xmlns:p14="http://schemas.microsoft.com/office/powerpoint/2010/main" val="18726281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Autofit/>
          </a:bodyPr>
          <a:lstStyle/>
          <a:p>
            <a:r>
              <a:rPr lang="en-US" sz="3200" u="sng" dirty="0">
                <a:latin typeface="Times New Roman"/>
                <a:cs typeface="Times New Roman"/>
              </a:rPr>
              <a:t>Intra-Setup  </a:t>
            </a:r>
            <a:r>
              <a:rPr lang="en-US" sz="3200" u="sng" dirty="0"/>
              <a:t>Evaluation : </a:t>
            </a:r>
            <a:r>
              <a:rPr lang="en-US" sz="3200" u="sng" dirty="0">
                <a:latin typeface="Times New Roman"/>
                <a:cs typeface="Times New Roman"/>
              </a:rPr>
              <a:t>Multi-Generation</a:t>
            </a:r>
            <a:r>
              <a:rPr lang="en-US" sz="3200" u="sng" spc="79" dirty="0">
                <a:latin typeface="Times New Roman"/>
                <a:cs typeface="Times New Roman"/>
              </a:rPr>
              <a:t> </a:t>
            </a:r>
            <a:r>
              <a:rPr lang="en-US" sz="3200" u="sng" spc="-9" dirty="0">
                <a:latin typeface="Times New Roman"/>
                <a:cs typeface="Times New Roman"/>
              </a:rPr>
              <a:t>Evolution</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40</a:t>
            </a:fld>
            <a:endParaRPr lang="en-US" dirty="0"/>
          </a:p>
        </p:txBody>
      </p:sp>
      <p:sp>
        <p:nvSpPr>
          <p:cNvPr id="7" name="TextBox 6">
            <a:extLst>
              <a:ext uri="{FF2B5EF4-FFF2-40B4-BE49-F238E27FC236}">
                <a16:creationId xmlns:a16="http://schemas.microsoft.com/office/drawing/2014/main" id="{C268B74C-4440-40B0-843B-62C5B6E4FDBD}"/>
              </a:ext>
            </a:extLst>
          </p:cNvPr>
          <p:cNvSpPr txBox="1"/>
          <p:nvPr/>
        </p:nvSpPr>
        <p:spPr>
          <a:xfrm>
            <a:off x="93133" y="633773"/>
            <a:ext cx="8743576" cy="369332"/>
          </a:xfrm>
          <a:prstGeom prst="rect">
            <a:avLst/>
          </a:prstGeom>
          <a:noFill/>
        </p:spPr>
        <p:txBody>
          <a:bodyPr wrap="square">
            <a:spAutoFit/>
          </a:bodyPr>
          <a:lstStyle/>
          <a:p>
            <a:r>
              <a:rPr lang="en-US" b="1" i="0" u="sng" dirty="0">
                <a:solidFill>
                  <a:srgbClr val="C00000"/>
                </a:solidFill>
                <a:effectLst/>
                <a:latin typeface="DM Mono"/>
              </a:rPr>
              <a:t>Q: How </a:t>
            </a:r>
            <a:r>
              <a:rPr lang="en-US" b="1" u="sng" dirty="0">
                <a:solidFill>
                  <a:srgbClr val="C00000"/>
                </a:solidFill>
                <a:latin typeface="DM Mono"/>
              </a:rPr>
              <a:t>Attack Depth vs Success varies across generations</a:t>
            </a:r>
          </a:p>
        </p:txBody>
      </p:sp>
      <p:sp>
        <p:nvSpPr>
          <p:cNvPr id="8" name="TextBox 7">
            <a:extLst>
              <a:ext uri="{FF2B5EF4-FFF2-40B4-BE49-F238E27FC236}">
                <a16:creationId xmlns:a16="http://schemas.microsoft.com/office/drawing/2014/main" id="{513ECB02-43A1-4182-B2E1-BA62AFB80894}"/>
              </a:ext>
            </a:extLst>
          </p:cNvPr>
          <p:cNvSpPr txBox="1"/>
          <p:nvPr/>
        </p:nvSpPr>
        <p:spPr>
          <a:xfrm>
            <a:off x="93133" y="1003105"/>
            <a:ext cx="11934763" cy="369332"/>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Success peaks at deeper depths each gen (5→6→5&amp;7), while failures cluster shallow; Blue forces Red deeper to succeed.</a:t>
            </a:r>
          </a:p>
        </p:txBody>
      </p:sp>
      <p:graphicFrame>
        <p:nvGraphicFramePr>
          <p:cNvPr id="9" name="Table 8">
            <a:extLst>
              <a:ext uri="{FF2B5EF4-FFF2-40B4-BE49-F238E27FC236}">
                <a16:creationId xmlns:a16="http://schemas.microsoft.com/office/drawing/2014/main" id="{EAF55F90-440C-48F4-8D6D-4665EF2B4522}"/>
              </a:ext>
            </a:extLst>
          </p:cNvPr>
          <p:cNvGraphicFramePr>
            <a:graphicFrameLocks noGrp="1"/>
          </p:cNvGraphicFramePr>
          <p:nvPr>
            <p:extLst>
              <p:ext uri="{D42A27DB-BD31-4B8C-83A1-F6EECF244321}">
                <p14:modId xmlns:p14="http://schemas.microsoft.com/office/powerpoint/2010/main" val="523571270"/>
              </p:ext>
            </p:extLst>
          </p:nvPr>
        </p:nvGraphicFramePr>
        <p:xfrm>
          <a:off x="555812" y="4639732"/>
          <a:ext cx="10515600" cy="1767840"/>
        </p:xfrm>
        <a:graphic>
          <a:graphicData uri="http://schemas.openxmlformats.org/drawingml/2006/table">
            <a:tbl>
              <a:tblPr/>
              <a:tblGrid>
                <a:gridCol w="3505200">
                  <a:extLst>
                    <a:ext uri="{9D8B030D-6E8A-4147-A177-3AD203B41FA5}">
                      <a16:colId xmlns:a16="http://schemas.microsoft.com/office/drawing/2014/main" val="603361682"/>
                    </a:ext>
                  </a:extLst>
                </a:gridCol>
                <a:gridCol w="3505200">
                  <a:extLst>
                    <a:ext uri="{9D8B030D-6E8A-4147-A177-3AD203B41FA5}">
                      <a16:colId xmlns:a16="http://schemas.microsoft.com/office/drawing/2014/main" val="1482713199"/>
                    </a:ext>
                  </a:extLst>
                </a:gridCol>
                <a:gridCol w="3505200">
                  <a:extLst>
                    <a:ext uri="{9D8B030D-6E8A-4147-A177-3AD203B41FA5}">
                      <a16:colId xmlns:a16="http://schemas.microsoft.com/office/drawing/2014/main" val="831124084"/>
                    </a:ext>
                  </a:extLst>
                </a:gridCol>
              </a:tblGrid>
              <a:tr h="0">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0360952"/>
                  </a:ext>
                </a:extLst>
              </a:tr>
              <a:tr h="0">
                <a:tc>
                  <a:txBody>
                    <a:bodyPr/>
                    <a:lstStyle/>
                    <a:p>
                      <a:r>
                        <a:rPr lang="en-US" sz="1400" dirty="0"/>
                        <a:t>Success peak depth : Gen1= 5, Gen2=6, Gen3=5&amp;6 and some 7; failures dominate shallow depths (0–4) all gens;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Blue blocks shallow paths → Red must penetrate deeper to succeed;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Blue defense strengthens each gen; Red forced into longer, harder kill chains to achieve success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0159216"/>
                  </a:ext>
                </a:extLst>
              </a:tr>
              <a:tr h="0">
                <a:tc>
                  <a:txBody>
                    <a:bodyPr/>
                    <a:lstStyle/>
                    <a:p>
                      <a:r>
                        <a:rPr lang="en-US" sz="1400"/>
                        <a:t>Fail n↑: 6319→6846→7209; success rate↓ across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success rate ↓ as Blue matures; Co-evolution → Blue increasingly suppresses Red at early stages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Deeper success requirement + fewer successes = Blue genuinely improving, not Red getting weaker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759045"/>
                  </a:ext>
                </a:extLst>
              </a:tr>
            </a:tbl>
          </a:graphicData>
        </a:graphic>
      </p:graphicFrame>
      <p:pic>
        <p:nvPicPr>
          <p:cNvPr id="13" name="Picture 12">
            <a:extLst>
              <a:ext uri="{FF2B5EF4-FFF2-40B4-BE49-F238E27FC236}">
                <a16:creationId xmlns:a16="http://schemas.microsoft.com/office/drawing/2014/main" id="{AE99989B-17C3-4E88-870E-C2BDA1053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430050"/>
            <a:ext cx="12027896" cy="3187482"/>
          </a:xfrm>
          <a:prstGeom prst="rect">
            <a:avLst/>
          </a:prstGeom>
        </p:spPr>
      </p:pic>
    </p:spTree>
    <p:extLst>
      <p:ext uri="{BB962C8B-B14F-4D97-AF65-F5344CB8AC3E}">
        <p14:creationId xmlns:p14="http://schemas.microsoft.com/office/powerpoint/2010/main" val="18004282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61769" y="80633"/>
            <a:ext cx="11277600" cy="1325563"/>
          </a:xfrm>
        </p:spPr>
        <p:txBody>
          <a:bodyPr>
            <a:noAutofit/>
          </a:bodyPr>
          <a:lstStyle/>
          <a:p>
            <a:r>
              <a:rPr lang="en-US" sz="3200" u="sng" dirty="0">
                <a:latin typeface="Times New Roman"/>
                <a:cs typeface="Times New Roman"/>
              </a:rPr>
              <a:t>Intra-Setup </a:t>
            </a:r>
            <a:r>
              <a:rPr lang="en-US" sz="3200" u="sng" dirty="0"/>
              <a:t>Evaluation : </a:t>
            </a:r>
            <a:r>
              <a:rPr lang="en-US" sz="3200" u="sng" dirty="0">
                <a:latin typeface="Times New Roman"/>
                <a:cs typeface="Times New Roman"/>
              </a:rPr>
              <a:t>Cross-Generation</a:t>
            </a:r>
            <a:br>
              <a:rPr lang="en-US" sz="3200" u="sng" spc="-9" dirty="0">
                <a:latin typeface="Times New Roman"/>
                <a:cs typeface="Times New Roman"/>
              </a:rPr>
            </a:br>
            <a:br>
              <a:rPr lang="en-US" sz="3200" u="sng" dirty="0">
                <a:latin typeface="Times New Roman"/>
                <a:cs typeface="Times New Roman"/>
              </a:rPr>
            </a:br>
            <a:r>
              <a:rPr lang="en-US" sz="3200" u="sng" dirty="0"/>
              <a:t> </a:t>
            </a:r>
            <a:endParaRPr lang="en-US" sz="3200" u="sng"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EB05466-F781-4BF5-8E0C-8FDCB24794F9}"/>
              </a:ext>
            </a:extLst>
          </p:cNvPr>
          <p:cNvPicPr>
            <a:picLocks noChangeAspect="1"/>
          </p:cNvPicPr>
          <p:nvPr/>
        </p:nvPicPr>
        <p:blipFill>
          <a:blip r:embed="rId3"/>
          <a:stretch>
            <a:fillRect/>
          </a:stretch>
        </p:blipFill>
        <p:spPr>
          <a:xfrm>
            <a:off x="5855945" y="1473615"/>
            <a:ext cx="6143625" cy="5191125"/>
          </a:xfrm>
          <a:prstGeom prst="rect">
            <a:avLst/>
          </a:prstGeom>
        </p:spPr>
      </p:pic>
      <p:sp>
        <p:nvSpPr>
          <p:cNvPr id="7" name="TextBox 6">
            <a:extLst>
              <a:ext uri="{FF2B5EF4-FFF2-40B4-BE49-F238E27FC236}">
                <a16:creationId xmlns:a16="http://schemas.microsoft.com/office/drawing/2014/main" id="{9E517B53-856D-4A83-86E1-422E27F1EDDE}"/>
              </a:ext>
            </a:extLst>
          </p:cNvPr>
          <p:cNvSpPr txBox="1"/>
          <p:nvPr/>
        </p:nvSpPr>
        <p:spPr>
          <a:xfrm>
            <a:off x="161769" y="613846"/>
            <a:ext cx="8743576"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Do co-evolved agents generalize across generation gaps?</a:t>
            </a:r>
          </a:p>
        </p:txBody>
      </p:sp>
      <p:sp>
        <p:nvSpPr>
          <p:cNvPr id="8" name="TextBox 7">
            <a:extLst>
              <a:ext uri="{FF2B5EF4-FFF2-40B4-BE49-F238E27FC236}">
                <a16:creationId xmlns:a16="http://schemas.microsoft.com/office/drawing/2014/main" id="{EE7A57C1-4241-462A-BB19-ACFB93345C24}"/>
              </a:ext>
            </a:extLst>
          </p:cNvPr>
          <p:cNvSpPr txBox="1"/>
          <p:nvPr/>
        </p:nvSpPr>
        <p:spPr>
          <a:xfrm>
            <a:off x="120183" y="969446"/>
            <a:ext cx="7965483" cy="369332"/>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Blue defense ↑ across rows; Red success ↑ across cols; bidirectional arms race </a:t>
            </a:r>
          </a:p>
        </p:txBody>
      </p:sp>
      <p:graphicFrame>
        <p:nvGraphicFramePr>
          <p:cNvPr id="10" name="Table 9">
            <a:extLst>
              <a:ext uri="{FF2B5EF4-FFF2-40B4-BE49-F238E27FC236}">
                <a16:creationId xmlns:a16="http://schemas.microsoft.com/office/drawing/2014/main" id="{CB5926C1-DAEE-41E4-B4DB-DA7DD67EE80E}"/>
              </a:ext>
            </a:extLst>
          </p:cNvPr>
          <p:cNvGraphicFramePr>
            <a:graphicFrameLocks noGrp="1"/>
          </p:cNvGraphicFramePr>
          <p:nvPr>
            <p:extLst>
              <p:ext uri="{D42A27DB-BD31-4B8C-83A1-F6EECF244321}">
                <p14:modId xmlns:p14="http://schemas.microsoft.com/office/powerpoint/2010/main" val="927496521"/>
              </p:ext>
            </p:extLst>
          </p:nvPr>
        </p:nvGraphicFramePr>
        <p:xfrm>
          <a:off x="120183" y="1716613"/>
          <a:ext cx="5433948" cy="4921254"/>
        </p:xfrm>
        <a:graphic>
          <a:graphicData uri="http://schemas.openxmlformats.org/drawingml/2006/table">
            <a:tbl>
              <a:tblPr/>
              <a:tblGrid>
                <a:gridCol w="1358487">
                  <a:extLst>
                    <a:ext uri="{9D8B030D-6E8A-4147-A177-3AD203B41FA5}">
                      <a16:colId xmlns:a16="http://schemas.microsoft.com/office/drawing/2014/main" val="3063553774"/>
                    </a:ext>
                  </a:extLst>
                </a:gridCol>
                <a:gridCol w="1358487">
                  <a:extLst>
                    <a:ext uri="{9D8B030D-6E8A-4147-A177-3AD203B41FA5}">
                      <a16:colId xmlns:a16="http://schemas.microsoft.com/office/drawing/2014/main" val="2077020794"/>
                    </a:ext>
                  </a:extLst>
                </a:gridCol>
                <a:gridCol w="1358487">
                  <a:extLst>
                    <a:ext uri="{9D8B030D-6E8A-4147-A177-3AD203B41FA5}">
                      <a16:colId xmlns:a16="http://schemas.microsoft.com/office/drawing/2014/main" val="1636124951"/>
                    </a:ext>
                  </a:extLst>
                </a:gridCol>
                <a:gridCol w="1358487">
                  <a:extLst>
                    <a:ext uri="{9D8B030D-6E8A-4147-A177-3AD203B41FA5}">
                      <a16:colId xmlns:a16="http://schemas.microsoft.com/office/drawing/2014/main" val="3773154521"/>
                    </a:ext>
                  </a:extLst>
                </a:gridCol>
              </a:tblGrid>
              <a:tr h="330286">
                <a:tc>
                  <a:txBody>
                    <a:bodyPr/>
                    <a:lstStyle/>
                    <a:p>
                      <a:pPr algn="ctr"/>
                      <a:r>
                        <a:rPr lang="en-US" sz="1400" b="1" dirty="0"/>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2117573"/>
                  </a:ext>
                </a:extLst>
              </a:tr>
              <a:tr h="2179884">
                <a:tc>
                  <a:txBody>
                    <a:bodyPr/>
                    <a:lstStyle/>
                    <a:p>
                      <a:r>
                        <a:rPr lang="en-US" sz="1400"/>
                        <a:t>Defense row ↑ (left→right)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Blue Gen0 vs Red2/3: ~4%; Blue Gen3 vs Red2/3: 92–95%; row avg ↑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Each Blue gen trained vs prior Red gens → accumulates knowledge of past attack patterns → defends vs unseen 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Blue improvement cumulative — later gens carry forward learned history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2928633"/>
                  </a:ext>
                </a:extLst>
              </a:tr>
              <a:tr h="2411084">
                <a:tc>
                  <a:txBody>
                    <a:bodyPr/>
                    <a:lstStyle/>
                    <a:p>
                      <a:r>
                        <a:rPr lang="en-US" sz="1400"/>
                        <a:t>Attack col ↑ (top→bottom)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Red0=100% all Blue; Red3 col: Blue Gen0=4% → Blue Gen3=95%; upper-right always darkest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Each Red gen learns from prior Blue → progressively sophisticated attacks → older Blue rows cannot fully counter newer 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Arms race real — Red sophistication genuinely ↑ each 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7191442"/>
                  </a:ext>
                </a:extLst>
              </a:tr>
            </a:tbl>
          </a:graphicData>
        </a:graphic>
      </p:graphicFrame>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233958" y="63452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41</a:t>
            </a:fld>
            <a:endParaRPr lang="en-US" dirty="0"/>
          </a:p>
        </p:txBody>
      </p:sp>
    </p:spTree>
    <p:extLst>
      <p:ext uri="{BB962C8B-B14F-4D97-AF65-F5344CB8AC3E}">
        <p14:creationId xmlns:p14="http://schemas.microsoft.com/office/powerpoint/2010/main" val="8281227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A3BD54D-725C-474E-B101-8796234126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07922" y="314725"/>
            <a:ext cx="4334312" cy="5950867"/>
          </a:xfrm>
          <a:prstGeom prst="rect">
            <a:avLst/>
          </a:prstGeom>
        </p:spPr>
      </p:pic>
      <p:sp>
        <p:nvSpPr>
          <p:cNvPr id="7" name="TextBox 6">
            <a:extLst>
              <a:ext uri="{FF2B5EF4-FFF2-40B4-BE49-F238E27FC236}">
                <a16:creationId xmlns:a16="http://schemas.microsoft.com/office/drawing/2014/main" id="{0A5BDB6A-7AE0-41F8-8D31-C562D9AD8508}"/>
              </a:ext>
            </a:extLst>
          </p:cNvPr>
          <p:cNvSpPr txBox="1"/>
          <p:nvPr/>
        </p:nvSpPr>
        <p:spPr>
          <a:xfrm>
            <a:off x="249766" y="592408"/>
            <a:ext cx="7444160" cy="646331"/>
          </a:xfrm>
          <a:prstGeom prst="rect">
            <a:avLst/>
          </a:prstGeom>
          <a:noFill/>
        </p:spPr>
        <p:txBody>
          <a:bodyPr wrap="square">
            <a:spAutoFit/>
          </a:bodyPr>
          <a:lstStyle/>
          <a:p>
            <a:r>
              <a:rPr lang="en-US" b="1" u="sng" dirty="0">
                <a:solidFill>
                  <a:srgbClr val="C00000"/>
                </a:solidFill>
                <a:latin typeface="DM Mono"/>
              </a:rPr>
              <a:t>R</a:t>
            </a:r>
            <a:r>
              <a:rPr lang="en-US" b="1" i="0" u="sng" dirty="0">
                <a:solidFill>
                  <a:srgbClr val="C00000"/>
                </a:solidFill>
                <a:effectLst/>
                <a:latin typeface="DM Mono"/>
              </a:rPr>
              <a:t>Q: </a:t>
            </a:r>
            <a:r>
              <a:rPr lang="en-US" b="1" u="sng" dirty="0">
                <a:solidFill>
                  <a:srgbClr val="C00000"/>
                </a:solidFill>
                <a:latin typeface="DM Mono"/>
              </a:rPr>
              <a:t>Does co-evolutionary training (ACE_RF) produce better Blue defense than fixed (FOT) or simultaneous (SCE) training?</a:t>
            </a:r>
          </a:p>
        </p:txBody>
      </p:sp>
      <p:sp>
        <p:nvSpPr>
          <p:cNvPr id="8" name="TextBox 7">
            <a:extLst>
              <a:ext uri="{FF2B5EF4-FFF2-40B4-BE49-F238E27FC236}">
                <a16:creationId xmlns:a16="http://schemas.microsoft.com/office/drawing/2014/main" id="{D4FD2735-9D3C-422B-B695-8E0EC0653319}"/>
              </a:ext>
            </a:extLst>
          </p:cNvPr>
          <p:cNvSpPr txBox="1"/>
          <p:nvPr/>
        </p:nvSpPr>
        <p:spPr>
          <a:xfrm>
            <a:off x="174811" y="1225844"/>
            <a:ext cx="7988301" cy="646331"/>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Yes, FOT collapses vs strong Red (2%), SCE peaks but lacks generalization; ACE_RF all gens ≥85% vs Red Gen3</a:t>
            </a:r>
          </a:p>
        </p:txBody>
      </p:sp>
      <p:graphicFrame>
        <p:nvGraphicFramePr>
          <p:cNvPr id="10" name="Table 9">
            <a:extLst>
              <a:ext uri="{FF2B5EF4-FFF2-40B4-BE49-F238E27FC236}">
                <a16:creationId xmlns:a16="http://schemas.microsoft.com/office/drawing/2014/main" id="{0C8EF2F0-AE61-4D69-8454-713F0B022E0E}"/>
              </a:ext>
            </a:extLst>
          </p:cNvPr>
          <p:cNvGraphicFramePr>
            <a:graphicFrameLocks noGrp="1"/>
          </p:cNvGraphicFramePr>
          <p:nvPr>
            <p:extLst>
              <p:ext uri="{D42A27DB-BD31-4B8C-83A1-F6EECF244321}">
                <p14:modId xmlns:p14="http://schemas.microsoft.com/office/powerpoint/2010/main" val="1268130616"/>
              </p:ext>
            </p:extLst>
          </p:nvPr>
        </p:nvGraphicFramePr>
        <p:xfrm>
          <a:off x="499532" y="2107808"/>
          <a:ext cx="6874935" cy="3931920"/>
        </p:xfrm>
        <a:graphic>
          <a:graphicData uri="http://schemas.openxmlformats.org/drawingml/2006/table">
            <a:tbl>
              <a:tblPr/>
              <a:tblGrid>
                <a:gridCol w="2713062">
                  <a:extLst>
                    <a:ext uri="{9D8B030D-6E8A-4147-A177-3AD203B41FA5}">
                      <a16:colId xmlns:a16="http://schemas.microsoft.com/office/drawing/2014/main" val="1392073468"/>
                    </a:ext>
                  </a:extLst>
                </a:gridCol>
                <a:gridCol w="2273806">
                  <a:extLst>
                    <a:ext uri="{9D8B030D-6E8A-4147-A177-3AD203B41FA5}">
                      <a16:colId xmlns:a16="http://schemas.microsoft.com/office/drawing/2014/main" val="598439586"/>
                    </a:ext>
                  </a:extLst>
                </a:gridCol>
                <a:gridCol w="1888067">
                  <a:extLst>
                    <a:ext uri="{9D8B030D-6E8A-4147-A177-3AD203B41FA5}">
                      <a16:colId xmlns:a16="http://schemas.microsoft.com/office/drawing/2014/main" val="2616921907"/>
                    </a:ext>
                  </a:extLst>
                </a:gridCol>
              </a:tblGrid>
              <a:tr h="0">
                <a:tc>
                  <a:txBody>
                    <a:bodyPr/>
                    <a:lstStyle/>
                    <a:p>
                      <a:pPr algn="ctr"/>
                      <a:r>
                        <a:rPr lang="en-US" sz="1600" b="1"/>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905022"/>
                  </a:ext>
                </a:extLst>
              </a:tr>
              <a:tr h="0">
                <a:tc>
                  <a:txBody>
                    <a:bodyPr/>
                    <a:lstStyle/>
                    <a:p>
                      <a:pPr marL="285750" indent="-285750">
                        <a:buFont typeface="Arial" panose="020B0604020202020204" pitchFamily="34" charset="0"/>
                        <a:buChar char="•"/>
                      </a:pPr>
                      <a:r>
                        <a:rPr lang="en-US" sz="1600" dirty="0"/>
                        <a:t>vs Red Gen1: FOT=96%, SCE=100%, ACE_RF G1-G3=95-100%  all comparable;</a:t>
                      </a:r>
                    </a:p>
                    <a:p>
                      <a:pPr marL="285750" indent="-285750">
                        <a:buFont typeface="Arial" panose="020B0604020202020204" pitchFamily="34" charset="0"/>
                        <a:buChar char="•"/>
                      </a:pPr>
                      <a:r>
                        <a:rPr lang="en-US" sz="1600" dirty="0"/>
                        <a:t> vs Red Gen3: FOT=2% (collapse), SCE=95%, ACE_RF G1=85%→G3=95%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FOT Blue trained vs fixed Red → overfits, zero generalization to evolved Red; </a:t>
                      </a:r>
                    </a:p>
                    <a:p>
                      <a:r>
                        <a:rPr lang="en-US" sz="1600" dirty="0"/>
                        <a:t>SCE &amp; ACE_RF face evolving Red → transferable defense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Fixed opponent training = brittle; co-evolution essential for robust generalization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9963401"/>
                  </a:ext>
                </a:extLst>
              </a:tr>
              <a:tr h="0">
                <a:tc>
                  <a:txBody>
                    <a:bodyPr/>
                    <a:lstStyle/>
                    <a:p>
                      <a:r>
                        <a:rPr lang="en-US" sz="1600"/>
                        <a:t>ACE_RF G1=85% → G3=95% vs Red Gen3 (↑ across gens); SCE single best gen=95% but no generational progression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ACE_RF alternating training builds cumulative generational memory; SCE simultaneous training = no staged curriculum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ACE_RF superior  consistent ↑ across gens vs SCE one-shot peak; staged co-evolution &gt; simultaneous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8107247"/>
                  </a:ext>
                </a:extLst>
              </a:tr>
            </a:tbl>
          </a:graphicData>
        </a:graphic>
      </p:graphicFrame>
      <p:sp>
        <p:nvSpPr>
          <p:cNvPr id="13" name="Title 1">
            <a:extLst>
              <a:ext uri="{FF2B5EF4-FFF2-40B4-BE49-F238E27FC236}">
                <a16:creationId xmlns:a16="http://schemas.microsoft.com/office/drawing/2014/main" id="{21E63F01-2977-4F46-A757-9BA098F172DC}"/>
              </a:ext>
            </a:extLst>
          </p:cNvPr>
          <p:cNvSpPr txBox="1">
            <a:spLocks/>
          </p:cNvSpPr>
          <p:nvPr/>
        </p:nvSpPr>
        <p:spPr>
          <a:xfrm>
            <a:off x="174811" y="122238"/>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sz="3200" u="sng" dirty="0"/>
              <a:t>Inter-Setup Evaluation: ACE vs FOT vs SCE</a:t>
            </a:r>
            <a:br>
              <a:rPr lang="en-US" sz="3200" dirty="0"/>
            </a:br>
            <a:r>
              <a:rPr lang="en-US" sz="3200" dirty="0"/>
              <a:t> </a:t>
            </a: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42</a:t>
            </a:fld>
            <a:endParaRPr lang="en-US" dirty="0"/>
          </a:p>
        </p:txBody>
      </p:sp>
    </p:spTree>
    <p:extLst>
      <p:ext uri="{BB962C8B-B14F-4D97-AF65-F5344CB8AC3E}">
        <p14:creationId xmlns:p14="http://schemas.microsoft.com/office/powerpoint/2010/main" val="8571043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43</a:t>
            </a:fld>
            <a:endParaRPr lang="en-US" dirty="0"/>
          </a:p>
        </p:txBody>
      </p:sp>
      <p:pic>
        <p:nvPicPr>
          <p:cNvPr id="8" name="Picture 7">
            <a:extLst>
              <a:ext uri="{FF2B5EF4-FFF2-40B4-BE49-F238E27FC236}">
                <a16:creationId xmlns:a16="http://schemas.microsoft.com/office/drawing/2014/main" id="{48194730-2C7F-4F5F-A263-73954309A92E}"/>
              </a:ext>
            </a:extLst>
          </p:cNvPr>
          <p:cNvPicPr>
            <a:picLocks noChangeAspect="1"/>
          </p:cNvPicPr>
          <p:nvPr/>
        </p:nvPicPr>
        <p:blipFill>
          <a:blip r:embed="rId3"/>
          <a:stretch>
            <a:fillRect/>
          </a:stretch>
        </p:blipFill>
        <p:spPr>
          <a:xfrm>
            <a:off x="256489" y="1360453"/>
            <a:ext cx="11410079" cy="3021763"/>
          </a:xfrm>
          <a:prstGeom prst="rect">
            <a:avLst/>
          </a:prstGeom>
        </p:spPr>
      </p:pic>
      <p:sp>
        <p:nvSpPr>
          <p:cNvPr id="9" name="TextBox 8">
            <a:extLst>
              <a:ext uri="{FF2B5EF4-FFF2-40B4-BE49-F238E27FC236}">
                <a16:creationId xmlns:a16="http://schemas.microsoft.com/office/drawing/2014/main" id="{20A750A5-9B8E-416C-9E2D-CD4C521ED7F7}"/>
              </a:ext>
            </a:extLst>
          </p:cNvPr>
          <p:cNvSpPr txBox="1"/>
          <p:nvPr/>
        </p:nvSpPr>
        <p:spPr>
          <a:xfrm>
            <a:off x="249767" y="633773"/>
            <a:ext cx="8743576"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How Reward stability varies across episodes during training in all setups? </a:t>
            </a:r>
          </a:p>
        </p:txBody>
      </p:sp>
      <p:sp>
        <p:nvSpPr>
          <p:cNvPr id="10" name="TextBox 9">
            <a:extLst>
              <a:ext uri="{FF2B5EF4-FFF2-40B4-BE49-F238E27FC236}">
                <a16:creationId xmlns:a16="http://schemas.microsoft.com/office/drawing/2014/main" id="{3EA31E9E-FE9C-4711-BE30-97ED0C011571}"/>
              </a:ext>
            </a:extLst>
          </p:cNvPr>
          <p:cNvSpPr txBox="1"/>
          <p:nvPr/>
        </p:nvSpPr>
        <p:spPr>
          <a:xfrm>
            <a:off x="249767" y="1003105"/>
            <a:ext cx="9994900" cy="369332"/>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FOT=false stability, SCE=unstable oscillation, ACE_RF=Adversarial convergence across generations</a:t>
            </a:r>
          </a:p>
        </p:txBody>
      </p:sp>
      <p:graphicFrame>
        <p:nvGraphicFramePr>
          <p:cNvPr id="11" name="Table 10">
            <a:extLst>
              <a:ext uri="{FF2B5EF4-FFF2-40B4-BE49-F238E27FC236}">
                <a16:creationId xmlns:a16="http://schemas.microsoft.com/office/drawing/2014/main" id="{96BEBA77-D944-423E-950F-9282655B37F2}"/>
              </a:ext>
            </a:extLst>
          </p:cNvPr>
          <p:cNvGraphicFramePr>
            <a:graphicFrameLocks noGrp="1"/>
          </p:cNvGraphicFramePr>
          <p:nvPr/>
        </p:nvGraphicFramePr>
        <p:xfrm>
          <a:off x="174811" y="4484151"/>
          <a:ext cx="11653122" cy="2162182"/>
        </p:xfrm>
        <a:graphic>
          <a:graphicData uri="http://schemas.openxmlformats.org/drawingml/2006/table">
            <a:tbl>
              <a:tblPr/>
              <a:tblGrid>
                <a:gridCol w="3884374">
                  <a:extLst>
                    <a:ext uri="{9D8B030D-6E8A-4147-A177-3AD203B41FA5}">
                      <a16:colId xmlns:a16="http://schemas.microsoft.com/office/drawing/2014/main" val="1790460261"/>
                    </a:ext>
                  </a:extLst>
                </a:gridCol>
                <a:gridCol w="3884374">
                  <a:extLst>
                    <a:ext uri="{9D8B030D-6E8A-4147-A177-3AD203B41FA5}">
                      <a16:colId xmlns:a16="http://schemas.microsoft.com/office/drawing/2014/main" val="4058410398"/>
                    </a:ext>
                  </a:extLst>
                </a:gridCol>
                <a:gridCol w="3884374">
                  <a:extLst>
                    <a:ext uri="{9D8B030D-6E8A-4147-A177-3AD203B41FA5}">
                      <a16:colId xmlns:a16="http://schemas.microsoft.com/office/drawing/2014/main" val="2417224817"/>
                    </a:ext>
                  </a:extLst>
                </a:gridCol>
              </a:tblGrid>
              <a:tr h="365908">
                <a:tc>
                  <a:txBody>
                    <a:bodyPr/>
                    <a:lstStyle/>
                    <a:p>
                      <a:pPr algn="ctr"/>
                      <a:r>
                        <a:rPr lang="en-US" sz="1600" b="1"/>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b="1" dirty="0"/>
                        <a:t>Implication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3686215"/>
                  </a:ext>
                </a:extLst>
              </a:tr>
              <a:tr h="898137">
                <a:tc>
                  <a:txBody>
                    <a:bodyPr/>
                    <a:lstStyle/>
                    <a:p>
                      <a:r>
                        <a:rPr lang="en-US" sz="1600" dirty="0"/>
                        <a:t>FOT Blue ~+40 (stable); ACE_RF/SCE Blue ~-25; SCE visibly oscillates throughout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FOT=fixed </a:t>
                      </a:r>
                      <a:r>
                        <a:rPr lang="en-US" sz="1400" dirty="0" err="1"/>
                        <a:t>Red→easy</a:t>
                      </a:r>
                      <a:r>
                        <a:rPr lang="en-US" sz="1400" dirty="0"/>
                        <a:t> rewards; SCE=both policies shift </a:t>
                      </a:r>
                      <a:r>
                        <a:rPr lang="en-US" sz="1400" dirty="0" err="1"/>
                        <a:t>simultaneously→neither</a:t>
                      </a:r>
                      <a:r>
                        <a:rPr lang="en-US" sz="1400" dirty="0"/>
                        <a:t> stabilizes; ACE_RF=alternating </a:t>
                      </a:r>
                      <a:r>
                        <a:rPr lang="en-US" sz="1400" dirty="0" err="1"/>
                        <a:t>updates→stable</a:t>
                      </a:r>
                      <a:r>
                        <a:rPr lang="en-US" sz="1400" dirty="0"/>
                        <a:t> convergence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FOT reward=false signal; SCE instability=can't attribute improvement; ACE_RF=reliable training signal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0268689"/>
                  </a:ext>
                </a:extLst>
              </a:tr>
              <a:tr h="898137">
                <a:tc>
                  <a:txBody>
                    <a:bodyPr/>
                    <a:lstStyle/>
                    <a:p>
                      <a:r>
                        <a:rPr lang="en-US" sz="1600" dirty="0"/>
                        <a:t>ACE_RF sharp dips at gen transitions (~40%); SCE oscillates entire training; FOT smooth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ACE_RF disruption=new opponent </a:t>
                      </a:r>
                      <a:r>
                        <a:rPr lang="en-US" sz="1400" dirty="0" err="1"/>
                        <a:t>introduced→temporary</a:t>
                      </a:r>
                      <a:r>
                        <a:rPr lang="en-US" sz="1400" dirty="0"/>
                        <a:t>; SCE disruption=permanent mutual interference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ACE_RF instability bounded &amp; recovers; SCE instability </a:t>
                      </a:r>
                      <a:r>
                        <a:rPr lang="en-US" sz="1600" dirty="0" err="1"/>
                        <a:t>chronic→harder</a:t>
                      </a:r>
                      <a:r>
                        <a:rPr lang="en-US" sz="1600" dirty="0"/>
                        <a:t> to optimize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369492"/>
                  </a:ext>
                </a:extLst>
              </a:tr>
            </a:tbl>
          </a:graphicData>
        </a:graphic>
      </p:graphicFrame>
      <p:sp>
        <p:nvSpPr>
          <p:cNvPr id="12" name="Title 1">
            <a:extLst>
              <a:ext uri="{FF2B5EF4-FFF2-40B4-BE49-F238E27FC236}">
                <a16:creationId xmlns:a16="http://schemas.microsoft.com/office/drawing/2014/main" id="{0BF7F659-94A9-43BF-8E28-D12022A3AAFF}"/>
              </a:ext>
            </a:extLst>
          </p:cNvPr>
          <p:cNvSpPr>
            <a:spLocks noGrp="1"/>
          </p:cNvSpPr>
          <p:nvPr>
            <p:ph type="title"/>
          </p:nvPr>
        </p:nvSpPr>
        <p:spPr>
          <a:xfrm>
            <a:off x="174811" y="-8466"/>
            <a:ext cx="11277600" cy="766764"/>
          </a:xfrm>
        </p:spPr>
        <p:txBody>
          <a:bodyPr>
            <a:normAutofit/>
          </a:bodyPr>
          <a:lstStyle/>
          <a:p>
            <a:r>
              <a:rPr lang="en-US" sz="3600" u="sng" dirty="0"/>
              <a:t>Inter-Setup Evaluation: ACE vs FOT vs SCE</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2752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2DA4D09E-3AB2-4172-A32E-B3EBC2A114FC}"/>
              </a:ext>
            </a:extLst>
          </p:cNvPr>
          <p:cNvPicPr>
            <a:picLocks noChangeAspect="1"/>
          </p:cNvPicPr>
          <p:nvPr/>
        </p:nvPicPr>
        <p:blipFill>
          <a:blip r:embed="rId3"/>
          <a:stretch>
            <a:fillRect/>
          </a:stretch>
        </p:blipFill>
        <p:spPr>
          <a:xfrm>
            <a:off x="76200" y="1363134"/>
            <a:ext cx="12022668" cy="3108455"/>
          </a:xfrm>
          <a:prstGeom prst="rect">
            <a:avLst/>
          </a:prstGeom>
        </p:spPr>
      </p:pic>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3567" y="-31205"/>
            <a:ext cx="11277600" cy="766764"/>
          </a:xfrm>
        </p:spPr>
        <p:txBody>
          <a:bodyPr>
            <a:normAutofit/>
          </a:bodyPr>
          <a:lstStyle/>
          <a:p>
            <a:r>
              <a:rPr lang="en-US" sz="3600" u="sng" dirty="0"/>
              <a:t>Inter-Setup Evaluation: ACE vs FOT vs SCE</a:t>
            </a:r>
            <a:endParaRPr lang="en-US" sz="3600"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44</a:t>
            </a:fld>
            <a:endParaRPr lang="en-US" dirty="0"/>
          </a:p>
        </p:txBody>
      </p:sp>
      <p:sp>
        <p:nvSpPr>
          <p:cNvPr id="13" name="TextBox 12">
            <a:extLst>
              <a:ext uri="{FF2B5EF4-FFF2-40B4-BE49-F238E27FC236}">
                <a16:creationId xmlns:a16="http://schemas.microsoft.com/office/drawing/2014/main" id="{7A49CEA2-FAA6-4F8E-B9D2-2E935FE5663B}"/>
              </a:ext>
            </a:extLst>
          </p:cNvPr>
          <p:cNvSpPr txBox="1"/>
          <p:nvPr/>
        </p:nvSpPr>
        <p:spPr>
          <a:xfrm>
            <a:off x="249767" y="633773"/>
            <a:ext cx="8743576" cy="369332"/>
          </a:xfrm>
          <a:prstGeom prst="rect">
            <a:avLst/>
          </a:prstGeom>
          <a:noFill/>
        </p:spPr>
        <p:txBody>
          <a:bodyPr wrap="square">
            <a:spAutoFit/>
          </a:bodyPr>
          <a:lstStyle/>
          <a:p>
            <a:r>
              <a:rPr lang="en-US" b="1" u="sng" dirty="0">
                <a:solidFill>
                  <a:srgbClr val="C00000"/>
                </a:solidFill>
                <a:latin typeface="DM Mono"/>
              </a:rPr>
              <a:t>R</a:t>
            </a:r>
            <a:r>
              <a:rPr lang="en-US" b="1" i="0" u="sng" dirty="0">
                <a:solidFill>
                  <a:srgbClr val="C00000"/>
                </a:solidFill>
                <a:effectLst/>
                <a:latin typeface="DM Mono"/>
              </a:rPr>
              <a:t>Q: </a:t>
            </a:r>
            <a:r>
              <a:rPr lang="en-US" b="1" u="sng" dirty="0">
                <a:solidFill>
                  <a:srgbClr val="C00000"/>
                </a:solidFill>
                <a:latin typeface="DM Mono"/>
              </a:rPr>
              <a:t>Does stronger Blue terminate Red kill chains earlier across setups?</a:t>
            </a:r>
          </a:p>
        </p:txBody>
      </p:sp>
      <p:sp>
        <p:nvSpPr>
          <p:cNvPr id="14" name="TextBox 13">
            <a:extLst>
              <a:ext uri="{FF2B5EF4-FFF2-40B4-BE49-F238E27FC236}">
                <a16:creationId xmlns:a16="http://schemas.microsoft.com/office/drawing/2014/main" id="{A3E45BCA-E42C-4A0D-93F0-7124A68BC6B2}"/>
              </a:ext>
            </a:extLst>
          </p:cNvPr>
          <p:cNvSpPr txBox="1"/>
          <p:nvPr/>
        </p:nvSpPr>
        <p:spPr>
          <a:xfrm>
            <a:off x="249767" y="915573"/>
            <a:ext cx="11767421" cy="646331"/>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Shorter chains = Blue stopping Red faster; ACE_RF progressively compresses Red Gen1 chains; Red Gen3 resists compression across all setups.</a:t>
            </a:r>
          </a:p>
        </p:txBody>
      </p:sp>
      <p:graphicFrame>
        <p:nvGraphicFramePr>
          <p:cNvPr id="17" name="Table 16">
            <a:extLst>
              <a:ext uri="{FF2B5EF4-FFF2-40B4-BE49-F238E27FC236}">
                <a16:creationId xmlns:a16="http://schemas.microsoft.com/office/drawing/2014/main" id="{DFA4675F-770A-4911-BEFE-24DB8C7289B8}"/>
              </a:ext>
            </a:extLst>
          </p:cNvPr>
          <p:cNvGraphicFramePr>
            <a:graphicFrameLocks noGrp="1"/>
          </p:cNvGraphicFramePr>
          <p:nvPr>
            <p:extLst>
              <p:ext uri="{D42A27DB-BD31-4B8C-83A1-F6EECF244321}">
                <p14:modId xmlns:p14="http://schemas.microsoft.com/office/powerpoint/2010/main" val="2613603479"/>
              </p:ext>
            </p:extLst>
          </p:nvPr>
        </p:nvGraphicFramePr>
        <p:xfrm>
          <a:off x="399456" y="4471589"/>
          <a:ext cx="11393085" cy="2264173"/>
        </p:xfrm>
        <a:graphic>
          <a:graphicData uri="http://schemas.openxmlformats.org/drawingml/2006/table">
            <a:tbl>
              <a:tblPr/>
              <a:tblGrid>
                <a:gridCol w="3797695">
                  <a:extLst>
                    <a:ext uri="{9D8B030D-6E8A-4147-A177-3AD203B41FA5}">
                      <a16:colId xmlns:a16="http://schemas.microsoft.com/office/drawing/2014/main" val="993434689"/>
                    </a:ext>
                  </a:extLst>
                </a:gridCol>
                <a:gridCol w="3797695">
                  <a:extLst>
                    <a:ext uri="{9D8B030D-6E8A-4147-A177-3AD203B41FA5}">
                      <a16:colId xmlns:a16="http://schemas.microsoft.com/office/drawing/2014/main" val="2352275846"/>
                    </a:ext>
                  </a:extLst>
                </a:gridCol>
                <a:gridCol w="3797695">
                  <a:extLst>
                    <a:ext uri="{9D8B030D-6E8A-4147-A177-3AD203B41FA5}">
                      <a16:colId xmlns:a16="http://schemas.microsoft.com/office/drawing/2014/main" val="1917856171"/>
                    </a:ext>
                  </a:extLst>
                </a:gridCol>
              </a:tblGrid>
              <a:tr h="191158">
                <a:tc>
                  <a:txBody>
                    <a:bodyPr/>
                    <a:lstStyle/>
                    <a:p>
                      <a:pPr algn="ctr"/>
                      <a:r>
                        <a:rPr lang="en-US" sz="1400" b="1" dirty="0"/>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5811898"/>
                  </a:ext>
                </a:extLst>
              </a:tr>
              <a:tr h="908002">
                <a:tc>
                  <a:txBody>
                    <a:bodyPr/>
                    <a:lstStyle/>
                    <a:p>
                      <a:pPr algn="l"/>
                      <a:r>
                        <a:rPr lang="en-US" sz="1400"/>
                        <a:t>ACE_RF G1: Red Gen1 violin wide/tall (median~7); FOT/SCE Red Gen1 flat (median~4)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FOT/SCE Blue weak → Red Gen1 stopped early by chance not skill; ACE_RF G1 Blue still learning → Red Gen1 runs longer before stopped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Wider distribution = Blue inconsistent; not yet reliably terminating Red early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110498"/>
                  </a:ext>
                </a:extLst>
              </a:tr>
              <a:tr h="1051371">
                <a:tc>
                  <a:txBody>
                    <a:bodyPr/>
                    <a:lstStyle/>
                    <a:p>
                      <a:pPr algn="l"/>
                      <a:r>
                        <a:rPr lang="en-US" sz="1400"/>
                        <a:t>ACE_RF G2→G3: Red Gen1 violin narrows &amp; compresses toward median~4; Red Gen3 stays compressed~4 all setups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ACE_RF Blue matures → consistently stops Red Gen1 earlier; Red Gen3 sophisticated → finds short efficient paths, terminated quickly regardless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dirty="0"/>
                        <a:t>Compression = Blue improving; short Red Gen3 chains = strong Red evades fast, not Blue winning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562108"/>
                  </a:ext>
                </a:extLst>
              </a:tr>
            </a:tbl>
          </a:graphicData>
        </a:graphic>
      </p:graphicFrame>
    </p:spTree>
    <p:extLst>
      <p:ext uri="{BB962C8B-B14F-4D97-AF65-F5344CB8AC3E}">
        <p14:creationId xmlns:p14="http://schemas.microsoft.com/office/powerpoint/2010/main" val="18900689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5FE4E635-9B3F-44B8-B7D3-8105CFA03804}"/>
              </a:ext>
            </a:extLst>
          </p:cNvPr>
          <p:cNvSpPr txBox="1"/>
          <p:nvPr/>
        </p:nvSpPr>
        <p:spPr>
          <a:xfrm>
            <a:off x="249767" y="633773"/>
            <a:ext cx="7477311" cy="369332"/>
          </a:xfrm>
          <a:prstGeom prst="rect">
            <a:avLst/>
          </a:prstGeom>
          <a:noFill/>
        </p:spPr>
        <p:txBody>
          <a:bodyPr wrap="square">
            <a:spAutoFit/>
          </a:bodyPr>
          <a:lstStyle/>
          <a:p>
            <a:r>
              <a:rPr lang="en-US" b="1" i="0" u="sng" dirty="0">
                <a:solidFill>
                  <a:srgbClr val="C00000"/>
                </a:solidFill>
                <a:effectLst/>
                <a:latin typeface="DM Mono"/>
              </a:rPr>
              <a:t>Q: </a:t>
            </a:r>
            <a:r>
              <a:rPr lang="en-US" b="1" u="sng" dirty="0">
                <a:solidFill>
                  <a:srgbClr val="C00000"/>
                </a:solidFill>
                <a:latin typeface="DM Mono"/>
              </a:rPr>
              <a:t>Do different setups produce different Blue defense action strategies? </a:t>
            </a:r>
          </a:p>
        </p:txBody>
      </p:sp>
      <p:sp>
        <p:nvSpPr>
          <p:cNvPr id="8" name="TextBox 7">
            <a:extLst>
              <a:ext uri="{FF2B5EF4-FFF2-40B4-BE49-F238E27FC236}">
                <a16:creationId xmlns:a16="http://schemas.microsoft.com/office/drawing/2014/main" id="{41467B60-0402-480B-B1D1-19E3A741C3A0}"/>
              </a:ext>
            </a:extLst>
          </p:cNvPr>
          <p:cNvSpPr txBox="1"/>
          <p:nvPr/>
        </p:nvSpPr>
        <p:spPr>
          <a:xfrm>
            <a:off x="231090" y="982181"/>
            <a:ext cx="7495988" cy="646331"/>
          </a:xfrm>
          <a:prstGeom prst="rect">
            <a:avLst/>
          </a:prstGeom>
          <a:noFill/>
        </p:spPr>
        <p:txBody>
          <a:bodyPr wrap="square">
            <a:spAutoFit/>
          </a:bodyPr>
          <a:lstStyle>
            <a:defPPr>
              <a:defRPr lang="en-US"/>
            </a:defPPr>
            <a:lvl1pPr>
              <a:defRPr b="1" u="sng">
                <a:solidFill>
                  <a:srgbClr val="C00000"/>
                </a:solidFill>
                <a:latin typeface="DM Mono"/>
              </a:defRPr>
            </a:lvl1pPr>
          </a:lstStyle>
          <a:p>
            <a:r>
              <a:rPr lang="es-ES" u="none" dirty="0">
                <a:solidFill>
                  <a:schemeClr val="accent6">
                    <a:lumMod val="75000"/>
                  </a:schemeClr>
                </a:solidFill>
              </a:rPr>
              <a:t>A: </a:t>
            </a:r>
            <a:r>
              <a:rPr lang="en-US" u="none" dirty="0">
                <a:solidFill>
                  <a:schemeClr val="accent6">
                    <a:lumMod val="75000"/>
                  </a:schemeClr>
                </a:solidFill>
              </a:rPr>
              <a:t>FOT over-relies on </a:t>
            </a:r>
            <a:r>
              <a:rPr lang="en-US" u="none" dirty="0" err="1">
                <a:solidFill>
                  <a:schemeClr val="accent6">
                    <a:lumMod val="75000"/>
                  </a:schemeClr>
                </a:solidFill>
              </a:rPr>
              <a:t>kill_process</a:t>
            </a:r>
            <a:r>
              <a:rPr lang="en-US" u="none" dirty="0">
                <a:solidFill>
                  <a:schemeClr val="accent6">
                    <a:lumMod val="75000"/>
                  </a:schemeClr>
                </a:solidFill>
              </a:rPr>
              <a:t>; ACE_RF develops diverse multi-action strategy</a:t>
            </a:r>
          </a:p>
        </p:txBody>
      </p:sp>
      <p:pic>
        <p:nvPicPr>
          <p:cNvPr id="6" name="Picture 5">
            <a:extLst>
              <a:ext uri="{FF2B5EF4-FFF2-40B4-BE49-F238E27FC236}">
                <a16:creationId xmlns:a16="http://schemas.microsoft.com/office/drawing/2014/main" id="{155C7794-31A8-411E-9CB6-4D9BCB5FE8D7}"/>
              </a:ext>
            </a:extLst>
          </p:cNvPr>
          <p:cNvPicPr>
            <a:picLocks noChangeAspect="1"/>
          </p:cNvPicPr>
          <p:nvPr/>
        </p:nvPicPr>
        <p:blipFill rotWithShape="1">
          <a:blip r:embed="rId3"/>
          <a:srcRect l="33333" r="33256"/>
          <a:stretch/>
        </p:blipFill>
        <p:spPr>
          <a:xfrm>
            <a:off x="7745755" y="256224"/>
            <a:ext cx="4107579" cy="3327174"/>
          </a:xfrm>
          <a:prstGeom prst="rect">
            <a:avLst/>
          </a:prstGeom>
        </p:spPr>
      </p:pic>
      <p:pic>
        <p:nvPicPr>
          <p:cNvPr id="10" name="Picture 9">
            <a:extLst>
              <a:ext uri="{FF2B5EF4-FFF2-40B4-BE49-F238E27FC236}">
                <a16:creationId xmlns:a16="http://schemas.microsoft.com/office/drawing/2014/main" id="{6FD799B4-6CA0-493F-B57B-6C6A47DC3716}"/>
              </a:ext>
            </a:extLst>
          </p:cNvPr>
          <p:cNvPicPr>
            <a:picLocks noChangeAspect="1"/>
          </p:cNvPicPr>
          <p:nvPr/>
        </p:nvPicPr>
        <p:blipFill>
          <a:blip r:embed="rId4"/>
          <a:stretch>
            <a:fillRect/>
          </a:stretch>
        </p:blipFill>
        <p:spPr>
          <a:xfrm>
            <a:off x="8128000" y="633773"/>
            <a:ext cx="1459504" cy="348408"/>
          </a:xfrm>
          <a:prstGeom prst="rect">
            <a:avLst/>
          </a:prstGeom>
        </p:spPr>
      </p:pic>
      <p:pic>
        <p:nvPicPr>
          <p:cNvPr id="13" name="Picture 12">
            <a:extLst>
              <a:ext uri="{FF2B5EF4-FFF2-40B4-BE49-F238E27FC236}">
                <a16:creationId xmlns:a16="http://schemas.microsoft.com/office/drawing/2014/main" id="{E3845F03-D89B-4A76-BB0B-8F9CA5BF8FC5}"/>
              </a:ext>
            </a:extLst>
          </p:cNvPr>
          <p:cNvPicPr>
            <a:picLocks noChangeAspect="1"/>
          </p:cNvPicPr>
          <p:nvPr/>
        </p:nvPicPr>
        <p:blipFill rotWithShape="1">
          <a:blip r:embed="rId3"/>
          <a:srcRect l="66743" t="5943"/>
          <a:stretch/>
        </p:blipFill>
        <p:spPr>
          <a:xfrm>
            <a:off x="7745755" y="3591865"/>
            <a:ext cx="4107579" cy="3143897"/>
          </a:xfrm>
          <a:prstGeom prst="rect">
            <a:avLst/>
          </a:prstGeom>
        </p:spPr>
      </p:pic>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45</a:t>
            </a:fld>
            <a:endParaRPr lang="en-US" dirty="0"/>
          </a:p>
        </p:txBody>
      </p:sp>
      <p:graphicFrame>
        <p:nvGraphicFramePr>
          <p:cNvPr id="14" name="Table 13">
            <a:extLst>
              <a:ext uri="{FF2B5EF4-FFF2-40B4-BE49-F238E27FC236}">
                <a16:creationId xmlns:a16="http://schemas.microsoft.com/office/drawing/2014/main" id="{2C3FB934-0D51-4AE5-B37A-9EB660220B72}"/>
              </a:ext>
            </a:extLst>
          </p:cNvPr>
          <p:cNvGraphicFramePr>
            <a:graphicFrameLocks noGrp="1"/>
          </p:cNvGraphicFramePr>
          <p:nvPr>
            <p:extLst>
              <p:ext uri="{D42A27DB-BD31-4B8C-83A1-F6EECF244321}">
                <p14:modId xmlns:p14="http://schemas.microsoft.com/office/powerpoint/2010/main" val="728045763"/>
              </p:ext>
            </p:extLst>
          </p:nvPr>
        </p:nvGraphicFramePr>
        <p:xfrm>
          <a:off x="338665" y="1822779"/>
          <a:ext cx="6714066" cy="4886411"/>
        </p:xfrm>
        <a:graphic>
          <a:graphicData uri="http://schemas.openxmlformats.org/drawingml/2006/table">
            <a:tbl>
              <a:tblPr/>
              <a:tblGrid>
                <a:gridCol w="2238022">
                  <a:extLst>
                    <a:ext uri="{9D8B030D-6E8A-4147-A177-3AD203B41FA5}">
                      <a16:colId xmlns:a16="http://schemas.microsoft.com/office/drawing/2014/main" val="365072371"/>
                    </a:ext>
                  </a:extLst>
                </a:gridCol>
                <a:gridCol w="2238022">
                  <a:extLst>
                    <a:ext uri="{9D8B030D-6E8A-4147-A177-3AD203B41FA5}">
                      <a16:colId xmlns:a16="http://schemas.microsoft.com/office/drawing/2014/main" val="1838459814"/>
                    </a:ext>
                  </a:extLst>
                </a:gridCol>
                <a:gridCol w="2238022">
                  <a:extLst>
                    <a:ext uri="{9D8B030D-6E8A-4147-A177-3AD203B41FA5}">
                      <a16:colId xmlns:a16="http://schemas.microsoft.com/office/drawing/2014/main" val="356042902"/>
                    </a:ext>
                  </a:extLst>
                </a:gridCol>
              </a:tblGrid>
              <a:tr h="407201">
                <a:tc>
                  <a:txBody>
                    <a:bodyPr/>
                    <a:lstStyle/>
                    <a:p>
                      <a:pPr algn="ctr"/>
                      <a:r>
                        <a:rPr lang="en-US" b="1" u="none"/>
                        <a:t>Pattern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a:t>Observation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u="none" dirty="0"/>
                        <a:t>Why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775592"/>
                  </a:ext>
                </a:extLst>
              </a:tr>
              <a:tr h="1934204">
                <a:tc>
                  <a:txBody>
                    <a:bodyPr/>
                    <a:lstStyle/>
                    <a:p>
                      <a:r>
                        <a:rPr lang="en-US"/>
                        <a:t>FOT: kill_process dominant (~8000 vs Red1; ~7500 vs Red3); all other actions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FOT Red fixed &amp; weak → Blue learns one effective shortcut; no pressure to diversify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Single-action over-reliance = brittle; collapses vs Red Gen3 (2% suppression)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8730780"/>
                  </a:ext>
                </a:extLst>
              </a:tr>
              <a:tr h="2545006">
                <a:tc>
                  <a:txBody>
                    <a:bodyPr/>
                    <a:lstStyle/>
                    <a:p>
                      <a:r>
                        <a:rPr lang="en-US"/>
                        <a:t>ACE_RF G3: kill_process~7750 + force_sign_out~6000 + block_ip~1000 + isolate_host~1000 vs both Red gens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Alternating co-evolution → Red adapts → Blue forced to develop complementary action repertoire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ACE_RF Blue = richest action diversity → more robust, adaptable defense strategy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79691"/>
                  </a:ext>
                </a:extLst>
              </a:tr>
            </a:tbl>
          </a:graphicData>
        </a:graphic>
      </p:graphicFrame>
      <p:sp>
        <p:nvSpPr>
          <p:cNvPr id="17" name="Title 1">
            <a:extLst>
              <a:ext uri="{FF2B5EF4-FFF2-40B4-BE49-F238E27FC236}">
                <a16:creationId xmlns:a16="http://schemas.microsoft.com/office/drawing/2014/main" id="{323020C3-876A-44D9-9703-013004C64254}"/>
              </a:ext>
            </a:extLst>
          </p:cNvPr>
          <p:cNvSpPr txBox="1">
            <a:spLocks/>
          </p:cNvSpPr>
          <p:nvPr/>
        </p:nvSpPr>
        <p:spPr>
          <a:xfrm>
            <a:off x="129490" y="-26608"/>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sz="3200" u="sng" dirty="0"/>
              <a:t>Inter-Setup Evaluation: ACE vs FOT vs SCE</a:t>
            </a:r>
            <a:endParaRPr lang="en-US" sz="6000" dirty="0"/>
          </a:p>
        </p:txBody>
      </p:sp>
    </p:spTree>
    <p:extLst>
      <p:ext uri="{BB962C8B-B14F-4D97-AF65-F5344CB8AC3E}">
        <p14:creationId xmlns:p14="http://schemas.microsoft.com/office/powerpoint/2010/main" val="17364272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21776-F6AA-4C74-30C7-467EE1359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6FC34-39CA-5C19-0E32-95791F4AEAA7}"/>
              </a:ext>
            </a:extLst>
          </p:cNvPr>
          <p:cNvSpPr>
            <a:spLocks noGrp="1"/>
          </p:cNvSpPr>
          <p:nvPr>
            <p:ph type="title"/>
          </p:nvPr>
        </p:nvSpPr>
        <p:spPr/>
        <p:txBody>
          <a:bodyPr/>
          <a:lstStyle/>
          <a:p>
            <a:pPr algn="just"/>
            <a:r>
              <a:rPr lang="en-US" dirty="0">
                <a:latin typeface="Times New Roman" panose="02020603050405020304" pitchFamily="18" charset="0"/>
                <a:cs typeface="Times New Roman" panose="02020603050405020304" pitchFamily="18" charset="0"/>
              </a:rPr>
              <a:t>Schedule</a:t>
            </a:r>
          </a:p>
        </p:txBody>
      </p:sp>
      <p:graphicFrame>
        <p:nvGraphicFramePr>
          <p:cNvPr id="5" name="表格 6">
            <a:extLst>
              <a:ext uri="{FF2B5EF4-FFF2-40B4-BE49-F238E27FC236}">
                <a16:creationId xmlns:a16="http://schemas.microsoft.com/office/drawing/2014/main" id="{351E090F-A666-A2F0-BB63-3D114D55C877}"/>
              </a:ext>
            </a:extLst>
          </p:cNvPr>
          <p:cNvGraphicFramePr>
            <a:graphicFrameLocks noGrp="1"/>
          </p:cNvGraphicFramePr>
          <p:nvPr>
            <p:extLst>
              <p:ext uri="{D42A27DB-BD31-4B8C-83A1-F6EECF244321}">
                <p14:modId xmlns:p14="http://schemas.microsoft.com/office/powerpoint/2010/main" val="3793399845"/>
              </p:ext>
            </p:extLst>
          </p:nvPr>
        </p:nvGraphicFramePr>
        <p:xfrm>
          <a:off x="609600" y="1412776"/>
          <a:ext cx="10959008" cy="4356000"/>
        </p:xfrm>
        <a:graphic>
          <a:graphicData uri="http://schemas.openxmlformats.org/drawingml/2006/table">
            <a:tbl>
              <a:tblPr firstRow="1" bandRow="1">
                <a:tableStyleId>{2D5ABB26-0587-4C30-8999-92F81FD0307C}</a:tableStyleId>
              </a:tblPr>
              <a:tblGrid>
                <a:gridCol w="3615008">
                  <a:extLst>
                    <a:ext uri="{9D8B030D-6E8A-4147-A177-3AD203B41FA5}">
                      <a16:colId xmlns:a16="http://schemas.microsoft.com/office/drawing/2014/main" val="3325712202"/>
                    </a:ext>
                  </a:extLst>
                </a:gridCol>
                <a:gridCol w="612000">
                  <a:extLst>
                    <a:ext uri="{9D8B030D-6E8A-4147-A177-3AD203B41FA5}">
                      <a16:colId xmlns:a16="http://schemas.microsoft.com/office/drawing/2014/main" val="2780443444"/>
                    </a:ext>
                  </a:extLst>
                </a:gridCol>
                <a:gridCol w="612000">
                  <a:extLst>
                    <a:ext uri="{9D8B030D-6E8A-4147-A177-3AD203B41FA5}">
                      <a16:colId xmlns:a16="http://schemas.microsoft.com/office/drawing/2014/main" val="2969911258"/>
                    </a:ext>
                  </a:extLst>
                </a:gridCol>
                <a:gridCol w="612000">
                  <a:extLst>
                    <a:ext uri="{9D8B030D-6E8A-4147-A177-3AD203B41FA5}">
                      <a16:colId xmlns:a16="http://schemas.microsoft.com/office/drawing/2014/main" val="787603594"/>
                    </a:ext>
                  </a:extLst>
                </a:gridCol>
                <a:gridCol w="612000">
                  <a:extLst>
                    <a:ext uri="{9D8B030D-6E8A-4147-A177-3AD203B41FA5}">
                      <a16:colId xmlns:a16="http://schemas.microsoft.com/office/drawing/2014/main" val="289573167"/>
                    </a:ext>
                  </a:extLst>
                </a:gridCol>
                <a:gridCol w="612000">
                  <a:extLst>
                    <a:ext uri="{9D8B030D-6E8A-4147-A177-3AD203B41FA5}">
                      <a16:colId xmlns:a16="http://schemas.microsoft.com/office/drawing/2014/main" val="1546383040"/>
                    </a:ext>
                  </a:extLst>
                </a:gridCol>
                <a:gridCol w="612000">
                  <a:extLst>
                    <a:ext uri="{9D8B030D-6E8A-4147-A177-3AD203B41FA5}">
                      <a16:colId xmlns:a16="http://schemas.microsoft.com/office/drawing/2014/main" val="1527203266"/>
                    </a:ext>
                  </a:extLst>
                </a:gridCol>
                <a:gridCol w="612000">
                  <a:extLst>
                    <a:ext uri="{9D8B030D-6E8A-4147-A177-3AD203B41FA5}">
                      <a16:colId xmlns:a16="http://schemas.microsoft.com/office/drawing/2014/main" val="3042723710"/>
                    </a:ext>
                  </a:extLst>
                </a:gridCol>
                <a:gridCol w="612000">
                  <a:extLst>
                    <a:ext uri="{9D8B030D-6E8A-4147-A177-3AD203B41FA5}">
                      <a16:colId xmlns:a16="http://schemas.microsoft.com/office/drawing/2014/main" val="1305893732"/>
                    </a:ext>
                  </a:extLst>
                </a:gridCol>
                <a:gridCol w="612000">
                  <a:extLst>
                    <a:ext uri="{9D8B030D-6E8A-4147-A177-3AD203B41FA5}">
                      <a16:colId xmlns:a16="http://schemas.microsoft.com/office/drawing/2014/main" val="1130971374"/>
                    </a:ext>
                  </a:extLst>
                </a:gridCol>
                <a:gridCol w="612000">
                  <a:extLst>
                    <a:ext uri="{9D8B030D-6E8A-4147-A177-3AD203B41FA5}">
                      <a16:colId xmlns:a16="http://schemas.microsoft.com/office/drawing/2014/main" val="99063251"/>
                    </a:ext>
                  </a:extLst>
                </a:gridCol>
                <a:gridCol w="612000">
                  <a:extLst>
                    <a:ext uri="{9D8B030D-6E8A-4147-A177-3AD203B41FA5}">
                      <a16:colId xmlns:a16="http://schemas.microsoft.com/office/drawing/2014/main" val="2212765754"/>
                    </a:ext>
                  </a:extLst>
                </a:gridCol>
                <a:gridCol w="612000">
                  <a:extLst>
                    <a:ext uri="{9D8B030D-6E8A-4147-A177-3AD203B41FA5}">
                      <a16:colId xmlns:a16="http://schemas.microsoft.com/office/drawing/2014/main" val="2310909627"/>
                    </a:ext>
                  </a:extLst>
                </a:gridCol>
              </a:tblGrid>
              <a:tr h="396000">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7</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8</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9</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10</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11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12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1</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2</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3</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4</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5</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6</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1711212"/>
                  </a:ext>
                </a:extLst>
              </a:tr>
              <a:tr h="396000">
                <a:tc>
                  <a:txBody>
                    <a:bodyPr/>
                    <a:lstStyle/>
                    <a:p>
                      <a:r>
                        <a:rPr lang="en-US" altLang="zh-TW" dirty="0"/>
                        <a:t>Thesis Survey</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8209313"/>
                  </a:ext>
                </a:extLst>
              </a:tr>
              <a:tr h="396000">
                <a:tc>
                  <a:txBody>
                    <a:bodyPr/>
                    <a:lstStyle/>
                    <a:p>
                      <a:r>
                        <a:rPr lang="en-US" altLang="zh-TW" dirty="0"/>
                        <a:t>Proposal Writing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449755"/>
                  </a:ext>
                </a:extLst>
              </a:tr>
              <a:tr h="396000">
                <a:tc>
                  <a:txBody>
                    <a:bodyPr/>
                    <a:lstStyle/>
                    <a:p>
                      <a:r>
                        <a:rPr lang="en-US" altLang="zh-TW" dirty="0"/>
                        <a:t>Emulator Setup</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97114290"/>
                  </a:ext>
                </a:extLst>
              </a:tr>
              <a:tr h="396000">
                <a:tc>
                  <a:txBody>
                    <a:bodyPr/>
                    <a:lstStyle/>
                    <a:p>
                      <a:r>
                        <a:rPr lang="en-US" altLang="zh-TW" dirty="0"/>
                        <a:t>Implementation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2873199"/>
                  </a:ext>
                </a:extLst>
              </a:tr>
              <a:tr h="396000">
                <a:tc>
                  <a:txBody>
                    <a:bodyPr/>
                    <a:lstStyle/>
                    <a:p>
                      <a:r>
                        <a:rPr lang="en-US" altLang="zh-TW" sz="1800" kern="1200" dirty="0">
                          <a:solidFill>
                            <a:schemeClr val="tx1"/>
                          </a:solidFill>
                          <a:latin typeface="+mn-lt"/>
                          <a:ea typeface="+mn-ea"/>
                          <a:cs typeface="+mn-cs"/>
                        </a:rPr>
                        <a:t>   - </a:t>
                      </a:r>
                      <a:r>
                        <a:rPr lang="en-US" sz="1800" kern="1200" dirty="0">
                          <a:solidFill>
                            <a:schemeClr val="tx1"/>
                          </a:solidFill>
                          <a:latin typeface="+mn-lt"/>
                          <a:ea typeface="+mn-ea"/>
                          <a:cs typeface="+mn-cs"/>
                        </a:rPr>
                        <a:t>Environment Initialization</a:t>
                      </a:r>
                      <a:endParaRPr lang="zh-TW"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4513772"/>
                  </a:ext>
                </a:extLst>
              </a:tr>
              <a:tr h="396000">
                <a:tc>
                  <a:txBody>
                    <a:bodyPr/>
                    <a:lstStyle/>
                    <a:p>
                      <a:r>
                        <a:rPr lang="en-US" altLang="zh-TW" sz="1800" kern="1200" dirty="0">
                          <a:solidFill>
                            <a:schemeClr val="tx1"/>
                          </a:solidFill>
                          <a:latin typeface="+mn-lt"/>
                          <a:ea typeface="+mn-ea"/>
                          <a:cs typeface="+mn-cs"/>
                        </a:rPr>
                        <a:t>   - </a:t>
                      </a:r>
                      <a:r>
                        <a:rPr lang="en-US" sz="1800" kern="1200" dirty="0">
                          <a:solidFill>
                            <a:schemeClr val="tx1"/>
                          </a:solidFill>
                          <a:latin typeface="+mn-lt"/>
                          <a:ea typeface="+mn-ea"/>
                          <a:cs typeface="+mn-cs"/>
                        </a:rPr>
                        <a:t>Red Team Attack Generation</a:t>
                      </a:r>
                      <a:endParaRPr lang="zh-TW" altLang="en-US"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77116636"/>
                  </a:ext>
                </a:extLst>
              </a:tr>
              <a:tr h="396000">
                <a:tc>
                  <a:txBody>
                    <a:bodyPr/>
                    <a:lstStyle/>
                    <a:p>
                      <a:r>
                        <a:rPr lang="en-US" altLang="zh-TW" sz="1800" kern="1200" dirty="0">
                          <a:solidFill>
                            <a:schemeClr val="tx1"/>
                          </a:solidFill>
                          <a:latin typeface="+mn-lt"/>
                          <a:ea typeface="+mn-ea"/>
                          <a:cs typeface="+mn-cs"/>
                        </a:rPr>
                        <a:t>   - </a:t>
                      </a:r>
                      <a:r>
                        <a:rPr lang="en-US" sz="1800" kern="1200" dirty="0">
                          <a:solidFill>
                            <a:schemeClr val="tx1"/>
                          </a:solidFill>
                          <a:latin typeface="+mn-lt"/>
                          <a:ea typeface="+mn-ea"/>
                          <a:cs typeface="+mn-cs"/>
                        </a:rPr>
                        <a:t>Blue Team Detection &amp; Response</a:t>
                      </a:r>
                      <a:endParaRPr lang="en-US" altLang="zh-TW" sz="180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0450877"/>
                  </a:ext>
                </a:extLst>
              </a:tr>
              <a:tr h="396000">
                <a:tc>
                  <a:txBody>
                    <a:bodyPr/>
                    <a:lstStyle/>
                    <a:p>
                      <a:r>
                        <a:rPr lang="en-US" altLang="zh-TW" dirty="0"/>
                        <a:t>   - </a:t>
                      </a:r>
                      <a:r>
                        <a:rPr lang="en-US" dirty="0"/>
                        <a:t>Co-Evolution &amp; Evaluation</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3017884"/>
                  </a:ext>
                </a:extLst>
              </a:tr>
              <a:tr h="396000">
                <a:tc>
                  <a:txBody>
                    <a:bodyPr/>
                    <a:lstStyle/>
                    <a:p>
                      <a:r>
                        <a:rPr lang="en-US" altLang="zh-TW" dirty="0"/>
                        <a:t>Experiment Doing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027488"/>
                  </a:ext>
                </a:extLst>
              </a:tr>
              <a:tr h="396000">
                <a:tc>
                  <a:txBody>
                    <a:bodyPr/>
                    <a:lstStyle/>
                    <a:p>
                      <a:r>
                        <a:rPr lang="en-US" altLang="zh-TW" dirty="0"/>
                        <a:t>Thesis Writing</a:t>
                      </a:r>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7751311"/>
                  </a:ext>
                </a:extLst>
              </a:tr>
            </a:tbl>
          </a:graphicData>
        </a:graphic>
      </p:graphicFrame>
      <p:sp>
        <p:nvSpPr>
          <p:cNvPr id="15" name="矩形 14">
            <a:extLst>
              <a:ext uri="{FF2B5EF4-FFF2-40B4-BE49-F238E27FC236}">
                <a16:creationId xmlns:a16="http://schemas.microsoft.com/office/drawing/2014/main" id="{94A6A0F0-777C-4850-1CFC-B79C9834472B}"/>
              </a:ext>
            </a:extLst>
          </p:cNvPr>
          <p:cNvSpPr/>
          <p:nvPr/>
        </p:nvSpPr>
        <p:spPr>
          <a:xfrm>
            <a:off x="4247740" y="1844428"/>
            <a:ext cx="4227600" cy="323193"/>
          </a:xfrm>
          <a:prstGeom prst="rect">
            <a:avLst/>
          </a:prstGeom>
          <a:solidFill>
            <a:schemeClr val="bg1">
              <a:lumMod val="6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17" name="Slide Number Placeholder 3">
            <a:extLst>
              <a:ext uri="{FF2B5EF4-FFF2-40B4-BE49-F238E27FC236}">
                <a16:creationId xmlns:a16="http://schemas.microsoft.com/office/drawing/2014/main" id="{2AFD383C-EEA0-4898-19E9-B17E9CAC9AE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46</a:t>
            </a:fld>
            <a:endParaRPr lang="en-US" dirty="0"/>
          </a:p>
        </p:txBody>
      </p:sp>
      <p:sp>
        <p:nvSpPr>
          <p:cNvPr id="4" name="矩形 14">
            <a:extLst>
              <a:ext uri="{FF2B5EF4-FFF2-40B4-BE49-F238E27FC236}">
                <a16:creationId xmlns:a16="http://schemas.microsoft.com/office/drawing/2014/main" id="{C846C92D-B607-2005-F899-C5B1400E98F6}"/>
              </a:ext>
            </a:extLst>
          </p:cNvPr>
          <p:cNvSpPr/>
          <p:nvPr/>
        </p:nvSpPr>
        <p:spPr>
          <a:xfrm>
            <a:off x="4247739" y="2242882"/>
            <a:ext cx="2397085" cy="323193"/>
          </a:xfrm>
          <a:prstGeom prst="rect">
            <a:avLst/>
          </a:prstGeom>
          <a:solidFill>
            <a:schemeClr val="tx1">
              <a:lumMod val="50000"/>
              <a:lumOff val="50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8" name="矩形 14">
            <a:extLst>
              <a:ext uri="{FF2B5EF4-FFF2-40B4-BE49-F238E27FC236}">
                <a16:creationId xmlns:a16="http://schemas.microsoft.com/office/drawing/2014/main" id="{C6889055-7C45-AB2C-1476-3A70FCFA447E}"/>
              </a:ext>
            </a:extLst>
          </p:cNvPr>
          <p:cNvSpPr/>
          <p:nvPr/>
        </p:nvSpPr>
        <p:spPr>
          <a:xfrm>
            <a:off x="5472914" y="2638150"/>
            <a:ext cx="1171911" cy="323193"/>
          </a:xfrm>
          <a:prstGeom prst="rect">
            <a:avLst/>
          </a:prstGeom>
          <a:solidFill>
            <a:schemeClr val="tx1">
              <a:lumMod val="65000"/>
              <a:lumOff val="3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19" name="矩形 14">
            <a:extLst>
              <a:ext uri="{FF2B5EF4-FFF2-40B4-BE49-F238E27FC236}">
                <a16:creationId xmlns:a16="http://schemas.microsoft.com/office/drawing/2014/main" id="{737334A2-5F88-6028-5F22-2F847A84AA96}"/>
              </a:ext>
            </a:extLst>
          </p:cNvPr>
          <p:cNvSpPr/>
          <p:nvPr/>
        </p:nvSpPr>
        <p:spPr>
          <a:xfrm>
            <a:off x="6081508" y="3431201"/>
            <a:ext cx="1171911" cy="323193"/>
          </a:xfrm>
          <a:prstGeom prst="rect">
            <a:avLst/>
          </a:prstGeom>
          <a:solidFill>
            <a:schemeClr val="tx1">
              <a:lumMod val="75000"/>
              <a:lumOff val="2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0" name="矩形 14">
            <a:extLst>
              <a:ext uri="{FF2B5EF4-FFF2-40B4-BE49-F238E27FC236}">
                <a16:creationId xmlns:a16="http://schemas.microsoft.com/office/drawing/2014/main" id="{891C1FCF-872C-3B2F-AE23-51318CF15202}"/>
              </a:ext>
            </a:extLst>
          </p:cNvPr>
          <p:cNvSpPr/>
          <p:nvPr/>
        </p:nvSpPr>
        <p:spPr>
          <a:xfrm>
            <a:off x="6096000" y="3827044"/>
            <a:ext cx="1157418" cy="323193"/>
          </a:xfrm>
          <a:prstGeom prst="rect">
            <a:avLst/>
          </a:prstGeom>
          <a:solidFill>
            <a:schemeClr val="tx1">
              <a:lumMod val="75000"/>
              <a:lumOff val="2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1" name="矩形 14">
            <a:extLst>
              <a:ext uri="{FF2B5EF4-FFF2-40B4-BE49-F238E27FC236}">
                <a16:creationId xmlns:a16="http://schemas.microsoft.com/office/drawing/2014/main" id="{B8DC463E-D035-33A0-0257-0DA4EDBB5E33}"/>
              </a:ext>
            </a:extLst>
          </p:cNvPr>
          <p:cNvSpPr/>
          <p:nvPr/>
        </p:nvSpPr>
        <p:spPr>
          <a:xfrm>
            <a:off x="6082512" y="3035358"/>
            <a:ext cx="2392828" cy="323193"/>
          </a:xfrm>
          <a:prstGeom prst="rect">
            <a:avLst/>
          </a:prstGeom>
          <a:solidFill>
            <a:schemeClr val="tx1">
              <a:lumMod val="75000"/>
              <a:lumOff val="2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2" name="矩形 14">
            <a:extLst>
              <a:ext uri="{FF2B5EF4-FFF2-40B4-BE49-F238E27FC236}">
                <a16:creationId xmlns:a16="http://schemas.microsoft.com/office/drawing/2014/main" id="{3F7ED5B6-F49E-10C8-D631-1C8BA0732916}"/>
              </a:ext>
            </a:extLst>
          </p:cNvPr>
          <p:cNvSpPr/>
          <p:nvPr/>
        </p:nvSpPr>
        <p:spPr>
          <a:xfrm>
            <a:off x="6698798" y="4227335"/>
            <a:ext cx="1171911" cy="323193"/>
          </a:xfrm>
          <a:prstGeom prst="rect">
            <a:avLst/>
          </a:prstGeom>
          <a:solidFill>
            <a:schemeClr val="tx1">
              <a:lumMod val="75000"/>
              <a:lumOff val="2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3" name="矩形 14">
            <a:extLst>
              <a:ext uri="{FF2B5EF4-FFF2-40B4-BE49-F238E27FC236}">
                <a16:creationId xmlns:a16="http://schemas.microsoft.com/office/drawing/2014/main" id="{0CE6F845-8ED3-637C-658B-9E45BEB5FE36}"/>
              </a:ext>
            </a:extLst>
          </p:cNvPr>
          <p:cNvSpPr/>
          <p:nvPr/>
        </p:nvSpPr>
        <p:spPr>
          <a:xfrm>
            <a:off x="6698798" y="4620255"/>
            <a:ext cx="1776542" cy="323193"/>
          </a:xfrm>
          <a:prstGeom prst="rect">
            <a:avLst/>
          </a:prstGeom>
          <a:solidFill>
            <a:schemeClr val="tx1">
              <a:lumMod val="75000"/>
              <a:lumOff val="2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4" name="矩形 14">
            <a:extLst>
              <a:ext uri="{FF2B5EF4-FFF2-40B4-BE49-F238E27FC236}">
                <a16:creationId xmlns:a16="http://schemas.microsoft.com/office/drawing/2014/main" id="{48E54652-D348-A248-720B-90B6592579A1}"/>
              </a:ext>
            </a:extLst>
          </p:cNvPr>
          <p:cNvSpPr/>
          <p:nvPr/>
        </p:nvSpPr>
        <p:spPr>
          <a:xfrm>
            <a:off x="7311736" y="5013175"/>
            <a:ext cx="2392828" cy="323193"/>
          </a:xfrm>
          <a:prstGeom prst="rect">
            <a:avLst/>
          </a:prstGeom>
          <a:solidFill>
            <a:schemeClr val="tx1">
              <a:lumMod val="85000"/>
              <a:lumOff val="15000"/>
            </a:schemeClr>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
        <p:nvSpPr>
          <p:cNvPr id="25" name="矩形 14">
            <a:extLst>
              <a:ext uri="{FF2B5EF4-FFF2-40B4-BE49-F238E27FC236}">
                <a16:creationId xmlns:a16="http://schemas.microsoft.com/office/drawing/2014/main" id="{559A225B-77FD-A728-B590-F34CB4FE1782}"/>
              </a:ext>
            </a:extLst>
          </p:cNvPr>
          <p:cNvSpPr/>
          <p:nvPr/>
        </p:nvSpPr>
        <p:spPr>
          <a:xfrm>
            <a:off x="8538034" y="5411629"/>
            <a:ext cx="1776542" cy="323193"/>
          </a:xfrm>
          <a:prstGeom prst="rect">
            <a:avLst/>
          </a:prstGeom>
          <a:solidFill>
            <a:schemeClr val="tx1"/>
          </a:solidFill>
        </p:spPr>
        <p:style>
          <a:lnRef idx="1">
            <a:schemeClr val="dk1"/>
          </a:lnRef>
          <a:fillRef idx="3">
            <a:schemeClr val="dk1"/>
          </a:fillRef>
          <a:effectRef idx="2">
            <a:schemeClr val="dk1"/>
          </a:effectRef>
          <a:fontRef idx="minor">
            <a:schemeClr val="lt1"/>
          </a:fontRef>
        </p:style>
        <p:txBody>
          <a:bodyPr rtlCol="0" anchor="ctr"/>
          <a:lstStyle/>
          <a:p>
            <a:pPr algn="ctr"/>
            <a:endParaRPr kumimoji="1" lang="zh-TW" altLang="en-US" dirty="0">
              <a:solidFill>
                <a:srgbClr val="C00000"/>
              </a:solidFill>
            </a:endParaRPr>
          </a:p>
        </p:txBody>
      </p:sp>
    </p:spTree>
    <p:extLst>
      <p:ext uri="{BB962C8B-B14F-4D97-AF65-F5344CB8AC3E}">
        <p14:creationId xmlns:p14="http://schemas.microsoft.com/office/powerpoint/2010/main" val="246666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64066" y="-194733"/>
            <a:ext cx="10515600" cy="1325563"/>
          </a:xfrm>
        </p:spPr>
        <p:txBody>
          <a:bodyPr/>
          <a:lstStyle/>
          <a:p>
            <a:pPr algn="just"/>
            <a:r>
              <a:rPr lang="en-US"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440267" y="1325563"/>
            <a:ext cx="10515600" cy="5275960"/>
          </a:xfrm>
        </p:spPr>
        <p:txBody>
          <a:bodyPr>
            <a:normAutofit/>
          </a:bodyPr>
          <a:lstStyle/>
          <a:p>
            <a:pPr marL="0" indent="0">
              <a:buNone/>
            </a:pPr>
            <a:r>
              <a:rPr lang="en-US" sz="2000" dirty="0"/>
              <a:t>[1] </a:t>
            </a:r>
            <a:r>
              <a:rPr lang="en-US" sz="2000" dirty="0" err="1"/>
              <a:t>Valea</a:t>
            </a:r>
            <a:r>
              <a:rPr lang="en-US" sz="2000" dirty="0"/>
              <a:t>, Ovidiu and </a:t>
            </a:r>
            <a:r>
              <a:rPr lang="en-US" sz="2000" dirty="0" err="1"/>
              <a:t>Oprisa</a:t>
            </a:r>
            <a:r>
              <a:rPr lang="en-US" sz="2000" dirty="0"/>
              <a:t>, </a:t>
            </a:r>
            <a:r>
              <a:rPr lang="en-US" sz="2000" dirty="0" err="1"/>
              <a:t>Ciprian</a:t>
            </a:r>
            <a:r>
              <a:rPr lang="en-US" sz="2000" dirty="0"/>
              <a:t>, “Towards </a:t>
            </a:r>
            <a:r>
              <a:rPr lang="en-US" sz="2000" dirty="0" err="1"/>
              <a:t>Pentesting</a:t>
            </a:r>
            <a:r>
              <a:rPr lang="en-US" sz="2000" dirty="0"/>
              <a:t> Automation Using the Metasploit Framework,” in 2020 IEEE 16th International Conference on Intelligent Computer Communication and Processing (ICCP), 2020, pp. 171–178.</a:t>
            </a:r>
          </a:p>
          <a:p>
            <a:pPr marL="0" indent="0">
              <a:buNone/>
            </a:pPr>
            <a:r>
              <a:rPr lang="en-US" sz="2000" dirty="0"/>
              <a:t> [2] Red Canary, “Atomic Red Team,” 2024. [Online]. Available: </a:t>
            </a:r>
            <a:r>
              <a:rPr lang="en-US" sz="2000" dirty="0">
                <a:hlinkClick r:id="rId3"/>
              </a:rPr>
              <a:t>https://atomicredteam.io/</a:t>
            </a:r>
            <a:endParaRPr lang="en-US" sz="2000" dirty="0"/>
          </a:p>
          <a:p>
            <a:pPr marL="0" indent="0">
              <a:buNone/>
            </a:pPr>
            <a:r>
              <a:rPr lang="en-US" sz="2000" dirty="0"/>
              <a:t> [3] H. P. T. Nguyen, K. Hasegawa, K. Fukushima, and R. </a:t>
            </a:r>
            <a:r>
              <a:rPr lang="en-US" sz="2000" dirty="0" err="1"/>
              <a:t>Beuran</a:t>
            </a:r>
            <a:r>
              <a:rPr lang="en-US" sz="2000" dirty="0"/>
              <a:t>, “</a:t>
            </a:r>
            <a:r>
              <a:rPr lang="en-US" sz="2000" dirty="0" err="1"/>
              <a:t>Pengym</a:t>
            </a:r>
            <a:r>
              <a:rPr lang="en-US" sz="2000" dirty="0"/>
              <a:t>: Realistic training environment for reinforcement learning </a:t>
            </a:r>
            <a:r>
              <a:rPr lang="en-US" sz="2000" dirty="0" err="1"/>
              <a:t>pentesting</a:t>
            </a:r>
            <a:r>
              <a:rPr lang="en-US" sz="2000" dirty="0"/>
              <a:t> agents,” Computers &amp; Security, vol. 148, p. 104140, 2025.</a:t>
            </a:r>
          </a:p>
          <a:p>
            <a:pPr marL="0" indent="0">
              <a:buNone/>
            </a:pPr>
            <a:r>
              <a:rPr lang="en-US" sz="2000" dirty="0"/>
              <a:t> [4] R. </a:t>
            </a:r>
            <a:r>
              <a:rPr lang="en-US" sz="2000" dirty="0" err="1"/>
              <a:t>Kuppa</a:t>
            </a:r>
            <a:r>
              <a:rPr lang="en-US" sz="2000" dirty="0"/>
              <a:t>, S. Poudel, C. E. Hughes, M. F. </a:t>
            </a:r>
            <a:r>
              <a:rPr lang="en-US" sz="2000" dirty="0" err="1"/>
              <a:t>Alzaben</a:t>
            </a:r>
            <a:r>
              <a:rPr lang="en-US" sz="2000" dirty="0"/>
              <a:t>, and P. Tague, “Adversarial reinforcement learning for ransomware attack path generation and defense evaluation,” Apr 2024. [5] R. Castro, S. Ray, R. T. McDonald, and J. Kapoor, “Large language models are autonomous cyber defenders,” May 2025.</a:t>
            </a:r>
          </a:p>
          <a:p>
            <a:pPr marL="0" indent="0">
              <a:buNone/>
            </a:pPr>
            <a:r>
              <a:rPr lang="en-US" sz="2000" dirty="0"/>
              <a:t> [6] H. Emerson, L. Bates, C. Hicks, and V. Mavroudis, “Cyborg++: An enhanced gym for the development of autonomous cyber agents,” Oct 2024.</a:t>
            </a:r>
          </a:p>
          <a:p>
            <a:pPr marL="0" indent="0">
              <a:buNone/>
            </a:pPr>
            <a:r>
              <a:rPr lang="en-US" sz="2000" dirty="0"/>
              <a:t> [7] S. </a:t>
            </a:r>
            <a:r>
              <a:rPr lang="en-US" sz="2000" dirty="0" err="1"/>
              <a:t>Oesch</a:t>
            </a:r>
            <a:r>
              <a:rPr lang="en-US" sz="2000" dirty="0"/>
              <a:t>, A. </a:t>
            </a:r>
            <a:r>
              <a:rPr lang="en-US" sz="2000" dirty="0" err="1"/>
              <a:t>Chaulagain</a:t>
            </a:r>
            <a:r>
              <a:rPr lang="en-US" sz="2000" dirty="0"/>
              <a:t>, P. Austria, B. Weber, A. </a:t>
            </a:r>
            <a:r>
              <a:rPr lang="en-US" sz="2000" dirty="0" err="1"/>
              <a:t>Sadovnik</a:t>
            </a:r>
            <a:r>
              <a:rPr lang="en-US" sz="2000" dirty="0"/>
              <a:t>, C. Watson, M. Dixson, and B. Roberson, “Towards a high fidelity training environment for autonomous cyber defense agents,” in Workshop on Cyber Security Experimentation and Test (CSET), 2024, pp. 1–9. </a:t>
            </a:r>
          </a:p>
        </p:txBody>
      </p:sp>
      <p:sp>
        <p:nvSpPr>
          <p:cNvPr id="3" name="Slide Number Placeholder 3">
            <a:extLst>
              <a:ext uri="{FF2B5EF4-FFF2-40B4-BE49-F238E27FC236}">
                <a16:creationId xmlns:a16="http://schemas.microsoft.com/office/drawing/2014/main" id="{FE9D020C-C5AA-777E-1CE5-A09E19026C7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47</a:t>
            </a:fld>
            <a:endParaRPr lang="en-US" dirty="0"/>
          </a:p>
        </p:txBody>
      </p:sp>
    </p:spTree>
    <p:extLst>
      <p:ext uri="{BB962C8B-B14F-4D97-AF65-F5344CB8AC3E}">
        <p14:creationId xmlns:p14="http://schemas.microsoft.com/office/powerpoint/2010/main" val="30831765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313267" y="-20637"/>
            <a:ext cx="10515600" cy="1325563"/>
          </a:xfrm>
        </p:spPr>
        <p:txBody>
          <a:bodyPr/>
          <a:lstStyle/>
          <a:p>
            <a:pPr algn="just"/>
            <a:r>
              <a:rPr lang="en-US" dirty="0">
                <a:latin typeface="Times New Roman" panose="02020603050405020304" pitchFamily="18" charset="0"/>
                <a:cs typeface="Times New Roman" panose="02020603050405020304" pitchFamily="18" charset="0"/>
              </a:rPr>
              <a:t>References</a:t>
            </a:r>
          </a:p>
        </p:txBody>
      </p:sp>
      <p:sp>
        <p:nvSpPr>
          <p:cNvPr id="5" name="Content Placeholder 4">
            <a:extLst>
              <a:ext uri="{FF2B5EF4-FFF2-40B4-BE49-F238E27FC236}">
                <a16:creationId xmlns:a16="http://schemas.microsoft.com/office/drawing/2014/main" id="{A0771CE3-181A-0E94-EC8D-B209F0EB1D22}"/>
              </a:ext>
            </a:extLst>
          </p:cNvPr>
          <p:cNvSpPr>
            <a:spLocks noGrp="1"/>
          </p:cNvSpPr>
          <p:nvPr>
            <p:ph idx="1"/>
          </p:nvPr>
        </p:nvSpPr>
        <p:spPr>
          <a:xfrm>
            <a:off x="389467" y="1244432"/>
            <a:ext cx="10515600" cy="5275960"/>
          </a:xfrm>
        </p:spPr>
        <p:txBody>
          <a:bodyPr>
            <a:normAutofit/>
          </a:bodyPr>
          <a:lstStyle/>
          <a:p>
            <a:pPr marL="0" indent="0">
              <a:buNone/>
            </a:pPr>
            <a:r>
              <a:rPr lang="en-US" sz="2000" dirty="0"/>
              <a:t>[8] L. Li, J.-P. S. El Rami, A. Taylor, J. H. Rao, and T. Kunz, “</a:t>
            </a:r>
            <a:r>
              <a:rPr lang="en-US" sz="2000" dirty="0" err="1"/>
              <a:t>Cygil</a:t>
            </a:r>
            <a:r>
              <a:rPr lang="en-US" sz="2000" dirty="0"/>
              <a:t>: Enabling a network ai gym for autonomous cyber agents,” in International Conference on Computational Science and Computational Intelligence (CSCI), 2022, pp. 172–179. </a:t>
            </a:r>
          </a:p>
          <a:p>
            <a:pPr marL="0" indent="0">
              <a:buNone/>
            </a:pPr>
            <a:r>
              <a:rPr lang="en-US" sz="2000" dirty="0"/>
              <a:t>[9] Strom, Blake and others, “MITRE ATT&amp;CK: Design and Philosophy,” in Technical report. The MITRE Corporation, 2018. [Online]. Available: https://www.mitre.org/ sites/default/files/2021-11/prs-19-01075-28-mitre-attack-design-and-philosophy.pdf </a:t>
            </a:r>
          </a:p>
          <a:p>
            <a:pPr marL="0" indent="0">
              <a:buNone/>
            </a:pPr>
            <a:r>
              <a:rPr lang="en-US" sz="2000" dirty="0"/>
              <a:t>[10] </a:t>
            </a:r>
            <a:r>
              <a:rPr lang="en-US" sz="2000" dirty="0" err="1"/>
              <a:t>Wiering</a:t>
            </a:r>
            <a:r>
              <a:rPr lang="en-US" sz="2000" dirty="0"/>
              <a:t>, Marco A and Van </a:t>
            </a:r>
            <a:r>
              <a:rPr lang="en-US" sz="2000" dirty="0" err="1"/>
              <a:t>Otterlo</a:t>
            </a:r>
            <a:r>
              <a:rPr lang="en-US" sz="2000" dirty="0"/>
              <a:t>, </a:t>
            </a:r>
            <a:r>
              <a:rPr lang="en-US" sz="2000" dirty="0" err="1"/>
              <a:t>Martijn</a:t>
            </a:r>
            <a:r>
              <a:rPr lang="en-US" sz="2000" dirty="0"/>
              <a:t>, “Reinforcement learning,” Adaptation, learning, and optimization, vol. 12, no. 3, p. 729, 2012. 57 </a:t>
            </a:r>
          </a:p>
          <a:p>
            <a:pPr marL="0" indent="0">
              <a:buNone/>
            </a:pPr>
            <a:r>
              <a:rPr lang="en-US" sz="2000" dirty="0"/>
              <a:t>[11] W. Masson, P. </a:t>
            </a:r>
            <a:r>
              <a:rPr lang="en-US" sz="2000" dirty="0" err="1"/>
              <a:t>Ranchod</a:t>
            </a:r>
            <a:r>
              <a:rPr lang="en-US" sz="2000" dirty="0"/>
              <a:t>, and G. </a:t>
            </a:r>
            <a:r>
              <a:rPr lang="en-US" sz="2000" dirty="0" err="1"/>
              <a:t>Konidaris</a:t>
            </a:r>
            <a:r>
              <a:rPr lang="en-US" sz="2000" dirty="0"/>
              <a:t>, “Reinforcement learning with parameterized actions,” 2015. </a:t>
            </a:r>
          </a:p>
          <a:p>
            <a:pPr marL="0" indent="0">
              <a:buNone/>
            </a:pPr>
            <a:r>
              <a:rPr lang="en-US" sz="2000" dirty="0"/>
              <a:t>[12] </a:t>
            </a:r>
            <a:r>
              <a:rPr lang="en-US" sz="2000" dirty="0" err="1"/>
              <a:t>Motlagh</a:t>
            </a:r>
            <a:r>
              <a:rPr lang="en-US" sz="2000" dirty="0"/>
              <a:t>, Farzad and </a:t>
            </a:r>
            <a:r>
              <a:rPr lang="en-US" sz="2000" dirty="0" err="1"/>
              <a:t>Hajizadeh</a:t>
            </a:r>
            <a:r>
              <a:rPr lang="en-US" sz="2000" dirty="0"/>
              <a:t>, Mehrdad and </a:t>
            </a:r>
            <a:r>
              <a:rPr lang="en-US" sz="2000" dirty="0" err="1"/>
              <a:t>Majd</a:t>
            </a:r>
            <a:r>
              <a:rPr lang="en-US" sz="2000" dirty="0"/>
              <a:t>, </a:t>
            </a:r>
            <a:r>
              <a:rPr lang="en-US" sz="2000" dirty="0" err="1"/>
              <a:t>Mehryar</a:t>
            </a:r>
            <a:r>
              <a:rPr lang="en-US" sz="2000" dirty="0"/>
              <a:t> and Najafi, </a:t>
            </a:r>
            <a:r>
              <a:rPr lang="en-US" sz="2000" dirty="0" err="1"/>
              <a:t>Pejman</a:t>
            </a:r>
            <a:r>
              <a:rPr lang="en-US" sz="2000" dirty="0"/>
              <a:t> and Cheng, Feng and </a:t>
            </a:r>
            <a:r>
              <a:rPr lang="en-US" sz="2000" dirty="0" err="1"/>
              <a:t>Meinel</a:t>
            </a:r>
            <a:r>
              <a:rPr lang="en-US" sz="2000" dirty="0"/>
              <a:t>, Christoph, “Large Language Models in Cybersecurity: State-of-the-Art,” 2024. [Online]. Available: https://arxiv.org/abs/2402.00891 </a:t>
            </a:r>
            <a:endParaRPr lang="en-US" sz="2800" dirty="0"/>
          </a:p>
        </p:txBody>
      </p:sp>
      <p:sp>
        <p:nvSpPr>
          <p:cNvPr id="3" name="Slide Number Placeholder 3">
            <a:extLst>
              <a:ext uri="{FF2B5EF4-FFF2-40B4-BE49-F238E27FC236}">
                <a16:creationId xmlns:a16="http://schemas.microsoft.com/office/drawing/2014/main" id="{FE9D020C-C5AA-777E-1CE5-A09E19026C7C}"/>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48</a:t>
            </a:fld>
            <a:endParaRPr lang="en-US" dirty="0"/>
          </a:p>
        </p:txBody>
      </p:sp>
    </p:spTree>
    <p:extLst>
      <p:ext uri="{BB962C8B-B14F-4D97-AF65-F5344CB8AC3E}">
        <p14:creationId xmlns:p14="http://schemas.microsoft.com/office/powerpoint/2010/main" val="1494111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49</a:t>
            </a:fld>
            <a:endParaRPr lang="en-US" dirty="0"/>
          </a:p>
        </p:txBody>
      </p:sp>
      <p:sp>
        <p:nvSpPr>
          <p:cNvPr id="17" name="Title 1">
            <a:extLst>
              <a:ext uri="{FF2B5EF4-FFF2-40B4-BE49-F238E27FC236}">
                <a16:creationId xmlns:a16="http://schemas.microsoft.com/office/drawing/2014/main" id="{323020C3-876A-44D9-9703-013004C64254}"/>
              </a:ext>
            </a:extLst>
          </p:cNvPr>
          <p:cNvSpPr txBox="1">
            <a:spLocks/>
          </p:cNvSpPr>
          <p:nvPr/>
        </p:nvSpPr>
        <p:spPr>
          <a:xfrm>
            <a:off x="129490" y="-26608"/>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sz="3200" u="sng" dirty="0"/>
              <a:t>Problem</a:t>
            </a:r>
            <a:endParaRPr lang="en-US" sz="6000" dirty="0"/>
          </a:p>
        </p:txBody>
      </p:sp>
      <p:pic>
        <p:nvPicPr>
          <p:cNvPr id="4" name="Picture 3">
            <a:extLst>
              <a:ext uri="{FF2B5EF4-FFF2-40B4-BE49-F238E27FC236}">
                <a16:creationId xmlns:a16="http://schemas.microsoft.com/office/drawing/2014/main" id="{4EA47F97-6760-446F-8FB6-DCE5D1C9C5D6}"/>
              </a:ext>
            </a:extLst>
          </p:cNvPr>
          <p:cNvPicPr>
            <a:picLocks noChangeAspect="1"/>
          </p:cNvPicPr>
          <p:nvPr/>
        </p:nvPicPr>
        <p:blipFill>
          <a:blip r:embed="rId3"/>
          <a:stretch>
            <a:fillRect/>
          </a:stretch>
        </p:blipFill>
        <p:spPr>
          <a:xfrm>
            <a:off x="234577" y="626770"/>
            <a:ext cx="11827933" cy="3369260"/>
          </a:xfrm>
          <a:prstGeom prst="rect">
            <a:avLst/>
          </a:prstGeom>
        </p:spPr>
      </p:pic>
      <p:sp>
        <p:nvSpPr>
          <p:cNvPr id="12" name="Title 1">
            <a:extLst>
              <a:ext uri="{FF2B5EF4-FFF2-40B4-BE49-F238E27FC236}">
                <a16:creationId xmlns:a16="http://schemas.microsoft.com/office/drawing/2014/main" id="{CE21BFAB-47F4-49AF-8628-F98AC740E1F6}"/>
              </a:ext>
            </a:extLst>
          </p:cNvPr>
          <p:cNvSpPr txBox="1">
            <a:spLocks/>
          </p:cNvSpPr>
          <p:nvPr/>
        </p:nvSpPr>
        <p:spPr>
          <a:xfrm>
            <a:off x="234577" y="3882644"/>
            <a:ext cx="11277600" cy="766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r>
              <a:rPr lang="en-US" sz="3200" u="sng" dirty="0"/>
              <a:t>Next Experiment </a:t>
            </a:r>
            <a:endParaRPr lang="en-US" sz="6000" dirty="0"/>
          </a:p>
        </p:txBody>
      </p:sp>
      <p:sp>
        <p:nvSpPr>
          <p:cNvPr id="15" name="Title 1">
            <a:extLst>
              <a:ext uri="{FF2B5EF4-FFF2-40B4-BE49-F238E27FC236}">
                <a16:creationId xmlns:a16="http://schemas.microsoft.com/office/drawing/2014/main" id="{52127523-435D-493D-991F-26F6F592C47B}"/>
              </a:ext>
            </a:extLst>
          </p:cNvPr>
          <p:cNvSpPr txBox="1">
            <a:spLocks/>
          </p:cNvSpPr>
          <p:nvPr/>
        </p:nvSpPr>
        <p:spPr>
          <a:xfrm>
            <a:off x="234577" y="5201589"/>
            <a:ext cx="11277600" cy="36512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000" kern="1200">
                <a:solidFill>
                  <a:schemeClr val="tx1"/>
                </a:solidFill>
                <a:latin typeface="Times New Roman" panose="02020603050405020304" pitchFamily="18" charset="0"/>
                <a:ea typeface="+mj-ea"/>
                <a:cs typeface="Times New Roman" panose="02020603050405020304" pitchFamily="18" charset="0"/>
              </a:defRPr>
            </a:lvl1pPr>
          </a:lstStyle>
          <a:p>
            <a:pPr marL="285750" indent="-285750">
              <a:buFont typeface="Arial" panose="020B0604020202020204" pitchFamily="34" charset="0"/>
              <a:buChar char="•"/>
            </a:pPr>
            <a:r>
              <a:rPr lang="en-US" sz="2400" dirty="0"/>
              <a:t>Generate quality logs for detector to learn – Maybe from Testbed by executing technique using ATOMIC RED TEAM. </a:t>
            </a:r>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6724795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E73B-AF1B-6D22-D296-BCF8144E0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F8166-1DBF-A536-6892-CE32138A2BC2}"/>
              </a:ext>
            </a:extLst>
          </p:cNvPr>
          <p:cNvSpPr>
            <a:spLocks noGrp="1"/>
          </p:cNvSpPr>
          <p:nvPr>
            <p:ph type="title"/>
          </p:nvPr>
        </p:nvSpPr>
        <p:spPr>
          <a:xfrm>
            <a:off x="174812" y="148809"/>
            <a:ext cx="11277600" cy="1325563"/>
          </a:xfrm>
        </p:spPr>
        <p:txBody>
          <a:bodyPr>
            <a:normAutofit fontScale="90000"/>
          </a:bodyPr>
          <a:lstStyle/>
          <a:p>
            <a:r>
              <a:rPr lang="en-US" dirty="0"/>
              <a:t>Evaluation : </a:t>
            </a:r>
            <a:r>
              <a:rPr lang="en-US" sz="3600" dirty="0">
                <a:latin typeface="Times New Roman"/>
                <a:cs typeface="Times New Roman"/>
              </a:rPr>
              <a:t>Multi-Generation</a:t>
            </a:r>
            <a:r>
              <a:rPr lang="en-US" sz="3600" spc="79" dirty="0">
                <a:latin typeface="Times New Roman"/>
                <a:cs typeface="Times New Roman"/>
              </a:rPr>
              <a:t> </a:t>
            </a:r>
            <a:r>
              <a:rPr lang="en-US" sz="3600" spc="-9" dirty="0">
                <a:latin typeface="Times New Roman"/>
                <a:cs typeface="Times New Roman"/>
              </a:rPr>
              <a:t>Evolution</a:t>
            </a:r>
            <a:br>
              <a:rPr lang="en-US" sz="3600" spc="-9" dirty="0">
                <a:latin typeface="Times New Roman"/>
                <a:cs typeface="Times New Roman"/>
              </a:rPr>
            </a:br>
            <a:br>
              <a:rPr lang="en-US" dirty="0">
                <a:latin typeface="Times New Roman"/>
                <a:cs typeface="Times New Roman"/>
              </a:rPr>
            </a:br>
            <a:r>
              <a:rPr lang="en-US" dirty="0"/>
              <a:t> </a:t>
            </a:r>
            <a:endParaRPr lang="en-US"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F44138A4-181C-5B50-69D0-5D314BCBE8AB}"/>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50</a:t>
            </a:fld>
            <a:endParaRPr lang="en-US" dirty="0"/>
          </a:p>
        </p:txBody>
      </p:sp>
      <p:pic>
        <p:nvPicPr>
          <p:cNvPr id="5" name="Picture 4">
            <a:extLst>
              <a:ext uri="{FF2B5EF4-FFF2-40B4-BE49-F238E27FC236}">
                <a16:creationId xmlns:a16="http://schemas.microsoft.com/office/drawing/2014/main" id="{9ACF06EB-6B6A-49E0-9C40-A2C0CB16D653}"/>
              </a:ext>
            </a:extLst>
          </p:cNvPr>
          <p:cNvPicPr>
            <a:picLocks noChangeAspect="1"/>
          </p:cNvPicPr>
          <p:nvPr/>
        </p:nvPicPr>
        <p:blipFill>
          <a:blip r:embed="rId3"/>
          <a:stretch>
            <a:fillRect/>
          </a:stretch>
        </p:blipFill>
        <p:spPr>
          <a:xfrm>
            <a:off x="739588" y="1015495"/>
            <a:ext cx="4635944" cy="2915833"/>
          </a:xfrm>
          <a:prstGeom prst="rect">
            <a:avLst/>
          </a:prstGeom>
        </p:spPr>
      </p:pic>
      <p:pic>
        <p:nvPicPr>
          <p:cNvPr id="13" name="Picture 12">
            <a:extLst>
              <a:ext uri="{FF2B5EF4-FFF2-40B4-BE49-F238E27FC236}">
                <a16:creationId xmlns:a16="http://schemas.microsoft.com/office/drawing/2014/main" id="{EAB3375A-433D-4E7A-AFA9-8B4280DE9F8E}"/>
              </a:ext>
            </a:extLst>
          </p:cNvPr>
          <p:cNvPicPr>
            <a:picLocks noChangeAspect="1"/>
          </p:cNvPicPr>
          <p:nvPr/>
        </p:nvPicPr>
        <p:blipFill>
          <a:blip r:embed="rId4"/>
          <a:stretch>
            <a:fillRect/>
          </a:stretch>
        </p:blipFill>
        <p:spPr>
          <a:xfrm>
            <a:off x="5990219" y="1111149"/>
            <a:ext cx="4445801" cy="2865994"/>
          </a:xfrm>
          <a:prstGeom prst="rect">
            <a:avLst/>
          </a:prstGeom>
        </p:spPr>
      </p:pic>
      <p:graphicFrame>
        <p:nvGraphicFramePr>
          <p:cNvPr id="14" name="Table 13">
            <a:extLst>
              <a:ext uri="{FF2B5EF4-FFF2-40B4-BE49-F238E27FC236}">
                <a16:creationId xmlns:a16="http://schemas.microsoft.com/office/drawing/2014/main" id="{6FF15CE9-F0EA-4E85-A874-B9AAF47113E6}"/>
              </a:ext>
            </a:extLst>
          </p:cNvPr>
          <p:cNvGraphicFramePr>
            <a:graphicFrameLocks noGrp="1"/>
          </p:cNvGraphicFramePr>
          <p:nvPr>
            <p:extLst>
              <p:ext uri="{D42A27DB-BD31-4B8C-83A1-F6EECF244321}">
                <p14:modId xmlns:p14="http://schemas.microsoft.com/office/powerpoint/2010/main" val="3494461300"/>
              </p:ext>
            </p:extLst>
          </p:nvPr>
        </p:nvGraphicFramePr>
        <p:xfrm>
          <a:off x="372639" y="3931328"/>
          <a:ext cx="11235161" cy="2412738"/>
        </p:xfrm>
        <a:graphic>
          <a:graphicData uri="http://schemas.openxmlformats.org/drawingml/2006/table">
            <a:tbl>
              <a:tblPr>
                <a:tableStyleId>{5940675A-B579-460E-94D1-54222C63F5DA}</a:tableStyleId>
              </a:tblPr>
              <a:tblGrid>
                <a:gridCol w="4469152">
                  <a:extLst>
                    <a:ext uri="{9D8B030D-6E8A-4147-A177-3AD203B41FA5}">
                      <a16:colId xmlns:a16="http://schemas.microsoft.com/office/drawing/2014/main" val="2417731484"/>
                    </a:ext>
                  </a:extLst>
                </a:gridCol>
                <a:gridCol w="3424923">
                  <a:extLst>
                    <a:ext uri="{9D8B030D-6E8A-4147-A177-3AD203B41FA5}">
                      <a16:colId xmlns:a16="http://schemas.microsoft.com/office/drawing/2014/main" val="457558537"/>
                    </a:ext>
                  </a:extLst>
                </a:gridCol>
                <a:gridCol w="3341086">
                  <a:extLst>
                    <a:ext uri="{9D8B030D-6E8A-4147-A177-3AD203B41FA5}">
                      <a16:colId xmlns:a16="http://schemas.microsoft.com/office/drawing/2014/main" val="1781997313"/>
                    </a:ext>
                  </a:extLst>
                </a:gridCol>
              </a:tblGrid>
              <a:tr h="288753">
                <a:tc>
                  <a:txBody>
                    <a:bodyPr/>
                    <a:lstStyle/>
                    <a:p>
                      <a:pPr algn="ctr"/>
                      <a:r>
                        <a:rPr lang="en-US" sz="1400" b="1" dirty="0">
                          <a:solidFill>
                            <a:srgbClr val="3D3D3A"/>
                          </a:solidFill>
                          <a:effectLst/>
                        </a:rPr>
                        <a:t>Observation</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3D3D3A"/>
                          </a:solidFill>
                          <a:effectLst/>
                        </a:rPr>
                        <a:t>Why</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solidFill>
                            <a:srgbClr val="3D3D3A"/>
                          </a:solidFill>
                          <a:effectLst/>
                        </a:rPr>
                        <a:t>Implication</a:t>
                      </a:r>
                    </a:p>
                  </a:txBody>
                  <a:tcPr marL="80321" marR="80321" marT="48193" marB="481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3425426"/>
                  </a:ext>
                </a:extLst>
              </a:tr>
              <a:tr h="1029058">
                <a:tc>
                  <a:txBody>
                    <a:bodyPr/>
                    <a:lstStyle/>
                    <a:p>
                      <a:pPr marL="285750" indent="-285750" fontAlgn="t">
                        <a:buFont typeface="Arial" panose="020B0604020202020204" pitchFamily="34" charset="0"/>
                        <a:buChar char="•"/>
                      </a:pPr>
                      <a:r>
                        <a:rPr lang="en-US" sz="1400" dirty="0">
                          <a:solidFill>
                            <a:srgbClr val="1A4F82"/>
                          </a:solidFill>
                          <a:effectLst/>
                        </a:rPr>
                        <a:t>ACE_RF</a:t>
                      </a:r>
                      <a:r>
                        <a:rPr lang="en-US" sz="1400" dirty="0">
                          <a:solidFill>
                            <a:srgbClr val="141413"/>
                          </a:solidFill>
                          <a:effectLst/>
                        </a:rPr>
                        <a:t> Blue: 88.8% </a:t>
                      </a:r>
                      <a:r>
                        <a:rPr lang="en-US" sz="1400" dirty="0">
                          <a:solidFill>
                            <a:srgbClr val="3D3D3A"/>
                          </a:solidFill>
                          <a:effectLst/>
                        </a:rPr>
                        <a:t>→</a:t>
                      </a:r>
                      <a:r>
                        <a:rPr lang="en-US" sz="1400" dirty="0">
                          <a:solidFill>
                            <a:srgbClr val="141413"/>
                          </a:solidFill>
                          <a:effectLst/>
                        </a:rPr>
                        <a:t> </a:t>
                      </a:r>
                      <a:r>
                        <a:rPr lang="en-US" sz="1400" b="0" dirty="0">
                          <a:solidFill>
                            <a:srgbClr val="1A7A4A"/>
                          </a:solidFill>
                          <a:effectLst/>
                        </a:rPr>
                        <a:t>95.1%</a:t>
                      </a:r>
                      <a:r>
                        <a:rPr lang="en-US" sz="1400" dirty="0">
                          <a:solidFill>
                            <a:srgbClr val="141413"/>
                          </a:solidFill>
                          <a:effectLst/>
                        </a:rPr>
                        <a:t> </a:t>
                      </a:r>
                      <a:r>
                        <a:rPr lang="en-US" sz="1400" b="0" dirty="0">
                          <a:solidFill>
                            <a:srgbClr val="1A7A4A"/>
                          </a:solidFill>
                          <a:effectLst/>
                        </a:rPr>
                        <a:t>(+6.3pp)</a:t>
                      </a:r>
                      <a:endParaRPr lang="en-US" sz="1400" b="0" dirty="0">
                        <a:solidFill>
                          <a:srgbClr val="141413"/>
                        </a:solidFill>
                        <a:effectLst/>
                      </a:endParaRPr>
                    </a:p>
                    <a:p>
                      <a:pPr marL="285750" indent="-285750" fontAlgn="t">
                        <a:buFont typeface="Arial" panose="020B0604020202020204" pitchFamily="34" charset="0"/>
                        <a:buChar char="•"/>
                      </a:pPr>
                      <a:r>
                        <a:rPr lang="en-US" sz="1400" dirty="0">
                          <a:solidFill>
                            <a:srgbClr val="8A5010"/>
                          </a:solidFill>
                          <a:effectLst/>
                        </a:rPr>
                        <a:t>ACE_BF</a:t>
                      </a:r>
                      <a:r>
                        <a:rPr lang="en-US" sz="1400" dirty="0">
                          <a:solidFill>
                            <a:srgbClr val="141413"/>
                          </a:solidFill>
                          <a:effectLst/>
                        </a:rPr>
                        <a:t> Blue: 94.7% </a:t>
                      </a:r>
                      <a:r>
                        <a:rPr lang="en-US" sz="1400" dirty="0">
                          <a:solidFill>
                            <a:srgbClr val="3D3D3A"/>
                          </a:solidFill>
                          <a:effectLst/>
                        </a:rPr>
                        <a:t>→</a:t>
                      </a:r>
                      <a:r>
                        <a:rPr lang="en-US" sz="1400" dirty="0">
                          <a:solidFill>
                            <a:srgbClr val="141413"/>
                          </a:solidFill>
                          <a:effectLst/>
                        </a:rPr>
                        <a:t> </a:t>
                      </a:r>
                      <a:r>
                        <a:rPr lang="en-US" sz="1400" b="0" dirty="0">
                          <a:solidFill>
                            <a:srgbClr val="C47A1A"/>
                          </a:solidFill>
                          <a:effectLst/>
                        </a:rPr>
                        <a:t>93.8%</a:t>
                      </a:r>
                      <a:r>
                        <a:rPr lang="en-US" sz="1400" dirty="0">
                          <a:solidFill>
                            <a:srgbClr val="141413"/>
                          </a:solidFill>
                          <a:effectLst/>
                        </a:rPr>
                        <a:t> </a:t>
                      </a:r>
                      <a:r>
                        <a:rPr lang="en-US" sz="1400" b="0" dirty="0">
                          <a:solidFill>
                            <a:srgbClr val="C47A1A"/>
                          </a:solidFill>
                          <a:effectLst/>
                        </a:rPr>
                        <a:t>(+0.9pp)</a:t>
                      </a:r>
                      <a:br>
                        <a:rPr lang="en-US" sz="1400" dirty="0">
                          <a:solidFill>
                            <a:srgbClr val="141413"/>
                          </a:solidFill>
                          <a:effectLst/>
                        </a:rPr>
                      </a:br>
                      <a:br>
                        <a:rPr lang="en-US" sz="1400" dirty="0">
                          <a:solidFill>
                            <a:srgbClr val="141413"/>
                          </a:solidFill>
                          <a:effectLst/>
                        </a:rPr>
                      </a:br>
                      <a:endParaRPr lang="en-US" sz="14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fontAlgn="t">
                        <a:buFont typeface="Arial" panose="020B0604020202020204" pitchFamily="34" charset="0"/>
                        <a:buChar char="•"/>
                      </a:pPr>
                      <a:r>
                        <a:rPr lang="en-US" sz="1200" dirty="0">
                          <a:solidFill>
                            <a:srgbClr val="141413"/>
                          </a:solidFill>
                          <a:effectLst/>
                        </a:rPr>
                        <a:t>ACE_RF Blue trains after Red inherits a harder opponent each generation </a:t>
                      </a:r>
                      <a:r>
                        <a:rPr lang="en-US" sz="1200" dirty="0">
                          <a:solidFill>
                            <a:srgbClr val="3D3D3A"/>
                          </a:solidFill>
                          <a:effectLst/>
                        </a:rPr>
                        <a:t>→</a:t>
                      </a:r>
                      <a:r>
                        <a:rPr lang="en-US" sz="1200" dirty="0">
                          <a:solidFill>
                            <a:srgbClr val="141413"/>
                          </a:solidFill>
                          <a:effectLst/>
                        </a:rPr>
                        <a:t> forced adaptation</a:t>
                      </a:r>
                    </a:p>
                    <a:p>
                      <a:pPr marL="171450" indent="-171450" fontAlgn="t">
                        <a:buFont typeface="Arial" panose="020B0604020202020204" pitchFamily="34" charset="0"/>
                        <a:buChar char="•"/>
                      </a:pPr>
                      <a:r>
                        <a:rPr lang="en-US" sz="1200" dirty="0">
                          <a:solidFill>
                            <a:srgbClr val="141413"/>
                          </a:solidFill>
                          <a:effectLst/>
                        </a:rPr>
                        <a:t>ACE_BF Blue starts strong vs weak Red </a:t>
                      </a:r>
                      <a:r>
                        <a:rPr lang="en-US" sz="1200" dirty="0">
                          <a:solidFill>
                            <a:srgbClr val="3D3D3A"/>
                          </a:solidFill>
                          <a:effectLst/>
                        </a:rPr>
                        <a:t>→</a:t>
                      </a:r>
                      <a:r>
                        <a:rPr lang="en-US" sz="1200" dirty="0">
                          <a:solidFill>
                            <a:srgbClr val="141413"/>
                          </a:solidFill>
                          <a:effectLst/>
                        </a:rPr>
                        <a:t> pressure insufficient for further growth</a:t>
                      </a:r>
                      <a:br>
                        <a:rPr lang="en-US" sz="1600" dirty="0">
                          <a:solidFill>
                            <a:srgbClr val="141413"/>
                          </a:solidFill>
                          <a:effectLst/>
                        </a:rPr>
                      </a:br>
                      <a:endParaRPr lang="en-US" sz="16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fontAlgn="t">
                        <a:buFont typeface="Arial" panose="020B0604020202020204" pitchFamily="34" charset="0"/>
                        <a:buChar char="•"/>
                      </a:pPr>
                      <a:r>
                        <a:rPr lang="en-US" sz="1400" dirty="0">
                          <a:solidFill>
                            <a:srgbClr val="141413"/>
                          </a:solidFill>
                          <a:effectLst/>
                        </a:rPr>
                        <a:t>Adversarial pressure, not early advantage, drives long-term improvement</a:t>
                      </a:r>
                    </a:p>
                    <a:p>
                      <a:pPr marL="171450" indent="-171450" fontAlgn="t">
                        <a:buFont typeface="Arial" panose="020B0604020202020204" pitchFamily="34" charset="0"/>
                        <a:buChar char="•"/>
                      </a:pPr>
                      <a:r>
                        <a:rPr lang="en-US" sz="1400" dirty="0">
                          <a:solidFill>
                            <a:srgbClr val="141413"/>
                          </a:solidFill>
                          <a:effectLst/>
                        </a:rPr>
                        <a:t>Slow start</a:t>
                      </a:r>
                    </a:p>
                    <a:p>
                      <a:pPr marL="0" indent="0" fontAlgn="t">
                        <a:buFont typeface="Arial" panose="020B0604020202020204" pitchFamily="34" charset="0"/>
                        <a:buNone/>
                      </a:pPr>
                      <a:r>
                        <a:rPr lang="en-US" sz="1200" dirty="0">
                          <a:solidFill>
                            <a:srgbClr val="141413"/>
                          </a:solidFill>
                          <a:effectLst/>
                        </a:rPr>
                        <a:t>(ACE_RF) </a:t>
                      </a:r>
                      <a:r>
                        <a:rPr lang="en-US" sz="1400" dirty="0">
                          <a:solidFill>
                            <a:srgbClr val="3D3D3A"/>
                          </a:solidFill>
                          <a:effectLst/>
                        </a:rPr>
                        <a:t>→</a:t>
                      </a:r>
                      <a:r>
                        <a:rPr lang="en-US" sz="1400" dirty="0">
                          <a:solidFill>
                            <a:srgbClr val="141413"/>
                          </a:solidFill>
                          <a:effectLst/>
                        </a:rPr>
                        <a:t> superior trajectory</a:t>
                      </a:r>
                      <a:endParaRPr lang="en-US" sz="1600" dirty="0">
                        <a:solidFill>
                          <a:srgbClr val="141413"/>
                        </a:solidFill>
                        <a:effectLst/>
                      </a:endParaRPr>
                    </a:p>
                  </a:txBody>
                  <a:tcPr marL="80321" marR="80321" marT="64257" marB="642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461607"/>
                  </a:ext>
                </a:extLst>
              </a:tr>
              <a:tr h="999118">
                <a:tc>
                  <a:txBody>
                    <a:bodyPr/>
                    <a:lstStyle/>
                    <a:p>
                      <a:pPr marL="285750" indent="-285750" fontAlgn="t">
                        <a:buFont typeface="Arial" panose="020B0604020202020204" pitchFamily="34" charset="0"/>
                        <a:buChar char="•"/>
                      </a:pPr>
                      <a:r>
                        <a:rPr lang="en-US" sz="1400" dirty="0">
                          <a:solidFill>
                            <a:srgbClr val="1A4F82"/>
                          </a:solidFill>
                          <a:effectLst/>
                          <a:latin typeface="DM Mono"/>
                        </a:rPr>
                        <a:t>ACE_RF</a:t>
                      </a:r>
                      <a:r>
                        <a:rPr lang="en-US" sz="1400" dirty="0">
                          <a:solidFill>
                            <a:srgbClr val="141413"/>
                          </a:solidFill>
                          <a:effectLst/>
                        </a:rPr>
                        <a:t> Red: </a:t>
                      </a:r>
                      <a:r>
                        <a:rPr lang="en-US" sz="1400" dirty="0">
                          <a:solidFill>
                            <a:srgbClr val="141413"/>
                          </a:solidFill>
                          <a:effectLst/>
                          <a:latin typeface="DM Mono"/>
                        </a:rPr>
                        <a:t>2.5%</a:t>
                      </a:r>
                      <a:r>
                        <a:rPr lang="en-US" sz="1400" dirty="0">
                          <a:solidFill>
                            <a:srgbClr val="141413"/>
                          </a:solidFill>
                          <a:effectLst/>
                        </a:rPr>
                        <a:t> </a:t>
                      </a:r>
                      <a:r>
                        <a:rPr lang="en-US" sz="1400" dirty="0">
                          <a:solidFill>
                            <a:srgbClr val="3D3D3A"/>
                          </a:solidFill>
                          <a:effectLst/>
                        </a:rPr>
                        <a:t>→</a:t>
                      </a:r>
                      <a:r>
                        <a:rPr lang="en-US" sz="1400" dirty="0">
                          <a:solidFill>
                            <a:srgbClr val="141413"/>
                          </a:solidFill>
                          <a:effectLst/>
                        </a:rPr>
                        <a:t> </a:t>
                      </a:r>
                      <a:r>
                        <a:rPr lang="en-US" sz="1400" b="0" dirty="0">
                          <a:solidFill>
                            <a:srgbClr val="C0392B"/>
                          </a:solidFill>
                          <a:effectLst/>
                          <a:latin typeface="DM Mono"/>
                        </a:rPr>
                        <a:t>1.6%</a:t>
                      </a:r>
                      <a:r>
                        <a:rPr lang="en-US" sz="1400" dirty="0">
                          <a:solidFill>
                            <a:srgbClr val="141413"/>
                          </a:solidFill>
                          <a:effectLst/>
                        </a:rPr>
                        <a:t> by Gen5 </a:t>
                      </a:r>
                      <a:r>
                        <a:rPr lang="en-US" sz="1400" b="0" dirty="0">
                          <a:solidFill>
                            <a:srgbClr val="C0392B"/>
                          </a:solidFill>
                          <a:effectLst/>
                        </a:rPr>
                        <a:t>(−0.9pp)</a:t>
                      </a:r>
                      <a:endParaRPr lang="en-US" sz="1400" b="0" dirty="0">
                        <a:solidFill>
                          <a:srgbClr val="141413"/>
                        </a:solidFill>
                        <a:effectLst/>
                      </a:endParaRPr>
                    </a:p>
                    <a:p>
                      <a:pPr marL="285750" indent="-285750" fontAlgn="t">
                        <a:buFont typeface="Arial" panose="020B0604020202020204" pitchFamily="34" charset="0"/>
                        <a:buChar char="•"/>
                      </a:pPr>
                      <a:r>
                        <a:rPr lang="en-US" sz="1400" dirty="0">
                          <a:solidFill>
                            <a:srgbClr val="8A5010"/>
                          </a:solidFill>
                          <a:effectLst/>
                          <a:latin typeface="DM Mono"/>
                        </a:rPr>
                        <a:t>ACE_BF</a:t>
                      </a:r>
                      <a:r>
                        <a:rPr lang="en-US" sz="1400" dirty="0">
                          <a:solidFill>
                            <a:srgbClr val="141413"/>
                          </a:solidFill>
                          <a:effectLst/>
                        </a:rPr>
                        <a:t> Red: </a:t>
                      </a:r>
                      <a:r>
                        <a:rPr lang="en-US" sz="1400" dirty="0">
                          <a:solidFill>
                            <a:srgbClr val="141413"/>
                          </a:solidFill>
                          <a:effectLst/>
                          <a:latin typeface="DM Mono"/>
                        </a:rPr>
                        <a:t>1.1%</a:t>
                      </a:r>
                      <a:r>
                        <a:rPr lang="en-US" sz="1400" dirty="0">
                          <a:solidFill>
                            <a:srgbClr val="141413"/>
                          </a:solidFill>
                          <a:effectLst/>
                        </a:rPr>
                        <a:t> </a:t>
                      </a:r>
                      <a:r>
                        <a:rPr lang="en-US" sz="1400" dirty="0">
                          <a:solidFill>
                            <a:srgbClr val="3D3D3A"/>
                          </a:solidFill>
                          <a:effectLst/>
                        </a:rPr>
                        <a:t>→</a:t>
                      </a:r>
                      <a:r>
                        <a:rPr lang="en-US" sz="1400" dirty="0">
                          <a:solidFill>
                            <a:srgbClr val="141413"/>
                          </a:solidFill>
                          <a:effectLst/>
                        </a:rPr>
                        <a:t> </a:t>
                      </a:r>
                      <a:r>
                        <a:rPr lang="en-US" sz="1400" b="0" dirty="0">
                          <a:solidFill>
                            <a:srgbClr val="C47A1A"/>
                          </a:solidFill>
                          <a:effectLst/>
                          <a:latin typeface="DM Mono"/>
                        </a:rPr>
                        <a:t>1.6%</a:t>
                      </a:r>
                      <a:r>
                        <a:rPr lang="en-US" sz="1400" dirty="0">
                          <a:solidFill>
                            <a:srgbClr val="141413"/>
                          </a:solidFill>
                          <a:effectLst/>
                        </a:rPr>
                        <a:t> </a:t>
                      </a:r>
                      <a:r>
                        <a:rPr lang="en-US" sz="1400" b="0" dirty="0">
                          <a:solidFill>
                            <a:srgbClr val="C47A1A"/>
                          </a:solidFill>
                          <a:effectLst/>
                        </a:rPr>
                        <a:t>(fluctuates)</a:t>
                      </a:r>
                      <a:endParaRPr lang="en-US" sz="1400" dirty="0">
                        <a:solidFill>
                          <a:srgbClr val="141413"/>
                        </a:solidFill>
                        <a:effectLst/>
                      </a:endParaRP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400" dirty="0">
                          <a:solidFill>
                            <a:srgbClr val="141413"/>
                          </a:solidFill>
                          <a:effectLst/>
                        </a:rPr>
                        <a:t>ACE_RF Red starts high (trains first vs weak Blue) but Blue catches up and </a:t>
                      </a:r>
                      <a:r>
                        <a:rPr lang="en-US" sz="1400" b="0" dirty="0">
                          <a:solidFill>
                            <a:srgbClr val="1A7A4A"/>
                          </a:solidFill>
                          <a:effectLst/>
                        </a:rPr>
                        <a:t>suppresses</a:t>
                      </a:r>
                      <a:r>
                        <a:rPr lang="en-US" sz="1400" dirty="0">
                          <a:solidFill>
                            <a:srgbClr val="141413"/>
                          </a:solidFill>
                          <a:effectLst/>
                        </a:rPr>
                        <a:t> it genuine arms race</a:t>
                      </a: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fontAlgn="t"/>
                      <a:r>
                        <a:rPr lang="en-US" sz="1400" dirty="0">
                          <a:solidFill>
                            <a:srgbClr val="141413"/>
                          </a:solidFill>
                          <a:effectLst/>
                        </a:rPr>
                        <a:t>Declining Red success = Blue is </a:t>
                      </a:r>
                      <a:r>
                        <a:rPr lang="en-US" sz="1400" b="0" dirty="0">
                          <a:solidFill>
                            <a:srgbClr val="1A7A4A"/>
                          </a:solidFill>
                          <a:effectLst/>
                        </a:rPr>
                        <a:t>genuinely improving</a:t>
                      </a:r>
                      <a:r>
                        <a:rPr lang="en-US" sz="1400" dirty="0">
                          <a:solidFill>
                            <a:srgbClr val="141413"/>
                          </a:solidFill>
                          <a:effectLst/>
                        </a:rPr>
                        <a:t>, not just facing weaker attackers</a:t>
                      </a:r>
                    </a:p>
                  </a:txBody>
                  <a:tcPr marL="95250" marR="95250" marT="76200" marB="76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5830430"/>
                  </a:ext>
                </a:extLst>
              </a:tr>
            </a:tbl>
          </a:graphicData>
        </a:graphic>
      </p:graphicFrame>
      <p:sp>
        <p:nvSpPr>
          <p:cNvPr id="16" name="TextBox 15">
            <a:extLst>
              <a:ext uri="{FF2B5EF4-FFF2-40B4-BE49-F238E27FC236}">
                <a16:creationId xmlns:a16="http://schemas.microsoft.com/office/drawing/2014/main" id="{6DF004B7-F65C-4E99-A750-3F94DEC02E42}"/>
              </a:ext>
            </a:extLst>
          </p:cNvPr>
          <p:cNvSpPr txBox="1"/>
          <p:nvPr/>
        </p:nvSpPr>
        <p:spPr>
          <a:xfrm>
            <a:off x="330201" y="6370637"/>
            <a:ext cx="11277599" cy="338554"/>
          </a:xfrm>
          <a:prstGeom prst="rect">
            <a:avLst/>
          </a:prstGeom>
          <a:noFill/>
        </p:spPr>
        <p:txBody>
          <a:bodyPr wrap="square">
            <a:spAutoFit/>
          </a:bodyPr>
          <a:lstStyle/>
          <a:p>
            <a:pPr marL="285750" indent="-285750">
              <a:buFont typeface="Arial" panose="020B0604020202020204" pitchFamily="34" charset="0"/>
              <a:buChar char="•"/>
            </a:pPr>
            <a:r>
              <a:rPr lang="en-US" sz="1600" b="0" i="0" dirty="0">
                <a:solidFill>
                  <a:srgbClr val="141413"/>
                </a:solidFill>
                <a:effectLst/>
                <a:latin typeface="DM Sans"/>
              </a:rPr>
              <a:t>ACE_RF produces the strongest, most consistent generational growth. Meaningful pressure &gt; early performance.</a:t>
            </a:r>
            <a:endParaRPr lang="en-US" sz="1600" dirty="0"/>
          </a:p>
        </p:txBody>
      </p:sp>
      <p:sp>
        <p:nvSpPr>
          <p:cNvPr id="20" name="TextBox 19">
            <a:extLst>
              <a:ext uri="{FF2B5EF4-FFF2-40B4-BE49-F238E27FC236}">
                <a16:creationId xmlns:a16="http://schemas.microsoft.com/office/drawing/2014/main" id="{5588F1E9-20A6-42CA-A88D-BD4E23654E00}"/>
              </a:ext>
            </a:extLst>
          </p:cNvPr>
          <p:cNvSpPr txBox="1"/>
          <p:nvPr/>
        </p:nvSpPr>
        <p:spPr>
          <a:xfrm>
            <a:off x="174812" y="619592"/>
            <a:ext cx="8743576" cy="369332"/>
          </a:xfrm>
          <a:prstGeom prst="rect">
            <a:avLst/>
          </a:prstGeom>
          <a:noFill/>
        </p:spPr>
        <p:txBody>
          <a:bodyPr wrap="square">
            <a:spAutoFit/>
          </a:bodyPr>
          <a:lstStyle/>
          <a:p>
            <a:r>
              <a:rPr lang="en-US" b="1" i="0" u="sng" dirty="0">
                <a:solidFill>
                  <a:srgbClr val="C00000"/>
                </a:solidFill>
                <a:effectLst/>
                <a:latin typeface="DM Mono"/>
              </a:rPr>
              <a:t>RQ1: </a:t>
            </a:r>
            <a:r>
              <a:rPr lang="en-US" b="1" i="0" u="sng" dirty="0">
                <a:solidFill>
                  <a:srgbClr val="C00000"/>
                </a:solidFill>
                <a:effectLst/>
                <a:latin typeface="DM Sans"/>
              </a:rPr>
              <a:t>Does Blue defense improve consistently across generations?</a:t>
            </a:r>
            <a:endParaRPr lang="en-US" b="1" u="sng" dirty="0">
              <a:solidFill>
                <a:srgbClr val="C00000"/>
              </a:solidFill>
            </a:endParaRPr>
          </a:p>
        </p:txBody>
      </p:sp>
    </p:spTree>
    <p:extLst>
      <p:ext uri="{BB962C8B-B14F-4D97-AF65-F5344CB8AC3E}">
        <p14:creationId xmlns:p14="http://schemas.microsoft.com/office/powerpoint/2010/main" val="975640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D8300-2751-F5A8-976F-4C270C826A0C}"/>
              </a:ext>
            </a:extLst>
          </p:cNvPr>
          <p:cNvSpPr>
            <a:spLocks noGrp="1"/>
          </p:cNvSpPr>
          <p:nvPr>
            <p:ph type="title"/>
          </p:nvPr>
        </p:nvSpPr>
        <p:spPr>
          <a:xfrm>
            <a:off x="237565" y="-231893"/>
            <a:ext cx="10515600" cy="1325563"/>
          </a:xfrm>
        </p:spPr>
        <p:txBody>
          <a:bodyPr/>
          <a:lstStyle/>
          <a:p>
            <a:pPr algn="just"/>
            <a:r>
              <a:rPr lang="en-US" dirty="0"/>
              <a:t> Progress Update (30/1/2026)</a:t>
            </a:r>
            <a:r>
              <a:rPr lang="en-US" spc="-9" dirty="0"/>
              <a:t> </a:t>
            </a:r>
            <a:endParaRPr lang="en-US" dirty="0">
              <a:latin typeface="Times New Roman" panose="02020603050405020304" pitchFamily="18" charset="0"/>
              <a:cs typeface="Times New Roman" panose="02020603050405020304" pitchFamily="18" charset="0"/>
            </a:endParaRPr>
          </a:p>
        </p:txBody>
      </p:sp>
      <p:sp>
        <p:nvSpPr>
          <p:cNvPr id="3" name="Slide Number Placeholder 3">
            <a:extLst>
              <a:ext uri="{FF2B5EF4-FFF2-40B4-BE49-F238E27FC236}">
                <a16:creationId xmlns:a16="http://schemas.microsoft.com/office/drawing/2014/main" id="{6BC03CB8-D563-1237-DE90-8D26C6E343FD}"/>
              </a:ext>
            </a:extLst>
          </p:cNvPr>
          <p:cNvSpPr txBox="1">
            <a:spLocks/>
          </p:cNvSpPr>
          <p:nvPr/>
        </p:nvSpPr>
        <p:spPr>
          <a:xfrm>
            <a:off x="9191625" y="6370637"/>
            <a:ext cx="2743200" cy="365125"/>
          </a:xfrm>
          <a:prstGeom prst="rect">
            <a:avLst/>
          </a:prstGeom>
        </p:spPr>
        <p:txBody>
          <a:bodyPr/>
          <a:lstStyle>
            <a:defPPr>
              <a:defRPr lang="en-US"/>
            </a:defPPr>
            <a:lvl1pPr marL="0" algn="r" defTabSz="914400" rtl="0" eaLnBrk="1" latinLnBrk="0" hangingPunct="1">
              <a:defRPr sz="1600" kern="1200">
                <a:solidFill>
                  <a:schemeClr val="tx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42B0BF-08ED-47BA-801D-AFFB57B46965}" type="slidenum">
              <a:rPr lang="en-US" smtClean="0"/>
              <a:pPr/>
              <a:t>51</a:t>
            </a:fld>
            <a:endParaRPr lang="en-US" dirty="0"/>
          </a:p>
        </p:txBody>
      </p:sp>
      <p:sp>
        <p:nvSpPr>
          <p:cNvPr id="9" name="object 3">
            <a:extLst>
              <a:ext uri="{FF2B5EF4-FFF2-40B4-BE49-F238E27FC236}">
                <a16:creationId xmlns:a16="http://schemas.microsoft.com/office/drawing/2014/main" id="{6268C301-81CA-471F-9EBE-A680D24830AF}"/>
              </a:ext>
            </a:extLst>
          </p:cNvPr>
          <p:cNvSpPr txBox="1">
            <a:spLocks/>
          </p:cNvSpPr>
          <p:nvPr/>
        </p:nvSpPr>
        <p:spPr>
          <a:xfrm>
            <a:off x="581025" y="1140742"/>
            <a:ext cx="8610600" cy="2923628"/>
          </a:xfrm>
          <a:prstGeom prst="rect">
            <a:avLst/>
          </a:prstGeom>
        </p:spPr>
        <p:txBody>
          <a:bodyPr vert="horz" wrap="square" lIns="0" tIns="79001" rIns="0" bIns="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Technique schema (Completed) 			Command database (In progress)</a:t>
            </a:r>
          </a:p>
          <a:p>
            <a:r>
              <a:rPr lang="en-US" sz="1800" dirty="0"/>
              <a:t>Implemented Co evolution in Simulated Environment.		</a:t>
            </a:r>
            <a:r>
              <a:rPr lang="en-US" sz="1800" b="1" dirty="0"/>
              <a:t>#needs fine tuning</a:t>
            </a:r>
          </a:p>
          <a:p>
            <a:pPr marL="457200" lvl="1" indent="0" eaLnBrk="0" fontAlgn="base" hangingPunct="0">
              <a:lnSpc>
                <a:spcPct val="150000"/>
              </a:lnSpc>
              <a:spcBef>
                <a:spcPct val="0"/>
              </a:spcBef>
              <a:spcAft>
                <a:spcPct val="0"/>
              </a:spcAft>
              <a:buFontTx/>
              <a:buChar char="•"/>
            </a:pPr>
            <a:r>
              <a:rPr lang="en-US" altLang="en-US" sz="1600" dirty="0"/>
              <a:t>Sequential Kill Chain: Path-based execution instead of random actions.</a:t>
            </a:r>
          </a:p>
          <a:p>
            <a:pPr marL="457200" lvl="1" indent="0" eaLnBrk="0" fontAlgn="base" hangingPunct="0">
              <a:lnSpc>
                <a:spcPct val="150000"/>
              </a:lnSpc>
              <a:spcBef>
                <a:spcPct val="0"/>
              </a:spcBef>
              <a:spcAft>
                <a:spcPct val="0"/>
              </a:spcAft>
              <a:buFontTx/>
              <a:buChar char="•"/>
            </a:pPr>
            <a:r>
              <a:rPr lang="en-US" altLang="en-US" sz="1600" dirty="0"/>
              <a:t>Target-Specific Goals: High-impact actions restricted to high-value IPs.</a:t>
            </a:r>
          </a:p>
          <a:p>
            <a:pPr marL="457200" lvl="1" indent="0" eaLnBrk="0" fontAlgn="base" hangingPunct="0">
              <a:lnSpc>
                <a:spcPct val="150000"/>
              </a:lnSpc>
              <a:spcBef>
                <a:spcPct val="0"/>
              </a:spcBef>
              <a:spcAft>
                <a:spcPct val="0"/>
              </a:spcAft>
              <a:buFontTx/>
              <a:buChar char="•"/>
            </a:pPr>
            <a:r>
              <a:rPr lang="en-US" altLang="en-US" sz="1600" dirty="0"/>
              <a:t>Blue Agent Defense: Generate Alerts and Select response Using RL.</a:t>
            </a:r>
          </a:p>
          <a:p>
            <a:pPr marL="0" indent="0">
              <a:buNone/>
            </a:pPr>
            <a:endParaRPr lang="en-US" sz="1800" dirty="0"/>
          </a:p>
          <a:p>
            <a:endParaRPr lang="en-US" sz="1400" dirty="0"/>
          </a:p>
          <a:p>
            <a:pPr marL="177062" indent="-165856">
              <a:spcBef>
                <a:spcPts val="622"/>
              </a:spcBef>
              <a:buFont typeface="Arial MT"/>
              <a:buChar char="•"/>
              <a:tabLst>
                <a:tab pos="177062" algn="l"/>
              </a:tabLst>
            </a:pPr>
            <a:endParaRPr lang="en-US" spc="-9" dirty="0">
              <a:latin typeface="Times New Roman"/>
              <a:cs typeface="Times New Roman"/>
            </a:endParaRPr>
          </a:p>
        </p:txBody>
      </p:sp>
      <p:pic>
        <p:nvPicPr>
          <p:cNvPr id="5" name="Picture 4">
            <a:extLst>
              <a:ext uri="{FF2B5EF4-FFF2-40B4-BE49-F238E27FC236}">
                <a16:creationId xmlns:a16="http://schemas.microsoft.com/office/drawing/2014/main" id="{74610DF2-FC56-9D01-DD3D-D127FC7B4194}"/>
              </a:ext>
            </a:extLst>
          </p:cNvPr>
          <p:cNvPicPr>
            <a:picLocks noChangeAspect="1"/>
          </p:cNvPicPr>
          <p:nvPr/>
        </p:nvPicPr>
        <p:blipFill>
          <a:blip r:embed="rId3"/>
          <a:stretch>
            <a:fillRect/>
          </a:stretch>
        </p:blipFill>
        <p:spPr>
          <a:xfrm>
            <a:off x="1118907" y="3170811"/>
            <a:ext cx="5254999" cy="3199826"/>
          </a:xfrm>
          <a:prstGeom prst="rect">
            <a:avLst/>
          </a:prstGeom>
        </p:spPr>
      </p:pic>
      <p:pic>
        <p:nvPicPr>
          <p:cNvPr id="8" name="Picture 7">
            <a:extLst>
              <a:ext uri="{FF2B5EF4-FFF2-40B4-BE49-F238E27FC236}">
                <a16:creationId xmlns:a16="http://schemas.microsoft.com/office/drawing/2014/main" id="{2E2E8912-46C1-D60D-6728-A977D2DE46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81330" y="2235965"/>
            <a:ext cx="3772470" cy="4622035"/>
          </a:xfrm>
          <a:prstGeom prst="rect">
            <a:avLst/>
          </a:prstGeom>
        </p:spPr>
      </p:pic>
      <p:sp>
        <p:nvSpPr>
          <p:cNvPr id="15" name="TextBox 14">
            <a:extLst>
              <a:ext uri="{FF2B5EF4-FFF2-40B4-BE49-F238E27FC236}">
                <a16:creationId xmlns:a16="http://schemas.microsoft.com/office/drawing/2014/main" id="{ED29BF07-CBCC-01B6-EBA0-8506EFDC6094}"/>
              </a:ext>
            </a:extLst>
          </p:cNvPr>
          <p:cNvSpPr txBox="1"/>
          <p:nvPr/>
        </p:nvSpPr>
        <p:spPr>
          <a:xfrm>
            <a:off x="-46504" y="4830175"/>
            <a:ext cx="950259" cy="307777"/>
          </a:xfrm>
          <a:prstGeom prst="rect">
            <a:avLst/>
          </a:prstGeom>
          <a:noFill/>
        </p:spPr>
        <p:txBody>
          <a:bodyPr wrap="square" rtlCol="0">
            <a:spAutoFit/>
          </a:bodyPr>
          <a:lstStyle/>
          <a:p>
            <a:r>
              <a:rPr lang="en-US" sz="1400" dirty="0" err="1"/>
              <a:t>State.json</a:t>
            </a:r>
            <a:endParaRPr lang="en-IN" sz="1400" dirty="0"/>
          </a:p>
        </p:txBody>
      </p:sp>
      <p:sp>
        <p:nvSpPr>
          <p:cNvPr id="16" name="Left Brace 15">
            <a:extLst>
              <a:ext uri="{FF2B5EF4-FFF2-40B4-BE49-F238E27FC236}">
                <a16:creationId xmlns:a16="http://schemas.microsoft.com/office/drawing/2014/main" id="{E72930C0-D24D-FD2E-E71D-4D4F69F9EB62}"/>
              </a:ext>
            </a:extLst>
          </p:cNvPr>
          <p:cNvSpPr/>
          <p:nvPr/>
        </p:nvSpPr>
        <p:spPr>
          <a:xfrm>
            <a:off x="838201" y="3684815"/>
            <a:ext cx="210670" cy="2685822"/>
          </a:xfrm>
          <a:prstGeom prst="lef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n-IN"/>
          </a:p>
        </p:txBody>
      </p:sp>
      <p:sp>
        <p:nvSpPr>
          <p:cNvPr id="17" name="TextBox 16">
            <a:extLst>
              <a:ext uri="{FF2B5EF4-FFF2-40B4-BE49-F238E27FC236}">
                <a16:creationId xmlns:a16="http://schemas.microsoft.com/office/drawing/2014/main" id="{5573D13D-6B00-865F-6159-0DBC073A6587}"/>
              </a:ext>
            </a:extLst>
          </p:cNvPr>
          <p:cNvSpPr txBox="1"/>
          <p:nvPr/>
        </p:nvSpPr>
        <p:spPr>
          <a:xfrm>
            <a:off x="40066" y="3264954"/>
            <a:ext cx="1078841" cy="276999"/>
          </a:xfrm>
          <a:prstGeom prst="rect">
            <a:avLst/>
          </a:prstGeom>
          <a:noFill/>
        </p:spPr>
        <p:txBody>
          <a:bodyPr wrap="square" rtlCol="0">
            <a:spAutoFit/>
          </a:bodyPr>
          <a:lstStyle/>
          <a:p>
            <a:r>
              <a:rPr lang="en-US" sz="1200" dirty="0"/>
              <a:t>Selected Path</a:t>
            </a:r>
            <a:endParaRPr lang="en-IN" sz="1200" dirty="0"/>
          </a:p>
        </p:txBody>
      </p:sp>
      <p:sp>
        <p:nvSpPr>
          <p:cNvPr id="18" name="TextBox 17">
            <a:extLst>
              <a:ext uri="{FF2B5EF4-FFF2-40B4-BE49-F238E27FC236}">
                <a16:creationId xmlns:a16="http://schemas.microsoft.com/office/drawing/2014/main" id="{E45613D0-6B9F-C20F-DDE2-B756B2ADE2A5}"/>
              </a:ext>
            </a:extLst>
          </p:cNvPr>
          <p:cNvSpPr txBox="1"/>
          <p:nvPr/>
        </p:nvSpPr>
        <p:spPr>
          <a:xfrm>
            <a:off x="579486" y="6462979"/>
            <a:ext cx="5913905" cy="307777"/>
          </a:xfrm>
          <a:prstGeom prst="rect">
            <a:avLst/>
          </a:prstGeom>
          <a:noFill/>
          <a:ln>
            <a:solidFill>
              <a:schemeClr val="tx1"/>
            </a:solidFill>
          </a:ln>
        </p:spPr>
        <p:txBody>
          <a:bodyPr wrap="square" rtlCol="0">
            <a:spAutoFit/>
          </a:bodyPr>
          <a:lstStyle/>
          <a:p>
            <a:r>
              <a:rPr lang="en-US" sz="1400" dirty="0"/>
              <a:t>Goal:- Impact or Exfiltration on 192.168.81.131(credentials unknown)</a:t>
            </a:r>
            <a:endParaRPr lang="en-IN" sz="1400" dirty="0"/>
          </a:p>
        </p:txBody>
      </p:sp>
      <p:sp>
        <p:nvSpPr>
          <p:cNvPr id="19" name="Rectangle 18">
            <a:extLst>
              <a:ext uri="{FF2B5EF4-FFF2-40B4-BE49-F238E27FC236}">
                <a16:creationId xmlns:a16="http://schemas.microsoft.com/office/drawing/2014/main" id="{540CDBCB-3889-D677-08BB-B55587C9D618}"/>
              </a:ext>
            </a:extLst>
          </p:cNvPr>
          <p:cNvSpPr/>
          <p:nvPr/>
        </p:nvSpPr>
        <p:spPr>
          <a:xfrm>
            <a:off x="7458635" y="3944471"/>
            <a:ext cx="3614458" cy="36512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n>
                <a:solidFill>
                  <a:srgbClr val="FF0000"/>
                </a:solidFill>
              </a:ln>
              <a:solidFill>
                <a:srgbClr val="FF0000"/>
              </a:solidFill>
            </a:endParaRPr>
          </a:p>
        </p:txBody>
      </p:sp>
    </p:spTree>
    <p:extLst>
      <p:ext uri="{BB962C8B-B14F-4D97-AF65-F5344CB8AC3E}">
        <p14:creationId xmlns:p14="http://schemas.microsoft.com/office/powerpoint/2010/main" val="3208325415"/>
      </p:ext>
    </p:extLst>
  </p:cSld>
  <p:clrMapOvr>
    <a:masterClrMapping/>
  </p:clrMapOvr>
</p:sld>
</file>

<file path=ppt/theme/theme1.xml><?xml version="1.0" encoding="utf-8"?>
<a:theme xmlns:a="http://schemas.openxmlformats.org/drawingml/2006/main" name="Theme1">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Times New Roman"/>
        <a:ea typeface="DFKai-SB"/>
        <a:cs typeface=""/>
      </a:majorFont>
      <a:minorFont>
        <a:latin typeface="Times New Roman"/>
        <a:ea typeface="DFKai-SB"/>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D5FACA63-0074-4EF8-8ABD-3FF9014D8630}" vid="{D147B5B9-2314-4C52-BF60-5316A060BF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156837</TotalTime>
  <Words>7641</Words>
  <Application>Microsoft Office PowerPoint</Application>
  <PresentationFormat>Widescreen</PresentationFormat>
  <Paragraphs>887</Paragraphs>
  <Slides>51</Slides>
  <Notes>51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Arial MT</vt:lpstr>
      <vt:lpstr>Calibri</vt:lpstr>
      <vt:lpstr>Cambria Math</vt:lpstr>
      <vt:lpstr>DM Mono</vt:lpstr>
      <vt:lpstr>DM Sans</vt:lpstr>
      <vt:lpstr>MV Boli</vt:lpstr>
      <vt:lpstr>Times New Roman</vt:lpstr>
      <vt:lpstr>Theme1</vt:lpstr>
      <vt:lpstr>RL-LLM Based Co-evolving Multi-generational Red-team and Blue-team AI Agents in a Cyber Range</vt:lpstr>
      <vt:lpstr>Outline</vt:lpstr>
      <vt:lpstr>Motivation</vt:lpstr>
      <vt:lpstr>Background – Cybersecurity Training</vt:lpstr>
      <vt:lpstr>Background – MITRE ATT&amp;CK</vt:lpstr>
      <vt:lpstr>Background – MITRE ATT&amp;CK</vt:lpstr>
      <vt:lpstr>Background – Reinforcement Learning</vt:lpstr>
      <vt:lpstr>Related work on AI-Based Red-Blue Teaming</vt:lpstr>
      <vt:lpstr>Notations (1/2)</vt:lpstr>
      <vt:lpstr>Notations (2/2)</vt:lpstr>
      <vt:lpstr>Problem Overview </vt:lpstr>
      <vt:lpstr>Red Team Problem: Kill Chain Completion</vt:lpstr>
      <vt:lpstr>Blue Team Problem: Kill Chain Disruption</vt:lpstr>
      <vt:lpstr>Solution overview</vt:lpstr>
      <vt:lpstr>Solution overview</vt:lpstr>
      <vt:lpstr>Red Team Agent : Action Space</vt:lpstr>
      <vt:lpstr>Red Team Agent – Technique Schema</vt:lpstr>
      <vt:lpstr> Red Team Agent – Action Selection</vt:lpstr>
      <vt:lpstr> Red Team Agent – Algorithm updates</vt:lpstr>
      <vt:lpstr>PowerPoint Presentation</vt:lpstr>
      <vt:lpstr>Blue Team Agent: Detection and Response</vt:lpstr>
      <vt:lpstr>Solution – Blue Agent Algorithm</vt:lpstr>
      <vt:lpstr>Solution – ATT&amp;CK Graph for Red Team Agent </vt:lpstr>
      <vt:lpstr> Simulation Execution Loop (Red PAMDP + Blue RL)</vt:lpstr>
      <vt:lpstr>PowerPoint Presentation</vt:lpstr>
      <vt:lpstr>Problems - RL + LLM Red Agent   </vt:lpstr>
      <vt:lpstr>Solution 1 - Parameterized RL [7] </vt:lpstr>
      <vt:lpstr>Solution 3 – Fixed Recon</vt:lpstr>
      <vt:lpstr>Implementation- Open-Source Tools and Libraries</vt:lpstr>
      <vt:lpstr>Implementation- Modules</vt:lpstr>
      <vt:lpstr>Implementation -  System Architecture</vt:lpstr>
      <vt:lpstr>Implementation -  System Architecture</vt:lpstr>
      <vt:lpstr>Issues</vt:lpstr>
      <vt:lpstr>Experimentation Setup </vt:lpstr>
      <vt:lpstr>Evaluation</vt:lpstr>
      <vt:lpstr>Intra-Setup Evaluation : Multi-Generation Evolution   </vt:lpstr>
      <vt:lpstr>Intra-Setup Evaluation : Multi-Generation Evolution   </vt:lpstr>
      <vt:lpstr>Intra-Setup  Evaluation : Multi-Generation Evolution   </vt:lpstr>
      <vt:lpstr>Intra-Setup  Evaluation : Multi-Generation Evolution   </vt:lpstr>
      <vt:lpstr>Intra-Setup  Evaluation : Multi-Generation Evolution   </vt:lpstr>
      <vt:lpstr>Intra-Setup Evaluation : Cross-Generation   </vt:lpstr>
      <vt:lpstr>PowerPoint Presentation</vt:lpstr>
      <vt:lpstr>Inter-Setup Evaluation: ACE vs FOT vs SCE</vt:lpstr>
      <vt:lpstr>Inter-Setup Evaluation: ACE vs FOT vs SCE</vt:lpstr>
      <vt:lpstr>PowerPoint Presentation</vt:lpstr>
      <vt:lpstr>Schedule</vt:lpstr>
      <vt:lpstr>References</vt:lpstr>
      <vt:lpstr>References</vt:lpstr>
      <vt:lpstr>PowerPoint Presentation</vt:lpstr>
      <vt:lpstr>Evaluation : Multi-Generation Evolution   </vt:lpstr>
      <vt:lpstr> Progress Update (30/1/2026)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Co-Evolutionary AI Red and Blue Team Agents for Cyber Defense in Enterprise Simulation Environments</dc:title>
  <dc:creator>Aniket Aggarwal</dc:creator>
  <cp:lastModifiedBy>Aniket Aggarwal</cp:lastModifiedBy>
  <cp:revision>299</cp:revision>
  <cp:lastPrinted>2026-05-11T15:11:46Z</cp:lastPrinted>
  <dcterms:created xsi:type="dcterms:W3CDTF">2025-07-24T10:36:06Z</dcterms:created>
  <dcterms:modified xsi:type="dcterms:W3CDTF">2026-05-27T08:50:48Z</dcterms:modified>
</cp:coreProperties>
</file>