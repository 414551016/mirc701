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0"/>
  </p:notesMasterIdLst>
  <p:handoutMasterIdLst>
    <p:handoutMasterId r:id="rId51"/>
  </p:handoutMasterIdLst>
  <p:sldIdLst>
    <p:sldId id="256" r:id="rId2"/>
    <p:sldId id="296" r:id="rId3"/>
    <p:sldId id="765" r:id="rId4"/>
    <p:sldId id="825" r:id="rId5"/>
    <p:sldId id="329" r:id="rId6"/>
    <p:sldId id="325" r:id="rId7"/>
    <p:sldId id="734" r:id="rId8"/>
    <p:sldId id="731" r:id="rId9"/>
    <p:sldId id="761" r:id="rId10"/>
    <p:sldId id="826" r:id="rId11"/>
    <p:sldId id="739" r:id="rId12"/>
    <p:sldId id="736" r:id="rId13"/>
    <p:sldId id="735" r:id="rId14"/>
    <p:sldId id="732" r:id="rId15"/>
    <p:sldId id="749" r:id="rId16"/>
    <p:sldId id="762" r:id="rId17"/>
    <p:sldId id="774" r:id="rId18"/>
    <p:sldId id="746" r:id="rId19"/>
    <p:sldId id="828" r:id="rId20"/>
    <p:sldId id="829" r:id="rId21"/>
    <p:sldId id="331" r:id="rId22"/>
    <p:sldId id="830" r:id="rId23"/>
    <p:sldId id="789" r:id="rId24"/>
    <p:sldId id="820" r:id="rId25"/>
    <p:sldId id="755" r:id="rId26"/>
    <p:sldId id="754" r:id="rId27"/>
    <p:sldId id="823" r:id="rId28"/>
    <p:sldId id="756" r:id="rId29"/>
    <p:sldId id="793" r:id="rId30"/>
    <p:sldId id="809" r:id="rId31"/>
    <p:sldId id="822" r:id="rId32"/>
    <p:sldId id="832" r:id="rId33"/>
    <p:sldId id="810" r:id="rId34"/>
    <p:sldId id="811" r:id="rId35"/>
    <p:sldId id="808" r:id="rId36"/>
    <p:sldId id="816" r:id="rId37"/>
    <p:sldId id="817" r:id="rId38"/>
    <p:sldId id="812" r:id="rId39"/>
    <p:sldId id="837" r:id="rId40"/>
    <p:sldId id="835" r:id="rId41"/>
    <p:sldId id="318" r:id="rId42"/>
    <p:sldId id="838" r:id="rId43"/>
    <p:sldId id="752" r:id="rId44"/>
    <p:sldId id="818" r:id="rId45"/>
    <p:sldId id="836" r:id="rId46"/>
    <p:sldId id="833" r:id="rId47"/>
    <p:sldId id="815" r:id="rId48"/>
    <p:sldId id="785" r:id="rId49"/>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BD91259-E4FC-484F-97AD-A62D0F5F0335}">
          <p14:sldIdLst>
            <p14:sldId id="256"/>
            <p14:sldId id="296"/>
            <p14:sldId id="765"/>
            <p14:sldId id="825"/>
            <p14:sldId id="329"/>
            <p14:sldId id="325"/>
            <p14:sldId id="734"/>
            <p14:sldId id="731"/>
            <p14:sldId id="761"/>
            <p14:sldId id="826"/>
            <p14:sldId id="739"/>
            <p14:sldId id="736"/>
            <p14:sldId id="735"/>
            <p14:sldId id="732"/>
            <p14:sldId id="749"/>
            <p14:sldId id="762"/>
            <p14:sldId id="774"/>
            <p14:sldId id="746"/>
            <p14:sldId id="828"/>
            <p14:sldId id="829"/>
            <p14:sldId id="331"/>
            <p14:sldId id="830"/>
            <p14:sldId id="789"/>
            <p14:sldId id="820"/>
            <p14:sldId id="755"/>
            <p14:sldId id="754"/>
            <p14:sldId id="823"/>
            <p14:sldId id="756"/>
            <p14:sldId id="793"/>
            <p14:sldId id="809"/>
            <p14:sldId id="822"/>
            <p14:sldId id="832"/>
            <p14:sldId id="810"/>
            <p14:sldId id="811"/>
            <p14:sldId id="808"/>
            <p14:sldId id="816"/>
            <p14:sldId id="817"/>
            <p14:sldId id="812"/>
            <p14:sldId id="837"/>
            <p14:sldId id="835"/>
            <p14:sldId id="318"/>
            <p14:sldId id="838"/>
          </p14:sldIdLst>
        </p14:section>
        <p14:section name="Appendix" id="{43AE7C6C-21B0-4162-AC1C-C1195604C3A0}">
          <p14:sldIdLst>
            <p14:sldId id="752"/>
            <p14:sldId id="818"/>
            <p14:sldId id="836"/>
            <p14:sldId id="833"/>
            <p14:sldId id="815"/>
            <p14:sldId id="78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D9DDAD6-11AC-57F0-912F-6FFB3F835CD9}" name="孟開達" initials="孟3" userId="S::rasul.ee12@m365.nycu.edu.tw::03c9bc4f-4b65-4371-89b2-85efec9fe85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niket Aggarwal" initials="AA" lastIdx="4" clrIdx="0">
    <p:extLst>
      <p:ext uri="{19B8F6BF-5375-455C-9EA6-DF929625EA0E}">
        <p15:presenceInfo xmlns:p15="http://schemas.microsoft.com/office/powerpoint/2012/main" userId="017b14d5cddd19a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12" autoAdjust="0"/>
    <p:restoredTop sz="82562" autoAdjust="0"/>
  </p:normalViewPr>
  <p:slideViewPr>
    <p:cSldViewPr snapToGrid="0">
      <p:cViewPr varScale="1">
        <p:scale>
          <a:sx n="93" d="100"/>
          <a:sy n="93" d="100"/>
        </p:scale>
        <p:origin x="144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8/10/relationships/authors" Targe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7573E58-2259-4404-A9FF-25AA53FA36CF}"/>
              </a:ext>
            </a:extLst>
          </p:cNvPr>
          <p:cNvSpPr>
            <a:spLocks noGrp="1"/>
          </p:cNvSpPr>
          <p:nvPr>
            <p:ph type="hdr" sz="quarter"/>
          </p:nvPr>
        </p:nvSpPr>
        <p:spPr>
          <a:xfrm>
            <a:off x="7" y="9"/>
            <a:ext cx="2945659" cy="498055"/>
          </a:xfrm>
          <a:prstGeom prst="rect">
            <a:avLst/>
          </a:prstGeom>
        </p:spPr>
        <p:txBody>
          <a:bodyPr vert="horz" lIns="95166" tIns="47582" rIns="95166" bIns="47582" rtlCol="0"/>
          <a:lstStyle>
            <a:lvl1pPr algn="l">
              <a:defRPr sz="1300"/>
            </a:lvl1pPr>
          </a:lstStyle>
          <a:p>
            <a:endParaRPr lang="en-US"/>
          </a:p>
        </p:txBody>
      </p:sp>
      <p:sp>
        <p:nvSpPr>
          <p:cNvPr id="3" name="Date Placeholder 2">
            <a:extLst>
              <a:ext uri="{FF2B5EF4-FFF2-40B4-BE49-F238E27FC236}">
                <a16:creationId xmlns:a16="http://schemas.microsoft.com/office/drawing/2014/main" id="{0A46DC3E-23D6-40DB-A1BE-E807C4BD9C2B}"/>
              </a:ext>
            </a:extLst>
          </p:cNvPr>
          <p:cNvSpPr>
            <a:spLocks noGrp="1"/>
          </p:cNvSpPr>
          <p:nvPr>
            <p:ph type="dt" sz="quarter" idx="1"/>
          </p:nvPr>
        </p:nvSpPr>
        <p:spPr>
          <a:xfrm>
            <a:off x="3850446" y="9"/>
            <a:ext cx="2945659" cy="498055"/>
          </a:xfrm>
          <a:prstGeom prst="rect">
            <a:avLst/>
          </a:prstGeom>
        </p:spPr>
        <p:txBody>
          <a:bodyPr vert="horz" lIns="95166" tIns="47582" rIns="95166" bIns="47582" rtlCol="0"/>
          <a:lstStyle>
            <a:lvl1pPr algn="r">
              <a:defRPr sz="1300"/>
            </a:lvl1pPr>
          </a:lstStyle>
          <a:p>
            <a:fld id="{3A0A2704-FFC7-4797-B66F-42F45ECBBFF1}" type="datetime1">
              <a:rPr lang="en-US" smtClean="0"/>
              <a:t>5/28/2026</a:t>
            </a:fld>
            <a:endParaRPr lang="en-US"/>
          </a:p>
        </p:txBody>
      </p:sp>
      <p:sp>
        <p:nvSpPr>
          <p:cNvPr id="4" name="Footer Placeholder 3">
            <a:extLst>
              <a:ext uri="{FF2B5EF4-FFF2-40B4-BE49-F238E27FC236}">
                <a16:creationId xmlns:a16="http://schemas.microsoft.com/office/drawing/2014/main" id="{D714A5C9-E46C-40FE-952E-E4C36006BA48}"/>
              </a:ext>
            </a:extLst>
          </p:cNvPr>
          <p:cNvSpPr>
            <a:spLocks noGrp="1"/>
          </p:cNvSpPr>
          <p:nvPr>
            <p:ph type="ftr" sz="quarter" idx="2"/>
          </p:nvPr>
        </p:nvSpPr>
        <p:spPr>
          <a:xfrm>
            <a:off x="7" y="9428585"/>
            <a:ext cx="2945659" cy="498054"/>
          </a:xfrm>
          <a:prstGeom prst="rect">
            <a:avLst/>
          </a:prstGeom>
        </p:spPr>
        <p:txBody>
          <a:bodyPr vert="horz" lIns="95166" tIns="47582" rIns="95166" bIns="47582" rtlCol="0" anchor="b"/>
          <a:lstStyle>
            <a:lvl1pPr algn="l">
              <a:defRPr sz="1300"/>
            </a:lvl1pPr>
          </a:lstStyle>
          <a:p>
            <a:endParaRPr lang="en-US"/>
          </a:p>
        </p:txBody>
      </p:sp>
      <p:sp>
        <p:nvSpPr>
          <p:cNvPr id="5" name="Slide Number Placeholder 4">
            <a:extLst>
              <a:ext uri="{FF2B5EF4-FFF2-40B4-BE49-F238E27FC236}">
                <a16:creationId xmlns:a16="http://schemas.microsoft.com/office/drawing/2014/main" id="{6E9BEDD8-0BF3-40FA-B400-4D624A23FA32}"/>
              </a:ext>
            </a:extLst>
          </p:cNvPr>
          <p:cNvSpPr>
            <a:spLocks noGrp="1"/>
          </p:cNvSpPr>
          <p:nvPr>
            <p:ph type="sldNum" sz="quarter" idx="3"/>
          </p:nvPr>
        </p:nvSpPr>
        <p:spPr>
          <a:xfrm>
            <a:off x="3850446" y="9428585"/>
            <a:ext cx="2945659" cy="498054"/>
          </a:xfrm>
          <a:prstGeom prst="rect">
            <a:avLst/>
          </a:prstGeom>
        </p:spPr>
        <p:txBody>
          <a:bodyPr vert="horz" lIns="95166" tIns="47582" rIns="95166" bIns="47582" rtlCol="0" anchor="b"/>
          <a:lstStyle>
            <a:lvl1pPr algn="r">
              <a:defRPr sz="1300"/>
            </a:lvl1pPr>
          </a:lstStyle>
          <a:p>
            <a:fld id="{5B11FF42-789C-4AA7-B5D7-C01536494EAB}" type="slidenum">
              <a:rPr lang="en-US" smtClean="0"/>
              <a:t>‹#›</a:t>
            </a:fld>
            <a:endParaRPr lang="en-US"/>
          </a:p>
        </p:txBody>
      </p:sp>
    </p:spTree>
    <p:extLst>
      <p:ext uri="{BB962C8B-B14F-4D97-AF65-F5344CB8AC3E}">
        <p14:creationId xmlns:p14="http://schemas.microsoft.com/office/powerpoint/2010/main" val="113696011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 y="9"/>
            <a:ext cx="2945659" cy="498055"/>
          </a:xfrm>
          <a:prstGeom prst="rect">
            <a:avLst/>
          </a:prstGeom>
        </p:spPr>
        <p:txBody>
          <a:bodyPr vert="horz" lIns="95166" tIns="47582" rIns="95166" bIns="47582" rtlCol="0"/>
          <a:lstStyle>
            <a:lvl1pPr algn="l">
              <a:defRPr sz="1300"/>
            </a:lvl1pPr>
          </a:lstStyle>
          <a:p>
            <a:endParaRPr lang="en-US"/>
          </a:p>
        </p:txBody>
      </p:sp>
      <p:sp>
        <p:nvSpPr>
          <p:cNvPr id="3" name="Date Placeholder 2"/>
          <p:cNvSpPr>
            <a:spLocks noGrp="1"/>
          </p:cNvSpPr>
          <p:nvPr>
            <p:ph type="dt" idx="1"/>
          </p:nvPr>
        </p:nvSpPr>
        <p:spPr>
          <a:xfrm>
            <a:off x="3850446" y="9"/>
            <a:ext cx="2945659" cy="498055"/>
          </a:xfrm>
          <a:prstGeom prst="rect">
            <a:avLst/>
          </a:prstGeom>
        </p:spPr>
        <p:txBody>
          <a:bodyPr vert="horz" lIns="95166" tIns="47582" rIns="95166" bIns="47582" rtlCol="0"/>
          <a:lstStyle>
            <a:lvl1pPr algn="r">
              <a:defRPr sz="1300"/>
            </a:lvl1pPr>
          </a:lstStyle>
          <a:p>
            <a:fld id="{7D0A18A6-4094-46E5-9910-37512E3F51A6}" type="datetime1">
              <a:rPr lang="en-US" smtClean="0"/>
              <a:t>5/28/2026</a:t>
            </a:fld>
            <a:endParaRPr lang="en-US"/>
          </a:p>
        </p:txBody>
      </p:sp>
      <p:sp>
        <p:nvSpPr>
          <p:cNvPr id="4" name="Slide Image Placeholder 3"/>
          <p:cNvSpPr>
            <a:spLocks noGrp="1" noRot="1" noChangeAspect="1"/>
          </p:cNvSpPr>
          <p:nvPr>
            <p:ph type="sldImg" idx="2"/>
          </p:nvPr>
        </p:nvSpPr>
        <p:spPr>
          <a:xfrm>
            <a:off x="425450" y="1243013"/>
            <a:ext cx="5946775" cy="3346450"/>
          </a:xfrm>
          <a:prstGeom prst="rect">
            <a:avLst/>
          </a:prstGeom>
          <a:noFill/>
          <a:ln w="12700">
            <a:solidFill>
              <a:prstClr val="black"/>
            </a:solidFill>
          </a:ln>
        </p:spPr>
        <p:txBody>
          <a:bodyPr vert="horz" lIns="95166" tIns="47582" rIns="95166" bIns="47582" rtlCol="0" anchor="ctr"/>
          <a:lstStyle/>
          <a:p>
            <a:endParaRPr lang="en-US"/>
          </a:p>
        </p:txBody>
      </p:sp>
      <p:sp>
        <p:nvSpPr>
          <p:cNvPr id="5" name="Notes Placeholder 4"/>
          <p:cNvSpPr>
            <a:spLocks noGrp="1"/>
          </p:cNvSpPr>
          <p:nvPr>
            <p:ph type="body" sz="quarter" idx="3"/>
          </p:nvPr>
        </p:nvSpPr>
        <p:spPr>
          <a:xfrm>
            <a:off x="679768" y="4777203"/>
            <a:ext cx="5438140" cy="3908614"/>
          </a:xfrm>
          <a:prstGeom prst="rect">
            <a:avLst/>
          </a:prstGeom>
        </p:spPr>
        <p:txBody>
          <a:bodyPr vert="horz" lIns="95166" tIns="47582" rIns="95166" bIns="4758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7" y="9428585"/>
            <a:ext cx="2945659" cy="498054"/>
          </a:xfrm>
          <a:prstGeom prst="rect">
            <a:avLst/>
          </a:prstGeom>
        </p:spPr>
        <p:txBody>
          <a:bodyPr vert="horz" lIns="95166" tIns="47582" rIns="95166" bIns="47582" rtlCol="0" anchor="b"/>
          <a:lstStyle>
            <a:lvl1pPr algn="l">
              <a:defRPr sz="1300"/>
            </a:lvl1pPr>
          </a:lstStyle>
          <a:p>
            <a:endParaRPr lang="en-US"/>
          </a:p>
        </p:txBody>
      </p:sp>
      <p:sp>
        <p:nvSpPr>
          <p:cNvPr id="7" name="Slide Number Placeholder 6"/>
          <p:cNvSpPr>
            <a:spLocks noGrp="1"/>
          </p:cNvSpPr>
          <p:nvPr>
            <p:ph type="sldNum" sz="quarter" idx="5"/>
          </p:nvPr>
        </p:nvSpPr>
        <p:spPr>
          <a:xfrm>
            <a:off x="3850446" y="9428585"/>
            <a:ext cx="2945659" cy="498054"/>
          </a:xfrm>
          <a:prstGeom prst="rect">
            <a:avLst/>
          </a:prstGeom>
        </p:spPr>
        <p:txBody>
          <a:bodyPr vert="horz" lIns="95166" tIns="47582" rIns="95166" bIns="47582" rtlCol="0" anchor="b"/>
          <a:lstStyle>
            <a:lvl1pPr algn="r">
              <a:defRPr sz="1300"/>
            </a:lvl1pPr>
          </a:lstStyle>
          <a:p>
            <a:fld id="{93D6DA25-0EE3-4F7F-8D40-EEA379C6332A}" type="slidenum">
              <a:rPr lang="en-US" smtClean="0"/>
              <a:t>‹#›</a:t>
            </a:fld>
            <a:endParaRPr lang="en-US"/>
          </a:p>
        </p:txBody>
      </p:sp>
    </p:spTree>
    <p:extLst>
      <p:ext uri="{BB962C8B-B14F-4D97-AF65-F5344CB8AC3E}">
        <p14:creationId xmlns:p14="http://schemas.microsoft.com/office/powerpoint/2010/main" val="366098250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Good morning, respected professors and committee members. My name is Aniket Aggarwal, and today I will present my master’s thesis titled “RL-LLM Based Co-evolving Multi-generational Red-team and Blue-team AI Agents in a Cyber Range.” This work focuses on automated cyber defense training. In particular, I study how Red-team attacker agents and Blue-team defender agents can improve together across multiple generations inside a Cyber Range. </a:t>
            </a:r>
            <a:endParaRPr lang="en-IN" dirty="0"/>
          </a:p>
        </p:txBody>
      </p:sp>
    </p:spTree>
    <p:extLst>
      <p:ext uri="{BB962C8B-B14F-4D97-AF65-F5344CB8AC3E}">
        <p14:creationId xmlns:p14="http://schemas.microsoft.com/office/powerpoint/2010/main" val="94613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8357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red/blue team exercises rely on human experts → costly, slow, hard to scale</a:t>
            </a:r>
          </a:p>
          <a:p>
            <a:r>
              <a:rPr lang="en-US" dirty="0"/>
              <a:t>Cyber threats keep evolving → need a repeatable, scalable training method</a:t>
            </a:r>
          </a:p>
          <a:p>
            <a:r>
              <a:rPr lang="en-US" dirty="0"/>
              <a:t>AI agents can fill this gap: Red simulates multi-step attacks; Blue monitors logs, detects threats, picks defenses</a:t>
            </a:r>
          </a:p>
          <a:p>
            <a:r>
              <a:rPr lang="en-US" dirty="0"/>
              <a:t>Problem 1: training Blue vs. a fixed Red → overfits to one attacker, fails on unseen attacks</a:t>
            </a:r>
          </a:p>
          <a:p>
            <a:r>
              <a:rPr lang="en-US" dirty="0"/>
              <a:t>Problem 2: training Red and Blue together → unstable (both policies shift at once)</a:t>
            </a:r>
          </a:p>
          <a:p>
            <a:r>
              <a:rPr lang="en-US" dirty="0"/>
              <a:t>My solution: multi-generational co-evolution — one side trains against a stable opponent, gets promoted, then becomes the tougher opponent for the other side</a:t>
            </a:r>
          </a:p>
          <a:p>
            <a:r>
              <a:rPr lang="en-US" dirty="0"/>
              <a:t>Why RL: attack/defense is sequential → early actions shape later outcomes → agent must learn long-term strategy, not just immediate moves</a:t>
            </a:r>
          </a:p>
        </p:txBody>
      </p:sp>
    </p:spTree>
    <p:extLst>
      <p:ext uri="{BB962C8B-B14F-4D97-AF65-F5344CB8AC3E}">
        <p14:creationId xmlns:p14="http://schemas.microsoft.com/office/powerpoint/2010/main" val="4168810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FAD5504-5921-43D4-AB97-4160F96BC4A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rPr>
              <a:t>[Slide 3] In cybersecurity training, the Red Team represents the attacker. It performs multi-step attack campaigns, such as gaining access, escalating privilege, moving laterally, and reaching a target. The Blue Team represents the defender. It monitors logs and alerts, detects suspicious behavior, and applies defensive responses to stop the attack. In this thesis, both sides interact inside a Cyber Range, which provides a safe and repeatable environment for automated Red–Blue training.</a:t>
            </a:r>
          </a:p>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rPr>
              <a:t>[Slide 5] MITRE ATT&amp;CK is used to model the attack lifecycle. It organizes attacker behavior into tactics, which represent attacker goals, and techniques, which represent the methods used to achieve those goals. In my work, the Red-team agent does not choose random attack actions. Instead, it builds kill chains as sequences of ATT&amp;CK techniques. This makes the attack behavior more realistic, structured, and easier to analyze.</a:t>
            </a:r>
          </a:p>
          <a:p>
            <a:endParaRPr lang="en-US" dirty="0"/>
          </a:p>
        </p:txBody>
      </p:sp>
    </p:spTree>
    <p:extLst>
      <p:ext uri="{BB962C8B-B14F-4D97-AF65-F5344CB8AC3E}">
        <p14:creationId xmlns:p14="http://schemas.microsoft.com/office/powerpoint/2010/main" val="7144165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RL fits because attack/defense = sequential decision-making</a:t>
            </a:r>
          </a:p>
          <a:p>
            <a:r>
              <a:rPr lang="en-US" dirty="0"/>
              <a:t>The loop: observe state → pick action → get reward → move to next state</a:t>
            </a:r>
          </a:p>
          <a:p>
            <a:r>
              <a:rPr lang="en-US" dirty="0"/>
              <a:t>Goal: not just immediate reward, but actions that pay off long-term</a:t>
            </a:r>
          </a:p>
          <a:p>
            <a:r>
              <a:rPr lang="en-US" dirty="0"/>
              <a:t>Actions are parameterized, not just a single choice:</a:t>
            </a:r>
          </a:p>
          <a:p>
            <a:endParaRPr lang="en-US" dirty="0"/>
          </a:p>
          <a:p>
            <a:r>
              <a:rPr lang="en-US" dirty="0"/>
              <a:t>Red: technique + target host, port, credential, command</a:t>
            </a:r>
          </a:p>
          <a:p>
            <a:r>
              <a:rPr lang="en-US" dirty="0"/>
              <a:t>Blue: response + which host, user, process, or IP to act on</a:t>
            </a:r>
          </a:p>
          <a:p>
            <a:endParaRPr lang="en-US" dirty="0"/>
          </a:p>
          <a:p>
            <a:endParaRPr lang="en-US" dirty="0"/>
          </a:p>
          <a:p>
            <a:r>
              <a:rPr lang="en-US" dirty="0"/>
              <a:t>I use DDQN over standard DQN → more stable value estimation, especially in long multi-step episodes (reduces overestimation bias)</a:t>
            </a:r>
          </a:p>
        </p:txBody>
      </p:sp>
      <p:sp>
        <p:nvSpPr>
          <p:cNvPr id="4" name="Slide Number Placeholder 3"/>
          <p:cNvSpPr>
            <a:spLocks noGrp="1"/>
          </p:cNvSpPr>
          <p:nvPr>
            <p:ph type="sldNum" sz="quarter" idx="5"/>
          </p:nvPr>
        </p:nvSpPr>
        <p:spPr/>
        <p:txBody>
          <a:bodyPr/>
          <a:lstStyle/>
          <a:p>
            <a:fld id="{00DE9525-EC44-4C74-915E-FB09A07587F3}" type="slidenum">
              <a:rPr lang="en-US" smtClean="0"/>
              <a:t>6</a:t>
            </a:fld>
            <a:endParaRPr lang="en-US"/>
          </a:p>
        </p:txBody>
      </p:sp>
    </p:spTree>
    <p:extLst>
      <p:ext uri="{BB962C8B-B14F-4D97-AF65-F5344CB8AC3E}">
        <p14:creationId xmlns:p14="http://schemas.microsoft.com/office/powerpoint/2010/main" val="35667459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compares related work on 4 aspects: AI-based Red? AI-based Blue? RL algorithm? Training method?</a:t>
            </a:r>
          </a:p>
          <a:p>
            <a:r>
              <a:rPr lang="en-US" dirty="0"/>
              <a:t>Existing work falls into two training styles:</a:t>
            </a:r>
          </a:p>
          <a:p>
            <a:endParaRPr lang="en-US" dirty="0"/>
          </a:p>
          <a:p>
            <a:r>
              <a:rPr lang="en-US" dirty="0"/>
              <a:t>1. Fixed-opponent training</a:t>
            </a:r>
          </a:p>
          <a:p>
            <a:endParaRPr lang="en-US" dirty="0"/>
          </a:p>
          <a:p>
            <a:r>
              <a:rPr lang="en-US" dirty="0"/>
              <a:t>One side learns, other stays scripted/fixed (e.g., Blue vs. scripted Red, or Red vs. scripted defender)</a:t>
            </a:r>
          </a:p>
          <a:p>
            <a:r>
              <a:rPr lang="en-US" dirty="0"/>
              <a:t>✓ Stable target → easier to converge</a:t>
            </a:r>
          </a:p>
          <a:p>
            <a:r>
              <a:rPr lang="en-US" dirty="0"/>
              <a:t>✗ Fails against stronger or unseen strategies</a:t>
            </a:r>
          </a:p>
          <a:p>
            <a:endParaRPr lang="en-US" dirty="0"/>
          </a:p>
          <a:p>
            <a:r>
              <a:rPr lang="en-US" dirty="0"/>
              <a:t>2. Simultaneous co-evolution</a:t>
            </a:r>
          </a:p>
          <a:p>
            <a:endParaRPr lang="en-US" dirty="0"/>
          </a:p>
          <a:p>
            <a:r>
              <a:rPr lang="en-US" dirty="0"/>
              <a:t>Both Red and Blue update together</a:t>
            </a:r>
          </a:p>
          <a:p>
            <a:r>
              <a:rPr lang="en-US" dirty="0"/>
              <a:t>✓ Both sides adapt</a:t>
            </a:r>
          </a:p>
          <a:p>
            <a:r>
              <a:rPr lang="en-US" dirty="0"/>
              <a:t>✗ Environment becomes non-stationary → opponent keeps shifting → unstable, hard to tell if an agent is truly improving</a:t>
            </a:r>
          </a:p>
          <a:p>
            <a:r>
              <a:rPr lang="en-US" dirty="0"/>
              <a:t>My proposal: MG-</a:t>
            </a:r>
            <a:r>
              <a:rPr lang="en-US" dirty="0" err="1"/>
              <a:t>CoE</a:t>
            </a:r>
            <a:r>
              <a:rPr lang="en-US" dirty="0"/>
              <a:t> (multi-generational alternating co-evolution)</a:t>
            </a:r>
          </a:p>
          <a:p>
            <a:endParaRPr lang="en-US" dirty="0"/>
          </a:p>
          <a:p>
            <a:r>
              <a:rPr lang="en-US" dirty="0"/>
              <a:t>Train one side while the other stays fixed</a:t>
            </a:r>
          </a:p>
          <a:p>
            <a:r>
              <a:rPr lang="en-US" dirty="0"/>
              <a:t>Promote the learner only after improvement is verified</a:t>
            </a:r>
          </a:p>
          <a:p>
            <a:r>
              <a:rPr lang="en-US" dirty="0"/>
              <a:t>Then switch roles</a:t>
            </a:r>
          </a:p>
          <a:p>
            <a:r>
              <a:rPr lang="en-US" dirty="0"/>
              <a:t>→ Keeps fixed-opponent stability and lets both sides evolve across generations</a:t>
            </a:r>
          </a:p>
        </p:txBody>
      </p:sp>
    </p:spTree>
    <p:extLst>
      <p:ext uri="{BB962C8B-B14F-4D97-AF65-F5344CB8AC3E}">
        <p14:creationId xmlns:p14="http://schemas.microsoft.com/office/powerpoint/2010/main" val="3361685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rPr>
              <a:t>[Slide 8] From the related work, this thesis focuses on three issues. First is training setup effectiveness. We need a method that avoids both fixed-opponent overfitting and unstable simultaneous learning. Second is multi-generation evolution. It is not enough for one final agent to perform well; we need to verify that performance improves progressively from one generation to the next. Third is cross-generation performance. A good Blue-team agent should not only work against the exact Red-team generation it trained against. It should also remain effective against weaker, stronger, and unseen generations. These three issues lead to the problem formulation: Red-team kill-chain completion and Blue-team kill-chain disruption.</a:t>
            </a:r>
          </a:p>
          <a:p>
            <a:endParaRPr lang="en-US" dirty="0"/>
          </a:p>
        </p:txBody>
      </p:sp>
    </p:spTree>
    <p:extLst>
      <p:ext uri="{BB962C8B-B14F-4D97-AF65-F5344CB8AC3E}">
        <p14:creationId xmlns:p14="http://schemas.microsoft.com/office/powerpoint/2010/main" val="23862425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rPr>
              <a:t>[Slide 9] Before defining the problem, I will briefly introduce the main notation Training is organized at three levels. The first level is the generation, denoted by n. Each generation contains a Red-team agent Rn and a Blue-team agent Bn. Generation 0 is the shared baseline. The second level is the episode, denoted by e. One episode means one complete Red-team and Blue-team interaction inside the Cyber Range.</a:t>
            </a:r>
          </a:p>
          <a:p>
            <a:endParaRPr lang="en-US" dirty="0"/>
          </a:p>
        </p:txBody>
      </p:sp>
    </p:spTree>
    <p:extLst>
      <p:ext uri="{BB962C8B-B14F-4D97-AF65-F5344CB8AC3E}">
        <p14:creationId xmlns:p14="http://schemas.microsoft.com/office/powerpoint/2010/main" val="28179633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6A795E93-B33B-4546-B66E-F4326678B1BF}"/>
              </a:ext>
            </a:extLst>
          </p:cNvPr>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The third level is the step, where the Red-team step is indexed by j, and the Blue-team step is indexed by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a:t>
            </a:r>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rPr>
              <a:t>[Slide 11] The core problem is a sequential adversarial decision-making problem. The Red-team agent wants to complete a kill chain. Blue-team agent has the opposite objective. Therefore, this thesis formulates two problems: first, how the Red team completes the kill chain; and second, how the Blue team disrupts the kill chain.</a:t>
            </a:r>
          </a:p>
          <a:p>
            <a:endParaRPr lang="en-US" dirty="0"/>
          </a:p>
        </p:txBody>
      </p:sp>
    </p:spTree>
    <p:extLst>
      <p:ext uri="{BB962C8B-B14F-4D97-AF65-F5344CB8AC3E}">
        <p14:creationId xmlns:p14="http://schemas.microsoft.com/office/powerpoint/2010/main" val="1939328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Red-team goal: kill-chain completion (reach the goal host)</a:t>
            </a:r>
          </a:p>
          <a:p>
            <a:r>
              <a:rPr lang="en-US" dirty="0"/>
              <a:t>Inputs to the Red agent:</a:t>
            </a:r>
          </a:p>
          <a:p>
            <a:endParaRPr lang="en-US" dirty="0"/>
          </a:p>
          <a:p>
            <a:r>
              <a:rPr lang="en-US" dirty="0"/>
              <a:t>current observation</a:t>
            </a:r>
          </a:p>
          <a:p>
            <a:r>
              <a:rPr lang="en-US" dirty="0"/>
              <a:t>ATT&amp;CK technique schemas (catalogue)</a:t>
            </a:r>
          </a:p>
          <a:p>
            <a:r>
              <a:rPr lang="en-US" dirty="0"/>
              <a:t>set of possible kill-chain paths</a:t>
            </a:r>
          </a:p>
          <a:p>
            <a:r>
              <a:rPr lang="en-US" dirty="0"/>
              <a:t>Red-team action space</a:t>
            </a:r>
          </a:p>
          <a:p>
            <a:endParaRPr lang="en-US" dirty="0"/>
          </a:p>
          <a:p>
            <a:endParaRPr lang="en-US" dirty="0"/>
          </a:p>
          <a:p>
            <a:r>
              <a:rPr lang="en-US" dirty="0"/>
              <a:t>At each step: pick one ATT&amp;CK technique and bind concrete parameters</a:t>
            </a:r>
          </a:p>
          <a:p>
            <a:endParaRPr lang="en-US" dirty="0"/>
          </a:p>
          <a:p>
            <a:r>
              <a:rPr lang="en-US" dirty="0"/>
              <a:t>e.g., lateral movement isn't enough → must also choose target IP, port, credential (if required)</a:t>
            </a:r>
          </a:p>
          <a:p>
            <a:endParaRPr lang="en-US" dirty="0"/>
          </a:p>
          <a:p>
            <a:endParaRPr lang="en-US" dirty="0"/>
          </a:p>
          <a:p>
            <a:r>
              <a:rPr lang="en-US" dirty="0"/>
              <a:t>Outputs:</a:t>
            </a:r>
          </a:p>
          <a:p>
            <a:endParaRPr lang="en-US" dirty="0"/>
          </a:p>
          <a:p>
            <a:r>
              <a:rPr lang="en-US" dirty="0"/>
              <a:t>a sequence of Red actions across the episode</a:t>
            </a:r>
          </a:p>
          <a:p>
            <a:r>
              <a:rPr lang="en-US" dirty="0"/>
              <a:t>outcome flag </a:t>
            </a:r>
            <a:r>
              <a:rPr lang="en-US" dirty="0" err="1"/>
              <a:t>yeRy^R_e</a:t>
            </a:r>
            <a:endParaRPr lang="en-US" dirty="0"/>
          </a:p>
          <a:p>
            <a:r>
              <a:rPr lang="en-US" dirty="0" err="1"/>
              <a:t>yeR</a:t>
            </a:r>
            <a:r>
              <a:rPr lang="en-US" dirty="0"/>
              <a:t>​ → if </a:t>
            </a:r>
            <a:r>
              <a:rPr lang="en-US" dirty="0" err="1"/>
              <a:t>yeR</a:t>
            </a:r>
            <a:r>
              <a:rPr lang="en-US" dirty="0"/>
              <a:t>=1y^R_e = 1</a:t>
            </a:r>
          </a:p>
          <a:p>
            <a:r>
              <a:rPr lang="en-US" dirty="0" err="1"/>
              <a:t>yeR</a:t>
            </a:r>
            <a:r>
              <a:rPr lang="en-US" dirty="0"/>
              <a:t>​=1, goal host reached</a:t>
            </a:r>
          </a:p>
          <a:p>
            <a:endParaRPr lang="en-US" dirty="0"/>
          </a:p>
          <a:p>
            <a:endParaRPr lang="en-US" dirty="0"/>
          </a:p>
          <a:p>
            <a:r>
              <a:rPr lang="en-US" dirty="0"/>
              <a:t>Objective: maximize episode-level success rate → over many episodes, learn attack chains that reach the goal more often</a:t>
            </a:r>
          </a:p>
          <a:p>
            <a:r>
              <a:rPr lang="en-US" dirty="0"/>
              <a:t>Constraints (keep actions valid/meaningful):</a:t>
            </a:r>
          </a:p>
          <a:p>
            <a:endParaRPr lang="en-US" dirty="0"/>
          </a:p>
          <a:p>
            <a:r>
              <a:rPr lang="en-US" dirty="0"/>
              <a:t>must pick a kill-chain path at episode start</a:t>
            </a:r>
          </a:p>
          <a:p>
            <a:r>
              <a:rPr lang="en-US" dirty="0"/>
              <a:t>each technique must follow the current tactic position in that path</a:t>
            </a:r>
          </a:p>
          <a:p>
            <a:r>
              <a:rPr lang="en-US" dirty="0"/>
              <a:t>technique must satisfy its schema preconditions before execution</a:t>
            </a:r>
          </a:p>
          <a:p>
            <a:endParaRPr lang="en-US" dirty="0"/>
          </a:p>
        </p:txBody>
      </p:sp>
    </p:spTree>
    <p:extLst>
      <p:ext uri="{BB962C8B-B14F-4D97-AF65-F5344CB8AC3E}">
        <p14:creationId xmlns:p14="http://schemas.microsoft.com/office/powerpoint/2010/main" val="1327492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Blue-team goal: kill-chain disruption (stop the attack before it completes)</a:t>
            </a:r>
          </a:p>
          <a:p>
            <a:r>
              <a:rPr lang="en-US" dirty="0"/>
              <a:t>Inputs: observations from the Cyber Range → logs, alerts</a:t>
            </a:r>
          </a:p>
          <a:p>
            <a:r>
              <a:rPr lang="en-US" dirty="0"/>
              <a:t>Detection step: judge whether the evidence indicates malicious behavior → output detection flag </a:t>
            </a:r>
            <a:r>
              <a:rPr lang="en-US" dirty="0" err="1"/>
              <a:t>de,id</a:t>
            </a:r>
            <a:r>
              <a:rPr lang="en-US" dirty="0"/>
              <a:t>_{</a:t>
            </a:r>
            <a:r>
              <a:rPr lang="en-US" dirty="0" err="1"/>
              <a:t>e,i</a:t>
            </a:r>
            <a:r>
              <a:rPr lang="en-US" dirty="0"/>
              <a:t>}</a:t>
            </a:r>
          </a:p>
          <a:p>
            <a:r>
              <a:rPr lang="en-US" dirty="0" err="1"/>
              <a:t>de,i</a:t>
            </a:r>
            <a:r>
              <a:rPr lang="en-US" dirty="0"/>
              <a:t>​</a:t>
            </a:r>
          </a:p>
          <a:p>
            <a:r>
              <a:rPr lang="en-US" dirty="0"/>
              <a:t>Response step: if malicious activity detected → select a response action from the Blue action space</a:t>
            </a:r>
          </a:p>
          <a:p>
            <a:r>
              <a:rPr lang="en-US" dirty="0"/>
              <a:t>Outputs:</a:t>
            </a:r>
          </a:p>
          <a:p>
            <a:endParaRPr lang="en-US" dirty="0"/>
          </a:p>
          <a:p>
            <a:r>
              <a:rPr lang="en-US" dirty="0"/>
              <a:t>a sequence of Blue-team actions</a:t>
            </a:r>
          </a:p>
          <a:p>
            <a:r>
              <a:rPr lang="en-US" dirty="0"/>
              <a:t>outcome flag </a:t>
            </a:r>
            <a:r>
              <a:rPr lang="en-US" dirty="0" err="1"/>
              <a:t>yeBy^B_e</a:t>
            </a:r>
            <a:endParaRPr lang="en-US" dirty="0"/>
          </a:p>
          <a:p>
            <a:r>
              <a:rPr lang="en-US" dirty="0" err="1"/>
              <a:t>yeB</a:t>
            </a:r>
            <a:r>
              <a:rPr lang="en-US" dirty="0"/>
              <a:t>​ → if </a:t>
            </a:r>
            <a:r>
              <a:rPr lang="en-US" dirty="0" err="1"/>
              <a:t>yeB</a:t>
            </a:r>
            <a:r>
              <a:rPr lang="en-US" dirty="0"/>
              <a:t>=1y^B_e = 1</a:t>
            </a:r>
          </a:p>
          <a:p>
            <a:r>
              <a:rPr lang="en-US" dirty="0" err="1"/>
              <a:t>yeB</a:t>
            </a:r>
            <a:r>
              <a:rPr lang="en-US" dirty="0"/>
              <a:t>​=1, Blue disrupts the kill chain before Red succeeds</a:t>
            </a:r>
          </a:p>
          <a:p>
            <a:endParaRPr lang="en-US" dirty="0"/>
          </a:p>
          <a:p>
            <a:endParaRPr lang="en-US" dirty="0"/>
          </a:p>
          <a:p>
            <a:r>
              <a:rPr lang="en-US" dirty="0"/>
              <a:t>Objective: maximize suppression rate</a:t>
            </a:r>
          </a:p>
          <a:p>
            <a:endParaRPr lang="en-US" dirty="0"/>
          </a:p>
          <a:p>
            <a:r>
              <a:rPr lang="en-US" dirty="0"/>
              <a:t>detect and respond early enough to stop the attack</a:t>
            </a:r>
          </a:p>
          <a:p>
            <a:r>
              <a:rPr lang="en-US" dirty="0"/>
              <a:t>but avoid unnecessary disruptive responses (don't over-react / over-block</a:t>
            </a:r>
          </a:p>
        </p:txBody>
      </p:sp>
    </p:spTree>
    <p:extLst>
      <p:ext uri="{BB962C8B-B14F-4D97-AF65-F5344CB8AC3E}">
        <p14:creationId xmlns:p14="http://schemas.microsoft.com/office/powerpoint/2010/main" val="38767496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rPr>
              <a:t>[Slide 14] To solve the, I propose the Multi-generational Co-Evolution framework, or MG-</a:t>
            </a:r>
            <a:r>
              <a:rPr lang="en-US" sz="1800" dirty="0" err="1">
                <a:effectLst/>
                <a:latin typeface="Times New Roman" panose="02020603050405020304" pitchFamily="18" charset="0"/>
                <a:ea typeface="Times New Roman" panose="02020603050405020304" pitchFamily="18" charset="0"/>
              </a:rPr>
              <a:t>CoE</a:t>
            </a:r>
            <a:r>
              <a:rPr lang="en-US" sz="1800" dirty="0">
                <a:effectLst/>
                <a:latin typeface="Times New Roman" panose="02020603050405020304" pitchFamily="18" charset="0"/>
                <a:ea typeface="Times New Roman" panose="02020603050405020304" pitchFamily="18" charset="0"/>
              </a:rPr>
              <a:t>. The main idea is to train Red and Blue agents in an alternating way instead of updating both agents at the same time. We start with the initial Red-team agent, R0, and Blue-team agent, B0. First, the Blue-team agent is fixed, and the Red-team candidate trains against it. If the Red-team candidate shows enough improvement over the previous Red generation, it is promoted to the next generation, for example from R0 to R1. Then the direction is reversed. The promoted Red-team agent is fixed, and the Blue-team candidate trains against it. If the Blue-team candidate improves enough in suppression rate, it is promoted, for example from B0 to B1. This process repeats across generations. So each agent always trains against a stable opponent, but the opponent becomes stronger over time. This gives us both stability and evolution.</a:t>
            </a:r>
          </a:p>
          <a:p>
            <a:endParaRPr lang="en-US" dirty="0"/>
          </a:p>
        </p:txBody>
      </p:sp>
    </p:spTree>
    <p:extLst>
      <p:ext uri="{BB962C8B-B14F-4D97-AF65-F5344CB8AC3E}">
        <p14:creationId xmlns:p14="http://schemas.microsoft.com/office/powerpoint/2010/main" val="684776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802B6-1174-BB7B-3CBA-5E10A2DDC2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46627-F1EE-831A-89BE-C08069C33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E42E35-C879-056E-5FCE-A8350C78AB7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rPr>
              <a:t>This figure shows the step-level interaction between the Red-team agent, the Cyber Range, and the Blue-team agent. At each step, the Red-team agent first observes the current Cyber Range state. Based on this observation, it selects an ATT&amp;CK technique and also resolves the required parameters, such as the target host, credential, port, or command. This Red-team action is sent to the Cyber Range. The Cyber Range validates the action, executes the corresponding state transition, updates the environment state, and generates telemetry. The telemetry is then given to the Blue-team agent. The Blue-team agent first performs detection. If it detects suspicious or malicious activity, it selects a defensive response,  The Cyber Range then applies the Blue-team response, updates the state again, computes rewards, and checks whether the episode ends. The episode ends when the Red team reaches the goal host, the Blue team suppresses the attack, or the maximum episode length is reached.</a:t>
            </a:r>
          </a:p>
          <a:p>
            <a:endParaRPr lang="en-US" dirty="0"/>
          </a:p>
        </p:txBody>
      </p:sp>
    </p:spTree>
    <p:extLst>
      <p:ext uri="{BB962C8B-B14F-4D97-AF65-F5344CB8AC3E}">
        <p14:creationId xmlns:p14="http://schemas.microsoft.com/office/powerpoint/2010/main" val="5292077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802B6-1174-BB7B-3CBA-5E10A2DDC2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46627-F1EE-831A-89BE-C08069C33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E42E35-C879-056E-5FCE-A8350C78AB75}"/>
              </a:ext>
            </a:extLst>
          </p:cNvPr>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The Red-team action space is organized according to MITRE ATT&amp;CK tactics. A realistic cyber attack follows a lifecycle: for example, execution, credential access, lateral movement, and impact. Each tactic contains a set of possible ATT&amp;CK techniques. For example, under Execution, the agent may choose PowerShell, Windows Command Shell, or Python. Under Credential Access, it may choose LSASS dumping or credential stores. In this way, the Red-team agent learns to build structured kill chains instead of isolated attack steps.</a:t>
            </a:r>
            <a:endParaRPr lang="en-US" dirty="0"/>
          </a:p>
        </p:txBody>
      </p:sp>
    </p:spTree>
    <p:extLst>
      <p:ext uri="{BB962C8B-B14F-4D97-AF65-F5344CB8AC3E}">
        <p14:creationId xmlns:p14="http://schemas.microsoft.com/office/powerpoint/2010/main" val="38194531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A technique schema defines how each ATT&amp;CK technique behaves inside the Cyber Range. The problem is that many cyber actions are only meaningful under certain conditions. For example, SMB lateral movement cannot be executed unless the agent has valid credentials, port 445 is open, and the target host is Windows. Therefore, each technique schema contains several parts. It includes the technique ID, technique name, tactic, required state, required parameters, expected state updates, observable evidence, and detectability risk. For example, for T1021.002, SMB or Windows Admin Shares, the required state includes valid credentials and port 445. The required parameters include the target IP and credential ID as SMB authentication success or new process creation is generated for the Blue-team agent. This schema prevents wasted exploration. The Red team cannot execute meaningless actions, and the Blue team can receive realistic telemetry evidence from Red-team activity.</a:t>
            </a:r>
            <a:endParaRPr lang="en-US" dirty="0"/>
          </a:p>
        </p:txBody>
      </p:sp>
    </p:spTree>
    <p:extLst>
      <p:ext uri="{BB962C8B-B14F-4D97-AF65-F5344CB8AC3E}">
        <p14:creationId xmlns:p14="http://schemas.microsoft.com/office/powerpoint/2010/main" val="28067978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The Red-team action selection process has three main stages: technique selection, validation, and parameter resolution. First, at the beginning of an episode, the Red-team agent selects a kill-chain path. This path defines the order of tactics that the agent should follow. At each step, the current tactic is used to form a candidate set of techniques. In other words, the agent only chooses from techniques whose tactic matches the current position in the kill-chain path. Then the DDQN-based technique selector chooses one candidate technique. However, the selected technique is not executed immediately. The validator checks whether the technique satisfies the required state conditions in the current Cyber Range observation. If the technique is valid, the parameter selector resolves the required parameters, such as target IP, credential, port, or command. Finally, the Red-team action is formed as a pair: selected technique plus parameters. This design makes the Red-team policy both learnable and operationally meaningful</a:t>
            </a:r>
            <a:endParaRPr lang="en-US" dirty="0"/>
          </a:p>
        </p:txBody>
      </p:sp>
      <p:sp>
        <p:nvSpPr>
          <p:cNvPr id="4" name="Slide Number Placeholder 3"/>
          <p:cNvSpPr>
            <a:spLocks noGrp="1"/>
          </p:cNvSpPr>
          <p:nvPr>
            <p:ph type="sldNum" sz="quarter" idx="5"/>
          </p:nvPr>
        </p:nvSpPr>
        <p:spPr/>
        <p:txBody>
          <a:bodyPr/>
          <a:lstStyle/>
          <a:p>
            <a:fld id="{00DE9525-EC44-4C74-915E-FB09A07587F3}" type="slidenum">
              <a:rPr lang="en-US" smtClean="0"/>
              <a:t>18</a:t>
            </a:fld>
            <a:endParaRPr lang="en-US"/>
          </a:p>
        </p:txBody>
      </p:sp>
    </p:spTree>
    <p:extLst>
      <p:ext uri="{BB962C8B-B14F-4D97-AF65-F5344CB8AC3E}">
        <p14:creationId xmlns:p14="http://schemas.microsoft.com/office/powerpoint/2010/main" val="32798862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C494F5B-676D-47A6-856F-244046A270B5}"/>
              </a:ext>
            </a:extLst>
          </p:cNvPr>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The Red-team reward is designed to encourage meaningful attack progress rather than random technique execution. A small positive reward is given for successful technique execution, but larger rewards are assigned when the agent achieves important attacker-side progress. The reward also includes stealth. Low-detectability actions receive a small bonus, while high-detectability actions receive penalties. If the Blue team detects or contains the attack, the Red-team agent receives a negative reward. This means the Red-team agent learns not only to complete the kill chain, but also to avoid noisy actions when possible. </a:t>
            </a:r>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DF92B969-ED50-41BF-AC6B-20C0BE98AB59}"/>
              </a:ext>
            </a:extLst>
          </p:cNvPr>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The Blue-team action space contains defensive responses with different levels of operational impact. Then there are low- and medium-impact responses, such as investigation, killing a suspicious process, forcing sign-out, or revoking credentials. Stronger actions include blocking an IP address and isolating a host. Therefore, the Blue-team agent must learn proportional response.it should choose the least disruptive action that is still sufficient to stop the attack. Here,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isolate_host</a:t>
            </a:r>
            <a:r>
              <a:rPr lang="en-US" sz="1800" dirty="0">
                <a:effectLst/>
                <a:latin typeface="Calibri" panose="020F0502020204030204" pitchFamily="34" charset="0"/>
                <a:ea typeface="Calibri" panose="020F0502020204030204" pitchFamily="34" charset="0"/>
                <a:cs typeface="Times New Roman" panose="02020603050405020304" pitchFamily="18" charset="0"/>
              </a:rPr>
              <a:t> is hard containment.</a:t>
            </a:r>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The Blue-team agent has two components: detection and response. First, the Blue-team agent receives telemetry from the Cyber Range. This telemetry may include logs, alerts, process events. The detection component converts this observation into a feature vector and outputs a binary detection flag. If the flag is zero, the agent selects none, because there is not enough evidence for response. If the detection flag is one, the response component selects a defensive action from the Blue-team action space. For example, if the evidence only shows suspicious process execution, killing the process may be enough. But if the evidence shows credential access, then revoking credentials may be more appropriate. If the attacker is moving laterally or reaching a high-value host, stronger actions such as block IP or isolate host may be needed. So the Blue-team agent learns both when to respond and how strongly to respond.</a:t>
            </a:r>
            <a:endParaRPr lang="en-US" dirty="0"/>
          </a:p>
        </p:txBody>
      </p:sp>
      <p:sp>
        <p:nvSpPr>
          <p:cNvPr id="4" name="Slide Number Placeholder 3"/>
          <p:cNvSpPr>
            <a:spLocks noGrp="1"/>
          </p:cNvSpPr>
          <p:nvPr>
            <p:ph type="sldNum" sz="quarter" idx="5"/>
          </p:nvPr>
        </p:nvSpPr>
        <p:spPr/>
        <p:txBody>
          <a:bodyPr/>
          <a:lstStyle/>
          <a:p>
            <a:fld id="{00DE9525-EC44-4C74-915E-FB09A07587F3}" type="slidenum">
              <a:rPr lang="en-US" smtClean="0"/>
              <a:t>21</a:t>
            </a:fld>
            <a:endParaRPr lang="en-US"/>
          </a:p>
        </p:txBody>
      </p:sp>
    </p:spTree>
    <p:extLst>
      <p:ext uri="{BB962C8B-B14F-4D97-AF65-F5344CB8AC3E}">
        <p14:creationId xmlns:p14="http://schemas.microsoft.com/office/powerpoint/2010/main" val="42189259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4F8A996D-7111-4FA7-BB1D-F7A73C4F46ED}"/>
              </a:ext>
            </a:extLst>
          </p:cNvPr>
          <p:cNvSpPr>
            <a:spLocks noGrp="1"/>
          </p:cNvSpPr>
          <p:nvPr>
            <p:ph type="body" idx="1"/>
          </p:nvPr>
        </p:nvSpPr>
        <p:spPr/>
        <p:txBody>
          <a:bodyPr/>
          <a:lstStyle/>
          <a:p>
            <a:r>
              <a:rPr lang="en-US" dirty="0"/>
              <a:t>First, detection is asymmetric — a false negative is penalized the hardest. The idea is that missing a real attack is much worse than raising a false alarm, so this naturally pushes the agent to stay alert and lean toward catching threats rather than ignoring them.</a:t>
            </a:r>
          </a:p>
          <a:p>
            <a:r>
              <a:rPr lang="en-US" dirty="0"/>
              <a:t>Second, I enforce proportionality. A precise, well-justified remediation earns a positive reward, around plus thirty-five, but an unjustified isolation is punished heavily, anywhere from minus forty to minus a hundred and twenty. So the agent learns to pick the least-disruptive response that's still sufficient — kill a process when that's enough, revoke credentials when there's credential access, and only isolate a host when the threat really justifies it</a:t>
            </a:r>
          </a:p>
          <a:p>
            <a:r>
              <a:rPr lang="en-US" dirty="0"/>
              <a:t>And third, every action carries an operational cost. This biases the policy toward minimal intervention, so the agent doesn't over-react or flood the system with responses — which in a real SOC would cause alert fatigue..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F309D-1AC2-7B1A-91FA-82BFD7E533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B7C493-2CD3-9078-DB21-E57910FADB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1D7EA2-FBE7-D719-8BA4-FB1F4E60624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532367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83CB8-3356-4BEC-0825-D666937F01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C60463-F1F4-06D6-3B4B-924FBF7510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616045-94AC-4C4F-B017-88AB7F80BC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E91B1D-97C9-F9A7-122A-95B589271D98}"/>
              </a:ext>
            </a:extLst>
          </p:cNvPr>
          <p:cNvSpPr>
            <a:spLocks noGrp="1"/>
          </p:cNvSpPr>
          <p:nvPr>
            <p:ph type="sldNum" sz="quarter" idx="5"/>
          </p:nvPr>
        </p:nvSpPr>
        <p:spPr/>
        <p:txBody>
          <a:bodyPr/>
          <a:lstStyle/>
          <a:p>
            <a:fld id="{00DE9525-EC44-4C74-915E-FB09A07587F3}" type="slidenum">
              <a:rPr lang="en-US" smtClean="0"/>
              <a:t>24</a:t>
            </a:fld>
            <a:endParaRPr lang="en-US"/>
          </a:p>
        </p:txBody>
      </p:sp>
    </p:spTree>
    <p:extLst>
      <p:ext uri="{BB962C8B-B14F-4D97-AF65-F5344CB8AC3E}">
        <p14:creationId xmlns:p14="http://schemas.microsoft.com/office/powerpoint/2010/main" val="27250629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2904F-A712-6897-8E70-CB39CDE263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AA0E93-712D-1CAA-64FC-F5F5A59F01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E18853-D2E1-C9EE-2F0D-60AFF5879BF9}"/>
              </a:ext>
            </a:extLst>
          </p:cNvPr>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This figure shows the implemented system architecture. The central component is the Range Controller. It connects the Red-team agent, Blue-team agent, State Manager, Execution Agent, Telemetry Module, LLM support component, and Testbed. At the beginning, the Execution Agent can perform reconnaissance on the Testbed to collect host and service information. This information is used to construct the base Cyber Range state. During each episode, the Red-team agent selects an action, the Range Controller validates and applies the action, the State Manager updates the environment, and the Telemetry Module generates Blue-team observations. Then the Blue-team agent detects and responds, and the Range Controller updates the state again and computes rewards. This loop continues until Red succeeds, Blue suppresses the attack, or the episode reaches the maximum length.</a:t>
            </a:r>
            <a:endParaRPr lang="en-US" dirty="0"/>
          </a:p>
        </p:txBody>
      </p:sp>
      <p:sp>
        <p:nvSpPr>
          <p:cNvPr id="4" name="Slide Number Placeholder 3">
            <a:extLst>
              <a:ext uri="{FF2B5EF4-FFF2-40B4-BE49-F238E27FC236}">
                <a16:creationId xmlns:a16="http://schemas.microsoft.com/office/drawing/2014/main" id="{0F1EC290-EB1A-5B43-3EB2-1A49ED400849}"/>
              </a:ext>
            </a:extLst>
          </p:cNvPr>
          <p:cNvSpPr>
            <a:spLocks noGrp="1"/>
          </p:cNvSpPr>
          <p:nvPr>
            <p:ph type="sldNum" sz="quarter" idx="5"/>
          </p:nvPr>
        </p:nvSpPr>
        <p:spPr/>
        <p:txBody>
          <a:bodyPr/>
          <a:lstStyle/>
          <a:p>
            <a:fld id="{00DE9525-EC44-4C74-915E-FB09A07587F3}" type="slidenum">
              <a:rPr lang="en-US" smtClean="0"/>
              <a:t>25</a:t>
            </a:fld>
            <a:endParaRPr lang="en-US"/>
          </a:p>
        </p:txBody>
      </p:sp>
    </p:spTree>
    <p:extLst>
      <p:ext uri="{BB962C8B-B14F-4D97-AF65-F5344CB8AC3E}">
        <p14:creationId xmlns:p14="http://schemas.microsoft.com/office/powerpoint/2010/main" val="15152164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83CB8-3356-4BEC-0825-D666937F01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C60463-F1F4-06D6-3B4B-924FBF7510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616045-94AC-4C4F-B017-88AB7F80BC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E91B1D-97C9-F9A7-122A-95B589271D98}"/>
              </a:ext>
            </a:extLst>
          </p:cNvPr>
          <p:cNvSpPr>
            <a:spLocks noGrp="1"/>
          </p:cNvSpPr>
          <p:nvPr>
            <p:ph type="sldNum" sz="quarter" idx="5"/>
          </p:nvPr>
        </p:nvSpPr>
        <p:spPr/>
        <p:txBody>
          <a:bodyPr/>
          <a:lstStyle/>
          <a:p>
            <a:fld id="{00DE9525-EC44-4C74-915E-FB09A07587F3}" type="slidenum">
              <a:rPr lang="en-US" smtClean="0"/>
              <a:t>26</a:t>
            </a:fld>
            <a:endParaRPr lang="en-US"/>
          </a:p>
        </p:txBody>
      </p:sp>
    </p:spTree>
    <p:extLst>
      <p:ext uri="{BB962C8B-B14F-4D97-AF65-F5344CB8AC3E}">
        <p14:creationId xmlns:p14="http://schemas.microsoft.com/office/powerpoint/2010/main" val="30003480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2904F-A712-6897-8E70-CB39CDE263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AA0E93-712D-1CAA-64FC-F5F5A59F01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E18853-D2E1-C9EE-2F0D-60AFF5879B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1EC290-EB1A-5B43-3EB2-1A49ED400849}"/>
              </a:ext>
            </a:extLst>
          </p:cNvPr>
          <p:cNvSpPr>
            <a:spLocks noGrp="1"/>
          </p:cNvSpPr>
          <p:nvPr>
            <p:ph type="sldNum" sz="quarter" idx="5"/>
          </p:nvPr>
        </p:nvSpPr>
        <p:spPr/>
        <p:txBody>
          <a:bodyPr/>
          <a:lstStyle/>
          <a:p>
            <a:fld id="{00DE9525-EC44-4C74-915E-FB09A07587F3}" type="slidenum">
              <a:rPr lang="en-US" smtClean="0"/>
              <a:t>27</a:t>
            </a:fld>
            <a:endParaRPr lang="en-US"/>
          </a:p>
        </p:txBody>
      </p:sp>
    </p:spTree>
    <p:extLst>
      <p:ext uri="{BB962C8B-B14F-4D97-AF65-F5344CB8AC3E}">
        <p14:creationId xmlns:p14="http://schemas.microsoft.com/office/powerpoint/2010/main" val="3837805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D11DB-39FA-916D-C9D4-4F038A0B9A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99FBCD-1809-0E9F-A710-786B87F026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8D83D4-F437-8F65-2695-B2DE903A759C}"/>
              </a:ext>
            </a:extLst>
          </p:cNvPr>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The evaluation has two parts. First, I compare ACE, FOT, and SCE to answer the question: which training setup produces the most robust Blue-team defense? For this, I evaluate Blue-team suppression against both a weaker Red-team generation and a stronger evolved Red-team generation. Second, I analyze the internal behavior of ACE. Here I ask whether Blue-team suppression improves across generations, whether the Red-team agent continues discovering new kill chains, and whether later Blue-team agents generalize across Red-team generations. The main metric is Blue-team suppression rate, which measures how often the Blue team prevents the Red team from reaching the goal host</a:t>
            </a:r>
            <a:endParaRPr lang="en-US" dirty="0"/>
          </a:p>
        </p:txBody>
      </p:sp>
      <p:sp>
        <p:nvSpPr>
          <p:cNvPr id="4" name="Slide Number Placeholder 3">
            <a:extLst>
              <a:ext uri="{FF2B5EF4-FFF2-40B4-BE49-F238E27FC236}">
                <a16:creationId xmlns:a16="http://schemas.microsoft.com/office/drawing/2014/main" id="{E43E8F34-C3B2-724C-1E4F-DAC9471F829E}"/>
              </a:ext>
            </a:extLst>
          </p:cNvPr>
          <p:cNvSpPr>
            <a:spLocks noGrp="1"/>
          </p:cNvSpPr>
          <p:nvPr>
            <p:ph type="sldNum" sz="quarter" idx="5"/>
          </p:nvPr>
        </p:nvSpPr>
        <p:spPr/>
        <p:txBody>
          <a:bodyPr/>
          <a:lstStyle/>
          <a:p>
            <a:fld id="{00DE9525-EC44-4C74-915E-FB09A07587F3}" type="slidenum">
              <a:rPr lang="en-US" smtClean="0"/>
              <a:t>28</a:t>
            </a:fld>
            <a:endParaRPr lang="en-US"/>
          </a:p>
        </p:txBody>
      </p:sp>
    </p:spTree>
    <p:extLst>
      <p:ext uri="{BB962C8B-B14F-4D97-AF65-F5344CB8AC3E}">
        <p14:creationId xmlns:p14="http://schemas.microsoft.com/office/powerpoint/2010/main" val="17285996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D3680-2718-8D65-A0A3-BF685589DB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AFCCD-A7E1-7301-3BF4-BE7328232C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8914D1-21E4-6803-F234-E4C26EBB38C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340715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0197-E09D-1539-7263-53A12EC6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65972-1F08-FD77-0B38-FD5D8380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88BC2-DEBF-C614-14E9-707B94A7DD53}"/>
              </a:ext>
            </a:extLst>
          </p:cNvPr>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early-generation Red-team agent is relatively easy to stop</a:t>
            </a:r>
          </a:p>
          <a:p>
            <a:r>
              <a:rPr lang="en-US" sz="1800" dirty="0">
                <a:effectLst/>
                <a:latin typeface="Calibri" panose="020F0502020204030204" pitchFamily="34" charset="0"/>
                <a:ea typeface="Calibri" panose="020F0502020204030204" pitchFamily="34" charset="0"/>
                <a:cs typeface="Times New Roman" panose="02020603050405020304" pitchFamily="18" charset="0"/>
              </a:rPr>
              <a:t>However, the difference becomes clear against Red-team Gen 3, which is the stronger evolved attacker. FOT drops to only about 2 percent suppression. This shows that fixed-opponent training overfits to the earlier Red-team behavior and fails when the Red-team strategy evolve</a:t>
            </a:r>
          </a:p>
          <a:p>
            <a:r>
              <a:rPr lang="en-US" sz="1800" dirty="0">
                <a:effectLst/>
                <a:latin typeface="Calibri" panose="020F0502020204030204" pitchFamily="34" charset="0"/>
                <a:ea typeface="Calibri" panose="020F0502020204030204" pitchFamily="34" charset="0"/>
                <a:cs typeface="Times New Roman" panose="02020603050405020304" pitchFamily="18" charset="0"/>
              </a:rPr>
              <a:t>This shows that ACE reaches the same strong defense level as SCE, but with a more stable and verifiable generation-by-generation improvement.</a:t>
            </a:r>
            <a:endParaRPr lang="en-US" dirty="0"/>
          </a:p>
        </p:txBody>
      </p:sp>
    </p:spTree>
    <p:extLst>
      <p:ext uri="{BB962C8B-B14F-4D97-AF65-F5344CB8AC3E}">
        <p14:creationId xmlns:p14="http://schemas.microsoft.com/office/powerpoint/2010/main" val="37536408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0197-E09D-1539-7263-53A12EC6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65972-1F08-FD77-0B38-FD5D8380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88BC2-DEBF-C614-14E9-707B94A7DD53}"/>
              </a:ext>
            </a:extLst>
          </p:cNvPr>
          <p:cNvSpPr>
            <a:spLocks noGrp="1"/>
          </p:cNvSpPr>
          <p:nvPr>
            <p:ph type="body" idx="1"/>
          </p:nvPr>
        </p:nvSpPr>
        <p:spPr/>
        <p:txBody>
          <a:bodyPr/>
          <a:lstStyle/>
          <a:p>
            <a:r>
              <a:rPr lang="en-US" dirty="0"/>
              <a:t>This slide compares training reward stability across the three methods</a:t>
            </a:r>
          </a:p>
          <a:p>
            <a:r>
              <a:rPr lang="en-US" dirty="0"/>
              <a:t>FOT — false stability</a:t>
            </a:r>
          </a:p>
          <a:p>
            <a:endParaRPr lang="en-US" dirty="0"/>
          </a:p>
          <a:p>
            <a:r>
              <a:rPr lang="en-US" dirty="0"/>
              <a:t>Reward curve looks smooth → seems stable</a:t>
            </a:r>
          </a:p>
          <a:p>
            <a:r>
              <a:rPr lang="en-US" dirty="0"/>
              <a:t>But opponent is fixed → Blue learns shortcuts against one attacker</a:t>
            </a:r>
          </a:p>
          <a:p>
            <a:r>
              <a:rPr lang="en-US" dirty="0"/>
              <a:t>Smooth ≠ generalizable</a:t>
            </a:r>
          </a:p>
          <a:p>
            <a:endParaRPr lang="en-US" dirty="0"/>
          </a:p>
          <a:p>
            <a:endParaRPr lang="en-US" dirty="0"/>
          </a:p>
          <a:p>
            <a:r>
              <a:rPr lang="en-US" dirty="0"/>
              <a:t>SCE — continuous oscillation</a:t>
            </a:r>
          </a:p>
          <a:p>
            <a:endParaRPr lang="en-US" dirty="0"/>
          </a:p>
          <a:p>
            <a:r>
              <a:rPr lang="en-US" dirty="0"/>
              <a:t>Red and Blue update at the same time</a:t>
            </a:r>
          </a:p>
          <a:p>
            <a:r>
              <a:rPr lang="en-US" dirty="0"/>
              <a:t>From Blue's view, Red's policy keeps shifting → unstable learning target → chronic instability</a:t>
            </a:r>
          </a:p>
          <a:p>
            <a:endParaRPr lang="en-US" dirty="0"/>
          </a:p>
          <a:p>
            <a:endParaRPr lang="en-US" dirty="0"/>
          </a:p>
          <a:p>
            <a:r>
              <a:rPr lang="en-US" dirty="0"/>
              <a:t>ACE — controlled adaptation</a:t>
            </a:r>
          </a:p>
          <a:p>
            <a:endParaRPr lang="en-US" dirty="0"/>
          </a:p>
          <a:p>
            <a:r>
              <a:rPr lang="en-US" dirty="0"/>
              <a:t>Temporary drops at generation changes (a stronger opponent is introduced)</a:t>
            </a:r>
          </a:p>
          <a:p>
            <a:r>
              <a:rPr lang="en-US" dirty="0"/>
              <a:t>But within each generation the opponent is fixed → learning recovers and stabilizes</a:t>
            </a:r>
          </a:p>
          <a:p>
            <a:r>
              <a:rPr lang="en-US" dirty="0"/>
              <a:t>→ confirms ACE's design goal: controlled adaptation, not chronic instability</a:t>
            </a:r>
          </a:p>
        </p:txBody>
      </p:sp>
    </p:spTree>
    <p:extLst>
      <p:ext uri="{BB962C8B-B14F-4D97-AF65-F5344CB8AC3E}">
        <p14:creationId xmlns:p14="http://schemas.microsoft.com/office/powerpoint/2010/main" val="11769618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4ABB5599-85A0-483A-B6F5-7A7BB7CC8762}"/>
              </a:ext>
            </a:extLst>
          </p:cNvPr>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ACE reaches comparable defensive performance with about 3.6 times fewer episodes. The reason is that ACE trains against a fixed opponent within each generation, so the learning target is more stable and the agent can learn more efficiently</a:t>
            </a:r>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0197-E09D-1539-7263-53A12EC6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65972-1F08-FD77-0B38-FD5D8380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88BC2-DEBF-C614-14E9-707B94A7DD5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60508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0197-E09D-1539-7263-53A12EC6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65972-1F08-FD77-0B38-FD5D8380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88BC2-DEBF-C614-14E9-707B94A7DD5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rPr>
              <a:t>This result is important because it shows monotonic improvement. Each generation becomes stronger than the previous one against the evolved Red-team agent. Against Red Gen 1, suppression stays above 95 percent across generations. This means the Blue team does not forget how to stop weaker attacks while learning to defend against stronger ones.</a:t>
            </a:r>
          </a:p>
          <a:p>
            <a:endParaRPr lang="en-US" dirty="0"/>
          </a:p>
        </p:txBody>
      </p:sp>
    </p:spTree>
    <p:extLst>
      <p:ext uri="{BB962C8B-B14F-4D97-AF65-F5344CB8AC3E}">
        <p14:creationId xmlns:p14="http://schemas.microsoft.com/office/powerpoint/2010/main" val="7085164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0197-E09D-1539-7263-53A12EC6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65972-1F08-FD77-0B38-FD5D8380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88BC2-DEBF-C614-14E9-707B94A7DD53}"/>
              </a:ext>
            </a:extLst>
          </p:cNvPr>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the Red-team agent does not stagnate. As the Blue team becomes stronger and blocks older attack paths, the Red team is forced to explore and discover new attack sequences. Therefore, ACE creates a real arms race: Blue improves its defense, and Red responds by diversifying its attack behavior.</a:t>
            </a:r>
            <a:endParaRPr lang="en-US" dirty="0"/>
          </a:p>
        </p:txBody>
      </p:sp>
    </p:spTree>
    <p:extLst>
      <p:ext uri="{BB962C8B-B14F-4D97-AF65-F5344CB8AC3E}">
        <p14:creationId xmlns:p14="http://schemas.microsoft.com/office/powerpoint/2010/main" val="41852955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0197-E09D-1539-7263-53A12EC6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65972-1F08-FD77-0B38-FD5D8380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88BC2-DEBF-C614-14E9-707B94A7DD5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074952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0197-E09D-1539-7263-53A12EC6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65972-1F08-FD77-0B38-FD5D8380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88BC2-DEBF-C614-14E9-707B94A7DD5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rPr>
              <a:t>This slide analyzes kill-chain progression depth. In earlier generations, successful Red-team attacks occur at shallower depths. As Blue-team defense improves, shallow attack paths are blocked more often, so successful Red-team attacks must go deeper into the kill chain. The success peak shifts from around depth 5 to depth 6, and by Gen 3, successful attacks are spread across deeper positions. At the same time, failure counts increase, showing that the Blue team is stopping more attacks before completion. This means Blue-team improvement does not simply reduce Red-team success. It also changes the kind of Red-team success that remains possible: successful attacks become harder and require deeper sequences.</a:t>
            </a:r>
          </a:p>
          <a:p>
            <a:endParaRPr lang="en-US" dirty="0"/>
          </a:p>
        </p:txBody>
      </p:sp>
    </p:spTree>
    <p:extLst>
      <p:ext uri="{BB962C8B-B14F-4D97-AF65-F5344CB8AC3E}">
        <p14:creationId xmlns:p14="http://schemas.microsoft.com/office/powerpoint/2010/main" val="32247170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0197-E09D-1539-7263-53A12EC6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65972-1F08-FD77-0B38-FD5D8380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88BC2-DEBF-C614-14E9-707B94A7DD5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043126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D11DB-39FA-916D-C9D4-4F038A0B9A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99FBCD-1809-0E9F-A710-786B87F026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8D83D4-F437-8F65-2695-B2DE903A75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3E8F34-C3B2-724C-1E4F-DAC9471F829E}"/>
              </a:ext>
            </a:extLst>
          </p:cNvPr>
          <p:cNvSpPr>
            <a:spLocks noGrp="1"/>
          </p:cNvSpPr>
          <p:nvPr>
            <p:ph type="sldNum" sz="quarter" idx="5"/>
          </p:nvPr>
        </p:nvSpPr>
        <p:spPr/>
        <p:txBody>
          <a:bodyPr/>
          <a:lstStyle/>
          <a:p>
            <a:fld id="{00DE9525-EC44-4C74-915E-FB09A07587F3}" type="slidenum">
              <a:rPr lang="en-US" smtClean="0"/>
              <a:t>39</a:t>
            </a:fld>
            <a:endParaRPr lang="en-US"/>
          </a:p>
        </p:txBody>
      </p:sp>
    </p:spTree>
    <p:extLst>
      <p:ext uri="{BB962C8B-B14F-4D97-AF65-F5344CB8AC3E}">
        <p14:creationId xmlns:p14="http://schemas.microsoft.com/office/powerpoint/2010/main" val="21369475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mj-lt"/>
              <a:buAutoNum type="arabicPeriod"/>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Attacker Discovery and Connection:</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An attacker discovers the honeypot through network scanning or via exposed services. They might identify what appears to be a vulnerable system through services like HTTP, SNMP, or Modbus exposed by your honeypot setup.</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Service Interaction:</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The attacker interacts with the exposed services. For example:</a:t>
            </a:r>
          </a:p>
          <a:p>
            <a:pPr marL="951652" lvl="2" algn="just">
              <a:defRPr/>
            </a:pPr>
            <a:r>
              <a:rPr lang="en-US" sz="16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HTTP: The attacker might attempt to exploit a web application.</a:t>
            </a:r>
          </a:p>
          <a:p>
            <a:pPr marL="951652" lvl="2" algn="just">
              <a:defRPr/>
            </a:pPr>
            <a:r>
              <a:rPr lang="en-US" sz="16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SNMP: They could try to fetch system information.</a:t>
            </a:r>
          </a:p>
          <a:p>
            <a:pPr marL="951652" lvl="2" algn="just">
              <a:defRPr/>
            </a:pPr>
            <a:r>
              <a:rPr lang="en-US" sz="16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Modbus: Interaction might involve attempting to command a simulated PLC device.</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Scripting and Response Simulation:</a:t>
            </a:r>
          </a:p>
          <a:p>
            <a:pPr marL="475826" lvl="1" algn="just">
              <a:defRPr/>
            </a:pPr>
            <a:r>
              <a:rPr lang="en-US" sz="2000" kern="100" dirty="0" err="1">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Py</a:t>
            </a: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 Scripts: These scripts can be used to automate responses to common queries or actions that an attacker might take, enhancing the realism of the honeypot.</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s7comm and snap7 Server: Specifically handle industrial communication protocols, simulating realistic interactions with industrial control systems.</a:t>
            </a:r>
          </a:p>
          <a:p>
            <a:pPr algn="just">
              <a:defRPr/>
            </a:pPr>
            <a:r>
              <a:rPr lang="en-US" sz="2400" kern="100" dirty="0" err="1">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Honeyd</a:t>
            </a: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 and PLC Simulation:</a:t>
            </a:r>
          </a:p>
          <a:p>
            <a:pPr marL="475826" lvl="1" algn="just">
              <a:defRPr/>
            </a:pPr>
            <a:r>
              <a:rPr lang="en-US" sz="2000" kern="100" dirty="0" err="1">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Honeyd</a:t>
            </a: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 Acts as the primary honeypot daemon, managing and simulating the responses of various network services and devices.</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PLC TCP/IP Stack Simulation: Specifically simulates the network stack of a PLC, making it seem as if the attacker is interacting with a real industrial control system.</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Data Logging:</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Logs from Services: Captures all the interactions at the service level, such as commands issued, responses sent, and any anomalies detected.</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Logs from Interaction: Focuses more on the behavior of the attacker, like sequences of actions, times, and potential strategies deduced from their activity.</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LLM Agent:</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Analyzes the interaction logs using advanced machine learning models to generate insights into the attacker’s methods and objectives.</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Potentially adjusts the honeypot’s responses in real-time to continue engaging the attacker or to adapt to new tactics observed.</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Security Analysis and Reporting:</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All captured data is analyzed to determine the nature of the attack, the potential threat it poses, and the effectiveness of the honeypot’s deception.</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Detailed reports can be generated to inform security strategy adjustments and enhance overall defensive measures.</a:t>
            </a:r>
          </a:p>
          <a:p>
            <a:endParaRPr lang="en-US" dirty="0"/>
          </a:p>
        </p:txBody>
      </p:sp>
    </p:spTree>
    <p:extLst>
      <p:ext uri="{BB962C8B-B14F-4D97-AF65-F5344CB8AC3E}">
        <p14:creationId xmlns:p14="http://schemas.microsoft.com/office/powerpoint/2010/main" val="24773942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mj-lt"/>
              <a:buAutoNum type="arabicPeriod"/>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Attacker Discovery and Connection:</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An attacker discovers the honeypot through network scanning or via exposed services. They might identify what appears to be a vulnerable system through services like HTTP, SNMP, or Modbus exposed by your honeypot setup.</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Service Interaction:</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The attacker interacts with the exposed services. For example:</a:t>
            </a:r>
          </a:p>
          <a:p>
            <a:pPr marL="951652" lvl="2" algn="just">
              <a:defRPr/>
            </a:pPr>
            <a:r>
              <a:rPr lang="en-US" sz="16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HTTP: The attacker might attempt to exploit a web application.</a:t>
            </a:r>
          </a:p>
          <a:p>
            <a:pPr marL="951652" lvl="2" algn="just">
              <a:defRPr/>
            </a:pPr>
            <a:r>
              <a:rPr lang="en-US" sz="16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SNMP: They could try to fetch system information.</a:t>
            </a:r>
          </a:p>
          <a:p>
            <a:pPr marL="951652" lvl="2" algn="just">
              <a:defRPr/>
            </a:pPr>
            <a:r>
              <a:rPr lang="en-US" sz="16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Modbus: Interaction might involve attempting to command a simulated PLC device.</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Scripting and Response Simulation:</a:t>
            </a:r>
          </a:p>
          <a:p>
            <a:pPr marL="475826" lvl="1" algn="just">
              <a:defRPr/>
            </a:pPr>
            <a:r>
              <a:rPr lang="en-US" sz="2000" kern="100" dirty="0" err="1">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Py</a:t>
            </a: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 Scripts: These scripts can be used to automate responses to common queries or actions that an attacker might take, enhancing the realism of the honeypot.</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s7comm and snap7 Server: Specifically handle industrial communication protocols, simulating realistic interactions with industrial control systems.</a:t>
            </a:r>
          </a:p>
          <a:p>
            <a:pPr algn="just">
              <a:defRPr/>
            </a:pPr>
            <a:r>
              <a:rPr lang="en-US" sz="2400" kern="100" dirty="0" err="1">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Honeyd</a:t>
            </a: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 and PLC Simulation:</a:t>
            </a:r>
          </a:p>
          <a:p>
            <a:pPr marL="475826" lvl="1" algn="just">
              <a:defRPr/>
            </a:pPr>
            <a:r>
              <a:rPr lang="en-US" sz="2000" kern="100" dirty="0" err="1">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Honeyd</a:t>
            </a: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 Acts as the primary honeypot daemon, managing and simulating the responses of various network services and devices.</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PLC TCP/IP Stack Simulation: Specifically simulates the network stack of a PLC, making it seem as if the attacker is interacting with a real industrial control system.</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Data Logging:</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Logs from Services: Captures all the interactions at the service level, such as commands issued, responses sent, and any anomalies detected.</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Logs from Interaction: Focuses more on the behavior of the attacker, like sequences of actions, times, and potential strategies deduced from their activity.</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LLM Agent:</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Analyzes the interaction logs using advanced machine learning models to generate insights into the attacker’s methods and objectives.</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Potentially adjusts the honeypot’s responses in real-time to continue engaging the attacker or to adapt to new tactics observed.</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Security Analysis and Reporting:</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All captured data is analyzed to determine the nature of the attack, the potential threat it poses, and the effectiveness of the honeypot’s deception.</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Detailed reports can be generated to inform security strategy adjustments and enhance overall defensive measures.</a:t>
            </a:r>
          </a:p>
          <a:p>
            <a:endParaRPr lang="en-US" dirty="0"/>
          </a:p>
        </p:txBody>
      </p:sp>
    </p:spTree>
    <p:extLst>
      <p:ext uri="{BB962C8B-B14F-4D97-AF65-F5344CB8AC3E}">
        <p14:creationId xmlns:p14="http://schemas.microsoft.com/office/powerpoint/2010/main" val="1511778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mj-lt"/>
              <a:buAutoNum type="arabicPeriod"/>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Attacker Discovery and Connection:</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An attacker discovers the honeypot through network scanning or via exposed services. They might identify what appears to be a vulnerable system through services like HTTP, SNMP, or Modbus exposed by your honeypot setup.</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Service Interaction:</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The attacker interacts with the exposed services. For example:</a:t>
            </a:r>
          </a:p>
          <a:p>
            <a:pPr marL="951652" lvl="2" algn="just">
              <a:defRPr/>
            </a:pPr>
            <a:r>
              <a:rPr lang="en-US" sz="16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HTTP: The attacker might attempt to exploit a web application.</a:t>
            </a:r>
          </a:p>
          <a:p>
            <a:pPr marL="951652" lvl="2" algn="just">
              <a:defRPr/>
            </a:pPr>
            <a:r>
              <a:rPr lang="en-US" sz="16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SNMP: They could try to fetch system information.</a:t>
            </a:r>
          </a:p>
          <a:p>
            <a:pPr marL="951652" lvl="2" algn="just">
              <a:defRPr/>
            </a:pPr>
            <a:r>
              <a:rPr lang="en-US" sz="16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Modbus: Interaction might involve attempting to command a simulated PLC device.</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Scripting and Response Simulation:</a:t>
            </a:r>
          </a:p>
          <a:p>
            <a:pPr marL="475826" lvl="1" algn="just">
              <a:defRPr/>
            </a:pPr>
            <a:r>
              <a:rPr lang="en-US" sz="2000" kern="100" dirty="0" err="1">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Py</a:t>
            </a: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 Scripts: These scripts can be used to automate responses to common queries or actions that an attacker might take, enhancing the realism of the honeypot.</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s7comm and snap7 Server: Specifically handle industrial communication protocols, simulating realistic interactions with industrial control systems.</a:t>
            </a:r>
          </a:p>
          <a:p>
            <a:pPr algn="just">
              <a:defRPr/>
            </a:pPr>
            <a:r>
              <a:rPr lang="en-US" sz="2400" kern="100" dirty="0" err="1">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Honeyd</a:t>
            </a: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 and PLC Simulation:</a:t>
            </a:r>
          </a:p>
          <a:p>
            <a:pPr marL="475826" lvl="1" algn="just">
              <a:defRPr/>
            </a:pPr>
            <a:r>
              <a:rPr lang="en-US" sz="2000" kern="100" dirty="0" err="1">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Honeyd</a:t>
            </a: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 Acts as the primary honeypot daemon, managing and simulating the responses of various network services and devices.</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PLC TCP/IP Stack Simulation: Specifically simulates the network stack of a PLC, making it seem as if the attacker is interacting with a real industrial control system.</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Data Logging:</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Logs from Services: Captures all the interactions at the service level, such as commands issued, responses sent, and any anomalies detected.</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Logs from Interaction: Focuses more on the behavior of the attacker, like sequences of actions, times, and potential strategies deduced from their activity.</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LLM Agent:</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Analyzes the interaction logs using advanced machine learning models to generate insights into the attacker’s methods and objectives.</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Potentially adjusts the honeypot’s responses in real-time to continue engaging the attacker or to adapt to new tactics observed.</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Security Analysis and Reporting:</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All captured data is analyzed to determine the nature of the attack, the potential threat it poses, and the effectiveness of the honeypot’s deception.</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Detailed reports can be generated to inform security strategy adjustments and enhance overall defensive measures.</a:t>
            </a:r>
          </a:p>
          <a:p>
            <a:endParaRPr lang="en-US" dirty="0"/>
          </a:p>
        </p:txBody>
      </p:sp>
    </p:spTree>
    <p:extLst>
      <p:ext uri="{BB962C8B-B14F-4D97-AF65-F5344CB8AC3E}">
        <p14:creationId xmlns:p14="http://schemas.microsoft.com/office/powerpoint/2010/main" val="11812056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8DCDE-E07B-9F5F-D0EC-984A189194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48505E-AC03-C9DF-D2BF-7663B840F7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360659-4373-E19E-3D21-8CE208FA71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221234-207D-AEAD-E277-8D30EEF043CC}"/>
              </a:ext>
            </a:extLst>
          </p:cNvPr>
          <p:cNvSpPr>
            <a:spLocks noGrp="1"/>
          </p:cNvSpPr>
          <p:nvPr>
            <p:ph type="sldNum" sz="quarter" idx="5"/>
          </p:nvPr>
        </p:nvSpPr>
        <p:spPr/>
        <p:txBody>
          <a:bodyPr/>
          <a:lstStyle/>
          <a:p>
            <a:fld id="{00DE9525-EC44-4C74-915E-FB09A07587F3}" type="slidenum">
              <a:rPr lang="en-US" smtClean="0"/>
              <a:t>43</a:t>
            </a:fld>
            <a:endParaRPr lang="en-US"/>
          </a:p>
        </p:txBody>
      </p:sp>
    </p:spTree>
    <p:extLst>
      <p:ext uri="{BB962C8B-B14F-4D97-AF65-F5344CB8AC3E}">
        <p14:creationId xmlns:p14="http://schemas.microsoft.com/office/powerpoint/2010/main" val="25917504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802B6-1174-BB7B-3CBA-5E10A2DDC2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46627-F1EE-831A-89BE-C08069C33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E42E35-C879-056E-5FCE-A8350C78AB7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062099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32952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0197-E09D-1539-7263-53A12EC6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65972-1F08-FD77-0B38-FD5D8380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88BC2-DEBF-C614-14E9-707B94A7DD5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90515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0197-E09D-1539-7263-53A12EC6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65972-1F08-FD77-0B38-FD5D8380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88BC2-DEBF-C614-14E9-707B94A7DD5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28626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Дата 3"/>
          <p:cNvSpPr>
            <a:spLocks noGrp="1"/>
          </p:cNvSpPr>
          <p:nvPr>
            <p:ph type="dt" sz="half" idx="10"/>
          </p:nvPr>
        </p:nvSpPr>
        <p:spPr/>
        <p:txBody>
          <a:bodyPr/>
          <a:lstStyle/>
          <a:p>
            <a:fld id="{1B6A6340-A8B6-4C0E-9AF8-8C0E7362FD26}" type="datetime1">
              <a:rPr lang="en-US" smtClean="0"/>
              <a:t>5/28/2026</a:t>
            </a:fld>
            <a:endParaRPr lang="en-US"/>
          </a:p>
        </p:txBody>
      </p:sp>
      <p:sp>
        <p:nvSpPr>
          <p:cNvPr id="5" name="Нижний колонтитул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1552034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p>
        </p:txBody>
      </p:sp>
      <p:sp>
        <p:nvSpPr>
          <p:cNvPr id="3" name="Объект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Дата 3"/>
          <p:cNvSpPr>
            <a:spLocks noGrp="1"/>
          </p:cNvSpPr>
          <p:nvPr>
            <p:ph type="dt" sz="half" idx="10"/>
          </p:nvPr>
        </p:nvSpPr>
        <p:spPr/>
        <p:txBody>
          <a:bodyPr/>
          <a:lstStyle/>
          <a:p>
            <a:fld id="{51765F99-3523-4663-B96E-D7C8705C0A06}" type="datetime1">
              <a:rPr lang="en-US" smtClean="0"/>
              <a:t>5/28/2026</a:t>
            </a:fld>
            <a:endParaRPr lang="en-US"/>
          </a:p>
        </p:txBody>
      </p:sp>
      <p:sp>
        <p:nvSpPr>
          <p:cNvPr id="5" name="Нижний колонтитул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642685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Дата 3"/>
          <p:cNvSpPr>
            <a:spLocks noGrp="1"/>
          </p:cNvSpPr>
          <p:nvPr>
            <p:ph type="dt" sz="half" idx="10"/>
          </p:nvPr>
        </p:nvSpPr>
        <p:spPr/>
        <p:txBody>
          <a:bodyPr/>
          <a:lstStyle/>
          <a:p>
            <a:fld id="{86A236D1-0A5B-45B8-9FAD-0B2841F69442}" type="datetime1">
              <a:rPr lang="en-US" smtClean="0"/>
              <a:t>5/28/2026</a:t>
            </a:fld>
            <a:endParaRPr lang="en-US"/>
          </a:p>
        </p:txBody>
      </p:sp>
      <p:sp>
        <p:nvSpPr>
          <p:cNvPr id="5" name="Нижний колонтитул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383268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p>
        </p:txBody>
      </p:sp>
      <p:sp>
        <p:nvSpPr>
          <p:cNvPr id="3" name="Объект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Объект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Дата 4"/>
          <p:cNvSpPr>
            <a:spLocks noGrp="1"/>
          </p:cNvSpPr>
          <p:nvPr>
            <p:ph type="dt" sz="half" idx="10"/>
          </p:nvPr>
        </p:nvSpPr>
        <p:spPr/>
        <p:txBody>
          <a:bodyPr/>
          <a:lstStyle/>
          <a:p>
            <a:fld id="{3C0EDF80-2212-4051-B308-90A24CBFEB17}" type="datetime1">
              <a:rPr lang="en-US" smtClean="0"/>
              <a:t>5/28/2026</a:t>
            </a:fld>
            <a:endParaRPr lang="en-US"/>
          </a:p>
        </p:txBody>
      </p:sp>
      <p:sp>
        <p:nvSpPr>
          <p:cNvPr id="6" name="Нижний колонтитул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984191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en-US"/>
              <a:t>Click to edit Master title style</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Объект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Объект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Дата 6"/>
          <p:cNvSpPr>
            <a:spLocks noGrp="1"/>
          </p:cNvSpPr>
          <p:nvPr>
            <p:ph type="dt" sz="half" idx="10"/>
          </p:nvPr>
        </p:nvSpPr>
        <p:spPr/>
        <p:txBody>
          <a:bodyPr/>
          <a:lstStyle/>
          <a:p>
            <a:fld id="{57B1ECC0-98D0-4FB2-9B03-5623D78B2C3E}" type="datetime1">
              <a:rPr lang="en-US" smtClean="0"/>
              <a:t>5/28/2026</a:t>
            </a:fld>
            <a:endParaRPr lang="en-US"/>
          </a:p>
        </p:txBody>
      </p:sp>
      <p:sp>
        <p:nvSpPr>
          <p:cNvPr id="8" name="Нижний колонтитул 7"/>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608442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p>
        </p:txBody>
      </p:sp>
      <p:sp>
        <p:nvSpPr>
          <p:cNvPr id="3" name="Дата 2"/>
          <p:cNvSpPr>
            <a:spLocks noGrp="1"/>
          </p:cNvSpPr>
          <p:nvPr>
            <p:ph type="dt" sz="half" idx="10"/>
          </p:nvPr>
        </p:nvSpPr>
        <p:spPr/>
        <p:txBody>
          <a:bodyPr/>
          <a:lstStyle/>
          <a:p>
            <a:fld id="{32F8FE7A-36F5-4CF4-8173-09EAC8F5EAD0}" type="datetime1">
              <a:rPr lang="en-US" smtClean="0"/>
              <a:t>5/28/2026</a:t>
            </a:fld>
            <a:endParaRPr lang="en-US"/>
          </a:p>
        </p:txBody>
      </p:sp>
      <p:sp>
        <p:nvSpPr>
          <p:cNvPr id="4" name="Нижний колонтитул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050773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7AB44C73-E374-47F5-B025-2F15A05EB485}" type="datetime1">
              <a:rPr lang="en-US" smtClean="0"/>
              <a:t>5/28/2026</a:t>
            </a:fld>
            <a:endParaRPr lang="en-US"/>
          </a:p>
        </p:txBody>
      </p:sp>
      <p:sp>
        <p:nvSpPr>
          <p:cNvPr id="3" name="Нижний колонтитул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86211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Дата 4"/>
          <p:cNvSpPr>
            <a:spLocks noGrp="1"/>
          </p:cNvSpPr>
          <p:nvPr>
            <p:ph type="dt" sz="half" idx="10"/>
          </p:nvPr>
        </p:nvSpPr>
        <p:spPr/>
        <p:txBody>
          <a:bodyPr/>
          <a:lstStyle/>
          <a:p>
            <a:fld id="{8CC3DDEB-6326-4A6A-87BB-14011A6385DE}" type="datetime1">
              <a:rPr lang="en-US" smtClean="0"/>
              <a:t>5/28/2026</a:t>
            </a:fld>
            <a:endParaRPr lang="en-US"/>
          </a:p>
        </p:txBody>
      </p:sp>
      <p:sp>
        <p:nvSpPr>
          <p:cNvPr id="6" name="Нижний колонтитул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495117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Дата 4"/>
          <p:cNvSpPr>
            <a:spLocks noGrp="1"/>
          </p:cNvSpPr>
          <p:nvPr>
            <p:ph type="dt" sz="half" idx="10"/>
          </p:nvPr>
        </p:nvSpPr>
        <p:spPr/>
        <p:txBody>
          <a:bodyPr/>
          <a:lstStyle/>
          <a:p>
            <a:fld id="{4ABF89D8-83B1-4C9A-AEBA-21F44ABC6BDB}" type="datetime1">
              <a:rPr lang="en-US" smtClean="0"/>
              <a:t>5/28/2026</a:t>
            </a:fld>
            <a:endParaRPr lang="en-US"/>
          </a:p>
        </p:txBody>
      </p:sp>
      <p:sp>
        <p:nvSpPr>
          <p:cNvPr id="6" name="Нижний колонтитул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079288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p>
        </p:txBody>
      </p:sp>
      <p:sp>
        <p:nvSpPr>
          <p:cNvPr id="3" name="Вертикальный текст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Дата 3"/>
          <p:cNvSpPr>
            <a:spLocks noGrp="1"/>
          </p:cNvSpPr>
          <p:nvPr>
            <p:ph type="dt" sz="half" idx="10"/>
          </p:nvPr>
        </p:nvSpPr>
        <p:spPr/>
        <p:txBody>
          <a:bodyPr/>
          <a:lstStyle/>
          <a:p>
            <a:fld id="{EF197E6C-CCCA-4D49-910D-89376904EE4E}" type="datetime1">
              <a:rPr lang="en-US" smtClean="0"/>
              <a:t>5/28/2026</a:t>
            </a:fld>
            <a:endParaRPr lang="en-US"/>
          </a:p>
        </p:txBody>
      </p:sp>
      <p:sp>
        <p:nvSpPr>
          <p:cNvPr id="5" name="Нижний колонтитул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371722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Дата 3"/>
          <p:cNvSpPr>
            <a:spLocks noGrp="1"/>
          </p:cNvSpPr>
          <p:nvPr>
            <p:ph type="dt" sz="half" idx="10"/>
          </p:nvPr>
        </p:nvSpPr>
        <p:spPr/>
        <p:txBody>
          <a:bodyPr/>
          <a:lstStyle/>
          <a:p>
            <a:fld id="{F7DD7987-DC05-4168-9733-233892813167}" type="datetime1">
              <a:rPr lang="en-US" smtClean="0"/>
              <a:t>5/28/2026</a:t>
            </a:fld>
            <a:endParaRPr lang="en-US"/>
          </a:p>
        </p:txBody>
      </p:sp>
      <p:sp>
        <p:nvSpPr>
          <p:cNvPr id="5" name="Нижний колонтитул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3778519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Заголовок и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p>
        </p:txBody>
      </p:sp>
      <p:sp>
        <p:nvSpPr>
          <p:cNvPr id="3" name="Текст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Дата 3"/>
          <p:cNvSpPr>
            <a:spLocks noGrp="1"/>
          </p:cNvSpPr>
          <p:nvPr>
            <p:ph type="dt" sz="half" idx="10"/>
          </p:nvPr>
        </p:nvSpPr>
        <p:spPr/>
        <p:txBody>
          <a:bodyPr/>
          <a:lstStyle/>
          <a:p>
            <a:fld id="{58825E15-E4A5-42D9-A826-86294B462643}" type="datetime1">
              <a:rPr lang="en-US" smtClean="0"/>
              <a:t>5/28/2026</a:t>
            </a:fld>
            <a:endParaRPr lang="en-US"/>
          </a:p>
        </p:txBody>
      </p:sp>
      <p:sp>
        <p:nvSpPr>
          <p:cNvPr id="5" name="Нижний колонтитул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798519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0"/>
            <a:ext cx="10515600" cy="1325563"/>
          </a:xfrm>
          <a:prstGeom prst="rect">
            <a:avLst/>
          </a:prstGeom>
        </p:spPr>
        <p:txBody>
          <a:bodyPr vert="horz" lIns="91440" tIns="45720" rIns="91440" bIns="45720" rtlCol="0" anchor="ctr">
            <a:normAutofit/>
          </a:bodyPr>
          <a:lstStyle/>
          <a:p>
            <a:r>
              <a:rPr lang="ru-RU" dirty="0"/>
              <a:t>Образец заголовка</a:t>
            </a:r>
            <a:endParaRPr lang="en-US" dirty="0"/>
          </a:p>
        </p:txBody>
      </p:sp>
      <p:sp>
        <p:nvSpPr>
          <p:cNvPr id="3" name="Текст 2"/>
          <p:cNvSpPr>
            <a:spLocks noGrp="1"/>
          </p:cNvSpPr>
          <p:nvPr>
            <p:ph type="body" idx="1"/>
          </p:nvPr>
        </p:nvSpPr>
        <p:spPr>
          <a:xfrm>
            <a:off x="838200" y="1325563"/>
            <a:ext cx="10515600" cy="4851400"/>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endParaRPr lang="en-US" dirty="0"/>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8999A2-EE00-4074-837F-5E64CE342286}" type="datetime1">
              <a:rPr lang="en-US" smtClean="0"/>
              <a:t>5/28/2026</a:t>
            </a:fld>
            <a:endParaRPr lang="en-US"/>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9" name="Номер слайда 5">
            <a:extLst>
              <a:ext uri="{FF2B5EF4-FFF2-40B4-BE49-F238E27FC236}">
                <a16:creationId xmlns:a16="http://schemas.microsoft.com/office/drawing/2014/main" id="{0B94E381-B2C1-388F-5047-69AA11306F8C}"/>
              </a:ext>
            </a:extLst>
          </p:cNvPr>
          <p:cNvSpPr>
            <a:spLocks noGrp="1"/>
          </p:cNvSpPr>
          <p:nvPr>
            <p:ph type="sldNum" sz="quarter" idx="4"/>
          </p:nvPr>
        </p:nvSpPr>
        <p:spPr>
          <a:xfrm>
            <a:off x="9167232" y="6356350"/>
            <a:ext cx="2743200" cy="365125"/>
          </a:xfrm>
          <a:prstGeom prst="rect">
            <a:avLst/>
          </a:prstGeom>
        </p:spPr>
        <p:txBody>
          <a:bodyPr/>
          <a:lstStyle>
            <a:lvl1pPr algn="r">
              <a:defRPr sz="1600">
                <a:latin typeface="Times New Roman" panose="02020603050405020304" pitchFamily="18" charset="0"/>
                <a:cs typeface="Times New Roman" panose="02020603050405020304" pitchFamily="18" charset="0"/>
              </a:defRPr>
            </a:lvl1pPr>
          </a:lstStyle>
          <a:p>
            <a:fld id="{0AC75AE4-2539-48B4-9085-ED268410DA8F}" type="slidenum">
              <a:rPr lang="en-US" smtClean="0"/>
              <a:t>‹#›</a:t>
            </a:fld>
            <a:endParaRPr lang="en-US"/>
          </a:p>
        </p:txBody>
      </p:sp>
      <p:pic>
        <p:nvPicPr>
          <p:cNvPr id="10" name="Picture 2" descr="一張含有 符號, 圓形, 標誌, 設計 的圖片&#10;&#10;自動產生的描述">
            <a:extLst>
              <a:ext uri="{FF2B5EF4-FFF2-40B4-BE49-F238E27FC236}">
                <a16:creationId xmlns:a16="http://schemas.microsoft.com/office/drawing/2014/main" id="{B1F4812E-68CA-7083-4272-BDA309E3E463}"/>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0805532" y="0"/>
            <a:ext cx="1386468" cy="1386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06839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90.png"/><Relationship Id="rId7" Type="http://schemas.openxmlformats.org/officeDocument/2006/relationships/image" Target="../media/image8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0.png"/><Relationship Id="rId4" Type="http://schemas.openxmlformats.org/officeDocument/2006/relationships/image" Target="../media/image5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atomicredteam.io/"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hyperlink" Target="https://arxiv.org/abs/2304.11052"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doi.org/10.6028/NIST.SP.800-61r3"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hyperlink" Target="https://github.com/microsoft/CyberBattleSim" TargetMode="External"/><Relationship Id="rId5" Type="http://schemas.openxmlformats.org/officeDocument/2006/relationships/hyperlink" Target="https://arxiv.org/abs/2402.00891" TargetMode="External"/><Relationship Id="rId4" Type="http://schemas.openxmlformats.org/officeDocument/2006/relationships/hyperlink" Target="https://www.mitre.org/sites/default/files/2021-11/prs-19-01075-28-mitre-attack-design-and-philosophy.pdf"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s://techdocs.broadcom.com/us/en/vmware-cis/desktop-hypervisors/workstation-pro/17-0.html" TargetMode="External"/><Relationship Id="rId7" Type="http://schemas.openxmlformats.org/officeDocument/2006/relationships/hyperlink" Target="https://developers.openai.com/api/reference/overview/"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hyperlink" Target="https://docs.suricata.io/" TargetMode="External"/><Relationship Id="rId5" Type="http://schemas.openxmlformats.org/officeDocument/2006/relationships/hyperlink" Target="https://documentation.wazuh.com/current/index.html" TargetMode="External"/><Relationship Id="rId4" Type="http://schemas.openxmlformats.org/officeDocument/2006/relationships/hyperlink" Target="https://nmap.org/book/"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4A29426D-721A-4698-BA97-DA736205D45B}"/>
              </a:ext>
            </a:extLst>
          </p:cNvPr>
          <p:cNvSpPr>
            <a:spLocks noGrp="1"/>
          </p:cNvSpPr>
          <p:nvPr>
            <p:ph type="ctrTitle"/>
          </p:nvPr>
        </p:nvSpPr>
        <p:spPr>
          <a:xfrm>
            <a:off x="699393" y="2072274"/>
            <a:ext cx="10793214" cy="1356726"/>
          </a:xfrm>
        </p:spPr>
        <p:txBody>
          <a:bodyPr>
            <a:noAutofit/>
          </a:bodyPr>
          <a:lstStyle/>
          <a:p>
            <a:r>
              <a:rPr lang="en-US" sz="3600" dirty="0"/>
              <a:t>RL-LLM Based Co-evolving Multi-generational Red-team and Blue-team AI Agents in a Cyber Range</a:t>
            </a:r>
          </a:p>
        </p:txBody>
      </p:sp>
      <p:sp>
        <p:nvSpPr>
          <p:cNvPr id="5" name="Подзаголовок 2">
            <a:extLst>
              <a:ext uri="{FF2B5EF4-FFF2-40B4-BE49-F238E27FC236}">
                <a16:creationId xmlns:a16="http://schemas.microsoft.com/office/drawing/2014/main" id="{0427FC9B-16F1-48E6-825A-45A4BF2902FA}"/>
              </a:ext>
            </a:extLst>
          </p:cNvPr>
          <p:cNvSpPr>
            <a:spLocks noGrp="1"/>
          </p:cNvSpPr>
          <p:nvPr>
            <p:ph type="subTitle" idx="1"/>
          </p:nvPr>
        </p:nvSpPr>
        <p:spPr>
          <a:xfrm>
            <a:off x="434110" y="4265209"/>
            <a:ext cx="9522691" cy="2396847"/>
          </a:xfrm>
        </p:spPr>
        <p:txBody>
          <a:bodyPr>
            <a:noAutofit/>
          </a:bodyPr>
          <a:lstStyle/>
          <a:p>
            <a:pPr algn="l"/>
            <a:r>
              <a:rPr lang="en-US" sz="1800" b="1" dirty="0">
                <a:latin typeface="Times New Roman" panose="02020603050405020304" pitchFamily="18" charset="0"/>
                <a:cs typeface="Times New Roman" panose="02020603050405020304" pitchFamily="18" charset="0"/>
              </a:rPr>
              <a:t>Student</a:t>
            </a:r>
            <a:r>
              <a:rPr lang="en-US" sz="1800"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Aniket Aggarwal</a:t>
            </a:r>
            <a:endParaRPr lang="en-US" sz="1800" dirty="0">
              <a:latin typeface="Times New Roman" panose="02020603050405020304" pitchFamily="18" charset="0"/>
              <a:cs typeface="Times New Roman" panose="02020603050405020304" pitchFamily="18" charset="0"/>
            </a:endParaRPr>
          </a:p>
          <a:p>
            <a:pPr algn="l"/>
            <a:endParaRPr lang="en-US" sz="1800" dirty="0">
              <a:latin typeface="Times New Roman" panose="02020603050405020304" pitchFamily="18" charset="0"/>
              <a:cs typeface="Times New Roman" panose="02020603050405020304" pitchFamily="18" charset="0"/>
            </a:endParaRPr>
          </a:p>
          <a:p>
            <a:pPr algn="l"/>
            <a:r>
              <a:rPr lang="en-US" sz="1800" b="1" dirty="0">
                <a:latin typeface="Times New Roman" panose="02020603050405020304" pitchFamily="18" charset="0"/>
                <a:cs typeface="Times New Roman" panose="02020603050405020304" pitchFamily="18" charset="0"/>
              </a:rPr>
              <a:t>Advisor</a:t>
            </a:r>
            <a:r>
              <a:rPr lang="en-US" sz="1800" dirty="0">
                <a:latin typeface="Times New Roman" panose="02020603050405020304" pitchFamily="18" charset="0"/>
                <a:cs typeface="Times New Roman" panose="02020603050405020304" pitchFamily="18" charset="0"/>
              </a:rPr>
              <a:t>: Professor Ying-Dar Lin</a:t>
            </a:r>
          </a:p>
          <a:p>
            <a:pPr algn="l"/>
            <a:endParaRPr lang="en-US" sz="1800" dirty="0">
              <a:latin typeface="Times New Roman" panose="02020603050405020304" pitchFamily="18" charset="0"/>
              <a:cs typeface="Times New Roman" panose="02020603050405020304" pitchFamily="18" charset="0"/>
            </a:endParaRPr>
          </a:p>
          <a:p>
            <a:pPr algn="l"/>
            <a:r>
              <a:rPr lang="en-US" sz="1800" b="1" dirty="0">
                <a:latin typeface="Times New Roman" panose="02020603050405020304" pitchFamily="18" charset="0"/>
                <a:cs typeface="Times New Roman" panose="02020603050405020304" pitchFamily="18" charset="0"/>
              </a:rPr>
              <a:t>High Speed Network Lab</a:t>
            </a:r>
          </a:p>
          <a:p>
            <a:pPr algn="l"/>
            <a:r>
              <a:rPr lang="en-US" sz="1800" b="1" dirty="0">
                <a:latin typeface="Times New Roman" panose="02020603050405020304" pitchFamily="18" charset="0"/>
                <a:cs typeface="Times New Roman" panose="02020603050405020304" pitchFamily="18" charset="0"/>
              </a:rPr>
              <a:t>National Yang Ming Chiao</a:t>
            </a:r>
            <a:r>
              <a:rPr lang="en-US" sz="1800" b="1" dirty="0"/>
              <a:t> </a:t>
            </a:r>
            <a:r>
              <a:rPr lang="en-US" sz="1800" b="1" dirty="0">
                <a:latin typeface="Times New Roman" panose="02020603050405020304" pitchFamily="18" charset="0"/>
                <a:cs typeface="Times New Roman" panose="02020603050405020304" pitchFamily="18" charset="0"/>
              </a:rPr>
              <a:t>Tung University, Taiwan</a:t>
            </a:r>
          </a:p>
        </p:txBody>
      </p:sp>
    </p:spTree>
    <p:extLst>
      <p:ext uri="{BB962C8B-B14F-4D97-AF65-F5344CB8AC3E}">
        <p14:creationId xmlns:p14="http://schemas.microsoft.com/office/powerpoint/2010/main" val="2047344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p:txBody>
          <a:bodyPr/>
          <a:lstStyle/>
          <a:p>
            <a:pPr algn="just"/>
            <a:r>
              <a:rPr lang="en-US" dirty="0">
                <a:latin typeface="Times New Roman" panose="02020603050405020304" pitchFamily="18" charset="0"/>
                <a:cs typeface="Times New Roman" panose="02020603050405020304" pitchFamily="18" charset="0"/>
              </a:rPr>
              <a:t>Outline</a:t>
            </a:r>
          </a:p>
        </p:txBody>
      </p:sp>
      <p:sp>
        <p:nvSpPr>
          <p:cNvPr id="5" name="Content Placeholder 4">
            <a:extLst>
              <a:ext uri="{FF2B5EF4-FFF2-40B4-BE49-F238E27FC236}">
                <a16:creationId xmlns:a16="http://schemas.microsoft.com/office/drawing/2014/main" id="{A0771CE3-181A-0E94-EC8D-B209F0EB1D22}"/>
              </a:ext>
            </a:extLst>
          </p:cNvPr>
          <p:cNvSpPr>
            <a:spLocks noGrp="1"/>
          </p:cNvSpPr>
          <p:nvPr>
            <p:ph idx="1"/>
          </p:nvPr>
        </p:nvSpPr>
        <p:spPr>
          <a:xfrm>
            <a:off x="838200" y="1325562"/>
            <a:ext cx="10515600" cy="5532438"/>
          </a:xfrm>
        </p:spPr>
        <p:txBody>
          <a:bodyPr numCol="2">
            <a:normAutofit/>
          </a:bodyPr>
          <a:lstStyle/>
          <a:p>
            <a:pPr algn="just"/>
            <a:r>
              <a:rPr lang="en-US" sz="2400" dirty="0">
                <a:latin typeface="Times New Roman" panose="02020603050405020304" pitchFamily="18" charset="0"/>
                <a:cs typeface="Times New Roman" panose="02020603050405020304" pitchFamily="18" charset="0"/>
              </a:rPr>
              <a:t>Motivation</a:t>
            </a:r>
          </a:p>
          <a:p>
            <a:pPr algn="just"/>
            <a:r>
              <a:rPr lang="en-US" sz="2400" dirty="0">
                <a:latin typeface="Times New Roman" panose="02020603050405020304" pitchFamily="18" charset="0"/>
                <a:cs typeface="Times New Roman" panose="02020603050405020304" pitchFamily="18" charset="0"/>
              </a:rPr>
              <a:t>Background</a:t>
            </a:r>
          </a:p>
          <a:p>
            <a:pPr lvl="1" algn="just"/>
            <a:r>
              <a:rPr lang="en-US" dirty="0"/>
              <a:t>Cybersecurity Training</a:t>
            </a:r>
          </a:p>
          <a:p>
            <a:pPr lvl="1" algn="just"/>
            <a:r>
              <a:rPr lang="en-US" sz="2000" dirty="0">
                <a:ea typeface="微軟正黑體" panose="020B0604030504040204" pitchFamily="34" charset="-120"/>
              </a:rPr>
              <a:t>MITRE ATT&amp;CK</a:t>
            </a:r>
          </a:p>
          <a:p>
            <a:pPr lvl="1" algn="just"/>
            <a:r>
              <a:rPr lang="en-US" dirty="0"/>
              <a:t>RL + Parameterized Cyber Actions</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ea typeface="微軟正黑體" panose="020B0604030504040204" pitchFamily="34" charset="-12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Related works</a:t>
            </a:r>
          </a:p>
          <a:p>
            <a:pPr lvl="1" algn="just"/>
            <a:r>
              <a:rPr lang="en-US" dirty="0"/>
              <a:t>AI-Based Red-Blue Teaming </a:t>
            </a:r>
          </a:p>
          <a:p>
            <a:pPr algn="just"/>
            <a:r>
              <a:rPr lang="en-US" dirty="0"/>
              <a:t>Issues</a:t>
            </a:r>
          </a:p>
          <a:p>
            <a:pPr algn="just"/>
            <a:r>
              <a:rPr lang="en-US" sz="2400" dirty="0"/>
              <a:t>Notations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Problem Statement</a:t>
            </a:r>
          </a:p>
          <a:p>
            <a:pPr lvl="1" algn="just"/>
            <a:endParaRPr lang="en-US" dirty="0">
              <a:latin typeface="Times New Roman" panose="02020603050405020304" pitchFamily="18" charset="0"/>
              <a:cs typeface="Times New Roman" panose="02020603050405020304" pitchFamily="18" charset="0"/>
            </a:endParaRPr>
          </a:p>
          <a:p>
            <a:pPr lvl="1" algn="just"/>
            <a:endParaRPr lang="en-US" dirty="0">
              <a:latin typeface="Times New Roman" panose="02020603050405020304" pitchFamily="18" charset="0"/>
              <a:cs typeface="Times New Roman" panose="02020603050405020304" pitchFamily="18" charset="0"/>
            </a:endParaRPr>
          </a:p>
          <a:p>
            <a:pPr lvl="1" algn="just"/>
            <a:endParaRPr lang="en-US" dirty="0"/>
          </a:p>
          <a:p>
            <a:pPr lvl="1" algn="just"/>
            <a:endParaRPr lang="en-US"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Solution</a:t>
            </a:r>
          </a:p>
          <a:p>
            <a:pPr lvl="1" algn="just"/>
            <a:r>
              <a:rPr lang="en-US" dirty="0"/>
              <a:t>Overview</a:t>
            </a:r>
          </a:p>
          <a:p>
            <a:pPr lvl="1" algn="just"/>
            <a:r>
              <a:rPr lang="en-US" dirty="0">
                <a:latin typeface="Times New Roman" panose="02020603050405020304" pitchFamily="18" charset="0"/>
                <a:cs typeface="Times New Roman" panose="02020603050405020304" pitchFamily="18" charset="0"/>
              </a:rPr>
              <a:t>B</a:t>
            </a:r>
            <a:r>
              <a:rPr lang="en-US" dirty="0"/>
              <a:t>lue Agent Process</a:t>
            </a:r>
          </a:p>
          <a:p>
            <a:pPr lvl="1" algn="just"/>
            <a:r>
              <a:rPr lang="en-US" dirty="0"/>
              <a:t>Red Agent Process</a:t>
            </a:r>
          </a:p>
          <a:p>
            <a:pPr algn="just"/>
            <a:r>
              <a:rPr lang="en-US" dirty="0"/>
              <a:t>Implementation</a:t>
            </a:r>
          </a:p>
          <a:p>
            <a:pPr algn="just"/>
            <a:r>
              <a:rPr lang="en-US" dirty="0"/>
              <a:t>Evaluation</a:t>
            </a:r>
          </a:p>
          <a:p>
            <a:pPr algn="just"/>
            <a:r>
              <a:rPr lang="en-US" dirty="0"/>
              <a:t>Conclusion</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References</a:t>
            </a:r>
          </a:p>
        </p:txBody>
      </p:sp>
      <p:sp>
        <p:nvSpPr>
          <p:cNvPr id="3" name="Slide Number Placeholder 3">
            <a:extLst>
              <a:ext uri="{FF2B5EF4-FFF2-40B4-BE49-F238E27FC236}">
                <a16:creationId xmlns:a16="http://schemas.microsoft.com/office/drawing/2014/main" id="{6BC03CB8-D563-1237-DE90-8D26C6E343FD}"/>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2</a:t>
            </a:fld>
            <a:endParaRPr lang="en-US" dirty="0"/>
          </a:p>
        </p:txBody>
      </p:sp>
    </p:spTree>
    <p:extLst>
      <p:ext uri="{BB962C8B-B14F-4D97-AF65-F5344CB8AC3E}">
        <p14:creationId xmlns:p14="http://schemas.microsoft.com/office/powerpoint/2010/main" val="824782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222624" y="-251651"/>
            <a:ext cx="10515600" cy="1325563"/>
          </a:xfrm>
        </p:spPr>
        <p:txBody>
          <a:bodyPr/>
          <a:lstStyle/>
          <a:p>
            <a:pPr algn="just"/>
            <a:r>
              <a:rPr lang="en-US" dirty="0">
                <a:latin typeface="Times New Roman" panose="02020603050405020304" pitchFamily="18" charset="0"/>
                <a:cs typeface="Times New Roman" panose="02020603050405020304" pitchFamily="18" charset="0"/>
              </a:rPr>
              <a:t>Motivation</a:t>
            </a:r>
          </a:p>
        </p:txBody>
      </p:sp>
      <p:sp>
        <p:nvSpPr>
          <p:cNvPr id="5" name="Content Placeholder 4">
            <a:extLst>
              <a:ext uri="{FF2B5EF4-FFF2-40B4-BE49-F238E27FC236}">
                <a16:creationId xmlns:a16="http://schemas.microsoft.com/office/drawing/2014/main" id="{A0771CE3-181A-0E94-EC8D-B209F0EB1D22}"/>
              </a:ext>
            </a:extLst>
          </p:cNvPr>
          <p:cNvSpPr>
            <a:spLocks noGrp="1"/>
          </p:cNvSpPr>
          <p:nvPr>
            <p:ph idx="1"/>
          </p:nvPr>
        </p:nvSpPr>
        <p:spPr>
          <a:xfrm>
            <a:off x="442758" y="1072557"/>
            <a:ext cx="10515600" cy="5404940"/>
          </a:xfrm>
        </p:spPr>
        <p:txBody>
          <a:bodyPr>
            <a:noAutofit/>
          </a:bodyPr>
          <a:lstStyle/>
          <a:p>
            <a:r>
              <a:rPr lang="en-US" sz="2200" b="1" dirty="0"/>
              <a:t>Why AI Based Red/Blue Team?</a:t>
            </a:r>
          </a:p>
          <a:p>
            <a:pPr lvl="1"/>
            <a:r>
              <a:rPr lang="en-US" sz="1800" dirty="0"/>
              <a:t>Human exercises  → Costly, slow, expert-dependent</a:t>
            </a:r>
          </a:p>
          <a:p>
            <a:pPr lvl="1"/>
            <a:r>
              <a:rPr lang="en-US" sz="1800" dirty="0"/>
              <a:t>AI agents → Scalable, fast, repeatable training</a:t>
            </a:r>
          </a:p>
          <a:p>
            <a:pPr lvl="1"/>
            <a:r>
              <a:rPr lang="en-US" sz="1800" dirty="0"/>
              <a:t>Automates both attack (Red) &amp; defense (Blue)</a:t>
            </a:r>
          </a:p>
          <a:p>
            <a:r>
              <a:rPr lang="en-US" sz="2200" b="1" dirty="0"/>
              <a:t> Why Co-evolve Red and Blue Agents?</a:t>
            </a:r>
          </a:p>
          <a:p>
            <a:pPr lvl="1"/>
            <a:r>
              <a:rPr lang="en-US" sz="1800" dirty="0"/>
              <a:t>Fixed Red/Blue training → overfitting to static opponent</a:t>
            </a:r>
          </a:p>
          <a:p>
            <a:pPr lvl="1"/>
            <a:r>
              <a:rPr lang="en-US" sz="1800" dirty="0"/>
              <a:t>Red ↔ Blue adaptation → Adaptive, robust strategies</a:t>
            </a:r>
          </a:p>
          <a:p>
            <a:pPr lvl="1"/>
            <a:r>
              <a:rPr lang="en-US" sz="1800" dirty="0"/>
              <a:t>Avoids outdated attacker/defender behavior</a:t>
            </a:r>
          </a:p>
          <a:p>
            <a:r>
              <a:rPr lang="en-US" sz="2200" b="1" dirty="0"/>
              <a:t>Why Multi-generation?</a:t>
            </a:r>
            <a:endParaRPr lang="en-US" sz="2200" dirty="0"/>
          </a:p>
          <a:p>
            <a:pPr lvl="1"/>
            <a:r>
              <a:rPr lang="en-US" sz="1800" dirty="0"/>
              <a:t>Simultaneous training → Red &amp; Blue change together → unstable </a:t>
            </a:r>
          </a:p>
          <a:p>
            <a:pPr lvl="1"/>
            <a:r>
              <a:rPr lang="en-US" sz="1800" dirty="0"/>
              <a:t>Multi-generation → stronger opponent each round → stable evolution</a:t>
            </a:r>
          </a:p>
          <a:p>
            <a:r>
              <a:rPr lang="en-US" sz="2200" b="1" dirty="0"/>
              <a:t>Why RL-based?</a:t>
            </a:r>
          </a:p>
          <a:p>
            <a:pPr lvl="1"/>
            <a:r>
              <a:rPr lang="en-US" sz="1800" dirty="0"/>
              <a:t>Cyber kill chains → Sequential + Multi-stage decision problems </a:t>
            </a:r>
          </a:p>
          <a:p>
            <a:pPr lvl="1"/>
            <a:r>
              <a:rPr lang="en-US" sz="1800" dirty="0"/>
              <a:t>RL → Learns long-term attack/defense over time beyond rule-based or heuristic systems.</a:t>
            </a:r>
          </a:p>
          <a:p>
            <a:pPr marL="457200" lvl="1" indent="0">
              <a:buNone/>
            </a:pPr>
            <a:endParaRPr lang="en-US" dirty="0"/>
          </a:p>
        </p:txBody>
      </p:sp>
      <p:sp>
        <p:nvSpPr>
          <p:cNvPr id="7" name="Slide Number Placeholder 3">
            <a:extLst>
              <a:ext uri="{FF2B5EF4-FFF2-40B4-BE49-F238E27FC236}">
                <a16:creationId xmlns:a16="http://schemas.microsoft.com/office/drawing/2014/main" id="{42079826-DAA3-96BC-9856-625451C89A9C}"/>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3</a:t>
            </a:fld>
            <a:endParaRPr lang="en-US" dirty="0"/>
          </a:p>
        </p:txBody>
      </p:sp>
    </p:spTree>
    <p:extLst>
      <p:ext uri="{BB962C8B-B14F-4D97-AF65-F5344CB8AC3E}">
        <p14:creationId xmlns:p14="http://schemas.microsoft.com/office/powerpoint/2010/main" val="2893675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0" y="-296334"/>
            <a:ext cx="10515600" cy="1325563"/>
          </a:xfrm>
        </p:spPr>
        <p:txBody>
          <a:bodyPr/>
          <a:lstStyle/>
          <a:p>
            <a:pPr algn="just"/>
            <a:r>
              <a:rPr lang="en-US" dirty="0">
                <a:latin typeface="Times New Roman" panose="02020603050405020304" pitchFamily="18" charset="0"/>
                <a:cs typeface="Times New Roman" panose="02020603050405020304" pitchFamily="18" charset="0"/>
              </a:rPr>
              <a:t>Background: </a:t>
            </a:r>
            <a:r>
              <a:rPr lang="en-US" dirty="0"/>
              <a:t>Cybersecurity Training</a:t>
            </a:r>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A0771CE3-181A-0E94-EC8D-B209F0EB1D22}"/>
              </a:ext>
            </a:extLst>
          </p:cNvPr>
          <p:cNvSpPr>
            <a:spLocks noGrp="1"/>
          </p:cNvSpPr>
          <p:nvPr>
            <p:ph idx="1"/>
          </p:nvPr>
        </p:nvSpPr>
        <p:spPr>
          <a:xfrm>
            <a:off x="389466" y="1164696"/>
            <a:ext cx="10515600" cy="5275654"/>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dirty="0"/>
              <a:t> Red Team: Attacker Simulation </a:t>
            </a:r>
          </a:p>
          <a:p>
            <a:pPr marL="457200" lvl="1" indent="0" eaLnBrk="0" fontAlgn="base" hangingPunct="0">
              <a:lnSpc>
                <a:spcPct val="100000"/>
              </a:lnSpc>
              <a:spcBef>
                <a:spcPct val="0"/>
              </a:spcBef>
              <a:spcAft>
                <a:spcPct val="0"/>
              </a:spcAft>
              <a:buFontTx/>
              <a:buChar char="•"/>
            </a:pPr>
            <a:r>
              <a:rPr lang="en-US" altLang="en-US" dirty="0"/>
              <a:t>Emulates attacker behavior </a:t>
            </a:r>
          </a:p>
          <a:p>
            <a:pPr marL="457200" lvl="1" indent="0" eaLnBrk="0" fontAlgn="base" hangingPunct="0">
              <a:lnSpc>
                <a:spcPct val="100000"/>
              </a:lnSpc>
              <a:spcBef>
                <a:spcPct val="0"/>
              </a:spcBef>
              <a:spcAft>
                <a:spcPct val="0"/>
              </a:spcAft>
              <a:buFontTx/>
              <a:buChar char="•"/>
            </a:pPr>
            <a:r>
              <a:rPr lang="en-US" altLang="en-US" dirty="0"/>
              <a:t>Performs multi-step attack campaigns </a:t>
            </a:r>
          </a:p>
          <a:p>
            <a:pPr marL="457200" lvl="1" indent="0" eaLnBrk="0" fontAlgn="base" hangingPunct="0">
              <a:lnSpc>
                <a:spcPct val="100000"/>
              </a:lnSpc>
              <a:spcBef>
                <a:spcPct val="0"/>
              </a:spcBef>
              <a:spcAft>
                <a:spcPct val="0"/>
              </a:spcAft>
              <a:buFontTx/>
              <a:buChar char="•"/>
            </a:pPr>
            <a:r>
              <a:rPr lang="en-US" altLang="en-US" dirty="0"/>
              <a:t>Tests defensive capability </a:t>
            </a:r>
          </a:p>
          <a:p>
            <a:pPr marL="457200" lvl="1" indent="0" eaLnBrk="0" fontAlgn="base" hangingPunct="0">
              <a:lnSpc>
                <a:spcPct val="100000"/>
              </a:lnSpc>
              <a:spcBef>
                <a:spcPct val="0"/>
              </a:spcBef>
              <a:spcAft>
                <a:spcPct val="0"/>
              </a:spcAft>
              <a:buFontTx/>
              <a:buChar char="•"/>
            </a:pPr>
            <a:endParaRPr lang="en-US" altLang="en-US" sz="1800" dirty="0"/>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dirty="0"/>
              <a:t> Blue Team: Defender Operations </a:t>
            </a:r>
          </a:p>
          <a:p>
            <a:pPr marL="457200" lvl="1" indent="0" eaLnBrk="0" fontAlgn="base" hangingPunct="0">
              <a:lnSpc>
                <a:spcPct val="100000"/>
              </a:lnSpc>
              <a:spcBef>
                <a:spcPct val="0"/>
              </a:spcBef>
              <a:spcAft>
                <a:spcPct val="0"/>
              </a:spcAft>
              <a:buFontTx/>
              <a:buChar char="•"/>
            </a:pPr>
            <a:r>
              <a:rPr lang="en-US" altLang="en-US" dirty="0"/>
              <a:t>Monitors system/network activity </a:t>
            </a:r>
          </a:p>
          <a:p>
            <a:pPr marL="457200" lvl="1" indent="0" eaLnBrk="0" fontAlgn="base" hangingPunct="0">
              <a:lnSpc>
                <a:spcPct val="100000"/>
              </a:lnSpc>
              <a:spcBef>
                <a:spcPct val="0"/>
              </a:spcBef>
              <a:spcAft>
                <a:spcPct val="0"/>
              </a:spcAft>
              <a:buFontTx/>
              <a:buChar char="•"/>
            </a:pPr>
            <a:r>
              <a:rPr lang="en-US" altLang="en-US" dirty="0"/>
              <a:t>Detects suspicious behavior from logs/alerts </a:t>
            </a:r>
          </a:p>
          <a:p>
            <a:pPr marL="457200" lvl="1" indent="0" eaLnBrk="0" fontAlgn="base" hangingPunct="0">
              <a:lnSpc>
                <a:spcPct val="100000"/>
              </a:lnSpc>
              <a:spcBef>
                <a:spcPct val="0"/>
              </a:spcBef>
              <a:spcAft>
                <a:spcPct val="0"/>
              </a:spcAft>
              <a:buFontTx/>
              <a:buChar char="•"/>
            </a:pPr>
            <a:r>
              <a:rPr lang="en-US" altLang="en-US" dirty="0"/>
              <a:t>Applies defensive actions to stop attacks </a:t>
            </a:r>
          </a:p>
          <a:p>
            <a:pPr marL="457200" lvl="1" indent="0" eaLnBrk="0" fontAlgn="base" hangingPunct="0">
              <a:lnSpc>
                <a:spcPct val="100000"/>
              </a:lnSpc>
              <a:spcBef>
                <a:spcPct val="0"/>
              </a:spcBef>
              <a:spcAft>
                <a:spcPct val="0"/>
              </a:spcAft>
              <a:buFontTx/>
              <a:buChar char="•"/>
            </a:pPr>
            <a:endParaRPr lang="en-US" altLang="en-US" sz="2400" dirty="0"/>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dirty="0"/>
              <a:t> Cyber Range Training </a:t>
            </a:r>
          </a:p>
          <a:p>
            <a:pPr marL="457200" lvl="1" indent="0" eaLnBrk="0" fontAlgn="base" hangingPunct="0">
              <a:lnSpc>
                <a:spcPct val="100000"/>
              </a:lnSpc>
              <a:spcBef>
                <a:spcPct val="0"/>
              </a:spcBef>
              <a:spcAft>
                <a:spcPct val="0"/>
              </a:spcAft>
              <a:buFontTx/>
              <a:buChar char="•"/>
            </a:pPr>
            <a:r>
              <a:rPr lang="en-US" altLang="en-US" dirty="0"/>
              <a:t>Safe controlled environment </a:t>
            </a:r>
          </a:p>
          <a:p>
            <a:pPr marL="457200" lvl="1" indent="0" eaLnBrk="0" fontAlgn="base" hangingPunct="0">
              <a:lnSpc>
                <a:spcPct val="100000"/>
              </a:lnSpc>
              <a:spcBef>
                <a:spcPct val="0"/>
              </a:spcBef>
              <a:spcAft>
                <a:spcPct val="0"/>
              </a:spcAft>
              <a:buFontTx/>
              <a:buChar char="•"/>
            </a:pPr>
            <a:r>
              <a:rPr lang="en-US" altLang="en-US" dirty="0"/>
              <a:t>Repeatable Red–Blue interaction </a:t>
            </a:r>
          </a:p>
          <a:p>
            <a:pPr marL="457200" lvl="1" indent="0" eaLnBrk="0" fontAlgn="base" hangingPunct="0">
              <a:lnSpc>
                <a:spcPct val="100000"/>
              </a:lnSpc>
              <a:spcBef>
                <a:spcPct val="0"/>
              </a:spcBef>
              <a:spcAft>
                <a:spcPct val="0"/>
              </a:spcAft>
              <a:buFontTx/>
              <a:buChar char="•"/>
            </a:pPr>
            <a:r>
              <a:rPr lang="en-US" altLang="en-US" dirty="0"/>
              <a:t>Supports automated attack–defense evaluation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7" name="Slide Number Placeholder 3">
            <a:extLst>
              <a:ext uri="{FF2B5EF4-FFF2-40B4-BE49-F238E27FC236}">
                <a16:creationId xmlns:a16="http://schemas.microsoft.com/office/drawing/2014/main" id="{573A1295-25A0-C9F9-04D0-1B2184EFD152}"/>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4</a:t>
            </a:fld>
            <a:endParaRPr lang="en-US" dirty="0"/>
          </a:p>
        </p:txBody>
      </p:sp>
      <p:pic>
        <p:nvPicPr>
          <p:cNvPr id="9" name="Picture 8">
            <a:extLst>
              <a:ext uri="{FF2B5EF4-FFF2-40B4-BE49-F238E27FC236}">
                <a16:creationId xmlns:a16="http://schemas.microsoft.com/office/drawing/2014/main" id="{6840397B-87E7-494F-90A8-B313C47FAC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5407" y="1663700"/>
            <a:ext cx="6273287" cy="3530600"/>
          </a:xfrm>
          <a:prstGeom prst="rect">
            <a:avLst/>
          </a:prstGeom>
        </p:spPr>
      </p:pic>
    </p:spTree>
    <p:extLst>
      <p:ext uri="{BB962C8B-B14F-4D97-AF65-F5344CB8AC3E}">
        <p14:creationId xmlns:p14="http://schemas.microsoft.com/office/powerpoint/2010/main" val="1921427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3723B25-3314-407E-91F0-C111F4485803}"/>
              </a:ext>
            </a:extLst>
          </p:cNvPr>
          <p:cNvPicPr>
            <a:picLocks noChangeAspect="1"/>
          </p:cNvPicPr>
          <p:nvPr/>
        </p:nvPicPr>
        <p:blipFill>
          <a:blip r:embed="rId3">
            <a:alphaModFix amt="70000"/>
          </a:blip>
          <a:stretch>
            <a:fillRect/>
          </a:stretch>
        </p:blipFill>
        <p:spPr>
          <a:xfrm>
            <a:off x="3877732" y="1417826"/>
            <a:ext cx="8314267" cy="4872907"/>
          </a:xfrm>
          <a:prstGeom prst="rect">
            <a:avLst/>
          </a:prstGeom>
        </p:spPr>
      </p:pic>
      <p:sp>
        <p:nvSpPr>
          <p:cNvPr id="2" name="Title 1">
            <a:extLst>
              <a:ext uri="{FF2B5EF4-FFF2-40B4-BE49-F238E27FC236}">
                <a16:creationId xmlns:a16="http://schemas.microsoft.com/office/drawing/2014/main" id="{773EB630-23EE-044E-8D18-ABC9542278E4}"/>
              </a:ext>
            </a:extLst>
          </p:cNvPr>
          <p:cNvSpPr>
            <a:spLocks noGrp="1"/>
          </p:cNvSpPr>
          <p:nvPr>
            <p:ph type="title"/>
          </p:nvPr>
        </p:nvSpPr>
        <p:spPr>
          <a:xfrm>
            <a:off x="0" y="-162799"/>
            <a:ext cx="10515600" cy="1325563"/>
          </a:xfrm>
        </p:spPr>
        <p:txBody>
          <a:bodyPr/>
          <a:lstStyle/>
          <a:p>
            <a:r>
              <a:rPr lang="en-US" dirty="0">
                <a:latin typeface="Times New Roman" panose="02020603050405020304" pitchFamily="18" charset="0"/>
                <a:cs typeface="Times New Roman" panose="02020603050405020304" pitchFamily="18" charset="0"/>
              </a:rPr>
              <a:t>Background – MITRE ATT&amp;CK</a:t>
            </a:r>
            <a:endParaRPr lang="en-US" dirty="0"/>
          </a:p>
        </p:txBody>
      </p:sp>
      <p:sp>
        <p:nvSpPr>
          <p:cNvPr id="3" name="Content Placeholder 2">
            <a:extLst>
              <a:ext uri="{FF2B5EF4-FFF2-40B4-BE49-F238E27FC236}">
                <a16:creationId xmlns:a16="http://schemas.microsoft.com/office/drawing/2014/main" id="{880AAA72-7BD2-60B7-9BE4-71CD56DCA22D}"/>
              </a:ext>
            </a:extLst>
          </p:cNvPr>
          <p:cNvSpPr>
            <a:spLocks noGrp="1"/>
          </p:cNvSpPr>
          <p:nvPr>
            <p:ph idx="1"/>
          </p:nvPr>
        </p:nvSpPr>
        <p:spPr>
          <a:xfrm>
            <a:off x="29011" y="1220972"/>
            <a:ext cx="4128122" cy="5149665"/>
          </a:xfrm>
        </p:spPr>
        <p:txBody>
          <a:bodyPr>
            <a:noAutofit/>
          </a:bodyPr>
          <a:lstStyle/>
          <a:p>
            <a:r>
              <a:rPr lang="en-US" sz="2000" dirty="0"/>
              <a:t>MITRE ATT&amp;CK Framework:</a:t>
            </a:r>
          </a:p>
          <a:p>
            <a:pPr lvl="1"/>
            <a:r>
              <a:rPr lang="en-US" sz="1600" dirty="0"/>
              <a:t>Defines attacker Tactics, Techniques, Procedures (TTPs)</a:t>
            </a:r>
          </a:p>
          <a:p>
            <a:pPr lvl="1"/>
            <a:r>
              <a:rPr lang="en-US" sz="1600" b="1" dirty="0"/>
              <a:t>Tactics</a:t>
            </a:r>
            <a:r>
              <a:rPr lang="en-US" sz="1600" dirty="0"/>
              <a:t> → attacker goals </a:t>
            </a:r>
          </a:p>
          <a:p>
            <a:pPr lvl="1"/>
            <a:r>
              <a:rPr lang="en-US" sz="1600" b="1" dirty="0"/>
              <a:t>Techniques</a:t>
            </a:r>
            <a:r>
              <a:rPr lang="en-US" sz="1600" dirty="0"/>
              <a:t> → methods to achieve goals </a:t>
            </a:r>
          </a:p>
          <a:p>
            <a:pPr lvl="1"/>
            <a:r>
              <a:rPr lang="en-US" sz="1600" b="1" dirty="0"/>
              <a:t>Procedures</a:t>
            </a:r>
            <a:r>
              <a:rPr lang="en-US" sz="1600" dirty="0"/>
              <a:t> → real-world implementation </a:t>
            </a:r>
          </a:p>
          <a:p>
            <a:pPr lvl="1"/>
            <a:r>
              <a:rPr lang="en-US" sz="1600" b="1" dirty="0"/>
              <a:t>Kill</a:t>
            </a:r>
            <a:r>
              <a:rPr lang="en-US" sz="1600" dirty="0"/>
              <a:t> </a:t>
            </a:r>
            <a:r>
              <a:rPr lang="en-US" sz="1600" b="1" dirty="0"/>
              <a:t>chain</a:t>
            </a:r>
            <a:r>
              <a:rPr lang="en-US" sz="1600" dirty="0"/>
              <a:t> → sequence of techniques </a:t>
            </a:r>
          </a:p>
          <a:p>
            <a:pPr lvl="1"/>
            <a:r>
              <a:rPr lang="en-US" sz="1600" dirty="0"/>
              <a:t>Provides structured attack lifecycle modeling </a:t>
            </a:r>
          </a:p>
          <a:p>
            <a:r>
              <a:rPr lang="en-US" sz="2000" dirty="0"/>
              <a:t>For Enterprise:</a:t>
            </a:r>
          </a:p>
          <a:p>
            <a:pPr lvl="1"/>
            <a:r>
              <a:rPr lang="en-US" sz="1800" dirty="0"/>
              <a:t>14 tactics, </a:t>
            </a:r>
          </a:p>
          <a:p>
            <a:pPr lvl="1"/>
            <a:r>
              <a:rPr lang="en-US" sz="1800" dirty="0"/>
              <a:t>222 techniques, </a:t>
            </a:r>
          </a:p>
          <a:p>
            <a:pPr lvl="1"/>
            <a:r>
              <a:rPr lang="en-US" sz="1800" dirty="0"/>
              <a:t>475 sub-techniques</a:t>
            </a:r>
          </a:p>
        </p:txBody>
      </p:sp>
      <p:sp>
        <p:nvSpPr>
          <p:cNvPr id="15" name="Slide Number Placeholder 3">
            <a:extLst>
              <a:ext uri="{FF2B5EF4-FFF2-40B4-BE49-F238E27FC236}">
                <a16:creationId xmlns:a16="http://schemas.microsoft.com/office/drawing/2014/main" id="{05CAD59C-AE97-7FCC-B681-9B46C203C47A}"/>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5</a:t>
            </a:fld>
            <a:endParaRPr lang="en-US" dirty="0"/>
          </a:p>
        </p:txBody>
      </p:sp>
      <p:sp>
        <p:nvSpPr>
          <p:cNvPr id="13" name="TextBox 12">
            <a:extLst>
              <a:ext uri="{FF2B5EF4-FFF2-40B4-BE49-F238E27FC236}">
                <a16:creationId xmlns:a16="http://schemas.microsoft.com/office/drawing/2014/main" id="{640CCDBA-3EB5-4B87-A6F8-BCDBD15735A7}"/>
              </a:ext>
            </a:extLst>
          </p:cNvPr>
          <p:cNvSpPr txBox="1"/>
          <p:nvPr/>
        </p:nvSpPr>
        <p:spPr>
          <a:xfrm>
            <a:off x="6307666" y="6370637"/>
            <a:ext cx="4207933" cy="338554"/>
          </a:xfrm>
          <a:prstGeom prst="rect">
            <a:avLst/>
          </a:prstGeom>
          <a:noFill/>
        </p:spPr>
        <p:txBody>
          <a:bodyPr wrap="square">
            <a:spAutoFit/>
          </a:bodyPr>
          <a:lstStyle/>
          <a:p>
            <a:r>
              <a:rPr lang="en-US" sz="1600" dirty="0"/>
              <a:t>Figure 1 : MITRE ATT&amp;CK For Enterprise</a:t>
            </a:r>
          </a:p>
        </p:txBody>
      </p:sp>
    </p:spTree>
    <p:extLst>
      <p:ext uri="{BB962C8B-B14F-4D97-AF65-F5344CB8AC3E}">
        <p14:creationId xmlns:p14="http://schemas.microsoft.com/office/powerpoint/2010/main" val="2170136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0" y="-246842"/>
            <a:ext cx="10515600" cy="1325563"/>
          </a:xfrm>
        </p:spPr>
        <p:txBody>
          <a:bodyPr/>
          <a:lstStyle/>
          <a:p>
            <a:pPr algn="just"/>
            <a:r>
              <a:rPr lang="en-US" dirty="0">
                <a:latin typeface="Times New Roman" panose="02020603050405020304" pitchFamily="18" charset="0"/>
                <a:cs typeface="Times New Roman" panose="02020603050405020304" pitchFamily="18" charset="0"/>
              </a:rPr>
              <a:t>Background: </a:t>
            </a:r>
            <a:r>
              <a:rPr lang="en-US" dirty="0"/>
              <a:t>RL + Parameterized Cyber Actions</a:t>
            </a:r>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A0771CE3-181A-0E94-EC8D-B209F0EB1D22}"/>
              </a:ext>
            </a:extLst>
          </p:cNvPr>
          <p:cNvSpPr>
            <a:spLocks noGrp="1"/>
          </p:cNvSpPr>
          <p:nvPr>
            <p:ph idx="1"/>
          </p:nvPr>
        </p:nvSpPr>
        <p:spPr>
          <a:xfrm>
            <a:off x="208665" y="1145989"/>
            <a:ext cx="6006935" cy="4851400"/>
          </a:xfrm>
        </p:spPr>
        <p:txBody>
          <a:bodyPr>
            <a:normAutofit lnSpcReduction="10000"/>
          </a:bodyPr>
          <a:lstStyle/>
          <a:p>
            <a:pPr algn="just"/>
            <a:r>
              <a:rPr lang="en-US" sz="2000" b="1" dirty="0"/>
              <a:t>RL: Sequential Decision-Making</a:t>
            </a:r>
          </a:p>
          <a:p>
            <a:pPr lvl="1" algn="just"/>
            <a:r>
              <a:rPr lang="en-US" sz="1800" dirty="0"/>
              <a:t>Agent observes state → selects action → receives reward </a:t>
            </a:r>
            <a:r>
              <a:rPr lang="en-US" sz="1600" dirty="0"/>
              <a:t>→ Next State</a:t>
            </a:r>
            <a:endParaRPr lang="en-US" sz="1800" dirty="0"/>
          </a:p>
          <a:p>
            <a:pPr lvl="1" algn="just"/>
            <a:r>
              <a:rPr lang="en-US" sz="1800" dirty="0"/>
              <a:t>Learns policy through repeated interaction</a:t>
            </a:r>
          </a:p>
          <a:p>
            <a:pPr lvl="1" algn="just"/>
            <a:endParaRPr lang="en-US" sz="1800" dirty="0"/>
          </a:p>
          <a:p>
            <a:r>
              <a:rPr lang="en-US" sz="2000" b="1" dirty="0"/>
              <a:t>Parameterized Cyber Actions</a:t>
            </a:r>
          </a:p>
          <a:p>
            <a:pPr lvl="1"/>
            <a:r>
              <a:rPr lang="en-US" sz="1800" dirty="0"/>
              <a:t>Cyber action = action type + parameters </a:t>
            </a:r>
          </a:p>
          <a:p>
            <a:pPr lvl="1"/>
            <a:r>
              <a:rPr lang="en-US" sz="1800" dirty="0"/>
              <a:t>Red: technique + target/port/credential/command </a:t>
            </a:r>
          </a:p>
          <a:p>
            <a:pPr lvl="1"/>
            <a:r>
              <a:rPr lang="en-US" sz="1800" dirty="0"/>
              <a:t>Blue: response + host/user/process/IP</a:t>
            </a:r>
          </a:p>
          <a:p>
            <a:pPr lvl="1"/>
            <a:endParaRPr lang="en-US" sz="1800" dirty="0"/>
          </a:p>
          <a:p>
            <a:r>
              <a:rPr lang="en-US" sz="2000" b="1" dirty="0"/>
              <a:t>DDQN: Double Deep Q-Network</a:t>
            </a:r>
          </a:p>
          <a:p>
            <a:pPr lvl="1"/>
            <a:r>
              <a:rPr lang="en-US" sz="1800" b="1" dirty="0"/>
              <a:t>Two networks</a:t>
            </a:r>
            <a:r>
              <a:rPr lang="en-US" sz="1800" dirty="0"/>
              <a:t> → Online Q-network + Target Q-network </a:t>
            </a:r>
          </a:p>
          <a:p>
            <a:pPr lvl="1"/>
            <a:r>
              <a:rPr lang="en-US" sz="1800" b="1" dirty="0"/>
              <a:t>Separate roles</a:t>
            </a:r>
            <a:r>
              <a:rPr lang="en-US" sz="1800" dirty="0"/>
              <a:t> → Online selects action, Target evaluates action </a:t>
            </a:r>
          </a:p>
          <a:p>
            <a:pPr lvl="1"/>
            <a:r>
              <a:rPr lang="en-US" sz="1800" b="1" dirty="0"/>
              <a:t>Benefit</a:t>
            </a:r>
            <a:r>
              <a:rPr lang="en-US" sz="1800" dirty="0"/>
              <a:t> → less overestimation + more stable learning</a:t>
            </a:r>
          </a:p>
          <a:p>
            <a:pPr>
              <a:buFont typeface="Arial" panose="020B0604020202020204" pitchFamily="34" charset="0"/>
              <a:buChar char="•"/>
            </a:pPr>
            <a:endParaRPr lang="en-US" dirty="0"/>
          </a:p>
          <a:p>
            <a:pPr algn="just"/>
            <a:endParaRPr lang="en-US" dirty="0">
              <a:latin typeface="Times New Roman" panose="02020603050405020304" pitchFamily="18" charset="0"/>
              <a:cs typeface="Times New Roman" panose="02020603050405020304" pitchFamily="18" charset="0"/>
            </a:endParaRPr>
          </a:p>
        </p:txBody>
      </p:sp>
      <p:grpSp>
        <p:nvGrpSpPr>
          <p:cNvPr id="1041" name="Group 1040">
            <a:extLst>
              <a:ext uri="{FF2B5EF4-FFF2-40B4-BE49-F238E27FC236}">
                <a16:creationId xmlns:a16="http://schemas.microsoft.com/office/drawing/2014/main" id="{E35F3323-F5ED-4836-8FFF-DC3DCEBF425C}"/>
              </a:ext>
            </a:extLst>
          </p:cNvPr>
          <p:cNvGrpSpPr/>
          <p:nvPr/>
        </p:nvGrpSpPr>
        <p:grpSpPr>
          <a:xfrm>
            <a:off x="6781576" y="2117977"/>
            <a:ext cx="4555194" cy="2907423"/>
            <a:chOff x="7044479" y="2553552"/>
            <a:chExt cx="4555194" cy="2907423"/>
          </a:xfrm>
        </p:grpSpPr>
        <p:sp>
          <p:nvSpPr>
            <p:cNvPr id="7" name="文字方塊 6">
              <a:extLst>
                <a:ext uri="{FF2B5EF4-FFF2-40B4-BE49-F238E27FC236}">
                  <a16:creationId xmlns:a16="http://schemas.microsoft.com/office/drawing/2014/main" id="{5B8AF506-A21E-7947-7795-278CB1FEC10B}"/>
                </a:ext>
              </a:extLst>
            </p:cNvPr>
            <p:cNvSpPr txBox="1"/>
            <p:nvPr/>
          </p:nvSpPr>
          <p:spPr>
            <a:xfrm>
              <a:off x="7399148" y="5122421"/>
              <a:ext cx="4200525" cy="338554"/>
            </a:xfrm>
            <a:prstGeom prst="rect">
              <a:avLst/>
            </a:prstGeom>
            <a:noFill/>
          </p:spPr>
          <p:txBody>
            <a:bodyPr wrap="square">
              <a:spAutoFit/>
            </a:bodyPr>
            <a:lstStyle/>
            <a:p>
              <a:endParaRPr lang="zh-TW" altLang="en-US" sz="1600" dirty="0"/>
            </a:p>
          </p:txBody>
        </p:sp>
        <p:grpSp>
          <p:nvGrpSpPr>
            <p:cNvPr id="1040" name="Group 1039">
              <a:extLst>
                <a:ext uri="{FF2B5EF4-FFF2-40B4-BE49-F238E27FC236}">
                  <a16:creationId xmlns:a16="http://schemas.microsoft.com/office/drawing/2014/main" id="{DAAFB39A-8A94-ECFE-4CE2-2F293D67F994}"/>
                </a:ext>
              </a:extLst>
            </p:cNvPr>
            <p:cNvGrpSpPr/>
            <p:nvPr/>
          </p:nvGrpSpPr>
          <p:grpSpPr>
            <a:xfrm>
              <a:off x="7044479" y="2553552"/>
              <a:ext cx="4555194" cy="2475403"/>
              <a:chOff x="179788" y="4246072"/>
              <a:chExt cx="4555194" cy="2475403"/>
            </a:xfrm>
          </p:grpSpPr>
          <p:sp>
            <p:nvSpPr>
              <p:cNvPr id="8" name="矩形: 圓角 2">
                <a:extLst>
                  <a:ext uri="{FF2B5EF4-FFF2-40B4-BE49-F238E27FC236}">
                    <a16:creationId xmlns:a16="http://schemas.microsoft.com/office/drawing/2014/main" id="{393A5159-3591-A396-D873-D5393B49502F}"/>
                  </a:ext>
                </a:extLst>
              </p:cNvPr>
              <p:cNvSpPr/>
              <p:nvPr/>
            </p:nvSpPr>
            <p:spPr>
              <a:xfrm>
                <a:off x="1943400" y="4317851"/>
                <a:ext cx="1428868" cy="654626"/>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dirty="0">
                    <a:solidFill>
                      <a:schemeClr val="tx1"/>
                    </a:solidFill>
                    <a:latin typeface="Times New Roman" panose="02020603050405020304" pitchFamily="18" charset="0"/>
                    <a:cs typeface="Times New Roman" panose="02020603050405020304" pitchFamily="18" charset="0"/>
                  </a:rPr>
                  <a:t>Agent</a:t>
                </a:r>
                <a:endParaRPr lang="zh-TW" altLang="en-US" sz="1600" dirty="0">
                  <a:solidFill>
                    <a:schemeClr val="tx1"/>
                  </a:solidFill>
                  <a:latin typeface="Times New Roman" panose="02020603050405020304" pitchFamily="18" charset="0"/>
                  <a:cs typeface="Times New Roman" panose="02020603050405020304" pitchFamily="18" charset="0"/>
                </a:endParaRPr>
              </a:p>
            </p:txBody>
          </p:sp>
          <p:sp>
            <p:nvSpPr>
              <p:cNvPr id="9" name="矩形: 圓角 2">
                <a:extLst>
                  <a:ext uri="{FF2B5EF4-FFF2-40B4-BE49-F238E27FC236}">
                    <a16:creationId xmlns:a16="http://schemas.microsoft.com/office/drawing/2014/main" id="{10000ADC-965C-13C7-2DF9-94912D59EDDB}"/>
                  </a:ext>
                </a:extLst>
              </p:cNvPr>
              <p:cNvSpPr/>
              <p:nvPr/>
            </p:nvSpPr>
            <p:spPr>
              <a:xfrm>
                <a:off x="1943400" y="6029037"/>
                <a:ext cx="1428868" cy="654626"/>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dirty="0">
                    <a:solidFill>
                      <a:schemeClr val="tx1"/>
                    </a:solidFill>
                    <a:latin typeface="Times New Roman" panose="02020603050405020304" pitchFamily="18" charset="0"/>
                    <a:cs typeface="Times New Roman" panose="02020603050405020304" pitchFamily="18" charset="0"/>
                  </a:rPr>
                  <a:t>Environment</a:t>
                </a:r>
                <a:endParaRPr lang="zh-TW" altLang="en-US" sz="16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文字方塊 86">
                    <a:extLst>
                      <a:ext uri="{FF2B5EF4-FFF2-40B4-BE49-F238E27FC236}">
                        <a16:creationId xmlns:a16="http://schemas.microsoft.com/office/drawing/2014/main" id="{367B72BA-B654-F3C0-0D50-307724F745CE}"/>
                      </a:ext>
                    </a:extLst>
                  </p:cNvPr>
                  <p:cNvSpPr txBox="1"/>
                  <p:nvPr/>
                </p:nvSpPr>
                <p:spPr>
                  <a:xfrm>
                    <a:off x="764486" y="5958414"/>
                    <a:ext cx="1187605" cy="276999"/>
                  </a:xfrm>
                  <a:prstGeom prst="rect">
                    <a:avLst/>
                  </a:prstGeom>
                  <a:noFill/>
                </p:spPr>
                <p:txBody>
                  <a:bodyPr wrap="square" rtlCol="0">
                    <a:spAutoFit/>
                  </a:bodyPr>
                  <a:lstStyle/>
                  <a:p>
                    <a:r>
                      <a:rPr lang="en-US" altLang="zh-TW" sz="1200" dirty="0">
                        <a:latin typeface="Times New Roman" panose="02020603050405020304" pitchFamily="18" charset="0"/>
                        <a:cs typeface="Times New Roman" panose="02020603050405020304" pitchFamily="18" charset="0"/>
                      </a:rPr>
                      <a:t>Next State </a:t>
                    </a:r>
                    <a14:m>
                      <m:oMath xmlns:m="http://schemas.openxmlformats.org/officeDocument/2006/math">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𝑠</m:t>
                            </m:r>
                          </m:e>
                          <m:sub>
                            <m:r>
                              <a:rPr lang="en-US" altLang="zh-TW" sz="1200" b="0" i="1" smtClean="0">
                                <a:latin typeface="Cambria Math" panose="02040503050406030204" pitchFamily="18" charset="0"/>
                              </a:rPr>
                              <m:t>𝑡</m:t>
                            </m:r>
                            <m:r>
                              <a:rPr lang="en-US" altLang="zh-TW" sz="1200" b="0" i="1" smtClean="0">
                                <a:latin typeface="Cambria Math" panose="02040503050406030204" pitchFamily="18" charset="0"/>
                              </a:rPr>
                              <m:t>+1</m:t>
                            </m:r>
                          </m:sub>
                        </m:sSub>
                      </m:oMath>
                    </a14:m>
                    <a:endParaRPr lang="zh-TW" altLang="en-US" sz="1200" dirty="0">
                      <a:latin typeface="Times New Roman" panose="02020603050405020304" pitchFamily="18" charset="0"/>
                      <a:cs typeface="Times New Roman" panose="02020603050405020304" pitchFamily="18" charset="0"/>
                    </a:endParaRPr>
                  </a:p>
                </p:txBody>
              </p:sp>
            </mc:Choice>
            <mc:Fallback xmlns="">
              <p:sp>
                <p:nvSpPr>
                  <p:cNvPr id="14" name="文字方塊 86">
                    <a:extLst>
                      <a:ext uri="{FF2B5EF4-FFF2-40B4-BE49-F238E27FC236}">
                        <a16:creationId xmlns:a16="http://schemas.microsoft.com/office/drawing/2014/main" id="{367B72BA-B654-F3C0-0D50-307724F745CE}"/>
                      </a:ext>
                    </a:extLst>
                  </p:cNvPr>
                  <p:cNvSpPr txBox="1">
                    <a:spLocks noRot="1" noChangeAspect="1" noMove="1" noResize="1" noEditPoints="1" noAdjustHandles="1" noChangeArrowheads="1" noChangeShapeType="1" noTextEdit="1"/>
                  </p:cNvSpPr>
                  <p:nvPr/>
                </p:nvSpPr>
                <p:spPr>
                  <a:xfrm>
                    <a:off x="764486" y="5958414"/>
                    <a:ext cx="1187605" cy="276999"/>
                  </a:xfrm>
                  <a:prstGeom prst="rect">
                    <a:avLst/>
                  </a:prstGeom>
                  <a:blipFill>
                    <a:blip r:embed="rId4"/>
                    <a:stretch>
                      <a:fillRect l="-513" b="-15217"/>
                    </a:stretch>
                  </a:blipFill>
                </p:spPr>
                <p:txBody>
                  <a:bodyPr/>
                  <a:lstStyle/>
                  <a:p>
                    <a:r>
                      <a:rPr lang="en-US">
                        <a:noFill/>
                      </a:rPr>
                      <a:t> </a:t>
                    </a:r>
                  </a:p>
                </p:txBody>
              </p:sp>
            </mc:Fallback>
          </mc:AlternateContent>
          <p:cxnSp>
            <p:nvCxnSpPr>
              <p:cNvPr id="21" name="Connector: Elbow 20">
                <a:extLst>
                  <a:ext uri="{FF2B5EF4-FFF2-40B4-BE49-F238E27FC236}">
                    <a16:creationId xmlns:a16="http://schemas.microsoft.com/office/drawing/2014/main" id="{F9138682-F8D9-DB23-D59E-114E5F424E22}"/>
                  </a:ext>
                </a:extLst>
              </p:cNvPr>
              <p:cNvCxnSpPr>
                <a:cxnSpLocks/>
                <a:stCxn id="8" idx="3"/>
                <a:endCxn id="9" idx="3"/>
              </p:cNvCxnSpPr>
              <p:nvPr/>
            </p:nvCxnSpPr>
            <p:spPr>
              <a:xfrm>
                <a:off x="3372268" y="4645164"/>
                <a:ext cx="12700" cy="1711186"/>
              </a:xfrm>
              <a:prstGeom prst="bentConnector3">
                <a:avLst>
                  <a:gd name="adj1" fmla="val 1200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24" name="Connector: Elbow 1023">
                <a:extLst>
                  <a:ext uri="{FF2B5EF4-FFF2-40B4-BE49-F238E27FC236}">
                    <a16:creationId xmlns:a16="http://schemas.microsoft.com/office/drawing/2014/main" id="{84582AAB-4430-1E0E-66DC-9B6F77B0A2C6}"/>
                  </a:ext>
                </a:extLst>
              </p:cNvPr>
              <p:cNvCxnSpPr>
                <a:cxnSpLocks/>
              </p:cNvCxnSpPr>
              <p:nvPr/>
            </p:nvCxnSpPr>
            <p:spPr>
              <a:xfrm rot="10800000" flipH="1">
                <a:off x="1943400" y="4766102"/>
                <a:ext cx="4398" cy="1469311"/>
              </a:xfrm>
              <a:prstGeom prst="bentConnector3">
                <a:avLst>
                  <a:gd name="adj1" fmla="val -2772169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32" name="Connector: Elbow 1031">
                <a:extLst>
                  <a:ext uri="{FF2B5EF4-FFF2-40B4-BE49-F238E27FC236}">
                    <a16:creationId xmlns:a16="http://schemas.microsoft.com/office/drawing/2014/main" id="{A6E82019-3109-99A5-2C37-5F01DC9A56FC}"/>
                  </a:ext>
                </a:extLst>
              </p:cNvPr>
              <p:cNvCxnSpPr>
                <a:cxnSpLocks/>
              </p:cNvCxnSpPr>
              <p:nvPr/>
            </p:nvCxnSpPr>
            <p:spPr>
              <a:xfrm rot="10800000" flipH="1">
                <a:off x="1943400" y="4535637"/>
                <a:ext cx="8690" cy="1930240"/>
              </a:xfrm>
              <a:prstGeom prst="bentConnector3">
                <a:avLst>
                  <a:gd name="adj1" fmla="val -19437284"/>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035" name="文字方塊 86">
                    <a:extLst>
                      <a:ext uri="{FF2B5EF4-FFF2-40B4-BE49-F238E27FC236}">
                        <a16:creationId xmlns:a16="http://schemas.microsoft.com/office/drawing/2014/main" id="{D5C33EF8-5C6D-2ACE-D929-299FE2053E66}"/>
                      </a:ext>
                    </a:extLst>
                  </p:cNvPr>
                  <p:cNvSpPr txBox="1"/>
                  <p:nvPr/>
                </p:nvSpPr>
                <p:spPr>
                  <a:xfrm>
                    <a:off x="263951" y="6444476"/>
                    <a:ext cx="1688140" cy="276999"/>
                  </a:xfrm>
                  <a:prstGeom prst="rect">
                    <a:avLst/>
                  </a:prstGeom>
                  <a:noFill/>
                </p:spPr>
                <p:txBody>
                  <a:bodyPr wrap="square" rtlCol="0">
                    <a:spAutoFit/>
                  </a:bodyPr>
                  <a:lstStyle/>
                  <a:p>
                    <a:r>
                      <a:rPr lang="en-US" altLang="zh-TW" sz="1200" b="0" dirty="0"/>
                      <a:t>Immediate Reward </a:t>
                    </a:r>
                    <a14:m>
                      <m:oMath xmlns:m="http://schemas.openxmlformats.org/officeDocument/2006/math">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𝑟</m:t>
                            </m:r>
                          </m:e>
                          <m:sub>
                            <m:r>
                              <a:rPr lang="en-US" altLang="zh-TW" sz="1200" b="0" i="1" smtClean="0">
                                <a:latin typeface="Cambria Math" panose="02040503050406030204" pitchFamily="18" charset="0"/>
                              </a:rPr>
                              <m:t>𝑡</m:t>
                            </m:r>
                            <m:r>
                              <a:rPr lang="en-US" altLang="zh-TW" sz="1200" b="0" i="1" smtClean="0">
                                <a:latin typeface="Cambria Math" panose="02040503050406030204" pitchFamily="18" charset="0"/>
                              </a:rPr>
                              <m:t>+1</m:t>
                            </m:r>
                          </m:sub>
                        </m:sSub>
                      </m:oMath>
                    </a14:m>
                    <a:endParaRPr lang="zh-TW" altLang="en-US" sz="1200" dirty="0">
                      <a:latin typeface="Times New Roman" panose="02020603050405020304" pitchFamily="18" charset="0"/>
                      <a:cs typeface="Times New Roman" panose="02020603050405020304" pitchFamily="18" charset="0"/>
                    </a:endParaRPr>
                  </a:p>
                </p:txBody>
              </p:sp>
            </mc:Choice>
            <mc:Fallback xmlns="">
              <p:sp>
                <p:nvSpPr>
                  <p:cNvPr id="1035" name="文字方塊 86">
                    <a:extLst>
                      <a:ext uri="{FF2B5EF4-FFF2-40B4-BE49-F238E27FC236}">
                        <a16:creationId xmlns:a16="http://schemas.microsoft.com/office/drawing/2014/main" id="{D5C33EF8-5C6D-2ACE-D929-299FE2053E66}"/>
                      </a:ext>
                    </a:extLst>
                  </p:cNvPr>
                  <p:cNvSpPr txBox="1">
                    <a:spLocks noRot="1" noChangeAspect="1" noMove="1" noResize="1" noEditPoints="1" noAdjustHandles="1" noChangeArrowheads="1" noChangeShapeType="1" noTextEdit="1"/>
                  </p:cNvSpPr>
                  <p:nvPr/>
                </p:nvSpPr>
                <p:spPr>
                  <a:xfrm>
                    <a:off x="263951" y="6444476"/>
                    <a:ext cx="1688140" cy="276999"/>
                  </a:xfrm>
                  <a:prstGeom prst="rect">
                    <a:avLst/>
                  </a:prstGeom>
                  <a:blipFill>
                    <a:blip r:embed="rId5"/>
                    <a:stretch>
                      <a:fillRect l="-361"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6" name="文字方塊 86">
                    <a:extLst>
                      <a:ext uri="{FF2B5EF4-FFF2-40B4-BE49-F238E27FC236}">
                        <a16:creationId xmlns:a16="http://schemas.microsoft.com/office/drawing/2014/main" id="{6970AA10-E2EC-93D3-217E-BD5BF7A24146}"/>
                      </a:ext>
                    </a:extLst>
                  </p:cNvPr>
                  <p:cNvSpPr txBox="1"/>
                  <p:nvPr/>
                </p:nvSpPr>
                <p:spPr>
                  <a:xfrm>
                    <a:off x="687256" y="4766102"/>
                    <a:ext cx="1187605" cy="276999"/>
                  </a:xfrm>
                  <a:prstGeom prst="rect">
                    <a:avLst/>
                  </a:prstGeom>
                  <a:noFill/>
                </p:spPr>
                <p:txBody>
                  <a:bodyPr wrap="square" rtlCol="0">
                    <a:spAutoFit/>
                  </a:bodyPr>
                  <a:lstStyle/>
                  <a:p>
                    <a:r>
                      <a:rPr lang="en-US" altLang="zh-TW" sz="1200" dirty="0">
                        <a:latin typeface="Times New Roman" panose="02020603050405020304" pitchFamily="18" charset="0"/>
                        <a:cs typeface="Times New Roman" panose="02020603050405020304" pitchFamily="18" charset="0"/>
                      </a:rPr>
                      <a:t>State </a:t>
                    </a:r>
                    <a14:m>
                      <m:oMath xmlns:m="http://schemas.openxmlformats.org/officeDocument/2006/math">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𝑠</m:t>
                            </m:r>
                          </m:e>
                          <m:sub>
                            <m:r>
                              <a:rPr lang="en-US" altLang="zh-TW" sz="1200" b="0" i="1" smtClean="0">
                                <a:latin typeface="Cambria Math" panose="02040503050406030204" pitchFamily="18" charset="0"/>
                              </a:rPr>
                              <m:t>𝑡</m:t>
                            </m:r>
                          </m:sub>
                        </m:sSub>
                      </m:oMath>
                    </a14:m>
                    <a:endParaRPr lang="zh-TW" altLang="en-US" sz="1200" dirty="0">
                      <a:latin typeface="Times New Roman" panose="02020603050405020304" pitchFamily="18" charset="0"/>
                      <a:cs typeface="Times New Roman" panose="02020603050405020304" pitchFamily="18" charset="0"/>
                    </a:endParaRPr>
                  </a:p>
                </p:txBody>
              </p:sp>
            </mc:Choice>
            <mc:Fallback xmlns="">
              <p:sp>
                <p:nvSpPr>
                  <p:cNvPr id="1036" name="文字方塊 86">
                    <a:extLst>
                      <a:ext uri="{FF2B5EF4-FFF2-40B4-BE49-F238E27FC236}">
                        <a16:creationId xmlns:a16="http://schemas.microsoft.com/office/drawing/2014/main" id="{6970AA10-E2EC-93D3-217E-BD5BF7A24146}"/>
                      </a:ext>
                    </a:extLst>
                  </p:cNvPr>
                  <p:cNvSpPr txBox="1">
                    <a:spLocks noRot="1" noChangeAspect="1" noMove="1" noResize="1" noEditPoints="1" noAdjustHandles="1" noChangeArrowheads="1" noChangeShapeType="1" noTextEdit="1"/>
                  </p:cNvSpPr>
                  <p:nvPr/>
                </p:nvSpPr>
                <p:spPr>
                  <a:xfrm>
                    <a:off x="687256" y="4766102"/>
                    <a:ext cx="1187605" cy="276999"/>
                  </a:xfrm>
                  <a:prstGeom prst="rect">
                    <a:avLst/>
                  </a:prstGeom>
                  <a:blipFill>
                    <a:blip r:embed="rId6"/>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7" name="文字方塊 86">
                    <a:extLst>
                      <a:ext uri="{FF2B5EF4-FFF2-40B4-BE49-F238E27FC236}">
                        <a16:creationId xmlns:a16="http://schemas.microsoft.com/office/drawing/2014/main" id="{F8FDFE26-DFEB-7427-2E25-5D44DB2A7F7C}"/>
                      </a:ext>
                    </a:extLst>
                  </p:cNvPr>
                  <p:cNvSpPr txBox="1"/>
                  <p:nvPr/>
                </p:nvSpPr>
                <p:spPr>
                  <a:xfrm>
                    <a:off x="179788" y="4246072"/>
                    <a:ext cx="1688140" cy="276999"/>
                  </a:xfrm>
                  <a:prstGeom prst="rect">
                    <a:avLst/>
                  </a:prstGeom>
                  <a:noFill/>
                </p:spPr>
                <p:txBody>
                  <a:bodyPr wrap="square" rtlCol="0">
                    <a:spAutoFit/>
                  </a:bodyPr>
                  <a:lstStyle/>
                  <a:p>
                    <a:r>
                      <a:rPr lang="en-US" altLang="zh-TW" sz="1200" b="0" dirty="0"/>
                      <a:t>Received Reward </a:t>
                    </a:r>
                    <a14:m>
                      <m:oMath xmlns:m="http://schemas.openxmlformats.org/officeDocument/2006/math">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𝑟</m:t>
                            </m:r>
                          </m:e>
                          <m:sub>
                            <m:r>
                              <a:rPr lang="en-US" altLang="zh-TW" sz="1200" b="0" i="1" smtClean="0">
                                <a:latin typeface="Cambria Math" panose="02040503050406030204" pitchFamily="18" charset="0"/>
                              </a:rPr>
                              <m:t>𝑡</m:t>
                            </m:r>
                          </m:sub>
                        </m:sSub>
                      </m:oMath>
                    </a14:m>
                    <a:endParaRPr lang="zh-TW" altLang="en-US" sz="1200" dirty="0">
                      <a:latin typeface="Times New Roman" panose="02020603050405020304" pitchFamily="18" charset="0"/>
                      <a:cs typeface="Times New Roman" panose="02020603050405020304" pitchFamily="18" charset="0"/>
                    </a:endParaRPr>
                  </a:p>
                </p:txBody>
              </p:sp>
            </mc:Choice>
            <mc:Fallback xmlns="">
              <p:sp>
                <p:nvSpPr>
                  <p:cNvPr id="1037" name="文字方塊 86">
                    <a:extLst>
                      <a:ext uri="{FF2B5EF4-FFF2-40B4-BE49-F238E27FC236}">
                        <a16:creationId xmlns:a16="http://schemas.microsoft.com/office/drawing/2014/main" id="{F8FDFE26-DFEB-7427-2E25-5D44DB2A7F7C}"/>
                      </a:ext>
                    </a:extLst>
                  </p:cNvPr>
                  <p:cNvSpPr txBox="1">
                    <a:spLocks noRot="1" noChangeAspect="1" noMove="1" noResize="1" noEditPoints="1" noAdjustHandles="1" noChangeArrowheads="1" noChangeShapeType="1" noTextEdit="1"/>
                  </p:cNvSpPr>
                  <p:nvPr/>
                </p:nvSpPr>
                <p:spPr>
                  <a:xfrm>
                    <a:off x="179788" y="4246072"/>
                    <a:ext cx="1688140" cy="276999"/>
                  </a:xfrm>
                  <a:prstGeom prst="rect">
                    <a:avLst/>
                  </a:prstGeom>
                  <a:blipFill>
                    <a:blip r:embed="rId7"/>
                    <a:stretch>
                      <a:fillRect l="-361"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8" name="文字方塊 86">
                    <a:extLst>
                      <a:ext uri="{FF2B5EF4-FFF2-40B4-BE49-F238E27FC236}">
                        <a16:creationId xmlns:a16="http://schemas.microsoft.com/office/drawing/2014/main" id="{21942E67-53ED-B786-C12A-B882D61B9545}"/>
                      </a:ext>
                    </a:extLst>
                  </p:cNvPr>
                  <p:cNvSpPr txBox="1"/>
                  <p:nvPr/>
                </p:nvSpPr>
                <p:spPr>
                  <a:xfrm>
                    <a:off x="3547377" y="4367511"/>
                    <a:ext cx="1187605" cy="276999"/>
                  </a:xfrm>
                  <a:prstGeom prst="rect">
                    <a:avLst/>
                  </a:prstGeom>
                  <a:noFill/>
                </p:spPr>
                <p:txBody>
                  <a:bodyPr wrap="square" rtlCol="0">
                    <a:spAutoFit/>
                  </a:bodyPr>
                  <a:lstStyle/>
                  <a:p>
                    <a:r>
                      <a:rPr lang="en-US" altLang="zh-TW" sz="1200" dirty="0">
                        <a:latin typeface="Times New Roman" panose="02020603050405020304" pitchFamily="18" charset="0"/>
                        <a:cs typeface="Times New Roman" panose="02020603050405020304" pitchFamily="18" charset="0"/>
                      </a:rPr>
                      <a:t>Action </a:t>
                    </a:r>
                    <a14:m>
                      <m:oMath xmlns:m="http://schemas.openxmlformats.org/officeDocument/2006/math">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𝑎</m:t>
                            </m:r>
                          </m:e>
                          <m:sub>
                            <m:r>
                              <a:rPr lang="en-US" altLang="zh-TW" sz="1200" b="0" i="1" smtClean="0">
                                <a:latin typeface="Cambria Math" panose="02040503050406030204" pitchFamily="18" charset="0"/>
                              </a:rPr>
                              <m:t>𝑡</m:t>
                            </m:r>
                          </m:sub>
                        </m:sSub>
                      </m:oMath>
                    </a14:m>
                    <a:endParaRPr lang="zh-TW" altLang="en-US" sz="1200" dirty="0">
                      <a:latin typeface="Times New Roman" panose="02020603050405020304" pitchFamily="18" charset="0"/>
                      <a:cs typeface="Times New Roman" panose="02020603050405020304" pitchFamily="18" charset="0"/>
                    </a:endParaRPr>
                  </a:p>
                </p:txBody>
              </p:sp>
            </mc:Choice>
            <mc:Fallback xmlns="">
              <p:sp>
                <p:nvSpPr>
                  <p:cNvPr id="1038" name="文字方塊 86">
                    <a:extLst>
                      <a:ext uri="{FF2B5EF4-FFF2-40B4-BE49-F238E27FC236}">
                        <a16:creationId xmlns:a16="http://schemas.microsoft.com/office/drawing/2014/main" id="{21942E67-53ED-B786-C12A-B882D61B9545}"/>
                      </a:ext>
                    </a:extLst>
                  </p:cNvPr>
                  <p:cNvSpPr txBox="1">
                    <a:spLocks noRot="1" noChangeAspect="1" noMove="1" noResize="1" noEditPoints="1" noAdjustHandles="1" noChangeArrowheads="1" noChangeShapeType="1" noTextEdit="1"/>
                  </p:cNvSpPr>
                  <p:nvPr/>
                </p:nvSpPr>
                <p:spPr>
                  <a:xfrm>
                    <a:off x="3547377" y="4367511"/>
                    <a:ext cx="1187605" cy="276999"/>
                  </a:xfrm>
                  <a:prstGeom prst="rect">
                    <a:avLst/>
                  </a:prstGeom>
                  <a:blipFill>
                    <a:blip r:embed="rId8"/>
                    <a:stretch>
                      <a:fillRect b="-15217"/>
                    </a:stretch>
                  </a:blipFill>
                </p:spPr>
                <p:txBody>
                  <a:bodyPr/>
                  <a:lstStyle/>
                  <a:p>
                    <a:r>
                      <a:rPr lang="en-US">
                        <a:noFill/>
                      </a:rPr>
                      <a:t> </a:t>
                    </a:r>
                  </a:p>
                </p:txBody>
              </p:sp>
            </mc:Fallback>
          </mc:AlternateContent>
        </p:grpSp>
      </p:grpSp>
      <p:sp>
        <p:nvSpPr>
          <p:cNvPr id="1042" name="Slide Number Placeholder 3">
            <a:extLst>
              <a:ext uri="{FF2B5EF4-FFF2-40B4-BE49-F238E27FC236}">
                <a16:creationId xmlns:a16="http://schemas.microsoft.com/office/drawing/2014/main" id="{DF5AD9C0-153D-FA37-4359-548A31F53BDE}"/>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6</a:t>
            </a:fld>
            <a:endParaRPr lang="en-US" dirty="0"/>
          </a:p>
        </p:txBody>
      </p:sp>
      <p:sp>
        <p:nvSpPr>
          <p:cNvPr id="19" name="TextBox 18">
            <a:extLst>
              <a:ext uri="{FF2B5EF4-FFF2-40B4-BE49-F238E27FC236}">
                <a16:creationId xmlns:a16="http://schemas.microsoft.com/office/drawing/2014/main" id="{69DA808A-1DEC-46F6-86FE-13A054DE4585}"/>
              </a:ext>
            </a:extLst>
          </p:cNvPr>
          <p:cNvSpPr txBox="1"/>
          <p:nvPr/>
        </p:nvSpPr>
        <p:spPr>
          <a:xfrm>
            <a:off x="7584154" y="4669762"/>
            <a:ext cx="3752616" cy="338554"/>
          </a:xfrm>
          <a:prstGeom prst="rect">
            <a:avLst/>
          </a:prstGeom>
          <a:noFill/>
        </p:spPr>
        <p:txBody>
          <a:bodyPr wrap="square">
            <a:spAutoFit/>
          </a:bodyPr>
          <a:lstStyle/>
          <a:p>
            <a:r>
              <a:rPr lang="en-US" sz="1600" dirty="0"/>
              <a:t>Figure 2 : Reinforcement learning loop</a:t>
            </a:r>
          </a:p>
        </p:txBody>
      </p:sp>
    </p:spTree>
    <p:extLst>
      <p:ext uri="{BB962C8B-B14F-4D97-AF65-F5344CB8AC3E}">
        <p14:creationId xmlns:p14="http://schemas.microsoft.com/office/powerpoint/2010/main" val="3650303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0" y="-288094"/>
            <a:ext cx="10515600" cy="1325563"/>
          </a:xfrm>
        </p:spPr>
        <p:txBody>
          <a:bodyPr/>
          <a:lstStyle/>
          <a:p>
            <a:pPr algn="just"/>
            <a:r>
              <a:rPr lang="en-US" dirty="0">
                <a:latin typeface="Times New Roman" panose="02020603050405020304" pitchFamily="18" charset="0"/>
                <a:cs typeface="Times New Roman" panose="02020603050405020304" pitchFamily="18" charset="0"/>
              </a:rPr>
              <a:t>Related work: </a:t>
            </a:r>
            <a:r>
              <a:rPr lang="en-US" dirty="0"/>
              <a:t>AI-Based Red-team–Blue-team</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647BB8B-68B5-2534-03FB-3940E66FCA99}"/>
              </a:ext>
            </a:extLst>
          </p:cNvPr>
          <p:cNvSpPr txBox="1">
            <a:spLocks/>
          </p:cNvSpPr>
          <p:nvPr/>
        </p:nvSpPr>
        <p:spPr>
          <a:xfrm>
            <a:off x="9326096" y="645371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7</a:t>
            </a:fld>
            <a:endParaRPr lang="en-US" dirty="0"/>
          </a:p>
        </p:txBody>
      </p:sp>
      <p:graphicFrame>
        <p:nvGraphicFramePr>
          <p:cNvPr id="3" name="Content Placeholder 2">
            <a:extLst>
              <a:ext uri="{FF2B5EF4-FFF2-40B4-BE49-F238E27FC236}">
                <a16:creationId xmlns:a16="http://schemas.microsoft.com/office/drawing/2014/main" id="{1187010D-0C1B-4E38-8A8B-1FD436C75779}"/>
              </a:ext>
            </a:extLst>
          </p:cNvPr>
          <p:cNvGraphicFramePr>
            <a:graphicFrameLocks noGrp="1"/>
          </p:cNvGraphicFramePr>
          <p:nvPr>
            <p:ph idx="1"/>
            <p:extLst>
              <p:ext uri="{D42A27DB-BD31-4B8C-83A1-F6EECF244321}">
                <p14:modId xmlns:p14="http://schemas.microsoft.com/office/powerpoint/2010/main" val="600145835"/>
              </p:ext>
            </p:extLst>
          </p:nvPr>
        </p:nvGraphicFramePr>
        <p:xfrm>
          <a:off x="203953" y="958582"/>
          <a:ext cx="11412485" cy="5343459"/>
        </p:xfrm>
        <a:graphic>
          <a:graphicData uri="http://schemas.openxmlformats.org/drawingml/2006/table">
            <a:tbl>
              <a:tblPr/>
              <a:tblGrid>
                <a:gridCol w="1482037">
                  <a:extLst>
                    <a:ext uri="{9D8B030D-6E8A-4147-A177-3AD203B41FA5}">
                      <a16:colId xmlns:a16="http://schemas.microsoft.com/office/drawing/2014/main" val="2406668091"/>
                    </a:ext>
                  </a:extLst>
                </a:gridCol>
                <a:gridCol w="1299976">
                  <a:extLst>
                    <a:ext uri="{9D8B030D-6E8A-4147-A177-3AD203B41FA5}">
                      <a16:colId xmlns:a16="http://schemas.microsoft.com/office/drawing/2014/main" val="881309389"/>
                    </a:ext>
                  </a:extLst>
                </a:gridCol>
                <a:gridCol w="1181796">
                  <a:extLst>
                    <a:ext uri="{9D8B030D-6E8A-4147-A177-3AD203B41FA5}">
                      <a16:colId xmlns:a16="http://schemas.microsoft.com/office/drawing/2014/main" val="2179463598"/>
                    </a:ext>
                  </a:extLst>
                </a:gridCol>
                <a:gridCol w="1375949">
                  <a:extLst>
                    <a:ext uri="{9D8B030D-6E8A-4147-A177-3AD203B41FA5}">
                      <a16:colId xmlns:a16="http://schemas.microsoft.com/office/drawing/2014/main" val="3618241338"/>
                    </a:ext>
                  </a:extLst>
                </a:gridCol>
                <a:gridCol w="1418156">
                  <a:extLst>
                    <a:ext uri="{9D8B030D-6E8A-4147-A177-3AD203B41FA5}">
                      <a16:colId xmlns:a16="http://schemas.microsoft.com/office/drawing/2014/main" val="333583067"/>
                    </a:ext>
                  </a:extLst>
                </a:gridCol>
                <a:gridCol w="1119892">
                  <a:extLst>
                    <a:ext uri="{9D8B030D-6E8A-4147-A177-3AD203B41FA5}">
                      <a16:colId xmlns:a16="http://schemas.microsoft.com/office/drawing/2014/main" val="1898208122"/>
                    </a:ext>
                  </a:extLst>
                </a:gridCol>
                <a:gridCol w="1167728">
                  <a:extLst>
                    <a:ext uri="{9D8B030D-6E8A-4147-A177-3AD203B41FA5}">
                      <a16:colId xmlns:a16="http://schemas.microsoft.com/office/drawing/2014/main" val="2527084054"/>
                    </a:ext>
                  </a:extLst>
                </a:gridCol>
                <a:gridCol w="1122706">
                  <a:extLst>
                    <a:ext uri="{9D8B030D-6E8A-4147-A177-3AD203B41FA5}">
                      <a16:colId xmlns:a16="http://schemas.microsoft.com/office/drawing/2014/main" val="3430971971"/>
                    </a:ext>
                  </a:extLst>
                </a:gridCol>
                <a:gridCol w="1244245">
                  <a:extLst>
                    <a:ext uri="{9D8B030D-6E8A-4147-A177-3AD203B41FA5}">
                      <a16:colId xmlns:a16="http://schemas.microsoft.com/office/drawing/2014/main" val="3764682224"/>
                    </a:ext>
                  </a:extLst>
                </a:gridCol>
              </a:tblGrid>
              <a:tr h="442882">
                <a:tc rowSpan="2">
                  <a:txBody>
                    <a:bodyPr/>
                    <a:lstStyle/>
                    <a:p>
                      <a:pPr algn="ctr"/>
                      <a:r>
                        <a:rPr lang="en-US" sz="1600" b="1" dirty="0"/>
                        <a:t>Study</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US" sz="1600" b="1" dirty="0"/>
                        <a:t>Red Team AI</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US" sz="1600" b="1" dirty="0"/>
                        <a:t>Blue Team AI</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sz="1600" b="1" dirty="0"/>
                        <a:t>RL Algorithm</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pPr algn="ctr"/>
                      <a:r>
                        <a:rPr lang="en-US" sz="1600" b="1" dirty="0"/>
                        <a:t>RL Algorithm (Blue)</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en-US" sz="1600" b="1" dirty="0"/>
                        <a:t>Training Method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US" sz="1600" b="1" dirty="0"/>
                        <a:t>Multi-Generation</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665402"/>
                  </a:ext>
                </a:extLst>
              </a:tr>
              <a:tr h="569908">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r>
                        <a:rPr lang="en-US" sz="1600" b="1"/>
                        <a:t>Red</a:t>
                      </a:r>
                      <a:endParaRPr lang="en-US"/>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sz="1600" b="1" dirty="0"/>
                        <a:t>Blue</a:t>
                      </a:r>
                      <a:endParaRPr lang="en-US" dirty="0"/>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Fixed Opponent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Sim. </a:t>
                      </a:r>
                      <a:r>
                        <a:rPr lang="en-US" sz="1600" b="1" dirty="0" err="1"/>
                        <a:t>CoE</a:t>
                      </a:r>
                      <a:endParaRPr lang="en-US" sz="1600" b="1" dirty="0"/>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Alt. </a:t>
                      </a:r>
                      <a:r>
                        <a:rPr lang="en-US" sz="1600" b="1" dirty="0" err="1"/>
                        <a:t>CoE</a:t>
                      </a:r>
                      <a:endParaRPr lang="en-US" sz="1600" b="1" dirty="0"/>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681080932"/>
                  </a:ext>
                </a:extLst>
              </a:tr>
              <a:tr h="620036">
                <a:tc>
                  <a:txBody>
                    <a:bodyPr/>
                    <a:lstStyle/>
                    <a:p>
                      <a:pPr algn="ctr"/>
                      <a:r>
                        <a:rPr lang="en-US" sz="1600" dirty="0"/>
                        <a:t>[4]</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Scripted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LLM + RL</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PPO</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6880466"/>
                  </a:ext>
                </a:extLst>
              </a:tr>
              <a:tr h="610453">
                <a:tc>
                  <a:txBody>
                    <a:bodyPr/>
                    <a:lstStyle/>
                    <a:p>
                      <a:pPr algn="ctr"/>
                      <a:r>
                        <a:rPr lang="en-US" sz="1600" dirty="0"/>
                        <a:t>[5]</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Scripted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RL-based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DQN, PPO</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4414140"/>
                  </a:ext>
                </a:extLst>
              </a:tr>
              <a:tr h="620036">
                <a:tc>
                  <a:txBody>
                    <a:bodyPr/>
                    <a:lstStyle/>
                    <a:p>
                      <a:pPr algn="ctr"/>
                      <a:r>
                        <a:rPr lang="en-US" sz="1600" dirty="0"/>
                        <a:t>[3]</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RL-based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Scripted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PPO</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2891481"/>
                  </a:ext>
                </a:extLst>
              </a:tr>
              <a:tr h="620036">
                <a:tc>
                  <a:txBody>
                    <a:bodyPr/>
                    <a:lstStyle/>
                    <a:p>
                      <a:pPr algn="ctr"/>
                      <a:r>
                        <a:rPr lang="en-US" sz="1600" dirty="0"/>
                        <a:t>[15]</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RL-based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Scripted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DQN variants</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6093990"/>
                  </a:ext>
                </a:extLst>
              </a:tr>
              <a:tr h="620036">
                <a:tc>
                  <a:txBody>
                    <a:bodyPr/>
                    <a:lstStyle/>
                    <a:p>
                      <a:pPr algn="ctr"/>
                      <a:r>
                        <a:rPr lang="en-US" sz="1600" dirty="0"/>
                        <a:t>[6]</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Scripted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RL-based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DQN</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0437024"/>
                  </a:ext>
                </a:extLst>
              </a:tr>
              <a:tr h="620036">
                <a:tc>
                  <a:txBody>
                    <a:bodyPr/>
                    <a:lstStyle/>
                    <a:p>
                      <a:pPr algn="ctr"/>
                      <a:r>
                        <a:rPr lang="en-US" sz="1600" dirty="0"/>
                        <a:t>[8]</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RL-based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RL-based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PPO, A2C</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PPO, A2C</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4488510"/>
                  </a:ext>
                </a:extLst>
              </a:tr>
              <a:tr h="620036">
                <a:tc>
                  <a:txBody>
                    <a:bodyPr/>
                    <a:lstStyle/>
                    <a:p>
                      <a:pPr algn="ctr"/>
                      <a:r>
                        <a:rPr lang="en-US" sz="1400" b="1" dirty="0"/>
                        <a:t>MG-</a:t>
                      </a:r>
                      <a:r>
                        <a:rPr lang="en-US" sz="1400" b="1" dirty="0" err="1"/>
                        <a:t>CoE</a:t>
                      </a:r>
                      <a:r>
                        <a:rPr lang="en-US" sz="1400" b="1" dirty="0"/>
                        <a:t> (Ours</a:t>
                      </a: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RL + LLM</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RL + LLM</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DDQN</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DDQN</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5450669"/>
                  </a:ext>
                </a:extLst>
              </a:tr>
            </a:tbl>
          </a:graphicData>
        </a:graphic>
      </p:graphicFrame>
      <p:sp>
        <p:nvSpPr>
          <p:cNvPr id="6" name="TextBox 5">
            <a:extLst>
              <a:ext uri="{FF2B5EF4-FFF2-40B4-BE49-F238E27FC236}">
                <a16:creationId xmlns:a16="http://schemas.microsoft.com/office/drawing/2014/main" id="{F00BDF86-BF1A-45A8-AC15-AD1EE2B4AD87}"/>
              </a:ext>
            </a:extLst>
          </p:cNvPr>
          <p:cNvSpPr txBox="1"/>
          <p:nvPr/>
        </p:nvSpPr>
        <p:spPr>
          <a:xfrm>
            <a:off x="122704" y="6567686"/>
            <a:ext cx="11642150" cy="276999"/>
          </a:xfrm>
          <a:prstGeom prst="rect">
            <a:avLst/>
          </a:prstGeom>
          <a:noFill/>
        </p:spPr>
        <p:txBody>
          <a:bodyPr wrap="square">
            <a:spAutoFit/>
          </a:bodyPr>
          <a:lstStyle/>
          <a:p>
            <a:r>
              <a:rPr lang="en-US" sz="1200" b="1" dirty="0"/>
              <a:t> MG </a:t>
            </a:r>
            <a:r>
              <a:rPr lang="en-US" sz="1200" dirty="0"/>
              <a:t>: Multi-generational </a:t>
            </a:r>
            <a:r>
              <a:rPr lang="en-US" sz="1200" b="1" dirty="0"/>
              <a:t>; </a:t>
            </a:r>
            <a:r>
              <a:rPr lang="en-US" sz="1200" b="1" dirty="0" err="1"/>
              <a:t>CoE</a:t>
            </a:r>
            <a:r>
              <a:rPr lang="en-US" sz="1200" b="1" dirty="0"/>
              <a:t> :</a:t>
            </a:r>
            <a:r>
              <a:rPr lang="en-US" sz="1200" dirty="0"/>
              <a:t> Co-Evolution </a:t>
            </a:r>
            <a:r>
              <a:rPr lang="en-US" sz="1200" b="1" dirty="0"/>
              <a:t>; Sim : </a:t>
            </a:r>
            <a:r>
              <a:rPr lang="en-US" sz="1200" dirty="0"/>
              <a:t>Simultaneous </a:t>
            </a:r>
            <a:r>
              <a:rPr lang="en-US" sz="1200" b="1" dirty="0"/>
              <a:t>;  Alt : </a:t>
            </a:r>
            <a:r>
              <a:rPr lang="en-US" sz="1200" dirty="0"/>
              <a:t>Alternating</a:t>
            </a:r>
          </a:p>
        </p:txBody>
      </p:sp>
      <p:sp>
        <p:nvSpPr>
          <p:cNvPr id="8" name="TextBox 7">
            <a:extLst>
              <a:ext uri="{FF2B5EF4-FFF2-40B4-BE49-F238E27FC236}">
                <a16:creationId xmlns:a16="http://schemas.microsoft.com/office/drawing/2014/main" id="{D446F328-D9BB-4648-BBE8-F77EFFBB0E72}"/>
              </a:ext>
            </a:extLst>
          </p:cNvPr>
          <p:cNvSpPr txBox="1"/>
          <p:nvPr/>
        </p:nvSpPr>
        <p:spPr>
          <a:xfrm>
            <a:off x="3340100" y="6297725"/>
            <a:ext cx="6206066" cy="338554"/>
          </a:xfrm>
          <a:prstGeom prst="rect">
            <a:avLst/>
          </a:prstGeom>
          <a:noFill/>
        </p:spPr>
        <p:txBody>
          <a:bodyPr wrap="square">
            <a:spAutoFit/>
          </a:bodyPr>
          <a:lstStyle/>
          <a:p>
            <a:r>
              <a:rPr lang="en-US" sz="1600" dirty="0"/>
              <a:t>Table 1: Related Work on AI-Based Red-team–Blue-team.</a:t>
            </a:r>
          </a:p>
        </p:txBody>
      </p:sp>
    </p:spTree>
    <p:extLst>
      <p:ext uri="{BB962C8B-B14F-4D97-AF65-F5344CB8AC3E}">
        <p14:creationId xmlns:p14="http://schemas.microsoft.com/office/powerpoint/2010/main" val="2112790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47625" y="-185151"/>
            <a:ext cx="10515600" cy="1325563"/>
          </a:xfrm>
        </p:spPr>
        <p:txBody>
          <a:bodyPr/>
          <a:lstStyle/>
          <a:p>
            <a:pPr algn="just"/>
            <a:r>
              <a:rPr lang="en-US" dirty="0">
                <a:latin typeface="Times New Roman" panose="02020603050405020304" pitchFamily="18" charset="0"/>
                <a:cs typeface="Times New Roman" panose="02020603050405020304" pitchFamily="18" charset="0"/>
              </a:rPr>
              <a:t>Issues</a:t>
            </a:r>
          </a:p>
        </p:txBody>
      </p:sp>
      <p:sp>
        <p:nvSpPr>
          <p:cNvPr id="5" name="Content Placeholder 4">
            <a:extLst>
              <a:ext uri="{FF2B5EF4-FFF2-40B4-BE49-F238E27FC236}">
                <a16:creationId xmlns:a16="http://schemas.microsoft.com/office/drawing/2014/main" id="{A0771CE3-181A-0E94-EC8D-B209F0EB1D22}"/>
              </a:ext>
            </a:extLst>
          </p:cNvPr>
          <p:cNvSpPr>
            <a:spLocks noGrp="1"/>
          </p:cNvSpPr>
          <p:nvPr>
            <p:ph idx="1"/>
          </p:nvPr>
        </p:nvSpPr>
        <p:spPr>
          <a:xfrm>
            <a:off x="257174" y="1129006"/>
            <a:ext cx="10639425" cy="5283581"/>
          </a:xfrm>
        </p:spPr>
        <p:txBody>
          <a:bodyPr>
            <a:normAutofit/>
          </a:bodyPr>
          <a:lstStyle/>
          <a:p>
            <a:pPr marL="144003" indent="-132797">
              <a:lnSpc>
                <a:spcPct val="150000"/>
              </a:lnSpc>
              <a:spcBef>
                <a:spcPts val="115"/>
              </a:spcBef>
              <a:buFont typeface="Times New Roman"/>
              <a:buChar char="•"/>
              <a:tabLst>
                <a:tab pos="144003" algn="l"/>
              </a:tabLst>
            </a:pPr>
            <a:r>
              <a:rPr lang="en-US" b="1" spc="-9" dirty="0">
                <a:latin typeface="Times New Roman"/>
                <a:cs typeface="Times New Roman"/>
              </a:rPr>
              <a:t>Training Setup Effectiveness</a:t>
            </a:r>
          </a:p>
          <a:p>
            <a:pPr marL="601203" lvl="1" indent="-132797">
              <a:lnSpc>
                <a:spcPct val="100000"/>
              </a:lnSpc>
              <a:spcBef>
                <a:spcPts val="115"/>
              </a:spcBef>
              <a:buFont typeface="Times New Roman"/>
              <a:buChar char="•"/>
              <a:tabLst>
                <a:tab pos="144003" algn="l"/>
              </a:tabLst>
            </a:pPr>
            <a:r>
              <a:rPr lang="en-US" dirty="0"/>
              <a:t>How can Red–Blue agents be trained to avoid both static-opponent overfitting and unstable joint learning?</a:t>
            </a:r>
          </a:p>
          <a:p>
            <a:pPr marL="601203" lvl="1" indent="-132797">
              <a:lnSpc>
                <a:spcPct val="100000"/>
              </a:lnSpc>
              <a:spcBef>
                <a:spcPts val="115"/>
              </a:spcBef>
              <a:buFont typeface="Times New Roman"/>
              <a:buChar char="•"/>
              <a:tabLst>
                <a:tab pos="144003" algn="l"/>
              </a:tabLst>
            </a:pPr>
            <a:endParaRPr lang="en-US" b="1" dirty="0">
              <a:latin typeface="Times New Roman"/>
              <a:cs typeface="Times New Roman"/>
            </a:endParaRPr>
          </a:p>
          <a:p>
            <a:pPr marL="177062" indent="-165856">
              <a:lnSpc>
                <a:spcPct val="100000"/>
              </a:lnSpc>
              <a:buFont typeface="Arial MT"/>
              <a:buChar char="•"/>
              <a:tabLst>
                <a:tab pos="177062" algn="l"/>
              </a:tabLst>
            </a:pPr>
            <a:r>
              <a:rPr lang="en-US" b="1" dirty="0">
                <a:latin typeface="Times New Roman"/>
                <a:cs typeface="Times New Roman"/>
              </a:rPr>
              <a:t>Multi-Generation</a:t>
            </a:r>
            <a:r>
              <a:rPr lang="en-US" b="1" spc="79" dirty="0">
                <a:latin typeface="Times New Roman"/>
                <a:cs typeface="Times New Roman"/>
              </a:rPr>
              <a:t> </a:t>
            </a:r>
            <a:r>
              <a:rPr lang="en-US" b="1" spc="-9" dirty="0">
                <a:latin typeface="Times New Roman"/>
                <a:cs typeface="Times New Roman"/>
              </a:rPr>
              <a:t>Evolution</a:t>
            </a:r>
          </a:p>
          <a:p>
            <a:pPr marL="634262" lvl="1" indent="-165856">
              <a:lnSpc>
                <a:spcPct val="100000"/>
              </a:lnSpc>
              <a:buFont typeface="Arial MT"/>
              <a:buChar char="•"/>
              <a:tabLst>
                <a:tab pos="177062" algn="l"/>
              </a:tabLst>
            </a:pPr>
            <a:r>
              <a:rPr lang="en-US" dirty="0"/>
              <a:t>How can agent performance improve progressively as generations increase?</a:t>
            </a:r>
          </a:p>
          <a:p>
            <a:pPr marL="509895" lvl="1" indent="-165296">
              <a:lnSpc>
                <a:spcPct val="100000"/>
              </a:lnSpc>
              <a:spcBef>
                <a:spcPts val="31"/>
              </a:spcBef>
              <a:buFont typeface="Arial MT"/>
              <a:buChar char="•"/>
              <a:tabLst>
                <a:tab pos="509895" algn="l"/>
              </a:tabLst>
            </a:pPr>
            <a:endParaRPr lang="en-US" b="1" dirty="0">
              <a:latin typeface="Times New Roman"/>
              <a:cs typeface="Times New Roman"/>
            </a:endParaRPr>
          </a:p>
          <a:p>
            <a:pPr marL="144003" indent="-132797">
              <a:lnSpc>
                <a:spcPct val="100000"/>
              </a:lnSpc>
              <a:buFont typeface="Times New Roman"/>
              <a:buChar char="•"/>
              <a:tabLst>
                <a:tab pos="144003" algn="l"/>
              </a:tabLst>
            </a:pPr>
            <a:r>
              <a:rPr lang="en-US" b="1" dirty="0">
                <a:latin typeface="Times New Roman"/>
                <a:cs typeface="Times New Roman"/>
              </a:rPr>
              <a:t>Cross-Generation performance</a:t>
            </a:r>
          </a:p>
          <a:p>
            <a:pPr marL="601203" lvl="1" indent="-132797">
              <a:lnSpc>
                <a:spcPct val="100000"/>
              </a:lnSpc>
              <a:buFont typeface="Times New Roman"/>
              <a:buChar char="•"/>
              <a:tabLst>
                <a:tab pos="144003" algn="l"/>
              </a:tabLst>
            </a:pPr>
            <a:r>
              <a:rPr lang="en-US" dirty="0"/>
              <a:t>How can agents remain effective against adversaries from different generations, not only the one they trained against</a:t>
            </a:r>
            <a:r>
              <a:rPr lang="en-US" dirty="0">
                <a:latin typeface="Times New Roman"/>
                <a:cs typeface="Times New Roman"/>
              </a:rPr>
              <a:t>?</a:t>
            </a:r>
            <a:r>
              <a:rPr lang="en-US" spc="-49" dirty="0">
                <a:latin typeface="Times New Roman"/>
                <a:cs typeface="Times New Roman"/>
              </a:rPr>
              <a:t> </a:t>
            </a:r>
            <a:endParaRPr lang="en-US" b="1" dirty="0">
              <a:latin typeface="Times New Roman"/>
              <a:cs typeface="Times New Roman"/>
            </a:endParaRPr>
          </a:p>
          <a:p>
            <a:pPr marL="0" indent="0">
              <a:lnSpc>
                <a:spcPct val="100000"/>
              </a:lnSpc>
              <a:spcBef>
                <a:spcPts val="353"/>
              </a:spcBef>
              <a:buNone/>
            </a:pPr>
            <a:endParaRPr lang="en-US" sz="2000" dirty="0">
              <a:latin typeface="Times New Roman"/>
              <a:cs typeface="Times New Roman"/>
            </a:endParaRPr>
          </a:p>
          <a:p>
            <a:pPr>
              <a:lnSpc>
                <a:spcPct val="100000"/>
              </a:lnSpc>
              <a:spcBef>
                <a:spcPts val="427"/>
              </a:spcBef>
            </a:pPr>
            <a:endParaRPr lang="en-US" sz="2000" dirty="0">
              <a:latin typeface="Times New Roman"/>
              <a:cs typeface="Times New Roman"/>
            </a:endParaRPr>
          </a:p>
        </p:txBody>
      </p:sp>
      <p:sp>
        <p:nvSpPr>
          <p:cNvPr id="6" name="Slide Number Placeholder 3">
            <a:extLst>
              <a:ext uri="{FF2B5EF4-FFF2-40B4-BE49-F238E27FC236}">
                <a16:creationId xmlns:a16="http://schemas.microsoft.com/office/drawing/2014/main" id="{9EFEA49B-A1B4-4AFC-514A-BB81B398F79D}"/>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8</a:t>
            </a:fld>
            <a:endParaRPr lang="en-US" dirty="0"/>
          </a:p>
        </p:txBody>
      </p:sp>
    </p:spTree>
    <p:extLst>
      <p:ext uri="{BB962C8B-B14F-4D97-AF65-F5344CB8AC3E}">
        <p14:creationId xmlns:p14="http://schemas.microsoft.com/office/powerpoint/2010/main" val="3518687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F9EDADD-8C79-4C89-A4DD-E7284ADD24DE}"/>
              </a:ext>
            </a:extLst>
          </p:cNvPr>
          <p:cNvPicPr>
            <a:picLocks noChangeAspect="1"/>
          </p:cNvPicPr>
          <p:nvPr/>
        </p:nvPicPr>
        <p:blipFill rotWithShape="1">
          <a:blip r:embed="rId3">
            <a:extLst>
              <a:ext uri="{28A0092B-C50C-407E-A947-70E740481C1C}">
                <a14:useLocalDpi xmlns:a14="http://schemas.microsoft.com/office/drawing/2010/main" val="0"/>
              </a:ext>
            </a:extLst>
          </a:blip>
          <a:srcRect l="1468" t="10246" r="1546" b="2576"/>
          <a:stretch/>
        </p:blipFill>
        <p:spPr>
          <a:xfrm>
            <a:off x="231775" y="869687"/>
            <a:ext cx="11126636" cy="5683513"/>
          </a:xfrm>
          <a:prstGeom prst="rect">
            <a:avLst/>
          </a:prstGeom>
        </p:spPr>
      </p:pic>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231775" y="-273314"/>
            <a:ext cx="10515600" cy="1325563"/>
          </a:xfrm>
        </p:spPr>
        <p:txBody>
          <a:bodyPr/>
          <a:lstStyle/>
          <a:p>
            <a:pPr algn="just"/>
            <a:r>
              <a:rPr lang="en-US" dirty="0">
                <a:latin typeface="Times New Roman" panose="02020603050405020304" pitchFamily="18" charset="0"/>
                <a:cs typeface="Times New Roman" panose="02020603050405020304" pitchFamily="18" charset="0"/>
              </a:rPr>
              <a:t>Notations (1/2)</a:t>
            </a:r>
          </a:p>
        </p:txBody>
      </p:sp>
      <p:sp>
        <p:nvSpPr>
          <p:cNvPr id="5" name="Slide Number Placeholder 3">
            <a:extLst>
              <a:ext uri="{FF2B5EF4-FFF2-40B4-BE49-F238E27FC236}">
                <a16:creationId xmlns:a16="http://schemas.microsoft.com/office/drawing/2014/main" id="{4B81CE25-1AB9-9937-EC98-D65124342AB3}"/>
              </a:ext>
            </a:extLst>
          </p:cNvPr>
          <p:cNvSpPr txBox="1">
            <a:spLocks/>
          </p:cNvSpPr>
          <p:nvPr/>
        </p:nvSpPr>
        <p:spPr>
          <a:xfrm>
            <a:off x="92170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9</a:t>
            </a:fld>
            <a:endParaRPr lang="en-US" dirty="0"/>
          </a:p>
        </p:txBody>
      </p:sp>
      <p:sp>
        <p:nvSpPr>
          <p:cNvPr id="8" name="TextBox 7">
            <a:extLst>
              <a:ext uri="{FF2B5EF4-FFF2-40B4-BE49-F238E27FC236}">
                <a16:creationId xmlns:a16="http://schemas.microsoft.com/office/drawing/2014/main" id="{968C9DA6-C65F-4E59-B1B3-F52433975240}"/>
              </a:ext>
            </a:extLst>
          </p:cNvPr>
          <p:cNvSpPr txBox="1"/>
          <p:nvPr/>
        </p:nvSpPr>
        <p:spPr>
          <a:xfrm>
            <a:off x="4651375" y="6475204"/>
            <a:ext cx="6096000" cy="338554"/>
          </a:xfrm>
          <a:prstGeom prst="rect">
            <a:avLst/>
          </a:prstGeom>
          <a:noFill/>
        </p:spPr>
        <p:txBody>
          <a:bodyPr wrap="square">
            <a:spAutoFit/>
          </a:bodyPr>
          <a:lstStyle/>
          <a:p>
            <a:r>
              <a:rPr lang="en-US" sz="1600" dirty="0"/>
              <a:t>Table 2 : Notation Table (1/2)</a:t>
            </a:r>
          </a:p>
        </p:txBody>
      </p:sp>
    </p:spTree>
    <p:extLst>
      <p:ext uri="{BB962C8B-B14F-4D97-AF65-F5344CB8AC3E}">
        <p14:creationId xmlns:p14="http://schemas.microsoft.com/office/powerpoint/2010/main" val="4162575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0" y="-258763"/>
            <a:ext cx="10515600" cy="1325563"/>
          </a:xfrm>
        </p:spPr>
        <p:txBody>
          <a:bodyPr/>
          <a:lstStyle/>
          <a:p>
            <a:pPr algn="just"/>
            <a:r>
              <a:rPr lang="en-US" dirty="0">
                <a:latin typeface="Times New Roman" panose="02020603050405020304" pitchFamily="18" charset="0"/>
                <a:cs typeface="Times New Roman" panose="02020603050405020304" pitchFamily="18" charset="0"/>
              </a:rPr>
              <a:t>Notations (2/2)</a:t>
            </a:r>
          </a:p>
        </p:txBody>
      </p:sp>
      <p:sp>
        <p:nvSpPr>
          <p:cNvPr id="5" name="Slide Number Placeholder 3">
            <a:extLst>
              <a:ext uri="{FF2B5EF4-FFF2-40B4-BE49-F238E27FC236}">
                <a16:creationId xmlns:a16="http://schemas.microsoft.com/office/drawing/2014/main" id="{4B81CE25-1AB9-9937-EC98-D65124342AB3}"/>
              </a:ext>
            </a:extLst>
          </p:cNvPr>
          <p:cNvSpPr txBox="1">
            <a:spLocks/>
          </p:cNvSpPr>
          <p:nvPr/>
        </p:nvSpPr>
        <p:spPr>
          <a:xfrm>
            <a:off x="92170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10</a:t>
            </a:fld>
            <a:endParaRPr lang="en-US" dirty="0"/>
          </a:p>
        </p:txBody>
      </p:sp>
      <p:pic>
        <p:nvPicPr>
          <p:cNvPr id="4" name="Picture 3">
            <a:extLst>
              <a:ext uri="{FF2B5EF4-FFF2-40B4-BE49-F238E27FC236}">
                <a16:creationId xmlns:a16="http://schemas.microsoft.com/office/drawing/2014/main" id="{60D3BFDB-EA53-4CBA-A662-C114F8FFDDDF}"/>
              </a:ext>
            </a:extLst>
          </p:cNvPr>
          <p:cNvPicPr>
            <a:picLocks noChangeAspect="1"/>
          </p:cNvPicPr>
          <p:nvPr/>
        </p:nvPicPr>
        <p:blipFill rotWithShape="1">
          <a:blip r:embed="rId3">
            <a:extLst>
              <a:ext uri="{28A0092B-C50C-407E-A947-70E740481C1C}">
                <a14:useLocalDpi xmlns:a14="http://schemas.microsoft.com/office/drawing/2010/main" val="0"/>
              </a:ext>
            </a:extLst>
          </a:blip>
          <a:srcRect l="1552" t="12139" b="3231"/>
          <a:stretch/>
        </p:blipFill>
        <p:spPr>
          <a:xfrm>
            <a:off x="171223" y="1197503"/>
            <a:ext cx="11346107" cy="4893733"/>
          </a:xfrm>
          <a:prstGeom prst="rect">
            <a:avLst/>
          </a:prstGeom>
        </p:spPr>
      </p:pic>
      <p:sp>
        <p:nvSpPr>
          <p:cNvPr id="9" name="TextBox 8">
            <a:extLst>
              <a:ext uri="{FF2B5EF4-FFF2-40B4-BE49-F238E27FC236}">
                <a16:creationId xmlns:a16="http://schemas.microsoft.com/office/drawing/2014/main" id="{CB9956D3-84FB-47EC-864C-3A20587C1121}"/>
              </a:ext>
            </a:extLst>
          </p:cNvPr>
          <p:cNvSpPr txBox="1"/>
          <p:nvPr/>
        </p:nvSpPr>
        <p:spPr>
          <a:xfrm>
            <a:off x="4957233" y="6091236"/>
            <a:ext cx="6206066" cy="338554"/>
          </a:xfrm>
          <a:prstGeom prst="rect">
            <a:avLst/>
          </a:prstGeom>
          <a:noFill/>
        </p:spPr>
        <p:txBody>
          <a:bodyPr wrap="square">
            <a:spAutoFit/>
          </a:bodyPr>
          <a:lstStyle/>
          <a:p>
            <a:r>
              <a:rPr lang="en-US" sz="1600" dirty="0"/>
              <a:t>Table 2 : Notation Table (2/2)</a:t>
            </a:r>
          </a:p>
        </p:txBody>
      </p:sp>
    </p:spTree>
    <p:extLst>
      <p:ext uri="{BB962C8B-B14F-4D97-AF65-F5344CB8AC3E}">
        <p14:creationId xmlns:p14="http://schemas.microsoft.com/office/powerpoint/2010/main" val="3096326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45D82-994F-73BA-1D61-A21572D3A04E}"/>
              </a:ext>
            </a:extLst>
          </p:cNvPr>
          <p:cNvSpPr>
            <a:spLocks noGrp="1"/>
          </p:cNvSpPr>
          <p:nvPr>
            <p:ph type="title"/>
          </p:nvPr>
        </p:nvSpPr>
        <p:spPr>
          <a:xfrm>
            <a:off x="47625" y="-261187"/>
            <a:ext cx="10515600" cy="1325563"/>
          </a:xfrm>
        </p:spPr>
        <p:txBody>
          <a:bodyPr/>
          <a:lstStyle/>
          <a:p>
            <a:r>
              <a:rPr lang="en-US" dirty="0"/>
              <a:t>Problem Overview </a:t>
            </a:r>
            <a:endParaRPr lang="en-IN" dirty="0"/>
          </a:p>
        </p:txBody>
      </p:sp>
      <p:sp>
        <p:nvSpPr>
          <p:cNvPr id="3" name="Content Placeholder 2">
            <a:extLst>
              <a:ext uri="{FF2B5EF4-FFF2-40B4-BE49-F238E27FC236}">
                <a16:creationId xmlns:a16="http://schemas.microsoft.com/office/drawing/2014/main" id="{A53B47AC-89E7-A9FE-07A8-9E11A78746D9}"/>
              </a:ext>
            </a:extLst>
          </p:cNvPr>
          <p:cNvSpPr>
            <a:spLocks noGrp="1"/>
          </p:cNvSpPr>
          <p:nvPr>
            <p:ph idx="1"/>
          </p:nvPr>
        </p:nvSpPr>
        <p:spPr>
          <a:xfrm>
            <a:off x="508000" y="1422400"/>
            <a:ext cx="10515600" cy="4851400"/>
          </a:xfrm>
        </p:spPr>
        <p:txBody>
          <a:bodyPr/>
          <a:lstStyle/>
          <a:p>
            <a:r>
              <a:rPr lang="en-US" dirty="0"/>
              <a:t>Red Team Problem: Kill Chain Completion</a:t>
            </a:r>
          </a:p>
          <a:p>
            <a:pPr lvl="1"/>
            <a:r>
              <a:rPr lang="en-US" dirty="0"/>
              <a:t>How do Red Agent move from one technique to the next technique in order to complete the kill chain?</a:t>
            </a:r>
          </a:p>
          <a:p>
            <a:r>
              <a:rPr lang="en-US" dirty="0"/>
              <a:t>Blue Team Problem: Kill Chain Disruption</a:t>
            </a:r>
          </a:p>
          <a:p>
            <a:pPr lvl="1"/>
            <a:r>
              <a:rPr lang="en-US" dirty="0"/>
              <a:t>How do Blue Agent detect and respond with action to stop the kill chain?</a:t>
            </a:r>
          </a:p>
        </p:txBody>
      </p:sp>
      <p:sp>
        <p:nvSpPr>
          <p:cNvPr id="4" name="Slide Number Placeholder 3">
            <a:extLst>
              <a:ext uri="{FF2B5EF4-FFF2-40B4-BE49-F238E27FC236}">
                <a16:creationId xmlns:a16="http://schemas.microsoft.com/office/drawing/2014/main" id="{02CB5102-1A95-1BE8-8E56-038E6B5221B3}"/>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11</a:t>
            </a:fld>
            <a:endParaRPr lang="en-US" dirty="0"/>
          </a:p>
        </p:txBody>
      </p:sp>
      <p:sp>
        <p:nvSpPr>
          <p:cNvPr id="5" name="AutoShape 2">
            <a:extLst>
              <a:ext uri="{FF2B5EF4-FFF2-40B4-BE49-F238E27FC236}">
                <a16:creationId xmlns:a16="http://schemas.microsoft.com/office/drawing/2014/main" id="{13D1E35F-C875-4B48-B1BD-4708E59FABC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a:extLst>
              <a:ext uri="{FF2B5EF4-FFF2-40B4-BE49-F238E27FC236}">
                <a16:creationId xmlns:a16="http://schemas.microsoft.com/office/drawing/2014/main" id="{E6EA4EB6-0099-41D1-ACE8-BD4F61C495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 y="3852333"/>
            <a:ext cx="11519084" cy="235617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79989FA-9B0A-446A-BD61-1EF7095C572D}"/>
              </a:ext>
            </a:extLst>
          </p:cNvPr>
          <p:cNvSpPr txBox="1"/>
          <p:nvPr/>
        </p:nvSpPr>
        <p:spPr>
          <a:xfrm>
            <a:off x="3771899" y="6104523"/>
            <a:ext cx="4953001" cy="338554"/>
          </a:xfrm>
          <a:prstGeom prst="rect">
            <a:avLst/>
          </a:prstGeom>
          <a:noFill/>
        </p:spPr>
        <p:txBody>
          <a:bodyPr wrap="square">
            <a:spAutoFit/>
          </a:bodyPr>
          <a:lstStyle/>
          <a:p>
            <a:r>
              <a:rPr lang="en-US" sz="1600" dirty="0"/>
              <a:t>Figure 3 : Red-team and Blue-team decision problem</a:t>
            </a:r>
          </a:p>
        </p:txBody>
      </p:sp>
    </p:spTree>
    <p:extLst>
      <p:ext uri="{BB962C8B-B14F-4D97-AF65-F5344CB8AC3E}">
        <p14:creationId xmlns:p14="http://schemas.microsoft.com/office/powerpoint/2010/main" val="3965457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47625" y="-203201"/>
            <a:ext cx="10515600" cy="1325563"/>
          </a:xfrm>
        </p:spPr>
        <p:txBody>
          <a:bodyPr>
            <a:normAutofit/>
          </a:bodyPr>
          <a:lstStyle/>
          <a:p>
            <a:r>
              <a:rPr lang="en-US" dirty="0"/>
              <a:t>Red Team Problem: Kill Chain Completion</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D2F5C4-B156-F5F2-E30D-ED600E8F5F19}"/>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12</a:t>
            </a:fld>
            <a:endParaRPr lang="en-US" dirty="0"/>
          </a:p>
        </p:txBody>
      </p:sp>
      <mc:AlternateContent xmlns:mc="http://schemas.openxmlformats.org/markup-compatibility/2006">
        <mc:Choice xmlns:a14="http://schemas.microsoft.com/office/drawing/2010/main" Requires="a14">
          <p:sp>
            <p:nvSpPr>
              <p:cNvPr id="7" name="Content Placeholder 6">
                <a:extLst>
                  <a:ext uri="{FF2B5EF4-FFF2-40B4-BE49-F238E27FC236}">
                    <a16:creationId xmlns:a16="http://schemas.microsoft.com/office/drawing/2014/main" id="{339B8B66-F526-44DF-848E-42B3A65D34C8}"/>
                  </a:ext>
                </a:extLst>
              </p:cNvPr>
              <p:cNvSpPr>
                <a:spLocks noGrp="1"/>
              </p:cNvSpPr>
              <p:nvPr>
                <p:ph idx="1"/>
              </p:nvPr>
            </p:nvSpPr>
            <p:spPr>
              <a:xfrm>
                <a:off x="194734" y="859895"/>
                <a:ext cx="11184466" cy="5998105"/>
              </a:xfrm>
            </p:spPr>
            <p:txBody>
              <a:bodyPr>
                <a:normAutofit/>
              </a:bodyPr>
              <a:lstStyle/>
              <a:p>
                <a:pPr>
                  <a:lnSpc>
                    <a:spcPct val="110000"/>
                  </a:lnSpc>
                  <a:defRPr sz="1600"/>
                </a:pPr>
                <a:r>
                  <a:rPr lang="en-US" sz="2000" b="1" u="sng" dirty="0"/>
                  <a:t>Input</a:t>
                </a:r>
                <a:r>
                  <a:rPr lang="en-US" sz="2000" dirty="0"/>
                  <a:t>:</a:t>
                </a:r>
                <a:endParaRPr lang="en-IN" sz="1900" dirty="0"/>
              </a:p>
              <a:p>
                <a:pPr lvl="1">
                  <a:lnSpc>
                    <a:spcPct val="110000"/>
                  </a:lnSpc>
                  <a:defRPr sz="1600"/>
                </a:pPr>
                <a14:m>
                  <m:oMath xmlns:m="http://schemas.openxmlformats.org/officeDocument/2006/math">
                    <m:sSubSup>
                      <m:sSubSupPr>
                        <m:ctrlPr>
                          <a:rPr lang="en-US" altLang="zh-TW" sz="1800" i="1" smtClean="0">
                            <a:solidFill>
                              <a:schemeClr val="tx1"/>
                            </a:solidFill>
                            <a:latin typeface="Cambria Math" panose="02040503050406030204" pitchFamily="18" charset="0"/>
                          </a:rPr>
                        </m:ctrlPr>
                      </m:sSubSupPr>
                      <m:e>
                        <m:r>
                          <a:rPr lang="en-US" altLang="zh-TW" sz="1800" b="0" i="1" smtClean="0">
                            <a:solidFill>
                              <a:schemeClr val="tx1"/>
                            </a:solidFill>
                            <a:latin typeface="Cambria Math" panose="02040503050406030204" pitchFamily="18" charset="0"/>
                          </a:rPr>
                          <m:t>𝑂</m:t>
                        </m:r>
                      </m:e>
                      <m:sub>
                        <m:r>
                          <a:rPr lang="en-US" altLang="zh-TW" sz="1800" b="0" i="1" smtClean="0">
                            <a:solidFill>
                              <a:schemeClr val="tx1"/>
                            </a:solidFill>
                            <a:latin typeface="Cambria Math" panose="02040503050406030204" pitchFamily="18" charset="0"/>
                          </a:rPr>
                          <m:t>𝑒</m:t>
                        </m:r>
                        <m:r>
                          <a:rPr lang="en-US" altLang="zh-TW" sz="1800" b="0" i="1" smtClean="0">
                            <a:solidFill>
                              <a:schemeClr val="tx1"/>
                            </a:solidFill>
                            <a:latin typeface="Cambria Math" panose="02040503050406030204" pitchFamily="18" charset="0"/>
                          </a:rPr>
                          <m:t>,</m:t>
                        </m:r>
                        <m:r>
                          <a:rPr lang="en-US" altLang="zh-TW" sz="1800" b="0" i="1" smtClean="0">
                            <a:solidFill>
                              <a:schemeClr val="tx1"/>
                            </a:solidFill>
                            <a:latin typeface="Cambria Math" panose="02040503050406030204" pitchFamily="18" charset="0"/>
                          </a:rPr>
                          <m:t>𝑗</m:t>
                        </m:r>
                      </m:sub>
                      <m:sup>
                        <m:r>
                          <a:rPr lang="en-US" altLang="zh-TW" sz="1800" b="0" i="1" smtClean="0">
                            <a:solidFill>
                              <a:schemeClr val="tx1"/>
                            </a:solidFill>
                            <a:latin typeface="Cambria Math" panose="02040503050406030204" pitchFamily="18" charset="0"/>
                          </a:rPr>
                          <m:t>𝑅</m:t>
                        </m:r>
                      </m:sup>
                    </m:sSubSup>
                  </m:oMath>
                </a14:m>
                <a:r>
                  <a:rPr lang="en-US" sz="1800" baseline="-25000" dirty="0">
                    <a:solidFill>
                      <a:schemeClr val="tx1"/>
                    </a:solidFill>
                  </a:rPr>
                  <a:t> </a:t>
                </a:r>
                <a:r>
                  <a:rPr lang="en-US" dirty="0">
                    <a:solidFill>
                      <a:schemeClr val="tx1"/>
                    </a:solidFill>
                  </a:rPr>
                  <a:t>: </a:t>
                </a:r>
                <a:r>
                  <a:rPr lang="en-US" sz="1800" dirty="0">
                    <a:solidFill>
                      <a:schemeClr val="tx1"/>
                    </a:solidFill>
                  </a:rPr>
                  <a:t>Red-team observation at step </a:t>
                </a:r>
                <a14:m>
                  <m:oMath xmlns:m="http://schemas.openxmlformats.org/officeDocument/2006/math">
                    <m:r>
                      <m:rPr>
                        <m:sty m:val="p"/>
                      </m:rPr>
                      <a:rPr lang="en-US" sz="1800" b="0" i="0" dirty="0" smtClean="0">
                        <a:latin typeface="Cambria Math" panose="02040503050406030204" pitchFamily="18" charset="0"/>
                        <a:ea typeface="Cambria Math" panose="02040503050406030204" pitchFamily="18" charset="0"/>
                      </a:rPr>
                      <m:t>j</m:t>
                    </m:r>
                  </m:oMath>
                </a14:m>
                <a:r>
                  <a:rPr lang="en-US" sz="1800" dirty="0">
                    <a:solidFill>
                      <a:schemeClr val="tx1"/>
                    </a:solidFill>
                  </a:rPr>
                  <a:t> of episode</a:t>
                </a:r>
                <a:r>
                  <a:rPr lang="en-US" sz="1800" dirty="0">
                    <a:ea typeface="Cambria Math" panose="02040503050406030204" pitchFamily="18" charset="0"/>
                  </a:rPr>
                  <a:t> </a:t>
                </a:r>
                <a14:m>
                  <m:oMath xmlns:m="http://schemas.openxmlformats.org/officeDocument/2006/math">
                    <m:r>
                      <a:rPr lang="en-US" sz="1800" i="1" dirty="0">
                        <a:latin typeface="Cambria Math" panose="02040503050406030204" pitchFamily="18" charset="0"/>
                        <a:ea typeface="Cambria Math" panose="02040503050406030204" pitchFamily="18" charset="0"/>
                      </a:rPr>
                      <m:t>𝑒</m:t>
                    </m:r>
                  </m:oMath>
                </a14:m>
                <a:r>
                  <a:rPr lang="en-US" sz="1800" dirty="0">
                    <a:solidFill>
                      <a:schemeClr val="tx1"/>
                    </a:solidFill>
                  </a:rPr>
                  <a:t>.</a:t>
                </a:r>
                <a:endParaRPr lang="en-US" sz="1800" dirty="0">
                  <a:solidFill>
                    <a:schemeClr val="tx1"/>
                  </a:solidFill>
                  <a:latin typeface="MV Boli" panose="02000500030200090000" pitchFamily="2" charset="0"/>
                  <a:cs typeface="MV Boli" panose="02000500030200090000" pitchFamily="2" charset="0"/>
                </a:endParaRPr>
              </a:p>
              <a:p>
                <a:pPr lvl="1">
                  <a:lnSpc>
                    <a:spcPct val="110000"/>
                  </a:lnSpc>
                  <a:defRPr sz="1600"/>
                </a:pPr>
                <a14:m>
                  <m:oMath xmlns:m="http://schemas.openxmlformats.org/officeDocument/2006/math">
                    <m:r>
                      <m:rPr>
                        <m:nor/>
                      </m:rPr>
                      <a:rPr lang="en-US" sz="1800" dirty="0">
                        <a:solidFill>
                          <a:schemeClr val="tx1"/>
                        </a:solidFill>
                        <a:latin typeface="MV Boli" panose="02000500030200090000" pitchFamily="2" charset="0"/>
                        <a:cs typeface="MV Boli" panose="02000500030200090000" pitchFamily="2" charset="0"/>
                      </a:rPr>
                      <m:t>T</m:t>
                    </m:r>
                  </m:oMath>
                </a14:m>
                <a:r>
                  <a:rPr lang="en-US" sz="1800" dirty="0">
                    <a:solidFill>
                      <a:schemeClr val="tx1"/>
                    </a:solidFill>
                  </a:rPr>
                  <a:t> :  Catalogue of attack technique schemas.</a:t>
                </a:r>
              </a:p>
              <a:p>
                <a:pPr lvl="1">
                  <a:lnSpc>
                    <a:spcPct val="110000"/>
                  </a:lnSpc>
                  <a:defRPr sz="1600"/>
                </a:pPr>
                <a:r>
                  <a:rPr lang="en-US" sz="1800" b="0" dirty="0">
                    <a:solidFill>
                      <a:schemeClr val="tx1"/>
                    </a:solidFill>
                    <a:latin typeface="MV Boli" panose="02000500030200090000" pitchFamily="2" charset="0"/>
                    <a:cs typeface="MV Boli" panose="02000500030200090000" pitchFamily="2" charset="0"/>
                  </a:rPr>
                  <a:t>K</a:t>
                </a:r>
                <a:r>
                  <a:rPr lang="en-US" sz="1800" dirty="0">
                    <a:solidFill>
                      <a:schemeClr val="tx1"/>
                    </a:solidFill>
                    <a:latin typeface="+mn-lt"/>
                    <a:cs typeface="MV Boli" panose="02000500030200090000" pitchFamily="2" charset="0"/>
                  </a:rPr>
                  <a:t>:</a:t>
                </a:r>
                <a:r>
                  <a:rPr lang="en-US" sz="1800" dirty="0">
                    <a:solidFill>
                      <a:schemeClr val="tx1"/>
                    </a:solidFill>
                    <a:latin typeface="MV Boli" panose="02000500030200090000" pitchFamily="2" charset="0"/>
                    <a:cs typeface="MV Boli" panose="02000500030200090000" pitchFamily="2" charset="0"/>
                  </a:rPr>
                  <a:t> </a:t>
                </a:r>
                <a:r>
                  <a:rPr lang="en-US" sz="1800" b="0" dirty="0">
                    <a:solidFill>
                      <a:schemeClr val="tx1"/>
                    </a:solidFill>
                  </a:rPr>
                  <a:t>Set of Kill chains paths.</a:t>
                </a:r>
                <a:endParaRPr lang="en-US" sz="1800" dirty="0">
                  <a:solidFill>
                    <a:schemeClr val="tx1"/>
                  </a:solidFill>
                </a:endParaRPr>
              </a:p>
              <a:p>
                <a:pPr lvl="1">
                  <a:lnSpc>
                    <a:spcPct val="110000"/>
                  </a:lnSpc>
                  <a:defRPr sz="1600"/>
                </a:pPr>
                <a14:m>
                  <m:oMath xmlns:m="http://schemas.openxmlformats.org/officeDocument/2006/math">
                    <m:sSup>
                      <m:sSupPr>
                        <m:ctrlPr>
                          <a:rPr lang="en-US" altLang="zh-TW" sz="1800" i="1">
                            <a:solidFill>
                              <a:schemeClr val="tx1"/>
                            </a:solidFill>
                            <a:latin typeface="Cambria Math" panose="02040503050406030204" pitchFamily="18" charset="0"/>
                          </a:rPr>
                        </m:ctrlPr>
                      </m:sSupPr>
                      <m:e>
                        <m:r>
                          <a:rPr lang="en-US" altLang="zh-TW" sz="1800" b="0" i="0" smtClean="0">
                            <a:solidFill>
                              <a:schemeClr val="tx1"/>
                            </a:solidFill>
                            <a:latin typeface="Cambria Math" panose="02040503050406030204" pitchFamily="18" charset="0"/>
                          </a:rPr>
                          <m:t> </m:t>
                        </m:r>
                        <m:r>
                          <a:rPr lang="en-US" altLang="zh-TW" sz="1800">
                            <a:solidFill>
                              <a:schemeClr val="tx1"/>
                            </a:solidFill>
                            <a:latin typeface="Cambria Math" panose="02040503050406030204" pitchFamily="18" charset="0"/>
                          </a:rPr>
                          <m:t>𝑆</m:t>
                        </m:r>
                      </m:e>
                      <m:sup>
                        <m:r>
                          <a:rPr lang="en-US" altLang="zh-TW" sz="1800" i="1">
                            <a:solidFill>
                              <a:schemeClr val="tx1"/>
                            </a:solidFill>
                            <a:latin typeface="Cambria Math" panose="02040503050406030204" pitchFamily="18" charset="0"/>
                          </a:rPr>
                          <m:t>𝑅</m:t>
                        </m:r>
                      </m:sup>
                    </m:sSup>
                  </m:oMath>
                </a14:m>
                <a:r>
                  <a:rPr lang="en-US" altLang="en-US" sz="1800" dirty="0">
                    <a:solidFill>
                      <a:schemeClr val="tx1"/>
                    </a:solidFill>
                  </a:rPr>
                  <a:t>: Red-team action space.</a:t>
                </a:r>
              </a:p>
              <a:p>
                <a:pPr>
                  <a:lnSpc>
                    <a:spcPct val="110000"/>
                  </a:lnSpc>
                  <a:defRPr sz="1600"/>
                </a:pPr>
                <a:r>
                  <a:rPr lang="en-US" sz="2000" b="1" u="sng" dirty="0">
                    <a:solidFill>
                      <a:schemeClr val="tx1"/>
                    </a:solidFill>
                  </a:rPr>
                  <a:t>Output</a:t>
                </a:r>
                <a:r>
                  <a:rPr lang="en-US" sz="2000" dirty="0">
                    <a:solidFill>
                      <a:schemeClr val="tx1"/>
                    </a:solidFill>
                  </a:rPr>
                  <a:t>:</a:t>
                </a:r>
              </a:p>
              <a:p>
                <a:pPr lvl="1"/>
                <a14:m>
                  <m:oMath xmlns:m="http://schemas.openxmlformats.org/officeDocument/2006/math">
                    <m:sSub>
                      <m:sSubPr>
                        <m:ctrlPr>
                          <a:rPr lang="en-US" sz="1800" i="1" dirty="0">
                            <a:solidFill>
                              <a:schemeClr val="tx1"/>
                            </a:solidFill>
                            <a:latin typeface="Cambria Math" panose="02040503050406030204" pitchFamily="18" charset="0"/>
                            <a:ea typeface="Cambria Math" panose="02040503050406030204" pitchFamily="18" charset="0"/>
                          </a:rPr>
                        </m:ctrlPr>
                      </m:sSubPr>
                      <m:e>
                        <m:d>
                          <m:dPr>
                            <m:begChr m:val="{"/>
                            <m:endChr m:val="}"/>
                            <m:ctrlPr>
                              <a:rPr lang="en-US" sz="1800" i="1" dirty="0">
                                <a:solidFill>
                                  <a:schemeClr val="tx1"/>
                                </a:solidFill>
                                <a:latin typeface="Cambria Math" panose="02040503050406030204" pitchFamily="18" charset="0"/>
                                <a:ea typeface="Cambria Math" panose="02040503050406030204" pitchFamily="18" charset="0"/>
                              </a:rPr>
                            </m:ctrlPr>
                          </m:dPr>
                          <m:e>
                            <m:sSubSup>
                              <m:sSubSupPr>
                                <m:ctrlPr>
                                  <a:rPr lang="en-US" sz="1800" i="1" dirty="0">
                                    <a:solidFill>
                                      <a:schemeClr val="tx1"/>
                                    </a:solidFill>
                                    <a:latin typeface="Cambria Math" panose="02040503050406030204" pitchFamily="18" charset="0"/>
                                    <a:ea typeface="Cambria Math" panose="02040503050406030204" pitchFamily="18" charset="0"/>
                                  </a:rPr>
                                </m:ctrlPr>
                              </m:sSubSupPr>
                              <m:e>
                                <m:r>
                                  <a:rPr lang="en-US" sz="1800" i="1" dirty="0">
                                    <a:solidFill>
                                      <a:schemeClr val="tx1"/>
                                    </a:solidFill>
                                    <a:latin typeface="Cambria Math" panose="02040503050406030204" pitchFamily="18" charset="0"/>
                                    <a:ea typeface="Cambria Math" panose="02040503050406030204" pitchFamily="18" charset="0"/>
                                  </a:rPr>
                                  <m:t>𝑎</m:t>
                                </m:r>
                              </m:e>
                              <m:sub>
                                <m:r>
                                  <a:rPr lang="en-US" sz="1800" i="1" dirty="0">
                                    <a:solidFill>
                                      <a:schemeClr val="tx1"/>
                                    </a:solidFill>
                                    <a:latin typeface="Cambria Math" panose="02040503050406030204" pitchFamily="18" charset="0"/>
                                    <a:ea typeface="Cambria Math" panose="02040503050406030204" pitchFamily="18" charset="0"/>
                                  </a:rPr>
                                  <m:t>ⅇ,</m:t>
                                </m:r>
                                <m:r>
                                  <a:rPr lang="en-US" sz="1800" i="1" dirty="0">
                                    <a:solidFill>
                                      <a:schemeClr val="tx1"/>
                                    </a:solidFill>
                                    <a:latin typeface="Cambria Math" panose="02040503050406030204" pitchFamily="18" charset="0"/>
                                    <a:ea typeface="Cambria Math" panose="02040503050406030204" pitchFamily="18" charset="0"/>
                                  </a:rPr>
                                  <m:t>𝑗</m:t>
                                </m:r>
                              </m:sub>
                              <m:sup>
                                <m:r>
                                  <a:rPr lang="en-US" sz="1800" i="1" dirty="0">
                                    <a:solidFill>
                                      <a:schemeClr val="tx1"/>
                                    </a:solidFill>
                                    <a:latin typeface="Cambria Math" panose="02040503050406030204" pitchFamily="18" charset="0"/>
                                    <a:ea typeface="Cambria Math" panose="02040503050406030204" pitchFamily="18" charset="0"/>
                                  </a:rPr>
                                  <m:t>𝑅</m:t>
                                </m:r>
                              </m:sup>
                            </m:sSubSup>
                          </m:e>
                        </m:d>
                      </m:e>
                      <m:sub>
                        <m:r>
                          <a:rPr lang="en-US" sz="1800" i="1" dirty="0">
                            <a:solidFill>
                              <a:schemeClr val="tx1"/>
                            </a:solidFill>
                            <a:latin typeface="Cambria Math" panose="02040503050406030204" pitchFamily="18" charset="0"/>
                            <a:ea typeface="Cambria Math" panose="02040503050406030204" pitchFamily="18" charset="0"/>
                          </a:rPr>
                          <m:t>𝑗</m:t>
                        </m:r>
                        <m:r>
                          <a:rPr lang="en-US" sz="1800" i="1" dirty="0">
                            <a:solidFill>
                              <a:schemeClr val="tx1"/>
                            </a:solidFill>
                            <a:latin typeface="Cambria Math" panose="02040503050406030204" pitchFamily="18" charset="0"/>
                            <a:ea typeface="Cambria Math" panose="02040503050406030204" pitchFamily="18" charset="0"/>
                          </a:rPr>
                          <m:t>≥1</m:t>
                        </m:r>
                      </m:sub>
                    </m:sSub>
                  </m:oMath>
                </a14:m>
                <a:r>
                  <a:rPr lang="en-US" sz="1800" dirty="0">
                    <a:solidFill>
                      <a:schemeClr val="tx1"/>
                    </a:solidFill>
                    <a:latin typeface="Cambria Math" panose="02040503050406030204" pitchFamily="18" charset="0"/>
                    <a:ea typeface="Cambria Math" panose="02040503050406030204" pitchFamily="18" charset="0"/>
                  </a:rPr>
                  <a:t> : </a:t>
                </a:r>
                <a:r>
                  <a:rPr lang="en-US" altLang="zh-TW" sz="1800" dirty="0">
                    <a:solidFill>
                      <a:schemeClr val="tx1"/>
                    </a:solidFill>
                    <a:ea typeface="微軟正黑體" panose="020B0604030504040204" pitchFamily="34" charset="-120"/>
                  </a:rPr>
                  <a:t>Sequence of Red-team actions </a:t>
                </a:r>
                <a:r>
                  <a:rPr lang="en-US" sz="1800" dirty="0">
                    <a:solidFill>
                      <a:schemeClr val="tx1"/>
                    </a:solidFill>
                    <a:latin typeface="Cambria Math" panose="02040503050406030204" pitchFamily="18" charset="0"/>
                    <a:ea typeface="Cambria Math" panose="02040503050406030204" pitchFamily="18" charset="0"/>
                  </a:rPr>
                  <a:t>in episode </a:t>
                </a:r>
                <a14:m>
                  <m:oMath xmlns:m="http://schemas.openxmlformats.org/officeDocument/2006/math">
                    <m:r>
                      <a:rPr lang="en-US" sz="1800" i="1" dirty="0">
                        <a:latin typeface="Cambria Math" panose="02040503050406030204" pitchFamily="18" charset="0"/>
                        <a:ea typeface="Cambria Math" panose="02040503050406030204" pitchFamily="18" charset="0"/>
                      </a:rPr>
                      <m:t>𝑒</m:t>
                    </m:r>
                  </m:oMath>
                </a14:m>
                <a:r>
                  <a:rPr lang="en-US" sz="1800" dirty="0">
                    <a:solidFill>
                      <a:schemeClr val="tx1"/>
                    </a:solidFill>
                    <a:latin typeface="Cambria Math" panose="02040503050406030204" pitchFamily="18" charset="0"/>
                    <a:ea typeface="Cambria Math" panose="02040503050406030204" pitchFamily="18" charset="0"/>
                  </a:rPr>
                  <a:t>.</a:t>
                </a:r>
              </a:p>
              <a:p>
                <a:pPr lvl="1"/>
                <a14:m>
                  <m:oMath xmlns:m="http://schemas.openxmlformats.org/officeDocument/2006/math">
                    <m:sSubSup>
                      <m:sSubSupPr>
                        <m:ctrlPr>
                          <a:rPr lang="en-US" sz="1800" i="1" dirty="0">
                            <a:solidFill>
                              <a:schemeClr val="tx1"/>
                            </a:solidFill>
                            <a:latin typeface="Cambria Math" panose="02040503050406030204" pitchFamily="18" charset="0"/>
                            <a:ea typeface="Cambria Math" panose="02040503050406030204" pitchFamily="18" charset="0"/>
                          </a:rPr>
                        </m:ctrlPr>
                      </m:sSubSupPr>
                      <m:e>
                        <m:r>
                          <a:rPr lang="en-US" sz="1800" b="0" i="1" dirty="0" smtClean="0">
                            <a:solidFill>
                              <a:schemeClr val="tx1"/>
                            </a:solidFill>
                            <a:latin typeface="Cambria Math" panose="02040503050406030204" pitchFamily="18" charset="0"/>
                            <a:ea typeface="Cambria Math" panose="02040503050406030204" pitchFamily="18" charset="0"/>
                          </a:rPr>
                          <m:t>𝑦</m:t>
                        </m:r>
                      </m:e>
                      <m:sub>
                        <m:r>
                          <a:rPr lang="en-US" sz="1800" i="1" dirty="0">
                            <a:solidFill>
                              <a:schemeClr val="tx1"/>
                            </a:solidFill>
                            <a:latin typeface="Cambria Math" panose="02040503050406030204" pitchFamily="18" charset="0"/>
                            <a:ea typeface="Cambria Math" panose="02040503050406030204" pitchFamily="18" charset="0"/>
                          </a:rPr>
                          <m:t>ⅇ</m:t>
                        </m:r>
                      </m:sub>
                      <m:sup>
                        <m:r>
                          <a:rPr lang="en-US" sz="1800" i="1" dirty="0">
                            <a:solidFill>
                              <a:schemeClr val="tx1"/>
                            </a:solidFill>
                            <a:latin typeface="Cambria Math" panose="02040503050406030204" pitchFamily="18" charset="0"/>
                            <a:ea typeface="Cambria Math" panose="02040503050406030204" pitchFamily="18" charset="0"/>
                          </a:rPr>
                          <m:t>𝑅</m:t>
                        </m:r>
                      </m:sup>
                    </m:sSubSup>
                    <m:r>
                      <a:rPr lang="en-US" sz="1800" i="1" dirty="0">
                        <a:solidFill>
                          <a:schemeClr val="tx1"/>
                        </a:solidFill>
                        <a:latin typeface="Cambria Math" panose="02040503050406030204" pitchFamily="18" charset="0"/>
                        <a:ea typeface="Cambria Math" panose="02040503050406030204" pitchFamily="18" charset="0"/>
                      </a:rPr>
                      <m:t> </m:t>
                    </m:r>
                    <m:r>
                      <a:rPr lang="en-US" sz="1800" i="1" dirty="0" smtClean="0">
                        <a:solidFill>
                          <a:schemeClr val="tx1"/>
                        </a:solidFill>
                        <a:latin typeface="Cambria Math" panose="02040503050406030204" pitchFamily="18" charset="0"/>
                        <a:ea typeface="Cambria Math" panose="02040503050406030204" pitchFamily="18" charset="0"/>
                      </a:rPr>
                      <m:t>∈</m:t>
                    </m:r>
                    <m:d>
                      <m:dPr>
                        <m:begChr m:val="{"/>
                        <m:endChr m:val="}"/>
                        <m:ctrlPr>
                          <a:rPr lang="en-US" sz="1800" b="0" i="1" dirty="0" smtClean="0">
                            <a:solidFill>
                              <a:schemeClr val="tx1"/>
                            </a:solidFill>
                            <a:latin typeface="Cambria Math" panose="02040503050406030204" pitchFamily="18" charset="0"/>
                            <a:ea typeface="Cambria Math" panose="02040503050406030204" pitchFamily="18" charset="0"/>
                          </a:rPr>
                        </m:ctrlPr>
                      </m:dPr>
                      <m:e>
                        <m:r>
                          <a:rPr lang="en-US" sz="1800" b="0" i="1" dirty="0" smtClean="0">
                            <a:solidFill>
                              <a:schemeClr val="tx1"/>
                            </a:solidFill>
                            <a:latin typeface="Cambria Math" panose="02040503050406030204" pitchFamily="18" charset="0"/>
                            <a:ea typeface="Cambria Math" panose="02040503050406030204" pitchFamily="18" charset="0"/>
                          </a:rPr>
                          <m:t>0,1</m:t>
                        </m:r>
                      </m:e>
                    </m:d>
                    <m:r>
                      <a:rPr lang="en-US" sz="1800" b="0" i="1" dirty="0" smtClean="0">
                        <a:solidFill>
                          <a:schemeClr val="tx1"/>
                        </a:solidFill>
                        <a:latin typeface="Cambria Math" panose="02040503050406030204" pitchFamily="18" charset="0"/>
                        <a:ea typeface="Cambria Math" panose="02040503050406030204" pitchFamily="18" charset="0"/>
                      </a:rPr>
                      <m:t> </m:t>
                    </m:r>
                  </m:oMath>
                </a14:m>
                <a:r>
                  <a:rPr lang="en-US" sz="1800" dirty="0">
                    <a:solidFill>
                      <a:schemeClr val="tx1"/>
                    </a:solidFill>
                  </a:rPr>
                  <a:t>: Red-team Outcome flag.</a:t>
                </a:r>
              </a:p>
              <a:p>
                <a:pPr>
                  <a:lnSpc>
                    <a:spcPct val="110000"/>
                  </a:lnSpc>
                  <a:defRPr sz="1600"/>
                </a:pPr>
                <a:r>
                  <a:rPr lang="en-US" sz="2000" b="1" u="sng" dirty="0">
                    <a:solidFill>
                      <a:schemeClr val="tx1"/>
                    </a:solidFill>
                  </a:rPr>
                  <a:t>Objective</a:t>
                </a:r>
                <a:r>
                  <a:rPr lang="en-US" sz="2000" dirty="0">
                    <a:solidFill>
                      <a:schemeClr val="tx1"/>
                    </a:solidFill>
                  </a:rPr>
                  <a:t>:	</a:t>
                </a:r>
              </a:p>
              <a:p>
                <a:pPr lvl="1">
                  <a:lnSpc>
                    <a:spcPct val="100000"/>
                  </a:lnSpc>
                  <a:defRPr sz="1600"/>
                </a:pPr>
                <a:r>
                  <a:rPr lang="en-US" sz="1800" dirty="0" err="1">
                    <a:solidFill>
                      <a:schemeClr val="tx1"/>
                    </a:solidFill>
                  </a:rPr>
                  <a:t>Maximise</a:t>
                </a:r>
                <a:r>
                  <a:rPr lang="en-US" sz="1800" dirty="0">
                    <a:solidFill>
                      <a:schemeClr val="tx1"/>
                    </a:solidFill>
                  </a:rPr>
                  <a:t> the Red-team episode-level success rate:</a:t>
                </a:r>
              </a:p>
              <a:p>
                <a:pPr lvl="1">
                  <a:lnSpc>
                    <a:spcPct val="100000"/>
                  </a:lnSpc>
                  <a:defRPr sz="1600"/>
                </a:pPr>
                <a:endParaRPr lang="en-US" sz="1800" dirty="0">
                  <a:solidFill>
                    <a:schemeClr val="tx1"/>
                  </a:solidFill>
                </a:endParaRPr>
              </a:p>
              <a:p>
                <a:pPr lvl="1">
                  <a:lnSpc>
                    <a:spcPct val="100000"/>
                  </a:lnSpc>
                  <a:defRPr sz="1600"/>
                </a:pPr>
                <a:endParaRPr lang="en-US" sz="1800" dirty="0">
                  <a:solidFill>
                    <a:schemeClr val="tx1"/>
                  </a:solidFill>
                </a:endParaRPr>
              </a:p>
              <a:p>
                <a:pPr>
                  <a:lnSpc>
                    <a:spcPct val="110000"/>
                  </a:lnSpc>
                  <a:defRPr sz="1600"/>
                </a:pPr>
                <a:r>
                  <a:rPr lang="en-US" sz="2000" b="1" u="sng" dirty="0">
                    <a:solidFill>
                      <a:schemeClr val="tx1"/>
                    </a:solidFill>
                  </a:rPr>
                  <a:t>Constraints</a:t>
                </a:r>
                <a:r>
                  <a:rPr lang="en-US" sz="2000" dirty="0">
                    <a:solidFill>
                      <a:schemeClr val="tx1"/>
                    </a:solidFill>
                  </a:rPr>
                  <a:t>:</a:t>
                </a:r>
                <a:endParaRPr lang="en-US" altLang="en-US" sz="1800" dirty="0">
                  <a:solidFill>
                    <a:schemeClr val="tx1"/>
                  </a:solidFill>
                </a:endParaRPr>
              </a:p>
              <a:p>
                <a:pPr marL="457200" lvl="1" indent="0" eaLnBrk="0" fontAlgn="base" hangingPunct="0">
                  <a:lnSpc>
                    <a:spcPct val="110000"/>
                  </a:lnSpc>
                  <a:spcBef>
                    <a:spcPct val="0"/>
                  </a:spcBef>
                  <a:spcAft>
                    <a:spcPct val="0"/>
                  </a:spcAft>
                  <a:buFontTx/>
                  <a:buChar char="•"/>
                </a:pPr>
                <a:r>
                  <a:rPr lang="en-US" altLang="en-US" sz="1800" dirty="0">
                    <a:solidFill>
                      <a:schemeClr val="tx1"/>
                    </a:solidFill>
                  </a:rPr>
                  <a:t>  A kill-chain path </a:t>
                </a:r>
                <a14:m>
                  <m:oMath xmlns:m="http://schemas.openxmlformats.org/officeDocument/2006/math">
                    <m:sSubSup>
                      <m:sSubSupPr>
                        <m:ctrlPr>
                          <a:rPr lang="en-US" i="1" dirty="0" smtClean="0">
                            <a:solidFill>
                              <a:schemeClr val="tx1"/>
                            </a:solidFill>
                            <a:latin typeface="Cambria Math" panose="02040503050406030204" pitchFamily="18" charset="0"/>
                          </a:rPr>
                        </m:ctrlPr>
                      </m:sSubSupPr>
                      <m:e>
                        <m:r>
                          <a:rPr lang="en-US" b="0" i="1" dirty="0" smtClean="0">
                            <a:solidFill>
                              <a:schemeClr val="tx1"/>
                            </a:solidFill>
                            <a:latin typeface="Cambria Math" panose="02040503050406030204" pitchFamily="18" charset="0"/>
                          </a:rPr>
                          <m:t>𝑘</m:t>
                        </m:r>
                      </m:e>
                      <m:sub>
                        <m:r>
                          <a:rPr lang="en-US" i="1" dirty="0">
                            <a:solidFill>
                              <a:schemeClr val="tx1"/>
                            </a:solidFill>
                            <a:latin typeface="Cambria Math" panose="02040503050406030204" pitchFamily="18" charset="0"/>
                          </a:rPr>
                          <m:t>𝑒</m:t>
                        </m:r>
                      </m:sub>
                      <m:sup>
                        <m:r>
                          <a:rPr lang="en-US" i="1" dirty="0">
                            <a:solidFill>
                              <a:schemeClr val="tx1"/>
                            </a:solidFill>
                            <a:latin typeface="Cambria Math" panose="02040503050406030204" pitchFamily="18" charset="0"/>
                          </a:rPr>
                          <m:t>𝑅</m:t>
                        </m:r>
                      </m:sup>
                    </m:sSubSup>
                    <m:r>
                      <a:rPr lang="en-US" b="0" i="1" dirty="0" smtClean="0">
                        <a:solidFill>
                          <a:schemeClr val="tx1"/>
                        </a:solidFill>
                        <a:latin typeface="Cambria Math" panose="02040503050406030204" pitchFamily="18" charset="0"/>
                      </a:rPr>
                      <m:t> </m:t>
                    </m:r>
                    <m:r>
                      <a:rPr lang="en-US" b="0" i="1" dirty="0" smtClean="0">
                        <a:solidFill>
                          <a:schemeClr val="tx1"/>
                        </a:solidFill>
                        <a:latin typeface="Cambria Math" panose="02040503050406030204" pitchFamily="18" charset="0"/>
                        <a:ea typeface="Cambria Math" panose="02040503050406030204" pitchFamily="18" charset="0"/>
                      </a:rPr>
                      <m:t>∈</m:t>
                    </m:r>
                    <m:r>
                      <a:rPr lang="en-US" b="0" i="1" dirty="0" smtClean="0">
                        <a:solidFill>
                          <a:schemeClr val="tx1"/>
                        </a:solidFill>
                        <a:latin typeface="Cambria Math" panose="02040503050406030204" pitchFamily="18" charset="0"/>
                      </a:rPr>
                      <m:t> </m:t>
                    </m:r>
                  </m:oMath>
                </a14:m>
                <a:r>
                  <a:rPr lang="en-US" dirty="0">
                    <a:solidFill>
                      <a:schemeClr val="tx1"/>
                    </a:solidFill>
                    <a:latin typeface="MV Boli" panose="02000500030200090000" pitchFamily="2" charset="0"/>
                    <a:cs typeface="MV Boli" panose="02000500030200090000" pitchFamily="2" charset="0"/>
                  </a:rPr>
                  <a:t>K </a:t>
                </a:r>
                <a:r>
                  <a:rPr lang="en-US" sz="1800" dirty="0">
                    <a:solidFill>
                      <a:schemeClr val="tx1"/>
                    </a:solidFill>
                    <a:ea typeface="微軟正黑體" panose="020B0604030504040204" pitchFamily="34" charset="-120"/>
                  </a:rPr>
                  <a:t>is selected at the start of episode </a:t>
                </a:r>
                <a14:m>
                  <m:oMath xmlns:m="http://schemas.openxmlformats.org/officeDocument/2006/math">
                    <m:r>
                      <a:rPr lang="en-US" sz="1800" i="1">
                        <a:solidFill>
                          <a:schemeClr val="tx1"/>
                        </a:solidFill>
                        <a:latin typeface="Cambria Math" panose="02040503050406030204" pitchFamily="18" charset="0"/>
                        <a:ea typeface="Cambria Math" panose="02040503050406030204" pitchFamily="18" charset="0"/>
                      </a:rPr>
                      <m:t>𝑒</m:t>
                    </m:r>
                  </m:oMath>
                </a14:m>
                <a:r>
                  <a:rPr lang="en-US" sz="1800" dirty="0">
                    <a:solidFill>
                      <a:schemeClr val="tx1"/>
                    </a:solidFill>
                    <a:latin typeface="Cambria Math" panose="02040503050406030204" pitchFamily="18" charset="0"/>
                    <a:ea typeface="Cambria Math" panose="02040503050406030204" pitchFamily="18" charset="0"/>
                  </a:rPr>
                  <a:t>.</a:t>
                </a:r>
              </a:p>
              <a:p>
                <a:pPr marL="457200" lvl="1" indent="0" eaLnBrk="0" fontAlgn="base" hangingPunct="0">
                  <a:lnSpc>
                    <a:spcPct val="110000"/>
                  </a:lnSpc>
                  <a:spcBef>
                    <a:spcPct val="0"/>
                  </a:spcBef>
                  <a:spcAft>
                    <a:spcPct val="0"/>
                  </a:spcAft>
                  <a:buFontTx/>
                  <a:buChar char="•"/>
                </a:pPr>
                <a:r>
                  <a:rPr lang="en-US" sz="1800" dirty="0">
                    <a:solidFill>
                      <a:schemeClr val="tx1"/>
                    </a:solidFill>
                    <a:latin typeface="Cambria Math" panose="02040503050406030204" pitchFamily="18" charset="0"/>
                    <a:ea typeface="Cambria Math" panose="02040503050406030204" pitchFamily="18" charset="0"/>
                  </a:rPr>
                  <a:t> </a:t>
                </a:r>
                <a:r>
                  <a:rPr lang="en-US" sz="1800" dirty="0"/>
                  <a:t>At each step </a:t>
                </a:r>
                <a14:m>
                  <m:oMath xmlns:m="http://schemas.openxmlformats.org/officeDocument/2006/math">
                    <m:r>
                      <m:rPr>
                        <m:sty m:val="p"/>
                      </m:rPr>
                      <a:rPr lang="en-US" sz="1800" dirty="0">
                        <a:latin typeface="Cambria Math" panose="02040503050406030204" pitchFamily="18" charset="0"/>
                        <a:ea typeface="Cambria Math" panose="02040503050406030204" pitchFamily="18" charset="0"/>
                      </a:rPr>
                      <m:t>j</m:t>
                    </m:r>
                  </m:oMath>
                </a14:m>
                <a:r>
                  <a:rPr lang="en-US" sz="1800" dirty="0"/>
                  <a:t> , the selected action must satisfy </a:t>
                </a:r>
                <a14:m>
                  <m:oMath xmlns:m="http://schemas.openxmlformats.org/officeDocument/2006/math">
                    <m:sSubSup>
                      <m:sSubSupPr>
                        <m:ctrlPr>
                          <a:rPr lang="en-US" sz="1800" i="1" dirty="0" smtClean="0">
                            <a:solidFill>
                              <a:schemeClr val="tx1"/>
                            </a:solidFill>
                            <a:latin typeface="Cambria Math" panose="02040503050406030204" pitchFamily="18" charset="0"/>
                            <a:ea typeface="Cambria Math" panose="02040503050406030204" pitchFamily="18" charset="0"/>
                          </a:rPr>
                        </m:ctrlPr>
                      </m:sSubSupPr>
                      <m:e>
                        <m:r>
                          <a:rPr lang="en-US" sz="1800" i="1" dirty="0">
                            <a:solidFill>
                              <a:schemeClr val="tx1"/>
                            </a:solidFill>
                            <a:latin typeface="Cambria Math" panose="02040503050406030204" pitchFamily="18" charset="0"/>
                            <a:ea typeface="Cambria Math" panose="02040503050406030204" pitchFamily="18" charset="0"/>
                          </a:rPr>
                          <m:t>𝑎</m:t>
                        </m:r>
                      </m:e>
                      <m:sub>
                        <m:r>
                          <a:rPr lang="en-US" sz="1800" i="1" dirty="0">
                            <a:solidFill>
                              <a:schemeClr val="tx1"/>
                            </a:solidFill>
                            <a:latin typeface="Cambria Math" panose="02040503050406030204" pitchFamily="18" charset="0"/>
                            <a:ea typeface="Cambria Math" panose="02040503050406030204" pitchFamily="18" charset="0"/>
                          </a:rPr>
                          <m:t>ⅇ,</m:t>
                        </m:r>
                        <m:r>
                          <a:rPr lang="en-US" sz="1800" i="1" dirty="0">
                            <a:solidFill>
                              <a:schemeClr val="tx1"/>
                            </a:solidFill>
                            <a:latin typeface="Cambria Math" panose="02040503050406030204" pitchFamily="18" charset="0"/>
                            <a:ea typeface="Cambria Math" panose="02040503050406030204" pitchFamily="18" charset="0"/>
                          </a:rPr>
                          <m:t>𝑗</m:t>
                        </m:r>
                      </m:sub>
                      <m:sup>
                        <m:r>
                          <a:rPr lang="en-US" sz="1800" i="1" dirty="0">
                            <a:solidFill>
                              <a:schemeClr val="tx1"/>
                            </a:solidFill>
                            <a:latin typeface="Cambria Math" panose="02040503050406030204" pitchFamily="18" charset="0"/>
                            <a:ea typeface="Cambria Math" panose="02040503050406030204" pitchFamily="18" charset="0"/>
                          </a:rPr>
                          <m:t>𝑅</m:t>
                        </m:r>
                      </m:sup>
                    </m:sSubSup>
                  </m:oMath>
                </a14:m>
                <a:r>
                  <a:rPr lang="en-US" sz="1800" dirty="0">
                    <a:solidFill>
                      <a:schemeClr val="tx1"/>
                    </a:solidFill>
                    <a:latin typeface="Cambria Math" panose="02040503050406030204" pitchFamily="18" charset="0"/>
                    <a:ea typeface="Cambria Math" panose="02040503050406030204" pitchFamily="18" charset="0"/>
                  </a:rPr>
                  <a:t> =</a:t>
                </a:r>
                <a14:m>
                  <m:oMath xmlns:m="http://schemas.openxmlformats.org/officeDocument/2006/math">
                    <m:r>
                      <a:rPr lang="en-US" sz="1800" b="0" i="0" dirty="0" smtClean="0">
                        <a:solidFill>
                          <a:schemeClr val="tx1"/>
                        </a:solidFill>
                        <a:latin typeface="Cambria Math" panose="02040503050406030204" pitchFamily="18" charset="0"/>
                        <a:ea typeface="Cambria Math" panose="02040503050406030204" pitchFamily="18" charset="0"/>
                      </a:rPr>
                      <m:t> {</m:t>
                    </m:r>
                    <m:sSubSup>
                      <m:sSubSupPr>
                        <m:ctrlPr>
                          <a:rPr lang="en-US" sz="1800" i="1" dirty="0">
                            <a:solidFill>
                              <a:schemeClr val="tx1"/>
                            </a:solidFill>
                            <a:latin typeface="Cambria Math" panose="02040503050406030204" pitchFamily="18" charset="0"/>
                            <a:ea typeface="Cambria Math" panose="02040503050406030204" pitchFamily="18" charset="0"/>
                          </a:rPr>
                        </m:ctrlPr>
                      </m:sSubSupPr>
                      <m:e>
                        <m:r>
                          <a:rPr lang="en-US" sz="1800" b="0" i="1" dirty="0" smtClean="0">
                            <a:solidFill>
                              <a:schemeClr val="tx1"/>
                            </a:solidFill>
                            <a:latin typeface="Cambria Math" panose="02040503050406030204" pitchFamily="18" charset="0"/>
                            <a:ea typeface="Cambria Math" panose="02040503050406030204" pitchFamily="18" charset="0"/>
                          </a:rPr>
                          <m:t>𝑡</m:t>
                        </m:r>
                      </m:e>
                      <m:sub>
                        <m:r>
                          <a:rPr lang="en-US" sz="1800" i="1" dirty="0">
                            <a:solidFill>
                              <a:schemeClr val="tx1"/>
                            </a:solidFill>
                            <a:latin typeface="Cambria Math" panose="02040503050406030204" pitchFamily="18" charset="0"/>
                            <a:ea typeface="Cambria Math" panose="02040503050406030204" pitchFamily="18" charset="0"/>
                          </a:rPr>
                          <m:t>ⅇ,</m:t>
                        </m:r>
                        <m:r>
                          <a:rPr lang="en-US" sz="1800" i="1" dirty="0">
                            <a:solidFill>
                              <a:schemeClr val="tx1"/>
                            </a:solidFill>
                            <a:latin typeface="Cambria Math" panose="02040503050406030204" pitchFamily="18" charset="0"/>
                            <a:ea typeface="Cambria Math" panose="02040503050406030204" pitchFamily="18" charset="0"/>
                          </a:rPr>
                          <m:t>𝑗</m:t>
                        </m:r>
                      </m:sub>
                      <m:sup>
                        <m:r>
                          <a:rPr lang="en-US" sz="1800" i="1" dirty="0">
                            <a:solidFill>
                              <a:schemeClr val="tx1"/>
                            </a:solidFill>
                            <a:latin typeface="Cambria Math" panose="02040503050406030204" pitchFamily="18" charset="0"/>
                            <a:ea typeface="Cambria Math" panose="02040503050406030204" pitchFamily="18" charset="0"/>
                          </a:rPr>
                          <m:t>𝑅</m:t>
                        </m:r>
                      </m:sup>
                    </m:sSubSup>
                  </m:oMath>
                </a14:m>
                <a:r>
                  <a:rPr lang="en-US" sz="1800" dirty="0">
                    <a:solidFill>
                      <a:schemeClr val="tx1"/>
                    </a:solidFill>
                    <a:latin typeface="Cambria Math" panose="02040503050406030204" pitchFamily="18" charset="0"/>
                    <a:ea typeface="Cambria Math" panose="02040503050406030204" pitchFamily="18" charset="0"/>
                  </a:rPr>
                  <a:t>,</a:t>
                </a:r>
                <a:r>
                  <a:rPr lang="en-US" sz="1800" dirty="0">
                    <a:solidFill>
                      <a:schemeClr val="tx1"/>
                    </a:solidFill>
                    <a:ea typeface="Cambria Math" panose="02040503050406030204" pitchFamily="18" charset="0"/>
                  </a:rPr>
                  <a:t> </a:t>
                </a:r>
                <a14:m>
                  <m:oMath xmlns:m="http://schemas.openxmlformats.org/officeDocument/2006/math">
                    <m:sSubSup>
                      <m:sSubSupPr>
                        <m:ctrlPr>
                          <a:rPr lang="en-US" sz="1800" i="1" dirty="0" smtClean="0">
                            <a:solidFill>
                              <a:schemeClr val="tx1"/>
                            </a:solidFill>
                            <a:latin typeface="Cambria Math" panose="02040503050406030204" pitchFamily="18" charset="0"/>
                            <a:ea typeface="Cambria Math" panose="02040503050406030204" pitchFamily="18" charset="0"/>
                          </a:rPr>
                        </m:ctrlPr>
                      </m:sSubSupPr>
                      <m:e>
                        <m:r>
                          <a:rPr lang="en-US" sz="1800" b="0" i="1" dirty="0" smtClean="0">
                            <a:solidFill>
                              <a:schemeClr val="tx1"/>
                            </a:solidFill>
                            <a:latin typeface="Cambria Math" panose="02040503050406030204" pitchFamily="18" charset="0"/>
                            <a:ea typeface="Cambria Math" panose="02040503050406030204" pitchFamily="18" charset="0"/>
                          </a:rPr>
                          <m:t>𝑥</m:t>
                        </m:r>
                      </m:e>
                      <m:sub>
                        <m:r>
                          <a:rPr lang="en-US" sz="1800" i="1" dirty="0">
                            <a:solidFill>
                              <a:schemeClr val="tx1"/>
                            </a:solidFill>
                            <a:latin typeface="Cambria Math" panose="02040503050406030204" pitchFamily="18" charset="0"/>
                            <a:ea typeface="Cambria Math" panose="02040503050406030204" pitchFamily="18" charset="0"/>
                          </a:rPr>
                          <m:t>ⅇ,</m:t>
                        </m:r>
                        <m:r>
                          <a:rPr lang="en-US" sz="1800" i="1" dirty="0">
                            <a:solidFill>
                              <a:schemeClr val="tx1"/>
                            </a:solidFill>
                            <a:latin typeface="Cambria Math" panose="02040503050406030204" pitchFamily="18" charset="0"/>
                            <a:ea typeface="Cambria Math" panose="02040503050406030204" pitchFamily="18" charset="0"/>
                          </a:rPr>
                          <m:t>𝑗</m:t>
                        </m:r>
                      </m:sub>
                      <m:sup>
                        <m:r>
                          <a:rPr lang="en-US" sz="1800" i="1" dirty="0">
                            <a:solidFill>
                              <a:schemeClr val="tx1"/>
                            </a:solidFill>
                            <a:latin typeface="Cambria Math" panose="02040503050406030204" pitchFamily="18" charset="0"/>
                            <a:ea typeface="Cambria Math" panose="02040503050406030204" pitchFamily="18" charset="0"/>
                          </a:rPr>
                          <m:t>𝑅</m:t>
                        </m:r>
                      </m:sup>
                    </m:sSubSup>
                    <m:r>
                      <a:rPr lang="en-US" sz="1800" b="0" i="1" dirty="0" smtClean="0">
                        <a:solidFill>
                          <a:schemeClr val="tx1"/>
                        </a:solidFill>
                        <a:latin typeface="Cambria Math" panose="02040503050406030204" pitchFamily="18" charset="0"/>
                        <a:ea typeface="Cambria Math" panose="02040503050406030204" pitchFamily="18" charset="0"/>
                      </a:rPr>
                      <m:t>}∈</m:t>
                    </m:r>
                    <m:sSup>
                      <m:sSupPr>
                        <m:ctrlPr>
                          <a:rPr lang="en-US" sz="1800" b="0" i="1" dirty="0" smtClean="0">
                            <a:solidFill>
                              <a:schemeClr val="tx1"/>
                            </a:solidFill>
                            <a:latin typeface="Cambria Math" panose="02040503050406030204" pitchFamily="18" charset="0"/>
                            <a:ea typeface="Cambria Math" panose="02040503050406030204" pitchFamily="18" charset="0"/>
                          </a:rPr>
                        </m:ctrlPr>
                      </m:sSupPr>
                      <m:e>
                        <m:r>
                          <a:rPr lang="en-US" sz="1800" b="0" i="1" dirty="0" smtClean="0">
                            <a:solidFill>
                              <a:schemeClr val="tx1"/>
                            </a:solidFill>
                            <a:latin typeface="Cambria Math" panose="02040503050406030204" pitchFamily="18" charset="0"/>
                            <a:ea typeface="Cambria Math" panose="02040503050406030204" pitchFamily="18" charset="0"/>
                          </a:rPr>
                          <m:t>𝑆</m:t>
                        </m:r>
                      </m:e>
                      <m:sup>
                        <m:r>
                          <a:rPr lang="en-US" sz="1800" b="0" i="1" dirty="0" smtClean="0">
                            <a:solidFill>
                              <a:schemeClr val="tx1"/>
                            </a:solidFill>
                            <a:latin typeface="Cambria Math" panose="02040503050406030204" pitchFamily="18" charset="0"/>
                            <a:ea typeface="Cambria Math" panose="02040503050406030204" pitchFamily="18" charset="0"/>
                          </a:rPr>
                          <m:t>𝑅</m:t>
                        </m:r>
                      </m:sup>
                    </m:sSup>
                  </m:oMath>
                </a14:m>
                <a:endParaRPr lang="en-US" sz="1800" dirty="0">
                  <a:latin typeface="Cambria Math" panose="02040503050406030204" pitchFamily="18" charset="0"/>
                  <a:ea typeface="Cambria Math" panose="02040503050406030204" pitchFamily="18" charset="0"/>
                </a:endParaRPr>
              </a:p>
              <a:p>
                <a:pPr marL="457200" lvl="1" indent="0" eaLnBrk="0" fontAlgn="base" hangingPunct="0">
                  <a:lnSpc>
                    <a:spcPct val="110000"/>
                  </a:lnSpc>
                  <a:spcBef>
                    <a:spcPct val="0"/>
                  </a:spcBef>
                  <a:spcAft>
                    <a:spcPct val="0"/>
                  </a:spcAft>
                  <a:buFontTx/>
                  <a:buChar char="•"/>
                </a:pPr>
                <a:endParaRPr lang="en-US" sz="1800" dirty="0">
                  <a:ea typeface="微軟正黑體" panose="020B0604030504040204" pitchFamily="34" charset="-120"/>
                </a:endParaRPr>
              </a:p>
            </p:txBody>
          </p:sp>
        </mc:Choice>
        <mc:Fallback>
          <p:sp>
            <p:nvSpPr>
              <p:cNvPr id="7" name="Content Placeholder 6">
                <a:extLst>
                  <a:ext uri="{FF2B5EF4-FFF2-40B4-BE49-F238E27FC236}">
                    <a16:creationId xmlns:a16="http://schemas.microsoft.com/office/drawing/2014/main" id="{339B8B66-F526-44DF-848E-42B3A65D34C8}"/>
                  </a:ext>
                </a:extLst>
              </p:cNvPr>
              <p:cNvSpPr>
                <a:spLocks noGrp="1" noRot="1" noChangeAspect="1" noMove="1" noResize="1" noEditPoints="1" noAdjustHandles="1" noChangeArrowheads="1" noChangeShapeType="1" noTextEdit="1"/>
              </p:cNvSpPr>
              <p:nvPr>
                <p:ph idx="1"/>
              </p:nvPr>
            </p:nvSpPr>
            <p:spPr>
              <a:xfrm>
                <a:off x="194734" y="859895"/>
                <a:ext cx="11184466" cy="5998105"/>
              </a:xfrm>
              <a:blipFill>
                <a:blip r:embed="rId3"/>
                <a:stretch>
                  <a:fillRect l="-490" t="-407"/>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C23017AA-50AA-4585-AB1C-E3A774767A7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saturation sat="400000"/>
                    </a14:imgEffect>
                  </a14:imgLayer>
                </a14:imgProps>
              </a:ext>
            </a:extLst>
          </a:blip>
          <a:stretch>
            <a:fillRect/>
          </a:stretch>
        </p:blipFill>
        <p:spPr>
          <a:xfrm>
            <a:off x="1903963" y="4772408"/>
            <a:ext cx="5199569" cy="819906"/>
          </a:xfrm>
          <a:prstGeom prst="rect">
            <a:avLst/>
          </a:prstGeom>
        </p:spPr>
      </p:pic>
    </p:spTree>
    <p:extLst>
      <p:ext uri="{BB962C8B-B14F-4D97-AF65-F5344CB8AC3E}">
        <p14:creationId xmlns:p14="http://schemas.microsoft.com/office/powerpoint/2010/main" val="3003099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99480" y="-213942"/>
            <a:ext cx="10515600" cy="1325563"/>
          </a:xfrm>
        </p:spPr>
        <p:txBody>
          <a:bodyPr>
            <a:normAutofit/>
          </a:bodyPr>
          <a:lstStyle/>
          <a:p>
            <a:r>
              <a:rPr lang="en-US" dirty="0"/>
              <a:t>Blue Team Problem: Kill Chain Disruption</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D2F5C4-B156-F5F2-E30D-ED600E8F5F19}"/>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13</a:t>
            </a:fld>
            <a:endParaRPr lang="en-US" dirty="0"/>
          </a:p>
        </p:txBody>
      </p:sp>
      <mc:AlternateContent xmlns:mc="http://schemas.openxmlformats.org/markup-compatibility/2006">
        <mc:Choice xmlns:a14="http://schemas.microsoft.com/office/drawing/2010/main" Requires="a14">
          <p:sp>
            <p:nvSpPr>
              <p:cNvPr id="7" name="Content Placeholder 6">
                <a:extLst>
                  <a:ext uri="{FF2B5EF4-FFF2-40B4-BE49-F238E27FC236}">
                    <a16:creationId xmlns:a16="http://schemas.microsoft.com/office/drawing/2014/main" id="{339B8B66-F526-44DF-848E-42B3A65D34C8}"/>
                  </a:ext>
                </a:extLst>
              </p:cNvPr>
              <p:cNvSpPr>
                <a:spLocks noGrp="1"/>
              </p:cNvSpPr>
              <p:nvPr>
                <p:ph idx="1"/>
              </p:nvPr>
            </p:nvSpPr>
            <p:spPr>
              <a:xfrm>
                <a:off x="333372" y="993089"/>
                <a:ext cx="11079693" cy="5864911"/>
              </a:xfrm>
            </p:spPr>
            <p:txBody>
              <a:bodyPr>
                <a:normAutofit fontScale="70000" lnSpcReduction="20000"/>
              </a:bodyPr>
              <a:lstStyle/>
              <a:p>
                <a:pPr>
                  <a:lnSpc>
                    <a:spcPct val="120000"/>
                  </a:lnSpc>
                  <a:defRPr sz="1600"/>
                </a:pPr>
                <a:r>
                  <a:rPr lang="en-US" sz="3200" b="1" u="sng" dirty="0"/>
                  <a:t>Input:</a:t>
                </a:r>
              </a:p>
              <a:p>
                <a:pPr lvl="1">
                  <a:lnSpc>
                    <a:spcPct val="110000"/>
                  </a:lnSpc>
                  <a:defRPr sz="1600"/>
                </a:pPr>
                <a:r>
                  <a:rPr lang="en-US" sz="2900" dirty="0"/>
                  <a:t>Observation </a:t>
                </a:r>
                <a14:m>
                  <m:oMath xmlns:m="http://schemas.openxmlformats.org/officeDocument/2006/math">
                    <m:sSubSup>
                      <m:sSubSupPr>
                        <m:ctrlPr>
                          <a:rPr lang="en-US" altLang="zh-TW" sz="2900" i="1" smtClean="0">
                            <a:latin typeface="Cambria Math" panose="02040503050406030204" pitchFamily="18" charset="0"/>
                          </a:rPr>
                        </m:ctrlPr>
                      </m:sSubSupPr>
                      <m:e>
                        <m:r>
                          <a:rPr lang="en-US" altLang="zh-TW" sz="2900" b="0" i="1" smtClean="0">
                            <a:latin typeface="Cambria Math" panose="02040503050406030204" pitchFamily="18" charset="0"/>
                          </a:rPr>
                          <m:t>𝑂</m:t>
                        </m:r>
                      </m:e>
                      <m:sub>
                        <m:r>
                          <a:rPr lang="en-US" altLang="zh-TW" sz="2900" b="0" i="1" smtClean="0">
                            <a:latin typeface="Cambria Math" panose="02040503050406030204" pitchFamily="18" charset="0"/>
                          </a:rPr>
                          <m:t>𝑒</m:t>
                        </m:r>
                        <m:r>
                          <a:rPr lang="en-US" altLang="zh-TW" sz="2900" b="0" i="1" smtClean="0">
                            <a:latin typeface="Cambria Math" panose="02040503050406030204" pitchFamily="18" charset="0"/>
                          </a:rPr>
                          <m:t>,</m:t>
                        </m:r>
                        <m:r>
                          <a:rPr lang="en-US" altLang="zh-TW" sz="2900" b="0" i="1" smtClean="0">
                            <a:latin typeface="Cambria Math" panose="02040503050406030204" pitchFamily="18" charset="0"/>
                          </a:rPr>
                          <m:t>𝑖</m:t>
                        </m:r>
                      </m:sub>
                      <m:sup>
                        <m:r>
                          <a:rPr lang="en-US" altLang="zh-TW" sz="2900" b="0" i="1" smtClean="0">
                            <a:latin typeface="Cambria Math" panose="02040503050406030204" pitchFamily="18" charset="0"/>
                          </a:rPr>
                          <m:t>𝐵</m:t>
                        </m:r>
                      </m:sup>
                    </m:sSubSup>
                  </m:oMath>
                </a14:m>
                <a:r>
                  <a:rPr lang="en-US" sz="2900" dirty="0"/>
                  <a:t>: Blue-team observation at step </a:t>
                </a:r>
                <a14:m>
                  <m:oMath xmlns:m="http://schemas.openxmlformats.org/officeDocument/2006/math">
                    <m:r>
                      <a:rPr lang="en-US" sz="2900" i="1" dirty="0" smtClean="0">
                        <a:latin typeface="Cambria Math" panose="02040503050406030204" pitchFamily="18" charset="0"/>
                        <a:ea typeface="Cambria Math" panose="02040503050406030204" pitchFamily="18" charset="0"/>
                      </a:rPr>
                      <m:t>𝑖</m:t>
                    </m:r>
                  </m:oMath>
                </a14:m>
                <a:r>
                  <a:rPr lang="en-US" sz="2900" dirty="0"/>
                  <a:t> of episode </a:t>
                </a:r>
                <a14:m>
                  <m:oMath xmlns:m="http://schemas.openxmlformats.org/officeDocument/2006/math">
                    <m:r>
                      <a:rPr lang="en-US" sz="2900" i="1" dirty="0" smtClean="0">
                        <a:latin typeface="Cambria Math" panose="02040503050406030204" pitchFamily="18" charset="0"/>
                        <a:ea typeface="Cambria Math" panose="02040503050406030204" pitchFamily="18" charset="0"/>
                      </a:rPr>
                      <m:t>𝑒</m:t>
                    </m:r>
                  </m:oMath>
                </a14:m>
                <a:r>
                  <a:rPr lang="en-US" sz="2900" dirty="0"/>
                  <a:t>.</a:t>
                </a:r>
                <a:endParaRPr lang="en-IN" sz="2900" dirty="0"/>
              </a:p>
              <a:p>
                <a:pPr lvl="1">
                  <a:lnSpc>
                    <a:spcPct val="130000"/>
                  </a:lnSpc>
                  <a:defRPr sz="1600"/>
                </a:pPr>
                <a14:m>
                  <m:oMath xmlns:m="http://schemas.openxmlformats.org/officeDocument/2006/math">
                    <m:sSup>
                      <m:sSupPr>
                        <m:ctrlPr>
                          <a:rPr lang="en-US" altLang="zh-TW" sz="2900" b="0" i="1" smtClean="0">
                            <a:latin typeface="Cambria Math" panose="02040503050406030204" pitchFamily="18" charset="0"/>
                          </a:rPr>
                        </m:ctrlPr>
                      </m:sSupPr>
                      <m:e>
                        <m:r>
                          <a:rPr lang="en-US" altLang="zh-TW" sz="2900" b="0" i="1" smtClean="0">
                            <a:latin typeface="Cambria Math" panose="02040503050406030204" pitchFamily="18" charset="0"/>
                          </a:rPr>
                          <m:t>𝑆</m:t>
                        </m:r>
                      </m:e>
                      <m:sup>
                        <m:r>
                          <a:rPr lang="en-US" altLang="zh-TW" sz="2900" b="0" i="1" smtClean="0">
                            <a:latin typeface="Cambria Math" panose="02040503050406030204" pitchFamily="18" charset="0"/>
                          </a:rPr>
                          <m:t>𝐵</m:t>
                        </m:r>
                      </m:sup>
                    </m:sSup>
                  </m:oMath>
                </a14:m>
                <a:r>
                  <a:rPr lang="en-US" sz="2900" dirty="0"/>
                  <a:t>: Blue</a:t>
                </a:r>
                <a:r>
                  <a:rPr lang="en-US" altLang="en-US" sz="2900" dirty="0"/>
                  <a:t>-team action space.</a:t>
                </a:r>
                <a:endParaRPr lang="en-US" sz="2900" dirty="0"/>
              </a:p>
              <a:p>
                <a:pPr>
                  <a:lnSpc>
                    <a:spcPct val="120000"/>
                  </a:lnSpc>
                  <a:defRPr sz="1600"/>
                </a:pPr>
                <a:r>
                  <a:rPr lang="en-US" sz="3200" b="1" u="sng" dirty="0"/>
                  <a:t>Output:</a:t>
                </a:r>
              </a:p>
              <a:p>
                <a:pPr lvl="1">
                  <a:lnSpc>
                    <a:spcPct val="120000"/>
                  </a:lnSpc>
                </a:pPr>
                <a14:m>
                  <m:oMath xmlns:m="http://schemas.openxmlformats.org/officeDocument/2006/math">
                    <m:sSub>
                      <m:sSubPr>
                        <m:ctrlPr>
                          <a:rPr lang="en-US" sz="2900" i="1" dirty="0" smtClean="0">
                            <a:solidFill>
                              <a:schemeClr val="tx1"/>
                            </a:solidFill>
                            <a:latin typeface="Cambria Math" panose="02040503050406030204" pitchFamily="18" charset="0"/>
                            <a:ea typeface="Cambria Math" panose="02040503050406030204" pitchFamily="18" charset="0"/>
                          </a:rPr>
                        </m:ctrlPr>
                      </m:sSubPr>
                      <m:e>
                        <m:d>
                          <m:dPr>
                            <m:begChr m:val="{"/>
                            <m:endChr m:val="}"/>
                            <m:ctrlPr>
                              <a:rPr lang="en-US" sz="2900" i="1" dirty="0">
                                <a:solidFill>
                                  <a:schemeClr val="tx1"/>
                                </a:solidFill>
                                <a:latin typeface="Cambria Math" panose="02040503050406030204" pitchFamily="18" charset="0"/>
                                <a:ea typeface="Cambria Math" panose="02040503050406030204" pitchFamily="18" charset="0"/>
                              </a:rPr>
                            </m:ctrlPr>
                          </m:dPr>
                          <m:e>
                            <m:sSubSup>
                              <m:sSubSupPr>
                                <m:ctrlPr>
                                  <a:rPr lang="en-US" sz="2900" i="1" dirty="0">
                                    <a:solidFill>
                                      <a:schemeClr val="tx1"/>
                                    </a:solidFill>
                                    <a:latin typeface="Cambria Math" panose="02040503050406030204" pitchFamily="18" charset="0"/>
                                    <a:ea typeface="Cambria Math" panose="02040503050406030204" pitchFamily="18" charset="0"/>
                                  </a:rPr>
                                </m:ctrlPr>
                              </m:sSubSupPr>
                              <m:e>
                                <m:r>
                                  <a:rPr lang="en-US" sz="2900" i="1" dirty="0">
                                    <a:solidFill>
                                      <a:schemeClr val="tx1"/>
                                    </a:solidFill>
                                    <a:latin typeface="Cambria Math" panose="02040503050406030204" pitchFamily="18" charset="0"/>
                                    <a:ea typeface="Cambria Math" panose="02040503050406030204" pitchFamily="18" charset="0"/>
                                  </a:rPr>
                                  <m:t>𝑎</m:t>
                                </m:r>
                              </m:e>
                              <m:sub>
                                <m:r>
                                  <a:rPr lang="en-US" sz="2900" i="1" dirty="0">
                                    <a:solidFill>
                                      <a:schemeClr val="tx1"/>
                                    </a:solidFill>
                                    <a:latin typeface="Cambria Math" panose="02040503050406030204" pitchFamily="18" charset="0"/>
                                    <a:ea typeface="Cambria Math" panose="02040503050406030204" pitchFamily="18" charset="0"/>
                                  </a:rPr>
                                  <m:t>ⅇ,</m:t>
                                </m:r>
                                <m:r>
                                  <a:rPr lang="en-US" sz="2900" b="0" i="1" dirty="0" smtClean="0">
                                    <a:solidFill>
                                      <a:schemeClr val="tx1"/>
                                    </a:solidFill>
                                    <a:latin typeface="Cambria Math" panose="02040503050406030204" pitchFamily="18" charset="0"/>
                                    <a:ea typeface="Cambria Math" panose="02040503050406030204" pitchFamily="18" charset="0"/>
                                  </a:rPr>
                                  <m:t>𝑖</m:t>
                                </m:r>
                              </m:sub>
                              <m:sup>
                                <m:r>
                                  <a:rPr lang="en-US" sz="2900" b="0" i="1" dirty="0" smtClean="0">
                                    <a:solidFill>
                                      <a:schemeClr val="tx1"/>
                                    </a:solidFill>
                                    <a:latin typeface="Cambria Math" panose="02040503050406030204" pitchFamily="18" charset="0"/>
                                    <a:ea typeface="Cambria Math" panose="02040503050406030204" pitchFamily="18" charset="0"/>
                                  </a:rPr>
                                  <m:t>𝐵</m:t>
                                </m:r>
                              </m:sup>
                            </m:sSubSup>
                          </m:e>
                        </m:d>
                      </m:e>
                      <m:sub>
                        <m:r>
                          <a:rPr lang="en-US" sz="2900" b="0" i="1" dirty="0" smtClean="0">
                            <a:solidFill>
                              <a:schemeClr val="tx1"/>
                            </a:solidFill>
                            <a:latin typeface="Cambria Math" panose="02040503050406030204" pitchFamily="18" charset="0"/>
                            <a:ea typeface="Cambria Math" panose="02040503050406030204" pitchFamily="18" charset="0"/>
                          </a:rPr>
                          <m:t>𝑖</m:t>
                        </m:r>
                        <m:r>
                          <a:rPr lang="en-US" sz="2900" i="1" dirty="0">
                            <a:solidFill>
                              <a:schemeClr val="tx1"/>
                            </a:solidFill>
                            <a:latin typeface="Cambria Math" panose="02040503050406030204" pitchFamily="18" charset="0"/>
                            <a:ea typeface="Cambria Math" panose="02040503050406030204" pitchFamily="18" charset="0"/>
                          </a:rPr>
                          <m:t>≥1</m:t>
                        </m:r>
                      </m:sub>
                    </m:sSub>
                  </m:oMath>
                </a14:m>
                <a:r>
                  <a:rPr lang="en-US" sz="2900" dirty="0">
                    <a:solidFill>
                      <a:schemeClr val="tx1"/>
                    </a:solidFill>
                    <a:latin typeface="Cambria Math" panose="02040503050406030204" pitchFamily="18" charset="0"/>
                    <a:ea typeface="Cambria Math" panose="02040503050406030204" pitchFamily="18" charset="0"/>
                  </a:rPr>
                  <a:t> : </a:t>
                </a:r>
                <a:r>
                  <a:rPr lang="en-US" altLang="zh-TW" sz="2900" dirty="0">
                    <a:solidFill>
                      <a:schemeClr val="tx1"/>
                    </a:solidFill>
                    <a:ea typeface="微軟正黑體" panose="020B0604030504040204" pitchFamily="34" charset="-120"/>
                  </a:rPr>
                  <a:t>Sequence of  Blue-team actions </a:t>
                </a:r>
                <a:r>
                  <a:rPr lang="en-US" sz="2900" dirty="0">
                    <a:solidFill>
                      <a:schemeClr val="tx1"/>
                    </a:solidFill>
                    <a:latin typeface="Cambria Math" panose="02040503050406030204" pitchFamily="18" charset="0"/>
                    <a:ea typeface="Cambria Math" panose="02040503050406030204" pitchFamily="18" charset="0"/>
                  </a:rPr>
                  <a:t>in episode</a:t>
                </a:r>
                <a14:m>
                  <m:oMath xmlns:m="http://schemas.openxmlformats.org/officeDocument/2006/math">
                    <m:r>
                      <a:rPr lang="en-US" sz="2900" b="0" i="0" dirty="0" smtClean="0">
                        <a:latin typeface="Cambria Math" panose="02040503050406030204" pitchFamily="18" charset="0"/>
                        <a:ea typeface="Cambria Math" panose="02040503050406030204" pitchFamily="18" charset="0"/>
                      </a:rPr>
                      <m:t> </m:t>
                    </m:r>
                    <m:r>
                      <a:rPr lang="en-US" sz="2900" i="1" dirty="0">
                        <a:latin typeface="Cambria Math" panose="02040503050406030204" pitchFamily="18" charset="0"/>
                        <a:ea typeface="Cambria Math" panose="02040503050406030204" pitchFamily="18" charset="0"/>
                      </a:rPr>
                      <m:t>𝑒</m:t>
                    </m:r>
                  </m:oMath>
                </a14:m>
                <a:r>
                  <a:rPr lang="en-US" sz="2900" dirty="0">
                    <a:solidFill>
                      <a:schemeClr val="tx1"/>
                    </a:solidFill>
                    <a:latin typeface="Cambria Math" panose="02040503050406030204" pitchFamily="18" charset="0"/>
                    <a:ea typeface="Cambria Math" panose="02040503050406030204" pitchFamily="18" charset="0"/>
                  </a:rPr>
                  <a:t>.</a:t>
                </a:r>
              </a:p>
              <a:p>
                <a:pPr lvl="1"/>
                <a14:m>
                  <m:oMath xmlns:m="http://schemas.openxmlformats.org/officeDocument/2006/math">
                    <m:sSubSup>
                      <m:sSubSupPr>
                        <m:ctrlPr>
                          <a:rPr lang="en-US" sz="2900" i="1" dirty="0">
                            <a:solidFill>
                              <a:schemeClr val="tx1"/>
                            </a:solidFill>
                            <a:latin typeface="Cambria Math" panose="02040503050406030204" pitchFamily="18" charset="0"/>
                            <a:ea typeface="Cambria Math" panose="02040503050406030204" pitchFamily="18" charset="0"/>
                          </a:rPr>
                        </m:ctrlPr>
                      </m:sSubSupPr>
                      <m:e>
                        <m:r>
                          <a:rPr lang="en-US" sz="2900" i="1" dirty="0">
                            <a:solidFill>
                              <a:schemeClr val="tx1"/>
                            </a:solidFill>
                            <a:latin typeface="Cambria Math" panose="02040503050406030204" pitchFamily="18" charset="0"/>
                            <a:ea typeface="Cambria Math" panose="02040503050406030204" pitchFamily="18" charset="0"/>
                          </a:rPr>
                          <m:t>𝑦</m:t>
                        </m:r>
                      </m:e>
                      <m:sub>
                        <m:r>
                          <a:rPr lang="en-US" sz="2900" i="1" dirty="0">
                            <a:solidFill>
                              <a:schemeClr val="tx1"/>
                            </a:solidFill>
                            <a:latin typeface="Cambria Math" panose="02040503050406030204" pitchFamily="18" charset="0"/>
                            <a:ea typeface="Cambria Math" panose="02040503050406030204" pitchFamily="18" charset="0"/>
                          </a:rPr>
                          <m:t>ⅇ</m:t>
                        </m:r>
                      </m:sub>
                      <m:sup>
                        <m:r>
                          <a:rPr lang="en-US" sz="2900" b="0" i="1" dirty="0" smtClean="0">
                            <a:solidFill>
                              <a:schemeClr val="tx1"/>
                            </a:solidFill>
                            <a:latin typeface="Cambria Math" panose="02040503050406030204" pitchFamily="18" charset="0"/>
                            <a:ea typeface="Cambria Math" panose="02040503050406030204" pitchFamily="18" charset="0"/>
                          </a:rPr>
                          <m:t>𝐵</m:t>
                        </m:r>
                      </m:sup>
                    </m:sSubSup>
                    <m:r>
                      <a:rPr lang="en-US" sz="2900" i="1" dirty="0">
                        <a:solidFill>
                          <a:schemeClr val="tx1"/>
                        </a:solidFill>
                        <a:latin typeface="Cambria Math" panose="02040503050406030204" pitchFamily="18" charset="0"/>
                        <a:ea typeface="Cambria Math" panose="02040503050406030204" pitchFamily="18" charset="0"/>
                      </a:rPr>
                      <m:t> ∈</m:t>
                    </m:r>
                    <m:d>
                      <m:dPr>
                        <m:begChr m:val="{"/>
                        <m:endChr m:val="}"/>
                        <m:ctrlPr>
                          <a:rPr lang="en-US" sz="2900" i="1" dirty="0">
                            <a:solidFill>
                              <a:schemeClr val="tx1"/>
                            </a:solidFill>
                            <a:latin typeface="Cambria Math" panose="02040503050406030204" pitchFamily="18" charset="0"/>
                            <a:ea typeface="Cambria Math" panose="02040503050406030204" pitchFamily="18" charset="0"/>
                          </a:rPr>
                        </m:ctrlPr>
                      </m:dPr>
                      <m:e>
                        <m:r>
                          <a:rPr lang="en-US" sz="2900" i="1" dirty="0">
                            <a:solidFill>
                              <a:schemeClr val="tx1"/>
                            </a:solidFill>
                            <a:latin typeface="Cambria Math" panose="02040503050406030204" pitchFamily="18" charset="0"/>
                            <a:ea typeface="Cambria Math" panose="02040503050406030204" pitchFamily="18" charset="0"/>
                          </a:rPr>
                          <m:t>0,1</m:t>
                        </m:r>
                      </m:e>
                    </m:d>
                    <m:r>
                      <a:rPr lang="en-US" sz="2900" i="1" dirty="0">
                        <a:solidFill>
                          <a:schemeClr val="tx1"/>
                        </a:solidFill>
                        <a:latin typeface="Cambria Math" panose="02040503050406030204" pitchFamily="18" charset="0"/>
                        <a:ea typeface="Cambria Math" panose="02040503050406030204" pitchFamily="18" charset="0"/>
                      </a:rPr>
                      <m:t> </m:t>
                    </m:r>
                  </m:oMath>
                </a14:m>
                <a:r>
                  <a:rPr lang="en-US" sz="2900" dirty="0">
                    <a:solidFill>
                      <a:schemeClr val="tx1"/>
                    </a:solidFill>
                  </a:rPr>
                  <a:t>: Blue-team Outcome flag.</a:t>
                </a:r>
                <a:endParaRPr lang="en-IN" sz="2900" dirty="0">
                  <a:solidFill>
                    <a:schemeClr val="tx1"/>
                  </a:solidFill>
                </a:endParaRPr>
              </a:p>
              <a:p>
                <a:pPr>
                  <a:lnSpc>
                    <a:spcPct val="120000"/>
                  </a:lnSpc>
                  <a:defRPr sz="1600"/>
                </a:pPr>
                <a:r>
                  <a:rPr lang="en-US" sz="3200" b="1" u="sng" dirty="0">
                    <a:solidFill>
                      <a:schemeClr val="tx1"/>
                    </a:solidFill>
                  </a:rPr>
                  <a:t>Objective:</a:t>
                </a:r>
                <a:r>
                  <a:rPr lang="en-US" sz="3200" dirty="0">
                    <a:solidFill>
                      <a:schemeClr val="tx1"/>
                    </a:solidFill>
                  </a:rPr>
                  <a:t>	</a:t>
                </a:r>
              </a:p>
              <a:p>
                <a:pPr marL="530627" lvl="1" indent="-163615">
                  <a:lnSpc>
                    <a:spcPct val="120000"/>
                  </a:lnSpc>
                  <a:spcBef>
                    <a:spcPts val="216"/>
                  </a:spcBef>
                  <a:buFont typeface="Arial MT"/>
                  <a:buChar char="•"/>
                  <a:tabLst>
                    <a:tab pos="530627" algn="l"/>
                  </a:tabLst>
                </a:pPr>
                <a:r>
                  <a:rPr lang="en-US" sz="2900" dirty="0">
                    <a:solidFill>
                      <a:schemeClr val="tx1"/>
                    </a:solidFill>
                  </a:rPr>
                  <a:t>Maximise the Blue-team episode-level suppression rate:</a:t>
                </a:r>
              </a:p>
              <a:p>
                <a:pPr marL="367012" lvl="1" indent="0">
                  <a:lnSpc>
                    <a:spcPct val="120000"/>
                  </a:lnSpc>
                  <a:spcBef>
                    <a:spcPts val="216"/>
                  </a:spcBef>
                  <a:buNone/>
                  <a:tabLst>
                    <a:tab pos="530627" algn="l"/>
                  </a:tabLst>
                </a:pPr>
                <a:r>
                  <a:rPr lang="en-US" sz="3300" dirty="0">
                    <a:solidFill>
                      <a:schemeClr val="tx1"/>
                    </a:solidFill>
                  </a:rPr>
                  <a:t>		</a:t>
                </a:r>
              </a:p>
              <a:p>
                <a:pPr marL="367012" lvl="1" indent="0">
                  <a:lnSpc>
                    <a:spcPct val="120000"/>
                  </a:lnSpc>
                  <a:spcBef>
                    <a:spcPts val="216"/>
                  </a:spcBef>
                  <a:buNone/>
                  <a:tabLst>
                    <a:tab pos="530627" algn="l"/>
                  </a:tabLst>
                </a:pPr>
                <a:r>
                  <a:rPr lang="en-US" sz="3300" dirty="0">
                    <a:solidFill>
                      <a:schemeClr val="tx1"/>
                    </a:solidFill>
                  </a:rPr>
                  <a:t>	</a:t>
                </a:r>
              </a:p>
              <a:p>
                <a:pPr marL="367012" lvl="1" indent="0">
                  <a:lnSpc>
                    <a:spcPct val="120000"/>
                  </a:lnSpc>
                  <a:spcBef>
                    <a:spcPts val="216"/>
                  </a:spcBef>
                  <a:buNone/>
                  <a:tabLst>
                    <a:tab pos="530627" algn="l"/>
                  </a:tabLst>
                </a:pPr>
                <a:r>
                  <a:rPr lang="en-US" sz="3300" dirty="0">
                    <a:solidFill>
                      <a:schemeClr val="tx1"/>
                    </a:solidFill>
                  </a:rPr>
                  <a:t>		</a:t>
                </a:r>
                <a:endParaRPr lang="en-US" sz="3300" b="1" u="sng" dirty="0">
                  <a:solidFill>
                    <a:schemeClr val="tx1"/>
                  </a:solidFill>
                </a:endParaRPr>
              </a:p>
              <a:p>
                <a:pPr marL="73427" indent="-163615">
                  <a:lnSpc>
                    <a:spcPct val="120000"/>
                  </a:lnSpc>
                  <a:spcBef>
                    <a:spcPts val="216"/>
                  </a:spcBef>
                  <a:buFont typeface="Arial MT"/>
                  <a:buChar char="•"/>
                  <a:tabLst>
                    <a:tab pos="530627" algn="l"/>
                  </a:tabLst>
                </a:pPr>
                <a:r>
                  <a:rPr lang="en-US" sz="3200" b="1" u="sng" dirty="0"/>
                  <a:t>Constraints:</a:t>
                </a:r>
              </a:p>
              <a:p>
                <a:pPr marL="530627" lvl="1" indent="-163615">
                  <a:lnSpc>
                    <a:spcPct val="120000"/>
                  </a:lnSpc>
                  <a:spcBef>
                    <a:spcPts val="216"/>
                  </a:spcBef>
                  <a:buFont typeface="Arial MT"/>
                  <a:buChar char="•"/>
                  <a:tabLst>
                    <a:tab pos="530627" algn="l"/>
                  </a:tabLst>
                </a:pPr>
                <a:r>
                  <a:rPr lang="en-US" sz="2900" dirty="0"/>
                  <a:t>At each step </a:t>
                </a:r>
                <a14:m>
                  <m:oMath xmlns:m="http://schemas.openxmlformats.org/officeDocument/2006/math">
                    <m:r>
                      <a:rPr lang="en-US" sz="2900" i="1" dirty="0">
                        <a:latin typeface="Cambria Math" panose="02040503050406030204" pitchFamily="18" charset="0"/>
                        <a:ea typeface="Cambria Math" panose="02040503050406030204" pitchFamily="18" charset="0"/>
                      </a:rPr>
                      <m:t>𝑖</m:t>
                    </m:r>
                  </m:oMath>
                </a14:m>
                <a:r>
                  <a:rPr lang="en-US" sz="2900" dirty="0"/>
                  <a:t> , the Blue-team agent selects one response action </a:t>
                </a:r>
                <a14:m>
                  <m:oMath xmlns:m="http://schemas.openxmlformats.org/officeDocument/2006/math">
                    <m:sSubSup>
                      <m:sSubSupPr>
                        <m:ctrlPr>
                          <a:rPr lang="en-US" sz="2900" i="1" dirty="0" smtClean="0">
                            <a:solidFill>
                              <a:schemeClr val="tx1"/>
                            </a:solidFill>
                            <a:latin typeface="Cambria Math" panose="02040503050406030204" pitchFamily="18" charset="0"/>
                            <a:ea typeface="Cambria Math" panose="02040503050406030204" pitchFamily="18" charset="0"/>
                          </a:rPr>
                        </m:ctrlPr>
                      </m:sSubSupPr>
                      <m:e>
                        <m:r>
                          <a:rPr lang="en-US" sz="2900" i="1" dirty="0">
                            <a:solidFill>
                              <a:schemeClr val="tx1"/>
                            </a:solidFill>
                            <a:latin typeface="Cambria Math" panose="02040503050406030204" pitchFamily="18" charset="0"/>
                            <a:ea typeface="Cambria Math" panose="02040503050406030204" pitchFamily="18" charset="0"/>
                          </a:rPr>
                          <m:t>𝑎</m:t>
                        </m:r>
                      </m:e>
                      <m:sub>
                        <m:r>
                          <a:rPr lang="en-US" sz="2900" i="1" dirty="0">
                            <a:solidFill>
                              <a:schemeClr val="tx1"/>
                            </a:solidFill>
                            <a:latin typeface="Cambria Math" panose="02040503050406030204" pitchFamily="18" charset="0"/>
                            <a:ea typeface="Cambria Math" panose="02040503050406030204" pitchFamily="18" charset="0"/>
                          </a:rPr>
                          <m:t>ⅇ,</m:t>
                        </m:r>
                        <m:r>
                          <a:rPr lang="en-US" sz="2900" b="0" i="1" dirty="0" smtClean="0">
                            <a:solidFill>
                              <a:schemeClr val="tx1"/>
                            </a:solidFill>
                            <a:latin typeface="Cambria Math" panose="02040503050406030204" pitchFamily="18" charset="0"/>
                            <a:ea typeface="Cambria Math" panose="02040503050406030204" pitchFamily="18" charset="0"/>
                          </a:rPr>
                          <m:t>𝑖</m:t>
                        </m:r>
                      </m:sub>
                      <m:sup>
                        <m:r>
                          <a:rPr lang="en-US" sz="2900" b="0" i="1" dirty="0" smtClean="0">
                            <a:solidFill>
                              <a:schemeClr val="tx1"/>
                            </a:solidFill>
                            <a:latin typeface="Cambria Math" panose="02040503050406030204" pitchFamily="18" charset="0"/>
                            <a:ea typeface="Cambria Math" panose="02040503050406030204" pitchFamily="18" charset="0"/>
                          </a:rPr>
                          <m:t>𝐵</m:t>
                        </m:r>
                      </m:sup>
                    </m:sSubSup>
                    <m:r>
                      <a:rPr lang="en-US" sz="2900" b="0" i="1" dirty="0" smtClean="0">
                        <a:solidFill>
                          <a:schemeClr val="tx1"/>
                        </a:solidFill>
                        <a:latin typeface="Cambria Math" panose="02040503050406030204" pitchFamily="18" charset="0"/>
                        <a:ea typeface="Cambria Math" panose="02040503050406030204" pitchFamily="18" charset="0"/>
                      </a:rPr>
                      <m:t>∈ </m:t>
                    </m:r>
                    <m:sSup>
                      <m:sSupPr>
                        <m:ctrlPr>
                          <a:rPr lang="en-US" sz="2900" b="0" i="1" dirty="0" smtClean="0">
                            <a:solidFill>
                              <a:schemeClr val="tx1"/>
                            </a:solidFill>
                            <a:latin typeface="Cambria Math" panose="02040503050406030204" pitchFamily="18" charset="0"/>
                            <a:ea typeface="Cambria Math" panose="02040503050406030204" pitchFamily="18" charset="0"/>
                          </a:rPr>
                        </m:ctrlPr>
                      </m:sSupPr>
                      <m:e>
                        <m:r>
                          <a:rPr lang="en-US" sz="2900" b="0" i="1" dirty="0" smtClean="0">
                            <a:solidFill>
                              <a:schemeClr val="tx1"/>
                            </a:solidFill>
                            <a:latin typeface="Cambria Math" panose="02040503050406030204" pitchFamily="18" charset="0"/>
                            <a:ea typeface="Cambria Math" panose="02040503050406030204" pitchFamily="18" charset="0"/>
                          </a:rPr>
                          <m:t>𝑆</m:t>
                        </m:r>
                      </m:e>
                      <m:sup>
                        <m:r>
                          <a:rPr lang="en-US" sz="2900" b="0" i="1" dirty="0" smtClean="0">
                            <a:solidFill>
                              <a:schemeClr val="tx1"/>
                            </a:solidFill>
                            <a:latin typeface="Cambria Math" panose="02040503050406030204" pitchFamily="18" charset="0"/>
                            <a:ea typeface="Cambria Math" panose="02040503050406030204" pitchFamily="18" charset="0"/>
                          </a:rPr>
                          <m:t>𝐵</m:t>
                        </m:r>
                      </m:sup>
                    </m:sSup>
                  </m:oMath>
                </a14:m>
                <a:endParaRPr lang="en-US" sz="2900" dirty="0"/>
              </a:p>
              <a:p>
                <a:pPr marL="530627" lvl="1" indent="-163615">
                  <a:lnSpc>
                    <a:spcPct val="120000"/>
                  </a:lnSpc>
                  <a:spcBef>
                    <a:spcPts val="216"/>
                  </a:spcBef>
                  <a:buFont typeface="Arial MT"/>
                  <a:buChar char="•"/>
                  <a:tabLst>
                    <a:tab pos="530627" algn="l"/>
                  </a:tabLst>
                </a:pPr>
                <a:r>
                  <a:rPr lang="en-US" sz="2900" dirty="0"/>
                  <a:t>The response action is conditioned on the detection flag </a:t>
                </a:r>
                <a14:m>
                  <m:oMath xmlns:m="http://schemas.openxmlformats.org/officeDocument/2006/math">
                    <m:sSub>
                      <m:sSubPr>
                        <m:ctrlPr>
                          <a:rPr lang="en-US" sz="2900" i="1" dirty="0" smtClean="0">
                            <a:solidFill>
                              <a:schemeClr val="tx1"/>
                            </a:solidFill>
                            <a:latin typeface="Cambria Math" panose="02040503050406030204" pitchFamily="18" charset="0"/>
                            <a:ea typeface="Cambria Math" panose="02040503050406030204" pitchFamily="18" charset="0"/>
                          </a:rPr>
                        </m:ctrlPr>
                      </m:sSubPr>
                      <m:e>
                        <m:r>
                          <a:rPr lang="en-US" sz="2900" b="0" i="1" dirty="0" smtClean="0">
                            <a:solidFill>
                              <a:schemeClr val="tx1"/>
                            </a:solidFill>
                            <a:latin typeface="Cambria Math" panose="02040503050406030204" pitchFamily="18" charset="0"/>
                            <a:ea typeface="Cambria Math" panose="02040503050406030204" pitchFamily="18" charset="0"/>
                          </a:rPr>
                          <m:t>𝑑</m:t>
                        </m:r>
                      </m:e>
                      <m:sub>
                        <m:r>
                          <a:rPr lang="en-US" sz="2900" b="0" i="1" dirty="0" smtClean="0">
                            <a:solidFill>
                              <a:schemeClr val="tx1"/>
                            </a:solidFill>
                            <a:latin typeface="Cambria Math" panose="02040503050406030204" pitchFamily="18" charset="0"/>
                            <a:ea typeface="Cambria Math" panose="02040503050406030204" pitchFamily="18" charset="0"/>
                          </a:rPr>
                          <m:t>𝑒</m:t>
                        </m:r>
                        <m:r>
                          <a:rPr lang="en-US" sz="2900" b="0" i="1" dirty="0" smtClean="0">
                            <a:solidFill>
                              <a:schemeClr val="tx1"/>
                            </a:solidFill>
                            <a:latin typeface="Cambria Math" panose="02040503050406030204" pitchFamily="18" charset="0"/>
                            <a:ea typeface="Cambria Math" panose="02040503050406030204" pitchFamily="18" charset="0"/>
                          </a:rPr>
                          <m:t>,</m:t>
                        </m:r>
                        <m:r>
                          <a:rPr lang="en-US" sz="2900" b="0" i="1" dirty="0" smtClean="0">
                            <a:solidFill>
                              <a:schemeClr val="tx1"/>
                            </a:solidFill>
                            <a:latin typeface="Cambria Math" panose="02040503050406030204" pitchFamily="18" charset="0"/>
                            <a:ea typeface="Cambria Math" panose="02040503050406030204" pitchFamily="18" charset="0"/>
                          </a:rPr>
                          <m:t>𝑖</m:t>
                        </m:r>
                      </m:sub>
                    </m:sSub>
                  </m:oMath>
                </a14:m>
                <a:r>
                  <a:rPr lang="en-US" sz="2900" dirty="0"/>
                  <a:t> and the observable Cyber Range state </a:t>
                </a:r>
              </a:p>
            </p:txBody>
          </p:sp>
        </mc:Choice>
        <mc:Fallback>
          <p:sp>
            <p:nvSpPr>
              <p:cNvPr id="7" name="Content Placeholder 6">
                <a:extLst>
                  <a:ext uri="{FF2B5EF4-FFF2-40B4-BE49-F238E27FC236}">
                    <a16:creationId xmlns:a16="http://schemas.microsoft.com/office/drawing/2014/main" id="{339B8B66-F526-44DF-848E-42B3A65D34C8}"/>
                  </a:ext>
                </a:extLst>
              </p:cNvPr>
              <p:cNvSpPr>
                <a:spLocks noGrp="1" noRot="1" noChangeAspect="1" noMove="1" noResize="1" noEditPoints="1" noAdjustHandles="1" noChangeArrowheads="1" noChangeShapeType="1" noTextEdit="1"/>
              </p:cNvSpPr>
              <p:nvPr>
                <p:ph idx="1"/>
              </p:nvPr>
            </p:nvSpPr>
            <p:spPr>
              <a:xfrm>
                <a:off x="333372" y="993089"/>
                <a:ext cx="11079693" cy="5864911"/>
              </a:xfrm>
              <a:blipFill>
                <a:blip r:embed="rId3"/>
                <a:stretch>
                  <a:fillRect l="-660" t="-728"/>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80EAE8E8-A6F5-4C8F-8113-0D06AF1F74FF}"/>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saturation sat="400000"/>
                    </a14:imgEffect>
                  </a14:imgLayer>
                </a14:imgProps>
              </a:ext>
            </a:extLst>
          </a:blip>
          <a:stretch>
            <a:fillRect/>
          </a:stretch>
        </p:blipFill>
        <p:spPr>
          <a:xfrm>
            <a:off x="2238435" y="4272948"/>
            <a:ext cx="5274677" cy="815518"/>
          </a:xfrm>
          <a:prstGeom prst="rect">
            <a:avLst/>
          </a:prstGeom>
        </p:spPr>
      </p:pic>
      <p:sp>
        <p:nvSpPr>
          <p:cNvPr id="6" name="Rectangle 5">
            <a:extLst>
              <a:ext uri="{FF2B5EF4-FFF2-40B4-BE49-F238E27FC236}">
                <a16:creationId xmlns:a16="http://schemas.microsoft.com/office/drawing/2014/main" id="{73E526C9-6907-4AD6-BBE1-3327BF2CFACC}"/>
              </a:ext>
            </a:extLst>
          </p:cNvPr>
          <p:cNvSpPr/>
          <p:nvPr/>
        </p:nvSpPr>
        <p:spPr>
          <a:xfrm>
            <a:off x="3649133" y="4272948"/>
            <a:ext cx="1405467"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8452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DA09B67-039D-459E-A6F4-16BAEC99CE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0947" y="1002585"/>
            <a:ext cx="6013878" cy="5377017"/>
          </a:xfrm>
          <a:prstGeom prst="rect">
            <a:avLst/>
          </a:prstGeom>
        </p:spPr>
      </p:pic>
      <p:sp>
        <p:nvSpPr>
          <p:cNvPr id="2" name="Title 1">
            <a:extLst>
              <a:ext uri="{FF2B5EF4-FFF2-40B4-BE49-F238E27FC236}">
                <a16:creationId xmlns:a16="http://schemas.microsoft.com/office/drawing/2014/main" id="{7EE06B37-F0C4-4C46-A388-CD536C385855}"/>
              </a:ext>
            </a:extLst>
          </p:cNvPr>
          <p:cNvSpPr>
            <a:spLocks noGrp="1"/>
          </p:cNvSpPr>
          <p:nvPr>
            <p:ph type="title"/>
          </p:nvPr>
        </p:nvSpPr>
        <p:spPr>
          <a:xfrm>
            <a:off x="47625" y="-184384"/>
            <a:ext cx="10515600" cy="1325563"/>
          </a:xfrm>
        </p:spPr>
        <p:txBody>
          <a:bodyPr/>
          <a:lstStyle/>
          <a:p>
            <a:r>
              <a:rPr lang="en-US" dirty="0">
                <a:latin typeface="Times New Roman" panose="02020603050405020304" pitchFamily="18" charset="0"/>
                <a:cs typeface="Times New Roman" panose="02020603050405020304" pitchFamily="18" charset="0"/>
              </a:rPr>
              <a:t>Solution overview </a:t>
            </a:r>
            <a:endParaRPr lang="en-US" dirty="0"/>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93306A2E-F3D5-40BA-AC63-52C31B8136AD}"/>
                  </a:ext>
                </a:extLst>
              </p:cNvPr>
              <p:cNvSpPr txBox="1"/>
              <p:nvPr/>
            </p:nvSpPr>
            <p:spPr>
              <a:xfrm>
                <a:off x="140467" y="1511349"/>
                <a:ext cx="5780480" cy="3477875"/>
              </a:xfrm>
              <a:prstGeom prst="rect">
                <a:avLst/>
              </a:prstGeom>
              <a:noFill/>
            </p:spPr>
            <p:txBody>
              <a:bodyPr wrap="square" rtlCol="0">
                <a:spAutoFit/>
              </a:bodyPr>
              <a:lstStyle/>
              <a:p>
                <a:pPr eaLnBrk="0" fontAlgn="base" hangingPunct="0">
                  <a:spcBef>
                    <a:spcPct val="0"/>
                  </a:spcBef>
                  <a:spcAft>
                    <a:spcPct val="0"/>
                  </a:spcAft>
                  <a:buFontTx/>
                  <a:buChar char="•"/>
                </a:pPr>
                <a:r>
                  <a:rPr kumimoji="0" lang="en-US" altLang="en-US" sz="2000" b="1" i="0" u="none" strike="noStrike" cap="none" normalizeH="0" baseline="0" dirty="0">
                    <a:ln>
                      <a:noFill/>
                    </a:ln>
                    <a:solidFill>
                      <a:schemeClr val="tx1"/>
                    </a:solidFill>
                    <a:effectLst/>
                  </a:rPr>
                  <a:t>Start with initial agents</a:t>
                </a:r>
                <a:r>
                  <a:rPr kumimoji="0" lang="en-US" altLang="en-US" sz="2000" b="0" i="0" u="none" strike="noStrike" cap="none" normalizeH="0" baseline="0" dirty="0">
                    <a:ln>
                      <a:noFill/>
                    </a:ln>
                    <a:solidFill>
                      <a:schemeClr val="tx1"/>
                    </a:solidFill>
                    <a:effectLst/>
                  </a:rPr>
                  <a:t>: </a:t>
                </a:r>
                <a14:m>
                  <m:oMath xmlns:m="http://schemas.openxmlformats.org/officeDocument/2006/math">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𝑅</m:t>
                        </m:r>
                      </m:e>
                      <m:sub>
                        <m:r>
                          <a:rPr lang="en-US" altLang="zh-TW" sz="2000" i="1">
                            <a:latin typeface="Cambria Math" panose="02040503050406030204" pitchFamily="18" charset="0"/>
                          </a:rPr>
                          <m:t>0</m:t>
                        </m:r>
                      </m:sub>
                    </m:sSub>
                  </m:oMath>
                </a14:m>
                <a:r>
                  <a:rPr kumimoji="0" lang="en-US" altLang="en-US" sz="2000" b="0" i="0" u="none" strike="noStrike" cap="none" normalizeH="0" baseline="0" dirty="0">
                    <a:ln>
                      <a:noFill/>
                    </a:ln>
                    <a:solidFill>
                      <a:schemeClr val="tx1"/>
                    </a:solidFill>
                    <a:effectLst/>
                  </a:rPr>
                  <a:t> (Gen 0 </a:t>
                </a:r>
                <a:r>
                  <a:rPr lang="en-US" altLang="en-US" sz="2000" dirty="0"/>
                  <a:t>Red Agent</a:t>
                </a:r>
                <a:r>
                  <a:rPr kumimoji="0" lang="en-US" altLang="en-US" sz="2000" b="0" i="0" u="none" strike="noStrike" cap="none" normalizeH="0" baseline="0" dirty="0">
                    <a:ln>
                      <a:noFill/>
                    </a:ln>
                    <a:solidFill>
                      <a:schemeClr val="tx1"/>
                    </a:solidFill>
                    <a:effectLst/>
                  </a:rPr>
                  <a:t>), </a:t>
                </a:r>
                <a14:m>
                  <m:oMath xmlns:m="http://schemas.openxmlformats.org/officeDocument/2006/math">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𝐵</m:t>
                        </m:r>
                      </m:e>
                      <m:sub>
                        <m:r>
                          <a:rPr lang="en-US" altLang="zh-TW" sz="2000" b="0" i="1" smtClean="0">
                            <a:latin typeface="Cambria Math" panose="02040503050406030204" pitchFamily="18" charset="0"/>
                          </a:rPr>
                          <m:t>0</m:t>
                        </m:r>
                      </m:sub>
                    </m:sSub>
                  </m:oMath>
                </a14:m>
                <a:r>
                  <a:rPr kumimoji="0" lang="en-US" altLang="en-US" sz="2000" b="0" i="0" u="none" strike="noStrike" cap="none" normalizeH="0" baseline="0" dirty="0">
                    <a:ln>
                      <a:noFill/>
                    </a:ln>
                    <a:solidFill>
                      <a:schemeClr val="tx1"/>
                    </a:solidFill>
                    <a:effectLst/>
                  </a:rPr>
                  <a:t>(Gen</a:t>
                </a:r>
                <a:r>
                  <a:rPr kumimoji="0" lang="en-US" altLang="en-US" sz="2000" b="0" i="0" u="none" strike="noStrike" cap="none" normalizeH="0" dirty="0">
                    <a:ln>
                      <a:noFill/>
                    </a:ln>
                    <a:solidFill>
                      <a:schemeClr val="tx1"/>
                    </a:solidFill>
                    <a:effectLst/>
                  </a:rPr>
                  <a:t> 0 </a:t>
                </a:r>
                <a:r>
                  <a:rPr lang="en-US" altLang="en-US" sz="2000" dirty="0"/>
                  <a:t>Blue Agent</a:t>
                </a:r>
                <a:r>
                  <a:rPr kumimoji="0" lang="en-US" altLang="en-US" sz="2000" b="0" i="0" u="none" strike="noStrike" cap="none" normalizeH="0" baseline="0" dirty="0">
                    <a:ln>
                      <a:noFill/>
                    </a:ln>
                    <a:solidFill>
                      <a:schemeClr val="tx1"/>
                    </a:solidFill>
                    <a:effectLst/>
                  </a:rPr>
                  <a:t>).</a:t>
                </a:r>
              </a:p>
              <a:p>
                <a:pPr eaLnBrk="0" fontAlgn="base" hangingPunct="0">
                  <a:spcBef>
                    <a:spcPct val="0"/>
                  </a:spcBef>
                  <a:spcAft>
                    <a:spcPct val="0"/>
                  </a:spcAft>
                  <a:buFontTx/>
                  <a:buChar char="•"/>
                </a:pPr>
                <a:endParaRPr kumimoji="0" lang="en-US" altLang="en-US" sz="20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2000" b="1" i="0" u="none" strike="noStrike" cap="none" normalizeH="0" baseline="0" dirty="0">
                    <a:ln>
                      <a:noFill/>
                    </a:ln>
                    <a:solidFill>
                      <a:schemeClr val="tx1"/>
                    </a:solidFill>
                    <a:effectLst/>
                  </a:rPr>
                  <a:t>Train </a:t>
                </a: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𝑅</m:t>
                        </m:r>
                      </m:e>
                      <m:sub>
                        <m:r>
                          <a:rPr lang="en-US" altLang="zh-TW" sz="2000" i="1">
                            <a:latin typeface="Cambria Math" panose="02040503050406030204" pitchFamily="18" charset="0"/>
                          </a:rPr>
                          <m:t>0</m:t>
                        </m:r>
                      </m:sub>
                    </m:sSub>
                  </m:oMath>
                </a14:m>
                <a:r>
                  <a:rPr kumimoji="0" lang="en-US" altLang="en-US" sz="2000" b="1" i="0" u="none" strike="noStrike" cap="none" normalizeH="0" baseline="0" dirty="0">
                    <a:ln>
                      <a:noFill/>
                    </a:ln>
                    <a:solidFill>
                      <a:schemeClr val="tx1"/>
                    </a:solidFill>
                    <a:effectLst/>
                  </a:rPr>
                  <a:t> against </a:t>
                </a: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𝐵</m:t>
                        </m:r>
                      </m:e>
                      <m:sub>
                        <m:r>
                          <a:rPr lang="en-US" altLang="zh-TW" sz="2000" i="1">
                            <a:latin typeface="Cambria Math" panose="02040503050406030204" pitchFamily="18" charset="0"/>
                          </a:rPr>
                          <m:t>0</m:t>
                        </m:r>
                      </m:sub>
                    </m:sSub>
                    <m:r>
                      <a:rPr lang="en-US" altLang="zh-TW" sz="2000" i="1">
                        <a:latin typeface="Cambria Math" panose="02040503050406030204" pitchFamily="18" charset="0"/>
                      </a:rPr>
                      <m:t> </m:t>
                    </m:r>
                  </m:oMath>
                </a14:m>
                <a:r>
                  <a:rPr lang="en-US" altLang="en-US" sz="2000" dirty="0"/>
                  <a:t>: Once </a:t>
                </a:r>
                <a14:m>
                  <m:oMath xmlns:m="http://schemas.openxmlformats.org/officeDocument/2006/math">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𝑅</m:t>
                        </m:r>
                      </m:e>
                      <m:sub>
                        <m:r>
                          <a:rPr lang="en-US" altLang="zh-TW" sz="2000" b="0" i="1" smtClean="0">
                            <a:latin typeface="Cambria Math" panose="02040503050406030204" pitchFamily="18" charset="0"/>
                          </a:rPr>
                          <m:t>0</m:t>
                        </m:r>
                      </m:sub>
                    </m:sSub>
                    <m:r>
                      <a:rPr lang="en-US" altLang="zh-TW" sz="2000" b="0" i="1" smtClean="0">
                        <a:latin typeface="Cambria Math" panose="02040503050406030204" pitchFamily="18" charset="0"/>
                      </a:rPr>
                      <m:t> </m:t>
                    </m:r>
                    <m:r>
                      <m:rPr>
                        <m:sty m:val="p"/>
                      </m:rPr>
                      <a:rPr lang="en-US" altLang="zh-TW" sz="2000" b="0" i="0" smtClean="0">
                        <a:latin typeface="Cambria Math" panose="02040503050406030204" pitchFamily="18" charset="0"/>
                      </a:rPr>
                      <m:t>passes</m:t>
                    </m:r>
                  </m:oMath>
                </a14:m>
                <a:r>
                  <a:rPr kumimoji="0" lang="en-US" altLang="en-US" sz="2000" b="0" i="0" u="none" strike="noStrike" cap="none" normalizeH="0" baseline="0" dirty="0">
                    <a:ln>
                      <a:noFill/>
                    </a:ln>
                    <a:solidFill>
                      <a:schemeClr val="tx1"/>
                    </a:solidFill>
                    <a:effectLst/>
                  </a:rPr>
                  <a:t> &gt;</a:t>
                </a:r>
                <a:r>
                  <a:rPr lang="en-US" altLang="en-US" sz="2000" dirty="0"/>
                  <a:t> </a:t>
                </a:r>
                <a14:m>
                  <m:oMath xmlns:m="http://schemas.openxmlformats.org/officeDocument/2006/math">
                    <m:sSup>
                      <m:sSupPr>
                        <m:ctrlPr>
                          <a:rPr lang="en-US" altLang="en-US" sz="2000" i="1" smtClean="0">
                            <a:latin typeface="Cambria Math" panose="02040503050406030204" pitchFamily="18" charset="0"/>
                          </a:rPr>
                        </m:ctrlPr>
                      </m:sSupPr>
                      <m:e>
                        <m:r>
                          <m:rPr>
                            <m:sty m:val="p"/>
                          </m:rPr>
                          <a:rPr lang="el-GR" altLang="en-US" sz="2000" b="0" i="1" smtClean="0">
                            <a:latin typeface="Cambria Math" panose="02040503050406030204" pitchFamily="18" charset="0"/>
                            <a:ea typeface="Cambria Math" panose="02040503050406030204" pitchFamily="18" charset="0"/>
                          </a:rPr>
                          <m:t>η</m:t>
                        </m:r>
                      </m:e>
                      <m:sup>
                        <m:r>
                          <a:rPr lang="en-US" altLang="en-US" sz="2000" b="0" i="1" smtClean="0">
                            <a:latin typeface="Cambria Math" panose="02040503050406030204" pitchFamily="18" charset="0"/>
                          </a:rPr>
                          <m:t>𝑅</m:t>
                        </m:r>
                      </m:sup>
                    </m:sSup>
                  </m:oMath>
                </a14:m>
                <a:r>
                  <a:rPr kumimoji="0" lang="en-US" altLang="en-US" sz="2000" b="0" i="0" u="none" strike="noStrike" cap="none" normalizeH="0" baseline="0" dirty="0">
                    <a:ln>
                      <a:noFill/>
                    </a:ln>
                    <a:solidFill>
                      <a:schemeClr val="tx1"/>
                    </a:solidFill>
                    <a:effectLst/>
                  </a:rPr>
                  <a:t>  in bypassing </a:t>
                </a:r>
                <a14:m>
                  <m:oMath xmlns:m="http://schemas.openxmlformats.org/officeDocument/2006/math">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𝐵</m:t>
                        </m:r>
                      </m:e>
                      <m:sub>
                        <m:r>
                          <a:rPr lang="en-US" altLang="zh-TW" sz="2000" i="1">
                            <a:latin typeface="Cambria Math" panose="02040503050406030204" pitchFamily="18" charset="0"/>
                          </a:rPr>
                          <m:t>0</m:t>
                        </m:r>
                      </m:sub>
                    </m:sSub>
                  </m:oMath>
                </a14:m>
                <a:r>
                  <a:rPr lang="en-US" altLang="en-US" sz="2000" dirty="0"/>
                  <a:t> , upgrade</a:t>
                </a:r>
                <a14:m>
                  <m:oMath xmlns:m="http://schemas.openxmlformats.org/officeDocument/2006/math">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 </m:t>
                        </m:r>
                        <m:r>
                          <a:rPr lang="en-US" altLang="zh-TW" sz="2000" b="0" i="1" smtClean="0">
                            <a:latin typeface="Cambria Math" panose="02040503050406030204" pitchFamily="18" charset="0"/>
                          </a:rPr>
                          <m:t>𝑅</m:t>
                        </m:r>
                      </m:e>
                      <m:sub>
                        <m:r>
                          <a:rPr lang="en-US" altLang="zh-TW" sz="2000" i="1">
                            <a:latin typeface="Cambria Math" panose="02040503050406030204" pitchFamily="18" charset="0"/>
                          </a:rPr>
                          <m:t>0</m:t>
                        </m:r>
                      </m:sub>
                    </m:sSub>
                    <m:r>
                      <a:rPr lang="en-US" altLang="zh-TW" sz="2000" b="0" i="1" smtClean="0">
                        <a:latin typeface="Cambria Math" panose="02040503050406030204" pitchFamily="18" charset="0"/>
                      </a:rPr>
                      <m:t> </m:t>
                    </m:r>
                    <m:r>
                      <a:rPr lang="en-US" altLang="zh-TW" sz="2000" b="0" i="1" smtClean="0">
                        <a:latin typeface="Cambria Math" panose="02040503050406030204" pitchFamily="18" charset="0"/>
                      </a:rPr>
                      <m:t>𝑡𝑜</m:t>
                    </m:r>
                    <m:r>
                      <a:rPr lang="en-US" altLang="zh-TW" sz="2000" b="0" i="1" smtClean="0">
                        <a:latin typeface="Cambria Math" panose="02040503050406030204" pitchFamily="18" charset="0"/>
                      </a:rPr>
                      <m:t> </m:t>
                    </m:r>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𝑅</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 </m:t>
                    </m:r>
                  </m:oMath>
                </a14:m>
                <a:r>
                  <a:rPr kumimoji="0" lang="en-US" altLang="en-US" sz="2000" b="0" i="0" u="none" strike="noStrike" cap="none" normalizeH="0" baseline="0" dirty="0">
                    <a:ln>
                      <a:noFill/>
                    </a:ln>
                    <a:solidFill>
                      <a:schemeClr val="tx1"/>
                    </a:solidFill>
                    <a:effectLst/>
                  </a:rPr>
                  <a:t>.</a:t>
                </a:r>
              </a:p>
              <a:p>
                <a:pPr lvl="0" eaLnBrk="0" fontAlgn="base" hangingPunct="0">
                  <a:spcBef>
                    <a:spcPct val="0"/>
                  </a:spcBef>
                  <a:spcAft>
                    <a:spcPct val="0"/>
                  </a:spcAft>
                  <a:buFontTx/>
                  <a:buChar char="•"/>
                </a:pPr>
                <a:endParaRPr kumimoji="0" lang="en-US" altLang="en-US" sz="20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2000" b="1" i="0" u="none" strike="noStrike" cap="none" normalizeH="0" baseline="0" dirty="0">
                    <a:ln>
                      <a:noFill/>
                    </a:ln>
                    <a:solidFill>
                      <a:schemeClr val="tx1"/>
                    </a:solidFill>
                    <a:effectLst/>
                  </a:rPr>
                  <a:t>Then Use </a:t>
                </a:r>
                <a14:m>
                  <m:oMath xmlns:m="http://schemas.openxmlformats.org/officeDocument/2006/math">
                    <m:sSub>
                      <m:sSubPr>
                        <m:ctrlPr>
                          <a:rPr lang="en-US" altLang="zh-TW" sz="2000" i="1" smtClean="0">
                            <a:solidFill>
                              <a:schemeClr val="tx1"/>
                            </a:solidFill>
                            <a:latin typeface="Cambria Math" panose="02040503050406030204" pitchFamily="18" charset="0"/>
                          </a:rPr>
                        </m:ctrlPr>
                      </m:sSubPr>
                      <m:e>
                        <m:r>
                          <a:rPr lang="en-US" altLang="zh-TW" sz="2000" b="0" i="1" smtClean="0">
                            <a:solidFill>
                              <a:schemeClr val="tx1"/>
                            </a:solidFill>
                            <a:latin typeface="Cambria Math" panose="02040503050406030204" pitchFamily="18" charset="0"/>
                          </a:rPr>
                          <m:t>𝑅</m:t>
                        </m:r>
                      </m:e>
                      <m:sub>
                        <m:r>
                          <a:rPr lang="en-US" altLang="zh-TW" sz="2000" i="1">
                            <a:solidFill>
                              <a:schemeClr val="tx1"/>
                            </a:solidFill>
                            <a:latin typeface="Cambria Math" panose="02040503050406030204" pitchFamily="18" charset="0"/>
                          </a:rPr>
                          <m:t>1</m:t>
                        </m:r>
                      </m:sub>
                    </m:sSub>
                    <m:r>
                      <a:rPr lang="en-US" altLang="zh-TW" sz="2000" i="1">
                        <a:latin typeface="Cambria Math" panose="02040503050406030204" pitchFamily="18" charset="0"/>
                      </a:rPr>
                      <m:t> </m:t>
                    </m:r>
                  </m:oMath>
                </a14:m>
                <a:r>
                  <a:rPr kumimoji="0" lang="en-US" altLang="en-US" sz="2000" b="1" i="0" u="none" strike="noStrike" cap="none" normalizeH="0" baseline="0" dirty="0">
                    <a:ln>
                      <a:noFill/>
                    </a:ln>
                    <a:solidFill>
                      <a:schemeClr val="tx1"/>
                    </a:solidFill>
                    <a:effectLst/>
                  </a:rPr>
                  <a:t>to train </a:t>
                </a:r>
                <a14:m>
                  <m:oMath xmlns:m="http://schemas.openxmlformats.org/officeDocument/2006/math">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𝐵</m:t>
                        </m:r>
                      </m:e>
                      <m:sub>
                        <m:r>
                          <a:rPr lang="en-US" altLang="zh-TW" sz="2000" i="1">
                            <a:latin typeface="Cambria Math" panose="02040503050406030204" pitchFamily="18" charset="0"/>
                          </a:rPr>
                          <m:t>0</m:t>
                        </m:r>
                      </m:sub>
                    </m:sSub>
                  </m:oMath>
                </a14:m>
                <a:r>
                  <a:rPr lang="en-US" altLang="en-US" sz="2000" dirty="0"/>
                  <a:t> : If </a:t>
                </a:r>
                <a14:m>
                  <m:oMath xmlns:m="http://schemas.openxmlformats.org/officeDocument/2006/math">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𝐵</m:t>
                        </m:r>
                      </m:e>
                      <m:sub>
                        <m:r>
                          <a:rPr lang="en-US" altLang="zh-TW" sz="2000" i="1">
                            <a:latin typeface="Cambria Math" panose="02040503050406030204" pitchFamily="18" charset="0"/>
                          </a:rPr>
                          <m:t>0</m:t>
                        </m:r>
                      </m:sub>
                    </m:sSub>
                  </m:oMath>
                </a14:m>
                <a:r>
                  <a:rPr kumimoji="0" lang="en-US" altLang="en-US" sz="2000" b="0" i="0" u="none" strike="noStrike" cap="none" normalizeH="0" baseline="0" dirty="0">
                    <a:ln>
                      <a:noFill/>
                    </a:ln>
                    <a:solidFill>
                      <a:schemeClr val="tx1"/>
                    </a:solidFill>
                    <a:effectLst/>
                  </a:rPr>
                  <a:t> can</a:t>
                </a:r>
                <a:r>
                  <a:rPr kumimoji="0" lang="en-US" altLang="en-US" sz="2000" b="0" i="0" u="none" strike="noStrike" cap="none" normalizeH="0" dirty="0">
                    <a:ln>
                      <a:noFill/>
                    </a:ln>
                    <a:solidFill>
                      <a:schemeClr val="tx1"/>
                    </a:solidFill>
                    <a:effectLst/>
                  </a:rPr>
                  <a:t> detect and respond</a:t>
                </a:r>
                <a:r>
                  <a:rPr kumimoji="0" lang="en-US" altLang="en-US" sz="2000" b="0" i="0" u="none" strike="noStrike" cap="none" normalizeH="0" baseline="0" dirty="0">
                    <a:ln>
                      <a:noFill/>
                    </a:ln>
                    <a:solidFill>
                      <a:schemeClr val="tx1"/>
                    </a:solidFill>
                    <a:effectLst/>
                  </a:rPr>
                  <a:t> </a:t>
                </a:r>
                <a14:m>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𝑅</m:t>
                        </m:r>
                      </m:e>
                      <m:sub>
                        <m:r>
                          <a:rPr lang="en-US" altLang="zh-TW" sz="2000" b="0" i="1" smtClean="0">
                            <a:latin typeface="Cambria Math" panose="02040503050406030204" pitchFamily="18" charset="0"/>
                          </a:rPr>
                          <m:t>1</m:t>
                        </m:r>
                      </m:sub>
                    </m:sSub>
                  </m:oMath>
                </a14:m>
                <a:r>
                  <a:rPr kumimoji="0" lang="en-US" altLang="en-US" sz="2000" b="0" i="0" u="none" strike="noStrike" cap="none" normalizeH="0" baseline="0" dirty="0">
                    <a:ln>
                      <a:noFill/>
                    </a:ln>
                    <a:solidFill>
                      <a:schemeClr val="tx1"/>
                    </a:solidFill>
                    <a:effectLst/>
                  </a:rPr>
                  <a:t> consistently , upgrade </a:t>
                </a: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𝐵</m:t>
                        </m:r>
                      </m:e>
                      <m:sub>
                        <m:r>
                          <a:rPr lang="en-US" altLang="zh-TW" sz="2000" i="1">
                            <a:latin typeface="Cambria Math" panose="02040503050406030204" pitchFamily="18" charset="0"/>
                          </a:rPr>
                          <m:t>0</m:t>
                        </m:r>
                      </m:sub>
                    </m:sSub>
                    <m:r>
                      <a:rPr lang="en-US" altLang="zh-TW" sz="2000" i="1">
                        <a:latin typeface="Cambria Math" panose="02040503050406030204" pitchFamily="18" charset="0"/>
                      </a:rPr>
                      <m:t> </m:t>
                    </m:r>
                    <m:r>
                      <a:rPr lang="en-US" altLang="zh-TW" sz="2000" b="0" i="1" smtClean="0">
                        <a:latin typeface="Cambria Math" panose="02040503050406030204" pitchFamily="18" charset="0"/>
                      </a:rPr>
                      <m:t>𝑡𝑜</m:t>
                    </m:r>
                    <m:r>
                      <a:rPr lang="en-US" altLang="zh-TW" sz="2000" b="0" i="1" smtClean="0">
                        <a:latin typeface="Cambria Math" panose="02040503050406030204" pitchFamily="18" charset="0"/>
                      </a:rPr>
                      <m:t> </m:t>
                    </m:r>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𝐵</m:t>
                        </m:r>
                      </m:e>
                      <m:sub>
                        <m:r>
                          <a:rPr lang="en-US" altLang="zh-TW" sz="2000" b="0" i="1" smtClean="0">
                            <a:latin typeface="Cambria Math" panose="02040503050406030204" pitchFamily="18" charset="0"/>
                          </a:rPr>
                          <m:t>1</m:t>
                        </m:r>
                      </m:sub>
                    </m:sSub>
                  </m:oMath>
                </a14:m>
                <a:r>
                  <a:rPr lang="en-US" altLang="en-US" sz="2000" dirty="0"/>
                  <a:t> </a:t>
                </a:r>
                <a:r>
                  <a:rPr kumimoji="0" lang="en-US" altLang="en-US" sz="2000" b="0" i="0" u="none" strike="noStrike" cap="none" normalizeH="0" baseline="0" dirty="0">
                    <a:ln>
                      <a:noFill/>
                    </a:ln>
                    <a:solidFill>
                      <a:schemeClr val="tx1"/>
                    </a:solidFill>
                    <a:effectLst/>
                  </a:rPr>
                  <a:t>.</a:t>
                </a:r>
              </a:p>
              <a:p>
                <a:pPr lvl="0" eaLnBrk="0" fontAlgn="base" hangingPunct="0">
                  <a:spcBef>
                    <a:spcPct val="0"/>
                  </a:spcBef>
                  <a:spcAft>
                    <a:spcPct val="0"/>
                  </a:spcAft>
                  <a:buFontTx/>
                  <a:buChar char="•"/>
                </a:pPr>
                <a:endParaRPr kumimoji="0" lang="en-US" altLang="en-US" sz="20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2000" b="1" i="0" u="none" strike="noStrike" cap="none" normalizeH="0" baseline="0" dirty="0">
                    <a:ln>
                      <a:noFill/>
                    </a:ln>
                    <a:solidFill>
                      <a:schemeClr val="tx1"/>
                    </a:solidFill>
                    <a:effectLst/>
                  </a:rPr>
                  <a:t>Repeat</a:t>
                </a:r>
                <a:r>
                  <a:rPr kumimoji="0" lang="en-US" altLang="en-US" sz="2000" b="0" i="0" u="none" strike="noStrike" cap="none" normalizeH="0" baseline="0" dirty="0">
                    <a:ln>
                      <a:noFill/>
                    </a:ln>
                    <a:solidFill>
                      <a:schemeClr val="tx1"/>
                    </a:solidFill>
                    <a:effectLst/>
                  </a:rPr>
                  <a:t> this mutual training cycle:</a:t>
                </a:r>
                <a:br>
                  <a:rPr kumimoji="0" lang="en-US" altLang="en-US" sz="2000" b="0" i="0" u="none" strike="noStrike" cap="none" normalizeH="0" baseline="0" dirty="0">
                    <a:ln>
                      <a:noFill/>
                    </a:ln>
                    <a:solidFill>
                      <a:schemeClr val="tx1"/>
                    </a:solidFill>
                    <a:effectLst/>
                  </a:rPr>
                </a:b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𝐵</m:t>
                        </m:r>
                      </m:e>
                      <m:sub>
                        <m:r>
                          <a:rPr lang="en-US" altLang="zh-TW" sz="2000" i="1">
                            <a:latin typeface="Cambria Math" panose="02040503050406030204" pitchFamily="18" charset="0"/>
                          </a:rPr>
                          <m:t>0</m:t>
                        </m:r>
                      </m:sub>
                    </m:sSub>
                  </m:oMath>
                </a14:m>
                <a:r>
                  <a:rPr lang="en-US" altLang="en-US" sz="2000" dirty="0"/>
                  <a:t>→ </a:t>
                </a:r>
                <a14:m>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𝑅</m:t>
                        </m:r>
                      </m:e>
                      <m:sub>
                        <m:r>
                          <a:rPr lang="en-US" altLang="zh-TW" sz="2000" b="0" i="1" smtClean="0">
                            <a:latin typeface="Cambria Math" panose="02040503050406030204" pitchFamily="18" charset="0"/>
                          </a:rPr>
                          <m:t>1</m:t>
                        </m:r>
                      </m:sub>
                    </m:sSub>
                    <m:r>
                      <a:rPr lang="en-US" altLang="zh-TW" sz="2000" i="1">
                        <a:latin typeface="Cambria Math" panose="02040503050406030204" pitchFamily="18" charset="0"/>
                      </a:rPr>
                      <m:t> </m:t>
                    </m:r>
                  </m:oMath>
                </a14:m>
                <a:r>
                  <a:rPr lang="en-US" altLang="en-US" sz="2000" dirty="0"/>
                  <a:t>, </a:t>
                </a:r>
                <a14:m>
                  <m:oMath xmlns:m="http://schemas.openxmlformats.org/officeDocument/2006/math">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𝑅</m:t>
                        </m:r>
                      </m:e>
                      <m:sub>
                        <m:r>
                          <a:rPr lang="en-US" altLang="zh-TW" sz="2000" i="1">
                            <a:latin typeface="Cambria Math" panose="02040503050406030204" pitchFamily="18" charset="0"/>
                          </a:rPr>
                          <m:t>1</m:t>
                        </m:r>
                      </m:sub>
                    </m:sSub>
                  </m:oMath>
                </a14:m>
                <a:r>
                  <a:rPr lang="en-US" altLang="en-US" sz="2000" dirty="0"/>
                  <a:t> → </a:t>
                </a:r>
                <a14:m>
                  <m:oMath xmlns:m="http://schemas.openxmlformats.org/officeDocument/2006/math">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𝐵</m:t>
                        </m:r>
                      </m:e>
                      <m:sub>
                        <m:r>
                          <a:rPr lang="en-US" altLang="zh-TW" sz="2000" b="0" i="1" smtClean="0">
                            <a:latin typeface="Cambria Math" panose="02040503050406030204" pitchFamily="18" charset="0"/>
                          </a:rPr>
                          <m:t>1</m:t>
                        </m:r>
                      </m:sub>
                    </m:sSub>
                  </m:oMath>
                </a14:m>
                <a:r>
                  <a:rPr lang="en-US" altLang="en-US" sz="2000" dirty="0"/>
                  <a:t> , … until final generations </a:t>
                </a: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𝐵</m:t>
                        </m:r>
                      </m:e>
                      <m:sub>
                        <m:r>
                          <a:rPr lang="en-US" altLang="zh-TW" sz="2000" b="0" i="1" smtClean="0">
                            <a:latin typeface="Cambria Math" panose="02040503050406030204" pitchFamily="18" charset="0"/>
                          </a:rPr>
                          <m:t>𝑛</m:t>
                        </m:r>
                      </m:sub>
                    </m:sSub>
                    <m:r>
                      <a:rPr lang="en-US" altLang="zh-TW" sz="2000" i="1">
                        <a:latin typeface="Cambria Math" panose="02040503050406030204" pitchFamily="18" charset="0"/>
                      </a:rPr>
                      <m:t> </m:t>
                    </m:r>
                  </m:oMath>
                </a14:m>
                <a:r>
                  <a:rPr lang="en-US" altLang="en-US" sz="2000" dirty="0"/>
                  <a:t>, </a:t>
                </a: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𝑅</m:t>
                        </m:r>
                      </m:e>
                      <m:sub>
                        <m:r>
                          <a:rPr lang="en-US" altLang="zh-TW" sz="2000" b="0" i="1" smtClean="0">
                            <a:latin typeface="Cambria Math" panose="02040503050406030204" pitchFamily="18" charset="0"/>
                          </a:rPr>
                          <m:t>𝑛</m:t>
                        </m:r>
                      </m:sub>
                    </m:sSub>
                  </m:oMath>
                </a14:m>
                <a:r>
                  <a:rPr lang="en-US" altLang="en-US" sz="2000" dirty="0"/>
                  <a:t> </a:t>
                </a:r>
                <a:endParaRPr lang="en-US" altLang="en-US" sz="2000" baseline="-25000" dirty="0"/>
              </a:p>
            </p:txBody>
          </p:sp>
        </mc:Choice>
        <mc:Fallback>
          <p:sp>
            <p:nvSpPr>
              <p:cNvPr id="9" name="TextBox 8">
                <a:extLst>
                  <a:ext uri="{FF2B5EF4-FFF2-40B4-BE49-F238E27FC236}">
                    <a16:creationId xmlns:a16="http://schemas.microsoft.com/office/drawing/2014/main" id="{93306A2E-F3D5-40BA-AC63-52C31B8136AD}"/>
                  </a:ext>
                </a:extLst>
              </p:cNvPr>
              <p:cNvSpPr txBox="1">
                <a:spLocks noRot="1" noChangeAspect="1" noMove="1" noResize="1" noEditPoints="1" noAdjustHandles="1" noChangeArrowheads="1" noChangeShapeType="1" noTextEdit="1"/>
              </p:cNvSpPr>
              <p:nvPr/>
            </p:nvSpPr>
            <p:spPr>
              <a:xfrm>
                <a:off x="140467" y="1511349"/>
                <a:ext cx="5780480" cy="3477875"/>
              </a:xfrm>
              <a:prstGeom prst="rect">
                <a:avLst/>
              </a:prstGeom>
              <a:blipFill>
                <a:blip r:embed="rId4"/>
                <a:stretch>
                  <a:fillRect l="-1055" t="-1053" b="-2281"/>
                </a:stretch>
              </a:blipFill>
            </p:spPr>
            <p:txBody>
              <a:bodyPr/>
              <a:lstStyle/>
              <a:p>
                <a:r>
                  <a:rPr lang="en-US">
                    <a:noFill/>
                  </a:rPr>
                  <a:t> </a:t>
                </a:r>
              </a:p>
            </p:txBody>
          </p:sp>
        </mc:Fallback>
      </mc:AlternateContent>
      <p:sp>
        <p:nvSpPr>
          <p:cNvPr id="3" name="Slide Number Placeholder 3">
            <a:extLst>
              <a:ext uri="{FF2B5EF4-FFF2-40B4-BE49-F238E27FC236}">
                <a16:creationId xmlns:a16="http://schemas.microsoft.com/office/drawing/2014/main" id="{603E5737-D2AE-F12A-807D-D3991C6B68CF}"/>
              </a:ext>
            </a:extLst>
          </p:cNvPr>
          <p:cNvSpPr txBox="1">
            <a:spLocks/>
          </p:cNvSpPr>
          <p:nvPr/>
        </p:nvSpPr>
        <p:spPr>
          <a:xfrm>
            <a:off x="9191625" y="6379602"/>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14</a:t>
            </a:fld>
            <a:endParaRPr lang="en-US" dirty="0"/>
          </a:p>
        </p:txBody>
      </p:sp>
      <p:sp>
        <p:nvSpPr>
          <p:cNvPr id="5" name="AutoShape 2">
            <a:extLst>
              <a:ext uri="{FF2B5EF4-FFF2-40B4-BE49-F238E27FC236}">
                <a16:creationId xmlns:a16="http://schemas.microsoft.com/office/drawing/2014/main" id="{E1BAEAF9-2D93-4DB2-A6AF-9FA992816358}"/>
              </a:ext>
            </a:extLst>
          </p:cNvPr>
          <p:cNvSpPr>
            <a:spLocks noChangeAspect="1" noChangeArrowheads="1"/>
          </p:cNvSpPr>
          <p:nvPr/>
        </p:nvSpPr>
        <p:spPr bwMode="auto">
          <a:xfrm>
            <a:off x="7659196" y="4665185"/>
            <a:ext cx="3048000" cy="3048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E12FC153-B04A-4472-AA4D-71EACCEA0C71}"/>
              </a:ext>
            </a:extLst>
          </p:cNvPr>
          <p:cNvSpPr txBox="1"/>
          <p:nvPr/>
        </p:nvSpPr>
        <p:spPr>
          <a:xfrm>
            <a:off x="6922558" y="6379602"/>
            <a:ext cx="6180666" cy="338554"/>
          </a:xfrm>
          <a:prstGeom prst="rect">
            <a:avLst/>
          </a:prstGeom>
          <a:noFill/>
        </p:spPr>
        <p:txBody>
          <a:bodyPr wrap="square">
            <a:spAutoFit/>
          </a:bodyPr>
          <a:lstStyle/>
          <a:p>
            <a:r>
              <a:rPr lang="en-US" sz="1600" dirty="0"/>
              <a:t>Figure 4 : Multi-generation alternating training.</a:t>
            </a:r>
          </a:p>
        </p:txBody>
      </p:sp>
    </p:spTree>
    <p:extLst>
      <p:ext uri="{BB962C8B-B14F-4D97-AF65-F5344CB8AC3E}">
        <p14:creationId xmlns:p14="http://schemas.microsoft.com/office/powerpoint/2010/main" val="665244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2E5EE-4E08-1317-C362-D796E5D49CD7}"/>
            </a:ext>
          </a:extLst>
        </p:cNvPr>
        <p:cNvGrpSpPr/>
        <p:nvPr/>
      </p:nvGrpSpPr>
      <p:grpSpPr>
        <a:xfrm>
          <a:off x="0" y="0"/>
          <a:ext cx="0" cy="0"/>
          <a:chOff x="0" y="0"/>
          <a:chExt cx="0" cy="0"/>
        </a:xfrm>
      </p:grpSpPr>
      <p:sp>
        <p:nvSpPr>
          <p:cNvPr id="123" name="Slide Number Placeholder 3">
            <a:extLst>
              <a:ext uri="{FF2B5EF4-FFF2-40B4-BE49-F238E27FC236}">
                <a16:creationId xmlns:a16="http://schemas.microsoft.com/office/drawing/2014/main" id="{5B546E56-669E-3456-82DB-A698492B4B61}"/>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15</a:t>
            </a:fld>
            <a:endParaRPr lang="en-US" dirty="0"/>
          </a:p>
        </p:txBody>
      </p:sp>
      <p:sp>
        <p:nvSpPr>
          <p:cNvPr id="2" name="Title 1">
            <a:extLst>
              <a:ext uri="{FF2B5EF4-FFF2-40B4-BE49-F238E27FC236}">
                <a16:creationId xmlns:a16="http://schemas.microsoft.com/office/drawing/2014/main" id="{57F90826-5391-469C-9E25-6C35A093825D}"/>
              </a:ext>
            </a:extLst>
          </p:cNvPr>
          <p:cNvSpPr>
            <a:spLocks noGrp="1"/>
          </p:cNvSpPr>
          <p:nvPr>
            <p:ph type="title"/>
          </p:nvPr>
        </p:nvSpPr>
        <p:spPr>
          <a:xfrm>
            <a:off x="47625" y="-243819"/>
            <a:ext cx="10515600" cy="1325563"/>
          </a:xfrm>
        </p:spPr>
        <p:txBody>
          <a:bodyPr>
            <a:normAutofit/>
          </a:bodyPr>
          <a:lstStyle/>
          <a:p>
            <a:pPr algn="just"/>
            <a:r>
              <a:rPr lang="en-US" dirty="0">
                <a:latin typeface="Times New Roman" panose="02020603050405020304" pitchFamily="18" charset="0"/>
                <a:cs typeface="Times New Roman" panose="02020603050405020304" pitchFamily="18" charset="0"/>
              </a:rPr>
              <a:t>Solution overview</a:t>
            </a:r>
          </a:p>
        </p:txBody>
      </p:sp>
      <p:pic>
        <p:nvPicPr>
          <p:cNvPr id="3076" name="Picture 4">
            <a:extLst>
              <a:ext uri="{FF2B5EF4-FFF2-40B4-BE49-F238E27FC236}">
                <a16:creationId xmlns:a16="http://schemas.microsoft.com/office/drawing/2014/main" id="{01E7B85F-8C26-4772-955F-576B141A71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021" y="221039"/>
            <a:ext cx="11519957" cy="633216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8725FB1-14F8-45DF-B991-AA7E2AE1DAE7}"/>
              </a:ext>
            </a:extLst>
          </p:cNvPr>
          <p:cNvSpPr txBox="1"/>
          <p:nvPr/>
        </p:nvSpPr>
        <p:spPr>
          <a:xfrm>
            <a:off x="3696758" y="6452742"/>
            <a:ext cx="6180666" cy="338554"/>
          </a:xfrm>
          <a:prstGeom prst="rect">
            <a:avLst/>
          </a:prstGeom>
          <a:noFill/>
        </p:spPr>
        <p:txBody>
          <a:bodyPr wrap="square">
            <a:spAutoFit/>
          </a:bodyPr>
          <a:lstStyle/>
          <a:p>
            <a:r>
              <a:rPr lang="en-US" sz="1600" dirty="0"/>
              <a:t>Figure 5 : Step-level Red-team–Blue-team interaction loop</a:t>
            </a:r>
          </a:p>
        </p:txBody>
      </p:sp>
    </p:spTree>
    <p:extLst>
      <p:ext uri="{BB962C8B-B14F-4D97-AF65-F5344CB8AC3E}">
        <p14:creationId xmlns:p14="http://schemas.microsoft.com/office/powerpoint/2010/main" val="4105739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2E5EE-4E08-1317-C362-D796E5D49CD7}"/>
            </a:ext>
          </a:extLst>
        </p:cNvPr>
        <p:cNvGrpSpPr/>
        <p:nvPr/>
      </p:nvGrpSpPr>
      <p:grpSpPr>
        <a:xfrm>
          <a:off x="0" y="0"/>
          <a:ext cx="0" cy="0"/>
          <a:chOff x="0" y="0"/>
          <a:chExt cx="0" cy="0"/>
        </a:xfrm>
      </p:grpSpPr>
      <p:sp>
        <p:nvSpPr>
          <p:cNvPr id="123" name="Slide Number Placeholder 3">
            <a:extLst>
              <a:ext uri="{FF2B5EF4-FFF2-40B4-BE49-F238E27FC236}">
                <a16:creationId xmlns:a16="http://schemas.microsoft.com/office/drawing/2014/main" id="{5B546E56-669E-3456-82DB-A698492B4B61}"/>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16</a:t>
            </a:fld>
            <a:endParaRPr lang="en-US" dirty="0"/>
          </a:p>
        </p:txBody>
      </p:sp>
      <p:sp>
        <p:nvSpPr>
          <p:cNvPr id="2" name="Title 1">
            <a:extLst>
              <a:ext uri="{FF2B5EF4-FFF2-40B4-BE49-F238E27FC236}">
                <a16:creationId xmlns:a16="http://schemas.microsoft.com/office/drawing/2014/main" id="{57F90826-5391-469C-9E25-6C35A093825D}"/>
              </a:ext>
            </a:extLst>
          </p:cNvPr>
          <p:cNvSpPr>
            <a:spLocks noGrp="1"/>
          </p:cNvSpPr>
          <p:nvPr>
            <p:ph type="title"/>
          </p:nvPr>
        </p:nvSpPr>
        <p:spPr>
          <a:xfrm>
            <a:off x="-8466" y="-279399"/>
            <a:ext cx="10515600" cy="1325563"/>
          </a:xfrm>
        </p:spPr>
        <p:txBody>
          <a:bodyPr>
            <a:normAutofit/>
          </a:bodyPr>
          <a:lstStyle/>
          <a:p>
            <a:pPr algn="just"/>
            <a:r>
              <a:rPr lang="en-US" dirty="0">
                <a:latin typeface="Times New Roman" panose="02020603050405020304" pitchFamily="18" charset="0"/>
                <a:cs typeface="Times New Roman" panose="02020603050405020304" pitchFamily="18" charset="0"/>
              </a:rPr>
              <a:t>Red Team Agent : Action Space</a:t>
            </a:r>
          </a:p>
        </p:txBody>
      </p:sp>
      <p:graphicFrame>
        <p:nvGraphicFramePr>
          <p:cNvPr id="3" name="Table 2">
            <a:extLst>
              <a:ext uri="{FF2B5EF4-FFF2-40B4-BE49-F238E27FC236}">
                <a16:creationId xmlns:a16="http://schemas.microsoft.com/office/drawing/2014/main" id="{4052299F-BA5C-4B75-8FA9-5C28B8D3D411}"/>
              </a:ext>
            </a:extLst>
          </p:cNvPr>
          <p:cNvGraphicFramePr>
            <a:graphicFrameLocks noGrp="1"/>
          </p:cNvGraphicFramePr>
          <p:nvPr>
            <p:extLst>
              <p:ext uri="{D42A27DB-BD31-4B8C-83A1-F6EECF244321}">
                <p14:modId xmlns:p14="http://schemas.microsoft.com/office/powerpoint/2010/main" val="374445178"/>
              </p:ext>
            </p:extLst>
          </p:nvPr>
        </p:nvGraphicFramePr>
        <p:xfrm>
          <a:off x="448734" y="786009"/>
          <a:ext cx="10600266" cy="5690994"/>
        </p:xfrm>
        <a:graphic>
          <a:graphicData uri="http://schemas.openxmlformats.org/drawingml/2006/table">
            <a:tbl>
              <a:tblPr/>
              <a:tblGrid>
                <a:gridCol w="2568985">
                  <a:extLst>
                    <a:ext uri="{9D8B030D-6E8A-4147-A177-3AD203B41FA5}">
                      <a16:colId xmlns:a16="http://schemas.microsoft.com/office/drawing/2014/main" val="3227107821"/>
                    </a:ext>
                  </a:extLst>
                </a:gridCol>
                <a:gridCol w="1578944">
                  <a:extLst>
                    <a:ext uri="{9D8B030D-6E8A-4147-A177-3AD203B41FA5}">
                      <a16:colId xmlns:a16="http://schemas.microsoft.com/office/drawing/2014/main" val="2393228228"/>
                    </a:ext>
                  </a:extLst>
                </a:gridCol>
                <a:gridCol w="6452337">
                  <a:extLst>
                    <a:ext uri="{9D8B030D-6E8A-4147-A177-3AD203B41FA5}">
                      <a16:colId xmlns:a16="http://schemas.microsoft.com/office/drawing/2014/main" val="3789542113"/>
                    </a:ext>
                  </a:extLst>
                </a:gridCol>
              </a:tblGrid>
              <a:tr h="381284">
                <a:tc>
                  <a:txBody>
                    <a:bodyPr/>
                    <a:lstStyle/>
                    <a:p>
                      <a:pPr algn="ctr"/>
                      <a:r>
                        <a:rPr lang="en-US" sz="1600" b="1" dirty="0"/>
                        <a:t>Tactic</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No.</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Representative techniques</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6425874"/>
                  </a:ext>
                </a:extLst>
              </a:tr>
              <a:tr h="587311">
                <a:tc>
                  <a:txBody>
                    <a:bodyPr/>
                    <a:lstStyle/>
                    <a:p>
                      <a:pPr algn="ctr"/>
                      <a:r>
                        <a:rPr lang="en-US" sz="1300" dirty="0"/>
                        <a:t>Reconnaissance</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16</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t>T1595 Active Scanning; T1592 Gather Victim Host Information; T1590 Gather Victim Network Information.</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8744807"/>
                  </a:ext>
                </a:extLst>
              </a:tr>
              <a:tr h="429309">
                <a:tc>
                  <a:txBody>
                    <a:bodyPr/>
                    <a:lstStyle/>
                    <a:p>
                      <a:pPr algn="ctr"/>
                      <a:r>
                        <a:rPr lang="en-US" sz="1300"/>
                        <a:t>Execution</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16</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T1059.001 PowerShell; T1059.003 Windows Command Shell; T1059.006 Python.</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266100"/>
                  </a:ext>
                </a:extLst>
              </a:tr>
              <a:tr h="429309">
                <a:tc>
                  <a:txBody>
                    <a:bodyPr/>
                    <a:lstStyle/>
                    <a:p>
                      <a:pPr algn="ctr"/>
                      <a:r>
                        <a:rPr lang="en-US" sz="1300"/>
                        <a:t>Persistence</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56</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T1098 Account Manipulation; T1547.001 Registry Run Keys; T1053 Scheduled Task/Job.</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4415375"/>
                  </a:ext>
                </a:extLst>
              </a:tr>
              <a:tr h="429309">
                <a:tc>
                  <a:txBody>
                    <a:bodyPr/>
                    <a:lstStyle/>
                    <a:p>
                      <a:pPr algn="ctr"/>
                      <a:r>
                        <a:rPr lang="en-US" sz="1300" dirty="0"/>
                        <a:t>Privilege Escalation</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33</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T1548.002 Bypass UAC; T1134.001 Token Impersonation; T1543.003 Windows Service.</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9718254"/>
                  </a:ext>
                </a:extLst>
              </a:tr>
              <a:tr h="429309">
                <a:tc>
                  <a:txBody>
                    <a:bodyPr/>
                    <a:lstStyle/>
                    <a:p>
                      <a:pPr algn="ctr"/>
                      <a:r>
                        <a:rPr lang="en-US" sz="1300"/>
                        <a:t>Defense Evasion</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12</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T1027 Obfuscated Files; T1562 Impair Defenses; T1070 Indicator Removal.</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1134356"/>
                  </a:ext>
                </a:extLst>
              </a:tr>
              <a:tr h="429309">
                <a:tc>
                  <a:txBody>
                    <a:bodyPr/>
                    <a:lstStyle/>
                    <a:p>
                      <a:pPr algn="ctr"/>
                      <a:r>
                        <a:rPr lang="en-US" sz="1300"/>
                        <a:t>Credential Access</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35</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T1003.001 LSASS Memory; T1555 Credential Stores; T1557.001 SMB Relay.</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1291183"/>
                  </a:ext>
                </a:extLst>
              </a:tr>
              <a:tr h="429309">
                <a:tc>
                  <a:txBody>
                    <a:bodyPr/>
                    <a:lstStyle/>
                    <a:p>
                      <a:pPr algn="ctr"/>
                      <a:r>
                        <a:rPr lang="en-US" sz="1300"/>
                        <a:t>Discovery</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38</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T1087 Account Discovery; T1046 Network Service Discovery; T1057 Process Discovery.</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8692353"/>
                  </a:ext>
                </a:extLst>
              </a:tr>
              <a:tr h="429309">
                <a:tc>
                  <a:txBody>
                    <a:bodyPr/>
                    <a:lstStyle/>
                    <a:p>
                      <a:pPr algn="ctr"/>
                      <a:r>
                        <a:rPr lang="en-US" sz="1300"/>
                        <a:t>Lateral Movement</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6</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T1021 Remote Services; T1021.002 SMB/Admin Shares; T1080 Taint Shared Content.</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576501"/>
                  </a:ext>
                </a:extLst>
              </a:tr>
              <a:tr h="429309">
                <a:tc>
                  <a:txBody>
                    <a:bodyPr/>
                    <a:lstStyle/>
                    <a:p>
                      <a:pPr algn="ctr"/>
                      <a:r>
                        <a:rPr lang="en-US" sz="1300"/>
                        <a:t>Collection</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18</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T1005 Data from Local System; T1560.001 Archive via Utility; T1113 Screen Capture.</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2044339"/>
                  </a:ext>
                </a:extLst>
              </a:tr>
              <a:tr h="429309">
                <a:tc>
                  <a:txBody>
                    <a:bodyPr/>
                    <a:lstStyle/>
                    <a:p>
                      <a:pPr algn="ctr"/>
                      <a:r>
                        <a:rPr lang="en-US" sz="1300"/>
                        <a:t>Command and Control</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21</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T1071.001 Web Protocols; T1105 Tool Transfer; T1572 Protocol Tunneling.</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6136979"/>
                  </a:ext>
                </a:extLst>
              </a:tr>
              <a:tr h="429309">
                <a:tc>
                  <a:txBody>
                    <a:bodyPr/>
                    <a:lstStyle/>
                    <a:p>
                      <a:pPr algn="ctr"/>
                      <a:r>
                        <a:rPr lang="en-US" sz="1300"/>
                        <a:t>Exfiltration</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8</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T1041 Exfiltration over C2; T1048 Alternative Protocol; T1020 Automated Exfiltration.</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1870221"/>
                  </a:ext>
                </a:extLst>
              </a:tr>
              <a:tr h="429309">
                <a:tc>
                  <a:txBody>
                    <a:bodyPr/>
                    <a:lstStyle/>
                    <a:p>
                      <a:pPr algn="ctr"/>
                      <a:r>
                        <a:rPr lang="en-US" sz="1300"/>
                        <a:t>Impact</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20</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t>T1485 Data Destruction; T1486 Data Encrypted for Impact; T1561.002 Disk Wipe.</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8838835"/>
                  </a:ext>
                </a:extLst>
              </a:tr>
            </a:tbl>
          </a:graphicData>
        </a:graphic>
      </p:graphicFrame>
      <p:sp>
        <p:nvSpPr>
          <p:cNvPr id="6" name="TextBox 5">
            <a:extLst>
              <a:ext uri="{FF2B5EF4-FFF2-40B4-BE49-F238E27FC236}">
                <a16:creationId xmlns:a16="http://schemas.microsoft.com/office/drawing/2014/main" id="{04806758-5BC0-4CE6-B43F-1F727C8C8E53}"/>
              </a:ext>
            </a:extLst>
          </p:cNvPr>
          <p:cNvSpPr txBox="1"/>
          <p:nvPr/>
        </p:nvSpPr>
        <p:spPr>
          <a:xfrm>
            <a:off x="4146551" y="6519446"/>
            <a:ext cx="3109382" cy="338554"/>
          </a:xfrm>
          <a:prstGeom prst="rect">
            <a:avLst/>
          </a:prstGeom>
          <a:noFill/>
        </p:spPr>
        <p:txBody>
          <a:bodyPr wrap="square">
            <a:spAutoFit/>
          </a:bodyPr>
          <a:lstStyle/>
          <a:p>
            <a:r>
              <a:rPr lang="en-US" sz="1600" dirty="0"/>
              <a:t>Table 3 : Red-team action space </a:t>
            </a:r>
          </a:p>
        </p:txBody>
      </p:sp>
    </p:spTree>
    <p:extLst>
      <p:ext uri="{BB962C8B-B14F-4D97-AF65-F5344CB8AC3E}">
        <p14:creationId xmlns:p14="http://schemas.microsoft.com/office/powerpoint/2010/main" val="1878125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F235FB5-44F0-47D8-95AC-0C586725BBBD}"/>
              </a:ext>
            </a:extLst>
          </p:cNvPr>
          <p:cNvSpPr txBox="1"/>
          <p:nvPr/>
        </p:nvSpPr>
        <p:spPr>
          <a:xfrm>
            <a:off x="8277567" y="120454"/>
            <a:ext cx="3774220" cy="646330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50" b="1" dirty="0" err="1"/>
              <a:t>technique</a:t>
            </a:r>
            <a:r>
              <a:rPr lang="en-US" sz="1150" dirty="0" err="1"/>
              <a:t>_</a:t>
            </a:r>
            <a:r>
              <a:rPr lang="en-US" sz="1150" b="1" dirty="0" err="1"/>
              <a:t>id</a:t>
            </a:r>
            <a:r>
              <a:rPr lang="en-US" sz="1150" dirty="0"/>
              <a:t>: T1021.002</a:t>
            </a:r>
          </a:p>
          <a:p>
            <a:r>
              <a:rPr lang="en-US" sz="1150" b="1" dirty="0" err="1"/>
              <a:t>technique</a:t>
            </a:r>
            <a:r>
              <a:rPr lang="en-US" sz="1150" dirty="0" err="1"/>
              <a:t>_</a:t>
            </a:r>
            <a:r>
              <a:rPr lang="en-US" sz="1150" b="1" dirty="0" err="1"/>
              <a:t>name</a:t>
            </a:r>
            <a:r>
              <a:rPr lang="en-US" sz="1150" dirty="0"/>
              <a:t>: SMB/Windows Admin Shares</a:t>
            </a:r>
          </a:p>
          <a:p>
            <a:r>
              <a:rPr lang="en-US" sz="1150" b="1" dirty="0"/>
              <a:t>tactic</a:t>
            </a:r>
            <a:r>
              <a:rPr lang="en-US" sz="1150" dirty="0"/>
              <a:t>: </a:t>
            </a:r>
            <a:r>
              <a:rPr lang="en-US" sz="1150" dirty="0" err="1"/>
              <a:t>LateralMovement</a:t>
            </a:r>
            <a:endParaRPr lang="en-US" sz="1150" dirty="0"/>
          </a:p>
          <a:p>
            <a:r>
              <a:rPr lang="en-US" sz="1150" b="1" dirty="0"/>
              <a:t>tool</a:t>
            </a:r>
            <a:r>
              <a:rPr lang="en-US" sz="1150" dirty="0"/>
              <a:t>: </a:t>
            </a:r>
            <a:r>
              <a:rPr lang="en-US" sz="1150" dirty="0" err="1"/>
              <a:t>metasploit</a:t>
            </a:r>
            <a:endParaRPr lang="en-US" sz="1150" dirty="0"/>
          </a:p>
          <a:p>
            <a:endParaRPr lang="en-US" sz="1150" b="1" dirty="0"/>
          </a:p>
          <a:p>
            <a:r>
              <a:rPr lang="en-US" sz="1150" b="1" dirty="0" err="1"/>
              <a:t>required</a:t>
            </a:r>
            <a:r>
              <a:rPr lang="en-US" sz="1150" dirty="0" err="1"/>
              <a:t>_</a:t>
            </a:r>
            <a:r>
              <a:rPr lang="en-US" sz="1150" b="1" dirty="0" err="1"/>
              <a:t>state</a:t>
            </a:r>
            <a:r>
              <a:rPr lang="en-US" sz="1150" dirty="0"/>
              <a:t>:               # Preconditions (must be true in state)</a:t>
            </a:r>
          </a:p>
          <a:p>
            <a:r>
              <a:rPr lang="en-US" sz="1150" dirty="0"/>
              <a:t>  - </a:t>
            </a:r>
            <a:r>
              <a:rPr lang="en-US" sz="1150" dirty="0" err="1"/>
              <a:t>has_valid_creds</a:t>
            </a:r>
            <a:endParaRPr lang="en-US" sz="1150" dirty="0"/>
          </a:p>
          <a:p>
            <a:r>
              <a:rPr lang="en-US" sz="1150" dirty="0"/>
              <a:t>  - has_port_445</a:t>
            </a:r>
          </a:p>
          <a:p>
            <a:r>
              <a:rPr lang="en-US" sz="1150" dirty="0"/>
              <a:t>  - </a:t>
            </a:r>
            <a:r>
              <a:rPr lang="en-US" sz="1150" dirty="0" err="1"/>
              <a:t>os_family</a:t>
            </a:r>
            <a:r>
              <a:rPr lang="en-US" sz="1150" dirty="0"/>
              <a:t> == Windows</a:t>
            </a:r>
          </a:p>
          <a:p>
            <a:endParaRPr lang="en-US" sz="1150" dirty="0"/>
          </a:p>
          <a:p>
            <a:r>
              <a:rPr lang="en-US" sz="1150" b="1" dirty="0" err="1"/>
              <a:t>required</a:t>
            </a:r>
            <a:r>
              <a:rPr lang="en-US" sz="1150" dirty="0" err="1"/>
              <a:t>_</a:t>
            </a:r>
            <a:r>
              <a:rPr lang="en-US" sz="1150" b="1" dirty="0" err="1"/>
              <a:t>params</a:t>
            </a:r>
            <a:r>
              <a:rPr lang="en-US" sz="1150" dirty="0"/>
              <a:t>:              # Parameters selected by RL (after preconditions pass)</a:t>
            </a:r>
          </a:p>
          <a:p>
            <a:r>
              <a:rPr lang="en-US" sz="1150" dirty="0"/>
              <a:t>  </a:t>
            </a:r>
            <a:r>
              <a:rPr lang="en-US" sz="1150" dirty="0" err="1"/>
              <a:t>target_ip</a:t>
            </a:r>
            <a:r>
              <a:rPr lang="en-US" sz="1150" dirty="0"/>
              <a:t>:</a:t>
            </a:r>
          </a:p>
          <a:p>
            <a:r>
              <a:rPr lang="en-US" sz="1150" dirty="0"/>
              <a:t>    source: </a:t>
            </a:r>
            <a:r>
              <a:rPr lang="en-US" sz="1150" dirty="0" err="1"/>
              <a:t>discovered_hosts</a:t>
            </a:r>
            <a:endParaRPr lang="en-US" sz="1150" dirty="0"/>
          </a:p>
          <a:p>
            <a:r>
              <a:rPr lang="en-US" sz="1150" dirty="0"/>
              <a:t>  </a:t>
            </a:r>
            <a:r>
              <a:rPr lang="en-US" sz="1150" dirty="0" err="1"/>
              <a:t>credential_id</a:t>
            </a:r>
            <a:r>
              <a:rPr lang="en-US" sz="1150" dirty="0"/>
              <a:t>:</a:t>
            </a:r>
          </a:p>
          <a:p>
            <a:r>
              <a:rPr lang="en-US" sz="1150" dirty="0"/>
              <a:t>    source: </a:t>
            </a:r>
            <a:r>
              <a:rPr lang="en-US" sz="1150" dirty="0" err="1"/>
              <a:t>credential_store</a:t>
            </a:r>
            <a:endParaRPr lang="en-US" sz="1150" dirty="0"/>
          </a:p>
          <a:p>
            <a:r>
              <a:rPr lang="en-US" sz="1150" dirty="0"/>
              <a:t>  port:</a:t>
            </a:r>
          </a:p>
          <a:p>
            <a:r>
              <a:rPr lang="en-US" sz="1150" dirty="0"/>
              <a:t>    fixed: 445</a:t>
            </a:r>
          </a:p>
          <a:p>
            <a:endParaRPr lang="en-US" sz="1150" dirty="0"/>
          </a:p>
          <a:p>
            <a:r>
              <a:rPr lang="en-US" sz="1150" b="1" dirty="0" err="1"/>
              <a:t>expected</a:t>
            </a:r>
            <a:r>
              <a:rPr lang="en-US" sz="1150" dirty="0" err="1"/>
              <a:t>_</a:t>
            </a:r>
            <a:r>
              <a:rPr lang="en-US" sz="1150" b="1" dirty="0" err="1"/>
              <a:t>state</a:t>
            </a:r>
            <a:r>
              <a:rPr lang="en-US" sz="1150" dirty="0" err="1"/>
              <a:t>_</a:t>
            </a:r>
            <a:r>
              <a:rPr lang="en-US" sz="1150" b="1" dirty="0" err="1"/>
              <a:t>updates</a:t>
            </a:r>
            <a:r>
              <a:rPr lang="en-US" sz="1150" dirty="0"/>
              <a:t>:       # What the environment updates after execution</a:t>
            </a:r>
          </a:p>
          <a:p>
            <a:r>
              <a:rPr lang="en-US" sz="1150" dirty="0"/>
              <a:t>  </a:t>
            </a:r>
            <a:r>
              <a:rPr lang="en-US" sz="1150" dirty="0" err="1"/>
              <a:t>on_success</a:t>
            </a:r>
            <a:r>
              <a:rPr lang="en-US" sz="1150" dirty="0"/>
              <a:t>:</a:t>
            </a:r>
          </a:p>
          <a:p>
            <a:r>
              <a:rPr lang="en-US" sz="1150" dirty="0"/>
              <a:t>    - </a:t>
            </a:r>
            <a:r>
              <a:rPr lang="en-US" sz="1150" dirty="0" err="1"/>
              <a:t>session_established</a:t>
            </a:r>
            <a:r>
              <a:rPr lang="en-US" sz="1150" dirty="0"/>
              <a:t> = true</a:t>
            </a:r>
          </a:p>
          <a:p>
            <a:r>
              <a:rPr lang="en-US" sz="1150" dirty="0"/>
              <a:t>    - </a:t>
            </a:r>
            <a:r>
              <a:rPr lang="en-US" sz="1150" dirty="0" err="1"/>
              <a:t>compromised_hosts</a:t>
            </a:r>
            <a:r>
              <a:rPr lang="en-US" sz="1150" dirty="0"/>
              <a:t> += </a:t>
            </a:r>
            <a:r>
              <a:rPr lang="en-US" sz="1150" dirty="0" err="1"/>
              <a:t>target_ip</a:t>
            </a:r>
            <a:endParaRPr lang="en-US" sz="1150" dirty="0"/>
          </a:p>
          <a:p>
            <a:r>
              <a:rPr lang="en-US" sz="1150" dirty="0"/>
              <a:t>    - </a:t>
            </a:r>
            <a:r>
              <a:rPr lang="en-US" sz="1150" dirty="0" err="1"/>
              <a:t>new_host_access_level</a:t>
            </a:r>
            <a:r>
              <a:rPr lang="en-US" sz="1150" dirty="0"/>
              <a:t> = admin</a:t>
            </a:r>
          </a:p>
          <a:p>
            <a:r>
              <a:rPr lang="en-US" sz="1150" dirty="0"/>
              <a:t>  </a:t>
            </a:r>
            <a:r>
              <a:rPr lang="en-US" sz="1150" dirty="0" err="1"/>
              <a:t>on_failure</a:t>
            </a:r>
            <a:r>
              <a:rPr lang="en-US" sz="1150" dirty="0"/>
              <a:t>:</a:t>
            </a:r>
          </a:p>
          <a:p>
            <a:r>
              <a:rPr lang="en-US" sz="1150" dirty="0"/>
              <a:t>    - </a:t>
            </a:r>
            <a:r>
              <a:rPr lang="en-US" sz="1150" dirty="0" err="1"/>
              <a:t>failed_lateral_attempts</a:t>
            </a:r>
            <a:r>
              <a:rPr lang="en-US" sz="1150" dirty="0"/>
              <a:t> += 1</a:t>
            </a:r>
          </a:p>
          <a:p>
            <a:endParaRPr lang="en-US" sz="1150" dirty="0"/>
          </a:p>
          <a:p>
            <a:r>
              <a:rPr lang="en-US" sz="1150" b="1" dirty="0"/>
              <a:t>evidence</a:t>
            </a:r>
            <a:r>
              <a:rPr lang="en-US" sz="1150" dirty="0"/>
              <a:t>:                     # Observable artifacts (logs / signals)</a:t>
            </a:r>
          </a:p>
          <a:p>
            <a:r>
              <a:rPr lang="en-US" sz="1150" dirty="0"/>
              <a:t>  - </a:t>
            </a:r>
            <a:r>
              <a:rPr lang="en-US" sz="1150" dirty="0" err="1"/>
              <a:t>session_established</a:t>
            </a:r>
            <a:endParaRPr lang="en-US" sz="1150" dirty="0"/>
          </a:p>
          <a:p>
            <a:r>
              <a:rPr lang="en-US" sz="1150" dirty="0"/>
              <a:t>  - </a:t>
            </a:r>
            <a:r>
              <a:rPr lang="en-US" sz="1150" dirty="0" err="1"/>
              <a:t>smb_auth_success</a:t>
            </a:r>
            <a:endParaRPr lang="en-US" sz="1150" dirty="0"/>
          </a:p>
          <a:p>
            <a:r>
              <a:rPr lang="en-US" sz="1150" dirty="0"/>
              <a:t>  - </a:t>
            </a:r>
            <a:r>
              <a:rPr lang="en-US" sz="1150" dirty="0" err="1"/>
              <a:t>new_process_created</a:t>
            </a:r>
            <a:endParaRPr lang="en-US" sz="1150" dirty="0"/>
          </a:p>
          <a:p>
            <a:endParaRPr lang="en-US" sz="1150" dirty="0"/>
          </a:p>
          <a:p>
            <a:r>
              <a:rPr lang="en-US" sz="1150" b="1" dirty="0"/>
              <a:t>risk</a:t>
            </a:r>
            <a:r>
              <a:rPr lang="en-US" sz="1150" dirty="0"/>
              <a:t>:                         # Risk level for Blue Team detection</a:t>
            </a:r>
          </a:p>
          <a:p>
            <a:r>
              <a:rPr lang="en-US" sz="1150" dirty="0"/>
              <a:t>  detectability: high</a:t>
            </a:r>
          </a:p>
        </p:txBody>
      </p:sp>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0" y="-220593"/>
            <a:ext cx="8277567" cy="1325563"/>
          </a:xfrm>
        </p:spPr>
        <p:txBody>
          <a:bodyPr>
            <a:normAutofit/>
          </a:bodyPr>
          <a:lstStyle/>
          <a:p>
            <a:pPr algn="just"/>
            <a:r>
              <a:rPr lang="en-US" sz="3800" dirty="0">
                <a:latin typeface="Times New Roman" panose="02020603050405020304" pitchFamily="18" charset="0"/>
                <a:cs typeface="Times New Roman" panose="02020603050405020304" pitchFamily="18" charset="0"/>
              </a:rPr>
              <a:t>Red Team Agent</a:t>
            </a:r>
            <a:r>
              <a:rPr lang="en-US" sz="3800" dirty="0"/>
              <a:t> – Technique Schema</a:t>
            </a:r>
            <a:endParaRPr lang="en-US" sz="38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3AE6FB5-5EAC-4146-97E5-E8B8564D9F3F}"/>
              </a:ext>
            </a:extLst>
          </p:cNvPr>
          <p:cNvSpPr txBox="1"/>
          <p:nvPr/>
        </p:nvSpPr>
        <p:spPr>
          <a:xfrm>
            <a:off x="134067" y="1213007"/>
            <a:ext cx="7555579" cy="510909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Problem- </a:t>
            </a:r>
            <a:r>
              <a:rPr lang="en-US" sz="2000" b="1" dirty="0"/>
              <a:t>Wasted exploration on impossible actions.</a:t>
            </a:r>
            <a:r>
              <a:rPr lang="en-US" sz="2000" dirty="0"/>
              <a:t> </a:t>
            </a:r>
          </a:p>
          <a:p>
            <a:pPr lvl="1"/>
            <a:r>
              <a:rPr lang="en-US" sz="1600" dirty="0"/>
              <a:t>The agent selects techniques even if needed conditions (like credentials or open ports) are not met.</a:t>
            </a:r>
          </a:p>
          <a:p>
            <a:pPr marL="285750" indent="-285750">
              <a:buFont typeface="Arial" panose="020B0604020202020204" pitchFamily="34" charset="0"/>
              <a:buChar char="•"/>
            </a:pPr>
            <a:endParaRPr lang="en-US" sz="1800" dirty="0"/>
          </a:p>
          <a:p>
            <a:pPr marL="285750" indent="-285750">
              <a:lnSpc>
                <a:spcPct val="150000"/>
              </a:lnSpc>
              <a:buFont typeface="Arial" panose="020B0604020202020204" pitchFamily="34" charset="0"/>
              <a:buChar char="•"/>
            </a:pPr>
            <a:r>
              <a:rPr lang="en-US" sz="2000" b="1" dirty="0">
                <a:latin typeface="+mj-lt"/>
              </a:rPr>
              <a:t>Solution- Defines each ATT&amp;CK technique in structured form.</a:t>
            </a:r>
          </a:p>
          <a:p>
            <a:pPr lvl="1"/>
            <a:r>
              <a:rPr lang="en-US" sz="1600" dirty="0"/>
              <a:t>The schema checks whether a selected technique is valid in the current cyber-range observation, so Red cannot execute meaningless actions.</a:t>
            </a:r>
          </a:p>
          <a:p>
            <a:pPr marL="285750" indent="-285750">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sz="2000" dirty="0"/>
              <a:t>Each technique has a schema with </a:t>
            </a:r>
          </a:p>
          <a:p>
            <a:pPr marL="742950" lvl="1" indent="-285750">
              <a:buFont typeface="Arial" panose="020B0604020202020204" pitchFamily="34" charset="0"/>
              <a:buChar char="•"/>
            </a:pPr>
            <a:r>
              <a:rPr lang="en-US" sz="1600" b="1" dirty="0" err="1"/>
              <a:t>technique_id</a:t>
            </a:r>
            <a:r>
              <a:rPr lang="en-US" sz="1600" b="1" dirty="0"/>
              <a:t> </a:t>
            </a:r>
          </a:p>
          <a:p>
            <a:pPr marL="742950" lvl="1" indent="-285750">
              <a:buFont typeface="Arial" panose="020B0604020202020204" pitchFamily="34" charset="0"/>
              <a:buChar char="•"/>
            </a:pPr>
            <a:r>
              <a:rPr lang="en-US" sz="1600" b="1" dirty="0" err="1"/>
              <a:t>technique_name</a:t>
            </a:r>
            <a:r>
              <a:rPr lang="en-US" sz="1600" b="1" dirty="0"/>
              <a:t> </a:t>
            </a:r>
          </a:p>
          <a:p>
            <a:pPr marL="742950" lvl="1" indent="-285750">
              <a:buFont typeface="Arial" panose="020B0604020202020204" pitchFamily="34" charset="0"/>
              <a:buChar char="•"/>
            </a:pPr>
            <a:r>
              <a:rPr lang="en-US" sz="1600" b="1" dirty="0"/>
              <a:t>tactic  </a:t>
            </a:r>
          </a:p>
          <a:p>
            <a:pPr marL="742950" lvl="1" indent="-285750">
              <a:buFont typeface="Arial" panose="020B0604020202020204" pitchFamily="34" charset="0"/>
              <a:buChar char="•"/>
            </a:pPr>
            <a:r>
              <a:rPr lang="en-US" sz="1600" b="1" dirty="0"/>
              <a:t>tool  </a:t>
            </a:r>
            <a:endParaRPr lang="en-US" sz="1600"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Execution flow</a:t>
            </a:r>
            <a:r>
              <a:rPr lang="en-US" dirty="0"/>
              <a:t>: </a:t>
            </a:r>
          </a:p>
          <a:p>
            <a:pPr lvl="1"/>
            <a:r>
              <a:rPr lang="en-US" dirty="0"/>
              <a:t>RL selects technique → Validator checks </a:t>
            </a:r>
            <a:r>
              <a:rPr lang="en-US" dirty="0" err="1"/>
              <a:t>required_state</a:t>
            </a:r>
            <a:r>
              <a:rPr lang="en-US" dirty="0"/>
              <a:t> → if valid, RL selects required parameters → Send action to cyber range → execute.</a:t>
            </a:r>
          </a:p>
        </p:txBody>
      </p:sp>
      <p:sp>
        <p:nvSpPr>
          <p:cNvPr id="10" name="TextBox 9">
            <a:extLst>
              <a:ext uri="{FF2B5EF4-FFF2-40B4-BE49-F238E27FC236}">
                <a16:creationId xmlns:a16="http://schemas.microsoft.com/office/drawing/2014/main" id="{2D17DF49-3978-4C89-8ED5-2A8C3E8D6F65}"/>
              </a:ext>
            </a:extLst>
          </p:cNvPr>
          <p:cNvSpPr txBox="1"/>
          <p:nvPr/>
        </p:nvSpPr>
        <p:spPr>
          <a:xfrm>
            <a:off x="2935817" y="4072465"/>
            <a:ext cx="6167966" cy="1077218"/>
          </a:xfrm>
          <a:prstGeom prst="rect">
            <a:avLst/>
          </a:prstGeom>
          <a:noFill/>
        </p:spPr>
        <p:txBody>
          <a:bodyPr wrap="square">
            <a:spAutoFit/>
          </a:bodyPr>
          <a:lstStyle/>
          <a:p>
            <a:pPr marL="742950" lvl="1" indent="-285750">
              <a:buFont typeface="Arial" panose="020B0604020202020204" pitchFamily="34" charset="0"/>
              <a:buChar char="•"/>
            </a:pPr>
            <a:r>
              <a:rPr lang="en-US" sz="1600" b="1" dirty="0" err="1"/>
              <a:t>required_state</a:t>
            </a:r>
            <a:r>
              <a:rPr lang="en-US" sz="1600" b="1" dirty="0"/>
              <a:t>, </a:t>
            </a:r>
          </a:p>
          <a:p>
            <a:pPr marL="742950" lvl="1" indent="-285750">
              <a:buFont typeface="Arial" panose="020B0604020202020204" pitchFamily="34" charset="0"/>
              <a:buChar char="•"/>
            </a:pPr>
            <a:r>
              <a:rPr lang="en-US" sz="1600" b="1" dirty="0" err="1"/>
              <a:t>required_params</a:t>
            </a:r>
            <a:r>
              <a:rPr lang="en-US" sz="1600" b="1" dirty="0"/>
              <a:t>, </a:t>
            </a:r>
          </a:p>
          <a:p>
            <a:pPr marL="742950" lvl="1" indent="-285750">
              <a:buFont typeface="Arial" panose="020B0604020202020204" pitchFamily="34" charset="0"/>
              <a:buChar char="•"/>
            </a:pPr>
            <a:r>
              <a:rPr lang="en-US" sz="1600" b="1" dirty="0"/>
              <a:t>expected stage change, </a:t>
            </a:r>
          </a:p>
          <a:p>
            <a:pPr marL="742950" lvl="1" indent="-285750">
              <a:buFont typeface="Arial" panose="020B0604020202020204" pitchFamily="34" charset="0"/>
              <a:buChar char="•"/>
            </a:pPr>
            <a:r>
              <a:rPr lang="en-US" sz="1600" b="1" dirty="0"/>
              <a:t>evidence, risk</a:t>
            </a:r>
          </a:p>
        </p:txBody>
      </p:sp>
      <p:sp>
        <p:nvSpPr>
          <p:cNvPr id="11" name="TextBox 10">
            <a:extLst>
              <a:ext uri="{FF2B5EF4-FFF2-40B4-BE49-F238E27FC236}">
                <a16:creationId xmlns:a16="http://schemas.microsoft.com/office/drawing/2014/main" id="{5A0442DA-5263-4992-8DE6-4249231C110E}"/>
              </a:ext>
            </a:extLst>
          </p:cNvPr>
          <p:cNvSpPr txBox="1"/>
          <p:nvPr/>
        </p:nvSpPr>
        <p:spPr>
          <a:xfrm>
            <a:off x="8740650" y="6583762"/>
            <a:ext cx="2971890" cy="307777"/>
          </a:xfrm>
          <a:prstGeom prst="rect">
            <a:avLst/>
          </a:prstGeom>
          <a:noFill/>
        </p:spPr>
        <p:txBody>
          <a:bodyPr wrap="square">
            <a:spAutoFit/>
          </a:bodyPr>
          <a:lstStyle/>
          <a:p>
            <a:r>
              <a:rPr lang="fr-FR" sz="1400" dirty="0"/>
              <a:t>Figure 6 : Technique </a:t>
            </a:r>
            <a:r>
              <a:rPr lang="fr-FR" sz="1400" dirty="0" err="1"/>
              <a:t>Schema</a:t>
            </a:r>
            <a:r>
              <a:rPr lang="fr-FR" sz="1400" dirty="0"/>
              <a:t> Example</a:t>
            </a:r>
            <a:endParaRPr lang="en-US" sz="1400" dirty="0"/>
          </a:p>
        </p:txBody>
      </p:sp>
      <p:sp>
        <p:nvSpPr>
          <p:cNvPr id="7" name="Slide Number Placeholder 3">
            <a:extLst>
              <a:ext uri="{FF2B5EF4-FFF2-40B4-BE49-F238E27FC236}">
                <a16:creationId xmlns:a16="http://schemas.microsoft.com/office/drawing/2014/main" id="{42079826-DAA3-96BC-9856-625451C89A9C}"/>
              </a:ext>
            </a:extLst>
          </p:cNvPr>
          <p:cNvSpPr txBox="1">
            <a:spLocks/>
          </p:cNvSpPr>
          <p:nvPr/>
        </p:nvSpPr>
        <p:spPr>
          <a:xfrm>
            <a:off x="9267491" y="6526414"/>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17</a:t>
            </a:fld>
            <a:endParaRPr lang="en-US" dirty="0"/>
          </a:p>
        </p:txBody>
      </p:sp>
    </p:spTree>
    <p:extLst>
      <p:ext uri="{BB962C8B-B14F-4D97-AF65-F5344CB8AC3E}">
        <p14:creationId xmlns:p14="http://schemas.microsoft.com/office/powerpoint/2010/main" val="4228601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0" y="-180495"/>
            <a:ext cx="10515600" cy="1325563"/>
          </a:xfrm>
        </p:spPr>
        <p:txBody>
          <a:bodyPr/>
          <a:lstStyle/>
          <a:p>
            <a:pPr algn="just"/>
            <a:r>
              <a:rPr lang="en-US" dirty="0">
                <a:latin typeface="Times New Roman" panose="02020603050405020304" pitchFamily="18" charset="0"/>
                <a:cs typeface="Times New Roman" panose="02020603050405020304" pitchFamily="18" charset="0"/>
              </a:rPr>
              <a:t> Solution : Red Team Agent </a:t>
            </a:r>
            <a:r>
              <a:rPr lang="en-US" dirty="0"/>
              <a:t>– Action Selection</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 name="Content Placeholder 7">
                <a:extLst>
                  <a:ext uri="{FF2B5EF4-FFF2-40B4-BE49-F238E27FC236}">
                    <a16:creationId xmlns:a16="http://schemas.microsoft.com/office/drawing/2014/main" id="{7C3DA3FE-4253-FE1B-EE00-F11A7DFB6363}"/>
                  </a:ext>
                </a:extLst>
              </p:cNvPr>
              <p:cNvSpPr>
                <a:spLocks noGrp="1"/>
              </p:cNvSpPr>
              <p:nvPr>
                <p:ph idx="1"/>
              </p:nvPr>
            </p:nvSpPr>
            <p:spPr>
              <a:xfrm>
                <a:off x="719667" y="1190157"/>
                <a:ext cx="10515600" cy="4851400"/>
              </a:xfrm>
            </p:spPr>
            <p:txBody>
              <a:bodyPr>
                <a:normAutofit/>
              </a:bodyPr>
              <a:lstStyle/>
              <a:p>
                <a:pPr>
                  <a:buSzPct val="100000"/>
                </a:pPr>
                <a:r>
                  <a:rPr lang="en-US" altLang="zh-TW" sz="2000" dirty="0">
                    <a:latin typeface="Times New Roman" panose="02020603050405020304" pitchFamily="18" charset="0"/>
                    <a:ea typeface="微軟正黑體" panose="020B0604030504040204" pitchFamily="34" charset="-120"/>
                    <a:cs typeface="Times New Roman" panose="02020603050405020304" pitchFamily="18" charset="0"/>
                  </a:rPr>
                  <a:t>Action Selection and Validation:</a:t>
                </a:r>
              </a:p>
              <a:p>
                <a:pPr lvl="1"/>
                <a:r>
                  <a:rPr lang="en-US" sz="1800" b="1" dirty="0"/>
                  <a:t>Technique selection:</a:t>
                </a:r>
                <a:r>
                  <a:rPr lang="en-US" sz="1800" dirty="0"/>
                  <a:t> choose </a:t>
                </a:r>
                <a14:m>
                  <m:oMath xmlns:m="http://schemas.openxmlformats.org/officeDocument/2006/math">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𝑡</m:t>
                        </m:r>
                      </m:e>
                      <m:sub>
                        <m:r>
                          <a:rPr lang="en-US" altLang="zh-TW" sz="1800" i="1">
                            <a:latin typeface="Cambria Math" panose="02040503050406030204" pitchFamily="18" charset="0"/>
                          </a:rPr>
                          <m:t>𝑒</m:t>
                        </m:r>
                        <m:r>
                          <a:rPr lang="en-US" altLang="zh-TW" sz="1800" i="1">
                            <a:latin typeface="Cambria Math" panose="02040503050406030204" pitchFamily="18" charset="0"/>
                          </a:rPr>
                          <m:t>,</m:t>
                        </m:r>
                        <m:r>
                          <a:rPr lang="en-US" altLang="zh-TW" sz="1800" i="1">
                            <a:latin typeface="Cambria Math" panose="02040503050406030204" pitchFamily="18" charset="0"/>
                          </a:rPr>
                          <m:t>𝑗</m:t>
                        </m:r>
                      </m:sub>
                      <m:sup>
                        <m:r>
                          <a:rPr lang="en-US" altLang="zh-TW" sz="1800" i="1">
                            <a:latin typeface="Cambria Math" panose="02040503050406030204" pitchFamily="18" charset="0"/>
                          </a:rPr>
                          <m:t>𝑅</m:t>
                        </m:r>
                      </m:sup>
                    </m:sSubSup>
                  </m:oMath>
                </a14:m>
                <a:r>
                  <a:rPr lang="en-US" sz="1800" dirty="0"/>
                  <a:t> based on current tactic-matched set in </a:t>
                </a:r>
                <a:r>
                  <a:rPr lang="el-GR" sz="1800" dirty="0"/>
                  <a:t>​</a:t>
                </a:r>
                <a14:m>
                  <m:oMath xmlns:m="http://schemas.openxmlformats.org/officeDocument/2006/math">
                    <m:sSubSup>
                      <m:sSubSupPr>
                        <m:ctrlPr>
                          <a:rPr lang="en-US" sz="1800" i="1" dirty="0" smtClean="0">
                            <a:solidFill>
                              <a:srgbClr val="836967"/>
                            </a:solidFill>
                            <a:latin typeface="Cambria Math" panose="02040503050406030204" pitchFamily="18" charset="0"/>
                          </a:rPr>
                        </m:ctrlPr>
                      </m:sSubSupPr>
                      <m:e>
                        <m:r>
                          <a:rPr lang="en-US" sz="1800" i="1" dirty="0">
                            <a:latin typeface="Cambria Math" panose="02040503050406030204" pitchFamily="18" charset="0"/>
                          </a:rPr>
                          <m:t>𝑘</m:t>
                        </m:r>
                      </m:e>
                      <m:sub>
                        <m:r>
                          <a:rPr lang="en-US" sz="1800" i="1" dirty="0">
                            <a:latin typeface="Cambria Math" panose="02040503050406030204" pitchFamily="18" charset="0"/>
                          </a:rPr>
                          <m:t>𝑒</m:t>
                        </m:r>
                      </m:sub>
                      <m:sup>
                        <m:r>
                          <a:rPr lang="en-US" sz="1800" i="1" dirty="0">
                            <a:latin typeface="Cambria Math" panose="02040503050406030204" pitchFamily="18" charset="0"/>
                          </a:rPr>
                          <m:t>𝑅</m:t>
                        </m:r>
                      </m:sup>
                    </m:sSubSup>
                  </m:oMath>
                </a14:m>
                <a:r>
                  <a:rPr lang="el-GR" sz="1800" dirty="0"/>
                  <a:t>. </a:t>
                </a:r>
              </a:p>
              <a:p>
                <a:pPr lvl="1"/>
                <a:r>
                  <a:rPr lang="en-US" sz="1800" b="1" dirty="0"/>
                  <a:t>Validation:</a:t>
                </a:r>
                <a:r>
                  <a:rPr lang="en-US" sz="1800" dirty="0"/>
                  <a:t> check valid(</a:t>
                </a:r>
                <a14:m>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𝑡</m:t>
                        </m:r>
                      </m:e>
                      <m:sub>
                        <m:r>
                          <a:rPr lang="en-US" altLang="zh-TW" sz="1800" b="0" i="1" smtClean="0">
                            <a:latin typeface="Cambria Math" panose="02040503050406030204" pitchFamily="18" charset="0"/>
                          </a:rPr>
                          <m:t>𝑒</m:t>
                        </m:r>
                        <m:r>
                          <a:rPr lang="en-US" altLang="zh-TW" sz="1800" b="0" i="1" smtClean="0">
                            <a:latin typeface="Cambria Math" panose="02040503050406030204" pitchFamily="18" charset="0"/>
                          </a:rPr>
                          <m:t>,</m:t>
                        </m:r>
                        <m:r>
                          <a:rPr lang="en-US" altLang="zh-TW" sz="1800" i="1">
                            <a:latin typeface="Cambria Math" panose="02040503050406030204" pitchFamily="18" charset="0"/>
                          </a:rPr>
                          <m:t>𝑗</m:t>
                        </m:r>
                      </m:sub>
                      <m:sup>
                        <m:r>
                          <a:rPr lang="en-US" altLang="zh-TW" sz="1800" i="1">
                            <a:latin typeface="Cambria Math" panose="02040503050406030204" pitchFamily="18" charset="0"/>
                          </a:rPr>
                          <m:t>𝑅</m:t>
                        </m:r>
                      </m:sup>
                    </m:sSubSup>
                  </m:oMath>
                </a14:m>
                <a:r>
                  <a:rPr lang="en-US" sz="1800" dirty="0"/>
                  <a:t>,</a:t>
                </a:r>
                <a14:m>
                  <m:oMath xmlns:m="http://schemas.openxmlformats.org/officeDocument/2006/math">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𝑂</m:t>
                        </m:r>
                      </m:e>
                      <m:sub>
                        <m:r>
                          <a:rPr lang="en-US" altLang="zh-TW" sz="1800" i="1">
                            <a:latin typeface="Cambria Math" panose="02040503050406030204" pitchFamily="18" charset="0"/>
                          </a:rPr>
                          <m:t>𝑟</m:t>
                        </m:r>
                        <m:r>
                          <a:rPr lang="en-US" altLang="zh-TW" sz="1800" i="1">
                            <a:latin typeface="Cambria Math" panose="02040503050406030204" pitchFamily="18" charset="0"/>
                          </a:rPr>
                          <m:t>,</m:t>
                        </m:r>
                        <m:r>
                          <a:rPr lang="en-US" altLang="zh-TW" sz="1800" i="1">
                            <a:latin typeface="Cambria Math" panose="02040503050406030204" pitchFamily="18" charset="0"/>
                          </a:rPr>
                          <m:t>𝑗</m:t>
                        </m:r>
                      </m:sub>
                      <m:sup>
                        <m:r>
                          <a:rPr lang="en-US" altLang="zh-TW" sz="1800" i="1">
                            <a:latin typeface="Cambria Math" panose="02040503050406030204" pitchFamily="18" charset="0"/>
                          </a:rPr>
                          <m:t>𝑅</m:t>
                        </m:r>
                      </m:sup>
                    </m:sSubSup>
                  </m:oMath>
                </a14:m>
                <a:r>
                  <a:rPr lang="en-US" sz="1800" dirty="0"/>
                  <a:t>) = 1 before execution. </a:t>
                </a:r>
              </a:p>
              <a:p>
                <a:pPr lvl="1"/>
                <a:r>
                  <a:rPr lang="en-US" sz="1800" b="1" dirty="0"/>
                  <a:t>Parameter resolving:</a:t>
                </a:r>
                <a:r>
                  <a:rPr lang="en-US" sz="1800" dirty="0"/>
                  <a:t> ​assign </a:t>
                </a:r>
                <a14:m>
                  <m:oMath xmlns:m="http://schemas.openxmlformats.org/officeDocument/2006/math">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𝑥</m:t>
                        </m:r>
                      </m:e>
                      <m:sub>
                        <m:r>
                          <a:rPr lang="en-US" altLang="zh-TW" sz="1800" i="1">
                            <a:latin typeface="Cambria Math" panose="02040503050406030204" pitchFamily="18" charset="0"/>
                          </a:rPr>
                          <m:t>𝑒</m:t>
                        </m:r>
                        <m:r>
                          <a:rPr lang="en-US" altLang="zh-TW" sz="1800" i="1">
                            <a:latin typeface="Cambria Math" panose="02040503050406030204" pitchFamily="18" charset="0"/>
                          </a:rPr>
                          <m:t>,</m:t>
                        </m:r>
                        <m:r>
                          <a:rPr lang="en-US" altLang="zh-TW" sz="1800" i="1">
                            <a:latin typeface="Cambria Math" panose="02040503050406030204" pitchFamily="18" charset="0"/>
                          </a:rPr>
                          <m:t>𝑗</m:t>
                        </m:r>
                      </m:sub>
                      <m:sup>
                        <m:r>
                          <a:rPr lang="en-US" altLang="zh-TW" sz="1800" i="1">
                            <a:latin typeface="Cambria Math" panose="02040503050406030204" pitchFamily="18" charset="0"/>
                          </a:rPr>
                          <m:t>𝑅</m:t>
                        </m:r>
                      </m:sup>
                    </m:sSubSup>
                  </m:oMath>
                </a14:m>
                <a:r>
                  <a:rPr lang="en-US" sz="1800" dirty="0"/>
                  <a:t> and form </a:t>
                </a:r>
                <a14:m>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𝑎</m:t>
                        </m:r>
                      </m:e>
                      <m:sub>
                        <m:r>
                          <a:rPr lang="en-US" altLang="zh-TW" sz="1600" b="0" i="1" smtClean="0">
                            <a:latin typeface="Cambria Math" panose="02040503050406030204" pitchFamily="18" charset="0"/>
                          </a:rPr>
                          <m:t>𝑒</m:t>
                        </m:r>
                        <m:r>
                          <a:rPr lang="en-US" altLang="zh-TW" sz="1600" b="0" i="1" smtClean="0">
                            <a:latin typeface="Cambria Math" panose="02040503050406030204" pitchFamily="18" charset="0"/>
                          </a:rPr>
                          <m:t>,</m:t>
                        </m:r>
                        <m:r>
                          <a:rPr lang="en-US" altLang="zh-TW" sz="1600" i="1">
                            <a:latin typeface="Cambria Math" panose="02040503050406030204" pitchFamily="18" charset="0"/>
                          </a:rPr>
                          <m:t>𝑗</m:t>
                        </m:r>
                      </m:sub>
                      <m:sup>
                        <m:r>
                          <a:rPr lang="en-US" altLang="zh-TW" sz="1600" i="1">
                            <a:latin typeface="Cambria Math" panose="02040503050406030204" pitchFamily="18" charset="0"/>
                          </a:rPr>
                          <m:t>𝑅</m:t>
                        </m:r>
                      </m:sup>
                    </m:sSubSup>
                    <m:r>
                      <a:rPr lang="en-US" altLang="zh-TW" sz="1600" b="0" i="1" smtClean="0">
                        <a:latin typeface="Cambria Math" panose="02040503050406030204" pitchFamily="18" charset="0"/>
                      </a:rPr>
                      <m:t>=</m:t>
                    </m:r>
                    <m:r>
                      <a:rPr lang="en-US" sz="1600" b="0" i="1" smtClean="0">
                        <a:latin typeface="Cambria Math" panose="02040503050406030204" pitchFamily="18" charset="0"/>
                      </a:rPr>
                      <m:t>(</m:t>
                    </m:r>
                    <m:sSubSup>
                      <m:sSubSupPr>
                        <m:ctrlPr>
                          <a:rPr lang="en-US" altLang="zh-TW" sz="1600" i="1">
                            <a:latin typeface="Cambria Math" panose="02040503050406030204" pitchFamily="18" charset="0"/>
                          </a:rPr>
                        </m:ctrlPr>
                      </m:sSubSupPr>
                      <m:e>
                        <m:r>
                          <a:rPr lang="en-US" altLang="zh-TW" sz="1600" b="0" i="1" smtClean="0">
                            <a:latin typeface="Cambria Math" panose="02040503050406030204" pitchFamily="18" charset="0"/>
                          </a:rPr>
                          <m:t>𝑡</m:t>
                        </m:r>
                      </m:e>
                      <m:sub>
                        <m:r>
                          <a:rPr lang="en-US" altLang="zh-TW" sz="1600" b="0" i="1" smtClean="0">
                            <a:latin typeface="Cambria Math" panose="02040503050406030204" pitchFamily="18" charset="0"/>
                          </a:rPr>
                          <m:t>𝑒</m:t>
                        </m:r>
                        <m:r>
                          <a:rPr lang="en-US" altLang="zh-TW" sz="1600" b="0" i="1" smtClean="0">
                            <a:latin typeface="Cambria Math" panose="02040503050406030204" pitchFamily="18" charset="0"/>
                          </a:rPr>
                          <m:t>,</m:t>
                        </m:r>
                        <m:r>
                          <a:rPr lang="en-US" altLang="zh-TW" sz="1600" i="1">
                            <a:latin typeface="Cambria Math" panose="02040503050406030204" pitchFamily="18" charset="0"/>
                          </a:rPr>
                          <m:t>𝑗</m:t>
                        </m:r>
                      </m:sub>
                      <m:sup>
                        <m:r>
                          <a:rPr lang="en-US" altLang="zh-TW" sz="1600" i="1">
                            <a:latin typeface="Cambria Math" panose="02040503050406030204" pitchFamily="18" charset="0"/>
                          </a:rPr>
                          <m:t>𝑅</m:t>
                        </m:r>
                      </m:sup>
                    </m:sSubSup>
                    <m:r>
                      <a:rPr lang="en-US" altLang="zh-TW" sz="1600" b="0" i="1" smtClean="0">
                        <a:latin typeface="Cambria Math" panose="02040503050406030204" pitchFamily="18" charset="0"/>
                      </a:rPr>
                      <m:t>,</m:t>
                    </m:r>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𝑥</m:t>
                        </m:r>
                      </m:e>
                      <m:sub>
                        <m:r>
                          <a:rPr lang="en-US" altLang="zh-TW" sz="1600" b="0" i="1" smtClean="0">
                            <a:latin typeface="Cambria Math" panose="02040503050406030204" pitchFamily="18" charset="0"/>
                          </a:rPr>
                          <m:t>𝑒</m:t>
                        </m:r>
                        <m:r>
                          <a:rPr lang="en-US" altLang="zh-TW" sz="1600" b="0" i="1" smtClean="0">
                            <a:latin typeface="Cambria Math" panose="02040503050406030204" pitchFamily="18" charset="0"/>
                          </a:rPr>
                          <m:t>,</m:t>
                        </m:r>
                        <m:r>
                          <a:rPr lang="en-US" altLang="zh-TW" sz="1600" i="1">
                            <a:latin typeface="Cambria Math" panose="02040503050406030204" pitchFamily="18" charset="0"/>
                          </a:rPr>
                          <m:t>𝑗</m:t>
                        </m:r>
                      </m:sub>
                      <m:sup>
                        <m:r>
                          <a:rPr lang="en-US" altLang="zh-TW" sz="1600" i="1">
                            <a:latin typeface="Cambria Math" panose="02040503050406030204" pitchFamily="18" charset="0"/>
                          </a:rPr>
                          <m:t>𝑅</m:t>
                        </m:r>
                      </m:sup>
                    </m:sSubSup>
                    <m:r>
                      <a:rPr lang="en-US" altLang="zh-TW" sz="1600" b="0" i="1" smtClean="0">
                        <a:latin typeface="Cambria Math" panose="02040503050406030204" pitchFamily="18" charset="0"/>
                      </a:rPr>
                      <m:t>)</m:t>
                    </m:r>
                  </m:oMath>
                </a14:m>
                <a:endParaRPr lang="en-US" sz="1800" dirty="0"/>
              </a:p>
              <a:p>
                <a:pPr>
                  <a:buSzPct val="100000"/>
                </a:pPr>
                <a:r>
                  <a:rPr lang="en-US" altLang="zh-TW" sz="1800" dirty="0">
                    <a:latin typeface="Times New Roman" panose="02020603050405020304" pitchFamily="18" charset="0"/>
                    <a:ea typeface="微軟正黑體" panose="020B0604030504040204" pitchFamily="34" charset="-120"/>
                    <a:cs typeface="Times New Roman" panose="02020603050405020304" pitchFamily="18" charset="0"/>
                  </a:rPr>
                  <a:t>Goal: </a:t>
                </a:r>
                <a:r>
                  <a:rPr lang="en-US" sz="1600" dirty="0">
                    <a:ea typeface="微軟正黑體" panose="020B0604030504040204" pitchFamily="34" charset="-120"/>
                  </a:rPr>
                  <a:t>Progress through kill chain → Maximize kill chain completion and success rate.</a:t>
                </a:r>
                <a:endParaRPr lang="en-US" altLang="zh-TW" sz="1600" dirty="0">
                  <a:ea typeface="微軟正黑體" panose="020B0604030504040204" pitchFamily="34" charset="-120"/>
                </a:endParaRPr>
              </a:p>
            </p:txBody>
          </p:sp>
        </mc:Choice>
        <mc:Fallback>
          <p:sp>
            <p:nvSpPr>
              <p:cNvPr id="8" name="Content Placeholder 7">
                <a:extLst>
                  <a:ext uri="{FF2B5EF4-FFF2-40B4-BE49-F238E27FC236}">
                    <a16:creationId xmlns:a16="http://schemas.microsoft.com/office/drawing/2014/main" id="{7C3DA3FE-4253-FE1B-EE00-F11A7DFB6363}"/>
                  </a:ext>
                </a:extLst>
              </p:cNvPr>
              <p:cNvSpPr>
                <a:spLocks noGrp="1" noRot="1" noChangeAspect="1" noMove="1" noResize="1" noEditPoints="1" noAdjustHandles="1" noChangeArrowheads="1" noChangeShapeType="1" noTextEdit="1"/>
              </p:cNvSpPr>
              <p:nvPr>
                <p:ph idx="1"/>
              </p:nvPr>
            </p:nvSpPr>
            <p:spPr>
              <a:xfrm>
                <a:off x="719667" y="1190157"/>
                <a:ext cx="10515600" cy="4851400"/>
              </a:xfrm>
              <a:blipFill>
                <a:blip r:embed="rId3"/>
                <a:stretch>
                  <a:fillRect l="-522" t="-1256"/>
                </a:stretch>
              </a:blipFill>
            </p:spPr>
            <p:txBody>
              <a:bodyPr/>
              <a:lstStyle/>
              <a:p>
                <a:r>
                  <a:rPr lang="en-US">
                    <a:noFill/>
                  </a:rPr>
                  <a:t> </a:t>
                </a:r>
              </a:p>
            </p:txBody>
          </p:sp>
        </mc:Fallback>
      </mc:AlternateContent>
      <p:sp>
        <p:nvSpPr>
          <p:cNvPr id="6" name="Slide Number Placeholder 3">
            <a:extLst>
              <a:ext uri="{FF2B5EF4-FFF2-40B4-BE49-F238E27FC236}">
                <a16:creationId xmlns:a16="http://schemas.microsoft.com/office/drawing/2014/main" id="{D1B703BF-4F54-342A-1B57-EEC663C3DF6F}"/>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18</a:t>
            </a:fld>
            <a:endParaRPr lang="en-US" dirty="0"/>
          </a:p>
        </p:txBody>
      </p:sp>
      <p:grpSp>
        <p:nvGrpSpPr>
          <p:cNvPr id="4" name="Group 3">
            <a:extLst>
              <a:ext uri="{FF2B5EF4-FFF2-40B4-BE49-F238E27FC236}">
                <a16:creationId xmlns:a16="http://schemas.microsoft.com/office/drawing/2014/main" id="{A9C756E7-B0EF-4B4B-AED9-36A49B0D028D}"/>
              </a:ext>
            </a:extLst>
          </p:cNvPr>
          <p:cNvGrpSpPr/>
          <p:nvPr/>
        </p:nvGrpSpPr>
        <p:grpSpPr>
          <a:xfrm>
            <a:off x="2457348" y="3004513"/>
            <a:ext cx="7040238" cy="3548686"/>
            <a:chOff x="2506133" y="3237436"/>
            <a:chExt cx="7040238" cy="3548686"/>
          </a:xfrm>
        </p:grpSpPr>
        <p:sp>
          <p:nvSpPr>
            <p:cNvPr id="28" name="內容版面配置區 2">
              <a:extLst>
                <a:ext uri="{FF2B5EF4-FFF2-40B4-BE49-F238E27FC236}">
                  <a16:creationId xmlns:a16="http://schemas.microsoft.com/office/drawing/2014/main" id="{03CDED9D-C297-830D-B3D5-581A388FD34B}"/>
                </a:ext>
              </a:extLst>
            </p:cNvPr>
            <p:cNvSpPr txBox="1">
              <a:spLocks/>
            </p:cNvSpPr>
            <p:nvPr/>
          </p:nvSpPr>
          <p:spPr>
            <a:xfrm>
              <a:off x="3931360" y="3319239"/>
              <a:ext cx="4317838" cy="2199701"/>
            </a:xfrm>
            <a:prstGeom prst="rect">
              <a:avLst/>
            </a:prstGeom>
            <a:solidFill>
              <a:schemeClr val="bg1"/>
            </a:solidFill>
            <a:ln w="19050" cap="flat" cmpd="sng" algn="ctr">
              <a:solidFill>
                <a:schemeClr val="tx1"/>
              </a:solidFill>
              <a:prstDash val="solid"/>
              <a:miter lim="800000"/>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buNone/>
              </a:pPr>
              <a:endParaRPr lang="en-US" altLang="zh-TW" sz="2000" u="sng" dirty="0">
                <a:latin typeface="Times New Roman" panose="02020603050405020304" pitchFamily="18" charset="0"/>
                <a:ea typeface="微軟正黑體" panose="020B0604030504040204" pitchFamily="34" charset="-120"/>
                <a:cs typeface="Times New Roman" panose="02020603050405020304" pitchFamily="18" charset="0"/>
              </a:endParaRPr>
            </a:p>
          </p:txBody>
        </p:sp>
        <p:sp>
          <p:nvSpPr>
            <p:cNvPr id="67" name="Rectangle: Rounded Corners 66">
              <a:extLst>
                <a:ext uri="{FF2B5EF4-FFF2-40B4-BE49-F238E27FC236}">
                  <a16:creationId xmlns:a16="http://schemas.microsoft.com/office/drawing/2014/main" id="{924DEDE2-F922-4CC5-8765-6F6354E9C720}"/>
                </a:ext>
              </a:extLst>
            </p:cNvPr>
            <p:cNvSpPr/>
            <p:nvPr/>
          </p:nvSpPr>
          <p:spPr>
            <a:xfrm>
              <a:off x="4055925" y="3701381"/>
              <a:ext cx="3956362" cy="104736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 name="文字方塊 27">
              <a:extLst>
                <a:ext uri="{FF2B5EF4-FFF2-40B4-BE49-F238E27FC236}">
                  <a16:creationId xmlns:a16="http://schemas.microsoft.com/office/drawing/2014/main" id="{AC9C8891-86AE-2A21-1056-A041A85CA4BA}"/>
                </a:ext>
              </a:extLst>
            </p:cNvPr>
            <p:cNvSpPr txBox="1"/>
            <p:nvPr/>
          </p:nvSpPr>
          <p:spPr>
            <a:xfrm>
              <a:off x="4739747" y="3237436"/>
              <a:ext cx="2634171" cy="461665"/>
            </a:xfrm>
            <a:prstGeom prst="rect">
              <a:avLst/>
            </a:prstGeom>
            <a:noFill/>
          </p:spPr>
          <p:txBody>
            <a:bodyPr wrap="square" rtlCol="0">
              <a:spAutoFit/>
            </a:bodyPr>
            <a:lstStyle/>
            <a:p>
              <a:r>
                <a:rPr lang="en-US" altLang="zh-TW" sz="2400" b="1" dirty="0"/>
                <a:t> Red Team Agent </a:t>
              </a:r>
              <a:endParaRPr lang="en-US" altLang="zh-TW" sz="2200" b="1" i="1" dirty="0">
                <a:highlight>
                  <a:srgbClr val="C0C0C0"/>
                </a:highlight>
                <a:latin typeface="Times New Roman" panose="02020603050405020304" pitchFamily="18" charset="0"/>
                <a:ea typeface="微軟正黑體" panose="020B0604030504040204" pitchFamily="34" charset="-120"/>
                <a:cs typeface="Times New Roman" panose="02020603050405020304" pitchFamily="18" charset="0"/>
              </a:endParaRPr>
            </a:p>
          </p:txBody>
        </p:sp>
        <p:cxnSp>
          <p:nvCxnSpPr>
            <p:cNvPr id="31" name="直線接點 29">
              <a:extLst>
                <a:ext uri="{FF2B5EF4-FFF2-40B4-BE49-F238E27FC236}">
                  <a16:creationId xmlns:a16="http://schemas.microsoft.com/office/drawing/2014/main" id="{6FF16D05-A2A9-39C2-0CE2-29A1E20C9D83}"/>
                </a:ext>
              </a:extLst>
            </p:cNvPr>
            <p:cNvCxnSpPr>
              <a:cxnSpLocks/>
              <a:endCxn id="30" idx="3"/>
            </p:cNvCxnSpPr>
            <p:nvPr/>
          </p:nvCxnSpPr>
          <p:spPr>
            <a:xfrm flipH="1" flipV="1">
              <a:off x="7907868" y="4390506"/>
              <a:ext cx="1159362" cy="221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線接點 30">
              <a:extLst>
                <a:ext uri="{FF2B5EF4-FFF2-40B4-BE49-F238E27FC236}">
                  <a16:creationId xmlns:a16="http://schemas.microsoft.com/office/drawing/2014/main" id="{7EFBA4D4-D1A9-481A-D296-710B132FCE7A}"/>
                </a:ext>
              </a:extLst>
            </p:cNvPr>
            <p:cNvCxnSpPr>
              <a:cxnSpLocks/>
            </p:cNvCxnSpPr>
            <p:nvPr/>
          </p:nvCxnSpPr>
          <p:spPr>
            <a:xfrm>
              <a:off x="9067229" y="4398197"/>
              <a:ext cx="25103" cy="18608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3" name="文字方塊 31">
                  <a:extLst>
                    <a:ext uri="{FF2B5EF4-FFF2-40B4-BE49-F238E27FC236}">
                      <a16:creationId xmlns:a16="http://schemas.microsoft.com/office/drawing/2014/main" id="{03590D67-A270-1052-C354-3C02C9A72BEB}"/>
                    </a:ext>
                  </a:extLst>
                </p:cNvPr>
                <p:cNvSpPr txBox="1"/>
                <p:nvPr/>
              </p:nvSpPr>
              <p:spPr>
                <a:xfrm>
                  <a:off x="8012286" y="5870624"/>
                  <a:ext cx="1534085" cy="379912"/>
                </a:xfrm>
                <a:prstGeom prst="rect">
                  <a:avLst/>
                </a:prstGeom>
                <a:noFill/>
              </p:spPr>
              <p:txBody>
                <a:bodyPr wrap="square" rtlCol="0">
                  <a:spAutoFit/>
                </a:bodyPr>
                <a:lstStyle/>
                <a:p>
                  <a:r>
                    <a:rPr lang="en-US" altLang="zh-TW" sz="1600" dirty="0"/>
                    <a:t>Action</a:t>
                  </a:r>
                  <a14:m>
                    <m:oMath xmlns:m="http://schemas.openxmlformats.org/officeDocument/2006/math">
                      <m:sSubSup>
                        <m:sSubSupPr>
                          <m:ctrlPr>
                            <a:rPr lang="en-US" altLang="zh-TW" sz="1600" i="1">
                              <a:latin typeface="Cambria Math" panose="02040503050406030204" pitchFamily="18" charset="0"/>
                            </a:rPr>
                          </m:ctrlPr>
                        </m:sSubSupPr>
                        <m:e>
                          <m:r>
                            <a:rPr lang="en-US" altLang="zh-TW" sz="1600" b="0" i="1" smtClean="0">
                              <a:latin typeface="Cambria Math" panose="02040503050406030204" pitchFamily="18" charset="0"/>
                            </a:rPr>
                            <m:t> </m:t>
                          </m:r>
                          <m:r>
                            <a:rPr lang="en-US" altLang="zh-TW" sz="1600" i="1">
                              <a:latin typeface="Cambria Math" panose="02040503050406030204" pitchFamily="18" charset="0"/>
                            </a:rPr>
                            <m:t>𝑎</m:t>
                          </m:r>
                        </m:e>
                        <m:sub>
                          <m:r>
                            <a:rPr lang="en-US" altLang="zh-TW" sz="1600" b="0" i="1" smtClean="0">
                              <a:latin typeface="Cambria Math" panose="02040503050406030204" pitchFamily="18" charset="0"/>
                            </a:rPr>
                            <m:t>𝑒</m:t>
                          </m:r>
                          <m:r>
                            <a:rPr lang="en-US" altLang="zh-TW" sz="1600" b="0" i="1" smtClean="0">
                              <a:latin typeface="Cambria Math" panose="02040503050406030204" pitchFamily="18" charset="0"/>
                            </a:rPr>
                            <m:t>,</m:t>
                          </m:r>
                          <m:r>
                            <a:rPr lang="en-US" altLang="zh-TW" sz="1600" i="1">
                              <a:latin typeface="Cambria Math" panose="02040503050406030204" pitchFamily="18" charset="0"/>
                            </a:rPr>
                            <m:t>𝑗</m:t>
                          </m:r>
                        </m:sub>
                        <m:sup>
                          <m:r>
                            <a:rPr lang="en-US" altLang="zh-TW" sz="1600" i="1">
                              <a:latin typeface="Cambria Math" panose="02040503050406030204" pitchFamily="18" charset="0"/>
                            </a:rPr>
                            <m:t>𝑅</m:t>
                          </m:r>
                        </m:sup>
                      </m:sSubSup>
                    </m:oMath>
                  </a14:m>
                  <a:endParaRPr lang="en-US" altLang="zh-TW" sz="1600" dirty="0"/>
                </a:p>
              </p:txBody>
            </p:sp>
          </mc:Choice>
          <mc:Fallback>
            <p:sp>
              <p:nvSpPr>
                <p:cNvPr id="33" name="文字方塊 31">
                  <a:extLst>
                    <a:ext uri="{FF2B5EF4-FFF2-40B4-BE49-F238E27FC236}">
                      <a16:creationId xmlns:a16="http://schemas.microsoft.com/office/drawing/2014/main" id="{03590D67-A270-1052-C354-3C02C9A72BEB}"/>
                    </a:ext>
                  </a:extLst>
                </p:cNvPr>
                <p:cNvSpPr txBox="1">
                  <a:spLocks noRot="1" noChangeAspect="1" noMove="1" noResize="1" noEditPoints="1" noAdjustHandles="1" noChangeArrowheads="1" noChangeShapeType="1" noTextEdit="1"/>
                </p:cNvSpPr>
                <p:nvPr/>
              </p:nvSpPr>
              <p:spPr>
                <a:xfrm>
                  <a:off x="8012286" y="5870624"/>
                  <a:ext cx="1534085" cy="379912"/>
                </a:xfrm>
                <a:prstGeom prst="rect">
                  <a:avLst/>
                </a:prstGeom>
                <a:blipFill>
                  <a:blip r:embed="rId4"/>
                  <a:stretch>
                    <a:fillRect l="-1984" t="-1613" b="-12903"/>
                  </a:stretch>
                </a:blipFill>
              </p:spPr>
              <p:txBody>
                <a:bodyPr/>
                <a:lstStyle/>
                <a:p>
                  <a:r>
                    <a:rPr lang="en-US">
                      <a:noFill/>
                    </a:rPr>
                    <a:t> </a:t>
                  </a:r>
                </a:p>
              </p:txBody>
            </p:sp>
          </mc:Fallback>
        </mc:AlternateContent>
        <p:sp>
          <p:nvSpPr>
            <p:cNvPr id="34" name="矩形 32">
              <a:extLst>
                <a:ext uri="{FF2B5EF4-FFF2-40B4-BE49-F238E27FC236}">
                  <a16:creationId xmlns:a16="http://schemas.microsoft.com/office/drawing/2014/main" id="{977400F1-745C-4AD7-7370-6F63E0B20248}"/>
                </a:ext>
              </a:extLst>
            </p:cNvPr>
            <p:cNvSpPr/>
            <p:nvPr/>
          </p:nvSpPr>
          <p:spPr>
            <a:xfrm>
              <a:off x="4986371" y="5895162"/>
              <a:ext cx="3016672" cy="71187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2000" dirty="0">
                <a:solidFill>
                  <a:schemeClr val="tx1"/>
                </a:solidFill>
              </a:endParaRPr>
            </a:p>
          </p:txBody>
        </p:sp>
        <p:cxnSp>
          <p:nvCxnSpPr>
            <p:cNvPr id="35" name="直線單箭頭接點 33">
              <a:extLst>
                <a:ext uri="{FF2B5EF4-FFF2-40B4-BE49-F238E27FC236}">
                  <a16:creationId xmlns:a16="http://schemas.microsoft.com/office/drawing/2014/main" id="{D6E2FE8B-0B48-3E5E-128B-7C0613854724}"/>
                </a:ext>
              </a:extLst>
            </p:cNvPr>
            <p:cNvCxnSpPr/>
            <p:nvPr/>
          </p:nvCxnSpPr>
          <p:spPr>
            <a:xfrm flipH="1">
              <a:off x="3399307" y="6125022"/>
              <a:ext cx="15870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6" name="文字方塊 34">
                  <a:extLst>
                    <a:ext uri="{FF2B5EF4-FFF2-40B4-BE49-F238E27FC236}">
                      <a16:creationId xmlns:a16="http://schemas.microsoft.com/office/drawing/2014/main" id="{D3E353B4-56DA-39B6-3ED3-509BDB51C684}"/>
                    </a:ext>
                  </a:extLst>
                </p:cNvPr>
                <p:cNvSpPr txBox="1"/>
                <p:nvPr/>
              </p:nvSpPr>
              <p:spPr>
                <a:xfrm>
                  <a:off x="3887224" y="5699690"/>
                  <a:ext cx="862497" cy="3799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i="1">
                                <a:latin typeface="Cambria Math" panose="02040503050406030204" pitchFamily="18" charset="0"/>
                              </a:rPr>
                              <m:t>𝑃</m:t>
                            </m:r>
                          </m:e>
                          <m:sub>
                            <m:r>
                              <a:rPr lang="en-US" altLang="zh-TW" sz="1600" b="0" i="1" smtClean="0">
                                <a:latin typeface="Cambria Math" panose="02040503050406030204" pitchFamily="18" charset="0"/>
                              </a:rPr>
                              <m:t>𝑒</m:t>
                            </m:r>
                            <m:r>
                              <a:rPr lang="en-US" altLang="zh-TW" sz="1600" b="0" i="1" smtClean="0">
                                <a:latin typeface="Cambria Math" panose="02040503050406030204" pitchFamily="18" charset="0"/>
                              </a:rPr>
                              <m:t>,</m:t>
                            </m:r>
                            <m:r>
                              <a:rPr lang="en-US" altLang="zh-TW" sz="1600" i="1">
                                <a:latin typeface="Cambria Math" panose="02040503050406030204" pitchFamily="18" charset="0"/>
                              </a:rPr>
                              <m:t>𝑗</m:t>
                            </m:r>
                            <m:r>
                              <a:rPr lang="en-US" altLang="zh-TW" sz="1600" b="0" i="1" smtClean="0">
                                <a:latin typeface="Cambria Math" panose="02040503050406030204" pitchFamily="18" charset="0"/>
                              </a:rPr>
                              <m:t>+1</m:t>
                            </m:r>
                          </m:sub>
                          <m:sup>
                            <m:r>
                              <a:rPr lang="en-US" altLang="zh-TW" sz="1600" i="1">
                                <a:latin typeface="Cambria Math" panose="02040503050406030204" pitchFamily="18" charset="0"/>
                              </a:rPr>
                              <m:t>𝑅</m:t>
                            </m:r>
                          </m:sup>
                        </m:sSubSup>
                      </m:oMath>
                    </m:oMathPara>
                  </a14:m>
                  <a:endParaRPr lang="en-US" altLang="zh-TW" sz="2000" dirty="0"/>
                </a:p>
              </p:txBody>
            </p:sp>
          </mc:Choice>
          <mc:Fallback>
            <p:sp>
              <p:nvSpPr>
                <p:cNvPr id="36" name="文字方塊 34">
                  <a:extLst>
                    <a:ext uri="{FF2B5EF4-FFF2-40B4-BE49-F238E27FC236}">
                      <a16:creationId xmlns:a16="http://schemas.microsoft.com/office/drawing/2014/main" id="{D3E353B4-56DA-39B6-3ED3-509BDB51C684}"/>
                    </a:ext>
                  </a:extLst>
                </p:cNvPr>
                <p:cNvSpPr txBox="1">
                  <a:spLocks noRot="1" noChangeAspect="1" noMove="1" noResize="1" noEditPoints="1" noAdjustHandles="1" noChangeArrowheads="1" noChangeShapeType="1" noTextEdit="1"/>
                </p:cNvSpPr>
                <p:nvPr/>
              </p:nvSpPr>
              <p:spPr>
                <a:xfrm>
                  <a:off x="3887224" y="5699690"/>
                  <a:ext cx="862497" cy="379912"/>
                </a:xfrm>
                <a:prstGeom prst="rect">
                  <a:avLst/>
                </a:prstGeom>
                <a:blipFill>
                  <a:blip r:embed="rId5"/>
                  <a:stretch>
                    <a:fillRect b="-8065"/>
                  </a:stretch>
                </a:blipFill>
              </p:spPr>
              <p:txBody>
                <a:bodyPr/>
                <a:lstStyle/>
                <a:p>
                  <a:r>
                    <a:rPr lang="en-US">
                      <a:noFill/>
                    </a:rPr>
                    <a:t> </a:t>
                  </a:r>
                </a:p>
              </p:txBody>
            </p:sp>
          </mc:Fallback>
        </mc:AlternateContent>
        <p:sp>
          <p:nvSpPr>
            <p:cNvPr id="37" name="文字方塊 35">
              <a:extLst>
                <a:ext uri="{FF2B5EF4-FFF2-40B4-BE49-F238E27FC236}">
                  <a16:creationId xmlns:a16="http://schemas.microsoft.com/office/drawing/2014/main" id="{0392AE30-3778-A644-A8B0-B15D1577A03E}"/>
                </a:ext>
              </a:extLst>
            </p:cNvPr>
            <p:cNvSpPr txBox="1"/>
            <p:nvPr/>
          </p:nvSpPr>
          <p:spPr>
            <a:xfrm>
              <a:off x="5510221" y="5985339"/>
              <a:ext cx="2029325" cy="461665"/>
            </a:xfrm>
            <a:prstGeom prst="rect">
              <a:avLst/>
            </a:prstGeom>
            <a:noFill/>
          </p:spPr>
          <p:txBody>
            <a:bodyPr wrap="square" rtlCol="0">
              <a:spAutoFit/>
            </a:bodyPr>
            <a:lstStyle/>
            <a:p>
              <a:r>
                <a:rPr lang="en-US" altLang="zh-TW" sz="2400" dirty="0"/>
                <a:t>Cyber Range</a:t>
              </a:r>
              <a:endParaRPr lang="zh-TW" altLang="en-US" sz="2400" dirty="0"/>
            </a:p>
          </p:txBody>
        </p:sp>
        <p:cxnSp>
          <p:nvCxnSpPr>
            <p:cNvPr id="38" name="直線單箭頭接點 36">
              <a:extLst>
                <a:ext uri="{FF2B5EF4-FFF2-40B4-BE49-F238E27FC236}">
                  <a16:creationId xmlns:a16="http://schemas.microsoft.com/office/drawing/2014/main" id="{A6D96991-D21E-CF77-20D3-D332B47EDB7C}"/>
                </a:ext>
              </a:extLst>
            </p:cNvPr>
            <p:cNvCxnSpPr/>
            <p:nvPr/>
          </p:nvCxnSpPr>
          <p:spPr>
            <a:xfrm flipH="1">
              <a:off x="3390064" y="6417779"/>
              <a:ext cx="15870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9" name="文字方塊 37">
                  <a:extLst>
                    <a:ext uri="{FF2B5EF4-FFF2-40B4-BE49-F238E27FC236}">
                      <a16:creationId xmlns:a16="http://schemas.microsoft.com/office/drawing/2014/main" id="{20D8AF00-BCC3-7424-9999-D91EDFD7AD0D}"/>
                    </a:ext>
                  </a:extLst>
                </p:cNvPr>
                <p:cNvSpPr txBox="1"/>
                <p:nvPr/>
              </p:nvSpPr>
              <p:spPr>
                <a:xfrm>
                  <a:off x="3913914" y="6406210"/>
                  <a:ext cx="666347" cy="3799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𝑂</m:t>
                            </m:r>
                          </m:e>
                          <m:sub>
                            <m:r>
                              <a:rPr lang="en-US" altLang="zh-TW" sz="1600" b="0" i="1" smtClean="0">
                                <a:latin typeface="Cambria Math" panose="02040503050406030204" pitchFamily="18" charset="0"/>
                              </a:rPr>
                              <m:t>𝑒</m:t>
                            </m:r>
                            <m:r>
                              <a:rPr lang="en-US" altLang="zh-TW" sz="1600" b="0" i="1" smtClean="0">
                                <a:latin typeface="Cambria Math" panose="02040503050406030204" pitchFamily="18" charset="0"/>
                              </a:rPr>
                              <m:t>,</m:t>
                            </m:r>
                            <m:r>
                              <a:rPr lang="en-US" altLang="zh-TW" sz="1600" i="1">
                                <a:latin typeface="Cambria Math" panose="02040503050406030204" pitchFamily="18" charset="0"/>
                              </a:rPr>
                              <m:t>𝑗</m:t>
                            </m:r>
                            <m:r>
                              <a:rPr lang="en-US" altLang="zh-TW" sz="1600" b="0" i="1" smtClean="0">
                                <a:latin typeface="Cambria Math" panose="02040503050406030204" pitchFamily="18" charset="0"/>
                              </a:rPr>
                              <m:t>+1</m:t>
                            </m:r>
                          </m:sub>
                          <m:sup>
                            <m:r>
                              <a:rPr lang="en-US" altLang="zh-TW" sz="1600" i="1">
                                <a:latin typeface="Cambria Math" panose="02040503050406030204" pitchFamily="18" charset="0"/>
                              </a:rPr>
                              <m:t>𝑅</m:t>
                            </m:r>
                          </m:sup>
                        </m:sSubSup>
                      </m:oMath>
                    </m:oMathPara>
                  </a14:m>
                  <a:endParaRPr lang="en-US" altLang="zh-TW" sz="2000" dirty="0"/>
                </a:p>
              </p:txBody>
            </p:sp>
          </mc:Choice>
          <mc:Fallback>
            <p:sp>
              <p:nvSpPr>
                <p:cNvPr id="39" name="文字方塊 37">
                  <a:extLst>
                    <a:ext uri="{FF2B5EF4-FFF2-40B4-BE49-F238E27FC236}">
                      <a16:creationId xmlns:a16="http://schemas.microsoft.com/office/drawing/2014/main" id="{20D8AF00-BCC3-7424-9999-D91EDFD7AD0D}"/>
                    </a:ext>
                  </a:extLst>
                </p:cNvPr>
                <p:cNvSpPr txBox="1">
                  <a:spLocks noRot="1" noChangeAspect="1" noMove="1" noResize="1" noEditPoints="1" noAdjustHandles="1" noChangeArrowheads="1" noChangeShapeType="1" noTextEdit="1"/>
                </p:cNvSpPr>
                <p:nvPr/>
              </p:nvSpPr>
              <p:spPr>
                <a:xfrm>
                  <a:off x="3913914" y="6406210"/>
                  <a:ext cx="666347" cy="379912"/>
                </a:xfrm>
                <a:prstGeom prst="rect">
                  <a:avLst/>
                </a:prstGeom>
                <a:blipFill>
                  <a:blip r:embed="rId6"/>
                  <a:stretch>
                    <a:fillRect b="-8065"/>
                  </a:stretch>
                </a:blipFill>
              </p:spPr>
              <p:txBody>
                <a:bodyPr/>
                <a:lstStyle/>
                <a:p>
                  <a:r>
                    <a:rPr lang="en-US">
                      <a:noFill/>
                    </a:rPr>
                    <a:t> </a:t>
                  </a:r>
                </a:p>
              </p:txBody>
            </p:sp>
          </mc:Fallback>
        </mc:AlternateContent>
        <p:cxnSp>
          <p:nvCxnSpPr>
            <p:cNvPr id="40" name="直線接點 38">
              <a:extLst>
                <a:ext uri="{FF2B5EF4-FFF2-40B4-BE49-F238E27FC236}">
                  <a16:creationId xmlns:a16="http://schemas.microsoft.com/office/drawing/2014/main" id="{A0969CB2-8500-426A-C31F-E71AFD9C75FA}"/>
                </a:ext>
              </a:extLst>
            </p:cNvPr>
            <p:cNvCxnSpPr>
              <a:cxnSpLocks/>
            </p:cNvCxnSpPr>
            <p:nvPr/>
          </p:nvCxnSpPr>
          <p:spPr>
            <a:xfrm flipH="1" flipV="1">
              <a:off x="2913848" y="6125022"/>
              <a:ext cx="497820" cy="42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1" name="文字方塊 39">
                  <a:extLst>
                    <a:ext uri="{FF2B5EF4-FFF2-40B4-BE49-F238E27FC236}">
                      <a16:creationId xmlns:a16="http://schemas.microsoft.com/office/drawing/2014/main" id="{11D1F68C-C5BE-5DF6-E722-9B940F2349CD}"/>
                    </a:ext>
                  </a:extLst>
                </p:cNvPr>
                <p:cNvSpPr txBox="1"/>
                <p:nvPr/>
              </p:nvSpPr>
              <p:spPr>
                <a:xfrm>
                  <a:off x="2846589" y="5104930"/>
                  <a:ext cx="903889" cy="626133"/>
                </a:xfrm>
                <a:prstGeom prst="rect">
                  <a:avLst/>
                </a:prstGeom>
                <a:noFill/>
              </p:spPr>
              <p:txBody>
                <a:bodyPr wrap="square" rtlCol="0">
                  <a:spAutoFit/>
                </a:bodyPr>
                <a:lstStyle/>
                <a:p>
                  <a:pPr algn="ctr"/>
                  <a:r>
                    <a:rPr lang="en-US" altLang="zh-TW" sz="1600" dirty="0"/>
                    <a:t>reward</a:t>
                  </a:r>
                </a:p>
                <a:p>
                  <a:pPr algn="ctr"/>
                  <a14:m>
                    <m:oMathPara xmlns:m="http://schemas.openxmlformats.org/officeDocument/2006/math">
                      <m:oMathParaPr>
                        <m:jc m:val="centerGroup"/>
                      </m:oMathParaPr>
                      <m:oMath xmlns:m="http://schemas.openxmlformats.org/officeDocument/2006/math">
                        <m:sSubSup>
                          <m:sSubSupPr>
                            <m:ctrlPr>
                              <a:rPr lang="en-US" altLang="zh-TW" sz="1600" i="1">
                                <a:latin typeface="Cambria Math" panose="02040503050406030204" pitchFamily="18" charset="0"/>
                              </a:rPr>
                            </m:ctrlPr>
                          </m:sSubSupPr>
                          <m:e>
                            <m:r>
                              <a:rPr lang="en-US" altLang="zh-TW" sz="1600" i="1">
                                <a:latin typeface="Cambria Math" panose="02040503050406030204" pitchFamily="18" charset="0"/>
                              </a:rPr>
                              <m:t>𝑃</m:t>
                            </m:r>
                          </m:e>
                          <m:sub>
                            <m:r>
                              <a:rPr lang="en-US" altLang="zh-TW" sz="1600" b="0" i="1" smtClean="0">
                                <a:latin typeface="Cambria Math" panose="02040503050406030204" pitchFamily="18" charset="0"/>
                              </a:rPr>
                              <m:t>𝑒</m:t>
                            </m:r>
                            <m:r>
                              <a:rPr lang="en-US" altLang="zh-TW" sz="1600" b="0" i="1" smtClean="0">
                                <a:latin typeface="Cambria Math" panose="02040503050406030204" pitchFamily="18" charset="0"/>
                              </a:rPr>
                              <m:t>,</m:t>
                            </m:r>
                            <m:r>
                              <a:rPr lang="en-US" altLang="zh-TW" sz="1600" i="1">
                                <a:latin typeface="Cambria Math" panose="02040503050406030204" pitchFamily="18" charset="0"/>
                              </a:rPr>
                              <m:t>𝑗</m:t>
                            </m:r>
                          </m:sub>
                          <m:sup>
                            <m:r>
                              <a:rPr lang="en-US" altLang="zh-TW" sz="1600" i="1">
                                <a:latin typeface="Cambria Math" panose="02040503050406030204" pitchFamily="18" charset="0"/>
                              </a:rPr>
                              <m:t>𝑅</m:t>
                            </m:r>
                          </m:sup>
                        </m:sSubSup>
                      </m:oMath>
                    </m:oMathPara>
                  </a14:m>
                  <a:endParaRPr lang="en-US" altLang="zh-TW" sz="1600" dirty="0"/>
                </a:p>
              </p:txBody>
            </p:sp>
          </mc:Choice>
          <mc:Fallback>
            <p:sp>
              <p:nvSpPr>
                <p:cNvPr id="41" name="文字方塊 39">
                  <a:extLst>
                    <a:ext uri="{FF2B5EF4-FFF2-40B4-BE49-F238E27FC236}">
                      <a16:creationId xmlns:a16="http://schemas.microsoft.com/office/drawing/2014/main" id="{11D1F68C-C5BE-5DF6-E722-9B940F2349CD}"/>
                    </a:ext>
                  </a:extLst>
                </p:cNvPr>
                <p:cNvSpPr txBox="1">
                  <a:spLocks noRot="1" noChangeAspect="1" noMove="1" noResize="1" noEditPoints="1" noAdjustHandles="1" noChangeArrowheads="1" noChangeShapeType="1" noTextEdit="1"/>
                </p:cNvSpPr>
                <p:nvPr/>
              </p:nvSpPr>
              <p:spPr>
                <a:xfrm>
                  <a:off x="2846589" y="5104930"/>
                  <a:ext cx="903889" cy="626133"/>
                </a:xfrm>
                <a:prstGeom prst="rect">
                  <a:avLst/>
                </a:prstGeom>
                <a:blipFill>
                  <a:blip r:embed="rId7"/>
                  <a:stretch>
                    <a:fillRect t="-2913" b="-3883"/>
                  </a:stretch>
                </a:blipFill>
              </p:spPr>
              <p:txBody>
                <a:bodyPr/>
                <a:lstStyle/>
                <a:p>
                  <a:r>
                    <a:rPr lang="en-US">
                      <a:noFill/>
                    </a:rPr>
                    <a:t> </a:t>
                  </a:r>
                </a:p>
              </p:txBody>
            </p:sp>
          </mc:Fallback>
        </mc:AlternateContent>
        <p:cxnSp>
          <p:nvCxnSpPr>
            <p:cNvPr id="42" name="直線接點 40">
              <a:extLst>
                <a:ext uri="{FF2B5EF4-FFF2-40B4-BE49-F238E27FC236}">
                  <a16:creationId xmlns:a16="http://schemas.microsoft.com/office/drawing/2014/main" id="{0476BBD7-1BE4-CFBB-A272-9BB4AC541859}"/>
                </a:ext>
              </a:extLst>
            </p:cNvPr>
            <p:cNvCxnSpPr>
              <a:cxnSpLocks/>
            </p:cNvCxnSpPr>
            <p:nvPr/>
          </p:nvCxnSpPr>
          <p:spPr>
            <a:xfrm flipH="1" flipV="1">
              <a:off x="2919743" y="4696520"/>
              <a:ext cx="1" cy="14197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單箭頭接點 41">
              <a:extLst>
                <a:ext uri="{FF2B5EF4-FFF2-40B4-BE49-F238E27FC236}">
                  <a16:creationId xmlns:a16="http://schemas.microsoft.com/office/drawing/2014/main" id="{8AADD4AB-9E9C-2A41-72A6-5E87098EC26E}"/>
                </a:ext>
              </a:extLst>
            </p:cNvPr>
            <p:cNvCxnSpPr>
              <a:cxnSpLocks/>
            </p:cNvCxnSpPr>
            <p:nvPr/>
          </p:nvCxnSpPr>
          <p:spPr>
            <a:xfrm>
              <a:off x="2913848" y="4689188"/>
              <a:ext cx="101784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id="{9D820630-368D-CD4A-F985-4FD9F28FE6E2}"/>
                </a:ext>
              </a:extLst>
            </p:cNvPr>
            <p:cNvCxnSpPr>
              <a:cxnSpLocks/>
            </p:cNvCxnSpPr>
            <p:nvPr/>
          </p:nvCxnSpPr>
          <p:spPr>
            <a:xfrm flipH="1" flipV="1">
              <a:off x="2506133" y="6406210"/>
              <a:ext cx="916636" cy="115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15B57701-0E47-9F50-32A1-5627D7D02B69}"/>
                </a:ext>
              </a:extLst>
            </p:cNvPr>
            <p:cNvCxnSpPr>
              <a:cxnSpLocks/>
            </p:cNvCxnSpPr>
            <p:nvPr/>
          </p:nvCxnSpPr>
          <p:spPr>
            <a:xfrm flipV="1">
              <a:off x="2506133" y="4385661"/>
              <a:ext cx="0" cy="20205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單箭頭接點 45">
              <a:extLst>
                <a:ext uri="{FF2B5EF4-FFF2-40B4-BE49-F238E27FC236}">
                  <a16:creationId xmlns:a16="http://schemas.microsoft.com/office/drawing/2014/main" id="{1A45EF70-D2EB-3522-82FC-231C3302C9C8}"/>
                </a:ext>
              </a:extLst>
            </p:cNvPr>
            <p:cNvCxnSpPr>
              <a:cxnSpLocks/>
            </p:cNvCxnSpPr>
            <p:nvPr/>
          </p:nvCxnSpPr>
          <p:spPr>
            <a:xfrm>
              <a:off x="2506133" y="4385661"/>
              <a:ext cx="165226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7" name="文字方塊 46">
                  <a:extLst>
                    <a:ext uri="{FF2B5EF4-FFF2-40B4-BE49-F238E27FC236}">
                      <a16:creationId xmlns:a16="http://schemas.microsoft.com/office/drawing/2014/main" id="{B14A5E09-F3B1-937F-3FC5-B1CFA28F90EE}"/>
                    </a:ext>
                  </a:extLst>
                </p:cNvPr>
                <p:cNvSpPr txBox="1"/>
                <p:nvPr/>
              </p:nvSpPr>
              <p:spPr>
                <a:xfrm>
                  <a:off x="2588143" y="3647262"/>
                  <a:ext cx="806958" cy="687689"/>
                </a:xfrm>
                <a:prstGeom prst="rect">
                  <a:avLst/>
                </a:prstGeom>
                <a:noFill/>
              </p:spPr>
              <p:txBody>
                <a:bodyPr wrap="square" rtlCol="0">
                  <a:spAutoFit/>
                </a:bodyPr>
                <a:lstStyle/>
                <a:p>
                  <a:pPr algn="ctr"/>
                  <a:endParaRPr lang="en-US" altLang="zh-TW" sz="2000" dirty="0"/>
                </a:p>
                <a:p>
                  <a:pPr algn="ctr"/>
                  <a14:m>
                    <m:oMathPara xmlns:m="http://schemas.openxmlformats.org/officeDocument/2006/math">
                      <m:oMathParaPr>
                        <m:jc m:val="centerGroup"/>
                      </m:oMathParaPr>
                      <m:oMath xmlns:m="http://schemas.openxmlformats.org/officeDocument/2006/math">
                        <m:sSubSup>
                          <m:sSubSupPr>
                            <m:ctrlPr>
                              <a:rPr lang="en-US" altLang="zh-TW" sz="1600" i="1">
                                <a:latin typeface="Cambria Math" panose="02040503050406030204" pitchFamily="18" charset="0"/>
                              </a:rPr>
                            </m:ctrlPr>
                          </m:sSubSupPr>
                          <m:e>
                            <m:d>
                              <m:dPr>
                                <m:ctrlPr>
                                  <a:rPr lang="en-US" altLang="zh-TW" sz="1600" b="0" i="1" smtClean="0">
                                    <a:latin typeface="Cambria Math" panose="02040503050406030204" pitchFamily="18" charset="0"/>
                                  </a:rPr>
                                </m:ctrlPr>
                              </m:dPr>
                              <m:e>
                                <m:r>
                                  <a:rPr lang="en-US" altLang="zh-TW" sz="1600" b="0" i="1" smtClean="0">
                                    <a:latin typeface="Cambria Math" panose="02040503050406030204" pitchFamily="18" charset="0"/>
                                  </a:rPr>
                                  <m:t>1</m:t>
                                </m:r>
                              </m:e>
                            </m:d>
                            <m:r>
                              <a:rPr lang="en-US" altLang="zh-TW" sz="1600" b="0" i="1" smtClean="0">
                                <a:latin typeface="Cambria Math" panose="02040503050406030204" pitchFamily="18" charset="0"/>
                              </a:rPr>
                              <m:t> </m:t>
                            </m:r>
                            <m:r>
                              <a:rPr lang="en-US" altLang="zh-TW" sz="1600" b="0" i="1" smtClean="0">
                                <a:latin typeface="Cambria Math" panose="02040503050406030204" pitchFamily="18" charset="0"/>
                              </a:rPr>
                              <m:t>𝑂</m:t>
                            </m:r>
                          </m:e>
                          <m:sub>
                            <m:r>
                              <a:rPr lang="en-US" altLang="zh-TW" sz="1600" b="0" i="1" smtClean="0">
                                <a:latin typeface="Cambria Math" panose="02040503050406030204" pitchFamily="18" charset="0"/>
                              </a:rPr>
                              <m:t>𝑒</m:t>
                            </m:r>
                            <m:r>
                              <a:rPr lang="en-US" altLang="zh-TW" sz="1600" b="0" i="1" smtClean="0">
                                <a:latin typeface="Cambria Math" panose="02040503050406030204" pitchFamily="18" charset="0"/>
                              </a:rPr>
                              <m:t>,</m:t>
                            </m:r>
                            <m:r>
                              <a:rPr lang="en-US" altLang="zh-TW" sz="1600" i="1">
                                <a:latin typeface="Cambria Math" panose="02040503050406030204" pitchFamily="18" charset="0"/>
                              </a:rPr>
                              <m:t>𝑗</m:t>
                            </m:r>
                          </m:sub>
                          <m:sup>
                            <m:r>
                              <a:rPr lang="en-US" altLang="zh-TW" sz="1600" i="1">
                                <a:latin typeface="Cambria Math" panose="02040503050406030204" pitchFamily="18" charset="0"/>
                              </a:rPr>
                              <m:t>𝑅</m:t>
                            </m:r>
                          </m:sup>
                        </m:sSubSup>
                      </m:oMath>
                    </m:oMathPara>
                  </a14:m>
                  <a:endParaRPr lang="en-US" altLang="zh-TW" sz="2000" dirty="0"/>
                </a:p>
              </p:txBody>
            </p:sp>
          </mc:Choice>
          <mc:Fallback>
            <p:sp>
              <p:nvSpPr>
                <p:cNvPr id="47" name="文字方塊 46">
                  <a:extLst>
                    <a:ext uri="{FF2B5EF4-FFF2-40B4-BE49-F238E27FC236}">
                      <a16:creationId xmlns:a16="http://schemas.microsoft.com/office/drawing/2014/main" id="{B14A5E09-F3B1-937F-3FC5-B1CFA28F90EE}"/>
                    </a:ext>
                  </a:extLst>
                </p:cNvPr>
                <p:cNvSpPr txBox="1">
                  <a:spLocks noRot="1" noChangeAspect="1" noMove="1" noResize="1" noEditPoints="1" noAdjustHandles="1" noChangeArrowheads="1" noChangeShapeType="1" noTextEdit="1"/>
                </p:cNvSpPr>
                <p:nvPr/>
              </p:nvSpPr>
              <p:spPr>
                <a:xfrm>
                  <a:off x="2588143" y="3647262"/>
                  <a:ext cx="806958" cy="687689"/>
                </a:xfrm>
                <a:prstGeom prst="rect">
                  <a:avLst/>
                </a:prstGeom>
                <a:blipFill>
                  <a:blip r:embed="rId8"/>
                  <a:stretch>
                    <a:fillRect b="-3540"/>
                  </a:stretch>
                </a:blipFill>
              </p:spPr>
              <p:txBody>
                <a:bodyPr/>
                <a:lstStyle/>
                <a:p>
                  <a:r>
                    <a:rPr lang="en-US">
                      <a:noFill/>
                    </a:rPr>
                    <a:t> </a:t>
                  </a:r>
                </a:p>
              </p:txBody>
            </p:sp>
          </mc:Fallback>
        </mc:AlternateContent>
        <p:cxnSp>
          <p:nvCxnSpPr>
            <p:cNvPr id="48" name="直線單箭頭接點 47">
              <a:extLst>
                <a:ext uri="{FF2B5EF4-FFF2-40B4-BE49-F238E27FC236}">
                  <a16:creationId xmlns:a16="http://schemas.microsoft.com/office/drawing/2014/main" id="{1EDA4B3C-050A-25F2-9AB8-ACF8A09D17B9}"/>
                </a:ext>
              </a:extLst>
            </p:cNvPr>
            <p:cNvCxnSpPr>
              <a:cxnSpLocks/>
            </p:cNvCxnSpPr>
            <p:nvPr/>
          </p:nvCxnSpPr>
          <p:spPr>
            <a:xfrm flipH="1" flipV="1">
              <a:off x="8003047" y="6251098"/>
              <a:ext cx="1089285" cy="1339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61EAF224-E384-42B2-806C-D58880A5671E}"/>
                </a:ext>
              </a:extLst>
            </p:cNvPr>
            <p:cNvSpPr/>
            <p:nvPr/>
          </p:nvSpPr>
          <p:spPr>
            <a:xfrm>
              <a:off x="4158393" y="4154829"/>
              <a:ext cx="1553817" cy="46166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Technique Selector</a:t>
              </a:r>
            </a:p>
            <a:p>
              <a:pPr algn="ctr"/>
              <a:r>
                <a:rPr lang="en-US" sz="1200" dirty="0">
                  <a:solidFill>
                    <a:schemeClr val="tx1"/>
                  </a:solidFill>
                </a:rPr>
                <a:t>(RL/DDQN) </a:t>
              </a:r>
            </a:p>
          </p:txBody>
        </p:sp>
        <p:sp>
          <p:nvSpPr>
            <p:cNvPr id="27" name="Rectangle: Rounded Corners 26">
              <a:extLst>
                <a:ext uri="{FF2B5EF4-FFF2-40B4-BE49-F238E27FC236}">
                  <a16:creationId xmlns:a16="http://schemas.microsoft.com/office/drawing/2014/main" id="{36948210-E8E5-4E71-9908-32C17EDA4147}"/>
                </a:ext>
              </a:extLst>
            </p:cNvPr>
            <p:cNvSpPr/>
            <p:nvPr/>
          </p:nvSpPr>
          <p:spPr>
            <a:xfrm>
              <a:off x="5464291" y="5003224"/>
              <a:ext cx="1130733" cy="461659"/>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Validator</a:t>
              </a:r>
            </a:p>
          </p:txBody>
        </p:sp>
        <p:sp>
          <p:nvSpPr>
            <p:cNvPr id="30" name="Rectangle: Rounded Corners 29">
              <a:extLst>
                <a:ext uri="{FF2B5EF4-FFF2-40B4-BE49-F238E27FC236}">
                  <a16:creationId xmlns:a16="http://schemas.microsoft.com/office/drawing/2014/main" id="{5A3D3E20-8251-4422-88FA-4663782A9B5F}"/>
                </a:ext>
              </a:extLst>
            </p:cNvPr>
            <p:cNvSpPr/>
            <p:nvPr/>
          </p:nvSpPr>
          <p:spPr>
            <a:xfrm>
              <a:off x="6499484" y="4159674"/>
              <a:ext cx="1408384" cy="46166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Parameter Selector</a:t>
              </a:r>
            </a:p>
            <a:p>
              <a:pPr algn="ctr"/>
              <a:r>
                <a:rPr lang="en-US" sz="1200" dirty="0">
                  <a:solidFill>
                    <a:schemeClr val="tx1"/>
                  </a:solidFill>
                </a:rPr>
                <a:t>(RL/DDQN)</a:t>
              </a:r>
            </a:p>
          </p:txBody>
        </p:sp>
        <p:sp>
          <p:nvSpPr>
            <p:cNvPr id="10" name="Flowchart: Magnetic Disk 9">
              <a:extLst>
                <a:ext uri="{FF2B5EF4-FFF2-40B4-BE49-F238E27FC236}">
                  <a16:creationId xmlns:a16="http://schemas.microsoft.com/office/drawing/2014/main" id="{CEDA0065-B70E-4976-A62A-8522F11A0E75}"/>
                </a:ext>
              </a:extLst>
            </p:cNvPr>
            <p:cNvSpPr/>
            <p:nvPr/>
          </p:nvSpPr>
          <p:spPr>
            <a:xfrm>
              <a:off x="7210918" y="4902603"/>
              <a:ext cx="961948" cy="536299"/>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900" dirty="0"/>
                <a:t>Technique Schema</a:t>
              </a:r>
            </a:p>
          </p:txBody>
        </p:sp>
        <p:cxnSp>
          <p:nvCxnSpPr>
            <p:cNvPr id="15" name="Straight Arrow Connector 14">
              <a:extLst>
                <a:ext uri="{FF2B5EF4-FFF2-40B4-BE49-F238E27FC236}">
                  <a16:creationId xmlns:a16="http://schemas.microsoft.com/office/drawing/2014/main" id="{9A49D18C-A1F0-4B5F-A7D7-19BDDAB760E9}"/>
                </a:ext>
              </a:extLst>
            </p:cNvPr>
            <p:cNvCxnSpPr>
              <a:cxnSpLocks/>
            </p:cNvCxnSpPr>
            <p:nvPr/>
          </p:nvCxnSpPr>
          <p:spPr>
            <a:xfrm>
              <a:off x="6595026" y="5194861"/>
              <a:ext cx="605402" cy="0"/>
            </a:xfrm>
            <a:prstGeom prst="straightConnector1">
              <a:avLst/>
            </a:prstGeom>
            <a:ln>
              <a:prstDash val="sysDot"/>
              <a:headEnd type="triangle" w="med" len="med"/>
              <a:tailEnd type="none" w="med" len="med"/>
            </a:ln>
          </p:spPr>
          <p:style>
            <a:lnRef idx="3">
              <a:schemeClr val="dk1"/>
            </a:lnRef>
            <a:fillRef idx="0">
              <a:schemeClr val="dk1"/>
            </a:fillRef>
            <a:effectRef idx="2">
              <a:schemeClr val="dk1"/>
            </a:effectRef>
            <a:fontRef idx="minor">
              <a:schemeClr val="tx1"/>
            </a:fontRef>
          </p:style>
        </p:cxnSp>
        <p:sp>
          <p:nvSpPr>
            <p:cNvPr id="52" name="Flowchart: Magnetic Disk 51">
              <a:extLst>
                <a:ext uri="{FF2B5EF4-FFF2-40B4-BE49-F238E27FC236}">
                  <a16:creationId xmlns:a16="http://schemas.microsoft.com/office/drawing/2014/main" id="{502BD77B-4EE4-4409-BB4E-C017F73400D2}"/>
                </a:ext>
              </a:extLst>
            </p:cNvPr>
            <p:cNvSpPr/>
            <p:nvPr/>
          </p:nvSpPr>
          <p:spPr>
            <a:xfrm>
              <a:off x="4455154" y="4919447"/>
              <a:ext cx="737851" cy="513944"/>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900" dirty="0"/>
                <a:t>Red Action Space</a:t>
              </a:r>
            </a:p>
          </p:txBody>
        </p:sp>
        <p:cxnSp>
          <p:nvCxnSpPr>
            <p:cNvPr id="53" name="Straight Arrow Connector 52">
              <a:extLst>
                <a:ext uri="{FF2B5EF4-FFF2-40B4-BE49-F238E27FC236}">
                  <a16:creationId xmlns:a16="http://schemas.microsoft.com/office/drawing/2014/main" id="{560E76CB-8B3F-449A-A776-9073B3C6D010}"/>
                </a:ext>
              </a:extLst>
            </p:cNvPr>
            <p:cNvCxnSpPr>
              <a:cxnSpLocks/>
            </p:cNvCxnSpPr>
            <p:nvPr/>
          </p:nvCxnSpPr>
          <p:spPr>
            <a:xfrm flipV="1">
              <a:off x="4807340" y="4616494"/>
              <a:ext cx="0" cy="290374"/>
            </a:xfrm>
            <a:prstGeom prst="straightConnector1">
              <a:avLst/>
            </a:prstGeom>
            <a:ln>
              <a:prstDash val="sysDot"/>
              <a:tailEnd type="triangle"/>
            </a:ln>
          </p:spPr>
          <p:style>
            <a:lnRef idx="3">
              <a:schemeClr val="dk1"/>
            </a:lnRef>
            <a:fillRef idx="0">
              <a:schemeClr val="dk1"/>
            </a:fillRef>
            <a:effectRef idx="2">
              <a:schemeClr val="dk1"/>
            </a:effectRef>
            <a:fontRef idx="minor">
              <a:schemeClr val="tx1"/>
            </a:fontRef>
          </p:style>
        </p:cxnSp>
        <p:cxnSp>
          <p:nvCxnSpPr>
            <p:cNvPr id="76" name="Straight Arrow Connector 75">
              <a:extLst>
                <a:ext uri="{FF2B5EF4-FFF2-40B4-BE49-F238E27FC236}">
                  <a16:creationId xmlns:a16="http://schemas.microsoft.com/office/drawing/2014/main" id="{116E48C1-C84E-4B64-8C5B-D706984EA652}"/>
                </a:ext>
              </a:extLst>
            </p:cNvPr>
            <p:cNvCxnSpPr/>
            <p:nvPr/>
          </p:nvCxnSpPr>
          <p:spPr>
            <a:xfrm>
              <a:off x="5510221" y="4616494"/>
              <a:ext cx="0" cy="3867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8" name="Connector: Elbow 77">
              <a:extLst>
                <a:ext uri="{FF2B5EF4-FFF2-40B4-BE49-F238E27FC236}">
                  <a16:creationId xmlns:a16="http://schemas.microsoft.com/office/drawing/2014/main" id="{9CE0AB0D-30C9-4663-8C86-AFE0C8CA1AE5}"/>
                </a:ext>
              </a:extLst>
            </p:cNvPr>
            <p:cNvCxnSpPr>
              <a:cxnSpLocks/>
              <a:endCxn id="3" idx="3"/>
            </p:cNvCxnSpPr>
            <p:nvPr/>
          </p:nvCxnSpPr>
          <p:spPr>
            <a:xfrm rot="16200000" flipV="1">
              <a:off x="5542038" y="4555834"/>
              <a:ext cx="607054" cy="26671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79" name="Connector: Elbow 78">
              <a:extLst>
                <a:ext uri="{FF2B5EF4-FFF2-40B4-BE49-F238E27FC236}">
                  <a16:creationId xmlns:a16="http://schemas.microsoft.com/office/drawing/2014/main" id="{B61763E4-8ED5-4182-B165-E4FEE9C0DBD0}"/>
                </a:ext>
              </a:extLst>
            </p:cNvPr>
            <p:cNvCxnSpPr>
              <a:cxnSpLocks/>
              <a:endCxn id="30" idx="1"/>
            </p:cNvCxnSpPr>
            <p:nvPr/>
          </p:nvCxnSpPr>
          <p:spPr>
            <a:xfrm rot="5400000" flipH="1" flipV="1">
              <a:off x="6057345" y="4552069"/>
              <a:ext cx="603702" cy="28057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96" name="文字方塊 27">
              <a:extLst>
                <a:ext uri="{FF2B5EF4-FFF2-40B4-BE49-F238E27FC236}">
                  <a16:creationId xmlns:a16="http://schemas.microsoft.com/office/drawing/2014/main" id="{BF928EAC-9272-4FD4-AD3A-850C85245F30}"/>
                </a:ext>
              </a:extLst>
            </p:cNvPr>
            <p:cNvSpPr txBox="1"/>
            <p:nvPr/>
          </p:nvSpPr>
          <p:spPr>
            <a:xfrm>
              <a:off x="5177621" y="3645823"/>
              <a:ext cx="2634171" cy="369332"/>
            </a:xfrm>
            <a:prstGeom prst="rect">
              <a:avLst/>
            </a:prstGeom>
            <a:noFill/>
          </p:spPr>
          <p:txBody>
            <a:bodyPr wrap="square" rtlCol="0">
              <a:spAutoFit/>
            </a:bodyPr>
            <a:lstStyle/>
            <a:p>
              <a:r>
                <a:rPr lang="en-US" altLang="zh-TW" b="1" dirty="0"/>
                <a:t>Action Selector</a:t>
              </a:r>
              <a:endParaRPr lang="en-US" altLang="zh-TW" b="1" i="1" dirty="0">
                <a:highlight>
                  <a:srgbClr val="C0C0C0"/>
                </a:highlight>
                <a:latin typeface="Times New Roman" panose="02020603050405020304" pitchFamily="18" charset="0"/>
                <a:ea typeface="微軟正黑體" panose="020B0604030504040204" pitchFamily="34" charset="-120"/>
                <a:cs typeface="Times New Roman" panose="02020603050405020304" pitchFamily="18" charset="0"/>
              </a:endParaRPr>
            </a:p>
          </p:txBody>
        </p:sp>
      </p:grpSp>
      <p:sp>
        <p:nvSpPr>
          <p:cNvPr id="49" name="TextBox 48">
            <a:extLst>
              <a:ext uri="{FF2B5EF4-FFF2-40B4-BE49-F238E27FC236}">
                <a16:creationId xmlns:a16="http://schemas.microsoft.com/office/drawing/2014/main" id="{C834AF84-32AF-4632-ABFA-B693EFC4CD02}"/>
              </a:ext>
            </a:extLst>
          </p:cNvPr>
          <p:cNvSpPr txBox="1"/>
          <p:nvPr/>
        </p:nvSpPr>
        <p:spPr>
          <a:xfrm>
            <a:off x="3475506" y="6527221"/>
            <a:ext cx="6772089" cy="338554"/>
          </a:xfrm>
          <a:prstGeom prst="rect">
            <a:avLst/>
          </a:prstGeom>
          <a:noFill/>
        </p:spPr>
        <p:txBody>
          <a:bodyPr wrap="square">
            <a:spAutoFit/>
          </a:bodyPr>
          <a:lstStyle/>
          <a:p>
            <a:r>
              <a:rPr lang="en-US" sz="1600" dirty="0"/>
              <a:t>Figure 7 : Red-team agent action-selection workflow</a:t>
            </a:r>
          </a:p>
        </p:txBody>
      </p:sp>
    </p:spTree>
    <p:extLst>
      <p:ext uri="{BB962C8B-B14F-4D97-AF65-F5344CB8AC3E}">
        <p14:creationId xmlns:p14="http://schemas.microsoft.com/office/powerpoint/2010/main" val="3527380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id="{42079826-DAA3-96BC-9856-625451C89A9C}"/>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19</a:t>
            </a:fld>
            <a:endParaRPr lang="en-US" dirty="0"/>
          </a:p>
        </p:txBody>
      </p:sp>
      <p:graphicFrame>
        <p:nvGraphicFramePr>
          <p:cNvPr id="5" name="Table 4">
            <a:extLst>
              <a:ext uri="{FF2B5EF4-FFF2-40B4-BE49-F238E27FC236}">
                <a16:creationId xmlns:a16="http://schemas.microsoft.com/office/drawing/2014/main" id="{77369641-001C-4AE9-8EE3-896AB73455B8}"/>
              </a:ext>
            </a:extLst>
          </p:cNvPr>
          <p:cNvGraphicFramePr>
            <a:graphicFrameLocks noGrp="1"/>
          </p:cNvGraphicFramePr>
          <p:nvPr>
            <p:extLst>
              <p:ext uri="{D42A27DB-BD31-4B8C-83A1-F6EECF244321}">
                <p14:modId xmlns:p14="http://schemas.microsoft.com/office/powerpoint/2010/main" val="4087262922"/>
              </p:ext>
            </p:extLst>
          </p:nvPr>
        </p:nvGraphicFramePr>
        <p:xfrm>
          <a:off x="242894" y="1010880"/>
          <a:ext cx="7449344" cy="5510520"/>
        </p:xfrm>
        <a:graphic>
          <a:graphicData uri="http://schemas.openxmlformats.org/drawingml/2006/table">
            <a:tbl>
              <a:tblPr/>
              <a:tblGrid>
                <a:gridCol w="3724672">
                  <a:extLst>
                    <a:ext uri="{9D8B030D-6E8A-4147-A177-3AD203B41FA5}">
                      <a16:colId xmlns:a16="http://schemas.microsoft.com/office/drawing/2014/main" val="209769674"/>
                    </a:ext>
                  </a:extLst>
                </a:gridCol>
                <a:gridCol w="3724672">
                  <a:extLst>
                    <a:ext uri="{9D8B030D-6E8A-4147-A177-3AD203B41FA5}">
                      <a16:colId xmlns:a16="http://schemas.microsoft.com/office/drawing/2014/main" val="3334275193"/>
                    </a:ext>
                  </a:extLst>
                </a:gridCol>
              </a:tblGrid>
              <a:tr h="264927">
                <a:tc>
                  <a:txBody>
                    <a:bodyPr/>
                    <a:lstStyle/>
                    <a:p>
                      <a:pPr algn="ctr"/>
                      <a:r>
                        <a:rPr lang="en-US" sz="1600" b="1" dirty="0"/>
                        <a:t>Event</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Reward</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8220644"/>
                  </a:ext>
                </a:extLst>
              </a:tr>
              <a:tr h="264927">
                <a:tc>
                  <a:txBody>
                    <a:bodyPr/>
                    <a:lstStyle/>
                    <a:p>
                      <a:r>
                        <a:rPr lang="en-US" sz="1400" dirty="0"/>
                        <a:t>Successful technique execution</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+5</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5693475"/>
                  </a:ext>
                </a:extLst>
              </a:tr>
              <a:tr h="264927">
                <a:tc>
                  <a:txBody>
                    <a:bodyPr/>
                    <a:lstStyle/>
                    <a:p>
                      <a:r>
                        <a:rPr lang="en-US" sz="1400"/>
                        <a:t>Failed technique execution</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−20</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8805625"/>
                  </a:ext>
                </a:extLst>
              </a:tr>
              <a:tr h="264927">
                <a:tc>
                  <a:txBody>
                    <a:bodyPr/>
                    <a:lstStyle/>
                    <a:p>
                      <a:r>
                        <a:rPr lang="en-US" sz="1400"/>
                        <a:t>Access gain</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+5 per level</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22707"/>
                  </a:ext>
                </a:extLst>
              </a:tr>
              <a:tr h="264927">
                <a:tc>
                  <a:txBody>
                    <a:bodyPr/>
                    <a:lstStyle/>
                    <a:p>
                      <a:r>
                        <a:rPr lang="en-US" sz="1400"/>
                        <a:t>Privilege gain</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+10 per level</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6636231"/>
                  </a:ext>
                </a:extLst>
              </a:tr>
              <a:tr h="264927">
                <a:tc>
                  <a:txBody>
                    <a:bodyPr/>
                    <a:lstStyle/>
                    <a:p>
                      <a:r>
                        <a:rPr lang="en-US" sz="1400" dirty="0"/>
                        <a:t>Credential harvesting</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+30 per credential</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7281045"/>
                  </a:ext>
                </a:extLst>
              </a:tr>
              <a:tr h="264927">
                <a:tc>
                  <a:txBody>
                    <a:bodyPr/>
                    <a:lstStyle/>
                    <a:p>
                      <a:r>
                        <a:rPr lang="en-US" sz="1400"/>
                        <a:t>Phase advancement</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+10 per phase</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7740272"/>
                  </a:ext>
                </a:extLst>
              </a:tr>
              <a:tr h="264927">
                <a:tc>
                  <a:txBody>
                    <a:bodyPr/>
                    <a:lstStyle/>
                    <a:p>
                      <a:r>
                        <a:rPr lang="en-US" sz="1400"/>
                        <a:t>First high-value host access</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+15</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5297821"/>
                  </a:ext>
                </a:extLst>
              </a:tr>
              <a:tr h="264927">
                <a:tc>
                  <a:txBody>
                    <a:bodyPr/>
                    <a:lstStyle/>
                    <a:p>
                      <a:r>
                        <a:rPr lang="en-US" sz="1400"/>
                        <a:t>Persistence established</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+80</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4546681"/>
                  </a:ext>
                </a:extLst>
              </a:tr>
              <a:tr h="264927">
                <a:tc>
                  <a:txBody>
                    <a:bodyPr/>
                    <a:lstStyle/>
                    <a:p>
                      <a:r>
                        <a:rPr lang="en-US" sz="1400"/>
                        <a:t>Vulnerability exploitation</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+4 per hit</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8735158"/>
                  </a:ext>
                </a:extLst>
              </a:tr>
              <a:tr h="264927">
                <a:tc>
                  <a:txBody>
                    <a:bodyPr/>
                    <a:lstStyle/>
                    <a:p>
                      <a:r>
                        <a:rPr lang="en-US" sz="1400"/>
                        <a:t>Low detectability</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+2</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713542"/>
                  </a:ext>
                </a:extLst>
              </a:tr>
              <a:tr h="264927">
                <a:tc>
                  <a:txBody>
                    <a:bodyPr/>
                    <a:lstStyle/>
                    <a:p>
                      <a:r>
                        <a:rPr lang="en-US" sz="1400"/>
                        <a:t>Medium detectability</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−5</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8048014"/>
                  </a:ext>
                </a:extLst>
              </a:tr>
              <a:tr h="264927">
                <a:tc>
                  <a:txBody>
                    <a:bodyPr/>
                    <a:lstStyle/>
                    <a:p>
                      <a:r>
                        <a:rPr lang="en-US" sz="1400"/>
                        <a:t>High detectability</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−10</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6179729"/>
                  </a:ext>
                </a:extLst>
              </a:tr>
              <a:tr h="264927">
                <a:tc>
                  <a:txBody>
                    <a:bodyPr/>
                    <a:lstStyle/>
                    <a:p>
                      <a:r>
                        <a:rPr lang="en-US" sz="1400"/>
                        <a:t>Detected by Blue-team agent</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−50</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9447035"/>
                  </a:ext>
                </a:extLst>
              </a:tr>
              <a:tr h="264927">
                <a:tc>
                  <a:txBody>
                    <a:bodyPr/>
                    <a:lstStyle/>
                    <a:p>
                      <a:r>
                        <a:rPr lang="en-US" sz="1400"/>
                        <a:t>Host blocked or isolated</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−100</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8586898"/>
                  </a:ext>
                </a:extLst>
              </a:tr>
              <a:tr h="264927">
                <a:tc>
                  <a:txBody>
                    <a:bodyPr/>
                    <a:lstStyle/>
                    <a:p>
                      <a:r>
                        <a:rPr lang="en-US" sz="1400"/>
                        <a:t>Step-success bonus</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+10j</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2837975"/>
                  </a:ext>
                </a:extLst>
              </a:tr>
              <a:tr h="264927">
                <a:tc>
                  <a:txBody>
                    <a:bodyPr/>
                    <a:lstStyle/>
                    <a:p>
                      <a:r>
                        <a:rPr lang="en-US" sz="1400"/>
                        <a:t>Hard-containment penalty</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−min(20 + 4j, 60)</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3216575"/>
                  </a:ext>
                </a:extLst>
              </a:tr>
              <a:tr h="264927">
                <a:tc>
                  <a:txBody>
                    <a:bodyPr/>
                    <a:lstStyle/>
                    <a:p>
                      <a:r>
                        <a:rPr lang="en-US" sz="1400"/>
                        <a:t>Red-team agent reaches goal host</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+1200</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8085264"/>
                  </a:ext>
                </a:extLst>
              </a:tr>
              <a:tr h="264927">
                <a:tc>
                  <a:txBody>
                    <a:bodyPr/>
                    <a:lstStyle/>
                    <a:p>
                      <a:r>
                        <a:rPr lang="en-US" sz="1400"/>
                        <a:t>Blue-team agent suppresses attack</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−min(40 + 5j, 140)</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2638827"/>
                  </a:ext>
                </a:extLst>
              </a:tr>
              <a:tr h="264927">
                <a:tc>
                  <a:txBody>
                    <a:bodyPr/>
                    <a:lstStyle/>
                    <a:p>
                      <a:r>
                        <a:rPr lang="en-US" sz="1400"/>
                        <a:t>Episode timeout</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−50</a:t>
                      </a:r>
                    </a:p>
                  </a:txBody>
                  <a:tcPr marL="60642" marR="60642" marT="30321" marB="303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4462886"/>
                  </a:ext>
                </a:extLst>
              </a:tr>
            </a:tbl>
          </a:graphicData>
        </a:graphic>
      </p:graphicFrame>
      <p:sp>
        <p:nvSpPr>
          <p:cNvPr id="10" name="Title 1">
            <a:extLst>
              <a:ext uri="{FF2B5EF4-FFF2-40B4-BE49-F238E27FC236}">
                <a16:creationId xmlns:a16="http://schemas.microsoft.com/office/drawing/2014/main" id="{0E48D3E3-8051-448F-AC75-871034820222}"/>
              </a:ext>
            </a:extLst>
          </p:cNvPr>
          <p:cNvSpPr>
            <a:spLocks noGrp="1"/>
          </p:cNvSpPr>
          <p:nvPr>
            <p:ph type="title"/>
          </p:nvPr>
        </p:nvSpPr>
        <p:spPr>
          <a:xfrm>
            <a:off x="0" y="-180495"/>
            <a:ext cx="10515600" cy="1325563"/>
          </a:xfrm>
        </p:spPr>
        <p:txBody>
          <a:bodyPr/>
          <a:lstStyle/>
          <a:p>
            <a:pPr algn="just"/>
            <a:r>
              <a:rPr lang="en-US" dirty="0">
                <a:latin typeface="Times New Roman" panose="02020603050405020304" pitchFamily="18" charset="0"/>
                <a:cs typeface="Times New Roman" panose="02020603050405020304" pitchFamily="18" charset="0"/>
              </a:rPr>
              <a:t>Red Team Agent </a:t>
            </a:r>
            <a:r>
              <a:rPr lang="en-US" dirty="0"/>
              <a:t>– Reward Design</a:t>
            </a:r>
            <a:endParaRPr lang="en-US"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E382A99F-9A94-42F0-BA74-52837235B9DE}"/>
              </a:ext>
            </a:extLst>
          </p:cNvPr>
          <p:cNvSpPr txBox="1"/>
          <p:nvPr/>
        </p:nvSpPr>
        <p:spPr>
          <a:xfrm>
            <a:off x="7935132" y="1145068"/>
            <a:ext cx="4192291" cy="427809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sz="2000" b="1" u="sng" dirty="0"/>
              <a:t>Reward Design Idea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sng"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t>Progress- weighted rewards (credential +30, persistence +80, goal +1200) → agent builds coherent kill-chain, not random technique spam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t>Stealth penalties (high detectability −10, detected −50, isolated −100) → agent learns evasion naturally without hardcoding it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t>Failure costly (−20 per fail) → forces valid technique selection over blind exploration </a:t>
            </a:r>
          </a:p>
        </p:txBody>
      </p:sp>
      <p:sp>
        <p:nvSpPr>
          <p:cNvPr id="11" name="TextBox 10">
            <a:extLst>
              <a:ext uri="{FF2B5EF4-FFF2-40B4-BE49-F238E27FC236}">
                <a16:creationId xmlns:a16="http://schemas.microsoft.com/office/drawing/2014/main" id="{3813D0E8-2384-4B31-9CE3-08AE75B1AB2E}"/>
              </a:ext>
            </a:extLst>
          </p:cNvPr>
          <p:cNvSpPr txBox="1"/>
          <p:nvPr/>
        </p:nvSpPr>
        <p:spPr>
          <a:xfrm>
            <a:off x="2161117" y="6519446"/>
            <a:ext cx="6193366" cy="338554"/>
          </a:xfrm>
          <a:prstGeom prst="rect">
            <a:avLst/>
          </a:prstGeom>
          <a:noFill/>
        </p:spPr>
        <p:txBody>
          <a:bodyPr wrap="square">
            <a:spAutoFit/>
          </a:bodyPr>
          <a:lstStyle/>
          <a:p>
            <a:r>
              <a:rPr lang="en-US" sz="1600" dirty="0"/>
              <a:t>Table 4 : Red-team Rewards </a:t>
            </a:r>
          </a:p>
        </p:txBody>
      </p:sp>
    </p:spTree>
    <p:extLst>
      <p:ext uri="{BB962C8B-B14F-4D97-AF65-F5344CB8AC3E}">
        <p14:creationId xmlns:p14="http://schemas.microsoft.com/office/powerpoint/2010/main" val="1453813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13ED3-8B47-F2C5-FE41-DFBD46E633C6}"/>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BCEDE839-49AE-BBB9-F32D-210F90F2BC42}"/>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20</a:t>
            </a:fld>
            <a:endParaRPr lang="en-US" dirty="0"/>
          </a:p>
        </p:txBody>
      </p:sp>
      <p:sp>
        <p:nvSpPr>
          <p:cNvPr id="5" name="Title 1">
            <a:extLst>
              <a:ext uri="{FF2B5EF4-FFF2-40B4-BE49-F238E27FC236}">
                <a16:creationId xmlns:a16="http://schemas.microsoft.com/office/drawing/2014/main" id="{B8C78DAF-EC12-D30D-F061-4F278E1137B7}"/>
              </a:ext>
            </a:extLst>
          </p:cNvPr>
          <p:cNvSpPr txBox="1">
            <a:spLocks/>
          </p:cNvSpPr>
          <p:nvPr/>
        </p:nvSpPr>
        <p:spPr>
          <a:xfrm>
            <a:off x="152399" y="-19473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mj-ea"/>
                <a:cs typeface="Times New Roman" panose="02020603050405020304" pitchFamily="18" charset="0"/>
              </a:defRPr>
            </a:lvl1pPr>
          </a:lstStyle>
          <a:p>
            <a:r>
              <a:rPr lang="en-US" dirty="0"/>
              <a:t>Blue Team Agent - Action Space </a:t>
            </a:r>
          </a:p>
        </p:txBody>
      </p:sp>
      <p:graphicFrame>
        <p:nvGraphicFramePr>
          <p:cNvPr id="2" name="Table 1">
            <a:extLst>
              <a:ext uri="{FF2B5EF4-FFF2-40B4-BE49-F238E27FC236}">
                <a16:creationId xmlns:a16="http://schemas.microsoft.com/office/drawing/2014/main" id="{E09246AE-6323-495C-8FD9-E3910F0698F9}"/>
              </a:ext>
            </a:extLst>
          </p:cNvPr>
          <p:cNvGraphicFramePr>
            <a:graphicFrameLocks noGrp="1"/>
          </p:cNvGraphicFramePr>
          <p:nvPr>
            <p:extLst>
              <p:ext uri="{D42A27DB-BD31-4B8C-83A1-F6EECF244321}">
                <p14:modId xmlns:p14="http://schemas.microsoft.com/office/powerpoint/2010/main" val="2321970553"/>
              </p:ext>
            </p:extLst>
          </p:nvPr>
        </p:nvGraphicFramePr>
        <p:xfrm>
          <a:off x="1291695" y="1429844"/>
          <a:ext cx="9608610" cy="4572580"/>
        </p:xfrm>
        <a:graphic>
          <a:graphicData uri="http://schemas.openxmlformats.org/drawingml/2006/table">
            <a:tbl>
              <a:tblPr/>
              <a:tblGrid>
                <a:gridCol w="2120372">
                  <a:extLst>
                    <a:ext uri="{9D8B030D-6E8A-4147-A177-3AD203B41FA5}">
                      <a16:colId xmlns:a16="http://schemas.microsoft.com/office/drawing/2014/main" val="3424087326"/>
                    </a:ext>
                  </a:extLst>
                </a:gridCol>
                <a:gridCol w="1295932">
                  <a:extLst>
                    <a:ext uri="{9D8B030D-6E8A-4147-A177-3AD203B41FA5}">
                      <a16:colId xmlns:a16="http://schemas.microsoft.com/office/drawing/2014/main" val="235717979"/>
                    </a:ext>
                  </a:extLst>
                </a:gridCol>
                <a:gridCol w="4816697">
                  <a:extLst>
                    <a:ext uri="{9D8B030D-6E8A-4147-A177-3AD203B41FA5}">
                      <a16:colId xmlns:a16="http://schemas.microsoft.com/office/drawing/2014/main" val="3859888797"/>
                    </a:ext>
                  </a:extLst>
                </a:gridCol>
                <a:gridCol w="1375609">
                  <a:extLst>
                    <a:ext uri="{9D8B030D-6E8A-4147-A177-3AD203B41FA5}">
                      <a16:colId xmlns:a16="http://schemas.microsoft.com/office/drawing/2014/main" val="25438176"/>
                    </a:ext>
                  </a:extLst>
                </a:gridCol>
              </a:tblGrid>
              <a:tr h="400170">
                <a:tc>
                  <a:txBody>
                    <a:bodyPr/>
                    <a:lstStyle/>
                    <a:p>
                      <a:pPr algn="ctr"/>
                      <a:r>
                        <a:rPr lang="en-US" b="1" dirty="0"/>
                        <a:t>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Level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7053901"/>
                  </a:ext>
                </a:extLst>
              </a:tr>
              <a:tr h="700297">
                <a:tc>
                  <a:txBody>
                    <a:bodyPr/>
                    <a:lstStyle/>
                    <a:p>
                      <a:r>
                        <a:rPr lang="en-US" b="1"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No response when evidence is insufficient.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2364659"/>
                  </a:ext>
                </a:extLst>
              </a:tr>
              <a:tr h="700297">
                <a:tc>
                  <a:txBody>
                    <a:bodyPr/>
                    <a:lstStyle/>
                    <a:p>
                      <a:r>
                        <a:rPr lang="en-US" b="1"/>
                        <a:t>investigate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Gather evidence without changing reachability.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543977"/>
                  </a:ext>
                </a:extLst>
              </a:tr>
              <a:tr h="400170">
                <a:tc>
                  <a:txBody>
                    <a:bodyPr/>
                    <a:lstStyle/>
                    <a:p>
                      <a:r>
                        <a:rPr lang="en-US" b="1"/>
                        <a:t>kill_process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Stop a suspicious process.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6803615"/>
                  </a:ext>
                </a:extLst>
              </a:tr>
              <a:tr h="400170">
                <a:tc>
                  <a:txBody>
                    <a:bodyPr/>
                    <a:lstStyle/>
                    <a:p>
                      <a:r>
                        <a:rPr lang="en-US" b="1" dirty="0" err="1"/>
                        <a:t>force_sign_out</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Terminate active sessions.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2003426"/>
                  </a:ext>
                </a:extLst>
              </a:tr>
              <a:tr h="570882">
                <a:tc>
                  <a:txBody>
                    <a:bodyPr/>
                    <a:lstStyle/>
                    <a:p>
                      <a:r>
                        <a:rPr lang="en-US" b="1" dirty="0" err="1"/>
                        <a:t>revoke_credentials</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Invalidate credentials used by 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314715"/>
                  </a:ext>
                </a:extLst>
              </a:tr>
              <a:tr h="700297">
                <a:tc>
                  <a:txBody>
                    <a:bodyPr/>
                    <a:lstStyle/>
                    <a:p>
                      <a:r>
                        <a:rPr lang="en-US" b="1"/>
                        <a:t>block_ip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Block communication from a host or address.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1842964"/>
                  </a:ext>
                </a:extLst>
              </a:tr>
              <a:tr h="700297">
                <a:tc>
                  <a:txBody>
                    <a:bodyPr/>
                    <a:lstStyle/>
                    <a:p>
                      <a:r>
                        <a:rPr lang="en-US" b="1" dirty="0" err="1"/>
                        <a:t>isolate_host</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Remove the host from reachable interaction.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8656212"/>
                  </a:ext>
                </a:extLst>
              </a:tr>
            </a:tbl>
          </a:graphicData>
        </a:graphic>
      </p:graphicFrame>
      <p:sp>
        <p:nvSpPr>
          <p:cNvPr id="7" name="TextBox 6">
            <a:extLst>
              <a:ext uri="{FF2B5EF4-FFF2-40B4-BE49-F238E27FC236}">
                <a16:creationId xmlns:a16="http://schemas.microsoft.com/office/drawing/2014/main" id="{1E9888EE-17C1-4600-ACA5-D560671EAA4E}"/>
              </a:ext>
            </a:extLst>
          </p:cNvPr>
          <p:cNvSpPr txBox="1"/>
          <p:nvPr/>
        </p:nvSpPr>
        <p:spPr>
          <a:xfrm>
            <a:off x="4592108" y="6032083"/>
            <a:ext cx="3007783" cy="338554"/>
          </a:xfrm>
          <a:prstGeom prst="rect">
            <a:avLst/>
          </a:prstGeom>
          <a:noFill/>
        </p:spPr>
        <p:txBody>
          <a:bodyPr wrap="square">
            <a:spAutoFit/>
          </a:bodyPr>
          <a:lstStyle/>
          <a:p>
            <a:r>
              <a:rPr lang="en-US" sz="1600" dirty="0"/>
              <a:t>Table 5 : Blue-team action space</a:t>
            </a:r>
          </a:p>
        </p:txBody>
      </p:sp>
    </p:spTree>
    <p:extLst>
      <p:ext uri="{BB962C8B-B14F-4D97-AF65-F5344CB8AC3E}">
        <p14:creationId xmlns:p14="http://schemas.microsoft.com/office/powerpoint/2010/main" val="6407768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1" y="-282137"/>
            <a:ext cx="11218333" cy="1325563"/>
          </a:xfrm>
        </p:spPr>
        <p:txBody>
          <a:bodyPr>
            <a:normAutofit/>
          </a:bodyPr>
          <a:lstStyle/>
          <a:p>
            <a:pPr algn="just"/>
            <a:r>
              <a:rPr lang="en-US" dirty="0">
                <a:latin typeface="Times New Roman" panose="02020603050405020304" pitchFamily="18" charset="0"/>
                <a:cs typeface="Times New Roman" panose="02020603050405020304" pitchFamily="18" charset="0"/>
              </a:rPr>
              <a:t>Blue Team Agent - Detection and Response</a:t>
            </a:r>
          </a:p>
        </p:txBody>
      </p:sp>
      <mc:AlternateContent xmlns:mc="http://schemas.openxmlformats.org/markup-compatibility/2006">
        <mc:Choice xmlns:a14="http://schemas.microsoft.com/office/drawing/2010/main" Requires="a14">
          <p:sp>
            <p:nvSpPr>
              <p:cNvPr id="8" name="Content Placeholder 7">
                <a:extLst>
                  <a:ext uri="{FF2B5EF4-FFF2-40B4-BE49-F238E27FC236}">
                    <a16:creationId xmlns:a16="http://schemas.microsoft.com/office/drawing/2014/main" id="{7C3DA3FE-4253-FE1B-EE00-F11A7DFB6363}"/>
                  </a:ext>
                </a:extLst>
              </p:cNvPr>
              <p:cNvSpPr>
                <a:spLocks noGrp="1"/>
              </p:cNvSpPr>
              <p:nvPr>
                <p:ph idx="1"/>
              </p:nvPr>
            </p:nvSpPr>
            <p:spPr>
              <a:xfrm>
                <a:off x="799199" y="1096900"/>
                <a:ext cx="10515600" cy="1829046"/>
              </a:xfrm>
            </p:spPr>
            <p:txBody>
              <a:bodyPr>
                <a:normAutofit/>
              </a:bodyPr>
              <a:lstStyle/>
              <a:p>
                <a:pPr>
                  <a:buSzPct val="100000"/>
                </a:pPr>
                <a:r>
                  <a:rPr lang="en-US" altLang="zh-TW" sz="2000" dirty="0">
                    <a:latin typeface="Times New Roman" panose="02020603050405020304" pitchFamily="18" charset="0"/>
                    <a:ea typeface="微軟正黑體" panose="020B0604030504040204" pitchFamily="34" charset="-120"/>
                    <a:cs typeface="Times New Roman" panose="02020603050405020304" pitchFamily="18" charset="0"/>
                  </a:rPr>
                  <a:t>Detection and Response </a:t>
                </a:r>
                <a:r>
                  <a:rPr lang="en-US" altLang="zh-TW" sz="1800" dirty="0">
                    <a:latin typeface="Times New Roman" panose="02020603050405020304" pitchFamily="18" charset="0"/>
                    <a:ea typeface="微軟正黑體" panose="020B0604030504040204" pitchFamily="34" charset="-120"/>
                    <a:cs typeface="Times New Roman" panose="02020603050405020304" pitchFamily="18" charset="0"/>
                  </a:rPr>
                  <a:t>:</a:t>
                </a:r>
              </a:p>
              <a:p>
                <a:pPr lvl="1">
                  <a:buSzPct val="100000"/>
                </a:pPr>
                <a:r>
                  <a:rPr lang="en-US" sz="1800" b="1" dirty="0"/>
                  <a:t>Detection:</a:t>
                </a:r>
                <a:r>
                  <a:rPr lang="en-US" sz="1800" dirty="0"/>
                  <a:t> Blue observes </a:t>
                </a:r>
                <a14:m>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𝑂</m:t>
                        </m:r>
                      </m:e>
                      <m:sub>
                        <m:r>
                          <a:rPr lang="en-US" altLang="zh-TW" sz="1800" b="0" i="1" smtClean="0">
                            <a:latin typeface="Cambria Math" panose="02040503050406030204" pitchFamily="18" charset="0"/>
                          </a:rPr>
                          <m:t>𝑒</m:t>
                        </m:r>
                        <m:r>
                          <a:rPr lang="en-US" altLang="zh-TW" sz="1800" b="0" i="1" smtClean="0">
                            <a:latin typeface="Cambria Math" panose="02040503050406030204" pitchFamily="18" charset="0"/>
                          </a:rPr>
                          <m:t>,</m:t>
                        </m:r>
                        <m:r>
                          <a:rPr lang="en-US" altLang="zh-TW" sz="1800" i="1">
                            <a:latin typeface="Cambria Math" panose="02040503050406030204" pitchFamily="18" charset="0"/>
                          </a:rPr>
                          <m:t>𝑖</m:t>
                        </m:r>
                      </m:sub>
                      <m:sup>
                        <m:r>
                          <a:rPr lang="en-US" altLang="zh-TW" sz="1800" i="1">
                            <a:latin typeface="Cambria Math" panose="02040503050406030204" pitchFamily="18" charset="0"/>
                          </a:rPr>
                          <m:t>𝐵</m:t>
                        </m:r>
                      </m:sup>
                    </m:sSubSup>
                    <m:r>
                      <a:rPr lang="en-US" altLang="zh-TW" sz="1800" i="1">
                        <a:latin typeface="Cambria Math" panose="02040503050406030204" pitchFamily="18" charset="0"/>
                      </a:rPr>
                      <m:t> </m:t>
                    </m:r>
                  </m:oMath>
                </a14:m>
                <a:r>
                  <a:rPr lang="en-US" sz="1800" dirty="0"/>
                  <a:t>​ and extracts log features</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𝐹</m:t>
                        </m:r>
                      </m:e>
                      <m:sub>
                        <m:r>
                          <a:rPr lang="en-US" sz="1800" i="1">
                            <a:latin typeface="Cambria Math" panose="02040503050406030204" pitchFamily="18" charset="0"/>
                          </a:rPr>
                          <m:t>𝑒</m:t>
                        </m:r>
                        <m:r>
                          <a:rPr lang="en-US" sz="1800" i="1">
                            <a:latin typeface="Cambria Math" panose="02040503050406030204" pitchFamily="18" charset="0"/>
                          </a:rPr>
                          <m:t>,</m:t>
                        </m:r>
                        <m:r>
                          <a:rPr lang="en-US" sz="1800" i="1">
                            <a:latin typeface="Cambria Math" panose="02040503050406030204" pitchFamily="18" charset="0"/>
                          </a:rPr>
                          <m:t>𝑖</m:t>
                        </m:r>
                      </m:sub>
                    </m:sSub>
                    <m:r>
                      <a:rPr lang="en-US" sz="1800" b="0" i="0" smtClean="0">
                        <a:latin typeface="Cambria Math" panose="02040503050406030204" pitchFamily="18" charset="0"/>
                      </a:rPr>
                      <m:t>.</m:t>
                    </m:r>
                  </m:oMath>
                </a14:m>
                <a:endParaRPr lang="en-US" sz="1800" dirty="0"/>
              </a:p>
              <a:p>
                <a:pPr lvl="1">
                  <a:buSzPct val="100000"/>
                </a:pPr>
                <a:r>
                  <a:rPr lang="en-US" sz="1800" b="1" dirty="0"/>
                  <a:t>Alert decision:</a:t>
                </a:r>
                <a:r>
                  <a:rPr lang="en-US" sz="1800" dirty="0"/>
                  <a:t> Detection module outputs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𝐷</m:t>
                        </m:r>
                      </m:e>
                      <m:sub>
                        <m:r>
                          <a:rPr lang="en-US" sz="1800" b="0" i="1" smtClean="0">
                            <a:latin typeface="Cambria Math" panose="02040503050406030204" pitchFamily="18" charset="0"/>
                          </a:rPr>
                          <m:t>𝑒</m:t>
                        </m:r>
                        <m:r>
                          <a:rPr lang="en-US" sz="1800" b="0" i="1" smtClean="0">
                            <a:latin typeface="Cambria Math" panose="02040503050406030204" pitchFamily="18" charset="0"/>
                          </a:rPr>
                          <m:t>,</m:t>
                        </m:r>
                        <m:r>
                          <a:rPr lang="en-US" sz="1800" b="0" i="1" smtClean="0">
                            <a:latin typeface="Cambria Math" panose="02040503050406030204" pitchFamily="18" charset="0"/>
                          </a:rPr>
                          <m:t>𝑖</m:t>
                        </m:r>
                      </m:sub>
                    </m:sSub>
                    <m:r>
                      <a:rPr lang="en-US" sz="1800" b="0" i="0" smtClean="0">
                        <a:latin typeface="Cambria Math" panose="02040503050406030204" pitchFamily="18" charset="0"/>
                      </a:rPr>
                      <m:t> </m:t>
                    </m:r>
                  </m:oMath>
                </a14:m>
                <a:r>
                  <a:rPr lang="en-US" sz="1800" dirty="0"/>
                  <a:t>∈{0,1}. </a:t>
                </a:r>
              </a:p>
              <a:p>
                <a:pPr lvl="1">
                  <a:buSzPct val="100000"/>
                </a:pPr>
                <a:r>
                  <a:rPr lang="en-US" sz="1800" b="1" dirty="0"/>
                  <a:t>Response:</a:t>
                </a:r>
                <a:r>
                  <a:rPr lang="en-US" sz="1800" dirty="0"/>
                  <a:t> If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𝐷</m:t>
                        </m:r>
                      </m:e>
                      <m:sub>
                        <m:r>
                          <a:rPr lang="en-US" sz="1800" b="0" i="1" smtClean="0">
                            <a:latin typeface="Cambria Math" panose="02040503050406030204" pitchFamily="18" charset="0"/>
                          </a:rPr>
                          <m:t>𝑒</m:t>
                        </m:r>
                        <m:r>
                          <a:rPr lang="en-US" sz="1800" b="0" i="1" smtClean="0">
                            <a:latin typeface="Cambria Math" panose="02040503050406030204" pitchFamily="18" charset="0"/>
                          </a:rPr>
                          <m:t>,</m:t>
                        </m:r>
                        <m:r>
                          <a:rPr lang="en-US" sz="1800" b="0" i="1" smtClean="0">
                            <a:latin typeface="Cambria Math" panose="02040503050406030204" pitchFamily="18" charset="0"/>
                          </a:rPr>
                          <m:t>𝑖</m:t>
                        </m:r>
                      </m:sub>
                    </m:sSub>
                    <m:r>
                      <a:rPr lang="en-US" sz="1800" b="0" i="0" smtClean="0">
                        <a:latin typeface="Cambria Math" panose="02040503050406030204" pitchFamily="18" charset="0"/>
                      </a:rPr>
                      <m:t> </m:t>
                    </m:r>
                  </m:oMath>
                </a14:m>
                <a:r>
                  <a:rPr lang="en-US" sz="1800" dirty="0"/>
                  <a:t>=1, Blue selects </a:t>
                </a:r>
                <a14:m>
                  <m:oMath xmlns:m="http://schemas.openxmlformats.org/officeDocument/2006/math">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𝑎</m:t>
                        </m:r>
                      </m:e>
                      <m:sub>
                        <m:r>
                          <a:rPr lang="en-US" altLang="zh-TW" sz="1800" i="1">
                            <a:latin typeface="Cambria Math" panose="02040503050406030204" pitchFamily="18" charset="0"/>
                          </a:rPr>
                          <m:t>𝑒</m:t>
                        </m:r>
                        <m:r>
                          <a:rPr lang="en-US" altLang="zh-TW" sz="1800" i="1">
                            <a:latin typeface="Cambria Math" panose="02040503050406030204" pitchFamily="18" charset="0"/>
                          </a:rPr>
                          <m:t>,</m:t>
                        </m:r>
                        <m:r>
                          <a:rPr lang="en-US" altLang="zh-TW" sz="1800" i="1">
                            <a:latin typeface="Cambria Math" panose="02040503050406030204" pitchFamily="18" charset="0"/>
                          </a:rPr>
                          <m:t>𝑖</m:t>
                        </m:r>
                      </m:sub>
                      <m:sup>
                        <m:r>
                          <a:rPr lang="en-US" altLang="zh-TW" sz="1800" i="1">
                            <a:latin typeface="Cambria Math" panose="02040503050406030204" pitchFamily="18" charset="0"/>
                          </a:rPr>
                          <m:t>𝐵</m:t>
                        </m:r>
                      </m:sup>
                    </m:sSubSup>
                    <m:r>
                      <a:rPr lang="en-US" altLang="zh-TW" sz="1800" i="1" smtClean="0">
                        <a:latin typeface="Cambria Math" panose="02040503050406030204" pitchFamily="18" charset="0"/>
                        <a:ea typeface="Cambria Math" panose="02040503050406030204" pitchFamily="18" charset="0"/>
                      </a:rPr>
                      <m:t>∈</m:t>
                    </m:r>
                    <m:sSup>
                      <m:sSupPr>
                        <m:ctrlPr>
                          <a:rPr lang="en-US" altLang="zh-TW" sz="1800" b="0" i="1" smtClean="0">
                            <a:latin typeface="Cambria Math" panose="02040503050406030204" pitchFamily="18" charset="0"/>
                            <a:ea typeface="Cambria Math" panose="02040503050406030204" pitchFamily="18" charset="0"/>
                          </a:rPr>
                        </m:ctrlPr>
                      </m:sSupPr>
                      <m:e>
                        <m:r>
                          <a:rPr lang="en-US" altLang="zh-TW" sz="1800" b="0" i="1" smtClean="0">
                            <a:latin typeface="Cambria Math" panose="02040503050406030204" pitchFamily="18" charset="0"/>
                            <a:ea typeface="Cambria Math" panose="02040503050406030204" pitchFamily="18" charset="0"/>
                          </a:rPr>
                          <m:t>𝑆</m:t>
                        </m:r>
                      </m:e>
                      <m:sup>
                        <m:r>
                          <a:rPr lang="en-US" altLang="zh-TW" sz="1800" b="0" i="1" smtClean="0">
                            <a:latin typeface="Cambria Math" panose="02040503050406030204" pitchFamily="18" charset="0"/>
                            <a:ea typeface="Cambria Math" panose="02040503050406030204" pitchFamily="18" charset="0"/>
                          </a:rPr>
                          <m:t>𝐵</m:t>
                        </m:r>
                      </m:sup>
                    </m:sSup>
                  </m:oMath>
                </a14:m>
                <a:r>
                  <a:rPr lang="en-US" sz="1800" dirty="0"/>
                  <a:t> to disrupt Red else </a:t>
                </a:r>
                <a14:m>
                  <m:oMath xmlns:m="http://schemas.openxmlformats.org/officeDocument/2006/math">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𝑎</m:t>
                        </m:r>
                      </m:e>
                      <m:sub>
                        <m:r>
                          <a:rPr lang="en-US" altLang="zh-TW" sz="1800" i="1">
                            <a:latin typeface="Cambria Math" panose="02040503050406030204" pitchFamily="18" charset="0"/>
                          </a:rPr>
                          <m:t>𝑒</m:t>
                        </m:r>
                        <m:r>
                          <a:rPr lang="en-US" altLang="zh-TW" sz="1800" i="1">
                            <a:latin typeface="Cambria Math" panose="02040503050406030204" pitchFamily="18" charset="0"/>
                          </a:rPr>
                          <m:t>,</m:t>
                        </m:r>
                        <m:r>
                          <a:rPr lang="en-US" altLang="zh-TW" sz="1800" i="1">
                            <a:latin typeface="Cambria Math" panose="02040503050406030204" pitchFamily="18" charset="0"/>
                          </a:rPr>
                          <m:t>𝑖</m:t>
                        </m:r>
                      </m:sub>
                      <m:sup>
                        <m:r>
                          <a:rPr lang="en-US" altLang="zh-TW" sz="1800" i="1">
                            <a:latin typeface="Cambria Math" panose="02040503050406030204" pitchFamily="18" charset="0"/>
                          </a:rPr>
                          <m:t>𝐵</m:t>
                        </m:r>
                      </m:sup>
                    </m:sSubSup>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𝑛𝑜𝑛𝑒</m:t>
                    </m:r>
                  </m:oMath>
                </a14:m>
                <a:r>
                  <a:rPr lang="en-US" sz="1800" dirty="0"/>
                  <a:t>.</a:t>
                </a:r>
              </a:p>
              <a:p>
                <a:pPr>
                  <a:buSzPct val="100000"/>
                </a:pPr>
                <a:r>
                  <a:rPr lang="en-US" altLang="zh-TW" sz="2000" dirty="0">
                    <a:latin typeface="Times New Roman" panose="02020603050405020304" pitchFamily="18" charset="0"/>
                    <a:ea typeface="微軟正黑體" panose="020B0604030504040204" pitchFamily="34" charset="-120"/>
                    <a:cs typeface="Times New Roman" panose="02020603050405020304" pitchFamily="18" charset="0"/>
                  </a:rPr>
                  <a:t>Goal: </a:t>
                </a:r>
                <a:r>
                  <a:rPr lang="en-US" altLang="zh-TW" sz="2000" dirty="0">
                    <a:ea typeface="微軟正黑體" panose="020B0604030504040204" pitchFamily="34" charset="-120"/>
                  </a:rPr>
                  <a:t>D</a:t>
                </a:r>
                <a:r>
                  <a:rPr lang="en-US" sz="2000" dirty="0">
                    <a:ea typeface="微軟正黑體" panose="020B0604030504040204" pitchFamily="34" charset="-120"/>
                  </a:rPr>
                  <a:t>etect multi-stage attacks early in the kill chain, minimizing damage</a:t>
                </a:r>
                <a:endParaRPr lang="en-US" altLang="zh-TW" sz="2000" dirty="0">
                  <a:ea typeface="微軟正黑體" panose="020B0604030504040204" pitchFamily="34" charset="-120"/>
                </a:endParaRPr>
              </a:p>
            </p:txBody>
          </p:sp>
        </mc:Choice>
        <mc:Fallback>
          <p:sp>
            <p:nvSpPr>
              <p:cNvPr id="8" name="Content Placeholder 7">
                <a:extLst>
                  <a:ext uri="{FF2B5EF4-FFF2-40B4-BE49-F238E27FC236}">
                    <a16:creationId xmlns:a16="http://schemas.microsoft.com/office/drawing/2014/main" id="{7C3DA3FE-4253-FE1B-EE00-F11A7DFB6363}"/>
                  </a:ext>
                </a:extLst>
              </p:cNvPr>
              <p:cNvSpPr>
                <a:spLocks noGrp="1" noRot="1" noChangeAspect="1" noMove="1" noResize="1" noEditPoints="1" noAdjustHandles="1" noChangeArrowheads="1" noChangeShapeType="1" noTextEdit="1"/>
              </p:cNvSpPr>
              <p:nvPr>
                <p:ph idx="1"/>
              </p:nvPr>
            </p:nvSpPr>
            <p:spPr>
              <a:xfrm>
                <a:off x="799199" y="1096900"/>
                <a:ext cx="10515600" cy="1829046"/>
              </a:xfrm>
              <a:blipFill>
                <a:blip r:embed="rId3"/>
                <a:stretch>
                  <a:fillRect l="-522" t="-3667" b="-3000"/>
                </a:stretch>
              </a:blipFill>
            </p:spPr>
            <p:txBody>
              <a:bodyPr/>
              <a:lstStyle/>
              <a:p>
                <a:r>
                  <a:rPr lang="en-US">
                    <a:noFill/>
                  </a:rPr>
                  <a:t> </a:t>
                </a:r>
              </a:p>
            </p:txBody>
          </p:sp>
        </mc:Fallback>
      </mc:AlternateContent>
      <p:sp>
        <p:nvSpPr>
          <p:cNvPr id="6" name="Slide Number Placeholder 3">
            <a:extLst>
              <a:ext uri="{FF2B5EF4-FFF2-40B4-BE49-F238E27FC236}">
                <a16:creationId xmlns:a16="http://schemas.microsoft.com/office/drawing/2014/main" id="{D1B703BF-4F54-342A-1B57-EEC663C3DF6F}"/>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21</a:t>
            </a:fld>
            <a:endParaRPr lang="en-US" dirty="0"/>
          </a:p>
        </p:txBody>
      </p:sp>
      <p:grpSp>
        <p:nvGrpSpPr>
          <p:cNvPr id="4" name="Group 3">
            <a:extLst>
              <a:ext uri="{FF2B5EF4-FFF2-40B4-BE49-F238E27FC236}">
                <a16:creationId xmlns:a16="http://schemas.microsoft.com/office/drawing/2014/main" id="{E28A014A-1707-4033-AB29-615960FD3B10}"/>
              </a:ext>
            </a:extLst>
          </p:cNvPr>
          <p:cNvGrpSpPr/>
          <p:nvPr/>
        </p:nvGrpSpPr>
        <p:grpSpPr>
          <a:xfrm>
            <a:off x="1584781" y="3104063"/>
            <a:ext cx="8403750" cy="3540611"/>
            <a:chOff x="521569" y="3222843"/>
            <a:chExt cx="8403750" cy="3540611"/>
          </a:xfrm>
        </p:grpSpPr>
        <p:sp>
          <p:nvSpPr>
            <p:cNvPr id="28" name="內容版面配置區 2">
              <a:extLst>
                <a:ext uri="{FF2B5EF4-FFF2-40B4-BE49-F238E27FC236}">
                  <a16:creationId xmlns:a16="http://schemas.microsoft.com/office/drawing/2014/main" id="{03CDED9D-C297-830D-B3D5-581A388FD34B}"/>
                </a:ext>
              </a:extLst>
            </p:cNvPr>
            <p:cNvSpPr txBox="1">
              <a:spLocks/>
            </p:cNvSpPr>
            <p:nvPr/>
          </p:nvSpPr>
          <p:spPr>
            <a:xfrm>
              <a:off x="2533961" y="3293533"/>
              <a:ext cx="5663882" cy="2066769"/>
            </a:xfrm>
            <a:prstGeom prst="rect">
              <a:avLst/>
            </a:prstGeom>
            <a:solidFill>
              <a:schemeClr val="bg1"/>
            </a:solidFill>
            <a:ln w="19050" cap="flat" cmpd="sng" algn="ctr">
              <a:solidFill>
                <a:schemeClr val="tx1"/>
              </a:solidFill>
              <a:prstDash val="solid"/>
              <a:miter lim="800000"/>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endParaRPr lang="en-US" altLang="zh-TW" sz="2000" u="sng" dirty="0">
                <a:latin typeface="Times New Roman" panose="02020603050405020304" pitchFamily="18" charset="0"/>
                <a:ea typeface="微軟正黑體" panose="020B0604030504040204" pitchFamily="34" charset="-120"/>
                <a:cs typeface="Times New Roman" panose="02020603050405020304" pitchFamily="18" charset="0"/>
              </a:endParaRPr>
            </a:p>
          </p:txBody>
        </p:sp>
        <p:grpSp>
          <p:nvGrpSpPr>
            <p:cNvPr id="3" name="Group 2">
              <a:extLst>
                <a:ext uri="{FF2B5EF4-FFF2-40B4-BE49-F238E27FC236}">
                  <a16:creationId xmlns:a16="http://schemas.microsoft.com/office/drawing/2014/main" id="{55AAE43A-E9CD-4279-9FD0-CCBC7D5B9D06}"/>
                </a:ext>
              </a:extLst>
            </p:cNvPr>
            <p:cNvGrpSpPr/>
            <p:nvPr/>
          </p:nvGrpSpPr>
          <p:grpSpPr>
            <a:xfrm>
              <a:off x="521569" y="3222843"/>
              <a:ext cx="8403750" cy="3540611"/>
              <a:chOff x="521569" y="3222843"/>
              <a:chExt cx="8403750" cy="3540611"/>
            </a:xfrm>
          </p:grpSpPr>
          <p:sp>
            <p:nvSpPr>
              <p:cNvPr id="29" name="文字方塊 27">
                <a:extLst>
                  <a:ext uri="{FF2B5EF4-FFF2-40B4-BE49-F238E27FC236}">
                    <a16:creationId xmlns:a16="http://schemas.microsoft.com/office/drawing/2014/main" id="{AC9C8891-86AE-2A21-1056-A041A85CA4BA}"/>
                  </a:ext>
                </a:extLst>
              </p:cNvPr>
              <p:cNvSpPr txBox="1"/>
              <p:nvPr/>
            </p:nvSpPr>
            <p:spPr>
              <a:xfrm>
                <a:off x="4078938" y="3222843"/>
                <a:ext cx="3519725" cy="461665"/>
              </a:xfrm>
              <a:prstGeom prst="rect">
                <a:avLst/>
              </a:prstGeom>
              <a:noFill/>
            </p:spPr>
            <p:txBody>
              <a:bodyPr wrap="square" rtlCol="0">
                <a:spAutoFit/>
              </a:bodyPr>
              <a:lstStyle/>
              <a:p>
                <a:r>
                  <a:rPr lang="en-US" altLang="zh-TW" sz="2400" dirty="0"/>
                  <a:t>Blue Team  Agent </a:t>
                </a:r>
                <a:endParaRPr lang="en-US" altLang="zh-TW" sz="2200" i="1" dirty="0">
                  <a:highlight>
                    <a:srgbClr val="C0C0C0"/>
                  </a:highlight>
                  <a:latin typeface="Times New Roman" panose="02020603050405020304" pitchFamily="18" charset="0"/>
                  <a:ea typeface="微軟正黑體" panose="020B0604030504040204" pitchFamily="34" charset="-120"/>
                  <a:cs typeface="Times New Roman" panose="02020603050405020304" pitchFamily="18" charset="0"/>
                </a:endParaRPr>
              </a:p>
            </p:txBody>
          </p:sp>
          <p:cxnSp>
            <p:nvCxnSpPr>
              <p:cNvPr id="31" name="直線接點 29">
                <a:extLst>
                  <a:ext uri="{FF2B5EF4-FFF2-40B4-BE49-F238E27FC236}">
                    <a16:creationId xmlns:a16="http://schemas.microsoft.com/office/drawing/2014/main" id="{6FF16D05-A2A9-39C2-0CE2-29A1E20C9D83}"/>
                  </a:ext>
                </a:extLst>
              </p:cNvPr>
              <p:cNvCxnSpPr>
                <a:cxnSpLocks/>
              </p:cNvCxnSpPr>
              <p:nvPr/>
            </p:nvCxnSpPr>
            <p:spPr>
              <a:xfrm flipH="1">
                <a:off x="8197842" y="4334182"/>
                <a:ext cx="34886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線接點 30">
                <a:extLst>
                  <a:ext uri="{FF2B5EF4-FFF2-40B4-BE49-F238E27FC236}">
                    <a16:creationId xmlns:a16="http://schemas.microsoft.com/office/drawing/2014/main" id="{7EFBA4D4-D1A9-481A-D296-710B132FCE7A}"/>
                  </a:ext>
                </a:extLst>
              </p:cNvPr>
              <p:cNvCxnSpPr>
                <a:cxnSpLocks/>
              </p:cNvCxnSpPr>
              <p:nvPr/>
            </p:nvCxnSpPr>
            <p:spPr>
              <a:xfrm>
                <a:off x="8546702" y="4334182"/>
                <a:ext cx="0" cy="18089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3" name="文字方塊 31">
                    <a:extLst>
                      <a:ext uri="{FF2B5EF4-FFF2-40B4-BE49-F238E27FC236}">
                        <a16:creationId xmlns:a16="http://schemas.microsoft.com/office/drawing/2014/main" id="{03590D67-A270-1052-C354-3C02C9A72BEB}"/>
                      </a:ext>
                    </a:extLst>
                  </p:cNvPr>
                  <p:cNvSpPr txBox="1"/>
                  <p:nvPr/>
                </p:nvSpPr>
                <p:spPr>
                  <a:xfrm>
                    <a:off x="7434243" y="5641241"/>
                    <a:ext cx="1491076" cy="370871"/>
                  </a:xfrm>
                  <a:prstGeom prst="rect">
                    <a:avLst/>
                  </a:prstGeom>
                  <a:noFill/>
                </p:spPr>
                <p:txBody>
                  <a:bodyPr wrap="square" rtlCol="0">
                    <a:spAutoFit/>
                  </a:bodyPr>
                  <a:lstStyle/>
                  <a:p>
                    <a:r>
                      <a:rPr lang="en-US" altLang="zh-TW" sz="1600" dirty="0"/>
                      <a:t>action</a:t>
                    </a:r>
                    <a:r>
                      <a:rPr lang="en-US" altLang="zh-TW" sz="1600" dirty="0">
                        <a:ea typeface="微軟正黑體" panose="020B0604030504040204" pitchFamily="34" charset="-120"/>
                        <a:cs typeface="Times New Roman" panose="02020603050405020304" pitchFamily="18" charset="0"/>
                      </a:rPr>
                      <a:t> </a:t>
                    </a:r>
                    <a14:m>
                      <m:oMath xmlns:m="http://schemas.openxmlformats.org/officeDocument/2006/math">
                        <m:sSubSup>
                          <m:sSubSupPr>
                            <m:ctrlPr>
                              <a:rPr lang="en-US" altLang="zh-TW" sz="1600" i="1">
                                <a:latin typeface="Cambria Math" panose="02040503050406030204" pitchFamily="18" charset="0"/>
                              </a:rPr>
                            </m:ctrlPr>
                          </m:sSubSupPr>
                          <m:e>
                            <m:r>
                              <a:rPr lang="en-US" altLang="zh-TW" sz="1600" i="1">
                                <a:latin typeface="Cambria Math" panose="02040503050406030204" pitchFamily="18" charset="0"/>
                              </a:rPr>
                              <m:t>𝑎</m:t>
                            </m:r>
                          </m:e>
                          <m:sub>
                            <m:r>
                              <a:rPr lang="en-US" altLang="zh-TW" sz="1600" b="0" i="1" smtClean="0">
                                <a:latin typeface="Cambria Math" panose="02040503050406030204" pitchFamily="18" charset="0"/>
                              </a:rPr>
                              <m:t>𝑒</m:t>
                            </m:r>
                            <m:r>
                              <a:rPr lang="en-US" altLang="zh-TW" sz="1600" b="0" i="1" smtClean="0">
                                <a:latin typeface="Cambria Math" panose="02040503050406030204" pitchFamily="18" charset="0"/>
                              </a:rPr>
                              <m:t>,</m:t>
                            </m:r>
                            <m:r>
                              <a:rPr lang="en-US" altLang="zh-TW" sz="1600" i="1">
                                <a:latin typeface="Cambria Math" panose="02040503050406030204" pitchFamily="18" charset="0"/>
                              </a:rPr>
                              <m:t>𝑖</m:t>
                            </m:r>
                          </m:sub>
                          <m:sup>
                            <m:r>
                              <a:rPr lang="en-US" altLang="zh-TW" sz="1600" i="1">
                                <a:latin typeface="Cambria Math" panose="02040503050406030204" pitchFamily="18" charset="0"/>
                              </a:rPr>
                              <m:t>𝐵</m:t>
                            </m:r>
                          </m:sup>
                        </m:sSubSup>
                      </m:oMath>
                    </a14:m>
                    <a:endParaRPr lang="en-US" altLang="zh-TW" sz="1600" dirty="0"/>
                  </a:p>
                </p:txBody>
              </p:sp>
            </mc:Choice>
            <mc:Fallback>
              <p:sp>
                <p:nvSpPr>
                  <p:cNvPr id="33" name="文字方塊 31">
                    <a:extLst>
                      <a:ext uri="{FF2B5EF4-FFF2-40B4-BE49-F238E27FC236}">
                        <a16:creationId xmlns:a16="http://schemas.microsoft.com/office/drawing/2014/main" id="{03590D67-A270-1052-C354-3C02C9A72BEB}"/>
                      </a:ext>
                    </a:extLst>
                  </p:cNvPr>
                  <p:cNvSpPr txBox="1">
                    <a:spLocks noRot="1" noChangeAspect="1" noMove="1" noResize="1" noEditPoints="1" noAdjustHandles="1" noChangeArrowheads="1" noChangeShapeType="1" noTextEdit="1"/>
                  </p:cNvSpPr>
                  <p:nvPr/>
                </p:nvSpPr>
                <p:spPr>
                  <a:xfrm>
                    <a:off x="7434243" y="5641241"/>
                    <a:ext cx="1491076" cy="370871"/>
                  </a:xfrm>
                  <a:prstGeom prst="rect">
                    <a:avLst/>
                  </a:prstGeom>
                  <a:blipFill>
                    <a:blip r:embed="rId4"/>
                    <a:stretch>
                      <a:fillRect l="-2449" t="-1639" b="-14754"/>
                    </a:stretch>
                  </a:blipFill>
                </p:spPr>
                <p:txBody>
                  <a:bodyPr/>
                  <a:lstStyle/>
                  <a:p>
                    <a:r>
                      <a:rPr lang="en-US">
                        <a:noFill/>
                      </a:rPr>
                      <a:t> </a:t>
                    </a:r>
                  </a:p>
                </p:txBody>
              </p:sp>
            </mc:Fallback>
          </mc:AlternateContent>
          <p:sp>
            <p:nvSpPr>
              <p:cNvPr id="34" name="矩形 32">
                <a:extLst>
                  <a:ext uri="{FF2B5EF4-FFF2-40B4-BE49-F238E27FC236}">
                    <a16:creationId xmlns:a16="http://schemas.microsoft.com/office/drawing/2014/main" id="{977400F1-745C-4AD7-7370-6F63E0B20248}"/>
                  </a:ext>
                </a:extLst>
              </p:cNvPr>
              <p:cNvSpPr/>
              <p:nvPr/>
            </p:nvSpPr>
            <p:spPr>
              <a:xfrm>
                <a:off x="5104905" y="5787148"/>
                <a:ext cx="2287787" cy="71187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2000" dirty="0">
                  <a:solidFill>
                    <a:schemeClr val="tx1"/>
                  </a:solidFill>
                </a:endParaRPr>
              </a:p>
            </p:txBody>
          </p:sp>
          <p:cxnSp>
            <p:nvCxnSpPr>
              <p:cNvPr id="35" name="直線單箭頭接點 33">
                <a:extLst>
                  <a:ext uri="{FF2B5EF4-FFF2-40B4-BE49-F238E27FC236}">
                    <a16:creationId xmlns:a16="http://schemas.microsoft.com/office/drawing/2014/main" id="{D6E2FE8B-0B48-3E5E-128B-7C0613854724}"/>
                  </a:ext>
                </a:extLst>
              </p:cNvPr>
              <p:cNvCxnSpPr/>
              <p:nvPr/>
            </p:nvCxnSpPr>
            <p:spPr>
              <a:xfrm flipH="1">
                <a:off x="3517840" y="6041761"/>
                <a:ext cx="15870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6" name="文字方塊 34">
                    <a:extLst>
                      <a:ext uri="{FF2B5EF4-FFF2-40B4-BE49-F238E27FC236}">
                        <a16:creationId xmlns:a16="http://schemas.microsoft.com/office/drawing/2014/main" id="{D3E353B4-56DA-39B6-3ED3-509BDB51C684}"/>
                      </a:ext>
                    </a:extLst>
                  </p:cNvPr>
                  <p:cNvSpPr txBox="1"/>
                  <p:nvPr/>
                </p:nvSpPr>
                <p:spPr>
                  <a:xfrm>
                    <a:off x="4005757" y="5616429"/>
                    <a:ext cx="862497" cy="7482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i="1">
                                  <a:latin typeface="Cambria Math" panose="02040503050406030204" pitchFamily="18" charset="0"/>
                                </a:rPr>
                                <m:t>𝑃</m:t>
                              </m:r>
                            </m:e>
                            <m:sub>
                              <m:r>
                                <a:rPr lang="en-US" altLang="zh-TW" sz="2000" b="0" i="1" smtClean="0">
                                  <a:latin typeface="Cambria Math" panose="02040503050406030204" pitchFamily="18" charset="0"/>
                                </a:rPr>
                                <m:t>𝑒</m:t>
                              </m:r>
                              <m:r>
                                <a:rPr lang="en-US" altLang="zh-TW" sz="2000" b="0" i="1" smtClean="0">
                                  <a:latin typeface="Cambria Math" panose="02040503050406030204" pitchFamily="18" charset="0"/>
                                </a:rPr>
                                <m:t>,</m:t>
                              </m:r>
                              <m:r>
                                <a:rPr lang="en-US" altLang="zh-TW" sz="2000" i="1">
                                  <a:latin typeface="Cambria Math" panose="02040503050406030204" pitchFamily="18" charset="0"/>
                                </a:rPr>
                                <m:t>𝑖</m:t>
                              </m:r>
                              <m:r>
                                <a:rPr lang="en-US" altLang="zh-TW" sz="2000" b="0" i="1" smtClean="0">
                                  <a:latin typeface="Cambria Math" panose="02040503050406030204" pitchFamily="18" charset="0"/>
                                </a:rPr>
                                <m:t>+1</m:t>
                              </m:r>
                            </m:sub>
                            <m:sup>
                              <m:r>
                                <a:rPr lang="en-US" altLang="zh-TW" sz="2000" i="1">
                                  <a:latin typeface="Cambria Math" panose="02040503050406030204" pitchFamily="18" charset="0"/>
                                </a:rPr>
                                <m:t>𝐵</m:t>
                              </m:r>
                            </m:sup>
                          </m:sSubSup>
                        </m:oMath>
                      </m:oMathPara>
                    </a14:m>
                    <a:endParaRPr lang="en-US" altLang="zh-TW" sz="2000" dirty="0"/>
                  </a:p>
                  <a:p>
                    <a:endParaRPr lang="en-US" altLang="zh-TW" sz="2000" dirty="0"/>
                  </a:p>
                </p:txBody>
              </p:sp>
            </mc:Choice>
            <mc:Fallback>
              <p:sp>
                <p:nvSpPr>
                  <p:cNvPr id="36" name="文字方塊 34">
                    <a:extLst>
                      <a:ext uri="{FF2B5EF4-FFF2-40B4-BE49-F238E27FC236}">
                        <a16:creationId xmlns:a16="http://schemas.microsoft.com/office/drawing/2014/main" id="{D3E353B4-56DA-39B6-3ED3-509BDB51C684}"/>
                      </a:ext>
                    </a:extLst>
                  </p:cNvPr>
                  <p:cNvSpPr txBox="1">
                    <a:spLocks noRot="1" noChangeAspect="1" noMove="1" noResize="1" noEditPoints="1" noAdjustHandles="1" noChangeArrowheads="1" noChangeShapeType="1" noTextEdit="1"/>
                  </p:cNvSpPr>
                  <p:nvPr/>
                </p:nvSpPr>
                <p:spPr>
                  <a:xfrm>
                    <a:off x="4005757" y="5616429"/>
                    <a:ext cx="862497" cy="748282"/>
                  </a:xfrm>
                  <a:prstGeom prst="rect">
                    <a:avLst/>
                  </a:prstGeom>
                  <a:blipFill>
                    <a:blip r:embed="rId5"/>
                    <a:stretch>
                      <a:fillRect/>
                    </a:stretch>
                  </a:blipFill>
                </p:spPr>
                <p:txBody>
                  <a:bodyPr/>
                  <a:lstStyle/>
                  <a:p>
                    <a:r>
                      <a:rPr lang="en-US">
                        <a:noFill/>
                      </a:rPr>
                      <a:t> </a:t>
                    </a:r>
                  </a:p>
                </p:txBody>
              </p:sp>
            </mc:Fallback>
          </mc:AlternateContent>
          <p:sp>
            <p:nvSpPr>
              <p:cNvPr id="37" name="文字方塊 35">
                <a:extLst>
                  <a:ext uri="{FF2B5EF4-FFF2-40B4-BE49-F238E27FC236}">
                    <a16:creationId xmlns:a16="http://schemas.microsoft.com/office/drawing/2014/main" id="{0392AE30-3778-A644-A8B0-B15D1577A03E}"/>
                  </a:ext>
                </a:extLst>
              </p:cNvPr>
              <p:cNvSpPr txBox="1"/>
              <p:nvPr/>
            </p:nvSpPr>
            <p:spPr>
              <a:xfrm>
                <a:off x="5583759" y="5902670"/>
                <a:ext cx="2029325" cy="461665"/>
              </a:xfrm>
              <a:prstGeom prst="rect">
                <a:avLst/>
              </a:prstGeom>
              <a:noFill/>
            </p:spPr>
            <p:txBody>
              <a:bodyPr wrap="square" rtlCol="0">
                <a:spAutoFit/>
              </a:bodyPr>
              <a:lstStyle/>
              <a:p>
                <a:r>
                  <a:rPr lang="en-US" altLang="zh-TW" sz="2400" dirty="0"/>
                  <a:t>Cyber Range</a:t>
                </a:r>
                <a:endParaRPr lang="zh-TW" altLang="en-US" sz="2400" dirty="0"/>
              </a:p>
            </p:txBody>
          </p:sp>
          <p:cxnSp>
            <p:nvCxnSpPr>
              <p:cNvPr id="38" name="直線單箭頭接點 36">
                <a:extLst>
                  <a:ext uri="{FF2B5EF4-FFF2-40B4-BE49-F238E27FC236}">
                    <a16:creationId xmlns:a16="http://schemas.microsoft.com/office/drawing/2014/main" id="{A6D96991-D21E-CF77-20D3-D332B47EDB7C}"/>
                  </a:ext>
                </a:extLst>
              </p:cNvPr>
              <p:cNvCxnSpPr/>
              <p:nvPr/>
            </p:nvCxnSpPr>
            <p:spPr>
              <a:xfrm flipH="1">
                <a:off x="3508597" y="6334518"/>
                <a:ext cx="15870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9" name="文字方塊 37">
                    <a:extLst>
                      <a:ext uri="{FF2B5EF4-FFF2-40B4-BE49-F238E27FC236}">
                        <a16:creationId xmlns:a16="http://schemas.microsoft.com/office/drawing/2014/main" id="{20D8AF00-BCC3-7424-9999-D91EDFD7AD0D}"/>
                      </a:ext>
                    </a:extLst>
                  </p:cNvPr>
                  <p:cNvSpPr txBox="1"/>
                  <p:nvPr/>
                </p:nvSpPr>
                <p:spPr>
                  <a:xfrm>
                    <a:off x="4032447" y="6322949"/>
                    <a:ext cx="666347" cy="4405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b="0" i="1" smtClean="0">
                                  <a:latin typeface="Cambria Math" panose="02040503050406030204" pitchFamily="18" charset="0"/>
                                </a:rPr>
                                <m:t>𝑂</m:t>
                              </m:r>
                            </m:e>
                            <m:sub>
                              <m:r>
                                <a:rPr lang="en-US" altLang="zh-TW" sz="2000" b="0" i="1" smtClean="0">
                                  <a:latin typeface="Cambria Math" panose="02040503050406030204" pitchFamily="18" charset="0"/>
                                </a:rPr>
                                <m:t>𝑒</m:t>
                              </m:r>
                              <m:r>
                                <a:rPr lang="en-US" altLang="zh-TW" sz="2000" b="0" i="1" smtClean="0">
                                  <a:latin typeface="Cambria Math" panose="02040503050406030204" pitchFamily="18" charset="0"/>
                                </a:rPr>
                                <m:t>,</m:t>
                              </m:r>
                              <m:r>
                                <a:rPr lang="en-US" altLang="zh-TW" sz="2000" i="1">
                                  <a:latin typeface="Cambria Math" panose="02040503050406030204" pitchFamily="18" charset="0"/>
                                </a:rPr>
                                <m:t>𝑖</m:t>
                              </m:r>
                              <m:r>
                                <a:rPr lang="en-US" altLang="zh-TW" sz="2000" b="0" i="1" smtClean="0">
                                  <a:latin typeface="Cambria Math" panose="02040503050406030204" pitchFamily="18" charset="0"/>
                                </a:rPr>
                                <m:t>+1</m:t>
                              </m:r>
                            </m:sub>
                            <m:sup>
                              <m:r>
                                <a:rPr lang="en-US" altLang="zh-TW" sz="2000" i="1">
                                  <a:latin typeface="Cambria Math" panose="02040503050406030204" pitchFamily="18" charset="0"/>
                                </a:rPr>
                                <m:t>𝐵</m:t>
                              </m:r>
                            </m:sup>
                          </m:sSubSup>
                        </m:oMath>
                      </m:oMathPara>
                    </a14:m>
                    <a:endParaRPr lang="en-US" altLang="zh-TW" sz="2000" dirty="0"/>
                  </a:p>
                </p:txBody>
              </p:sp>
            </mc:Choice>
            <mc:Fallback>
              <p:sp>
                <p:nvSpPr>
                  <p:cNvPr id="39" name="文字方塊 37">
                    <a:extLst>
                      <a:ext uri="{FF2B5EF4-FFF2-40B4-BE49-F238E27FC236}">
                        <a16:creationId xmlns:a16="http://schemas.microsoft.com/office/drawing/2014/main" id="{20D8AF00-BCC3-7424-9999-D91EDFD7AD0D}"/>
                      </a:ext>
                    </a:extLst>
                  </p:cNvPr>
                  <p:cNvSpPr txBox="1">
                    <a:spLocks noRot="1" noChangeAspect="1" noMove="1" noResize="1" noEditPoints="1" noAdjustHandles="1" noChangeArrowheads="1" noChangeShapeType="1" noTextEdit="1"/>
                  </p:cNvSpPr>
                  <p:nvPr/>
                </p:nvSpPr>
                <p:spPr>
                  <a:xfrm>
                    <a:off x="4032447" y="6322949"/>
                    <a:ext cx="666347" cy="440505"/>
                  </a:xfrm>
                  <a:prstGeom prst="rect">
                    <a:avLst/>
                  </a:prstGeom>
                  <a:blipFill>
                    <a:blip r:embed="rId6"/>
                    <a:stretch>
                      <a:fillRect r="-16514"/>
                    </a:stretch>
                  </a:blipFill>
                </p:spPr>
                <p:txBody>
                  <a:bodyPr/>
                  <a:lstStyle/>
                  <a:p>
                    <a:r>
                      <a:rPr lang="en-US">
                        <a:noFill/>
                      </a:rPr>
                      <a:t> </a:t>
                    </a:r>
                  </a:p>
                </p:txBody>
              </p:sp>
            </mc:Fallback>
          </mc:AlternateContent>
          <p:cxnSp>
            <p:nvCxnSpPr>
              <p:cNvPr id="40" name="直線接點 38">
                <a:extLst>
                  <a:ext uri="{FF2B5EF4-FFF2-40B4-BE49-F238E27FC236}">
                    <a16:creationId xmlns:a16="http://schemas.microsoft.com/office/drawing/2014/main" id="{A0969CB2-8500-426A-C31F-E71AFD9C75FA}"/>
                  </a:ext>
                </a:extLst>
              </p:cNvPr>
              <p:cNvCxnSpPr>
                <a:cxnSpLocks/>
              </p:cNvCxnSpPr>
              <p:nvPr/>
            </p:nvCxnSpPr>
            <p:spPr>
              <a:xfrm flipH="1">
                <a:off x="1516119" y="6045962"/>
                <a:ext cx="201408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1" name="文字方塊 39">
                    <a:extLst>
                      <a:ext uri="{FF2B5EF4-FFF2-40B4-BE49-F238E27FC236}">
                        <a16:creationId xmlns:a16="http://schemas.microsoft.com/office/drawing/2014/main" id="{11D1F68C-C5BE-5DF6-E722-9B940F2349CD}"/>
                      </a:ext>
                    </a:extLst>
                  </p:cNvPr>
                  <p:cNvSpPr txBox="1"/>
                  <p:nvPr/>
                </p:nvSpPr>
                <p:spPr>
                  <a:xfrm>
                    <a:off x="1567009" y="5000026"/>
                    <a:ext cx="903889" cy="1056058"/>
                  </a:xfrm>
                  <a:prstGeom prst="rect">
                    <a:avLst/>
                  </a:prstGeom>
                  <a:noFill/>
                </p:spPr>
                <p:txBody>
                  <a:bodyPr wrap="square" rtlCol="0">
                    <a:spAutoFit/>
                  </a:bodyPr>
                  <a:lstStyle/>
                  <a:p>
                    <a:pPr algn="ctr"/>
                    <a:r>
                      <a:rPr lang="en-US" altLang="zh-TW" sz="2000" dirty="0"/>
                      <a:t>reward</a:t>
                    </a:r>
                  </a:p>
                  <a:p>
                    <a:pPr algn="ctr"/>
                    <a14:m>
                      <m:oMathPara xmlns:m="http://schemas.openxmlformats.org/officeDocument/2006/math">
                        <m:oMathParaPr>
                          <m:jc m:val="centerGroup"/>
                        </m:oMathParaPr>
                        <m:oMath xmlns:m="http://schemas.openxmlformats.org/officeDocument/2006/math">
                          <m:sSubSup>
                            <m:sSubSupPr>
                              <m:ctrlPr>
                                <a:rPr lang="en-US" altLang="zh-TW" sz="2000" i="1">
                                  <a:latin typeface="Cambria Math" panose="02040503050406030204" pitchFamily="18" charset="0"/>
                                </a:rPr>
                              </m:ctrlPr>
                            </m:sSubSupPr>
                            <m:e>
                              <m:r>
                                <a:rPr lang="en-US" altLang="zh-TW" sz="2000" i="1">
                                  <a:latin typeface="Cambria Math" panose="02040503050406030204" pitchFamily="18" charset="0"/>
                                </a:rPr>
                                <m:t>𝑃</m:t>
                              </m:r>
                            </m:e>
                            <m:sub>
                              <m:r>
                                <a:rPr lang="en-US" altLang="zh-TW" sz="2000" b="0" i="1" smtClean="0">
                                  <a:latin typeface="Cambria Math" panose="02040503050406030204" pitchFamily="18" charset="0"/>
                                </a:rPr>
                                <m:t>𝑒</m:t>
                              </m:r>
                              <m:r>
                                <a:rPr lang="en-US" altLang="zh-TW" sz="2000" b="0" i="1" smtClean="0">
                                  <a:latin typeface="Cambria Math" panose="02040503050406030204" pitchFamily="18" charset="0"/>
                                </a:rPr>
                                <m:t>,</m:t>
                              </m:r>
                              <m:r>
                                <a:rPr lang="en-US" altLang="zh-TW" sz="2000" i="1">
                                  <a:latin typeface="Cambria Math" panose="02040503050406030204" pitchFamily="18" charset="0"/>
                                </a:rPr>
                                <m:t>𝑖</m:t>
                              </m:r>
                            </m:sub>
                            <m:sup>
                              <m:r>
                                <a:rPr lang="en-US" altLang="zh-TW" sz="2000" i="1">
                                  <a:latin typeface="Cambria Math" panose="02040503050406030204" pitchFamily="18" charset="0"/>
                                </a:rPr>
                                <m:t>𝐵</m:t>
                              </m:r>
                            </m:sup>
                          </m:sSubSup>
                        </m:oMath>
                      </m:oMathPara>
                    </a14:m>
                    <a:endParaRPr lang="en-US" altLang="zh-TW" sz="2000" dirty="0"/>
                  </a:p>
                  <a:p>
                    <a:pPr algn="ctr"/>
                    <a:endParaRPr lang="en-US" altLang="zh-TW" sz="2000" dirty="0"/>
                  </a:p>
                </p:txBody>
              </p:sp>
            </mc:Choice>
            <mc:Fallback>
              <p:sp>
                <p:nvSpPr>
                  <p:cNvPr id="41" name="文字方塊 39">
                    <a:extLst>
                      <a:ext uri="{FF2B5EF4-FFF2-40B4-BE49-F238E27FC236}">
                        <a16:creationId xmlns:a16="http://schemas.microsoft.com/office/drawing/2014/main" id="{11D1F68C-C5BE-5DF6-E722-9B940F2349CD}"/>
                      </a:ext>
                    </a:extLst>
                  </p:cNvPr>
                  <p:cNvSpPr txBox="1">
                    <a:spLocks noRot="1" noChangeAspect="1" noMove="1" noResize="1" noEditPoints="1" noAdjustHandles="1" noChangeArrowheads="1" noChangeShapeType="1" noTextEdit="1"/>
                  </p:cNvSpPr>
                  <p:nvPr/>
                </p:nvSpPr>
                <p:spPr>
                  <a:xfrm>
                    <a:off x="1567009" y="5000026"/>
                    <a:ext cx="903889" cy="1056058"/>
                  </a:xfrm>
                  <a:prstGeom prst="rect">
                    <a:avLst/>
                  </a:prstGeom>
                  <a:blipFill>
                    <a:blip r:embed="rId7"/>
                    <a:stretch>
                      <a:fillRect l="-6711" t="-3468" r="-6040"/>
                    </a:stretch>
                  </a:blipFill>
                </p:spPr>
                <p:txBody>
                  <a:bodyPr/>
                  <a:lstStyle/>
                  <a:p>
                    <a:r>
                      <a:rPr lang="en-US">
                        <a:noFill/>
                      </a:rPr>
                      <a:t> </a:t>
                    </a:r>
                  </a:p>
                </p:txBody>
              </p:sp>
            </mc:Fallback>
          </mc:AlternateContent>
          <p:cxnSp>
            <p:nvCxnSpPr>
              <p:cNvPr id="42" name="直線接點 40">
                <a:extLst>
                  <a:ext uri="{FF2B5EF4-FFF2-40B4-BE49-F238E27FC236}">
                    <a16:creationId xmlns:a16="http://schemas.microsoft.com/office/drawing/2014/main" id="{0476BBD7-1BE4-CFBB-A272-9BB4AC541859}"/>
                  </a:ext>
                </a:extLst>
              </p:cNvPr>
              <p:cNvCxnSpPr>
                <a:cxnSpLocks/>
              </p:cNvCxnSpPr>
              <p:nvPr/>
            </p:nvCxnSpPr>
            <p:spPr>
              <a:xfrm flipH="1" flipV="1">
                <a:off x="1516119" y="4621994"/>
                <a:ext cx="1" cy="14197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單箭頭接點 41">
                <a:extLst>
                  <a:ext uri="{FF2B5EF4-FFF2-40B4-BE49-F238E27FC236}">
                    <a16:creationId xmlns:a16="http://schemas.microsoft.com/office/drawing/2014/main" id="{8AADD4AB-9E9C-2A41-72A6-5E87098EC26E}"/>
                  </a:ext>
                </a:extLst>
              </p:cNvPr>
              <p:cNvCxnSpPr>
                <a:cxnSpLocks/>
              </p:cNvCxnSpPr>
              <p:nvPr/>
            </p:nvCxnSpPr>
            <p:spPr>
              <a:xfrm>
                <a:off x="1516119" y="4621994"/>
                <a:ext cx="101784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id="{9D820630-368D-CD4A-F985-4FD9F28FE6E2}"/>
                  </a:ext>
                </a:extLst>
              </p:cNvPr>
              <p:cNvCxnSpPr>
                <a:cxnSpLocks/>
              </p:cNvCxnSpPr>
              <p:nvPr/>
            </p:nvCxnSpPr>
            <p:spPr>
              <a:xfrm flipH="1">
                <a:off x="1295400" y="6334518"/>
                <a:ext cx="22459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15B57701-0E47-9F50-32A1-5627D7D02B69}"/>
                  </a:ext>
                </a:extLst>
              </p:cNvPr>
              <p:cNvCxnSpPr>
                <a:cxnSpLocks/>
              </p:cNvCxnSpPr>
              <p:nvPr/>
            </p:nvCxnSpPr>
            <p:spPr>
              <a:xfrm flipH="1" flipV="1">
                <a:off x="1262274" y="4027408"/>
                <a:ext cx="33126" cy="23071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單箭頭接點 45">
                <a:extLst>
                  <a:ext uri="{FF2B5EF4-FFF2-40B4-BE49-F238E27FC236}">
                    <a16:creationId xmlns:a16="http://schemas.microsoft.com/office/drawing/2014/main" id="{1A45EF70-D2EB-3522-82FC-231C3302C9C8}"/>
                  </a:ext>
                </a:extLst>
              </p:cNvPr>
              <p:cNvCxnSpPr>
                <a:cxnSpLocks/>
                <a:endCxn id="26" idx="1"/>
              </p:cNvCxnSpPr>
              <p:nvPr/>
            </p:nvCxnSpPr>
            <p:spPr>
              <a:xfrm>
                <a:off x="1262274" y="4027408"/>
                <a:ext cx="1674596" cy="94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7" name="文字方塊 46">
                    <a:extLst>
                      <a:ext uri="{FF2B5EF4-FFF2-40B4-BE49-F238E27FC236}">
                        <a16:creationId xmlns:a16="http://schemas.microsoft.com/office/drawing/2014/main" id="{B14A5E09-F3B1-937F-3FC5-B1CFA28F90EE}"/>
                      </a:ext>
                    </a:extLst>
                  </p:cNvPr>
                  <p:cNvSpPr txBox="1"/>
                  <p:nvPr/>
                </p:nvSpPr>
                <p:spPr>
                  <a:xfrm>
                    <a:off x="521569" y="4477321"/>
                    <a:ext cx="806958" cy="748282"/>
                  </a:xfrm>
                  <a:prstGeom prst="rect">
                    <a:avLst/>
                  </a:prstGeom>
                  <a:noFill/>
                </p:spPr>
                <p:txBody>
                  <a:bodyPr wrap="square" rtlCol="0">
                    <a:spAutoFit/>
                  </a:bodyPr>
                  <a:lstStyle/>
                  <a:p>
                    <a:pPr algn="ctr"/>
                    <a:r>
                      <a:rPr lang="en-US" altLang="zh-TW" sz="2000" dirty="0"/>
                      <a:t>state</a:t>
                    </a:r>
                  </a:p>
                  <a:p>
                    <a:pPr algn="ctr"/>
                    <a14:m>
                      <m:oMathPara xmlns:m="http://schemas.openxmlformats.org/officeDocument/2006/math">
                        <m:oMathParaPr>
                          <m:jc m:val="centerGroup"/>
                        </m:oMathParaPr>
                        <m:oMath xmlns:m="http://schemas.openxmlformats.org/officeDocument/2006/math">
                          <m:sSubSup>
                            <m:sSubSupPr>
                              <m:ctrlPr>
                                <a:rPr lang="en-US" altLang="zh-TW" sz="2000" i="1">
                                  <a:latin typeface="Cambria Math" panose="02040503050406030204" pitchFamily="18" charset="0"/>
                                </a:rPr>
                              </m:ctrlPr>
                            </m:sSubSupPr>
                            <m:e>
                              <m:r>
                                <a:rPr lang="en-US" altLang="zh-TW" sz="2000" b="0" i="1" smtClean="0">
                                  <a:latin typeface="Cambria Math" panose="02040503050406030204" pitchFamily="18" charset="0"/>
                                </a:rPr>
                                <m:t>𝑂</m:t>
                              </m:r>
                            </m:e>
                            <m:sub>
                              <m:r>
                                <a:rPr lang="en-US" altLang="zh-TW" sz="2000" b="0" i="1" smtClean="0">
                                  <a:latin typeface="Cambria Math" panose="02040503050406030204" pitchFamily="18" charset="0"/>
                                </a:rPr>
                                <m:t>𝑒</m:t>
                              </m:r>
                              <m:r>
                                <a:rPr lang="en-US" altLang="zh-TW" sz="2000" b="0" i="1" smtClean="0">
                                  <a:latin typeface="Cambria Math" panose="02040503050406030204" pitchFamily="18" charset="0"/>
                                </a:rPr>
                                <m:t>,</m:t>
                              </m:r>
                              <m:r>
                                <a:rPr lang="en-US" altLang="zh-TW" sz="2000" i="1">
                                  <a:latin typeface="Cambria Math" panose="02040503050406030204" pitchFamily="18" charset="0"/>
                                </a:rPr>
                                <m:t>𝑖</m:t>
                              </m:r>
                            </m:sub>
                            <m:sup>
                              <m:r>
                                <a:rPr lang="en-US" altLang="zh-TW" sz="2000" i="1">
                                  <a:latin typeface="Cambria Math" panose="02040503050406030204" pitchFamily="18" charset="0"/>
                                </a:rPr>
                                <m:t>𝐵</m:t>
                              </m:r>
                            </m:sup>
                          </m:sSubSup>
                        </m:oMath>
                      </m:oMathPara>
                    </a14:m>
                    <a:endParaRPr lang="en-US" altLang="zh-TW" sz="2000" dirty="0"/>
                  </a:p>
                </p:txBody>
              </p:sp>
            </mc:Choice>
            <mc:Fallback>
              <p:sp>
                <p:nvSpPr>
                  <p:cNvPr id="47" name="文字方塊 46">
                    <a:extLst>
                      <a:ext uri="{FF2B5EF4-FFF2-40B4-BE49-F238E27FC236}">
                        <a16:creationId xmlns:a16="http://schemas.microsoft.com/office/drawing/2014/main" id="{B14A5E09-F3B1-937F-3FC5-B1CFA28F90EE}"/>
                      </a:ext>
                    </a:extLst>
                  </p:cNvPr>
                  <p:cNvSpPr txBox="1">
                    <a:spLocks noRot="1" noChangeAspect="1" noMove="1" noResize="1" noEditPoints="1" noAdjustHandles="1" noChangeArrowheads="1" noChangeShapeType="1" noTextEdit="1"/>
                  </p:cNvSpPr>
                  <p:nvPr/>
                </p:nvSpPr>
                <p:spPr>
                  <a:xfrm>
                    <a:off x="521569" y="4477321"/>
                    <a:ext cx="806958" cy="748282"/>
                  </a:xfrm>
                  <a:prstGeom prst="rect">
                    <a:avLst/>
                  </a:prstGeom>
                  <a:blipFill>
                    <a:blip r:embed="rId8"/>
                    <a:stretch>
                      <a:fillRect t="-4878"/>
                    </a:stretch>
                  </a:blipFill>
                </p:spPr>
                <p:txBody>
                  <a:bodyPr/>
                  <a:lstStyle/>
                  <a:p>
                    <a:r>
                      <a:rPr lang="en-US">
                        <a:noFill/>
                      </a:rPr>
                      <a:t> </a:t>
                    </a:r>
                  </a:p>
                </p:txBody>
              </p:sp>
            </mc:Fallback>
          </mc:AlternateContent>
          <p:cxnSp>
            <p:nvCxnSpPr>
              <p:cNvPr id="48" name="直線單箭頭接點 47">
                <a:extLst>
                  <a:ext uri="{FF2B5EF4-FFF2-40B4-BE49-F238E27FC236}">
                    <a16:creationId xmlns:a16="http://schemas.microsoft.com/office/drawing/2014/main" id="{1EDA4B3C-050A-25F2-9AB8-ACF8A09D17B9}"/>
                  </a:ext>
                </a:extLst>
              </p:cNvPr>
              <p:cNvCxnSpPr>
                <a:cxnSpLocks/>
              </p:cNvCxnSpPr>
              <p:nvPr/>
            </p:nvCxnSpPr>
            <p:spPr>
              <a:xfrm flipH="1">
                <a:off x="7392693" y="6121455"/>
                <a:ext cx="115400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Diamond 14">
                <a:extLst>
                  <a:ext uri="{FF2B5EF4-FFF2-40B4-BE49-F238E27FC236}">
                    <a16:creationId xmlns:a16="http://schemas.microsoft.com/office/drawing/2014/main" id="{B1E98D5B-93CE-45C6-AF35-46CB33652AC1}"/>
                  </a:ext>
                </a:extLst>
              </p:cNvPr>
              <p:cNvSpPr/>
              <p:nvPr/>
            </p:nvSpPr>
            <p:spPr>
              <a:xfrm>
                <a:off x="4993787" y="3736645"/>
                <a:ext cx="690482" cy="604802"/>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6" name="Rectangle: Rounded Corners 25">
                <a:extLst>
                  <a:ext uri="{FF2B5EF4-FFF2-40B4-BE49-F238E27FC236}">
                    <a16:creationId xmlns:a16="http://schemas.microsoft.com/office/drawing/2014/main" id="{55FAE5A6-E7D9-4601-BE89-97C29485FFF0}"/>
                  </a:ext>
                </a:extLst>
              </p:cNvPr>
              <p:cNvSpPr/>
              <p:nvPr/>
            </p:nvSpPr>
            <p:spPr>
              <a:xfrm>
                <a:off x="2936870" y="3732391"/>
                <a:ext cx="1272310" cy="60892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Detection</a:t>
                </a:r>
              </a:p>
            </p:txBody>
          </p:sp>
          <p:sp>
            <p:nvSpPr>
              <p:cNvPr id="27" name="Rectangle: Rounded Corners 26">
                <a:extLst>
                  <a:ext uri="{FF2B5EF4-FFF2-40B4-BE49-F238E27FC236}">
                    <a16:creationId xmlns:a16="http://schemas.microsoft.com/office/drawing/2014/main" id="{6911B664-AF6E-4E19-B08D-F82231DD336A}"/>
                  </a:ext>
                </a:extLst>
              </p:cNvPr>
              <p:cNvSpPr/>
              <p:nvPr/>
            </p:nvSpPr>
            <p:spPr>
              <a:xfrm>
                <a:off x="6749545" y="3762644"/>
                <a:ext cx="1229040" cy="57867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Response</a:t>
                </a:r>
              </a:p>
            </p:txBody>
          </p:sp>
          <p:cxnSp>
            <p:nvCxnSpPr>
              <p:cNvPr id="49" name="Straight Arrow Connector 48">
                <a:extLst>
                  <a:ext uri="{FF2B5EF4-FFF2-40B4-BE49-F238E27FC236}">
                    <a16:creationId xmlns:a16="http://schemas.microsoft.com/office/drawing/2014/main" id="{CD2113B0-F685-429C-8C1C-A4813F6B9ED0}"/>
                  </a:ext>
                </a:extLst>
              </p:cNvPr>
              <p:cNvCxnSpPr>
                <a:cxnSpLocks/>
              </p:cNvCxnSpPr>
              <p:nvPr/>
            </p:nvCxnSpPr>
            <p:spPr>
              <a:xfrm flipV="1">
                <a:off x="4198578" y="4041758"/>
                <a:ext cx="802856" cy="844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mc:Choice xmlns:a14="http://schemas.microsoft.com/office/drawing/2010/main" Requires="a14">
              <p:sp>
                <p:nvSpPr>
                  <p:cNvPr id="50" name="TextBox 49">
                    <a:extLst>
                      <a:ext uri="{FF2B5EF4-FFF2-40B4-BE49-F238E27FC236}">
                        <a16:creationId xmlns:a16="http://schemas.microsoft.com/office/drawing/2014/main" id="{845CB123-4ADC-4A93-AC42-08B2D887823B}"/>
                      </a:ext>
                    </a:extLst>
                  </p:cNvPr>
                  <p:cNvSpPr txBox="1"/>
                  <p:nvPr/>
                </p:nvSpPr>
                <p:spPr>
                  <a:xfrm>
                    <a:off x="4601487" y="3892916"/>
                    <a:ext cx="1508168" cy="2689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i="1">
                                  <a:latin typeface="Cambria Math" panose="02040503050406030204" pitchFamily="18" charset="0"/>
                                </a:rPr>
                              </m:ctrlPr>
                            </m:sSubPr>
                            <m:e>
                              <m:r>
                                <a:rPr lang="en-US" sz="1100" i="1">
                                  <a:latin typeface="Cambria Math" panose="02040503050406030204" pitchFamily="18" charset="0"/>
                                </a:rPr>
                                <m:t>𝐷</m:t>
                              </m:r>
                            </m:e>
                            <m:sub>
                              <m:r>
                                <a:rPr lang="en-US" sz="1100" i="1">
                                  <a:latin typeface="Cambria Math" panose="02040503050406030204" pitchFamily="18" charset="0"/>
                                </a:rPr>
                                <m:t>𝑒</m:t>
                              </m:r>
                              <m:r>
                                <a:rPr lang="en-US" sz="1100" i="1">
                                  <a:latin typeface="Cambria Math" panose="02040503050406030204" pitchFamily="18" charset="0"/>
                                </a:rPr>
                                <m:t>,</m:t>
                              </m:r>
                              <m:r>
                                <a:rPr lang="en-US" sz="1100" i="1">
                                  <a:latin typeface="Cambria Math" panose="02040503050406030204" pitchFamily="18" charset="0"/>
                                </a:rPr>
                                <m:t>𝑖</m:t>
                              </m:r>
                            </m:sub>
                          </m:sSub>
                          <m:r>
                            <a:rPr lang="en-US" sz="1100" b="0" i="0" smtClean="0">
                              <a:latin typeface="Cambria Math" panose="02040503050406030204" pitchFamily="18" charset="0"/>
                            </a:rPr>
                            <m:t>=1 </m:t>
                          </m:r>
                        </m:oMath>
                      </m:oMathPara>
                    </a14:m>
                    <a:endParaRPr lang="en-US" sz="1100" dirty="0"/>
                  </a:p>
                </p:txBody>
              </p:sp>
            </mc:Choice>
            <mc:Fallback>
              <p:sp>
                <p:nvSpPr>
                  <p:cNvPr id="50" name="TextBox 49">
                    <a:extLst>
                      <a:ext uri="{FF2B5EF4-FFF2-40B4-BE49-F238E27FC236}">
                        <a16:creationId xmlns:a16="http://schemas.microsoft.com/office/drawing/2014/main" id="{845CB123-4ADC-4A93-AC42-08B2D887823B}"/>
                      </a:ext>
                    </a:extLst>
                  </p:cNvPr>
                  <p:cNvSpPr txBox="1">
                    <a:spLocks noRot="1" noChangeAspect="1" noMove="1" noResize="1" noEditPoints="1" noAdjustHandles="1" noChangeArrowheads="1" noChangeShapeType="1" noTextEdit="1"/>
                  </p:cNvSpPr>
                  <p:nvPr/>
                </p:nvSpPr>
                <p:spPr>
                  <a:xfrm>
                    <a:off x="4601487" y="3892916"/>
                    <a:ext cx="1508168" cy="268984"/>
                  </a:xfrm>
                  <a:prstGeom prst="rect">
                    <a:avLst/>
                  </a:prstGeom>
                  <a:blipFill>
                    <a:blip r:embed="rId9"/>
                    <a:stretch>
                      <a:fillRect/>
                    </a:stretch>
                  </a:blipFill>
                </p:spPr>
                <p:txBody>
                  <a:bodyPr/>
                  <a:lstStyle/>
                  <a:p>
                    <a:r>
                      <a:rPr lang="en-US">
                        <a:noFill/>
                      </a:rPr>
                      <a:t> </a:t>
                    </a:r>
                  </a:p>
                </p:txBody>
              </p:sp>
            </mc:Fallback>
          </mc:AlternateContent>
          <p:cxnSp>
            <p:nvCxnSpPr>
              <p:cNvPr id="51" name="Straight Arrow Connector 50">
                <a:extLst>
                  <a:ext uri="{FF2B5EF4-FFF2-40B4-BE49-F238E27FC236}">
                    <a16:creationId xmlns:a16="http://schemas.microsoft.com/office/drawing/2014/main" id="{1107AE0D-0830-4232-80AA-631C3328DE32}"/>
                  </a:ext>
                </a:extLst>
              </p:cNvPr>
              <p:cNvCxnSpPr>
                <a:cxnSpLocks/>
              </p:cNvCxnSpPr>
              <p:nvPr/>
            </p:nvCxnSpPr>
            <p:spPr>
              <a:xfrm>
                <a:off x="5684269" y="4039046"/>
                <a:ext cx="1089904" cy="2613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mc:Choice xmlns:a14="http://schemas.microsoft.com/office/drawing/2010/main" Requires="a14">
              <p:sp>
                <p:nvSpPr>
                  <p:cNvPr id="52" name="TextBox 51">
                    <a:extLst>
                      <a:ext uri="{FF2B5EF4-FFF2-40B4-BE49-F238E27FC236}">
                        <a16:creationId xmlns:a16="http://schemas.microsoft.com/office/drawing/2014/main" id="{0726A67B-E198-40AC-AB28-5589CFBBE445}"/>
                      </a:ext>
                    </a:extLst>
                  </p:cNvPr>
                  <p:cNvSpPr txBox="1"/>
                  <p:nvPr/>
                </p:nvSpPr>
                <p:spPr>
                  <a:xfrm>
                    <a:off x="5588493" y="3702261"/>
                    <a:ext cx="1216748" cy="335989"/>
                  </a:xfrm>
                  <a:prstGeom prst="rect">
                    <a:avLst/>
                  </a:prstGeom>
                  <a:noFill/>
                </p:spPr>
                <p:txBody>
                  <a:bodyPr wrap="square">
                    <a:spAutoFit/>
                  </a:bodyPr>
                  <a:lstStyle/>
                  <a:p>
                    <a14:m>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𝑌𝑒𝑠</m:t>
                            </m:r>
                            <m:r>
                              <a:rPr lang="en-US" sz="1400" b="0" i="1" smtClean="0">
                                <a:latin typeface="Cambria Math" panose="02040503050406030204" pitchFamily="18" charset="0"/>
                              </a:rPr>
                              <m:t>:</m:t>
                            </m:r>
                            <m:r>
                              <a:rPr lang="en-US" sz="1400" i="1">
                                <a:latin typeface="Cambria Math" panose="02040503050406030204" pitchFamily="18" charset="0"/>
                              </a:rPr>
                              <m:t>𝐹</m:t>
                            </m:r>
                          </m:e>
                          <m:sub>
                            <m:r>
                              <a:rPr lang="en-US" sz="1400" i="1">
                                <a:latin typeface="Cambria Math" panose="02040503050406030204" pitchFamily="18" charset="0"/>
                              </a:rPr>
                              <m:t>𝑒</m:t>
                            </m:r>
                            <m:r>
                              <a:rPr lang="en-US" sz="1400" i="1">
                                <a:latin typeface="Cambria Math" panose="02040503050406030204" pitchFamily="18" charset="0"/>
                              </a:rPr>
                              <m:t>,</m:t>
                            </m:r>
                            <m:r>
                              <a:rPr lang="en-US" sz="1400" i="1">
                                <a:latin typeface="Cambria Math" panose="02040503050406030204" pitchFamily="18" charset="0"/>
                              </a:rPr>
                              <m:t>𝑖</m:t>
                            </m:r>
                          </m:sub>
                        </m:sSub>
                      </m:oMath>
                    </a14:m>
                    <a:r>
                      <a:rPr lang="en-US" sz="1400" dirty="0"/>
                      <a:t>,</a:t>
                    </a:r>
                    <a:r>
                      <a:rPr lang="en-US" altLang="zh-TW" sz="1400" dirty="0"/>
                      <a:t> </a:t>
                    </a:r>
                    <a14:m>
                      <m:oMath xmlns:m="http://schemas.openxmlformats.org/officeDocument/2006/math">
                        <m:sSubSup>
                          <m:sSubSupPr>
                            <m:ctrlPr>
                              <a:rPr lang="en-US" altLang="zh-TW" sz="1400" i="1">
                                <a:latin typeface="Cambria Math" panose="02040503050406030204" pitchFamily="18" charset="0"/>
                              </a:rPr>
                            </m:ctrlPr>
                          </m:sSubSupPr>
                          <m:e>
                            <m:r>
                              <a:rPr lang="en-US" altLang="zh-TW" sz="1400" i="1">
                                <a:latin typeface="Cambria Math" panose="02040503050406030204" pitchFamily="18" charset="0"/>
                              </a:rPr>
                              <m:t>𝑂</m:t>
                            </m:r>
                          </m:e>
                          <m:sub>
                            <m:r>
                              <a:rPr lang="en-US" altLang="zh-TW" sz="1400" i="1">
                                <a:latin typeface="Cambria Math" panose="02040503050406030204" pitchFamily="18" charset="0"/>
                              </a:rPr>
                              <m:t>𝑒</m:t>
                            </m:r>
                            <m:r>
                              <a:rPr lang="en-US" altLang="zh-TW" sz="1400" i="1">
                                <a:latin typeface="Cambria Math" panose="02040503050406030204" pitchFamily="18" charset="0"/>
                              </a:rPr>
                              <m:t>,</m:t>
                            </m:r>
                            <m:r>
                              <a:rPr lang="en-US" altLang="zh-TW" sz="1400" i="1">
                                <a:latin typeface="Cambria Math" panose="02040503050406030204" pitchFamily="18" charset="0"/>
                              </a:rPr>
                              <m:t>𝑖</m:t>
                            </m:r>
                          </m:sub>
                          <m:sup>
                            <m:r>
                              <a:rPr lang="en-US" altLang="zh-TW" sz="1400" i="1">
                                <a:latin typeface="Cambria Math" panose="02040503050406030204" pitchFamily="18" charset="0"/>
                              </a:rPr>
                              <m:t>𝐵</m:t>
                            </m:r>
                          </m:sup>
                        </m:sSubSup>
                      </m:oMath>
                    </a14:m>
                    <a:endParaRPr lang="en-US" sz="1400" dirty="0"/>
                  </a:p>
                </p:txBody>
              </p:sp>
            </mc:Choice>
            <mc:Fallback>
              <p:sp>
                <p:nvSpPr>
                  <p:cNvPr id="52" name="TextBox 51">
                    <a:extLst>
                      <a:ext uri="{FF2B5EF4-FFF2-40B4-BE49-F238E27FC236}">
                        <a16:creationId xmlns:a16="http://schemas.microsoft.com/office/drawing/2014/main" id="{0726A67B-E198-40AC-AB28-5589CFBBE445}"/>
                      </a:ext>
                    </a:extLst>
                  </p:cNvPr>
                  <p:cNvSpPr txBox="1">
                    <a:spLocks noRot="1" noChangeAspect="1" noMove="1" noResize="1" noEditPoints="1" noAdjustHandles="1" noChangeArrowheads="1" noChangeShapeType="1" noTextEdit="1"/>
                  </p:cNvSpPr>
                  <p:nvPr/>
                </p:nvSpPr>
                <p:spPr>
                  <a:xfrm>
                    <a:off x="5588493" y="3702261"/>
                    <a:ext cx="1216748" cy="335989"/>
                  </a:xfrm>
                  <a:prstGeom prst="rect">
                    <a:avLst/>
                  </a:prstGeom>
                  <a:blipFill>
                    <a:blip r:embed="rId10"/>
                    <a:stretch>
                      <a:fillRect b="-12727"/>
                    </a:stretch>
                  </a:blipFill>
                </p:spPr>
                <p:txBody>
                  <a:bodyPr/>
                  <a:lstStyle/>
                  <a:p>
                    <a:r>
                      <a:rPr lang="en-US">
                        <a:noFill/>
                      </a:rPr>
                      <a:t> </a:t>
                    </a:r>
                  </a:p>
                </p:txBody>
              </p:sp>
            </mc:Fallback>
          </mc:AlternateContent>
          <p:sp>
            <p:nvSpPr>
              <p:cNvPr id="54" name="Flowchart: Magnetic Disk 53">
                <a:extLst>
                  <a:ext uri="{FF2B5EF4-FFF2-40B4-BE49-F238E27FC236}">
                    <a16:creationId xmlns:a16="http://schemas.microsoft.com/office/drawing/2014/main" id="{37ADDF88-7BC0-4B12-9602-582E4163CEF4}"/>
                  </a:ext>
                </a:extLst>
              </p:cNvPr>
              <p:cNvSpPr/>
              <p:nvPr/>
            </p:nvSpPr>
            <p:spPr>
              <a:xfrm>
                <a:off x="6967556" y="4768164"/>
                <a:ext cx="793017" cy="535496"/>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900" dirty="0"/>
                  <a:t>Blue Action Space</a:t>
                </a:r>
              </a:p>
            </p:txBody>
          </p:sp>
          <p:cxnSp>
            <p:nvCxnSpPr>
              <p:cNvPr id="55" name="Straight Arrow Connector 54">
                <a:extLst>
                  <a:ext uri="{FF2B5EF4-FFF2-40B4-BE49-F238E27FC236}">
                    <a16:creationId xmlns:a16="http://schemas.microsoft.com/office/drawing/2014/main" id="{A7F93AAB-8EC1-4EAE-9EAE-CBAFB42CA4E1}"/>
                  </a:ext>
                </a:extLst>
              </p:cNvPr>
              <p:cNvCxnSpPr>
                <a:cxnSpLocks/>
              </p:cNvCxnSpPr>
              <p:nvPr/>
            </p:nvCxnSpPr>
            <p:spPr>
              <a:xfrm flipV="1">
                <a:off x="7314608" y="4341317"/>
                <a:ext cx="0" cy="426847"/>
              </a:xfrm>
              <a:prstGeom prst="straightConnector1">
                <a:avLst/>
              </a:prstGeom>
              <a:ln>
                <a:prstDash val="sysDot"/>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mc:Choice xmlns:a14="http://schemas.microsoft.com/office/drawing/2010/main" Requires="a14">
              <p:sp>
                <p:nvSpPr>
                  <p:cNvPr id="56" name="TextBox 55">
                    <a:extLst>
                      <a:ext uri="{FF2B5EF4-FFF2-40B4-BE49-F238E27FC236}">
                        <a16:creationId xmlns:a16="http://schemas.microsoft.com/office/drawing/2014/main" id="{A7B7E761-8C7A-4A46-881C-D076B65E69A8}"/>
                      </a:ext>
                    </a:extLst>
                  </p:cNvPr>
                  <p:cNvSpPr txBox="1"/>
                  <p:nvPr/>
                </p:nvSpPr>
                <p:spPr>
                  <a:xfrm>
                    <a:off x="4252625" y="3747955"/>
                    <a:ext cx="378206" cy="3172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𝑒</m:t>
                              </m:r>
                              <m:r>
                                <a:rPr lang="en-US" sz="1400" b="0" i="1" smtClean="0">
                                  <a:latin typeface="Cambria Math" panose="02040503050406030204" pitchFamily="18" charset="0"/>
                                </a:rPr>
                                <m:t>,</m:t>
                              </m:r>
                              <m:r>
                                <a:rPr lang="en-US" sz="1400" b="0" i="1" smtClean="0">
                                  <a:latin typeface="Cambria Math" panose="02040503050406030204" pitchFamily="18" charset="0"/>
                                </a:rPr>
                                <m:t>𝑖</m:t>
                              </m:r>
                            </m:sub>
                          </m:sSub>
                        </m:oMath>
                      </m:oMathPara>
                    </a14:m>
                    <a:endParaRPr lang="en-US" sz="1400" dirty="0"/>
                  </a:p>
                </p:txBody>
              </p:sp>
            </mc:Choice>
            <mc:Fallback>
              <p:sp>
                <p:nvSpPr>
                  <p:cNvPr id="56" name="TextBox 55">
                    <a:extLst>
                      <a:ext uri="{FF2B5EF4-FFF2-40B4-BE49-F238E27FC236}">
                        <a16:creationId xmlns:a16="http://schemas.microsoft.com/office/drawing/2014/main" id="{A7B7E761-8C7A-4A46-881C-D076B65E69A8}"/>
                      </a:ext>
                    </a:extLst>
                  </p:cNvPr>
                  <p:cNvSpPr txBox="1">
                    <a:spLocks noRot="1" noChangeAspect="1" noMove="1" noResize="1" noEditPoints="1" noAdjustHandles="1" noChangeArrowheads="1" noChangeShapeType="1" noTextEdit="1"/>
                  </p:cNvSpPr>
                  <p:nvPr/>
                </p:nvSpPr>
                <p:spPr>
                  <a:xfrm>
                    <a:off x="4252625" y="3747955"/>
                    <a:ext cx="378206" cy="317203"/>
                  </a:xfrm>
                  <a:prstGeom prst="rect">
                    <a:avLst/>
                  </a:prstGeom>
                  <a:blipFill>
                    <a:blip r:embed="rId11"/>
                    <a:stretch>
                      <a:fillRect r="-4839"/>
                    </a:stretch>
                  </a:blipFill>
                </p:spPr>
                <p:txBody>
                  <a:bodyPr/>
                  <a:lstStyle/>
                  <a:p>
                    <a:r>
                      <a:rPr lang="en-US">
                        <a:noFill/>
                      </a:rPr>
                      <a:t> </a:t>
                    </a:r>
                  </a:p>
                </p:txBody>
              </p:sp>
            </mc:Fallback>
          </mc:AlternateContent>
          <p:cxnSp>
            <p:nvCxnSpPr>
              <p:cNvPr id="57" name="Connector: Elbow 56">
                <a:extLst>
                  <a:ext uri="{FF2B5EF4-FFF2-40B4-BE49-F238E27FC236}">
                    <a16:creationId xmlns:a16="http://schemas.microsoft.com/office/drawing/2014/main" id="{4DF61CE6-BCA0-48E0-9D11-2511FE64A39A}"/>
                  </a:ext>
                </a:extLst>
              </p:cNvPr>
              <p:cNvCxnSpPr>
                <a:cxnSpLocks/>
                <a:stCxn id="15" idx="2"/>
                <a:endCxn id="28" idx="3"/>
              </p:cNvCxnSpPr>
              <p:nvPr/>
            </p:nvCxnSpPr>
            <p:spPr>
              <a:xfrm rot="5400000" flipH="1" flipV="1">
                <a:off x="6761170" y="2904775"/>
                <a:ext cx="14529" cy="2858815"/>
              </a:xfrm>
              <a:prstGeom prst="bentConnector4">
                <a:avLst>
                  <a:gd name="adj1" fmla="val -2345681"/>
                  <a:gd name="adj2" fmla="val 96069"/>
                </a:avLst>
              </a:prstGeom>
              <a:ln>
                <a:tailEnd type="triangle"/>
              </a:ln>
            </p:spPr>
            <p:style>
              <a:lnRef idx="2">
                <a:schemeClr val="dk1"/>
              </a:lnRef>
              <a:fillRef idx="0">
                <a:schemeClr val="dk1"/>
              </a:fillRef>
              <a:effectRef idx="1">
                <a:schemeClr val="dk1"/>
              </a:effectRef>
              <a:fontRef idx="minor">
                <a:schemeClr val="tx1"/>
              </a:fontRef>
            </p:style>
          </p:cxnSp>
          <p:cxnSp>
            <p:nvCxnSpPr>
              <p:cNvPr id="63" name="Connector: Elbow 62">
                <a:extLst>
                  <a:ext uri="{FF2B5EF4-FFF2-40B4-BE49-F238E27FC236}">
                    <a16:creationId xmlns:a16="http://schemas.microsoft.com/office/drawing/2014/main" id="{3085C755-083D-4D4B-BF66-DFE358160B00}"/>
                  </a:ext>
                </a:extLst>
              </p:cNvPr>
              <p:cNvCxnSpPr>
                <a:cxnSpLocks/>
                <a:endCxn id="28" idx="3"/>
              </p:cNvCxnSpPr>
              <p:nvPr/>
            </p:nvCxnSpPr>
            <p:spPr>
              <a:xfrm rot="16200000" flipH="1">
                <a:off x="7956908" y="4085983"/>
                <a:ext cx="280938" cy="200931"/>
              </a:xfrm>
              <a:prstGeom prst="bentConnector4">
                <a:avLst>
                  <a:gd name="adj1" fmla="val 299"/>
                  <a:gd name="adj2" fmla="val 47935"/>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67" name="TextBox 66">
                    <a:extLst>
                      <a:ext uri="{FF2B5EF4-FFF2-40B4-BE49-F238E27FC236}">
                        <a16:creationId xmlns:a16="http://schemas.microsoft.com/office/drawing/2014/main" id="{C29FD42E-DC47-4FFD-9964-9D94D4788506}"/>
                      </a:ext>
                    </a:extLst>
                  </p:cNvPr>
                  <p:cNvSpPr txBox="1"/>
                  <p:nvPr/>
                </p:nvSpPr>
                <p:spPr>
                  <a:xfrm>
                    <a:off x="5284459" y="4341317"/>
                    <a:ext cx="1844761" cy="3359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TW" sz="1400" i="1" smtClean="0">
                                  <a:latin typeface="Cambria Math" panose="02040503050406030204" pitchFamily="18" charset="0"/>
                                </a:rPr>
                              </m:ctrlPr>
                            </m:sSubSupPr>
                            <m:e>
                              <m:r>
                                <a:rPr lang="en-US" altLang="zh-TW" sz="1400" b="0" i="1" smtClean="0">
                                  <a:latin typeface="Cambria Math" panose="02040503050406030204" pitchFamily="18" charset="0"/>
                                </a:rPr>
                                <m:t>𝑁𝑜</m:t>
                              </m:r>
                              <m:r>
                                <a:rPr lang="en-US" altLang="zh-TW" sz="1400" b="0" i="1" smtClean="0">
                                  <a:latin typeface="Cambria Math" panose="02040503050406030204" pitchFamily="18" charset="0"/>
                                </a:rPr>
                                <m:t>: </m:t>
                              </m:r>
                              <m:r>
                                <a:rPr lang="en-US" altLang="zh-TW" sz="1400" i="1">
                                  <a:latin typeface="Cambria Math" panose="02040503050406030204" pitchFamily="18" charset="0"/>
                                </a:rPr>
                                <m:t>𝑎</m:t>
                              </m:r>
                            </m:e>
                            <m:sub>
                              <m:r>
                                <a:rPr lang="en-US" altLang="zh-TW" sz="1400" i="1">
                                  <a:latin typeface="Cambria Math" panose="02040503050406030204" pitchFamily="18" charset="0"/>
                                </a:rPr>
                                <m:t>𝑒</m:t>
                              </m:r>
                              <m:r>
                                <a:rPr lang="en-US" altLang="zh-TW" sz="1400" i="1">
                                  <a:latin typeface="Cambria Math" panose="02040503050406030204" pitchFamily="18" charset="0"/>
                                </a:rPr>
                                <m:t>,</m:t>
                              </m:r>
                              <m:r>
                                <a:rPr lang="en-US" altLang="zh-TW" sz="1400" i="1">
                                  <a:latin typeface="Cambria Math" panose="02040503050406030204" pitchFamily="18" charset="0"/>
                                </a:rPr>
                                <m:t>𝑖</m:t>
                              </m:r>
                            </m:sub>
                            <m:sup>
                              <m:r>
                                <a:rPr lang="en-US" altLang="zh-TW" sz="1400" i="1">
                                  <a:latin typeface="Cambria Math" panose="02040503050406030204" pitchFamily="18" charset="0"/>
                                </a:rPr>
                                <m:t>𝐵</m:t>
                              </m:r>
                            </m:sup>
                          </m:sSubSup>
                          <m:r>
                            <a:rPr lang="en-US" altLang="zh-TW" sz="1400" b="0" i="1" smtClean="0">
                              <a:latin typeface="Cambria Math" panose="02040503050406030204" pitchFamily="18" charset="0"/>
                            </a:rPr>
                            <m:t>=</m:t>
                          </m:r>
                          <m:r>
                            <a:rPr lang="en-US" altLang="zh-TW" sz="1400" b="0" i="1" smtClean="0">
                              <a:latin typeface="Cambria Math" panose="02040503050406030204" pitchFamily="18" charset="0"/>
                            </a:rPr>
                            <m:t>𝑛𝑜𝑛𝑒</m:t>
                          </m:r>
                        </m:oMath>
                      </m:oMathPara>
                    </a14:m>
                    <a:endParaRPr lang="en-US" sz="1400" dirty="0"/>
                  </a:p>
                </p:txBody>
              </p:sp>
            </mc:Choice>
            <mc:Fallback>
              <p:sp>
                <p:nvSpPr>
                  <p:cNvPr id="67" name="TextBox 66">
                    <a:extLst>
                      <a:ext uri="{FF2B5EF4-FFF2-40B4-BE49-F238E27FC236}">
                        <a16:creationId xmlns:a16="http://schemas.microsoft.com/office/drawing/2014/main" id="{C29FD42E-DC47-4FFD-9964-9D94D4788506}"/>
                      </a:ext>
                    </a:extLst>
                  </p:cNvPr>
                  <p:cNvSpPr txBox="1">
                    <a:spLocks noRot="1" noChangeAspect="1" noMove="1" noResize="1" noEditPoints="1" noAdjustHandles="1" noChangeArrowheads="1" noChangeShapeType="1" noTextEdit="1"/>
                  </p:cNvSpPr>
                  <p:nvPr/>
                </p:nvSpPr>
                <p:spPr>
                  <a:xfrm>
                    <a:off x="5284459" y="4341317"/>
                    <a:ext cx="1844761" cy="335989"/>
                  </a:xfrm>
                  <a:prstGeom prst="rect">
                    <a:avLst/>
                  </a:prstGeom>
                  <a:blipFill>
                    <a:blip r:embed="rId12"/>
                    <a:stretch>
                      <a:fillRect/>
                    </a:stretch>
                  </a:blipFill>
                </p:spPr>
                <p:txBody>
                  <a:bodyPr/>
                  <a:lstStyle/>
                  <a:p>
                    <a:r>
                      <a:rPr lang="en-US">
                        <a:noFill/>
                      </a:rPr>
                      <a:t> </a:t>
                    </a:r>
                  </a:p>
                </p:txBody>
              </p:sp>
            </mc:Fallback>
          </mc:AlternateContent>
        </p:grpSp>
      </p:grpSp>
      <p:sp>
        <p:nvSpPr>
          <p:cNvPr id="53" name="TextBox 52">
            <a:extLst>
              <a:ext uri="{FF2B5EF4-FFF2-40B4-BE49-F238E27FC236}">
                <a16:creationId xmlns:a16="http://schemas.microsoft.com/office/drawing/2014/main" id="{07E7F490-820F-4248-BCCC-EC423D96E555}"/>
              </a:ext>
            </a:extLst>
          </p:cNvPr>
          <p:cNvSpPr txBox="1"/>
          <p:nvPr/>
        </p:nvSpPr>
        <p:spPr>
          <a:xfrm>
            <a:off x="3276388" y="6553583"/>
            <a:ext cx="6142566" cy="338554"/>
          </a:xfrm>
          <a:prstGeom prst="rect">
            <a:avLst/>
          </a:prstGeom>
          <a:noFill/>
        </p:spPr>
        <p:txBody>
          <a:bodyPr wrap="square">
            <a:spAutoFit/>
          </a:bodyPr>
          <a:lstStyle/>
          <a:p>
            <a:r>
              <a:rPr lang="en-US" sz="1600" dirty="0"/>
              <a:t>Figure 8 : Blue-team agent detection and response workflow</a:t>
            </a:r>
          </a:p>
        </p:txBody>
      </p:sp>
    </p:spTree>
    <p:extLst>
      <p:ext uri="{BB962C8B-B14F-4D97-AF65-F5344CB8AC3E}">
        <p14:creationId xmlns:p14="http://schemas.microsoft.com/office/powerpoint/2010/main" val="25120709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13ED3-8B47-F2C5-FE41-DFBD46E633C6}"/>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BCEDE839-49AE-BBB9-F32D-210F90F2BC42}"/>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22</a:t>
            </a:fld>
            <a:endParaRPr lang="en-US" dirty="0"/>
          </a:p>
        </p:txBody>
      </p:sp>
      <p:sp>
        <p:nvSpPr>
          <p:cNvPr id="5" name="Title 1">
            <a:extLst>
              <a:ext uri="{FF2B5EF4-FFF2-40B4-BE49-F238E27FC236}">
                <a16:creationId xmlns:a16="http://schemas.microsoft.com/office/drawing/2014/main" id="{B8C78DAF-EC12-D30D-F061-4F278E1137B7}"/>
              </a:ext>
            </a:extLst>
          </p:cNvPr>
          <p:cNvSpPr txBox="1">
            <a:spLocks/>
          </p:cNvSpPr>
          <p:nvPr/>
        </p:nvSpPr>
        <p:spPr>
          <a:xfrm>
            <a:off x="144650" y="-26813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mj-ea"/>
                <a:cs typeface="Times New Roman" panose="02020603050405020304" pitchFamily="18" charset="0"/>
              </a:defRPr>
            </a:lvl1pPr>
          </a:lstStyle>
          <a:p>
            <a:r>
              <a:rPr lang="en-US" dirty="0"/>
              <a:t>Blue Team Agent - Reward Design</a:t>
            </a:r>
          </a:p>
        </p:txBody>
      </p:sp>
      <p:graphicFrame>
        <p:nvGraphicFramePr>
          <p:cNvPr id="3" name="Table 2">
            <a:extLst>
              <a:ext uri="{FF2B5EF4-FFF2-40B4-BE49-F238E27FC236}">
                <a16:creationId xmlns:a16="http://schemas.microsoft.com/office/drawing/2014/main" id="{8C98773E-2DA1-41F5-8919-3C96D83D4426}"/>
              </a:ext>
            </a:extLst>
          </p:cNvPr>
          <p:cNvGraphicFramePr>
            <a:graphicFrameLocks noGrp="1"/>
          </p:cNvGraphicFramePr>
          <p:nvPr>
            <p:extLst>
              <p:ext uri="{D42A27DB-BD31-4B8C-83A1-F6EECF244321}">
                <p14:modId xmlns:p14="http://schemas.microsoft.com/office/powerpoint/2010/main" val="1720418540"/>
              </p:ext>
            </p:extLst>
          </p:nvPr>
        </p:nvGraphicFramePr>
        <p:xfrm>
          <a:off x="350748" y="1295068"/>
          <a:ext cx="7506759" cy="4607155"/>
        </p:xfrm>
        <a:graphic>
          <a:graphicData uri="http://schemas.openxmlformats.org/drawingml/2006/table">
            <a:tbl>
              <a:tblPr/>
              <a:tblGrid>
                <a:gridCol w="5294616">
                  <a:extLst>
                    <a:ext uri="{9D8B030D-6E8A-4147-A177-3AD203B41FA5}">
                      <a16:colId xmlns:a16="http://schemas.microsoft.com/office/drawing/2014/main" val="418578788"/>
                    </a:ext>
                  </a:extLst>
                </a:gridCol>
                <a:gridCol w="2212143">
                  <a:extLst>
                    <a:ext uri="{9D8B030D-6E8A-4147-A177-3AD203B41FA5}">
                      <a16:colId xmlns:a16="http://schemas.microsoft.com/office/drawing/2014/main" val="3539637266"/>
                    </a:ext>
                  </a:extLst>
                </a:gridCol>
              </a:tblGrid>
              <a:tr h="525791">
                <a:tc>
                  <a:txBody>
                    <a:bodyPr/>
                    <a:lstStyle/>
                    <a:p>
                      <a:pPr algn="ctr"/>
                      <a:r>
                        <a:rPr lang="en-US" sz="1800" b="1" dirty="0"/>
                        <a:t>Event</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t>Reward</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126812"/>
                  </a:ext>
                </a:extLst>
              </a:tr>
              <a:tr h="346529">
                <a:tc>
                  <a:txBody>
                    <a:bodyPr/>
                    <a:lstStyle/>
                    <a:p>
                      <a:r>
                        <a:rPr lang="en-US" sz="1800" dirty="0"/>
                        <a:t>Precise remediation restores Normal state</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+35</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5429581"/>
                  </a:ext>
                </a:extLst>
              </a:tr>
              <a:tr h="346529">
                <a:tc>
                  <a:txBody>
                    <a:bodyPr/>
                    <a:lstStyle/>
                    <a:p>
                      <a:r>
                        <a:rPr lang="en-US" sz="1800" dirty="0"/>
                        <a:t>Hard containment restores Normal state</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a:t>+12</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3379052"/>
                  </a:ext>
                </a:extLst>
              </a:tr>
              <a:tr h="346529">
                <a:tc>
                  <a:txBody>
                    <a:bodyPr/>
                    <a:lstStyle/>
                    <a:p>
                      <a:r>
                        <a:rPr lang="en-US" sz="1800"/>
                        <a:t>Investigation restores Normal state</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a:t>+8</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4859460"/>
                  </a:ext>
                </a:extLst>
              </a:tr>
              <a:tr h="346529">
                <a:tc>
                  <a:txBody>
                    <a:bodyPr/>
                    <a:lstStyle/>
                    <a:p>
                      <a:r>
                        <a:rPr lang="en-US" sz="1800" dirty="0"/>
                        <a:t>Investigation on Compromised with detection</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+10</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7957178"/>
                  </a:ext>
                </a:extLst>
              </a:tr>
              <a:tr h="471844">
                <a:tc>
                  <a:txBody>
                    <a:bodyPr/>
                    <a:lstStyle/>
                    <a:p>
                      <a:r>
                        <a:rPr lang="en-US" sz="1800"/>
                        <a:t>Hard containment on Compromised with detection</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+3</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5319364"/>
                  </a:ext>
                </a:extLst>
              </a:tr>
              <a:tr h="346529">
                <a:tc>
                  <a:txBody>
                    <a:bodyPr/>
                    <a:lstStyle/>
                    <a:p>
                      <a:r>
                        <a:rPr lang="en-US" sz="1800"/>
                        <a:t>No action on Compromised host</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−8</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6585724"/>
                  </a:ext>
                </a:extLst>
              </a:tr>
              <a:tr h="346529">
                <a:tc>
                  <a:txBody>
                    <a:bodyPr/>
                    <a:lstStyle/>
                    <a:p>
                      <a:r>
                        <a:rPr lang="en-US" sz="1800"/>
                        <a:t>No action on Normal host</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a:t>+1</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1711549"/>
                  </a:ext>
                </a:extLst>
              </a:tr>
              <a:tr h="346529">
                <a:tc>
                  <a:txBody>
                    <a:bodyPr/>
                    <a:lstStyle/>
                    <a:p>
                      <a:r>
                        <a:rPr lang="en-US" sz="1800"/>
                        <a:t>Hard containment on Normal host</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t>−max(40, 120 − 15i)</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2840879"/>
                  </a:ext>
                </a:extLst>
              </a:tr>
              <a:tr h="346529">
                <a:tc>
                  <a:txBody>
                    <a:bodyPr/>
                    <a:lstStyle/>
                    <a:p>
                      <a:r>
                        <a:rPr lang="en-US" sz="1800"/>
                        <a:t>Red-team agent reaches goal host</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a:t>−1200</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4590844"/>
                  </a:ext>
                </a:extLst>
              </a:tr>
              <a:tr h="346529">
                <a:tc>
                  <a:txBody>
                    <a:bodyPr/>
                    <a:lstStyle/>
                    <a:p>
                      <a:r>
                        <a:rPr lang="en-US" sz="1800"/>
                        <a:t>Blue-team agent suppresses attack</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t>max(80 − 4(</a:t>
                      </a:r>
                      <a:r>
                        <a:rPr lang="en-US" sz="1800" dirty="0" err="1"/>
                        <a:t>i</a:t>
                      </a:r>
                      <a:r>
                        <a:rPr lang="en-US" sz="1800" dirty="0"/>
                        <a:t> − 1), 0)</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5156204"/>
                  </a:ext>
                </a:extLst>
              </a:tr>
              <a:tr h="346529">
                <a:tc>
                  <a:txBody>
                    <a:bodyPr/>
                    <a:lstStyle/>
                    <a:p>
                      <a:r>
                        <a:rPr lang="en-US" sz="1800" dirty="0"/>
                        <a:t>Episode timeout</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+50</a:t>
                      </a:r>
                    </a:p>
                  </a:txBody>
                  <a:tcPr marL="86632" marR="86632" marT="43316" marB="433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264056"/>
                  </a:ext>
                </a:extLst>
              </a:tr>
            </a:tbl>
          </a:graphicData>
        </a:graphic>
      </p:graphicFrame>
      <p:sp>
        <p:nvSpPr>
          <p:cNvPr id="7" name="TextBox 6">
            <a:extLst>
              <a:ext uri="{FF2B5EF4-FFF2-40B4-BE49-F238E27FC236}">
                <a16:creationId xmlns:a16="http://schemas.microsoft.com/office/drawing/2014/main" id="{2429B291-0E75-4E41-804D-45CE6D448CDF}"/>
              </a:ext>
            </a:extLst>
          </p:cNvPr>
          <p:cNvSpPr txBox="1"/>
          <p:nvPr/>
        </p:nvSpPr>
        <p:spPr>
          <a:xfrm>
            <a:off x="7935132" y="1145068"/>
            <a:ext cx="4256868" cy="467820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b="1" u="sng" dirty="0"/>
              <a:t>Reward Design Idea</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342900" indent="-342900" eaLnBrk="0" fontAlgn="base" hangingPunct="0">
              <a:spcBef>
                <a:spcPct val="0"/>
              </a:spcBef>
              <a:spcAft>
                <a:spcPct val="0"/>
              </a:spcAft>
              <a:buFont typeface="Arial" panose="020B0604020202020204" pitchFamily="34" charset="0"/>
              <a:buChar char="•"/>
            </a:pPr>
            <a:r>
              <a:rPr lang="en-US" altLang="en-US" sz="2000" dirty="0"/>
              <a:t>Detection asymmetry (false negative </a:t>
            </a:r>
            <a:r>
              <a:rPr lang="en-US" altLang="en-US" sz="2000" dirty="0" err="1"/>
              <a:t>penalised</a:t>
            </a:r>
            <a:r>
              <a:rPr lang="en-US" altLang="en-US" sz="2000" dirty="0"/>
              <a:t> hardest) → missing attack is worse than false alarm → agent stays alert </a:t>
            </a:r>
          </a:p>
          <a:p>
            <a:pPr marL="342900" indent="-342900" eaLnBrk="0" fontAlgn="base" hangingPunct="0">
              <a:spcBef>
                <a:spcPct val="0"/>
              </a:spcBef>
              <a:spcAft>
                <a:spcPct val="0"/>
              </a:spcAft>
              <a:buFont typeface="Arial" panose="020B0604020202020204" pitchFamily="34" charset="0"/>
              <a:buChar char="•"/>
            </a:pPr>
            <a:endParaRPr lang="en-US" altLang="en-US" sz="2000" dirty="0"/>
          </a:p>
          <a:p>
            <a:pPr marL="342900" indent="-342900" eaLnBrk="0" fontAlgn="base" hangingPunct="0">
              <a:spcBef>
                <a:spcPct val="0"/>
              </a:spcBef>
              <a:spcAft>
                <a:spcPct val="0"/>
              </a:spcAft>
              <a:buFont typeface="Arial" panose="020B0604020202020204" pitchFamily="34" charset="0"/>
              <a:buChar char="•"/>
            </a:pPr>
            <a:r>
              <a:rPr lang="en-US" altLang="en-US" sz="2000" dirty="0"/>
              <a:t>Proportionality enforced (precise remediation +35 vs unjustified isolation −40~−120) → agent learns least-disruptive sufficient response </a:t>
            </a:r>
          </a:p>
          <a:p>
            <a:pPr marL="342900" indent="-342900" eaLnBrk="0" fontAlgn="base" hangingPunct="0">
              <a:spcBef>
                <a:spcPct val="0"/>
              </a:spcBef>
              <a:spcAft>
                <a:spcPct val="0"/>
              </a:spcAft>
              <a:buFont typeface="Arial" panose="020B0604020202020204" pitchFamily="34" charset="0"/>
              <a:buChar char="•"/>
            </a:pPr>
            <a:endParaRPr lang="en-US" altLang="en-US" sz="2000" dirty="0"/>
          </a:p>
          <a:p>
            <a:pPr marL="342900" indent="-342900" eaLnBrk="0" fontAlgn="base" hangingPunct="0">
              <a:spcBef>
                <a:spcPct val="0"/>
              </a:spcBef>
              <a:spcAft>
                <a:spcPct val="0"/>
              </a:spcAft>
              <a:buFont typeface="Arial" panose="020B0604020202020204" pitchFamily="34" charset="0"/>
              <a:buChar char="•"/>
            </a:pPr>
            <a:r>
              <a:rPr lang="en-US" altLang="en-US" sz="2000" dirty="0"/>
              <a:t>Operational cost per action → biases policy toward minimal intervention, avoids alert fatigue </a:t>
            </a:r>
          </a:p>
        </p:txBody>
      </p:sp>
      <p:sp>
        <p:nvSpPr>
          <p:cNvPr id="8" name="TextBox 7">
            <a:extLst>
              <a:ext uri="{FF2B5EF4-FFF2-40B4-BE49-F238E27FC236}">
                <a16:creationId xmlns:a16="http://schemas.microsoft.com/office/drawing/2014/main" id="{DEA9C937-85A9-46DD-802E-702FA952303D}"/>
              </a:ext>
            </a:extLst>
          </p:cNvPr>
          <p:cNvSpPr txBox="1"/>
          <p:nvPr/>
        </p:nvSpPr>
        <p:spPr>
          <a:xfrm>
            <a:off x="2008884" y="6042623"/>
            <a:ext cx="6193366" cy="338554"/>
          </a:xfrm>
          <a:prstGeom prst="rect">
            <a:avLst/>
          </a:prstGeom>
          <a:noFill/>
        </p:spPr>
        <p:txBody>
          <a:bodyPr wrap="square">
            <a:spAutoFit/>
          </a:bodyPr>
          <a:lstStyle/>
          <a:p>
            <a:r>
              <a:rPr lang="en-US" sz="1600" dirty="0"/>
              <a:t>Table 6 : Blue-team Response rewards </a:t>
            </a:r>
          </a:p>
        </p:txBody>
      </p:sp>
    </p:spTree>
    <p:extLst>
      <p:ext uri="{BB962C8B-B14F-4D97-AF65-F5344CB8AC3E}">
        <p14:creationId xmlns:p14="http://schemas.microsoft.com/office/powerpoint/2010/main" val="882361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4E165-649A-3E4C-7E5F-B818535E67B7}"/>
            </a:ext>
          </a:extLst>
        </p:cNvPr>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9520EA00-FD55-E22B-4F5C-A3025E46FB54}"/>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23</a:t>
            </a:fld>
            <a:endParaRPr lang="en-US" dirty="0"/>
          </a:p>
        </p:txBody>
      </p:sp>
      <p:pic>
        <p:nvPicPr>
          <p:cNvPr id="17410" name="Picture 2">
            <a:extLst>
              <a:ext uri="{FF2B5EF4-FFF2-40B4-BE49-F238E27FC236}">
                <a16:creationId xmlns:a16="http://schemas.microsoft.com/office/drawing/2014/main" id="{084805FE-1779-4B51-A43C-4126608FFF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5892" y="479859"/>
            <a:ext cx="10151533" cy="6412684"/>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BB370AC0-932E-484F-A8BB-E54DE0923C3D}"/>
              </a:ext>
            </a:extLst>
          </p:cNvPr>
          <p:cNvSpPr>
            <a:spLocks noGrp="1"/>
          </p:cNvSpPr>
          <p:nvPr>
            <p:ph type="title"/>
          </p:nvPr>
        </p:nvSpPr>
        <p:spPr>
          <a:xfrm>
            <a:off x="0" y="-358682"/>
            <a:ext cx="10515600" cy="1325563"/>
          </a:xfrm>
        </p:spPr>
        <p:txBody>
          <a:bodyPr>
            <a:normAutofit/>
          </a:bodyPr>
          <a:lstStyle/>
          <a:p>
            <a:r>
              <a:rPr lang="en-US" dirty="0"/>
              <a:t>Solution : Running Example</a:t>
            </a:r>
            <a:endParaRPr lang="en-US" dirty="0">
              <a:latin typeface="Times New Roman" panose="02020603050405020304" pitchFamily="18" charset="0"/>
              <a:cs typeface="Times New Roman" panose="02020603050405020304" pitchFamily="18" charset="0"/>
            </a:endParaRPr>
          </a:p>
        </p:txBody>
      </p:sp>
      <p:sp>
        <p:nvSpPr>
          <p:cNvPr id="2" name="Left Brace 1">
            <a:extLst>
              <a:ext uri="{FF2B5EF4-FFF2-40B4-BE49-F238E27FC236}">
                <a16:creationId xmlns:a16="http://schemas.microsoft.com/office/drawing/2014/main" id="{F39466BA-E5C5-4BBD-9482-6B6E74E72770}"/>
              </a:ext>
            </a:extLst>
          </p:cNvPr>
          <p:cNvSpPr/>
          <p:nvPr/>
        </p:nvSpPr>
        <p:spPr>
          <a:xfrm>
            <a:off x="603250" y="2235200"/>
            <a:ext cx="541867" cy="3640667"/>
          </a:xfrm>
          <a:prstGeom prst="leftBrace">
            <a:avLst/>
          </a:prstGeom>
        </p:spPr>
        <p:style>
          <a:lnRef idx="3">
            <a:schemeClr val="accent5"/>
          </a:lnRef>
          <a:fillRef idx="0">
            <a:schemeClr val="accent5"/>
          </a:fillRef>
          <a:effectRef idx="2">
            <a:schemeClr val="accent5"/>
          </a:effectRef>
          <a:fontRef idx="minor">
            <a:schemeClr val="tx1"/>
          </a:fontRef>
        </p:style>
        <p:txBody>
          <a:bodyPr rtlCol="0" anchor="ctr"/>
          <a:lstStyle/>
          <a:p>
            <a:pPr algn="ctr"/>
            <a:endParaRPr lang="en-US"/>
          </a:p>
        </p:txBody>
      </p:sp>
      <p:sp>
        <p:nvSpPr>
          <p:cNvPr id="5" name="Right Brace 4">
            <a:extLst>
              <a:ext uri="{FF2B5EF4-FFF2-40B4-BE49-F238E27FC236}">
                <a16:creationId xmlns:a16="http://schemas.microsoft.com/office/drawing/2014/main" id="{A4559E6D-3BE6-46B4-9EFA-409215F9CED0}"/>
              </a:ext>
            </a:extLst>
          </p:cNvPr>
          <p:cNvSpPr/>
          <p:nvPr/>
        </p:nvSpPr>
        <p:spPr>
          <a:xfrm>
            <a:off x="10998200" y="2006600"/>
            <a:ext cx="440266" cy="3869267"/>
          </a:xfrm>
          <a:prstGeom prst="righ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80A3237E-9360-426F-A095-E657932430B1}"/>
              </a:ext>
            </a:extLst>
          </p:cNvPr>
          <p:cNvSpPr txBox="1"/>
          <p:nvPr/>
        </p:nvSpPr>
        <p:spPr>
          <a:xfrm>
            <a:off x="31749" y="3744500"/>
            <a:ext cx="787401" cy="415498"/>
          </a:xfrm>
          <a:prstGeom prst="rect">
            <a:avLst/>
          </a:prstGeom>
          <a:noFill/>
        </p:spPr>
        <p:txBody>
          <a:bodyPr wrap="square" rtlCol="0">
            <a:spAutoFit/>
          </a:bodyPr>
          <a:lstStyle/>
          <a:p>
            <a:r>
              <a:rPr lang="en-US" sz="1050" dirty="0"/>
              <a:t>Blue-team Wins</a:t>
            </a:r>
          </a:p>
        </p:txBody>
      </p:sp>
      <p:sp>
        <p:nvSpPr>
          <p:cNvPr id="8" name="TextBox 7">
            <a:extLst>
              <a:ext uri="{FF2B5EF4-FFF2-40B4-BE49-F238E27FC236}">
                <a16:creationId xmlns:a16="http://schemas.microsoft.com/office/drawing/2014/main" id="{86968236-ED1E-4874-9920-4C66B29BAF82}"/>
              </a:ext>
            </a:extLst>
          </p:cNvPr>
          <p:cNvSpPr txBox="1"/>
          <p:nvPr/>
        </p:nvSpPr>
        <p:spPr>
          <a:xfrm>
            <a:off x="11535833" y="3686201"/>
            <a:ext cx="719667" cy="415498"/>
          </a:xfrm>
          <a:prstGeom prst="rect">
            <a:avLst/>
          </a:prstGeom>
          <a:noFill/>
        </p:spPr>
        <p:txBody>
          <a:bodyPr wrap="square" rtlCol="0">
            <a:spAutoFit/>
          </a:bodyPr>
          <a:lstStyle/>
          <a:p>
            <a:r>
              <a:rPr lang="en-US" sz="1050" dirty="0"/>
              <a:t>Red-team Wins</a:t>
            </a:r>
          </a:p>
        </p:txBody>
      </p:sp>
    </p:spTree>
    <p:extLst>
      <p:ext uri="{BB962C8B-B14F-4D97-AF65-F5344CB8AC3E}">
        <p14:creationId xmlns:p14="http://schemas.microsoft.com/office/powerpoint/2010/main" val="30647034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7C0CE-0A07-3C44-6F13-8A4A61AAC746}"/>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ADFA72C-D140-B91C-01C8-AEF19E44A605}"/>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24</a:t>
            </a:fld>
            <a:endParaRPr lang="en-US" dirty="0"/>
          </a:p>
        </p:txBody>
      </p:sp>
      <p:sp>
        <p:nvSpPr>
          <p:cNvPr id="5" name="Title 1">
            <a:extLst>
              <a:ext uri="{FF2B5EF4-FFF2-40B4-BE49-F238E27FC236}">
                <a16:creationId xmlns:a16="http://schemas.microsoft.com/office/drawing/2014/main" id="{DBF78AB0-109C-644B-A7EA-2FAC1BAD7135}"/>
              </a:ext>
            </a:extLst>
          </p:cNvPr>
          <p:cNvSpPr>
            <a:spLocks noGrp="1"/>
          </p:cNvSpPr>
          <p:nvPr>
            <p:ph type="title"/>
          </p:nvPr>
        </p:nvSpPr>
        <p:spPr>
          <a:xfrm>
            <a:off x="47625" y="-170142"/>
            <a:ext cx="10515600" cy="1325563"/>
          </a:xfrm>
        </p:spPr>
        <p:txBody>
          <a:bodyPr/>
          <a:lstStyle/>
          <a:p>
            <a:r>
              <a:rPr lang="en-US" dirty="0"/>
              <a:t>Implementation: Modules</a:t>
            </a:r>
          </a:p>
        </p:txBody>
      </p:sp>
      <p:graphicFrame>
        <p:nvGraphicFramePr>
          <p:cNvPr id="7" name="Table 6">
            <a:extLst>
              <a:ext uri="{FF2B5EF4-FFF2-40B4-BE49-F238E27FC236}">
                <a16:creationId xmlns:a16="http://schemas.microsoft.com/office/drawing/2014/main" id="{26BB18CD-857D-4B5F-A402-C105FFC5819C}"/>
              </a:ext>
            </a:extLst>
          </p:cNvPr>
          <p:cNvGraphicFramePr>
            <a:graphicFrameLocks noGrp="1"/>
          </p:cNvGraphicFramePr>
          <p:nvPr>
            <p:extLst>
              <p:ext uri="{D42A27DB-BD31-4B8C-83A1-F6EECF244321}">
                <p14:modId xmlns:p14="http://schemas.microsoft.com/office/powerpoint/2010/main" val="1589789371"/>
              </p:ext>
            </p:extLst>
          </p:nvPr>
        </p:nvGraphicFramePr>
        <p:xfrm>
          <a:off x="678987" y="1039999"/>
          <a:ext cx="9670438" cy="5357209"/>
        </p:xfrm>
        <a:graphic>
          <a:graphicData uri="http://schemas.openxmlformats.org/drawingml/2006/table">
            <a:tbl>
              <a:tblPr/>
              <a:tblGrid>
                <a:gridCol w="2960001">
                  <a:extLst>
                    <a:ext uri="{9D8B030D-6E8A-4147-A177-3AD203B41FA5}">
                      <a16:colId xmlns:a16="http://schemas.microsoft.com/office/drawing/2014/main" val="1995153955"/>
                    </a:ext>
                  </a:extLst>
                </a:gridCol>
                <a:gridCol w="6710437">
                  <a:extLst>
                    <a:ext uri="{9D8B030D-6E8A-4147-A177-3AD203B41FA5}">
                      <a16:colId xmlns:a16="http://schemas.microsoft.com/office/drawing/2014/main" val="177162175"/>
                    </a:ext>
                  </a:extLst>
                </a:gridCol>
              </a:tblGrid>
              <a:tr h="356961">
                <a:tc>
                  <a:txBody>
                    <a:bodyPr/>
                    <a:lstStyle/>
                    <a:p>
                      <a:pPr algn="ctr"/>
                      <a:r>
                        <a:rPr lang="en-US" sz="1600" b="1" u="none" dirty="0"/>
                        <a:t>Module</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u="none" dirty="0"/>
                        <a:t>Responsibility</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8832393"/>
                  </a:ext>
                </a:extLst>
              </a:tr>
              <a:tr h="625031">
                <a:tc>
                  <a:txBody>
                    <a:bodyPr/>
                    <a:lstStyle/>
                    <a:p>
                      <a:r>
                        <a:rPr lang="en-US" sz="1500" b="1" dirty="0"/>
                        <a:t>technique_selector.py</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Encodes Red-team observations and selects techniques using DDQN.</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7671533"/>
                  </a:ext>
                </a:extLst>
              </a:tr>
              <a:tr h="625031">
                <a:tc>
                  <a:txBody>
                    <a:bodyPr/>
                    <a:lstStyle/>
                    <a:p>
                      <a:r>
                        <a:rPr lang="en-US" sz="1500" b="1"/>
                        <a:t>technique_validator.py</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Checks tactic matching, schema conditions, and feasible targets</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0919964"/>
                  </a:ext>
                </a:extLst>
              </a:tr>
              <a:tr h="625031">
                <a:tc>
                  <a:txBody>
                    <a:bodyPr/>
                    <a:lstStyle/>
                    <a:p>
                      <a:r>
                        <a:rPr lang="en-US" sz="1500" b="1" dirty="0"/>
                        <a:t>param_selector.py</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Resolves Red-team action parameters such as host, credential , port, etc.</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319767"/>
                  </a:ext>
                </a:extLst>
              </a:tr>
              <a:tr h="625031">
                <a:tc>
                  <a:txBody>
                    <a:bodyPr/>
                    <a:lstStyle/>
                    <a:p>
                      <a:r>
                        <a:rPr lang="en-US" sz="1500" b="1" dirty="0"/>
                        <a:t>state_persistence.py</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Stores, updates, and resets the Cyber Range state.</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894885"/>
                  </a:ext>
                </a:extLst>
              </a:tr>
              <a:tr h="625031">
                <a:tc>
                  <a:txBody>
                    <a:bodyPr/>
                    <a:lstStyle/>
                    <a:p>
                      <a:r>
                        <a:rPr lang="en-US" sz="1500" b="1" dirty="0"/>
                        <a:t>reward_calculator.py</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Computes Red-team, Blue-team, and terminal rewards.</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566087"/>
                  </a:ext>
                </a:extLst>
              </a:tr>
              <a:tr h="625031">
                <a:tc>
                  <a:txBody>
                    <a:bodyPr/>
                    <a:lstStyle/>
                    <a:p>
                      <a:r>
                        <a:rPr lang="en-US" sz="1500" b="1" dirty="0"/>
                        <a:t>telemetry_module.py</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Collects, generates, and stores telemetry for Blue-team observation</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7054809"/>
                  </a:ext>
                </a:extLst>
              </a:tr>
              <a:tr h="625031">
                <a:tc>
                  <a:txBody>
                    <a:bodyPr/>
                    <a:lstStyle/>
                    <a:p>
                      <a:r>
                        <a:rPr lang="en-US" sz="1500" b="1" dirty="0"/>
                        <a:t>blue_detection_agent.py</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Encodes telemetry and performs binary alert detection.</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0215809"/>
                  </a:ext>
                </a:extLst>
              </a:tr>
              <a:tr h="625031">
                <a:tc>
                  <a:txBody>
                    <a:bodyPr/>
                    <a:lstStyle/>
                    <a:p>
                      <a:r>
                        <a:rPr lang="en-US" sz="1500" b="1" dirty="0"/>
                        <a:t>blue_response_agent.py</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Selects defensive responses from the Blue-team action space</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5048629"/>
                  </a:ext>
                </a:extLst>
              </a:tr>
            </a:tbl>
          </a:graphicData>
        </a:graphic>
      </p:graphicFrame>
      <p:sp>
        <p:nvSpPr>
          <p:cNvPr id="8" name="TextBox 7">
            <a:extLst>
              <a:ext uri="{FF2B5EF4-FFF2-40B4-BE49-F238E27FC236}">
                <a16:creationId xmlns:a16="http://schemas.microsoft.com/office/drawing/2014/main" id="{0C734279-1D0F-4E61-A9EB-7631C36A77A8}"/>
              </a:ext>
            </a:extLst>
          </p:cNvPr>
          <p:cNvSpPr txBox="1"/>
          <p:nvPr/>
        </p:nvSpPr>
        <p:spPr>
          <a:xfrm>
            <a:off x="3283240" y="6397208"/>
            <a:ext cx="4461932" cy="338554"/>
          </a:xfrm>
          <a:prstGeom prst="rect">
            <a:avLst/>
          </a:prstGeom>
          <a:noFill/>
        </p:spPr>
        <p:txBody>
          <a:bodyPr wrap="square">
            <a:spAutoFit/>
          </a:bodyPr>
          <a:lstStyle/>
          <a:p>
            <a:r>
              <a:rPr lang="en-US" sz="1600" dirty="0"/>
              <a:t>Table 7 : Python Modules and Responsibilities.</a:t>
            </a:r>
          </a:p>
        </p:txBody>
      </p:sp>
    </p:spTree>
    <p:extLst>
      <p:ext uri="{BB962C8B-B14F-4D97-AF65-F5344CB8AC3E}">
        <p14:creationId xmlns:p14="http://schemas.microsoft.com/office/powerpoint/2010/main" val="41317393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B69DD-0D8B-65C9-8055-3A755902B015}"/>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FA8AD9BD-956A-2384-BEBD-6EC2C7159751}"/>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25</a:t>
            </a:fld>
            <a:endParaRPr lang="en-US" dirty="0"/>
          </a:p>
        </p:txBody>
      </p:sp>
      <p:sp>
        <p:nvSpPr>
          <p:cNvPr id="5" name="Title 1">
            <a:extLst>
              <a:ext uri="{FF2B5EF4-FFF2-40B4-BE49-F238E27FC236}">
                <a16:creationId xmlns:a16="http://schemas.microsoft.com/office/drawing/2014/main" id="{957FFB54-EECD-8C32-A488-5E02743FEC3E}"/>
              </a:ext>
            </a:extLst>
          </p:cNvPr>
          <p:cNvSpPr>
            <a:spLocks noGrp="1"/>
          </p:cNvSpPr>
          <p:nvPr>
            <p:ph type="title"/>
          </p:nvPr>
        </p:nvSpPr>
        <p:spPr>
          <a:xfrm>
            <a:off x="265641" y="-297657"/>
            <a:ext cx="10515600" cy="1325563"/>
          </a:xfrm>
        </p:spPr>
        <p:txBody>
          <a:bodyPr/>
          <a:lstStyle/>
          <a:p>
            <a:r>
              <a:rPr lang="en-US" dirty="0"/>
              <a:t>Implementation:  System Architecture</a:t>
            </a:r>
          </a:p>
        </p:txBody>
      </p:sp>
      <p:sp>
        <p:nvSpPr>
          <p:cNvPr id="3" name="AutoShape 4">
            <a:extLst>
              <a:ext uri="{FF2B5EF4-FFF2-40B4-BE49-F238E27FC236}">
                <a16:creationId xmlns:a16="http://schemas.microsoft.com/office/drawing/2014/main" id="{FB8A3F1B-7FBB-49A9-B79C-C2F1ECC13D0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102" name="Picture 6">
            <a:extLst>
              <a:ext uri="{FF2B5EF4-FFF2-40B4-BE49-F238E27FC236}">
                <a16:creationId xmlns:a16="http://schemas.microsoft.com/office/drawing/2014/main" id="{E1EFB980-644D-4114-8BD3-CEC1555ABA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9266" y="530356"/>
            <a:ext cx="9838267" cy="595987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2F4A70F-352F-4210-BDC2-0F7B601961EA}"/>
              </a:ext>
            </a:extLst>
          </p:cNvPr>
          <p:cNvSpPr txBox="1"/>
          <p:nvPr/>
        </p:nvSpPr>
        <p:spPr>
          <a:xfrm>
            <a:off x="4097867" y="6510363"/>
            <a:ext cx="6096000" cy="369332"/>
          </a:xfrm>
          <a:prstGeom prst="rect">
            <a:avLst/>
          </a:prstGeom>
          <a:noFill/>
        </p:spPr>
        <p:txBody>
          <a:bodyPr wrap="square">
            <a:spAutoFit/>
          </a:bodyPr>
          <a:lstStyle/>
          <a:p>
            <a:r>
              <a:rPr lang="en-US" dirty="0"/>
              <a:t>Figure 9  : System architecture</a:t>
            </a:r>
          </a:p>
        </p:txBody>
      </p:sp>
    </p:spTree>
    <p:extLst>
      <p:ext uri="{BB962C8B-B14F-4D97-AF65-F5344CB8AC3E}">
        <p14:creationId xmlns:p14="http://schemas.microsoft.com/office/powerpoint/2010/main" val="16237791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7C0CE-0A07-3C44-6F13-8A4A61AAC746}"/>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ADFA72C-D140-B91C-01C8-AEF19E44A605}"/>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26</a:t>
            </a:fld>
            <a:endParaRPr lang="en-US" dirty="0"/>
          </a:p>
        </p:txBody>
      </p:sp>
      <p:sp>
        <p:nvSpPr>
          <p:cNvPr id="5" name="Title 1">
            <a:extLst>
              <a:ext uri="{FF2B5EF4-FFF2-40B4-BE49-F238E27FC236}">
                <a16:creationId xmlns:a16="http://schemas.microsoft.com/office/drawing/2014/main" id="{DBF78AB0-109C-644B-A7EA-2FAC1BAD7135}"/>
              </a:ext>
            </a:extLst>
          </p:cNvPr>
          <p:cNvSpPr>
            <a:spLocks noGrp="1"/>
          </p:cNvSpPr>
          <p:nvPr>
            <p:ph type="title"/>
          </p:nvPr>
        </p:nvSpPr>
        <p:spPr>
          <a:xfrm>
            <a:off x="0" y="-283074"/>
            <a:ext cx="10515600" cy="1325563"/>
          </a:xfrm>
        </p:spPr>
        <p:txBody>
          <a:bodyPr/>
          <a:lstStyle/>
          <a:p>
            <a:r>
              <a:rPr lang="en-US" dirty="0"/>
              <a:t>Implementation: Open-Source Tools and Libraries</a:t>
            </a:r>
          </a:p>
        </p:txBody>
      </p:sp>
      <p:graphicFrame>
        <p:nvGraphicFramePr>
          <p:cNvPr id="14" name="Table 13">
            <a:extLst>
              <a:ext uri="{FF2B5EF4-FFF2-40B4-BE49-F238E27FC236}">
                <a16:creationId xmlns:a16="http://schemas.microsoft.com/office/drawing/2014/main" id="{F3EA324C-E139-4AF2-9023-92D5E9684C81}"/>
              </a:ext>
            </a:extLst>
          </p:cNvPr>
          <p:cNvGraphicFramePr>
            <a:graphicFrameLocks noGrp="1"/>
          </p:cNvGraphicFramePr>
          <p:nvPr>
            <p:extLst>
              <p:ext uri="{D42A27DB-BD31-4B8C-83A1-F6EECF244321}">
                <p14:modId xmlns:p14="http://schemas.microsoft.com/office/powerpoint/2010/main" val="3857571549"/>
              </p:ext>
            </p:extLst>
          </p:nvPr>
        </p:nvGraphicFramePr>
        <p:xfrm>
          <a:off x="597833" y="1241895"/>
          <a:ext cx="10429068" cy="4929336"/>
        </p:xfrm>
        <a:graphic>
          <a:graphicData uri="http://schemas.openxmlformats.org/drawingml/2006/table">
            <a:tbl>
              <a:tblPr/>
              <a:tblGrid>
                <a:gridCol w="2920139">
                  <a:extLst>
                    <a:ext uri="{9D8B030D-6E8A-4147-A177-3AD203B41FA5}">
                      <a16:colId xmlns:a16="http://schemas.microsoft.com/office/drawing/2014/main" val="3388939580"/>
                    </a:ext>
                  </a:extLst>
                </a:gridCol>
                <a:gridCol w="2603716">
                  <a:extLst>
                    <a:ext uri="{9D8B030D-6E8A-4147-A177-3AD203B41FA5}">
                      <a16:colId xmlns:a16="http://schemas.microsoft.com/office/drawing/2014/main" val="3853879328"/>
                    </a:ext>
                  </a:extLst>
                </a:gridCol>
                <a:gridCol w="4905213">
                  <a:extLst>
                    <a:ext uri="{9D8B030D-6E8A-4147-A177-3AD203B41FA5}">
                      <a16:colId xmlns:a16="http://schemas.microsoft.com/office/drawing/2014/main" val="1558291415"/>
                    </a:ext>
                  </a:extLst>
                </a:gridCol>
              </a:tblGrid>
              <a:tr h="461658">
                <a:tc>
                  <a:txBody>
                    <a:bodyPr/>
                    <a:lstStyle/>
                    <a:p>
                      <a:pPr algn="ctr"/>
                      <a:r>
                        <a:rPr lang="en-US" b="1" dirty="0">
                          <a:solidFill>
                            <a:schemeClr val="tx1"/>
                          </a:solidFill>
                        </a:rPr>
                        <a:t>Category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tx1"/>
                          </a:solidFill>
                        </a:rPr>
                        <a:t>Tools / Libraries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tx1"/>
                          </a:solidFill>
                        </a:rPr>
                        <a:t>Role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7612184"/>
                  </a:ext>
                </a:extLst>
              </a:tr>
              <a:tr h="461658">
                <a:tc>
                  <a:txBody>
                    <a:bodyPr/>
                    <a:lstStyle/>
                    <a:p>
                      <a:r>
                        <a:rPr lang="en-US"/>
                        <a:t>Programming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Python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Main implementation language.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4822810"/>
                  </a:ext>
                </a:extLst>
              </a:tr>
              <a:tr h="591926">
                <a:tc>
                  <a:txBody>
                    <a:bodyPr/>
                    <a:lstStyle/>
                    <a:p>
                      <a:r>
                        <a:rPr lang="en-US"/>
                        <a:t>Deep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PyTorch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DDQN networks and replay-buffer training.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7836439"/>
                  </a:ext>
                </a:extLst>
              </a:tr>
              <a:tr h="591926">
                <a:tc>
                  <a:txBody>
                    <a:bodyPr/>
                    <a:lstStyle/>
                    <a:p>
                      <a:r>
                        <a:rPr lang="en-US"/>
                        <a:t>Data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NumPy, Pandas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State vectors, telemetry features, and results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6931853"/>
                  </a:ext>
                </a:extLst>
              </a:tr>
              <a:tr h="461658">
                <a:tc>
                  <a:txBody>
                    <a:bodyPr/>
                    <a:lstStyle/>
                    <a:p>
                      <a:r>
                        <a:rPr lang="en-US"/>
                        <a:t>Visualisation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Matplotlib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Training and evaluation plots.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128400"/>
                  </a:ext>
                </a:extLst>
              </a:tr>
              <a:tr h="461658">
                <a:tc>
                  <a:txBody>
                    <a:bodyPr/>
                    <a:lstStyle/>
                    <a:p>
                      <a:r>
                        <a:rPr lang="en-US"/>
                        <a:t>Virtualisation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VMware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Local Cyber Range Testbed.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2655697"/>
                  </a:ext>
                </a:extLst>
              </a:tr>
              <a:tr h="461658">
                <a:tc>
                  <a:txBody>
                    <a:bodyPr/>
                    <a:lstStyle/>
                    <a:p>
                      <a:r>
                        <a:rPr lang="en-US"/>
                        <a:t>Execution Agent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Nmap, Metasploit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Host and network enumeration.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1216031"/>
                  </a:ext>
                </a:extLst>
              </a:tr>
              <a:tr h="629292">
                <a:tc>
                  <a:txBody>
                    <a:bodyPr/>
                    <a:lstStyle/>
                    <a:p>
                      <a:r>
                        <a:rPr lang="en-US"/>
                        <a:t>Security Monitoring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Wazuh, Suricata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Telemetry sources for Blue-team observation.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178532"/>
                  </a:ext>
                </a:extLst>
              </a:tr>
              <a:tr h="807902">
                <a:tc>
                  <a:txBody>
                    <a:bodyPr/>
                    <a:lstStyle/>
                    <a:p>
                      <a:r>
                        <a:rPr lang="en-US" dirty="0"/>
                        <a:t>LLM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OpenAI 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Structured state and security-knowledge support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9411762"/>
                  </a:ext>
                </a:extLst>
              </a:tr>
            </a:tbl>
          </a:graphicData>
        </a:graphic>
      </p:graphicFrame>
      <p:sp>
        <p:nvSpPr>
          <p:cNvPr id="7" name="TextBox 6">
            <a:extLst>
              <a:ext uri="{FF2B5EF4-FFF2-40B4-BE49-F238E27FC236}">
                <a16:creationId xmlns:a16="http://schemas.microsoft.com/office/drawing/2014/main" id="{BED119AF-C5E3-48CB-B07B-0A207EEAB139}"/>
              </a:ext>
            </a:extLst>
          </p:cNvPr>
          <p:cNvSpPr txBox="1"/>
          <p:nvPr/>
        </p:nvSpPr>
        <p:spPr>
          <a:xfrm>
            <a:off x="4305299" y="6296568"/>
            <a:ext cx="2578101" cy="338554"/>
          </a:xfrm>
          <a:prstGeom prst="rect">
            <a:avLst/>
          </a:prstGeom>
          <a:noFill/>
        </p:spPr>
        <p:txBody>
          <a:bodyPr wrap="square">
            <a:spAutoFit/>
          </a:bodyPr>
          <a:lstStyle/>
          <a:p>
            <a:r>
              <a:rPr lang="en-US" sz="1600" dirty="0"/>
              <a:t>Table 8 : Tools and libraries</a:t>
            </a:r>
          </a:p>
        </p:txBody>
      </p:sp>
    </p:spTree>
    <p:extLst>
      <p:ext uri="{BB962C8B-B14F-4D97-AF65-F5344CB8AC3E}">
        <p14:creationId xmlns:p14="http://schemas.microsoft.com/office/powerpoint/2010/main" val="1036229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B69DD-0D8B-65C9-8055-3A755902B015}"/>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FA8AD9BD-956A-2384-BEBD-6EC2C7159751}"/>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27</a:t>
            </a:fld>
            <a:endParaRPr lang="en-US" dirty="0"/>
          </a:p>
        </p:txBody>
      </p:sp>
      <p:sp>
        <p:nvSpPr>
          <p:cNvPr id="15" name="Title 1">
            <a:extLst>
              <a:ext uri="{FF2B5EF4-FFF2-40B4-BE49-F238E27FC236}">
                <a16:creationId xmlns:a16="http://schemas.microsoft.com/office/drawing/2014/main" id="{CC3D5DA9-A804-4E3D-B653-EC2BFF02FD8C}"/>
              </a:ext>
            </a:extLst>
          </p:cNvPr>
          <p:cNvSpPr>
            <a:spLocks noGrp="1"/>
          </p:cNvSpPr>
          <p:nvPr>
            <p:ph type="title"/>
          </p:nvPr>
        </p:nvSpPr>
        <p:spPr>
          <a:xfrm>
            <a:off x="0" y="-407350"/>
            <a:ext cx="10515600" cy="1325563"/>
          </a:xfrm>
        </p:spPr>
        <p:txBody>
          <a:bodyPr/>
          <a:lstStyle/>
          <a:p>
            <a:r>
              <a:rPr lang="en-US" dirty="0"/>
              <a:t>Implementation:  Network Architecture</a:t>
            </a:r>
          </a:p>
        </p:txBody>
      </p:sp>
      <p:sp>
        <p:nvSpPr>
          <p:cNvPr id="17" name="TextBox 16">
            <a:extLst>
              <a:ext uri="{FF2B5EF4-FFF2-40B4-BE49-F238E27FC236}">
                <a16:creationId xmlns:a16="http://schemas.microsoft.com/office/drawing/2014/main" id="{C057A3E7-348E-423E-993C-E77D827E74B3}"/>
              </a:ext>
            </a:extLst>
          </p:cNvPr>
          <p:cNvSpPr txBox="1"/>
          <p:nvPr/>
        </p:nvSpPr>
        <p:spPr>
          <a:xfrm>
            <a:off x="3748845" y="6214645"/>
            <a:ext cx="4829296" cy="338554"/>
          </a:xfrm>
          <a:prstGeom prst="rect">
            <a:avLst/>
          </a:prstGeom>
          <a:noFill/>
        </p:spPr>
        <p:txBody>
          <a:bodyPr wrap="square">
            <a:spAutoFit/>
          </a:bodyPr>
          <a:lstStyle/>
          <a:p>
            <a:r>
              <a:rPr lang="en-US" sz="1600" dirty="0"/>
              <a:t>Table 9 : Red-team and Blue-team network architectures</a:t>
            </a:r>
          </a:p>
        </p:txBody>
      </p:sp>
      <p:graphicFrame>
        <p:nvGraphicFramePr>
          <p:cNvPr id="5" name="Table 4">
            <a:extLst>
              <a:ext uri="{FF2B5EF4-FFF2-40B4-BE49-F238E27FC236}">
                <a16:creationId xmlns:a16="http://schemas.microsoft.com/office/drawing/2014/main" id="{6391D417-B412-4A7A-8CB8-9522691EB7E5}"/>
              </a:ext>
            </a:extLst>
          </p:cNvPr>
          <p:cNvGraphicFramePr>
            <a:graphicFrameLocks noGrp="1"/>
          </p:cNvGraphicFramePr>
          <p:nvPr>
            <p:extLst>
              <p:ext uri="{D42A27DB-BD31-4B8C-83A1-F6EECF244321}">
                <p14:modId xmlns:p14="http://schemas.microsoft.com/office/powerpoint/2010/main" val="2958041320"/>
              </p:ext>
            </p:extLst>
          </p:nvPr>
        </p:nvGraphicFramePr>
        <p:xfrm>
          <a:off x="448734" y="918213"/>
          <a:ext cx="10617198" cy="5174557"/>
        </p:xfrm>
        <a:graphic>
          <a:graphicData uri="http://schemas.openxmlformats.org/drawingml/2006/table">
            <a:tbl>
              <a:tblPr/>
              <a:tblGrid>
                <a:gridCol w="1769533">
                  <a:extLst>
                    <a:ext uri="{9D8B030D-6E8A-4147-A177-3AD203B41FA5}">
                      <a16:colId xmlns:a16="http://schemas.microsoft.com/office/drawing/2014/main" val="3736836332"/>
                    </a:ext>
                  </a:extLst>
                </a:gridCol>
                <a:gridCol w="1998133">
                  <a:extLst>
                    <a:ext uri="{9D8B030D-6E8A-4147-A177-3AD203B41FA5}">
                      <a16:colId xmlns:a16="http://schemas.microsoft.com/office/drawing/2014/main" val="4229826046"/>
                    </a:ext>
                  </a:extLst>
                </a:gridCol>
                <a:gridCol w="1447800">
                  <a:extLst>
                    <a:ext uri="{9D8B030D-6E8A-4147-A177-3AD203B41FA5}">
                      <a16:colId xmlns:a16="http://schemas.microsoft.com/office/drawing/2014/main" val="86236210"/>
                    </a:ext>
                  </a:extLst>
                </a:gridCol>
                <a:gridCol w="1862666">
                  <a:extLst>
                    <a:ext uri="{9D8B030D-6E8A-4147-A177-3AD203B41FA5}">
                      <a16:colId xmlns:a16="http://schemas.microsoft.com/office/drawing/2014/main" val="3121525136"/>
                    </a:ext>
                  </a:extLst>
                </a:gridCol>
                <a:gridCol w="1769533">
                  <a:extLst>
                    <a:ext uri="{9D8B030D-6E8A-4147-A177-3AD203B41FA5}">
                      <a16:colId xmlns:a16="http://schemas.microsoft.com/office/drawing/2014/main" val="3595189780"/>
                    </a:ext>
                  </a:extLst>
                </a:gridCol>
                <a:gridCol w="1769533">
                  <a:extLst>
                    <a:ext uri="{9D8B030D-6E8A-4147-A177-3AD203B41FA5}">
                      <a16:colId xmlns:a16="http://schemas.microsoft.com/office/drawing/2014/main" val="2631141853"/>
                    </a:ext>
                  </a:extLst>
                </a:gridCol>
              </a:tblGrid>
              <a:tr h="850094">
                <a:tc>
                  <a:txBody>
                    <a:bodyPr/>
                    <a:lstStyle/>
                    <a:p>
                      <a:pPr algn="ctr"/>
                      <a:r>
                        <a:rPr lang="en-US" b="1"/>
                        <a:t>Network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Input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a:t>Encoder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a:t>Hidden Layers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Output Layer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Final Action (1 via argmax)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1626600"/>
                  </a:ext>
                </a:extLst>
              </a:tr>
              <a:tr h="1406693">
                <a:tc>
                  <a:txBody>
                    <a:bodyPr/>
                    <a:lstStyle/>
                    <a:p>
                      <a:pPr algn="l"/>
                      <a:r>
                        <a:rPr lang="en-US" sz="1600" b="1" dirty="0"/>
                        <a:t>Action Selection</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50" dirty="0"/>
                        <a:t>Environment State (</a:t>
                      </a:r>
                      <a:r>
                        <a:rPr lang="en-US" sz="1550" dirty="0" err="1"/>
                        <a:t>S_global</a:t>
                      </a:r>
                      <a:r>
                        <a:rPr lang="en-US" sz="1550" dirty="0"/>
                        <a:t> + </a:t>
                      </a:r>
                      <a:r>
                        <a:rPr lang="en-US" sz="1550" dirty="0" err="1"/>
                        <a:t>S_hosts</a:t>
                      </a:r>
                      <a:r>
                        <a:rPr lang="en-US" sz="155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32-dim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32 → 256 → 256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N Q-values</a:t>
                      </a:r>
                      <a:r>
                        <a:rPr lang="fr-FR" sz="1600" dirty="0"/>
                        <a:t> techniques (N=304)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1 technique to execute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7967102"/>
                  </a:ext>
                </a:extLst>
              </a:tr>
              <a:tr h="1419170">
                <a:tc>
                  <a:txBody>
                    <a:bodyPr/>
                    <a:lstStyle/>
                    <a:p>
                      <a:pPr algn="l"/>
                      <a:r>
                        <a:rPr lang="en-US" sz="1600" b="1" dirty="0"/>
                        <a:t>Detection</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Raw Execution Logs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16-dim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16 → 64 → 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2 Q-values (none / alert)</a:t>
                      </a:r>
                      <a:endParaRPr lang="fr-FR"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Alert or No-alert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547"/>
                  </a:ext>
                </a:extLst>
              </a:tr>
              <a:tr h="1498600">
                <a:tc>
                  <a:txBody>
                    <a:bodyPr/>
                    <a:lstStyle/>
                    <a:p>
                      <a:pPr algn="l"/>
                      <a:r>
                        <a:rPr lang="en-US" sz="1600" b="1" dirty="0"/>
                        <a:t>Response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Observation (Logs × State × Context)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34-dim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34 → 128 → 128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7 Q-values (Defensive 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1 defensive 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3031658"/>
                  </a:ext>
                </a:extLst>
              </a:tr>
            </a:tbl>
          </a:graphicData>
        </a:graphic>
      </p:graphicFrame>
    </p:spTree>
    <p:extLst>
      <p:ext uri="{BB962C8B-B14F-4D97-AF65-F5344CB8AC3E}">
        <p14:creationId xmlns:p14="http://schemas.microsoft.com/office/powerpoint/2010/main" val="6131377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40349-EF14-2BAE-7B4D-13824CA7F0F2}"/>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47D326DC-ACC6-9E51-51C1-8D52FEA60916}"/>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28</a:t>
            </a:fld>
            <a:endParaRPr lang="en-US" dirty="0"/>
          </a:p>
        </p:txBody>
      </p:sp>
      <p:sp>
        <p:nvSpPr>
          <p:cNvPr id="5" name="Title 1">
            <a:extLst>
              <a:ext uri="{FF2B5EF4-FFF2-40B4-BE49-F238E27FC236}">
                <a16:creationId xmlns:a16="http://schemas.microsoft.com/office/drawing/2014/main" id="{2E315271-4ADF-55BD-DD63-65CB43DD43CF}"/>
              </a:ext>
            </a:extLst>
          </p:cNvPr>
          <p:cNvSpPr>
            <a:spLocks noGrp="1"/>
          </p:cNvSpPr>
          <p:nvPr>
            <p:ph type="title"/>
          </p:nvPr>
        </p:nvSpPr>
        <p:spPr>
          <a:xfrm>
            <a:off x="257175" y="0"/>
            <a:ext cx="10515600" cy="1325563"/>
          </a:xfrm>
        </p:spPr>
        <p:txBody>
          <a:bodyPr/>
          <a:lstStyle/>
          <a:p>
            <a:r>
              <a:rPr lang="en-US" dirty="0"/>
              <a:t>Evaluation</a:t>
            </a:r>
          </a:p>
        </p:txBody>
      </p:sp>
      <p:sp>
        <p:nvSpPr>
          <p:cNvPr id="11" name="TextBox 10">
            <a:extLst>
              <a:ext uri="{FF2B5EF4-FFF2-40B4-BE49-F238E27FC236}">
                <a16:creationId xmlns:a16="http://schemas.microsoft.com/office/drawing/2014/main" id="{0A7640CF-F0BA-4FCB-960C-51CAA78282B7}"/>
              </a:ext>
            </a:extLst>
          </p:cNvPr>
          <p:cNvSpPr txBox="1"/>
          <p:nvPr/>
        </p:nvSpPr>
        <p:spPr>
          <a:xfrm>
            <a:off x="397933" y="1166843"/>
            <a:ext cx="10684934" cy="4308872"/>
          </a:xfrm>
          <a:prstGeom prst="rect">
            <a:avLst/>
          </a:prstGeom>
          <a:noFill/>
        </p:spPr>
        <p:txBody>
          <a:bodyPr wrap="square">
            <a:spAutoFit/>
          </a:bodyPr>
          <a:lstStyle/>
          <a:p>
            <a:pPr marL="144003" indent="-132797">
              <a:lnSpc>
                <a:spcPct val="100000"/>
              </a:lnSpc>
              <a:spcBef>
                <a:spcPts val="115"/>
              </a:spcBef>
              <a:buFont typeface="Times New Roman"/>
              <a:buChar char="•"/>
              <a:tabLst>
                <a:tab pos="144003" algn="l"/>
              </a:tabLst>
            </a:pPr>
            <a:r>
              <a:rPr lang="en-US" sz="2200" b="1" dirty="0"/>
              <a:t> Alternating Co-Evolution vs Fixed opponent Training  vs  Simultaneous Co-Evolution</a:t>
            </a:r>
          </a:p>
          <a:p>
            <a:pPr lvl="1"/>
            <a:r>
              <a:rPr lang="en-US" sz="2000" i="1" dirty="0"/>
              <a:t>Which training setup produces the most robust agents?</a:t>
            </a:r>
            <a:endParaRPr lang="en-US" sz="2000" dirty="0"/>
          </a:p>
          <a:p>
            <a:pPr lvl="2">
              <a:buFont typeface="Arial" panose="020B0604020202020204" pitchFamily="34" charset="0"/>
              <a:buChar char="•"/>
            </a:pPr>
            <a:r>
              <a:rPr lang="en-US" sz="2000" b="1" dirty="0"/>
              <a:t>Setup Comparison:</a:t>
            </a:r>
            <a:r>
              <a:rPr lang="en-US" sz="2000" dirty="0"/>
              <a:t> Does co-evolution outperform fixed/simultaneous training? → Fix Red opponent; compare ACE vs SCE vs FOT suppression at matched gen</a:t>
            </a:r>
          </a:p>
          <a:p>
            <a:pPr lvl="2">
              <a:buFont typeface="Arial" panose="020B0604020202020204" pitchFamily="34" charset="0"/>
              <a:buChar char="•"/>
            </a:pPr>
            <a:r>
              <a:rPr lang="en-US" sz="2000" b="1" dirty="0"/>
              <a:t>Behavioral Diversity:</a:t>
            </a:r>
            <a:r>
              <a:rPr lang="en-US" sz="2000" dirty="0"/>
              <a:t> Does co-evolution produce richer defense strategies? → Compare action type distribution &amp; kill chain length across all setups vs same Red opponent</a:t>
            </a:r>
          </a:p>
          <a:p>
            <a:pPr marL="342900" indent="-342900">
              <a:buFont typeface="Arial" panose="020B0604020202020204" pitchFamily="34" charset="0"/>
              <a:buChar char="•"/>
            </a:pPr>
            <a:endParaRPr lang="en-US" sz="2000" b="1" dirty="0"/>
          </a:p>
          <a:p>
            <a:pPr marL="342900" indent="-342900">
              <a:buFont typeface="Arial" panose="020B0604020202020204" pitchFamily="34" charset="0"/>
              <a:buChar char="•"/>
            </a:pPr>
            <a:r>
              <a:rPr lang="en-US" sz="2200" b="1" dirty="0"/>
              <a:t>ACE Generational dynamics </a:t>
            </a:r>
          </a:p>
          <a:p>
            <a:pPr lvl="1"/>
            <a:r>
              <a:rPr lang="en-US" sz="2000" i="1" dirty="0"/>
              <a:t>Does each setup improve over its own generations?</a:t>
            </a:r>
            <a:endParaRPr lang="en-US" sz="2000" dirty="0"/>
          </a:p>
          <a:p>
            <a:pPr lvl="2">
              <a:buFont typeface="Arial" panose="020B0604020202020204" pitchFamily="34" charset="0"/>
              <a:buChar char="•"/>
            </a:pPr>
            <a:r>
              <a:rPr lang="en-US" b="1" dirty="0"/>
              <a:t>Multi-Gen Evolution:</a:t>
            </a:r>
            <a:r>
              <a:rPr lang="en-US" dirty="0"/>
              <a:t> Does Blue suppression ↑ each gen against a stronger Red? → Track suppression rate Gen1→Gen3 per setup</a:t>
            </a:r>
          </a:p>
          <a:p>
            <a:pPr lvl="2">
              <a:buFont typeface="Arial" panose="020B0604020202020204" pitchFamily="34" charset="0"/>
              <a:buChar char="•"/>
            </a:pPr>
            <a:r>
              <a:rPr lang="en-US" b="1" dirty="0"/>
              <a:t>Cross-Gen Performance:</a:t>
            </a:r>
            <a:r>
              <a:rPr lang="en-US" dirty="0"/>
              <a:t> Do agents generalize beyond their trained opponent? → Evaluate every Blue gen × every Red gen; measure performance gap vs unseen opponents</a:t>
            </a:r>
          </a:p>
          <a:p>
            <a:pPr lvl="1">
              <a:buFont typeface="Arial" panose="020B0604020202020204" pitchFamily="34" charset="0"/>
              <a:buChar char="•"/>
            </a:pPr>
            <a:endParaRPr lang="en-US" dirty="0"/>
          </a:p>
        </p:txBody>
      </p:sp>
    </p:spTree>
    <p:extLst>
      <p:ext uri="{BB962C8B-B14F-4D97-AF65-F5344CB8AC3E}">
        <p14:creationId xmlns:p14="http://schemas.microsoft.com/office/powerpoint/2010/main" val="30275090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F27F3-CE82-FB43-4668-A8887B4BF4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F7C4B8-CB67-F407-0780-863215A0E79B}"/>
              </a:ext>
            </a:extLst>
          </p:cNvPr>
          <p:cNvSpPr>
            <a:spLocks noGrp="1"/>
          </p:cNvSpPr>
          <p:nvPr>
            <p:ph type="title"/>
          </p:nvPr>
        </p:nvSpPr>
        <p:spPr>
          <a:xfrm>
            <a:off x="47625" y="-60884"/>
            <a:ext cx="10515600" cy="1325563"/>
          </a:xfrm>
        </p:spPr>
        <p:txBody>
          <a:bodyPr>
            <a:normAutofit/>
          </a:bodyPr>
          <a:lstStyle/>
          <a:p>
            <a:r>
              <a:rPr lang="en-US" dirty="0"/>
              <a:t>Experimentation Setup</a:t>
            </a:r>
            <a:br>
              <a:rPr lang="en-US" dirty="0"/>
            </a:br>
            <a:endParaRPr lang="en-US" dirty="0">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BC07FE32-FCF9-1F88-E2FC-409FFC74F9B4}"/>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29</a:t>
            </a:fld>
            <a:endParaRPr lang="en-US" dirty="0"/>
          </a:p>
        </p:txBody>
      </p:sp>
      <p:graphicFrame>
        <p:nvGraphicFramePr>
          <p:cNvPr id="4" name="Table 3">
            <a:extLst>
              <a:ext uri="{FF2B5EF4-FFF2-40B4-BE49-F238E27FC236}">
                <a16:creationId xmlns:a16="http://schemas.microsoft.com/office/drawing/2014/main" id="{7994682B-8540-4D8F-BC8E-EFD2DA4F4687}"/>
              </a:ext>
            </a:extLst>
          </p:cNvPr>
          <p:cNvGraphicFramePr>
            <a:graphicFrameLocks noGrp="1"/>
          </p:cNvGraphicFramePr>
          <p:nvPr>
            <p:extLst>
              <p:ext uri="{D42A27DB-BD31-4B8C-83A1-F6EECF244321}">
                <p14:modId xmlns:p14="http://schemas.microsoft.com/office/powerpoint/2010/main" val="4270029317"/>
              </p:ext>
            </p:extLst>
          </p:nvPr>
        </p:nvGraphicFramePr>
        <p:xfrm>
          <a:off x="363650" y="1069802"/>
          <a:ext cx="11201817" cy="5102398"/>
        </p:xfrm>
        <a:graphic>
          <a:graphicData uri="http://schemas.openxmlformats.org/drawingml/2006/table">
            <a:tbl>
              <a:tblPr/>
              <a:tblGrid>
                <a:gridCol w="1459151">
                  <a:extLst>
                    <a:ext uri="{9D8B030D-6E8A-4147-A177-3AD203B41FA5}">
                      <a16:colId xmlns:a16="http://schemas.microsoft.com/office/drawing/2014/main" val="1092022476"/>
                    </a:ext>
                  </a:extLst>
                </a:gridCol>
                <a:gridCol w="2022641">
                  <a:extLst>
                    <a:ext uri="{9D8B030D-6E8A-4147-A177-3AD203B41FA5}">
                      <a16:colId xmlns:a16="http://schemas.microsoft.com/office/drawing/2014/main" val="2614292595"/>
                    </a:ext>
                  </a:extLst>
                </a:gridCol>
                <a:gridCol w="1663966">
                  <a:extLst>
                    <a:ext uri="{9D8B030D-6E8A-4147-A177-3AD203B41FA5}">
                      <a16:colId xmlns:a16="http://schemas.microsoft.com/office/drawing/2014/main" val="3373575034"/>
                    </a:ext>
                  </a:extLst>
                </a:gridCol>
                <a:gridCol w="1543325">
                  <a:extLst>
                    <a:ext uri="{9D8B030D-6E8A-4147-A177-3AD203B41FA5}">
                      <a16:colId xmlns:a16="http://schemas.microsoft.com/office/drawing/2014/main" val="1227911256"/>
                    </a:ext>
                  </a:extLst>
                </a:gridCol>
                <a:gridCol w="1270000">
                  <a:extLst>
                    <a:ext uri="{9D8B030D-6E8A-4147-A177-3AD203B41FA5}">
                      <a16:colId xmlns:a16="http://schemas.microsoft.com/office/drawing/2014/main" val="1949119193"/>
                    </a:ext>
                  </a:extLst>
                </a:gridCol>
                <a:gridCol w="3242734">
                  <a:extLst>
                    <a:ext uri="{9D8B030D-6E8A-4147-A177-3AD203B41FA5}">
                      <a16:colId xmlns:a16="http://schemas.microsoft.com/office/drawing/2014/main" val="3334291957"/>
                    </a:ext>
                  </a:extLst>
                </a:gridCol>
              </a:tblGrid>
              <a:tr h="344750">
                <a:tc>
                  <a:txBody>
                    <a:bodyPr/>
                    <a:lstStyle/>
                    <a:p>
                      <a:pPr algn="ctr"/>
                      <a:r>
                        <a:rPr lang="en-US" sz="1600" b="1" dirty="0"/>
                        <a:t>Setup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Red Agent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Blue Agent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Learning Setup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Generations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Illustration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9078366"/>
                  </a:ext>
                </a:extLst>
              </a:tr>
              <a:tr h="1057715">
                <a:tc>
                  <a:txBody>
                    <a:bodyPr/>
                    <a:lstStyle/>
                    <a:p>
                      <a:r>
                        <a:rPr lang="en-US" sz="1400" b="1" dirty="0"/>
                        <a:t>Gen0 Baseline</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RL/LLM (initialized)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RL/LLM (initialized)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a:t>Both</a:t>
                      </a:r>
                      <a:r>
                        <a:rPr lang="en-US" sz="1600"/>
                        <a:t>, jointly trained (1,500 episodes)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 (baseline)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3710622"/>
                  </a:ext>
                </a:extLst>
              </a:tr>
              <a:tr h="1024467">
                <a:tc>
                  <a:txBody>
                    <a:bodyPr/>
                    <a:lstStyle/>
                    <a:p>
                      <a:r>
                        <a:rPr lang="en-US" sz="1400" b="1" dirty="0"/>
                        <a:t>Fixed Opponent Training (FOT)</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RL/LLM (frozen, Gen0)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RL/LLM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Blue only</a:t>
                      </a:r>
                      <a:r>
                        <a:rPr lang="en-US" sz="1600" dirty="0"/>
                        <a:t> — Red stays fixed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Until convergence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5859996"/>
                  </a:ext>
                </a:extLst>
              </a:tr>
              <a:tr h="1100666">
                <a:tc>
                  <a:txBody>
                    <a:bodyPr/>
                    <a:lstStyle/>
                    <a:p>
                      <a:r>
                        <a:rPr lang="en-US" sz="1400" b="1"/>
                        <a:t>Simultaneous Co-evolution (SCE)</a:t>
                      </a:r>
                      <a:endParaRPr 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RL/LLM (evolving)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RL/LLM (evolving)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a:t>Both</a:t>
                      </a:r>
                      <a:r>
                        <a:rPr lang="en-US" sz="1600"/>
                        <a:t>, at the same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0150707"/>
                  </a:ext>
                </a:extLst>
              </a:tr>
              <a:tr h="1574800">
                <a:tc>
                  <a:txBody>
                    <a:bodyPr/>
                    <a:lstStyle/>
                    <a:p>
                      <a:r>
                        <a:rPr lang="en-US" sz="1400" b="1" dirty="0"/>
                        <a:t>Alternating Co-evolution (ACE)</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RL/LLM (alternates: frozen ↔ evolving)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RL/LLM (alternates: frozen ↔ evolving)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One at a time</a:t>
                      </a:r>
                      <a:r>
                        <a:rPr lang="en-US" sz="1600" dirty="0"/>
                        <a:t>, then swap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4308837"/>
                  </a:ext>
                </a:extLst>
              </a:tr>
            </a:tbl>
          </a:graphicData>
        </a:graphic>
      </p:graphicFrame>
      <p:pic>
        <p:nvPicPr>
          <p:cNvPr id="4100" name="Picture 4">
            <a:extLst>
              <a:ext uri="{FF2B5EF4-FFF2-40B4-BE49-F238E27FC236}">
                <a16:creationId xmlns:a16="http://schemas.microsoft.com/office/drawing/2014/main" id="{3CE153F0-CD72-47A5-BDE9-03C69D02321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6339"/>
          <a:stretch/>
        </p:blipFill>
        <p:spPr bwMode="auto">
          <a:xfrm>
            <a:off x="8288867" y="2663965"/>
            <a:ext cx="3295204" cy="191933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9142521E-8F76-4795-A46D-5228C6B6A1B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0691"/>
          <a:stretch/>
        </p:blipFill>
        <p:spPr bwMode="auto">
          <a:xfrm>
            <a:off x="8288867" y="4583295"/>
            <a:ext cx="3295204" cy="1631238"/>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D768E035-DDFC-4C6F-ADFF-02222857EB55}"/>
              </a:ext>
            </a:extLst>
          </p:cNvPr>
          <p:cNvSpPr txBox="1"/>
          <p:nvPr/>
        </p:nvSpPr>
        <p:spPr>
          <a:xfrm>
            <a:off x="4045638" y="6185971"/>
            <a:ext cx="6180666" cy="369332"/>
          </a:xfrm>
          <a:prstGeom prst="rect">
            <a:avLst/>
          </a:prstGeom>
          <a:noFill/>
        </p:spPr>
        <p:txBody>
          <a:bodyPr wrap="square">
            <a:spAutoFit/>
          </a:bodyPr>
          <a:lstStyle/>
          <a:p>
            <a:r>
              <a:rPr lang="en-US" dirty="0"/>
              <a:t>Table 10 : Training Setups </a:t>
            </a:r>
          </a:p>
        </p:txBody>
      </p:sp>
    </p:spTree>
    <p:extLst>
      <p:ext uri="{BB962C8B-B14F-4D97-AF65-F5344CB8AC3E}">
        <p14:creationId xmlns:p14="http://schemas.microsoft.com/office/powerpoint/2010/main" val="25219706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D15AAF5-4C58-4CAD-9A14-0E46DA9462D8}"/>
              </a:ext>
            </a:extLst>
          </p:cNvPr>
          <p:cNvPicPr>
            <a:picLocks noChangeAspect="1"/>
          </p:cNvPicPr>
          <p:nvPr/>
        </p:nvPicPr>
        <p:blipFill rotWithShape="1">
          <a:blip r:embed="rId3">
            <a:extLst>
              <a:ext uri="{28A0092B-C50C-407E-A947-70E740481C1C}">
                <a14:useLocalDpi xmlns:a14="http://schemas.microsoft.com/office/drawing/2010/main" val="0"/>
              </a:ext>
            </a:extLst>
          </a:blip>
          <a:srcRect t="15705" b="12143"/>
          <a:stretch/>
        </p:blipFill>
        <p:spPr>
          <a:xfrm>
            <a:off x="189472" y="1351337"/>
            <a:ext cx="11277600" cy="3237595"/>
          </a:xfrm>
          <a:prstGeom prst="rect">
            <a:avLst/>
          </a:prstGeom>
        </p:spPr>
      </p:pic>
      <p:sp>
        <p:nvSpPr>
          <p:cNvPr id="8" name="TextBox 7">
            <a:extLst>
              <a:ext uri="{FF2B5EF4-FFF2-40B4-BE49-F238E27FC236}">
                <a16:creationId xmlns:a16="http://schemas.microsoft.com/office/drawing/2014/main" id="{D4FD2735-9D3C-422B-B695-8E0EC0653319}"/>
              </a:ext>
            </a:extLst>
          </p:cNvPr>
          <p:cNvSpPr txBox="1"/>
          <p:nvPr/>
        </p:nvSpPr>
        <p:spPr>
          <a:xfrm>
            <a:off x="94819" y="741362"/>
            <a:ext cx="9406467"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defPPr>
              <a:defRPr lang="en-US"/>
            </a:defPPr>
            <a:lvl1pPr>
              <a:defRPr b="1" u="sng">
                <a:solidFill>
                  <a:srgbClr val="C00000"/>
                </a:solidFill>
                <a:latin typeface="DM Mono"/>
              </a:defRPr>
            </a:lvl1pPr>
          </a:lstStyle>
          <a:p>
            <a:r>
              <a:rPr lang="en-US" u="none" dirty="0">
                <a:solidFill>
                  <a:schemeClr val="accent6">
                    <a:lumMod val="75000"/>
                  </a:schemeClr>
                </a:solidFill>
              </a:rPr>
              <a:t>FOT collapses vs strong Red (2%), SCE performs high; ACE improves steadily (85% → 92% → 95%).</a:t>
            </a:r>
          </a:p>
        </p:txBody>
      </p:sp>
      <p:graphicFrame>
        <p:nvGraphicFramePr>
          <p:cNvPr id="10" name="Table 9">
            <a:extLst>
              <a:ext uri="{FF2B5EF4-FFF2-40B4-BE49-F238E27FC236}">
                <a16:creationId xmlns:a16="http://schemas.microsoft.com/office/drawing/2014/main" id="{0C8EF2F0-AE61-4D69-8454-713F0B022E0E}"/>
              </a:ext>
            </a:extLst>
          </p:cNvPr>
          <p:cNvGraphicFramePr>
            <a:graphicFrameLocks noGrp="1"/>
          </p:cNvGraphicFramePr>
          <p:nvPr>
            <p:extLst>
              <p:ext uri="{D42A27DB-BD31-4B8C-83A1-F6EECF244321}">
                <p14:modId xmlns:p14="http://schemas.microsoft.com/office/powerpoint/2010/main" val="4199429494"/>
              </p:ext>
            </p:extLst>
          </p:nvPr>
        </p:nvGraphicFramePr>
        <p:xfrm>
          <a:off x="257175" y="4722639"/>
          <a:ext cx="11209897" cy="2013123"/>
        </p:xfrm>
        <a:graphic>
          <a:graphicData uri="http://schemas.openxmlformats.org/drawingml/2006/table">
            <a:tbl>
              <a:tblPr/>
              <a:tblGrid>
                <a:gridCol w="3475771">
                  <a:extLst>
                    <a:ext uri="{9D8B030D-6E8A-4147-A177-3AD203B41FA5}">
                      <a16:colId xmlns:a16="http://schemas.microsoft.com/office/drawing/2014/main" val="1392073468"/>
                    </a:ext>
                  </a:extLst>
                </a:gridCol>
                <a:gridCol w="3500988">
                  <a:extLst>
                    <a:ext uri="{9D8B030D-6E8A-4147-A177-3AD203B41FA5}">
                      <a16:colId xmlns:a16="http://schemas.microsoft.com/office/drawing/2014/main" val="598439586"/>
                    </a:ext>
                  </a:extLst>
                </a:gridCol>
                <a:gridCol w="4233138">
                  <a:extLst>
                    <a:ext uri="{9D8B030D-6E8A-4147-A177-3AD203B41FA5}">
                      <a16:colId xmlns:a16="http://schemas.microsoft.com/office/drawing/2014/main" val="2616921907"/>
                    </a:ext>
                  </a:extLst>
                </a:gridCol>
              </a:tblGrid>
              <a:tr h="315516">
                <a:tc>
                  <a:txBody>
                    <a:bodyPr/>
                    <a:lstStyle/>
                    <a:p>
                      <a:pPr algn="ctr"/>
                      <a:r>
                        <a:rPr lang="en-US" b="1" dirty="0"/>
                        <a:t>Observation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Why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9905022"/>
                  </a:ext>
                </a:extLst>
              </a:tr>
              <a:tr h="732963">
                <a:tc>
                  <a:txBody>
                    <a:bodyPr/>
                    <a:lstStyle/>
                    <a:p>
                      <a:r>
                        <a:rPr lang="en-US" b="1" dirty="0"/>
                        <a:t>Red G1:</a:t>
                      </a:r>
                      <a:r>
                        <a:rPr lang="en-US" dirty="0"/>
                        <a:t> all ≈ </a:t>
                      </a:r>
                      <a:r>
                        <a:rPr lang="en-US" b="1" dirty="0"/>
                        <a:t>96–100%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Early Red is easy → all methods can stop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lang="en-US" dirty="0"/>
                        <a:t>FOT fails on evolved Red; SCE performs high; ACE matches SCE while showing clearer step-by-step improvement.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9963401"/>
                  </a:ext>
                </a:extLst>
              </a:tr>
              <a:tr h="788789">
                <a:tc>
                  <a:txBody>
                    <a:bodyPr/>
                    <a:lstStyle/>
                    <a:p>
                      <a:r>
                        <a:rPr lang="es-ES" b="1"/>
                        <a:t>Red G3:</a:t>
                      </a:r>
                      <a:r>
                        <a:rPr lang="es-ES"/>
                        <a:t> FOT </a:t>
                      </a:r>
                      <a:r>
                        <a:rPr lang="es-ES" b="1"/>
                        <a:t>2%</a:t>
                      </a:r>
                      <a:r>
                        <a:rPr lang="es-ES"/>
                        <a:t>, SCE </a:t>
                      </a:r>
                      <a:r>
                        <a:rPr lang="es-ES" b="1"/>
                        <a:t>95%</a:t>
                      </a:r>
                      <a:r>
                        <a:rPr lang="es-ES"/>
                        <a:t>, ACE </a:t>
                      </a:r>
                      <a:r>
                        <a:rPr lang="es-ES" b="1"/>
                        <a:t>85→92→95%</a:t>
                      </a:r>
                      <a:endParaRPr lang="es-E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FOT fails on evolved Red; SCE is strong; ACE </a:t>
                      </a:r>
                      <a:r>
                        <a:rPr lang="en-US" b="1" dirty="0"/>
                        <a:t>reaches same level while improving step-by-step</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r>
                        <a:rPr lang="en-US" b="1" dirty="0"/>
                        <a:t>ACE = most reliable</a:t>
                      </a:r>
                      <a:r>
                        <a:rPr lang="en-US" dirty="0"/>
                        <a:t>; FOT brittle; ACE &gt; SCE for consistent growth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8107247"/>
                  </a:ext>
                </a:extLst>
              </a:tr>
            </a:tbl>
          </a:graphicData>
        </a:graphic>
      </p:graphicFrame>
      <p:sp>
        <p:nvSpPr>
          <p:cNvPr id="13" name="Title 1">
            <a:extLst>
              <a:ext uri="{FF2B5EF4-FFF2-40B4-BE49-F238E27FC236}">
                <a16:creationId xmlns:a16="http://schemas.microsoft.com/office/drawing/2014/main" id="{21E63F01-2977-4F46-A757-9BA098F172DC}"/>
              </a:ext>
            </a:extLst>
          </p:cNvPr>
          <p:cNvSpPr txBox="1">
            <a:spLocks/>
          </p:cNvSpPr>
          <p:nvPr/>
        </p:nvSpPr>
        <p:spPr>
          <a:xfrm>
            <a:off x="0" y="-97897"/>
            <a:ext cx="11277600" cy="7667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mj-ea"/>
                <a:cs typeface="Times New Roman" panose="02020603050405020304" pitchFamily="18" charset="0"/>
              </a:defRPr>
            </a:lvl1pPr>
          </a:lstStyle>
          <a:p>
            <a:pPr marL="11206">
              <a:lnSpc>
                <a:spcPct val="100000"/>
              </a:lnSpc>
              <a:spcBef>
                <a:spcPts val="115"/>
              </a:spcBef>
              <a:tabLst>
                <a:tab pos="144003" algn="l"/>
              </a:tabLst>
            </a:pPr>
            <a:r>
              <a:rPr lang="en-US" sz="3200" u="sng" dirty="0"/>
              <a:t>ACE vs FOT vs SCE (1/4) : Blue-team Suppression </a:t>
            </a:r>
          </a:p>
        </p:txBody>
      </p:sp>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30</a:t>
            </a:fld>
            <a:endParaRPr lang="en-US" dirty="0"/>
          </a:p>
        </p:txBody>
      </p:sp>
    </p:spTree>
    <p:extLst>
      <p:ext uri="{BB962C8B-B14F-4D97-AF65-F5344CB8AC3E}">
        <p14:creationId xmlns:p14="http://schemas.microsoft.com/office/powerpoint/2010/main" val="8571043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B358EF6-F13C-47EC-B7B3-C2F2AFA097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126067"/>
            <a:ext cx="12077897" cy="3505200"/>
          </a:xfrm>
          <a:prstGeom prst="rect">
            <a:avLst/>
          </a:prstGeom>
        </p:spPr>
      </p:pic>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31</a:t>
            </a:fld>
            <a:endParaRPr lang="en-US" dirty="0"/>
          </a:p>
        </p:txBody>
      </p:sp>
      <p:sp>
        <p:nvSpPr>
          <p:cNvPr id="10" name="TextBox 9">
            <a:extLst>
              <a:ext uri="{FF2B5EF4-FFF2-40B4-BE49-F238E27FC236}">
                <a16:creationId xmlns:a16="http://schemas.microsoft.com/office/drawing/2014/main" id="{3EA31E9E-FE9C-4711-BE30-97ED0C011571}"/>
              </a:ext>
            </a:extLst>
          </p:cNvPr>
          <p:cNvSpPr txBox="1"/>
          <p:nvPr/>
        </p:nvSpPr>
        <p:spPr>
          <a:xfrm>
            <a:off x="93133" y="745076"/>
            <a:ext cx="9985561"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defPPr>
              <a:defRPr lang="en-US"/>
            </a:defPPr>
            <a:lvl1pPr>
              <a:defRPr b="1" u="sng">
                <a:solidFill>
                  <a:srgbClr val="C00000"/>
                </a:solidFill>
                <a:latin typeface="DM Mono"/>
              </a:defRPr>
            </a:lvl1pPr>
          </a:lstStyle>
          <a:p>
            <a:r>
              <a:rPr lang="en-US" u="none" dirty="0">
                <a:solidFill>
                  <a:schemeClr val="accent6">
                    <a:lumMod val="75000"/>
                  </a:schemeClr>
                </a:solidFill>
              </a:rPr>
              <a:t>ACE shows the most reliable training behavior: controlled drops, fast recovery, and stable improvement</a:t>
            </a:r>
          </a:p>
        </p:txBody>
      </p:sp>
      <p:graphicFrame>
        <p:nvGraphicFramePr>
          <p:cNvPr id="11" name="Table 10">
            <a:extLst>
              <a:ext uri="{FF2B5EF4-FFF2-40B4-BE49-F238E27FC236}">
                <a16:creationId xmlns:a16="http://schemas.microsoft.com/office/drawing/2014/main" id="{96BEBA77-D944-423E-950F-9282655B37F2}"/>
              </a:ext>
            </a:extLst>
          </p:cNvPr>
          <p:cNvGraphicFramePr>
            <a:graphicFrameLocks noGrp="1"/>
          </p:cNvGraphicFramePr>
          <p:nvPr>
            <p:extLst>
              <p:ext uri="{D42A27DB-BD31-4B8C-83A1-F6EECF244321}">
                <p14:modId xmlns:p14="http://schemas.microsoft.com/office/powerpoint/2010/main" val="3978825100"/>
              </p:ext>
            </p:extLst>
          </p:nvPr>
        </p:nvGraphicFramePr>
        <p:xfrm>
          <a:off x="174810" y="4484151"/>
          <a:ext cx="11839389" cy="2162182"/>
        </p:xfrm>
        <a:graphic>
          <a:graphicData uri="http://schemas.openxmlformats.org/drawingml/2006/table">
            <a:tbl>
              <a:tblPr/>
              <a:tblGrid>
                <a:gridCol w="3770713">
                  <a:extLst>
                    <a:ext uri="{9D8B030D-6E8A-4147-A177-3AD203B41FA5}">
                      <a16:colId xmlns:a16="http://schemas.microsoft.com/office/drawing/2014/main" val="1790460261"/>
                    </a:ext>
                  </a:extLst>
                </a:gridCol>
                <a:gridCol w="4662283">
                  <a:extLst>
                    <a:ext uri="{9D8B030D-6E8A-4147-A177-3AD203B41FA5}">
                      <a16:colId xmlns:a16="http://schemas.microsoft.com/office/drawing/2014/main" val="4058410398"/>
                    </a:ext>
                  </a:extLst>
                </a:gridCol>
                <a:gridCol w="3406393">
                  <a:extLst>
                    <a:ext uri="{9D8B030D-6E8A-4147-A177-3AD203B41FA5}">
                      <a16:colId xmlns:a16="http://schemas.microsoft.com/office/drawing/2014/main" val="2417224817"/>
                    </a:ext>
                  </a:extLst>
                </a:gridCol>
              </a:tblGrid>
              <a:tr h="365908">
                <a:tc>
                  <a:txBody>
                    <a:bodyPr/>
                    <a:lstStyle/>
                    <a:p>
                      <a:r>
                        <a:rPr lang="en-US" dirty="0"/>
                        <a:t>Observation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Why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3686215"/>
                  </a:ext>
                </a:extLst>
              </a:tr>
              <a:tr h="898137">
                <a:tc>
                  <a:txBody>
                    <a:bodyPr/>
                    <a:lstStyle/>
                    <a:p>
                      <a:r>
                        <a:rPr lang="en-US" b="1" dirty="0"/>
                        <a:t>ACE:</a:t>
                      </a:r>
                      <a:r>
                        <a:rPr lang="en-US" dirty="0"/>
                        <a:t> dips at gen change → recovers → stable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New stronger Red introduced, then fixed → learning target becomes stable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lang="en-US" sz="1600" b="1" dirty="0"/>
                        <a:t>ACE</a:t>
                      </a:r>
                      <a:r>
                        <a:rPr lang="en-US" sz="1600" dirty="0"/>
                        <a:t> = controlled dips → recovery → stable learning; </a:t>
                      </a:r>
                    </a:p>
                    <a:p>
                      <a:r>
                        <a:rPr lang="en-US" sz="1600" b="1" dirty="0"/>
                        <a:t>SCE</a:t>
                      </a:r>
                      <a:r>
                        <a:rPr lang="en-US" sz="1600" dirty="0"/>
                        <a:t> = chronic oscillation; </a:t>
                      </a:r>
                    </a:p>
                    <a:p>
                      <a:r>
                        <a:rPr lang="en-US" sz="1600" b="1" dirty="0"/>
                        <a:t>FOT</a:t>
                      </a:r>
                      <a:r>
                        <a:rPr lang="en-US" sz="1600" dirty="0"/>
                        <a:t> = false stability.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0268689"/>
                  </a:ext>
                </a:extLst>
              </a:tr>
              <a:tr h="898137">
                <a:tc>
                  <a:txBody>
                    <a:bodyPr/>
                    <a:lstStyle/>
                    <a:p>
                      <a:r>
                        <a:rPr lang="en-US" b="1"/>
                        <a:t>FOT:</a:t>
                      </a:r>
                      <a:r>
                        <a:rPr lang="en-US"/>
                        <a:t> flat ≈ +40 but false stability; </a:t>
                      </a:r>
                      <a:r>
                        <a:rPr lang="en-US" b="1"/>
                        <a:t>SCE:</a:t>
                      </a:r>
                      <a:r>
                        <a:rPr lang="en-US"/>
                        <a:t> oscillates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FOT overfits fixed Red; SCE has both policies changing together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r>
                        <a:rPr lang="en-US" sz="1600" dirty="0"/>
                        <a:t>ACE instability bounded &amp; recovers; SCE instability </a:t>
                      </a:r>
                      <a:r>
                        <a:rPr lang="en-US" sz="1600" dirty="0" err="1"/>
                        <a:t>chronic→harder</a:t>
                      </a:r>
                      <a:r>
                        <a:rPr lang="en-US" sz="1600" dirty="0"/>
                        <a:t> to optimize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0369492"/>
                  </a:ext>
                </a:extLst>
              </a:tr>
            </a:tbl>
          </a:graphicData>
        </a:graphic>
      </p:graphicFrame>
      <p:sp>
        <p:nvSpPr>
          <p:cNvPr id="12" name="Title 1">
            <a:extLst>
              <a:ext uri="{FF2B5EF4-FFF2-40B4-BE49-F238E27FC236}">
                <a16:creationId xmlns:a16="http://schemas.microsoft.com/office/drawing/2014/main" id="{057E8D67-EF59-458E-A188-A3AA12390C61}"/>
              </a:ext>
            </a:extLst>
          </p:cNvPr>
          <p:cNvSpPr txBox="1">
            <a:spLocks/>
          </p:cNvSpPr>
          <p:nvPr/>
        </p:nvSpPr>
        <p:spPr>
          <a:xfrm>
            <a:off x="-1" y="-21688"/>
            <a:ext cx="11277600" cy="7667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mj-ea"/>
                <a:cs typeface="Times New Roman" panose="02020603050405020304" pitchFamily="18" charset="0"/>
              </a:defRPr>
            </a:lvl1pPr>
          </a:lstStyle>
          <a:p>
            <a:pPr marL="11206">
              <a:lnSpc>
                <a:spcPct val="100000"/>
              </a:lnSpc>
              <a:spcBef>
                <a:spcPts val="115"/>
              </a:spcBef>
              <a:tabLst>
                <a:tab pos="144003" algn="l"/>
              </a:tabLst>
            </a:pPr>
            <a:r>
              <a:rPr lang="en-US" sz="3200" u="sng" dirty="0"/>
              <a:t>ACE vs FOT vs SCE (2/4) : Reward Stability</a:t>
            </a:r>
          </a:p>
        </p:txBody>
      </p:sp>
    </p:spTree>
    <p:extLst>
      <p:ext uri="{BB962C8B-B14F-4D97-AF65-F5344CB8AC3E}">
        <p14:creationId xmlns:p14="http://schemas.microsoft.com/office/powerpoint/2010/main" val="9022752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32</a:t>
            </a:fld>
            <a:endParaRPr lang="en-US" dirty="0"/>
          </a:p>
        </p:txBody>
      </p:sp>
      <p:sp>
        <p:nvSpPr>
          <p:cNvPr id="14" name="TextBox 13">
            <a:extLst>
              <a:ext uri="{FF2B5EF4-FFF2-40B4-BE49-F238E27FC236}">
                <a16:creationId xmlns:a16="http://schemas.microsoft.com/office/drawing/2014/main" id="{A3E45BCA-E42C-4A0D-93F0-7124A68BC6B2}"/>
              </a:ext>
            </a:extLst>
          </p:cNvPr>
          <p:cNvSpPr txBox="1"/>
          <p:nvPr/>
        </p:nvSpPr>
        <p:spPr>
          <a:xfrm>
            <a:off x="279400" y="665806"/>
            <a:ext cx="8280400" cy="40011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defPPr>
              <a:defRPr lang="en-US"/>
            </a:defPPr>
            <a:lvl1pPr>
              <a:defRPr b="1" u="sng">
                <a:solidFill>
                  <a:srgbClr val="C00000"/>
                </a:solidFill>
                <a:latin typeface="DM Mono"/>
              </a:defRPr>
            </a:lvl1pPr>
          </a:lstStyle>
          <a:p>
            <a:r>
              <a:rPr lang="en-US" sz="2000" u="none" dirty="0">
                <a:solidFill>
                  <a:schemeClr val="accent6">
                    <a:lumMod val="75000"/>
                  </a:schemeClr>
                </a:solidFill>
              </a:rPr>
              <a:t>ACE uses ~3.6× fewer episodes than SCE while reaching similar performance. </a:t>
            </a:r>
          </a:p>
        </p:txBody>
      </p:sp>
      <p:graphicFrame>
        <p:nvGraphicFramePr>
          <p:cNvPr id="6" name="Table 5">
            <a:extLst>
              <a:ext uri="{FF2B5EF4-FFF2-40B4-BE49-F238E27FC236}">
                <a16:creationId xmlns:a16="http://schemas.microsoft.com/office/drawing/2014/main" id="{30F97FE6-5935-4A0B-BB7E-7D1B9A06709F}"/>
              </a:ext>
            </a:extLst>
          </p:cNvPr>
          <p:cNvGraphicFramePr>
            <a:graphicFrameLocks noGrp="1"/>
          </p:cNvGraphicFramePr>
          <p:nvPr>
            <p:extLst>
              <p:ext uri="{D42A27DB-BD31-4B8C-83A1-F6EECF244321}">
                <p14:modId xmlns:p14="http://schemas.microsoft.com/office/powerpoint/2010/main" val="1853371224"/>
              </p:ext>
            </p:extLst>
          </p:nvPr>
        </p:nvGraphicFramePr>
        <p:xfrm>
          <a:off x="499533" y="5319900"/>
          <a:ext cx="11435292" cy="1415862"/>
        </p:xfrm>
        <a:graphic>
          <a:graphicData uri="http://schemas.openxmlformats.org/drawingml/2006/table">
            <a:tbl>
              <a:tblPr/>
              <a:tblGrid>
                <a:gridCol w="3412067">
                  <a:extLst>
                    <a:ext uri="{9D8B030D-6E8A-4147-A177-3AD203B41FA5}">
                      <a16:colId xmlns:a16="http://schemas.microsoft.com/office/drawing/2014/main" val="3374473663"/>
                    </a:ext>
                  </a:extLst>
                </a:gridCol>
                <a:gridCol w="4211461">
                  <a:extLst>
                    <a:ext uri="{9D8B030D-6E8A-4147-A177-3AD203B41FA5}">
                      <a16:colId xmlns:a16="http://schemas.microsoft.com/office/drawing/2014/main" val="3314096450"/>
                    </a:ext>
                  </a:extLst>
                </a:gridCol>
                <a:gridCol w="3811764">
                  <a:extLst>
                    <a:ext uri="{9D8B030D-6E8A-4147-A177-3AD203B41FA5}">
                      <a16:colId xmlns:a16="http://schemas.microsoft.com/office/drawing/2014/main" val="817597074"/>
                    </a:ext>
                  </a:extLst>
                </a:gridCol>
              </a:tblGrid>
              <a:tr h="221074">
                <a:tc>
                  <a:txBody>
                    <a:bodyPr/>
                    <a:lstStyle/>
                    <a:p>
                      <a:pPr algn="ctr"/>
                      <a:r>
                        <a:rPr lang="en-US" b="1" dirty="0"/>
                        <a:t>Observation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Why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8484450"/>
                  </a:ext>
                </a:extLst>
              </a:tr>
              <a:tr h="1050102">
                <a:tc>
                  <a:txBody>
                    <a:bodyPr/>
                    <a:lstStyle/>
                    <a:p>
                      <a:r>
                        <a:rPr lang="en-US" b="1" dirty="0"/>
                        <a:t>ACE: 76k eps → 95.1%</a:t>
                      </a:r>
                      <a:r>
                        <a:rPr lang="en-US" dirty="0"/>
                        <a:t> vs </a:t>
                      </a:r>
                      <a:r>
                        <a:rPr lang="en-US" b="1" dirty="0"/>
                        <a:t>SCE: 272k eps → 95.0%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ACE</a:t>
                      </a:r>
                      <a:r>
                        <a:rPr lang="en-US" b="0" dirty="0"/>
                        <a:t>: fixed opponent → faster learning</a:t>
                      </a:r>
                      <a:br>
                        <a:rPr lang="en-US" b="0" dirty="0"/>
                      </a:br>
                      <a:r>
                        <a:rPr lang="en-US" b="1" dirty="0"/>
                        <a:t>SCE</a:t>
                      </a:r>
                      <a:r>
                        <a:rPr lang="en-US" b="0" dirty="0"/>
                        <a:t>: both update together → more episodes needed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ACE</a:t>
                      </a:r>
                      <a:r>
                        <a:rPr lang="en-US" dirty="0"/>
                        <a:t> </a:t>
                      </a:r>
                      <a:r>
                        <a:rPr lang="en-US" b="1" dirty="0"/>
                        <a:t>is more efficient</a:t>
                      </a:r>
                      <a:r>
                        <a:rPr lang="en-US" dirty="0"/>
                        <a:t>: similar suppression with 3.6× (196k) fewer episodes than SCE.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9568027"/>
                  </a:ext>
                </a:extLst>
              </a:tr>
            </a:tbl>
          </a:graphicData>
        </a:graphic>
      </p:graphicFrame>
      <p:sp>
        <p:nvSpPr>
          <p:cNvPr id="11" name="Title 1">
            <a:extLst>
              <a:ext uri="{FF2B5EF4-FFF2-40B4-BE49-F238E27FC236}">
                <a16:creationId xmlns:a16="http://schemas.microsoft.com/office/drawing/2014/main" id="{9CFFAD3F-21CB-415D-9CF0-ABF08964060D}"/>
              </a:ext>
            </a:extLst>
          </p:cNvPr>
          <p:cNvSpPr txBox="1">
            <a:spLocks/>
          </p:cNvSpPr>
          <p:nvPr/>
        </p:nvSpPr>
        <p:spPr>
          <a:xfrm>
            <a:off x="-48576" y="-134762"/>
            <a:ext cx="11277600" cy="7667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mj-ea"/>
                <a:cs typeface="Times New Roman" panose="02020603050405020304" pitchFamily="18" charset="0"/>
              </a:defRPr>
            </a:lvl1pPr>
          </a:lstStyle>
          <a:p>
            <a:pPr marL="11206">
              <a:lnSpc>
                <a:spcPct val="100000"/>
              </a:lnSpc>
              <a:spcBef>
                <a:spcPts val="115"/>
              </a:spcBef>
              <a:tabLst>
                <a:tab pos="144003" algn="l"/>
              </a:tabLst>
            </a:pPr>
            <a:r>
              <a:rPr lang="en-US" sz="3200" u="sng" dirty="0"/>
              <a:t>ACE vs FOT vs SCE (3/4) : Training Efficiency</a:t>
            </a:r>
          </a:p>
        </p:txBody>
      </p:sp>
      <p:pic>
        <p:nvPicPr>
          <p:cNvPr id="8" name="Picture 7">
            <a:extLst>
              <a:ext uri="{FF2B5EF4-FFF2-40B4-BE49-F238E27FC236}">
                <a16:creationId xmlns:a16="http://schemas.microsoft.com/office/drawing/2014/main" id="{71AE0D8C-FDC9-4007-A42F-E7DFD2727007}"/>
              </a:ext>
            </a:extLst>
          </p:cNvPr>
          <p:cNvPicPr>
            <a:picLocks noChangeAspect="1"/>
          </p:cNvPicPr>
          <p:nvPr/>
        </p:nvPicPr>
        <p:blipFill>
          <a:blip r:embed="rId3"/>
          <a:stretch>
            <a:fillRect/>
          </a:stretch>
        </p:blipFill>
        <p:spPr>
          <a:xfrm>
            <a:off x="2573867" y="1185334"/>
            <a:ext cx="6933266" cy="3980308"/>
          </a:xfrm>
          <a:prstGeom prst="rect">
            <a:avLst/>
          </a:prstGeom>
        </p:spPr>
      </p:pic>
    </p:spTree>
    <p:extLst>
      <p:ext uri="{BB962C8B-B14F-4D97-AF65-F5344CB8AC3E}">
        <p14:creationId xmlns:p14="http://schemas.microsoft.com/office/powerpoint/2010/main" val="9279577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2DA4D09E-3AB2-4172-A32E-B3EBC2A114FC}"/>
              </a:ext>
            </a:extLst>
          </p:cNvPr>
          <p:cNvPicPr>
            <a:picLocks noChangeAspect="1"/>
          </p:cNvPicPr>
          <p:nvPr/>
        </p:nvPicPr>
        <p:blipFill>
          <a:blip r:embed="rId3"/>
          <a:stretch>
            <a:fillRect/>
          </a:stretch>
        </p:blipFill>
        <p:spPr>
          <a:xfrm>
            <a:off x="1912595" y="1363134"/>
            <a:ext cx="8366810" cy="3108455"/>
          </a:xfrm>
          <a:prstGeom prst="rect">
            <a:avLst/>
          </a:prstGeom>
        </p:spPr>
      </p:pic>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33</a:t>
            </a:fld>
            <a:endParaRPr lang="en-US" dirty="0"/>
          </a:p>
        </p:txBody>
      </p:sp>
      <p:sp>
        <p:nvSpPr>
          <p:cNvPr id="14" name="TextBox 13">
            <a:extLst>
              <a:ext uri="{FF2B5EF4-FFF2-40B4-BE49-F238E27FC236}">
                <a16:creationId xmlns:a16="http://schemas.microsoft.com/office/drawing/2014/main" id="{A3E45BCA-E42C-4A0D-93F0-7124A68BC6B2}"/>
              </a:ext>
            </a:extLst>
          </p:cNvPr>
          <p:cNvSpPr txBox="1"/>
          <p:nvPr/>
        </p:nvSpPr>
        <p:spPr>
          <a:xfrm>
            <a:off x="152100" y="698421"/>
            <a:ext cx="10759055"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defPPr>
              <a:defRPr lang="en-US"/>
            </a:defPPr>
            <a:lvl1pPr>
              <a:defRPr b="1" u="sng">
                <a:solidFill>
                  <a:srgbClr val="C00000"/>
                </a:solidFill>
                <a:latin typeface="DM Mono"/>
              </a:defRPr>
            </a:lvl1pPr>
          </a:lstStyle>
          <a:p>
            <a:r>
              <a:rPr lang="en-US" u="none" dirty="0">
                <a:solidFill>
                  <a:schemeClr val="accent6">
                    <a:lumMod val="75000"/>
                  </a:schemeClr>
                </a:solidFill>
              </a:rPr>
              <a:t>ACE increasingly shortens Red Gen 1 kill chains, while Red Gen 3 maintains short, efficient chains across setups .</a:t>
            </a:r>
          </a:p>
        </p:txBody>
      </p:sp>
      <p:graphicFrame>
        <p:nvGraphicFramePr>
          <p:cNvPr id="17" name="Table 16">
            <a:extLst>
              <a:ext uri="{FF2B5EF4-FFF2-40B4-BE49-F238E27FC236}">
                <a16:creationId xmlns:a16="http://schemas.microsoft.com/office/drawing/2014/main" id="{DFA4675F-770A-4911-BEFE-24DB8C7289B8}"/>
              </a:ext>
            </a:extLst>
          </p:cNvPr>
          <p:cNvGraphicFramePr>
            <a:graphicFrameLocks noGrp="1"/>
          </p:cNvGraphicFramePr>
          <p:nvPr>
            <p:extLst>
              <p:ext uri="{D42A27DB-BD31-4B8C-83A1-F6EECF244321}">
                <p14:modId xmlns:p14="http://schemas.microsoft.com/office/powerpoint/2010/main" val="600151140"/>
              </p:ext>
            </p:extLst>
          </p:nvPr>
        </p:nvGraphicFramePr>
        <p:xfrm>
          <a:off x="217982" y="4471589"/>
          <a:ext cx="11125499" cy="2264173"/>
        </p:xfrm>
        <a:graphic>
          <a:graphicData uri="http://schemas.openxmlformats.org/drawingml/2006/table">
            <a:tbl>
              <a:tblPr/>
              <a:tblGrid>
                <a:gridCol w="3706901">
                  <a:extLst>
                    <a:ext uri="{9D8B030D-6E8A-4147-A177-3AD203B41FA5}">
                      <a16:colId xmlns:a16="http://schemas.microsoft.com/office/drawing/2014/main" val="993434689"/>
                    </a:ext>
                  </a:extLst>
                </a:gridCol>
                <a:gridCol w="3706901">
                  <a:extLst>
                    <a:ext uri="{9D8B030D-6E8A-4147-A177-3AD203B41FA5}">
                      <a16:colId xmlns:a16="http://schemas.microsoft.com/office/drawing/2014/main" val="2352275846"/>
                    </a:ext>
                  </a:extLst>
                </a:gridCol>
                <a:gridCol w="3711697">
                  <a:extLst>
                    <a:ext uri="{9D8B030D-6E8A-4147-A177-3AD203B41FA5}">
                      <a16:colId xmlns:a16="http://schemas.microsoft.com/office/drawing/2014/main" val="1917856171"/>
                    </a:ext>
                  </a:extLst>
                </a:gridCol>
              </a:tblGrid>
              <a:tr h="191158">
                <a:tc>
                  <a:txBody>
                    <a:bodyPr/>
                    <a:lstStyle/>
                    <a:p>
                      <a:pPr algn="ctr"/>
                      <a:r>
                        <a:rPr lang="en-US" sz="1400" b="1" dirty="0"/>
                        <a:t>Pattern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Observation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Why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5811898"/>
                  </a:ext>
                </a:extLst>
              </a:tr>
              <a:tr h="908002">
                <a:tc>
                  <a:txBody>
                    <a:bodyPr/>
                    <a:lstStyle/>
                    <a:p>
                      <a:pPr algn="l"/>
                      <a:r>
                        <a:rPr lang="en-US" sz="1400"/>
                        <a:t>ACE_RF G1: Red Gen1 violin wide/tall (median~7); FOT/SCE Red Gen1 flat (median~4)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t>FOT/SCE Blue weak → Red Gen1 stopped early by chance not skill; ACE_RF G1 Blue still learning → Red Gen1 runs longer before stopped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t>Wider distribution = Blue inconsistent; not yet reliably terminating Red early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8110498"/>
                  </a:ext>
                </a:extLst>
              </a:tr>
              <a:tr h="1051371">
                <a:tc>
                  <a:txBody>
                    <a:bodyPr/>
                    <a:lstStyle/>
                    <a:p>
                      <a:pPr algn="l"/>
                      <a:r>
                        <a:rPr lang="en-US" sz="1400"/>
                        <a:t>ACE_RF G2→G3: Red Gen1 violin narrows &amp; compresses toward median~4; Red Gen3 stays compressed~4 all setups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t>ACE_RF Blue matures → consistently stops Red Gen1 earlier; Red Gen3 sophisticated → finds short efficient paths, terminated quickly regardless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t>Compression = Blue improving; short Red Gen3 chains = strong Red evades fast, not Blue winning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562108"/>
                  </a:ext>
                </a:extLst>
              </a:tr>
            </a:tbl>
          </a:graphicData>
        </a:graphic>
      </p:graphicFrame>
      <p:sp>
        <p:nvSpPr>
          <p:cNvPr id="8" name="Title 1">
            <a:extLst>
              <a:ext uri="{FF2B5EF4-FFF2-40B4-BE49-F238E27FC236}">
                <a16:creationId xmlns:a16="http://schemas.microsoft.com/office/drawing/2014/main" id="{A7929D8E-87CF-4360-BE3C-C05DA0385E3A}"/>
              </a:ext>
            </a:extLst>
          </p:cNvPr>
          <p:cNvSpPr txBox="1">
            <a:spLocks/>
          </p:cNvSpPr>
          <p:nvPr/>
        </p:nvSpPr>
        <p:spPr>
          <a:xfrm>
            <a:off x="0" y="-68343"/>
            <a:ext cx="11277600" cy="7667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mj-ea"/>
                <a:cs typeface="Times New Roman" panose="02020603050405020304" pitchFamily="18" charset="0"/>
              </a:defRPr>
            </a:lvl1pPr>
          </a:lstStyle>
          <a:p>
            <a:pPr marL="11206">
              <a:lnSpc>
                <a:spcPct val="100000"/>
              </a:lnSpc>
              <a:spcBef>
                <a:spcPts val="115"/>
              </a:spcBef>
              <a:tabLst>
                <a:tab pos="144003" algn="l"/>
              </a:tabLst>
            </a:pPr>
            <a:r>
              <a:rPr lang="en-US" sz="3200" u="sng" dirty="0"/>
              <a:t>ACE vs FOT vs SCE (4/4) : Kill-Chain Length Behavior</a:t>
            </a:r>
          </a:p>
        </p:txBody>
      </p:sp>
    </p:spTree>
    <p:extLst>
      <p:ext uri="{BB962C8B-B14F-4D97-AF65-F5344CB8AC3E}">
        <p14:creationId xmlns:p14="http://schemas.microsoft.com/office/powerpoint/2010/main" val="18900689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FF8166-1DBF-A536-6892-CE32138A2BC2}"/>
              </a:ext>
            </a:extLst>
          </p:cNvPr>
          <p:cNvSpPr>
            <a:spLocks noGrp="1"/>
          </p:cNvSpPr>
          <p:nvPr>
            <p:ph type="title"/>
          </p:nvPr>
        </p:nvSpPr>
        <p:spPr>
          <a:xfrm>
            <a:off x="174812" y="148809"/>
            <a:ext cx="11277600" cy="1325563"/>
          </a:xfrm>
        </p:spPr>
        <p:txBody>
          <a:bodyPr>
            <a:noAutofit/>
          </a:bodyPr>
          <a:lstStyle/>
          <a:p>
            <a:r>
              <a:rPr lang="en-US" sz="3200" u="sng" dirty="0">
                <a:latin typeface="Times New Roman"/>
                <a:cs typeface="Times New Roman"/>
              </a:rPr>
              <a:t>ACE (1/5) </a:t>
            </a:r>
            <a:r>
              <a:rPr lang="en-US" sz="3200" u="sng" dirty="0"/>
              <a:t>: Multi-Generation </a:t>
            </a:r>
            <a:r>
              <a:rPr lang="en-US" sz="3200" u="sng" spc="-9" dirty="0">
                <a:latin typeface="Times New Roman"/>
                <a:cs typeface="Times New Roman"/>
              </a:rPr>
              <a:t>Evolution -</a:t>
            </a:r>
            <a:r>
              <a:rPr lang="en-US" sz="1400" u="sng" spc="-9" dirty="0">
                <a:latin typeface="Times New Roman"/>
                <a:cs typeface="Times New Roman"/>
              </a:rPr>
              <a:t> </a:t>
            </a:r>
            <a:r>
              <a:rPr lang="en-US" sz="3200" u="sng" spc="-9" dirty="0">
                <a:latin typeface="Times New Roman"/>
                <a:cs typeface="Times New Roman"/>
              </a:rPr>
              <a:t>Blue Suppression</a:t>
            </a:r>
            <a:br>
              <a:rPr lang="en-US" sz="3200" u="sng" spc="-9" dirty="0">
                <a:latin typeface="Times New Roman"/>
                <a:cs typeface="Times New Roman"/>
              </a:rPr>
            </a:br>
            <a:br>
              <a:rPr lang="en-US" sz="3200" u="sng" spc="-9" dirty="0">
                <a:latin typeface="Times New Roman"/>
                <a:cs typeface="Times New Roman"/>
              </a:rPr>
            </a:br>
            <a:r>
              <a:rPr lang="en-US" sz="3200" dirty="0"/>
              <a:t> </a:t>
            </a:r>
            <a:endParaRPr lang="en-US" sz="3200" dirty="0">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34</a:t>
            </a:fld>
            <a:endParaRPr lang="en-US" dirty="0"/>
          </a:p>
        </p:txBody>
      </p:sp>
      <p:sp>
        <p:nvSpPr>
          <p:cNvPr id="14" name="TextBox 13">
            <a:extLst>
              <a:ext uri="{FF2B5EF4-FFF2-40B4-BE49-F238E27FC236}">
                <a16:creationId xmlns:a16="http://schemas.microsoft.com/office/drawing/2014/main" id="{04C12462-8F5D-4E8E-85D1-696ACA5DCBEC}"/>
              </a:ext>
            </a:extLst>
          </p:cNvPr>
          <p:cNvSpPr txBox="1"/>
          <p:nvPr/>
        </p:nvSpPr>
        <p:spPr>
          <a:xfrm>
            <a:off x="204316" y="928490"/>
            <a:ext cx="9393766"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defPPr>
              <a:defRPr lang="en-US"/>
            </a:defPPr>
            <a:lvl1pPr>
              <a:defRPr b="1" u="sng">
                <a:solidFill>
                  <a:srgbClr val="C00000"/>
                </a:solidFill>
                <a:latin typeface="DM Mono"/>
              </a:defRPr>
            </a:lvl1pPr>
          </a:lstStyle>
          <a:p>
            <a:r>
              <a:rPr lang="es-ES" u="none" dirty="0">
                <a:solidFill>
                  <a:schemeClr val="accent6">
                    <a:lumMod val="75000"/>
                  </a:schemeClr>
                </a:solidFill>
              </a:rPr>
              <a:t>Blue </a:t>
            </a:r>
            <a:r>
              <a:rPr lang="es-ES" u="none" dirty="0" err="1">
                <a:solidFill>
                  <a:schemeClr val="accent6">
                    <a:lumMod val="75000"/>
                  </a:schemeClr>
                </a:solidFill>
              </a:rPr>
              <a:t>Suppression</a:t>
            </a:r>
            <a:r>
              <a:rPr lang="es-ES" u="none" dirty="0">
                <a:solidFill>
                  <a:schemeClr val="accent6">
                    <a:lumMod val="75000"/>
                  </a:schemeClr>
                </a:solidFill>
              </a:rPr>
              <a:t> </a:t>
            </a:r>
            <a:r>
              <a:rPr lang="es-ES" u="none" dirty="0" err="1">
                <a:solidFill>
                  <a:schemeClr val="accent6">
                    <a:lumMod val="75000"/>
                  </a:schemeClr>
                </a:solidFill>
              </a:rPr>
              <a:t>rate</a:t>
            </a:r>
            <a:r>
              <a:rPr lang="es-ES" u="none" dirty="0">
                <a:solidFill>
                  <a:schemeClr val="accent6">
                    <a:lumMod val="75000"/>
                  </a:schemeClr>
                </a:solidFill>
              </a:rPr>
              <a:t> </a:t>
            </a:r>
            <a:r>
              <a:rPr lang="es-ES" u="none" dirty="0" err="1">
                <a:solidFill>
                  <a:schemeClr val="accent6">
                    <a:lumMod val="75000"/>
                  </a:schemeClr>
                </a:solidFill>
              </a:rPr>
              <a:t>increases</a:t>
            </a:r>
            <a:r>
              <a:rPr lang="es-ES" u="none" dirty="0">
                <a:solidFill>
                  <a:schemeClr val="accent6">
                    <a:lumMod val="75000"/>
                  </a:schemeClr>
                </a:solidFill>
              </a:rPr>
              <a:t> </a:t>
            </a:r>
            <a:r>
              <a:rPr lang="es-ES" u="none" dirty="0" err="1">
                <a:solidFill>
                  <a:schemeClr val="accent6">
                    <a:lumMod val="75000"/>
                  </a:schemeClr>
                </a:solidFill>
              </a:rPr>
              <a:t>across</a:t>
            </a:r>
            <a:r>
              <a:rPr lang="es-ES" u="none" dirty="0">
                <a:solidFill>
                  <a:schemeClr val="accent6">
                    <a:lumMod val="75000"/>
                  </a:schemeClr>
                </a:solidFill>
              </a:rPr>
              <a:t> </a:t>
            </a:r>
            <a:r>
              <a:rPr lang="es-ES" u="none" dirty="0" err="1">
                <a:solidFill>
                  <a:schemeClr val="accent6">
                    <a:lumMod val="75000"/>
                  </a:schemeClr>
                </a:solidFill>
              </a:rPr>
              <a:t>generation</a:t>
            </a:r>
            <a:r>
              <a:rPr lang="es-ES" u="none" dirty="0">
                <a:solidFill>
                  <a:schemeClr val="accent6">
                    <a:lumMod val="75000"/>
                  </a:schemeClr>
                </a:solidFill>
              </a:rPr>
              <a:t> ,4%→95.1% vs Red Gen3; ≥95.6% vs Red Gen1</a:t>
            </a:r>
            <a:endParaRPr lang="en-US" u="none" dirty="0">
              <a:solidFill>
                <a:schemeClr val="accent6">
                  <a:lumMod val="75000"/>
                </a:schemeClr>
              </a:solidFill>
            </a:endParaRPr>
          </a:p>
        </p:txBody>
      </p:sp>
      <p:graphicFrame>
        <p:nvGraphicFramePr>
          <p:cNvPr id="24" name="Table 23">
            <a:extLst>
              <a:ext uri="{FF2B5EF4-FFF2-40B4-BE49-F238E27FC236}">
                <a16:creationId xmlns:a16="http://schemas.microsoft.com/office/drawing/2014/main" id="{AA6EDF71-10EB-44BF-A00B-9EFDA6B596B9}"/>
              </a:ext>
            </a:extLst>
          </p:cNvPr>
          <p:cNvGraphicFramePr>
            <a:graphicFrameLocks noGrp="1"/>
          </p:cNvGraphicFramePr>
          <p:nvPr>
            <p:extLst>
              <p:ext uri="{D42A27DB-BD31-4B8C-83A1-F6EECF244321}">
                <p14:modId xmlns:p14="http://schemas.microsoft.com/office/powerpoint/2010/main" val="3868061340"/>
              </p:ext>
            </p:extLst>
          </p:nvPr>
        </p:nvGraphicFramePr>
        <p:xfrm>
          <a:off x="6599424" y="1880018"/>
          <a:ext cx="5184402" cy="3642695"/>
        </p:xfrm>
        <a:graphic>
          <a:graphicData uri="http://schemas.openxmlformats.org/drawingml/2006/table">
            <a:tbl>
              <a:tblPr/>
              <a:tblGrid>
                <a:gridCol w="1728134">
                  <a:extLst>
                    <a:ext uri="{9D8B030D-6E8A-4147-A177-3AD203B41FA5}">
                      <a16:colId xmlns:a16="http://schemas.microsoft.com/office/drawing/2014/main" val="426490466"/>
                    </a:ext>
                  </a:extLst>
                </a:gridCol>
                <a:gridCol w="1728134">
                  <a:extLst>
                    <a:ext uri="{9D8B030D-6E8A-4147-A177-3AD203B41FA5}">
                      <a16:colId xmlns:a16="http://schemas.microsoft.com/office/drawing/2014/main" val="1147656286"/>
                    </a:ext>
                  </a:extLst>
                </a:gridCol>
                <a:gridCol w="1728134">
                  <a:extLst>
                    <a:ext uri="{9D8B030D-6E8A-4147-A177-3AD203B41FA5}">
                      <a16:colId xmlns:a16="http://schemas.microsoft.com/office/drawing/2014/main" val="2824826426"/>
                    </a:ext>
                  </a:extLst>
                </a:gridCol>
              </a:tblGrid>
              <a:tr h="485693">
                <a:tc>
                  <a:txBody>
                    <a:bodyPr/>
                    <a:lstStyle/>
                    <a:p>
                      <a:pPr algn="ctr"/>
                      <a:r>
                        <a:rPr lang="en-US" b="1" u="none"/>
                        <a:t>Observation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u="none"/>
                        <a:t>Why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u="none" dirty="0"/>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8355210"/>
                  </a:ext>
                </a:extLst>
              </a:tr>
              <a:tr h="1578501">
                <a:tc>
                  <a:txBody>
                    <a:bodyPr/>
                    <a:lstStyle/>
                    <a:p>
                      <a:r>
                        <a:rPr lang="es-ES" dirty="0"/>
                        <a:t>vs Red Gen3: 4% → 95.1% (+91.1pp)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Blue Gen0 untrained → each gen more capable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lang="es-ES" u="none" dirty="0">
                          <a:solidFill>
                            <a:schemeClr val="tx1"/>
                          </a:solidFill>
                        </a:rPr>
                        <a:t>Blue </a:t>
                      </a:r>
                      <a:r>
                        <a:rPr lang="es-ES" u="none" dirty="0" err="1">
                          <a:solidFill>
                            <a:schemeClr val="tx1"/>
                          </a:solidFill>
                        </a:rPr>
                        <a:t>Suppression</a:t>
                      </a:r>
                      <a:r>
                        <a:rPr lang="es-ES" u="none" dirty="0">
                          <a:solidFill>
                            <a:schemeClr val="tx1"/>
                          </a:solidFill>
                        </a:rPr>
                        <a:t> </a:t>
                      </a:r>
                      <a:r>
                        <a:rPr lang="es-ES" u="none" dirty="0" err="1">
                          <a:solidFill>
                            <a:schemeClr val="tx1"/>
                          </a:solidFill>
                        </a:rPr>
                        <a:t>rate</a:t>
                      </a:r>
                      <a:r>
                        <a:rPr lang="es-ES" u="none" dirty="0">
                          <a:solidFill>
                            <a:schemeClr val="tx1"/>
                          </a:solidFill>
                        </a:rPr>
                        <a:t> </a:t>
                      </a:r>
                      <a:r>
                        <a:rPr lang="es-ES" u="none" dirty="0" err="1">
                          <a:solidFill>
                            <a:schemeClr val="tx1"/>
                          </a:solidFill>
                        </a:rPr>
                        <a:t>increases</a:t>
                      </a:r>
                      <a:r>
                        <a:rPr lang="es-ES" u="none" dirty="0">
                          <a:solidFill>
                            <a:schemeClr val="tx1"/>
                          </a:solidFill>
                        </a:rPr>
                        <a:t> </a:t>
                      </a:r>
                      <a:r>
                        <a:rPr lang="es-ES" u="none" dirty="0" err="1">
                          <a:solidFill>
                            <a:schemeClr val="tx1"/>
                          </a:solidFill>
                        </a:rPr>
                        <a:t>across</a:t>
                      </a:r>
                      <a:r>
                        <a:rPr lang="es-ES" u="none" dirty="0">
                          <a:solidFill>
                            <a:schemeClr val="tx1"/>
                          </a:solidFill>
                        </a:rPr>
                        <a:t> </a:t>
                      </a:r>
                      <a:r>
                        <a:rPr lang="es-ES" u="none" dirty="0" err="1">
                          <a:solidFill>
                            <a:schemeClr val="tx1"/>
                          </a:solidFill>
                        </a:rPr>
                        <a:t>generation</a:t>
                      </a:r>
                      <a:r>
                        <a:rPr lang="es-ES" u="none" dirty="0">
                          <a:solidFill>
                            <a:schemeClr val="tx1"/>
                          </a:solidFill>
                        </a:rPr>
                        <a:t> </a:t>
                      </a:r>
                      <a:r>
                        <a:rPr lang="en-US" dirty="0"/>
                        <a:t>showing evolution.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6109523"/>
                  </a:ext>
                </a:extLst>
              </a:tr>
              <a:tr h="1578501">
                <a:tc>
                  <a:txBody>
                    <a:bodyPr/>
                    <a:lstStyle/>
                    <a:p>
                      <a:r>
                        <a:rPr lang="en-US"/>
                        <a:t>vs Red Gen1: ≥95.6% flat all gens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Red Gen1 too weak to differentiate Blue gens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r>
                        <a:rPr lang="en-US" dirty="0"/>
                        <a:t>Weak opponent = not a meaningful eval benchmark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3489621"/>
                  </a:ext>
                </a:extLst>
              </a:tr>
            </a:tbl>
          </a:graphicData>
        </a:graphic>
      </p:graphicFrame>
      <p:pic>
        <p:nvPicPr>
          <p:cNvPr id="6" name="Picture 5">
            <a:extLst>
              <a:ext uri="{FF2B5EF4-FFF2-40B4-BE49-F238E27FC236}">
                <a16:creationId xmlns:a16="http://schemas.microsoft.com/office/drawing/2014/main" id="{B9FF5B27-730E-45E2-8F69-650052B283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315" y="1651418"/>
            <a:ext cx="6162617" cy="4621963"/>
          </a:xfrm>
          <a:prstGeom prst="rect">
            <a:avLst/>
          </a:prstGeom>
        </p:spPr>
      </p:pic>
    </p:spTree>
    <p:extLst>
      <p:ext uri="{BB962C8B-B14F-4D97-AF65-F5344CB8AC3E}">
        <p14:creationId xmlns:p14="http://schemas.microsoft.com/office/powerpoint/2010/main" val="25998582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FF8166-1DBF-A536-6892-CE32138A2BC2}"/>
              </a:ext>
            </a:extLst>
          </p:cNvPr>
          <p:cNvSpPr>
            <a:spLocks noGrp="1"/>
          </p:cNvSpPr>
          <p:nvPr>
            <p:ph type="title"/>
          </p:nvPr>
        </p:nvSpPr>
        <p:spPr>
          <a:xfrm>
            <a:off x="0" y="122238"/>
            <a:ext cx="11277600" cy="1325563"/>
          </a:xfrm>
        </p:spPr>
        <p:txBody>
          <a:bodyPr>
            <a:noAutofit/>
          </a:bodyPr>
          <a:lstStyle/>
          <a:p>
            <a:r>
              <a:rPr lang="en-US" sz="3200" u="sng" dirty="0">
                <a:latin typeface="Times New Roman"/>
                <a:cs typeface="Times New Roman"/>
              </a:rPr>
              <a:t>ACE (2/5) </a:t>
            </a:r>
            <a:r>
              <a:rPr lang="en-US" sz="3200" u="sng" dirty="0"/>
              <a:t>: </a:t>
            </a:r>
            <a:r>
              <a:rPr lang="en-US" sz="3200" u="sng" dirty="0">
                <a:latin typeface="Times New Roman"/>
                <a:cs typeface="Times New Roman"/>
              </a:rPr>
              <a:t>Multi-Generation</a:t>
            </a:r>
            <a:r>
              <a:rPr lang="en-US" sz="3200" u="sng" spc="79" dirty="0">
                <a:latin typeface="Times New Roman"/>
                <a:cs typeface="Times New Roman"/>
              </a:rPr>
              <a:t> </a:t>
            </a:r>
            <a:r>
              <a:rPr lang="en-US" sz="3200" u="sng" spc="-9" dirty="0">
                <a:latin typeface="Times New Roman"/>
                <a:cs typeface="Times New Roman"/>
              </a:rPr>
              <a:t>Evolution - Kill-Chain Diversity</a:t>
            </a:r>
            <a:br>
              <a:rPr lang="en-US" sz="3200" spc="-9" dirty="0">
                <a:latin typeface="Times New Roman"/>
                <a:cs typeface="Times New Roman"/>
              </a:rPr>
            </a:br>
            <a:br>
              <a:rPr lang="en-US" sz="3200" dirty="0">
                <a:latin typeface="Times New Roman"/>
                <a:cs typeface="Times New Roman"/>
              </a:rPr>
            </a:br>
            <a:r>
              <a:rPr lang="en-US" sz="3200" dirty="0"/>
              <a:t> </a:t>
            </a:r>
            <a:endParaRPr lang="en-US" sz="3200" dirty="0">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35</a:t>
            </a:fld>
            <a:endParaRPr lang="en-US" dirty="0"/>
          </a:p>
        </p:txBody>
      </p:sp>
      <p:sp>
        <p:nvSpPr>
          <p:cNvPr id="12" name="TextBox 11">
            <a:extLst>
              <a:ext uri="{FF2B5EF4-FFF2-40B4-BE49-F238E27FC236}">
                <a16:creationId xmlns:a16="http://schemas.microsoft.com/office/drawing/2014/main" id="{2AF9093A-4F90-41D0-890D-2E1A2D740E59}"/>
              </a:ext>
            </a:extLst>
          </p:cNvPr>
          <p:cNvSpPr txBox="1"/>
          <p:nvPr/>
        </p:nvSpPr>
        <p:spPr>
          <a:xfrm>
            <a:off x="174812" y="727996"/>
            <a:ext cx="10096501"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defPPr>
              <a:defRPr lang="en-US"/>
            </a:defPPr>
            <a:lvl1pPr>
              <a:defRPr b="1" u="sng">
                <a:solidFill>
                  <a:srgbClr val="C00000"/>
                </a:solidFill>
                <a:latin typeface="DM Mono"/>
              </a:defRPr>
            </a:lvl1pPr>
          </a:lstStyle>
          <a:p>
            <a:r>
              <a:rPr lang="en-US" u="none" dirty="0">
                <a:solidFill>
                  <a:schemeClr val="accent6">
                    <a:lumMod val="75000"/>
                  </a:schemeClr>
                </a:solidFill>
              </a:rPr>
              <a:t>Cumulative kill chains ↑ every gen (0→533) ,confirming Red continuously discovers new attack paths</a:t>
            </a:r>
          </a:p>
        </p:txBody>
      </p:sp>
      <p:graphicFrame>
        <p:nvGraphicFramePr>
          <p:cNvPr id="7" name="Table 6">
            <a:extLst>
              <a:ext uri="{FF2B5EF4-FFF2-40B4-BE49-F238E27FC236}">
                <a16:creationId xmlns:a16="http://schemas.microsoft.com/office/drawing/2014/main" id="{18C18D23-0514-4865-B5F3-DFE632A0CB0E}"/>
              </a:ext>
            </a:extLst>
          </p:cNvPr>
          <p:cNvGraphicFramePr>
            <a:graphicFrameLocks noGrp="1"/>
          </p:cNvGraphicFramePr>
          <p:nvPr>
            <p:extLst>
              <p:ext uri="{D42A27DB-BD31-4B8C-83A1-F6EECF244321}">
                <p14:modId xmlns:p14="http://schemas.microsoft.com/office/powerpoint/2010/main" val="3926271712"/>
              </p:ext>
            </p:extLst>
          </p:nvPr>
        </p:nvGraphicFramePr>
        <p:xfrm>
          <a:off x="300567" y="5084347"/>
          <a:ext cx="10977033" cy="1616348"/>
        </p:xfrm>
        <a:graphic>
          <a:graphicData uri="http://schemas.openxmlformats.org/drawingml/2006/table">
            <a:tbl>
              <a:tblPr/>
              <a:tblGrid>
                <a:gridCol w="3659011">
                  <a:extLst>
                    <a:ext uri="{9D8B030D-6E8A-4147-A177-3AD203B41FA5}">
                      <a16:colId xmlns:a16="http://schemas.microsoft.com/office/drawing/2014/main" val="3653246120"/>
                    </a:ext>
                  </a:extLst>
                </a:gridCol>
                <a:gridCol w="3659011">
                  <a:extLst>
                    <a:ext uri="{9D8B030D-6E8A-4147-A177-3AD203B41FA5}">
                      <a16:colId xmlns:a16="http://schemas.microsoft.com/office/drawing/2014/main" val="2302996536"/>
                    </a:ext>
                  </a:extLst>
                </a:gridCol>
                <a:gridCol w="3659011">
                  <a:extLst>
                    <a:ext uri="{9D8B030D-6E8A-4147-A177-3AD203B41FA5}">
                      <a16:colId xmlns:a16="http://schemas.microsoft.com/office/drawing/2014/main" val="1401099749"/>
                    </a:ext>
                  </a:extLst>
                </a:gridCol>
              </a:tblGrid>
              <a:tr h="290014">
                <a:tc>
                  <a:txBody>
                    <a:bodyPr/>
                    <a:lstStyle/>
                    <a:p>
                      <a:pPr algn="ctr"/>
                      <a:r>
                        <a:rPr lang="en-US" sz="1600" b="1" dirty="0"/>
                        <a:t>Observation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Why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5712042"/>
                  </a:ext>
                </a:extLst>
              </a:tr>
              <a:tr h="1281068">
                <a:tc>
                  <a:txBody>
                    <a:bodyPr/>
                    <a:lstStyle/>
                    <a:p>
                      <a:r>
                        <a:rPr lang="en-US" sz="1600" dirty="0"/>
                        <a:t>New kill chains: Gen0=80, Gen1=222 (peak), Gen2=75 (↓), Gen3=156 (↑); cumulative: →533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Blue blocks old paths → Red explores new chains each gen.</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Red never stagnates; attack repertoire expands continuously.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6420718"/>
                  </a:ext>
                </a:extLst>
              </a:tr>
            </a:tbl>
          </a:graphicData>
        </a:graphic>
      </p:graphicFrame>
      <p:pic>
        <p:nvPicPr>
          <p:cNvPr id="5" name="Picture 4">
            <a:extLst>
              <a:ext uri="{FF2B5EF4-FFF2-40B4-BE49-F238E27FC236}">
                <a16:creationId xmlns:a16="http://schemas.microsoft.com/office/drawing/2014/main" id="{2B330AD0-6170-477F-9AF2-32663D0CD2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9083" y="1132395"/>
            <a:ext cx="7395318" cy="3869248"/>
          </a:xfrm>
          <a:prstGeom prst="rect">
            <a:avLst/>
          </a:prstGeom>
        </p:spPr>
      </p:pic>
    </p:spTree>
    <p:extLst>
      <p:ext uri="{BB962C8B-B14F-4D97-AF65-F5344CB8AC3E}">
        <p14:creationId xmlns:p14="http://schemas.microsoft.com/office/powerpoint/2010/main" val="42151660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6ADC9B9-228D-4791-93D6-A1E59AEBAA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8341" y="541867"/>
            <a:ext cx="5487131" cy="6316133"/>
          </a:xfrm>
          <a:prstGeom prst="rect">
            <a:avLst/>
          </a:prstGeom>
        </p:spPr>
      </p:pic>
      <p:sp>
        <p:nvSpPr>
          <p:cNvPr id="2" name="Title 1">
            <a:extLst>
              <a:ext uri="{FF2B5EF4-FFF2-40B4-BE49-F238E27FC236}">
                <a16:creationId xmlns:a16="http://schemas.microsoft.com/office/drawing/2014/main" id="{46FF8166-1DBF-A536-6892-CE32138A2BC2}"/>
              </a:ext>
            </a:extLst>
          </p:cNvPr>
          <p:cNvSpPr>
            <a:spLocks noGrp="1"/>
          </p:cNvSpPr>
          <p:nvPr>
            <p:ph type="title"/>
          </p:nvPr>
        </p:nvSpPr>
        <p:spPr>
          <a:xfrm>
            <a:off x="26528" y="122238"/>
            <a:ext cx="11277600" cy="1325563"/>
          </a:xfrm>
        </p:spPr>
        <p:txBody>
          <a:bodyPr>
            <a:noAutofit/>
          </a:bodyPr>
          <a:lstStyle/>
          <a:p>
            <a:r>
              <a:rPr lang="en-US" sz="3200" u="sng" dirty="0">
                <a:latin typeface="Times New Roman"/>
                <a:cs typeface="Times New Roman"/>
              </a:rPr>
              <a:t>ACE (3/5) </a:t>
            </a:r>
            <a:r>
              <a:rPr lang="en-US" sz="3200" u="sng" dirty="0"/>
              <a:t>: </a:t>
            </a:r>
            <a:r>
              <a:rPr lang="en-US" sz="3200" u="sng" dirty="0">
                <a:latin typeface="Times New Roman"/>
                <a:cs typeface="Times New Roman"/>
              </a:rPr>
              <a:t>Multi-Generation</a:t>
            </a:r>
            <a:r>
              <a:rPr lang="en-US" sz="3200" u="sng" spc="79" dirty="0">
                <a:latin typeface="Times New Roman"/>
                <a:cs typeface="Times New Roman"/>
              </a:rPr>
              <a:t> </a:t>
            </a:r>
            <a:r>
              <a:rPr lang="en-US" sz="3200" u="sng" spc="-9" dirty="0">
                <a:latin typeface="Times New Roman"/>
                <a:cs typeface="Times New Roman"/>
              </a:rPr>
              <a:t>Evolution -</a:t>
            </a:r>
            <a:r>
              <a:rPr lang="en-US" sz="1400" dirty="0"/>
              <a:t> </a:t>
            </a:r>
            <a:r>
              <a:rPr lang="en-US" sz="3200" u="sng" spc="-9" dirty="0">
                <a:latin typeface="Times New Roman"/>
                <a:cs typeface="Times New Roman"/>
              </a:rPr>
              <a:t>Technique Rotation </a:t>
            </a:r>
            <a:br>
              <a:rPr lang="en-US" sz="3200" u="sng" spc="-9" dirty="0">
                <a:latin typeface="Times New Roman"/>
                <a:cs typeface="Times New Roman"/>
              </a:rPr>
            </a:br>
            <a:br>
              <a:rPr lang="en-US" sz="3200" u="sng" dirty="0">
                <a:latin typeface="Times New Roman"/>
                <a:cs typeface="Times New Roman"/>
              </a:rPr>
            </a:br>
            <a:r>
              <a:rPr lang="en-US" sz="3200" u="sng" dirty="0"/>
              <a:t> </a:t>
            </a:r>
            <a:endParaRPr lang="en-US" sz="3200" u="sng" dirty="0">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36</a:t>
            </a:fld>
            <a:endParaRPr lang="en-US" dirty="0"/>
          </a:p>
        </p:txBody>
      </p:sp>
      <p:sp>
        <p:nvSpPr>
          <p:cNvPr id="8" name="TextBox 7">
            <a:extLst>
              <a:ext uri="{FF2B5EF4-FFF2-40B4-BE49-F238E27FC236}">
                <a16:creationId xmlns:a16="http://schemas.microsoft.com/office/drawing/2014/main" id="{46B282CE-CA1A-44A4-8B41-71C1ED942E93}"/>
              </a:ext>
            </a:extLst>
          </p:cNvPr>
          <p:cNvSpPr txBox="1"/>
          <p:nvPr/>
        </p:nvSpPr>
        <p:spPr>
          <a:xfrm>
            <a:off x="94261" y="968403"/>
            <a:ext cx="7270911"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defPPr>
              <a:defRPr lang="en-US"/>
            </a:defPPr>
            <a:lvl1pPr>
              <a:defRPr b="1" u="sng">
                <a:solidFill>
                  <a:srgbClr val="C00000"/>
                </a:solidFill>
                <a:latin typeface="DM Mono"/>
              </a:defRPr>
            </a:lvl1pPr>
          </a:lstStyle>
          <a:p>
            <a:r>
              <a:rPr lang="en-US" u="none" dirty="0">
                <a:solidFill>
                  <a:schemeClr val="accent6">
                    <a:lumMod val="75000"/>
                  </a:schemeClr>
                </a:solidFill>
              </a:rPr>
              <a:t>Techniques rotate each gen, confirming strategic adaptation not repetition.</a:t>
            </a:r>
          </a:p>
        </p:txBody>
      </p:sp>
      <p:graphicFrame>
        <p:nvGraphicFramePr>
          <p:cNvPr id="9" name="Table 8">
            <a:extLst>
              <a:ext uri="{FF2B5EF4-FFF2-40B4-BE49-F238E27FC236}">
                <a16:creationId xmlns:a16="http://schemas.microsoft.com/office/drawing/2014/main" id="{6D30B4BB-0654-408A-9CF7-77B22E3AADB0}"/>
              </a:ext>
            </a:extLst>
          </p:cNvPr>
          <p:cNvGraphicFramePr>
            <a:graphicFrameLocks noGrp="1"/>
          </p:cNvGraphicFramePr>
          <p:nvPr>
            <p:extLst>
              <p:ext uri="{D42A27DB-BD31-4B8C-83A1-F6EECF244321}">
                <p14:modId xmlns:p14="http://schemas.microsoft.com/office/powerpoint/2010/main" val="2382539532"/>
              </p:ext>
            </p:extLst>
          </p:nvPr>
        </p:nvGraphicFramePr>
        <p:xfrm>
          <a:off x="308948" y="1843704"/>
          <a:ext cx="6043710" cy="4432832"/>
        </p:xfrm>
        <a:graphic>
          <a:graphicData uri="http://schemas.openxmlformats.org/drawingml/2006/table">
            <a:tbl>
              <a:tblPr/>
              <a:tblGrid>
                <a:gridCol w="2214241">
                  <a:extLst>
                    <a:ext uri="{9D8B030D-6E8A-4147-A177-3AD203B41FA5}">
                      <a16:colId xmlns:a16="http://schemas.microsoft.com/office/drawing/2014/main" val="757771509"/>
                    </a:ext>
                  </a:extLst>
                </a:gridCol>
                <a:gridCol w="1814899">
                  <a:extLst>
                    <a:ext uri="{9D8B030D-6E8A-4147-A177-3AD203B41FA5}">
                      <a16:colId xmlns:a16="http://schemas.microsoft.com/office/drawing/2014/main" val="1465388154"/>
                    </a:ext>
                  </a:extLst>
                </a:gridCol>
                <a:gridCol w="2014570">
                  <a:extLst>
                    <a:ext uri="{9D8B030D-6E8A-4147-A177-3AD203B41FA5}">
                      <a16:colId xmlns:a16="http://schemas.microsoft.com/office/drawing/2014/main" val="1392625022"/>
                    </a:ext>
                  </a:extLst>
                </a:gridCol>
              </a:tblGrid>
              <a:tr h="394030">
                <a:tc>
                  <a:txBody>
                    <a:bodyPr/>
                    <a:lstStyle/>
                    <a:p>
                      <a:pPr algn="ctr"/>
                      <a:r>
                        <a:rPr lang="en-US" b="1" dirty="0"/>
                        <a:t>Observation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Why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50068"/>
                  </a:ext>
                </a:extLst>
              </a:tr>
              <a:tr h="2462684">
                <a:tc>
                  <a:txBody>
                    <a:bodyPr/>
                    <a:lstStyle/>
                    <a:p>
                      <a:r>
                        <a:rPr lang="de-DE" sz="1600" dirty="0"/>
                        <a:t>Gen1: T1059.006=3613; Gen2: T1569=5083; Gen3: T1543.003=3999 , peaks rotate each gen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Blue suppresses prior dominant techniques → Red shifts strategy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lang="en-US" sz="1600" dirty="0"/>
                        <a:t>Red adapts per gen; Blue broadens defense every gen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2410072"/>
                  </a:ext>
                </a:extLst>
              </a:tr>
              <a:tr h="1576118">
                <a:tc>
                  <a:txBody>
                    <a:bodyPr/>
                    <a:lstStyle/>
                    <a:p>
                      <a:r>
                        <a:rPr lang="de-DE" sz="1600"/>
                        <a:t>T1134.001: 5→1759; T1559: 402→3471 — near-zero Gen1 → dominant Gen3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Red discovers novel paths as Blue hardens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r>
                        <a:rPr lang="en-US" sz="1600" dirty="0"/>
                        <a:t>Genuine co-evolution; expanding attack surface each gen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6307627"/>
                  </a:ext>
                </a:extLst>
              </a:tr>
            </a:tbl>
          </a:graphicData>
        </a:graphic>
      </p:graphicFrame>
    </p:spTree>
    <p:extLst>
      <p:ext uri="{BB962C8B-B14F-4D97-AF65-F5344CB8AC3E}">
        <p14:creationId xmlns:p14="http://schemas.microsoft.com/office/powerpoint/2010/main" val="18726281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FF8166-1DBF-A536-6892-CE32138A2BC2}"/>
              </a:ext>
            </a:extLst>
          </p:cNvPr>
          <p:cNvSpPr>
            <a:spLocks noGrp="1"/>
          </p:cNvSpPr>
          <p:nvPr>
            <p:ph type="title"/>
          </p:nvPr>
        </p:nvSpPr>
        <p:spPr>
          <a:xfrm>
            <a:off x="0" y="122238"/>
            <a:ext cx="11619255" cy="1325563"/>
          </a:xfrm>
        </p:spPr>
        <p:txBody>
          <a:bodyPr>
            <a:noAutofit/>
          </a:bodyPr>
          <a:lstStyle/>
          <a:p>
            <a:r>
              <a:rPr lang="en-US" sz="3000" u="sng" dirty="0">
                <a:latin typeface="Times New Roman"/>
                <a:cs typeface="Times New Roman"/>
              </a:rPr>
              <a:t>ACE (4/5) </a:t>
            </a:r>
            <a:r>
              <a:rPr lang="en-US" sz="3000" u="sng" dirty="0"/>
              <a:t>: </a:t>
            </a:r>
            <a:r>
              <a:rPr lang="en-US" sz="3000" u="sng" dirty="0">
                <a:latin typeface="Times New Roman"/>
                <a:cs typeface="Times New Roman"/>
              </a:rPr>
              <a:t>Multi-Generation</a:t>
            </a:r>
            <a:r>
              <a:rPr lang="en-US" sz="3000" u="sng" spc="79" dirty="0">
                <a:latin typeface="Times New Roman"/>
                <a:cs typeface="Times New Roman"/>
              </a:rPr>
              <a:t> </a:t>
            </a:r>
            <a:r>
              <a:rPr lang="en-US" sz="3000" u="sng" spc="-9" dirty="0">
                <a:latin typeface="Times New Roman"/>
                <a:cs typeface="Times New Roman"/>
              </a:rPr>
              <a:t>Evolution – Success &amp; Depth Variation</a:t>
            </a:r>
            <a:br>
              <a:rPr lang="en-US" sz="3000" u="sng" spc="-9" dirty="0">
                <a:latin typeface="Times New Roman"/>
                <a:cs typeface="Times New Roman"/>
              </a:rPr>
            </a:br>
            <a:br>
              <a:rPr lang="en-US" sz="3000" u="sng" dirty="0">
                <a:latin typeface="Times New Roman"/>
                <a:cs typeface="Times New Roman"/>
              </a:rPr>
            </a:br>
            <a:r>
              <a:rPr lang="en-US" sz="3000" u="sng" dirty="0"/>
              <a:t> </a:t>
            </a:r>
            <a:endParaRPr lang="en-US" sz="3000" u="sng" dirty="0">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37</a:t>
            </a:fld>
            <a:endParaRPr lang="en-US" dirty="0"/>
          </a:p>
        </p:txBody>
      </p:sp>
      <p:sp>
        <p:nvSpPr>
          <p:cNvPr id="8" name="TextBox 7">
            <a:extLst>
              <a:ext uri="{FF2B5EF4-FFF2-40B4-BE49-F238E27FC236}">
                <a16:creationId xmlns:a16="http://schemas.microsoft.com/office/drawing/2014/main" id="{513ECB02-43A1-4182-B2E1-BA62AFB80894}"/>
              </a:ext>
            </a:extLst>
          </p:cNvPr>
          <p:cNvSpPr txBox="1"/>
          <p:nvPr/>
        </p:nvSpPr>
        <p:spPr>
          <a:xfrm>
            <a:off x="82425" y="856223"/>
            <a:ext cx="11934763"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defPPr>
              <a:defRPr lang="en-US"/>
            </a:defPPr>
            <a:lvl1pPr>
              <a:defRPr b="1" u="sng">
                <a:solidFill>
                  <a:srgbClr val="C00000"/>
                </a:solidFill>
                <a:latin typeface="DM Mono"/>
              </a:defRPr>
            </a:lvl1pPr>
          </a:lstStyle>
          <a:p>
            <a:r>
              <a:rPr lang="en-US" u="none" dirty="0">
                <a:solidFill>
                  <a:schemeClr val="accent6">
                    <a:lumMod val="75000"/>
                  </a:schemeClr>
                </a:solidFill>
              </a:rPr>
              <a:t>Success peaks at deeper depths each gen (5→6→5&amp;7), while failures cluster shallow; Blue forces Red deeper to succeed.</a:t>
            </a:r>
          </a:p>
        </p:txBody>
      </p:sp>
      <p:graphicFrame>
        <p:nvGraphicFramePr>
          <p:cNvPr id="9" name="Table 8">
            <a:extLst>
              <a:ext uri="{FF2B5EF4-FFF2-40B4-BE49-F238E27FC236}">
                <a16:creationId xmlns:a16="http://schemas.microsoft.com/office/drawing/2014/main" id="{EAF55F90-440C-48F4-8D6D-4665EF2B4522}"/>
              </a:ext>
            </a:extLst>
          </p:cNvPr>
          <p:cNvGraphicFramePr>
            <a:graphicFrameLocks noGrp="1"/>
          </p:cNvGraphicFramePr>
          <p:nvPr>
            <p:extLst>
              <p:ext uri="{D42A27DB-BD31-4B8C-83A1-F6EECF244321}">
                <p14:modId xmlns:p14="http://schemas.microsoft.com/office/powerpoint/2010/main" val="2948696932"/>
              </p:ext>
            </p:extLst>
          </p:nvPr>
        </p:nvGraphicFramePr>
        <p:xfrm>
          <a:off x="6705600" y="1729860"/>
          <a:ext cx="5229226" cy="4136472"/>
        </p:xfrm>
        <a:graphic>
          <a:graphicData uri="http://schemas.openxmlformats.org/drawingml/2006/table">
            <a:tbl>
              <a:tblPr/>
              <a:tblGrid>
                <a:gridCol w="1845733">
                  <a:extLst>
                    <a:ext uri="{9D8B030D-6E8A-4147-A177-3AD203B41FA5}">
                      <a16:colId xmlns:a16="http://schemas.microsoft.com/office/drawing/2014/main" val="603361682"/>
                    </a:ext>
                  </a:extLst>
                </a:gridCol>
                <a:gridCol w="1643079">
                  <a:extLst>
                    <a:ext uri="{9D8B030D-6E8A-4147-A177-3AD203B41FA5}">
                      <a16:colId xmlns:a16="http://schemas.microsoft.com/office/drawing/2014/main" val="1482713199"/>
                    </a:ext>
                  </a:extLst>
                </a:gridCol>
                <a:gridCol w="1740414">
                  <a:extLst>
                    <a:ext uri="{9D8B030D-6E8A-4147-A177-3AD203B41FA5}">
                      <a16:colId xmlns:a16="http://schemas.microsoft.com/office/drawing/2014/main" val="831124084"/>
                    </a:ext>
                  </a:extLst>
                </a:gridCol>
              </a:tblGrid>
              <a:tr h="449437">
                <a:tc>
                  <a:txBody>
                    <a:bodyPr/>
                    <a:lstStyle/>
                    <a:p>
                      <a:pPr algn="ctr"/>
                      <a:r>
                        <a:rPr lang="en-US" sz="1400" b="1" dirty="0"/>
                        <a:t>Observation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Why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Implication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0360952"/>
                  </a:ext>
                </a:extLst>
              </a:tr>
              <a:tr h="1664570">
                <a:tc>
                  <a:txBody>
                    <a:bodyPr/>
                    <a:lstStyle/>
                    <a:p>
                      <a:r>
                        <a:rPr lang="en-US" sz="1400" kern="1200" dirty="0">
                          <a:solidFill>
                            <a:schemeClr val="tx1"/>
                          </a:solidFill>
                          <a:latin typeface="+mn-lt"/>
                          <a:ea typeface="+mn-ea"/>
                          <a:cs typeface="+mn-cs"/>
                        </a:rPr>
                        <a:t>Success peak shifts deeper each gen: Gen1=5, Gen2=6, Gen3=5&amp;7; failures dominate depths 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kern="1200" dirty="0">
                          <a:solidFill>
                            <a:schemeClr val="tx1"/>
                          </a:solidFill>
                          <a:latin typeface="+mn-lt"/>
                          <a:ea typeface="+mn-ea"/>
                          <a:cs typeface="+mn-cs"/>
                        </a:rPr>
                        <a:t>Blue blocks shallow paths → Red must go deeper to succeed.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lang="en-US" sz="1400" kern="1200" dirty="0">
                          <a:solidFill>
                            <a:schemeClr val="tx1"/>
                          </a:solidFill>
                          <a:latin typeface="+mn-lt"/>
                          <a:ea typeface="+mn-ea"/>
                          <a:cs typeface="+mn-cs"/>
                        </a:rPr>
                        <a:t>Blue strengthens each gen, forcing Red into deeper kill chains while successes decline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0159216"/>
                  </a:ext>
                </a:extLst>
              </a:tr>
              <a:tr h="2022465">
                <a:tc>
                  <a:txBody>
                    <a:bodyPr/>
                    <a:lstStyle/>
                    <a:p>
                      <a:r>
                        <a:rPr lang="en-US" sz="1400" kern="1200" dirty="0">
                          <a:solidFill>
                            <a:schemeClr val="tx1"/>
                          </a:solidFill>
                          <a:latin typeface="+mn-lt"/>
                          <a:ea typeface="+mn-ea"/>
                          <a:cs typeface="+mn-cs"/>
                        </a:rPr>
                        <a:t>Fail n↑: 6319→6846→7209; success rate↓ across gens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kern="1200" dirty="0">
                          <a:solidFill>
                            <a:schemeClr val="tx1"/>
                          </a:solidFill>
                          <a:latin typeface="+mn-lt"/>
                          <a:ea typeface="+mn-ea"/>
                          <a:cs typeface="+mn-cs"/>
                        </a:rPr>
                        <a:t>Co-evolution matures → Blue suppresses Red at early stages increasingly well.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r>
                        <a:rPr lang="en-US" sz="1400" dirty="0"/>
                        <a:t>Deeper success requirement + fewer successes = Blue genuinely improving, not Red getting weaker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5759045"/>
                  </a:ext>
                </a:extLst>
              </a:tr>
            </a:tbl>
          </a:graphicData>
        </a:graphic>
      </p:graphicFrame>
      <p:pic>
        <p:nvPicPr>
          <p:cNvPr id="10" name="Picture 9">
            <a:extLst>
              <a:ext uri="{FF2B5EF4-FFF2-40B4-BE49-F238E27FC236}">
                <a16:creationId xmlns:a16="http://schemas.microsoft.com/office/drawing/2014/main" id="{5E001A6A-A44F-4719-A2EF-63A920C62E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15065"/>
            <a:ext cx="6574722" cy="3488268"/>
          </a:xfrm>
          <a:prstGeom prst="rect">
            <a:avLst/>
          </a:prstGeom>
        </p:spPr>
      </p:pic>
    </p:spTree>
    <p:extLst>
      <p:ext uri="{BB962C8B-B14F-4D97-AF65-F5344CB8AC3E}">
        <p14:creationId xmlns:p14="http://schemas.microsoft.com/office/powerpoint/2010/main" val="18004282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FF8166-1DBF-A536-6892-CE32138A2BC2}"/>
              </a:ext>
            </a:extLst>
          </p:cNvPr>
          <p:cNvSpPr>
            <a:spLocks noGrp="1"/>
          </p:cNvSpPr>
          <p:nvPr>
            <p:ph type="title"/>
          </p:nvPr>
        </p:nvSpPr>
        <p:spPr>
          <a:xfrm>
            <a:off x="161769" y="80633"/>
            <a:ext cx="11277600" cy="1325563"/>
          </a:xfrm>
        </p:spPr>
        <p:txBody>
          <a:bodyPr>
            <a:noAutofit/>
          </a:bodyPr>
          <a:lstStyle/>
          <a:p>
            <a:r>
              <a:rPr lang="en-US" sz="3200" u="sng" dirty="0">
                <a:latin typeface="Times New Roman"/>
                <a:cs typeface="Times New Roman"/>
              </a:rPr>
              <a:t>ACE (5/5) </a:t>
            </a:r>
            <a:r>
              <a:rPr lang="en-US" sz="3200" u="sng" dirty="0"/>
              <a:t>: </a:t>
            </a:r>
            <a:r>
              <a:rPr lang="en-US" sz="3200" u="sng" dirty="0">
                <a:latin typeface="Times New Roman"/>
                <a:cs typeface="Times New Roman"/>
              </a:rPr>
              <a:t>Cross-Generation</a:t>
            </a:r>
            <a:r>
              <a:rPr lang="en-US" sz="1400" u="sng" dirty="0">
                <a:latin typeface="Times New Roman"/>
                <a:cs typeface="Times New Roman"/>
              </a:rPr>
              <a:t>  </a:t>
            </a:r>
            <a:r>
              <a:rPr lang="en-US" sz="3200" u="sng" dirty="0">
                <a:latin typeface="Times New Roman"/>
                <a:cs typeface="Times New Roman"/>
              </a:rPr>
              <a:t>Generalization</a:t>
            </a:r>
            <a:br>
              <a:rPr lang="en-US" sz="3200" u="sng" spc="-9" dirty="0">
                <a:latin typeface="Times New Roman"/>
                <a:cs typeface="Times New Roman"/>
              </a:rPr>
            </a:br>
            <a:br>
              <a:rPr lang="en-US" sz="3200" u="sng" dirty="0">
                <a:latin typeface="Times New Roman"/>
                <a:cs typeface="Times New Roman"/>
              </a:rPr>
            </a:br>
            <a:r>
              <a:rPr lang="en-US" sz="3200" u="sng" dirty="0"/>
              <a:t> </a:t>
            </a:r>
            <a:endParaRPr lang="en-US" sz="3200" u="sng"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EB05466-F781-4BF5-8E0C-8FDCB24794F9}"/>
              </a:ext>
            </a:extLst>
          </p:cNvPr>
          <p:cNvPicPr>
            <a:picLocks noChangeAspect="1"/>
          </p:cNvPicPr>
          <p:nvPr/>
        </p:nvPicPr>
        <p:blipFill>
          <a:blip r:embed="rId3"/>
          <a:stretch>
            <a:fillRect/>
          </a:stretch>
        </p:blipFill>
        <p:spPr>
          <a:xfrm>
            <a:off x="161769" y="1406196"/>
            <a:ext cx="6143625" cy="5191125"/>
          </a:xfrm>
          <a:prstGeom prst="rect">
            <a:avLst/>
          </a:prstGeom>
        </p:spPr>
      </p:pic>
      <p:sp>
        <p:nvSpPr>
          <p:cNvPr id="8" name="TextBox 7">
            <a:extLst>
              <a:ext uri="{FF2B5EF4-FFF2-40B4-BE49-F238E27FC236}">
                <a16:creationId xmlns:a16="http://schemas.microsoft.com/office/drawing/2014/main" id="{EE7A57C1-4241-462A-BB19-ACFB93345C24}"/>
              </a:ext>
            </a:extLst>
          </p:cNvPr>
          <p:cNvSpPr txBox="1"/>
          <p:nvPr/>
        </p:nvSpPr>
        <p:spPr>
          <a:xfrm>
            <a:off x="120183" y="743414"/>
            <a:ext cx="7965483"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defPPr>
              <a:defRPr lang="en-US"/>
            </a:defPPr>
            <a:lvl1pPr>
              <a:defRPr b="1" u="sng">
                <a:solidFill>
                  <a:srgbClr val="C00000"/>
                </a:solidFill>
                <a:latin typeface="DM Mono"/>
              </a:defRPr>
            </a:lvl1pPr>
          </a:lstStyle>
          <a:p>
            <a:r>
              <a:rPr lang="en-US" u="none" dirty="0">
                <a:solidFill>
                  <a:schemeClr val="accent6">
                    <a:lumMod val="75000"/>
                  </a:schemeClr>
                </a:solidFill>
              </a:rPr>
              <a:t>Blue defense ↑ across rows; Red success ↑ across cols; bidirectional arms race </a:t>
            </a:r>
          </a:p>
        </p:txBody>
      </p:sp>
      <p:graphicFrame>
        <p:nvGraphicFramePr>
          <p:cNvPr id="10" name="Table 9">
            <a:extLst>
              <a:ext uri="{FF2B5EF4-FFF2-40B4-BE49-F238E27FC236}">
                <a16:creationId xmlns:a16="http://schemas.microsoft.com/office/drawing/2014/main" id="{CB5926C1-DAEE-41E4-B4DB-DA7DD67EE80E}"/>
              </a:ext>
            </a:extLst>
          </p:cNvPr>
          <p:cNvGraphicFramePr>
            <a:graphicFrameLocks noGrp="1"/>
          </p:cNvGraphicFramePr>
          <p:nvPr>
            <p:extLst>
              <p:ext uri="{D42A27DB-BD31-4B8C-83A1-F6EECF244321}">
                <p14:modId xmlns:p14="http://schemas.microsoft.com/office/powerpoint/2010/main" val="945802998"/>
              </p:ext>
            </p:extLst>
          </p:nvPr>
        </p:nvGraphicFramePr>
        <p:xfrm>
          <a:off x="6305394" y="1648531"/>
          <a:ext cx="5724838" cy="4210402"/>
        </p:xfrm>
        <a:graphic>
          <a:graphicData uri="http://schemas.openxmlformats.org/drawingml/2006/table">
            <a:tbl>
              <a:tblPr/>
              <a:tblGrid>
                <a:gridCol w="1431210">
                  <a:extLst>
                    <a:ext uri="{9D8B030D-6E8A-4147-A177-3AD203B41FA5}">
                      <a16:colId xmlns:a16="http://schemas.microsoft.com/office/drawing/2014/main" val="3063553774"/>
                    </a:ext>
                  </a:extLst>
                </a:gridCol>
                <a:gridCol w="1431289">
                  <a:extLst>
                    <a:ext uri="{9D8B030D-6E8A-4147-A177-3AD203B41FA5}">
                      <a16:colId xmlns:a16="http://schemas.microsoft.com/office/drawing/2014/main" val="2077020794"/>
                    </a:ext>
                  </a:extLst>
                </a:gridCol>
                <a:gridCol w="1431129">
                  <a:extLst>
                    <a:ext uri="{9D8B030D-6E8A-4147-A177-3AD203B41FA5}">
                      <a16:colId xmlns:a16="http://schemas.microsoft.com/office/drawing/2014/main" val="1636124951"/>
                    </a:ext>
                  </a:extLst>
                </a:gridCol>
                <a:gridCol w="1431210">
                  <a:extLst>
                    <a:ext uri="{9D8B030D-6E8A-4147-A177-3AD203B41FA5}">
                      <a16:colId xmlns:a16="http://schemas.microsoft.com/office/drawing/2014/main" val="3773154521"/>
                    </a:ext>
                  </a:extLst>
                </a:gridCol>
              </a:tblGrid>
              <a:tr h="349248">
                <a:tc>
                  <a:txBody>
                    <a:bodyPr/>
                    <a:lstStyle/>
                    <a:p>
                      <a:pPr algn="ctr"/>
                      <a:r>
                        <a:rPr lang="en-US" sz="1400" b="1" dirty="0"/>
                        <a:t>Pattern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Observation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Why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2117573"/>
                  </a:ext>
                </a:extLst>
              </a:tr>
              <a:tr h="1936318">
                <a:tc>
                  <a:txBody>
                    <a:bodyPr/>
                    <a:lstStyle/>
                    <a:p>
                      <a:r>
                        <a:rPr lang="en-US" sz="1400" dirty="0"/>
                        <a:t>Defense row ↑ (</a:t>
                      </a:r>
                      <a:r>
                        <a:rPr lang="en-US" sz="1400" dirty="0" err="1"/>
                        <a:t>left→right</a:t>
                      </a:r>
                      <a:r>
                        <a:rPr lang="en-US"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Blue Gen0 vs Red2/3: ~4%; Blue Gen3 vs Red2/3: 92–95%; row avg ↑ each gen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kern="1200" dirty="0">
                          <a:solidFill>
                            <a:schemeClr val="tx1"/>
                          </a:solidFill>
                          <a:latin typeface="+mn-lt"/>
                          <a:ea typeface="+mn-ea"/>
                          <a:cs typeface="+mn-cs"/>
                        </a:rPr>
                        <a:t>Blue trains on all prior Red → accumulates defense history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lang="en-US" sz="1400" dirty="0"/>
                        <a:t>Blue improvement cumulative , later gens carry forward learned history</a:t>
                      </a:r>
                    </a:p>
                    <a:p>
                      <a:pPr marL="0" algn="l" defTabSz="914400" rtl="0" eaLnBrk="1" latinLnBrk="0" hangingPunct="1"/>
                      <a:r>
                        <a:rPr lang="en-US" sz="1400" kern="1200" dirty="0">
                          <a:solidFill>
                            <a:schemeClr val="tx1"/>
                          </a:solidFill>
                          <a:latin typeface="+mn-lt"/>
                          <a:ea typeface="+mn-ea"/>
                          <a:cs typeface="+mn-cs"/>
                        </a:rPr>
                        <a:t>Older Blue can't counter newer 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2928633"/>
                  </a:ext>
                </a:extLst>
              </a:tr>
              <a:tr h="1924836">
                <a:tc>
                  <a:txBody>
                    <a:bodyPr/>
                    <a:lstStyle/>
                    <a:p>
                      <a:r>
                        <a:rPr lang="en-US" sz="1400"/>
                        <a:t>Attack col ↑ (top→bottom)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Red0=100% all Blue; Red3 col: Blue Gen0=4% → Blue Gen3=95%; upper-right always darkest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kern="1200" dirty="0">
                          <a:solidFill>
                            <a:schemeClr val="tx1"/>
                          </a:solidFill>
                          <a:latin typeface="+mn-lt"/>
                          <a:ea typeface="+mn-ea"/>
                          <a:cs typeface="+mn-cs"/>
                        </a:rPr>
                        <a:t>Red trains on all prior Blue → progressively harder attacks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algn="l" defTabSz="914400" rtl="0" eaLnBrk="1" latinLnBrk="0" hangingPunct="1"/>
                      <a:r>
                        <a:rPr lang="en-US" sz="1400" kern="1200" dirty="0">
                          <a:solidFill>
                            <a:schemeClr val="tx1"/>
                          </a:solidFill>
                          <a:latin typeface="+mn-lt"/>
                          <a:ea typeface="+mn-ea"/>
                          <a:cs typeface="+mn-cs"/>
                        </a:rPr>
                        <a:t>Older Blue can't counter newer Red; arms race is 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7191442"/>
                  </a:ext>
                </a:extLst>
              </a:tr>
            </a:tbl>
          </a:graphicData>
        </a:graphic>
      </p:graphicFrame>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233958" y="63452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38</a:t>
            </a:fld>
            <a:endParaRPr lang="en-US" dirty="0"/>
          </a:p>
        </p:txBody>
      </p:sp>
      <p:sp>
        <p:nvSpPr>
          <p:cNvPr id="4" name="TextBox 3">
            <a:extLst>
              <a:ext uri="{FF2B5EF4-FFF2-40B4-BE49-F238E27FC236}">
                <a16:creationId xmlns:a16="http://schemas.microsoft.com/office/drawing/2014/main" id="{03F9387F-3E69-4934-BC67-40CA1C965E6F}"/>
              </a:ext>
            </a:extLst>
          </p:cNvPr>
          <p:cNvSpPr txBox="1"/>
          <p:nvPr/>
        </p:nvSpPr>
        <p:spPr>
          <a:xfrm>
            <a:off x="1388534" y="1406196"/>
            <a:ext cx="186266" cy="242335"/>
          </a:xfrm>
          <a:prstGeom prst="rect">
            <a:avLst/>
          </a:prstGeom>
          <a:solidFill>
            <a:schemeClr val="bg1"/>
          </a:solidFill>
          <a:ln>
            <a:solidFill>
              <a:schemeClr val="bg1"/>
            </a:solidFill>
          </a:ln>
        </p:spPr>
        <p:txBody>
          <a:bodyPr wrap="square" rtlCol="0">
            <a:spAutoFit/>
          </a:bodyPr>
          <a:lstStyle/>
          <a:p>
            <a:endParaRPr lang="en-US" dirty="0"/>
          </a:p>
        </p:txBody>
      </p:sp>
    </p:spTree>
    <p:extLst>
      <p:ext uri="{BB962C8B-B14F-4D97-AF65-F5344CB8AC3E}">
        <p14:creationId xmlns:p14="http://schemas.microsoft.com/office/powerpoint/2010/main" val="8281227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40349-EF14-2BAE-7B4D-13824CA7F0F2}"/>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47D326DC-ACC6-9E51-51C1-8D52FEA60916}"/>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39</a:t>
            </a:fld>
            <a:endParaRPr lang="en-US" dirty="0"/>
          </a:p>
        </p:txBody>
      </p:sp>
      <p:sp>
        <p:nvSpPr>
          <p:cNvPr id="5" name="Title 1">
            <a:extLst>
              <a:ext uri="{FF2B5EF4-FFF2-40B4-BE49-F238E27FC236}">
                <a16:creationId xmlns:a16="http://schemas.microsoft.com/office/drawing/2014/main" id="{2E315271-4ADF-55BD-DD63-65CB43DD43CF}"/>
              </a:ext>
            </a:extLst>
          </p:cNvPr>
          <p:cNvSpPr>
            <a:spLocks noGrp="1"/>
          </p:cNvSpPr>
          <p:nvPr>
            <p:ph type="title"/>
          </p:nvPr>
        </p:nvSpPr>
        <p:spPr>
          <a:xfrm>
            <a:off x="47625" y="-186267"/>
            <a:ext cx="10515600" cy="1325563"/>
          </a:xfrm>
        </p:spPr>
        <p:txBody>
          <a:bodyPr/>
          <a:lstStyle/>
          <a:p>
            <a:r>
              <a:rPr lang="en-US" dirty="0"/>
              <a:t>Conclusion</a:t>
            </a:r>
          </a:p>
        </p:txBody>
      </p:sp>
      <p:sp>
        <p:nvSpPr>
          <p:cNvPr id="11" name="TextBox 10">
            <a:extLst>
              <a:ext uri="{FF2B5EF4-FFF2-40B4-BE49-F238E27FC236}">
                <a16:creationId xmlns:a16="http://schemas.microsoft.com/office/drawing/2014/main" id="{0A7640CF-F0BA-4FCB-960C-51CAA78282B7}"/>
              </a:ext>
            </a:extLst>
          </p:cNvPr>
          <p:cNvSpPr txBox="1"/>
          <p:nvPr/>
        </p:nvSpPr>
        <p:spPr>
          <a:xfrm>
            <a:off x="321733" y="1073710"/>
            <a:ext cx="10684934" cy="5601533"/>
          </a:xfrm>
          <a:prstGeom prst="rect">
            <a:avLst/>
          </a:prstGeom>
          <a:noFill/>
        </p:spPr>
        <p:txBody>
          <a:bodyPr wrap="square">
            <a:spAutoFit/>
          </a:bodyPr>
          <a:lstStyle/>
          <a:p>
            <a:r>
              <a:rPr lang="en-US" sz="2000" b="1" dirty="0"/>
              <a:t>1. Alternating Co-Evolution vs FOT vs SCE</a:t>
            </a:r>
          </a:p>
          <a:p>
            <a:pPr lvl="1"/>
            <a:r>
              <a:rPr lang="en-US" b="1" dirty="0"/>
              <a:t>Issue:</a:t>
            </a:r>
            <a:r>
              <a:rPr lang="en-US" dirty="0"/>
              <a:t> Static-opponent overfitting vs unstable joint learning</a:t>
            </a:r>
          </a:p>
          <a:p>
            <a:pPr marL="742950" lvl="1" indent="-285750">
              <a:buFont typeface="Wingdings" panose="05000000000000000000" pitchFamily="2" charset="2"/>
              <a:buChar char="q"/>
            </a:pPr>
            <a:r>
              <a:rPr lang="en-US" b="1" dirty="0"/>
              <a:t>MG-</a:t>
            </a:r>
            <a:r>
              <a:rPr lang="en-US" b="1" dirty="0" err="1"/>
              <a:t>CoE’s</a:t>
            </a:r>
            <a:r>
              <a:rPr lang="en-US" b="1" dirty="0"/>
              <a:t> ACE solves the training setup issue</a:t>
            </a:r>
            <a:endParaRPr lang="en-US" dirty="0"/>
          </a:p>
          <a:p>
            <a:pPr lvl="2">
              <a:buFont typeface="Arial" panose="020B0604020202020204" pitchFamily="34" charset="0"/>
              <a:buChar char="•"/>
            </a:pPr>
            <a:r>
              <a:rPr lang="en-US" b="1" dirty="0"/>
              <a:t> FOT:</a:t>
            </a:r>
            <a:r>
              <a:rPr lang="en-US" dirty="0"/>
              <a:t> stable but overfits → </a:t>
            </a:r>
            <a:r>
              <a:rPr lang="en-US" b="1" dirty="0"/>
              <a:t>2%</a:t>
            </a:r>
            <a:r>
              <a:rPr lang="en-US" dirty="0"/>
              <a:t> vs Red Gen3 </a:t>
            </a:r>
          </a:p>
          <a:p>
            <a:pPr lvl="2">
              <a:buFont typeface="Arial" panose="020B0604020202020204" pitchFamily="34" charset="0"/>
              <a:buChar char="•"/>
            </a:pPr>
            <a:r>
              <a:rPr lang="en-US" b="1" dirty="0"/>
              <a:t> SCE:</a:t>
            </a:r>
            <a:r>
              <a:rPr lang="en-US" dirty="0"/>
              <a:t> high peak but unstable → non-stationary learning </a:t>
            </a:r>
          </a:p>
          <a:p>
            <a:pPr lvl="2">
              <a:buFont typeface="Arial" panose="020B0604020202020204" pitchFamily="34" charset="0"/>
              <a:buChar char="•"/>
            </a:pPr>
            <a:r>
              <a:rPr lang="en-US" b="1" dirty="0"/>
              <a:t> ACE:</a:t>
            </a:r>
            <a:r>
              <a:rPr lang="en-US" dirty="0"/>
              <a:t> stable + adaptive → </a:t>
            </a:r>
            <a:r>
              <a:rPr lang="en-US" b="1" dirty="0"/>
              <a:t>95.1%</a:t>
            </a:r>
            <a:r>
              <a:rPr lang="en-US" dirty="0"/>
              <a:t> vs Red Gen3 </a:t>
            </a:r>
          </a:p>
          <a:p>
            <a:endParaRPr lang="en-US" sz="2000" b="1" dirty="0"/>
          </a:p>
          <a:p>
            <a:r>
              <a:rPr lang="en-US" sz="2000" b="1" dirty="0"/>
              <a:t>2. Multi-Generation Evolution</a:t>
            </a:r>
          </a:p>
          <a:p>
            <a:pPr lvl="1"/>
            <a:r>
              <a:rPr lang="en-US" b="1" dirty="0"/>
              <a:t>Issue:</a:t>
            </a:r>
            <a:r>
              <a:rPr lang="en-US" dirty="0"/>
              <a:t> How to achieve progressive improvement across generations?</a:t>
            </a:r>
            <a:endParaRPr lang="en-US" b="1" dirty="0"/>
          </a:p>
          <a:p>
            <a:pPr marL="742950" lvl="1" indent="-285750">
              <a:buFont typeface="Wingdings" panose="05000000000000000000" pitchFamily="2" charset="2"/>
              <a:buChar char="q"/>
            </a:pPr>
            <a:r>
              <a:rPr lang="en-US" b="1" dirty="0"/>
              <a:t>Agents improve progressively across generations</a:t>
            </a:r>
            <a:endParaRPr lang="en-US" dirty="0"/>
          </a:p>
          <a:p>
            <a:pPr lvl="2">
              <a:buFont typeface="Arial" panose="020B0604020202020204" pitchFamily="34" charset="0"/>
              <a:buChar char="•"/>
            </a:pPr>
            <a:r>
              <a:rPr lang="en-US" dirty="0"/>
              <a:t> Blue suppression: </a:t>
            </a:r>
            <a:r>
              <a:rPr lang="en-US" b="1" dirty="0"/>
              <a:t>4.0% → 85.2% → 92.2% → 95.1%</a:t>
            </a:r>
            <a:r>
              <a:rPr lang="en-US" dirty="0"/>
              <a:t> </a:t>
            </a:r>
          </a:p>
          <a:p>
            <a:pPr lvl="2">
              <a:buFont typeface="Arial" panose="020B0604020202020204" pitchFamily="34" charset="0"/>
              <a:buChar char="•"/>
            </a:pPr>
            <a:r>
              <a:rPr lang="en-US" dirty="0"/>
              <a:t> Red evolves too: </a:t>
            </a:r>
            <a:r>
              <a:rPr lang="en-US" b="1" dirty="0"/>
              <a:t>533 unique successful kill chains</a:t>
            </a:r>
            <a:r>
              <a:rPr lang="en-US" dirty="0"/>
              <a:t> </a:t>
            </a:r>
          </a:p>
          <a:p>
            <a:endParaRPr lang="en-US" sz="2000" b="1" dirty="0"/>
          </a:p>
          <a:p>
            <a:r>
              <a:rPr lang="en-US" sz="2000" b="1" dirty="0"/>
              <a:t>3. Cross-Generation Performance</a:t>
            </a:r>
          </a:p>
          <a:p>
            <a:pPr lvl="1"/>
            <a:r>
              <a:rPr lang="en-US" b="1" dirty="0"/>
              <a:t>Issue:</a:t>
            </a:r>
            <a:r>
              <a:rPr lang="en-US" dirty="0"/>
              <a:t> Can agents remain effective against unseen generations?</a:t>
            </a:r>
            <a:endParaRPr lang="en-US" b="1" dirty="0"/>
          </a:p>
          <a:p>
            <a:pPr marL="742950" lvl="1" indent="-285750">
              <a:buFont typeface="Wingdings" panose="05000000000000000000" pitchFamily="2" charset="2"/>
              <a:buChar char="q"/>
            </a:pPr>
            <a:r>
              <a:rPr lang="en-US" b="1" dirty="0"/>
              <a:t>Later agents remain effective across generations</a:t>
            </a:r>
            <a:endParaRPr lang="en-US" dirty="0"/>
          </a:p>
          <a:p>
            <a:pPr lvl="2">
              <a:buFont typeface="Arial" panose="020B0604020202020204" pitchFamily="34" charset="0"/>
              <a:buChar char="•"/>
            </a:pPr>
            <a:r>
              <a:rPr lang="en-US" dirty="0"/>
              <a:t> Blue Gen3 generalizes against Red Gen1–Gen3 </a:t>
            </a:r>
          </a:p>
          <a:p>
            <a:pPr lvl="2">
              <a:buFont typeface="Arial" panose="020B0604020202020204" pitchFamily="34" charset="0"/>
              <a:buChar char="•"/>
            </a:pPr>
            <a:r>
              <a:rPr lang="en-US" dirty="0"/>
              <a:t> Shows transferable defense, not one-opponent overfitting</a:t>
            </a:r>
          </a:p>
          <a:p>
            <a:pPr lvl="1">
              <a:buFont typeface="Arial" panose="020B0604020202020204" pitchFamily="34" charset="0"/>
              <a:buChar char="•"/>
            </a:pPr>
            <a:endParaRPr lang="en-US" sz="1600" dirty="0"/>
          </a:p>
        </p:txBody>
      </p:sp>
    </p:spTree>
    <p:extLst>
      <p:ext uri="{BB962C8B-B14F-4D97-AF65-F5344CB8AC3E}">
        <p14:creationId xmlns:p14="http://schemas.microsoft.com/office/powerpoint/2010/main" val="27814769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262466" y="-118533"/>
            <a:ext cx="10515600" cy="1325563"/>
          </a:xfrm>
        </p:spPr>
        <p:txBody>
          <a:bodyPr/>
          <a:lstStyle/>
          <a:p>
            <a:pPr algn="just"/>
            <a:r>
              <a:rPr lang="en-US" dirty="0">
                <a:latin typeface="Times New Roman" panose="02020603050405020304" pitchFamily="18" charset="0"/>
                <a:cs typeface="Times New Roman" panose="02020603050405020304" pitchFamily="18" charset="0"/>
              </a:rPr>
              <a:t>References</a:t>
            </a:r>
          </a:p>
        </p:txBody>
      </p:sp>
      <p:sp>
        <p:nvSpPr>
          <p:cNvPr id="5" name="Content Placeholder 4">
            <a:extLst>
              <a:ext uri="{FF2B5EF4-FFF2-40B4-BE49-F238E27FC236}">
                <a16:creationId xmlns:a16="http://schemas.microsoft.com/office/drawing/2014/main" id="{A0771CE3-181A-0E94-EC8D-B209F0EB1D22}"/>
              </a:ext>
            </a:extLst>
          </p:cNvPr>
          <p:cNvSpPr>
            <a:spLocks noGrp="1"/>
          </p:cNvSpPr>
          <p:nvPr>
            <p:ph idx="1"/>
          </p:nvPr>
        </p:nvSpPr>
        <p:spPr>
          <a:xfrm>
            <a:off x="465664" y="1207030"/>
            <a:ext cx="10312402" cy="5459941"/>
          </a:xfrm>
        </p:spPr>
        <p:txBody>
          <a:bodyPr>
            <a:noAutofit/>
          </a:bodyPr>
          <a:lstStyle/>
          <a:p>
            <a:pPr marL="0" indent="0" algn="just">
              <a:buNone/>
            </a:pPr>
            <a:r>
              <a:rPr lang="en-US" sz="1600" dirty="0"/>
              <a:t>[1] O. </a:t>
            </a:r>
            <a:r>
              <a:rPr lang="en-US" sz="1600" dirty="0" err="1"/>
              <a:t>Valea</a:t>
            </a:r>
            <a:r>
              <a:rPr lang="en-US" sz="1600" dirty="0"/>
              <a:t> and C. </a:t>
            </a:r>
            <a:r>
              <a:rPr lang="en-US" sz="1600" dirty="0" err="1"/>
              <a:t>Oprisa</a:t>
            </a:r>
            <a:r>
              <a:rPr lang="en-US" sz="1600" dirty="0"/>
              <a:t>, “Towards </a:t>
            </a:r>
            <a:r>
              <a:rPr lang="en-US" sz="1600" dirty="0" err="1"/>
              <a:t>pentesting</a:t>
            </a:r>
            <a:r>
              <a:rPr lang="en-US" sz="1600" dirty="0"/>
              <a:t> automation using the Metasploit Framework,” in </a:t>
            </a:r>
            <a:r>
              <a:rPr lang="en-US" sz="1600" i="1" dirty="0"/>
              <a:t>2020 IEEE 16th International Conference on Intelligent Computer Communication and Processing (ICCP)</a:t>
            </a:r>
            <a:r>
              <a:rPr lang="en-US" sz="1600" dirty="0"/>
              <a:t>, 2020, pp. 171–178.</a:t>
            </a:r>
          </a:p>
          <a:p>
            <a:pPr marL="0" indent="0" algn="just">
              <a:buNone/>
            </a:pPr>
            <a:r>
              <a:rPr lang="en-US" sz="1600" dirty="0"/>
              <a:t>[2] Red Canary, “Atomic Red Team,” 2024. [Online]. Available: </a:t>
            </a:r>
            <a:r>
              <a:rPr lang="en-US" sz="1600" dirty="0">
                <a:hlinkClick r:id="rId3"/>
              </a:rPr>
              <a:t>https://atomicredteam.io/</a:t>
            </a:r>
            <a:endParaRPr lang="en-US" sz="1600" dirty="0"/>
          </a:p>
          <a:p>
            <a:pPr marL="0" indent="0" algn="just">
              <a:buNone/>
            </a:pPr>
            <a:r>
              <a:rPr lang="en-US" sz="1600" dirty="0"/>
              <a:t>[3] H. P. T. Nguyen, K. Hasegawa, K. Fukushima, and R. </a:t>
            </a:r>
            <a:r>
              <a:rPr lang="en-US" sz="1600" dirty="0" err="1"/>
              <a:t>Beuran</a:t>
            </a:r>
            <a:r>
              <a:rPr lang="en-US" sz="1600" dirty="0"/>
              <a:t> , “ </a:t>
            </a:r>
            <a:r>
              <a:rPr lang="en-US" sz="1600" dirty="0" err="1"/>
              <a:t>PenGym</a:t>
            </a:r>
            <a:r>
              <a:rPr lang="en-US" sz="1600" dirty="0"/>
              <a:t>: Realistic training environment for reinforcement learning </a:t>
            </a:r>
            <a:r>
              <a:rPr lang="en-US" sz="1600" dirty="0" err="1"/>
              <a:t>pentesting</a:t>
            </a:r>
            <a:r>
              <a:rPr lang="en-US" sz="1600" dirty="0"/>
              <a:t> agents,” </a:t>
            </a:r>
            <a:r>
              <a:rPr lang="en-US" sz="1600" i="1" dirty="0"/>
              <a:t>Computers &amp; Security</a:t>
            </a:r>
            <a:r>
              <a:rPr lang="en-US" sz="1600" dirty="0"/>
              <a:t>, vol. 148, p. 104140, 2025.</a:t>
            </a:r>
          </a:p>
          <a:p>
            <a:pPr marL="0" indent="0" algn="just">
              <a:buNone/>
            </a:pPr>
            <a:r>
              <a:rPr lang="en-US" sz="1600" dirty="0"/>
              <a:t>[4] S. R. Castro, R. Campbell, N. Lau, O. Villalobos, J. Duan, and A. A. Cardenas , “ Large language models are autonomous cyber defenders,” in 2025 IEEE Conference on Artificial Intelligence (CAI). IEEE, May 2025, p. 1125–1132. [Online]. </a:t>
            </a:r>
          </a:p>
          <a:p>
            <a:pPr marL="0" indent="0" algn="just">
              <a:buNone/>
            </a:pPr>
            <a:r>
              <a:rPr lang="en-US" sz="1600" dirty="0"/>
              <a:t>[5] H. Emerson, L. Bates, C. Hicks, and V. Mavroudis, “ </a:t>
            </a:r>
            <a:r>
              <a:rPr lang="en-US" sz="1600" dirty="0" err="1"/>
              <a:t>CybORG</a:t>
            </a:r>
            <a:r>
              <a:rPr lang="en-US" sz="1600" dirty="0"/>
              <a:t>++: An enhanced gym for the development of autonomous cyber agents,” Oct. 2024.</a:t>
            </a:r>
          </a:p>
          <a:p>
            <a:pPr marL="0" indent="0" algn="just">
              <a:buNone/>
            </a:pPr>
            <a:r>
              <a:rPr lang="en-US" sz="1600" dirty="0"/>
              <a:t>[6] S. </a:t>
            </a:r>
            <a:r>
              <a:rPr lang="en-US" sz="1600" dirty="0" err="1"/>
              <a:t>Oesch</a:t>
            </a:r>
            <a:r>
              <a:rPr lang="en-US" sz="1600" dirty="0"/>
              <a:t>, A. </a:t>
            </a:r>
            <a:r>
              <a:rPr lang="en-US" sz="1600" dirty="0" err="1"/>
              <a:t>Chaulagain</a:t>
            </a:r>
            <a:r>
              <a:rPr lang="en-US" sz="1600" dirty="0"/>
              <a:t>, P. Austria, B. Weber, A. </a:t>
            </a:r>
            <a:r>
              <a:rPr lang="en-US" sz="1600" dirty="0" err="1"/>
              <a:t>Sadovnik</a:t>
            </a:r>
            <a:r>
              <a:rPr lang="en-US" sz="1600" dirty="0"/>
              <a:t> , C. Watson, M. Dixson, and B. Roberson, “Towards a high fidelity training environment for autonomous cyber defense agents,” in </a:t>
            </a:r>
            <a:r>
              <a:rPr lang="en-US" sz="1600" i="1" dirty="0"/>
              <a:t>Workshop on Cyber Security Experimentation and Test (CSET)</a:t>
            </a:r>
            <a:r>
              <a:rPr lang="en-US" sz="1600" dirty="0"/>
              <a:t>, 2024, pp. 1–9.</a:t>
            </a:r>
          </a:p>
          <a:p>
            <a:pPr marL="0" indent="0" algn="just">
              <a:buNone/>
            </a:pPr>
            <a:r>
              <a:rPr lang="en-US" sz="1600" dirty="0"/>
              <a:t>[7] L. Li, J.-P. S. El Rami, A. Taylor, J. H. Rao, and T. Kunz, “ </a:t>
            </a:r>
            <a:r>
              <a:rPr lang="en-US" sz="1600" dirty="0" err="1"/>
              <a:t>CyGIL</a:t>
            </a:r>
            <a:r>
              <a:rPr lang="en-US" sz="1600" dirty="0"/>
              <a:t>: Enabling a network AI gym for autonomous cyber agents,” in </a:t>
            </a:r>
            <a:r>
              <a:rPr lang="en-US" sz="1600" i="1" dirty="0"/>
              <a:t>International Conference on Computational Science and Computational Intelligence (CSCI)</a:t>
            </a:r>
            <a:r>
              <a:rPr lang="en-US" sz="1600" dirty="0"/>
              <a:t>, 2022, pp. 172–179.</a:t>
            </a:r>
          </a:p>
          <a:p>
            <a:pPr marL="0" indent="0" algn="just">
              <a:buNone/>
            </a:pPr>
            <a:r>
              <a:rPr lang="en-US" sz="1600" dirty="0"/>
              <a:t>[8] T. Kunz, C. Fisher, J. L. Novara-</a:t>
            </a:r>
            <a:r>
              <a:rPr lang="en-US" sz="1600" dirty="0" err="1"/>
              <a:t>Gsell</a:t>
            </a:r>
            <a:r>
              <a:rPr lang="en-US" sz="1600" dirty="0"/>
              <a:t>, C. Nguyen, and L. Li, “A multiagent </a:t>
            </a:r>
            <a:r>
              <a:rPr lang="en-US" sz="1600" dirty="0" err="1"/>
              <a:t>CyberBattleSim</a:t>
            </a:r>
            <a:r>
              <a:rPr lang="en-US" sz="1600" dirty="0"/>
              <a:t> for RL cyber operation agents,” 2023. [Online]. Available: </a:t>
            </a:r>
            <a:r>
              <a:rPr lang="en-US" sz="1600" dirty="0">
                <a:hlinkClick r:id="rId4"/>
              </a:rPr>
              <a:t>https://arxiv.org/abs/2304.11052</a:t>
            </a:r>
            <a:endParaRPr lang="en-US" sz="1600" dirty="0"/>
          </a:p>
          <a:p>
            <a:pPr marL="0" indent="0" algn="just">
              <a:buNone/>
            </a:pPr>
            <a:r>
              <a:rPr lang="en-US" sz="1600" dirty="0"/>
              <a:t>[9] H. van Hasselt, A. </a:t>
            </a:r>
            <a:r>
              <a:rPr lang="en-US" sz="1600" dirty="0" err="1"/>
              <a:t>Guez</a:t>
            </a:r>
            <a:r>
              <a:rPr lang="en-US" sz="1600" dirty="0"/>
              <a:t> , and D. Silver, “Deep reinforcement learning with double Q-learning,” in </a:t>
            </a:r>
            <a:r>
              <a:rPr lang="en-US" sz="1600" i="1" dirty="0"/>
              <a:t>Proceedings of the AAAI Conference on Artificial Intelligence</a:t>
            </a:r>
            <a:r>
              <a:rPr lang="en-US" sz="1600" dirty="0"/>
              <a:t>, vol. 30, no. 1, 2016, pp. 2094–2100.</a:t>
            </a:r>
          </a:p>
          <a:p>
            <a:pPr marL="0" indent="0" algn="just">
              <a:buNone/>
            </a:pPr>
            <a:endParaRPr lang="en-US" sz="1600" dirty="0"/>
          </a:p>
          <a:p>
            <a:pPr marL="0" indent="0" algn="just">
              <a:buNone/>
            </a:pPr>
            <a:endParaRPr lang="en-US" sz="1600" dirty="0"/>
          </a:p>
        </p:txBody>
      </p:sp>
      <p:sp>
        <p:nvSpPr>
          <p:cNvPr id="3" name="Slide Number Placeholder 3">
            <a:extLst>
              <a:ext uri="{FF2B5EF4-FFF2-40B4-BE49-F238E27FC236}">
                <a16:creationId xmlns:a16="http://schemas.microsoft.com/office/drawing/2014/main" id="{FE9D020C-C5AA-777E-1CE5-A09E19026C7C}"/>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40</a:t>
            </a:fld>
            <a:endParaRPr lang="en-US" dirty="0"/>
          </a:p>
        </p:txBody>
      </p:sp>
    </p:spTree>
    <p:extLst>
      <p:ext uri="{BB962C8B-B14F-4D97-AF65-F5344CB8AC3E}">
        <p14:creationId xmlns:p14="http://schemas.microsoft.com/office/powerpoint/2010/main" val="3419767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364066" y="-194733"/>
            <a:ext cx="10515600" cy="1325563"/>
          </a:xfrm>
        </p:spPr>
        <p:txBody>
          <a:bodyPr/>
          <a:lstStyle/>
          <a:p>
            <a:pPr algn="just"/>
            <a:r>
              <a:rPr lang="en-US" dirty="0">
                <a:latin typeface="Times New Roman" panose="02020603050405020304" pitchFamily="18" charset="0"/>
                <a:cs typeface="Times New Roman" panose="02020603050405020304" pitchFamily="18" charset="0"/>
              </a:rPr>
              <a:t>References</a:t>
            </a:r>
          </a:p>
        </p:txBody>
      </p:sp>
      <p:sp>
        <p:nvSpPr>
          <p:cNvPr id="5" name="Content Placeholder 4">
            <a:extLst>
              <a:ext uri="{FF2B5EF4-FFF2-40B4-BE49-F238E27FC236}">
                <a16:creationId xmlns:a16="http://schemas.microsoft.com/office/drawing/2014/main" id="{A0771CE3-181A-0E94-EC8D-B209F0EB1D22}"/>
              </a:ext>
            </a:extLst>
          </p:cNvPr>
          <p:cNvSpPr>
            <a:spLocks noGrp="1"/>
          </p:cNvSpPr>
          <p:nvPr>
            <p:ph idx="1"/>
          </p:nvPr>
        </p:nvSpPr>
        <p:spPr>
          <a:xfrm>
            <a:off x="433388" y="1195039"/>
            <a:ext cx="10886546" cy="5822590"/>
          </a:xfrm>
        </p:spPr>
        <p:txBody>
          <a:bodyPr>
            <a:noAutofit/>
          </a:bodyPr>
          <a:lstStyle/>
          <a:p>
            <a:pPr marL="0" indent="0" algn="just">
              <a:buNone/>
            </a:pPr>
            <a:r>
              <a:rPr lang="en-US" sz="1600" dirty="0"/>
              <a:t>[10] A. Nelson, S. </a:t>
            </a:r>
            <a:r>
              <a:rPr lang="en-US" sz="1600" dirty="0" err="1"/>
              <a:t>Rekhi</a:t>
            </a:r>
            <a:r>
              <a:rPr lang="en-US" sz="1600" dirty="0"/>
              <a:t>, M. </a:t>
            </a:r>
            <a:r>
              <a:rPr lang="en-US" sz="1600" dirty="0" err="1"/>
              <a:t>Souppaya</a:t>
            </a:r>
            <a:r>
              <a:rPr lang="en-US" sz="1600" dirty="0"/>
              <a:t> , and K. </a:t>
            </a:r>
            <a:r>
              <a:rPr lang="en-US" sz="1600" dirty="0" err="1"/>
              <a:t>Scarfone</a:t>
            </a:r>
            <a:r>
              <a:rPr lang="en-US" sz="1600" dirty="0"/>
              <a:t> , “Incident response recommendations and considerations for cybersecurity risk management: A CSF 2.0 community profile,” National Institute of Standards and Technology, Special Publication 800-61 Rev. 3, Apr. 2025. [Online]. Available: </a:t>
            </a:r>
            <a:r>
              <a:rPr lang="en-US" sz="1600" dirty="0">
                <a:hlinkClick r:id="rId3"/>
              </a:rPr>
              <a:t>https://doi.org/10.6028/NIST.SP.800-61r3</a:t>
            </a:r>
            <a:endParaRPr lang="en-US" sz="1600" dirty="0"/>
          </a:p>
          <a:p>
            <a:pPr marL="0" indent="0" algn="just">
              <a:buNone/>
            </a:pPr>
            <a:r>
              <a:rPr lang="en-US" sz="1600" dirty="0"/>
              <a:t>[11] B. Strom </a:t>
            </a:r>
            <a:r>
              <a:rPr lang="en-US" sz="1600" i="1" dirty="0"/>
              <a:t>et al.</a:t>
            </a:r>
            <a:r>
              <a:rPr lang="en-US" sz="1600" dirty="0"/>
              <a:t>, “MITRE ATT&amp;CK: Design and Philosophy,” The MITRE Corporation, 2018. [Online]. Available: </a:t>
            </a:r>
            <a:r>
              <a:rPr lang="en-US" sz="1600" dirty="0">
                <a:hlinkClick r:id="rId4"/>
              </a:rPr>
              <a:t>https://www.mitre.org/sites/default/files/2021-11/prs-19-01075-28-mitre-attack-design-and-philosophy.pdf</a:t>
            </a:r>
            <a:endParaRPr lang="en-US" sz="1600" dirty="0"/>
          </a:p>
          <a:p>
            <a:pPr marL="0" indent="0" algn="just">
              <a:buNone/>
            </a:pPr>
            <a:r>
              <a:rPr lang="en-US" sz="1600" dirty="0"/>
              <a:t>[12] R. S. Sutton and A. G. </a:t>
            </a:r>
            <a:r>
              <a:rPr lang="en-US" sz="1600" dirty="0" err="1"/>
              <a:t>Barto</a:t>
            </a:r>
            <a:r>
              <a:rPr lang="en-US" sz="1600" dirty="0"/>
              <a:t>, </a:t>
            </a:r>
            <a:r>
              <a:rPr lang="en-US" sz="1600" i="1" dirty="0"/>
              <a:t>Reinforcement Learning: An Introduction</a:t>
            </a:r>
            <a:r>
              <a:rPr lang="en-US" sz="1600" dirty="0"/>
              <a:t>, 2nd ed. Cambridge, MA: MIT Press, 2018.</a:t>
            </a:r>
          </a:p>
          <a:p>
            <a:pPr marL="0" indent="0" algn="just">
              <a:buNone/>
            </a:pPr>
            <a:r>
              <a:rPr lang="en-US" sz="1600" dirty="0"/>
              <a:t>[13] M. A. </a:t>
            </a:r>
            <a:r>
              <a:rPr lang="en-US" sz="1600" dirty="0" err="1"/>
              <a:t>Wiering</a:t>
            </a:r>
            <a:r>
              <a:rPr lang="en-US" sz="1600" dirty="0"/>
              <a:t> and M. van </a:t>
            </a:r>
            <a:r>
              <a:rPr lang="en-US" sz="1600" dirty="0" err="1"/>
              <a:t>Otterlo</a:t>
            </a:r>
            <a:r>
              <a:rPr lang="en-US" sz="1600" dirty="0"/>
              <a:t>, “Reinforcement learning,” </a:t>
            </a:r>
            <a:r>
              <a:rPr lang="en-US" sz="1600" i="1" dirty="0"/>
              <a:t>Adaptation, Learning, and Optimization</a:t>
            </a:r>
            <a:r>
              <a:rPr lang="en-US" sz="1600" dirty="0"/>
              <a:t>, vol. 12, no. 3, p. 729, 2012.</a:t>
            </a:r>
          </a:p>
          <a:p>
            <a:pPr marL="0" indent="0" algn="just">
              <a:buNone/>
            </a:pPr>
            <a:r>
              <a:rPr lang="en-US" sz="1600" dirty="0"/>
              <a:t>[14] W. Masson, P. </a:t>
            </a:r>
            <a:r>
              <a:rPr lang="en-US" sz="1600" dirty="0" err="1"/>
              <a:t>Ranchod</a:t>
            </a:r>
            <a:r>
              <a:rPr lang="en-US" sz="1600" dirty="0"/>
              <a:t>, and G. </a:t>
            </a:r>
            <a:r>
              <a:rPr lang="en-US" sz="1600" dirty="0" err="1"/>
              <a:t>Konidaris</a:t>
            </a:r>
            <a:r>
              <a:rPr lang="en-US" sz="1600" dirty="0"/>
              <a:t>, “Reinforcement learning with parameterized actions,” 2015.</a:t>
            </a:r>
          </a:p>
          <a:p>
            <a:pPr marL="0" indent="0" algn="just">
              <a:buNone/>
            </a:pPr>
            <a:r>
              <a:rPr lang="en-US" sz="1600" dirty="0"/>
              <a:t>[15] R. </a:t>
            </a:r>
            <a:r>
              <a:rPr lang="en-US" sz="1600" dirty="0" err="1"/>
              <a:t>Kuppa</a:t>
            </a:r>
            <a:r>
              <a:rPr lang="en-US" sz="1600" dirty="0"/>
              <a:t>, S. Poudel, C. E. Hughes, M. F. </a:t>
            </a:r>
            <a:r>
              <a:rPr lang="en-US" sz="1600" dirty="0" err="1"/>
              <a:t>Alzaben</a:t>
            </a:r>
            <a:r>
              <a:rPr lang="en-US" sz="1600" dirty="0"/>
              <a:t>, and P. Tague, “Adversarial reinforcement learning for ransomware attack path generation and defense evaluation,” Apr. 2024.</a:t>
            </a:r>
          </a:p>
          <a:p>
            <a:pPr marL="0" indent="0" algn="just">
              <a:buNone/>
            </a:pPr>
            <a:r>
              <a:rPr lang="en-US" sz="1600" dirty="0"/>
              <a:t>[16] F. </a:t>
            </a:r>
            <a:r>
              <a:rPr lang="en-US" sz="1600" dirty="0" err="1"/>
              <a:t>Motlagh</a:t>
            </a:r>
            <a:r>
              <a:rPr lang="en-US" sz="1600" dirty="0"/>
              <a:t>, M. </a:t>
            </a:r>
            <a:r>
              <a:rPr lang="en-US" sz="1600" dirty="0" err="1"/>
              <a:t>Hajizadeh</a:t>
            </a:r>
            <a:r>
              <a:rPr lang="en-US" sz="1600" dirty="0"/>
              <a:t>, M. </a:t>
            </a:r>
            <a:r>
              <a:rPr lang="en-US" sz="1600" dirty="0" err="1"/>
              <a:t>Majd</a:t>
            </a:r>
            <a:r>
              <a:rPr lang="en-US" sz="1600" dirty="0"/>
              <a:t>, P. Najafi, F. Cheng, and C. </a:t>
            </a:r>
            <a:r>
              <a:rPr lang="en-US" sz="1600" dirty="0" err="1"/>
              <a:t>Meinel</a:t>
            </a:r>
            <a:r>
              <a:rPr lang="en-US" sz="1600" dirty="0"/>
              <a:t>, “Large Language Models in Cybersecurity: State-of-the-Art,” 2024. [Online]. Available: </a:t>
            </a:r>
            <a:r>
              <a:rPr lang="en-US" sz="1600" dirty="0">
                <a:hlinkClick r:id="rId5"/>
              </a:rPr>
              <a:t>https://arxiv.org/abs/2402.00891</a:t>
            </a:r>
            <a:endParaRPr lang="en-US" sz="1600" dirty="0"/>
          </a:p>
          <a:p>
            <a:pPr marL="0" indent="0" algn="just">
              <a:buNone/>
            </a:pPr>
            <a:r>
              <a:rPr lang="en-US" sz="1600" dirty="0"/>
              <a:t>[17] Microsoft, “</a:t>
            </a:r>
            <a:r>
              <a:rPr lang="en-US" sz="1600" dirty="0" err="1"/>
              <a:t>CyberBattleSim</a:t>
            </a:r>
            <a:r>
              <a:rPr lang="en-US" sz="1600" dirty="0"/>
              <a:t>,” 2021. [Online]. Available: </a:t>
            </a:r>
            <a:r>
              <a:rPr lang="en-US" sz="1600" dirty="0">
                <a:hlinkClick r:id="rId6"/>
              </a:rPr>
              <a:t>https://github.com/microsoft/CyberBattleSim</a:t>
            </a:r>
            <a:endParaRPr lang="en-US" sz="1600" dirty="0"/>
          </a:p>
          <a:p>
            <a:pPr marL="0" indent="0" algn="just">
              <a:buNone/>
            </a:pPr>
            <a:r>
              <a:rPr lang="en-US" sz="1600" dirty="0"/>
              <a:t>[18] A. </a:t>
            </a:r>
            <a:r>
              <a:rPr lang="en-US" sz="1600" dirty="0" err="1"/>
              <a:t>Paszke</a:t>
            </a:r>
            <a:r>
              <a:rPr lang="en-US" sz="1600" dirty="0"/>
              <a:t> </a:t>
            </a:r>
            <a:r>
              <a:rPr lang="en-US" sz="1600" i="1" dirty="0"/>
              <a:t>et al.</a:t>
            </a:r>
            <a:r>
              <a:rPr lang="en-US" sz="1600" dirty="0"/>
              <a:t>, “</a:t>
            </a:r>
            <a:r>
              <a:rPr lang="en-US" sz="1600" dirty="0" err="1"/>
              <a:t>PyTorch</a:t>
            </a:r>
            <a:r>
              <a:rPr lang="en-US" sz="1600" dirty="0"/>
              <a:t>: An imperative style, high-performance deep learning library,” in </a:t>
            </a:r>
            <a:r>
              <a:rPr lang="en-US" sz="1600" i="1" dirty="0"/>
              <a:t>Advances in Neural Information Processing Systems</a:t>
            </a:r>
            <a:r>
              <a:rPr lang="en-US" sz="1600" dirty="0"/>
              <a:t>, vol. 32, 2019, pp. 8024–8035.</a:t>
            </a:r>
          </a:p>
          <a:p>
            <a:pPr marL="0" indent="0" algn="just">
              <a:buNone/>
            </a:pPr>
            <a:r>
              <a:rPr lang="en-US" sz="1600" dirty="0"/>
              <a:t>[19] C. R. Harris </a:t>
            </a:r>
            <a:r>
              <a:rPr lang="en-US" sz="1600" i="1" dirty="0"/>
              <a:t>et al.</a:t>
            </a:r>
            <a:r>
              <a:rPr lang="en-US" sz="1600" dirty="0"/>
              <a:t>, “Array programming with NumPy,” </a:t>
            </a:r>
            <a:r>
              <a:rPr lang="en-US" sz="1600" i="1" dirty="0"/>
              <a:t>Nature</a:t>
            </a:r>
            <a:r>
              <a:rPr lang="en-US" sz="1600" dirty="0"/>
              <a:t>, vol. 585, no. 7825, pp. 357–362, 2020.</a:t>
            </a:r>
          </a:p>
          <a:p>
            <a:pPr marL="0" indent="0" algn="just">
              <a:buNone/>
            </a:pPr>
            <a:r>
              <a:rPr lang="en-US" sz="1600" dirty="0"/>
              <a:t>[20] W. McKinney, “Data structures for statistical computing in Python,” in </a:t>
            </a:r>
            <a:r>
              <a:rPr lang="en-US" sz="1600" i="1" dirty="0"/>
              <a:t>Proceedings of the 9th Python in Science Conference</a:t>
            </a:r>
            <a:r>
              <a:rPr lang="en-US" sz="1600" dirty="0"/>
              <a:t>, 2010, pp. 56–61.</a:t>
            </a:r>
          </a:p>
        </p:txBody>
      </p:sp>
      <p:sp>
        <p:nvSpPr>
          <p:cNvPr id="3" name="Slide Number Placeholder 3">
            <a:extLst>
              <a:ext uri="{FF2B5EF4-FFF2-40B4-BE49-F238E27FC236}">
                <a16:creationId xmlns:a16="http://schemas.microsoft.com/office/drawing/2014/main" id="{FE9D020C-C5AA-777E-1CE5-A09E19026C7C}"/>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41</a:t>
            </a:fld>
            <a:endParaRPr lang="en-US" dirty="0"/>
          </a:p>
        </p:txBody>
      </p:sp>
    </p:spTree>
    <p:extLst>
      <p:ext uri="{BB962C8B-B14F-4D97-AF65-F5344CB8AC3E}">
        <p14:creationId xmlns:p14="http://schemas.microsoft.com/office/powerpoint/2010/main" val="30831765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364066" y="-194733"/>
            <a:ext cx="10515600" cy="1325563"/>
          </a:xfrm>
        </p:spPr>
        <p:txBody>
          <a:bodyPr/>
          <a:lstStyle/>
          <a:p>
            <a:pPr algn="just"/>
            <a:r>
              <a:rPr lang="en-US" dirty="0">
                <a:latin typeface="Times New Roman" panose="02020603050405020304" pitchFamily="18" charset="0"/>
                <a:cs typeface="Times New Roman" panose="02020603050405020304" pitchFamily="18" charset="0"/>
              </a:rPr>
              <a:t>References</a:t>
            </a:r>
          </a:p>
        </p:txBody>
      </p:sp>
      <p:sp>
        <p:nvSpPr>
          <p:cNvPr id="5" name="Content Placeholder 4">
            <a:extLst>
              <a:ext uri="{FF2B5EF4-FFF2-40B4-BE49-F238E27FC236}">
                <a16:creationId xmlns:a16="http://schemas.microsoft.com/office/drawing/2014/main" id="{A0771CE3-181A-0E94-EC8D-B209F0EB1D22}"/>
              </a:ext>
            </a:extLst>
          </p:cNvPr>
          <p:cNvSpPr>
            <a:spLocks noGrp="1"/>
          </p:cNvSpPr>
          <p:nvPr>
            <p:ph idx="1"/>
          </p:nvPr>
        </p:nvSpPr>
        <p:spPr>
          <a:xfrm>
            <a:off x="364066" y="1130830"/>
            <a:ext cx="10515600" cy="5822590"/>
          </a:xfrm>
        </p:spPr>
        <p:txBody>
          <a:bodyPr>
            <a:noAutofit/>
          </a:bodyPr>
          <a:lstStyle/>
          <a:p>
            <a:pPr marL="0" indent="0" algn="just">
              <a:buNone/>
            </a:pPr>
            <a:r>
              <a:rPr lang="en-US" sz="1600" dirty="0"/>
              <a:t>[21] J. D. Hunter, “Matplotlib: A 2D graphics environment,” </a:t>
            </a:r>
            <a:r>
              <a:rPr lang="en-US" sz="1600" i="1" dirty="0"/>
              <a:t>Computing in Science &amp; Engineering</a:t>
            </a:r>
            <a:r>
              <a:rPr lang="en-US" sz="1600" dirty="0"/>
              <a:t>, vol. 9, no. 3, pp. 90–95, 2007.</a:t>
            </a:r>
          </a:p>
          <a:p>
            <a:pPr marL="0" indent="0" algn="just">
              <a:buNone/>
            </a:pPr>
            <a:r>
              <a:rPr lang="en-US" sz="1600" dirty="0"/>
              <a:t>[22] Broadcom, “VMware Workstation Pro Documentation,” 2026. [Online]. Available: </a:t>
            </a:r>
            <a:r>
              <a:rPr lang="en-US" sz="1600" dirty="0">
                <a:hlinkClick r:id="rId3"/>
              </a:rPr>
              <a:t>https://techdocs.broadcom.com/us/en/vmware-cis/desktop-hypervisors/workstation-pro/17-0.html</a:t>
            </a:r>
            <a:r>
              <a:rPr lang="en-US" sz="1600" dirty="0"/>
              <a:t>. Accessed: May 27, 2026.</a:t>
            </a:r>
          </a:p>
          <a:p>
            <a:pPr marL="0" indent="0" algn="just">
              <a:buNone/>
            </a:pPr>
            <a:r>
              <a:rPr lang="en-US" sz="1600" dirty="0"/>
              <a:t>[23] G. Lyon, </a:t>
            </a:r>
            <a:r>
              <a:rPr lang="en-US" sz="1600" i="1" dirty="0"/>
              <a:t>Nmap Network Scanning: The Official Nmap Project Guide to Network Discovery and Security Scanning</a:t>
            </a:r>
            <a:r>
              <a:rPr lang="en-US" sz="1600" dirty="0"/>
              <a:t>. </a:t>
            </a:r>
            <a:r>
              <a:rPr lang="en-US" sz="1600" dirty="0" err="1"/>
              <a:t>Insecure.Com</a:t>
            </a:r>
            <a:r>
              <a:rPr lang="en-US" sz="1600" dirty="0"/>
              <a:t> LLC, 2008. [Online]. Available: </a:t>
            </a:r>
            <a:r>
              <a:rPr lang="en-US" sz="1600" dirty="0">
                <a:hlinkClick r:id="rId4"/>
              </a:rPr>
              <a:t>https://nmap.org/book/</a:t>
            </a:r>
            <a:endParaRPr lang="en-US" sz="1600" dirty="0"/>
          </a:p>
          <a:p>
            <a:pPr marL="0" indent="0" algn="just">
              <a:buNone/>
            </a:pPr>
            <a:r>
              <a:rPr lang="en-US" sz="1600" dirty="0"/>
              <a:t>[24] </a:t>
            </a:r>
            <a:r>
              <a:rPr lang="en-US" sz="1600" dirty="0" err="1"/>
              <a:t>Wazuh</a:t>
            </a:r>
            <a:r>
              <a:rPr lang="en-US" sz="1600" dirty="0"/>
              <a:t>, “</a:t>
            </a:r>
            <a:r>
              <a:rPr lang="en-US" sz="1600" dirty="0" err="1"/>
              <a:t>Wazuh</a:t>
            </a:r>
            <a:r>
              <a:rPr lang="en-US" sz="1600" dirty="0"/>
              <a:t> Documentation,” 2026. [Online]. Available: </a:t>
            </a:r>
            <a:r>
              <a:rPr lang="en-US" sz="1600" dirty="0">
                <a:hlinkClick r:id="rId5"/>
              </a:rPr>
              <a:t>https://documentation.wazuh.com/current/index.html</a:t>
            </a:r>
            <a:r>
              <a:rPr lang="en-US" sz="1600" dirty="0"/>
              <a:t>. Accessed: May 27, 2026.</a:t>
            </a:r>
          </a:p>
          <a:p>
            <a:pPr marL="0" indent="0" algn="just">
              <a:buNone/>
            </a:pPr>
            <a:r>
              <a:rPr lang="en-US" sz="1600" dirty="0"/>
              <a:t>[25] Open Information Security Foundation, “Suricata User Guide,” 2026. [Online]. Available: </a:t>
            </a:r>
            <a:r>
              <a:rPr lang="en-US" sz="1600" dirty="0">
                <a:hlinkClick r:id="rId6"/>
              </a:rPr>
              <a:t>https://docs.suricata.io/</a:t>
            </a:r>
            <a:r>
              <a:rPr lang="en-US" sz="1600" dirty="0"/>
              <a:t>. Accessed: May 27, 2026.</a:t>
            </a:r>
          </a:p>
          <a:p>
            <a:pPr marL="0" indent="0" algn="just">
              <a:buNone/>
            </a:pPr>
            <a:r>
              <a:rPr lang="en-US" sz="1600" dirty="0"/>
              <a:t>[26] </a:t>
            </a:r>
            <a:r>
              <a:rPr lang="en-US" sz="1600" dirty="0" err="1"/>
              <a:t>OpenAI</a:t>
            </a:r>
            <a:r>
              <a:rPr lang="en-US" sz="1600" dirty="0"/>
              <a:t>, “</a:t>
            </a:r>
            <a:r>
              <a:rPr lang="en-US" sz="1600" dirty="0" err="1"/>
              <a:t>OpenAI</a:t>
            </a:r>
            <a:r>
              <a:rPr lang="en-US" sz="1600" dirty="0"/>
              <a:t> API Reference,” 2026. [Online]. Available: </a:t>
            </a:r>
            <a:r>
              <a:rPr lang="en-US" sz="1600" dirty="0">
                <a:hlinkClick r:id="rId7"/>
              </a:rPr>
              <a:t>https://developers.openai.com/api/reference/overview/</a:t>
            </a:r>
            <a:r>
              <a:rPr lang="en-US" sz="1600" dirty="0"/>
              <a:t>. Accessed: May 25, 2026.</a:t>
            </a:r>
          </a:p>
        </p:txBody>
      </p:sp>
      <p:sp>
        <p:nvSpPr>
          <p:cNvPr id="3" name="Slide Number Placeholder 3">
            <a:extLst>
              <a:ext uri="{FF2B5EF4-FFF2-40B4-BE49-F238E27FC236}">
                <a16:creationId xmlns:a16="http://schemas.microsoft.com/office/drawing/2014/main" id="{FE9D020C-C5AA-777E-1CE5-A09E19026C7C}"/>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42</a:t>
            </a:fld>
            <a:endParaRPr lang="en-US" dirty="0"/>
          </a:p>
        </p:txBody>
      </p:sp>
    </p:spTree>
    <p:extLst>
      <p:ext uri="{BB962C8B-B14F-4D97-AF65-F5344CB8AC3E}">
        <p14:creationId xmlns:p14="http://schemas.microsoft.com/office/powerpoint/2010/main" val="41000411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13ED3-8B47-F2C5-FE41-DFBD46E633C6}"/>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BCEDE839-49AE-BBB9-F32D-210F90F2BC42}"/>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43</a:t>
            </a:fld>
            <a:endParaRPr lang="en-US" dirty="0"/>
          </a:p>
        </p:txBody>
      </p:sp>
      <p:sp>
        <p:nvSpPr>
          <p:cNvPr id="7" name="Title 1">
            <a:extLst>
              <a:ext uri="{FF2B5EF4-FFF2-40B4-BE49-F238E27FC236}">
                <a16:creationId xmlns:a16="http://schemas.microsoft.com/office/drawing/2014/main" id="{6DF40C9F-3A21-47F1-864B-203BE3D809E9}"/>
              </a:ext>
            </a:extLst>
          </p:cNvPr>
          <p:cNvSpPr>
            <a:spLocks noGrp="1"/>
          </p:cNvSpPr>
          <p:nvPr>
            <p:ph type="title"/>
          </p:nvPr>
        </p:nvSpPr>
        <p:spPr>
          <a:xfrm>
            <a:off x="0" y="-180495"/>
            <a:ext cx="10515600" cy="1325563"/>
          </a:xfrm>
        </p:spPr>
        <p:txBody>
          <a:bodyPr/>
          <a:lstStyle/>
          <a:p>
            <a:pPr algn="just"/>
            <a:r>
              <a:rPr lang="en-US" dirty="0">
                <a:latin typeface="Times New Roman" panose="02020603050405020304" pitchFamily="18" charset="0"/>
                <a:cs typeface="Times New Roman" panose="02020603050405020304" pitchFamily="18" charset="0"/>
              </a:rPr>
              <a:t> Appendix: Red Team Agent </a:t>
            </a:r>
            <a:r>
              <a:rPr lang="en-US" dirty="0"/>
              <a:t>– Algorithm</a:t>
            </a:r>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3DF2036-3D4E-432C-A421-241BB24F3CA8}"/>
              </a:ext>
            </a:extLst>
          </p:cNvPr>
          <p:cNvPicPr>
            <a:picLocks noChangeAspect="1"/>
          </p:cNvPicPr>
          <p:nvPr/>
        </p:nvPicPr>
        <p:blipFill rotWithShape="1">
          <a:blip r:embed="rId3">
            <a:extLst>
              <a:ext uri="{28A0092B-C50C-407E-A947-70E740481C1C}">
                <a14:useLocalDpi xmlns:a14="http://schemas.microsoft.com/office/drawing/2010/main" val="0"/>
              </a:ext>
            </a:extLst>
          </a:blip>
          <a:srcRect r="30647"/>
          <a:stretch/>
        </p:blipFill>
        <p:spPr>
          <a:xfrm>
            <a:off x="314211" y="1145068"/>
            <a:ext cx="11204840" cy="5198262"/>
          </a:xfrm>
          <a:prstGeom prst="rect">
            <a:avLst/>
          </a:prstGeom>
          <a:ln>
            <a:solidFill>
              <a:schemeClr val="tx1"/>
            </a:solidFill>
          </a:ln>
        </p:spPr>
      </p:pic>
      <p:sp>
        <p:nvSpPr>
          <p:cNvPr id="4" name="Rectangle 3">
            <a:extLst>
              <a:ext uri="{FF2B5EF4-FFF2-40B4-BE49-F238E27FC236}">
                <a16:creationId xmlns:a16="http://schemas.microsoft.com/office/drawing/2014/main" id="{3B1E4D77-A6AE-4A38-9646-0C84E853B854}"/>
              </a:ext>
            </a:extLst>
          </p:cNvPr>
          <p:cNvSpPr/>
          <p:nvPr/>
        </p:nvSpPr>
        <p:spPr>
          <a:xfrm>
            <a:off x="1972733" y="1236133"/>
            <a:ext cx="169334" cy="203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33067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2E5EE-4E08-1317-C362-D796E5D49CD7}"/>
            </a:ext>
          </a:extLst>
        </p:cNvPr>
        <p:cNvGrpSpPr/>
        <p:nvPr/>
      </p:nvGrpSpPr>
      <p:grpSpPr>
        <a:xfrm>
          <a:off x="0" y="0"/>
          <a:ext cx="0" cy="0"/>
          <a:chOff x="0" y="0"/>
          <a:chExt cx="0" cy="0"/>
        </a:xfrm>
      </p:grpSpPr>
      <p:sp>
        <p:nvSpPr>
          <p:cNvPr id="123" name="Slide Number Placeholder 3">
            <a:extLst>
              <a:ext uri="{FF2B5EF4-FFF2-40B4-BE49-F238E27FC236}">
                <a16:creationId xmlns:a16="http://schemas.microsoft.com/office/drawing/2014/main" id="{5B546E56-669E-3456-82DB-A698492B4B61}"/>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44</a:t>
            </a:fld>
            <a:endParaRPr lang="en-US" dirty="0"/>
          </a:p>
        </p:txBody>
      </p:sp>
      <p:sp>
        <p:nvSpPr>
          <p:cNvPr id="2" name="Title 1">
            <a:extLst>
              <a:ext uri="{FF2B5EF4-FFF2-40B4-BE49-F238E27FC236}">
                <a16:creationId xmlns:a16="http://schemas.microsoft.com/office/drawing/2014/main" id="{57F90826-5391-469C-9E25-6C35A093825D}"/>
              </a:ext>
            </a:extLst>
          </p:cNvPr>
          <p:cNvSpPr>
            <a:spLocks noGrp="1"/>
          </p:cNvSpPr>
          <p:nvPr>
            <p:ph type="title"/>
          </p:nvPr>
        </p:nvSpPr>
        <p:spPr>
          <a:xfrm>
            <a:off x="112174" y="-152400"/>
            <a:ext cx="10515600" cy="1325563"/>
          </a:xfrm>
        </p:spPr>
        <p:txBody>
          <a:bodyPr>
            <a:normAutofit/>
          </a:bodyPr>
          <a:lstStyle/>
          <a:p>
            <a:pPr algn="just"/>
            <a:r>
              <a:rPr lang="en-US" dirty="0"/>
              <a:t>Appendix: </a:t>
            </a:r>
            <a:r>
              <a:rPr lang="en-US" dirty="0">
                <a:latin typeface="Times New Roman" panose="02020603050405020304" pitchFamily="18" charset="0"/>
                <a:cs typeface="Times New Roman" panose="02020603050405020304" pitchFamily="18" charset="0"/>
              </a:rPr>
              <a:t>Blue Team Agent: </a:t>
            </a:r>
            <a:r>
              <a:rPr lang="en-US" dirty="0"/>
              <a:t>Algorithm</a:t>
            </a:r>
            <a:endParaRPr lang="en-US" dirty="0">
              <a:latin typeface="Times New Roman" panose="02020603050405020304" pitchFamily="18" charset="0"/>
              <a:cs typeface="Times New Roman" panose="02020603050405020304" pitchFamily="18" charset="0"/>
            </a:endParaRPr>
          </a:p>
        </p:txBody>
      </p:sp>
      <p:grpSp>
        <p:nvGrpSpPr>
          <p:cNvPr id="6" name="Group 5">
            <a:extLst>
              <a:ext uri="{FF2B5EF4-FFF2-40B4-BE49-F238E27FC236}">
                <a16:creationId xmlns:a16="http://schemas.microsoft.com/office/drawing/2014/main" id="{33A788B0-4C6D-4DE6-8FE5-06368E6E2073}"/>
              </a:ext>
            </a:extLst>
          </p:cNvPr>
          <p:cNvGrpSpPr/>
          <p:nvPr/>
        </p:nvGrpSpPr>
        <p:grpSpPr>
          <a:xfrm>
            <a:off x="358753" y="1173163"/>
            <a:ext cx="11046893" cy="5312304"/>
            <a:chOff x="112174" y="1173163"/>
            <a:chExt cx="10479716" cy="4920868"/>
          </a:xfrm>
        </p:grpSpPr>
        <p:pic>
          <p:nvPicPr>
            <p:cNvPr id="4" name="Picture 3">
              <a:extLst>
                <a:ext uri="{FF2B5EF4-FFF2-40B4-BE49-F238E27FC236}">
                  <a16:creationId xmlns:a16="http://schemas.microsoft.com/office/drawing/2014/main" id="{642419F5-5565-48A8-ABE1-CC7BE9010CCF}"/>
                </a:ext>
              </a:extLst>
            </p:cNvPr>
            <p:cNvPicPr>
              <a:picLocks noChangeAspect="1"/>
            </p:cNvPicPr>
            <p:nvPr/>
          </p:nvPicPr>
          <p:blipFill rotWithShape="1">
            <a:blip r:embed="rId3">
              <a:extLst>
                <a:ext uri="{28A0092B-C50C-407E-A947-70E740481C1C}">
                  <a14:useLocalDpi xmlns:a14="http://schemas.microsoft.com/office/drawing/2010/main" val="0"/>
                </a:ext>
              </a:extLst>
            </a:blip>
            <a:srcRect l="1285" t="4064" r="33021" b="30050"/>
            <a:stretch/>
          </p:blipFill>
          <p:spPr>
            <a:xfrm>
              <a:off x="112174" y="1173163"/>
              <a:ext cx="10479716" cy="4920868"/>
            </a:xfrm>
            <a:prstGeom prst="rect">
              <a:avLst/>
            </a:prstGeom>
            <a:ln>
              <a:solidFill>
                <a:schemeClr val="tx1"/>
              </a:solidFill>
            </a:ln>
          </p:spPr>
        </p:pic>
        <p:sp>
          <p:nvSpPr>
            <p:cNvPr id="7" name="Rectangle 6">
              <a:extLst>
                <a:ext uri="{FF2B5EF4-FFF2-40B4-BE49-F238E27FC236}">
                  <a16:creationId xmlns:a16="http://schemas.microsoft.com/office/drawing/2014/main" id="{D39937C1-E7FA-4ACE-B84D-CC1CDE486326}"/>
                </a:ext>
              </a:extLst>
            </p:cNvPr>
            <p:cNvSpPr/>
            <p:nvPr/>
          </p:nvSpPr>
          <p:spPr>
            <a:xfrm>
              <a:off x="1998134" y="1286935"/>
              <a:ext cx="211666" cy="24553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595561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F27F3-CE82-FB43-4668-A8887B4BF4B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7A404FA-9E90-46D0-8D73-DD9FCC462E4C}"/>
              </a:ext>
            </a:extLst>
          </p:cNvPr>
          <p:cNvPicPr>
            <a:picLocks noChangeAspect="1"/>
          </p:cNvPicPr>
          <p:nvPr/>
        </p:nvPicPr>
        <p:blipFill rotWithShape="1">
          <a:blip r:embed="rId3">
            <a:extLst>
              <a:ext uri="{28A0092B-C50C-407E-A947-70E740481C1C}">
                <a14:useLocalDpi xmlns:a14="http://schemas.microsoft.com/office/drawing/2010/main" val="0"/>
              </a:ext>
            </a:extLst>
          </a:blip>
          <a:srcRect r="45977"/>
          <a:stretch/>
        </p:blipFill>
        <p:spPr>
          <a:xfrm>
            <a:off x="107680" y="683491"/>
            <a:ext cx="5273227" cy="6052271"/>
          </a:xfrm>
          <a:prstGeom prst="rect">
            <a:avLst/>
          </a:prstGeom>
          <a:ln>
            <a:solidFill>
              <a:schemeClr val="tx1"/>
            </a:solidFill>
          </a:ln>
        </p:spPr>
      </p:pic>
      <p:sp>
        <p:nvSpPr>
          <p:cNvPr id="2" name="Title 1">
            <a:extLst>
              <a:ext uri="{FF2B5EF4-FFF2-40B4-BE49-F238E27FC236}">
                <a16:creationId xmlns:a16="http://schemas.microsoft.com/office/drawing/2014/main" id="{51F7C4B8-CB67-F407-0780-863215A0E79B}"/>
              </a:ext>
            </a:extLst>
          </p:cNvPr>
          <p:cNvSpPr>
            <a:spLocks noGrp="1"/>
          </p:cNvSpPr>
          <p:nvPr>
            <p:ph type="title"/>
          </p:nvPr>
        </p:nvSpPr>
        <p:spPr>
          <a:xfrm>
            <a:off x="0" y="-642072"/>
            <a:ext cx="10515600" cy="1325563"/>
          </a:xfrm>
        </p:spPr>
        <p:txBody>
          <a:bodyPr>
            <a:normAutofit/>
          </a:bodyPr>
          <a:lstStyle/>
          <a:p>
            <a:br>
              <a:rPr lang="en-US" sz="3600" dirty="0"/>
            </a:br>
            <a:r>
              <a:rPr lang="en-US" sz="3600" dirty="0"/>
              <a:t>Appendix: MG-</a:t>
            </a:r>
            <a:r>
              <a:rPr lang="en-US" sz="3600" dirty="0" err="1"/>
              <a:t>CoE</a:t>
            </a:r>
            <a:r>
              <a:rPr lang="en-US" sz="3600" dirty="0"/>
              <a:t> Execution Loop : Algorithm </a:t>
            </a:r>
            <a:endParaRPr lang="en-US" sz="3600" dirty="0">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BC07FE32-FCF9-1F88-E2FC-409FFC74F9B4}"/>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45</a:t>
            </a:fld>
            <a:endParaRPr lang="en-US" dirty="0"/>
          </a:p>
        </p:txBody>
      </p:sp>
      <p:sp>
        <p:nvSpPr>
          <p:cNvPr id="10" name="Rectangle 9">
            <a:extLst>
              <a:ext uri="{FF2B5EF4-FFF2-40B4-BE49-F238E27FC236}">
                <a16:creationId xmlns:a16="http://schemas.microsoft.com/office/drawing/2014/main" id="{19DEDCEC-3B9B-4C7C-9535-3FB83AA290B7}"/>
              </a:ext>
            </a:extLst>
          </p:cNvPr>
          <p:cNvSpPr/>
          <p:nvPr/>
        </p:nvSpPr>
        <p:spPr>
          <a:xfrm>
            <a:off x="8676510" y="1260201"/>
            <a:ext cx="135467" cy="1432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18E27E2-F9A9-49CB-A875-7F416A7417D9}"/>
              </a:ext>
            </a:extLst>
          </p:cNvPr>
          <p:cNvSpPr txBox="1"/>
          <p:nvPr/>
        </p:nvSpPr>
        <p:spPr>
          <a:xfrm>
            <a:off x="6644153" y="5163833"/>
            <a:ext cx="6190180" cy="338554"/>
          </a:xfrm>
          <a:prstGeom prst="rect">
            <a:avLst/>
          </a:prstGeom>
          <a:noFill/>
        </p:spPr>
        <p:txBody>
          <a:bodyPr wrap="square">
            <a:spAutoFit/>
          </a:bodyPr>
          <a:lstStyle/>
          <a:p>
            <a:r>
              <a:rPr lang="en-US" sz="1600" dirty="0"/>
              <a:t>Figure : Generation-level promotion check in MG-</a:t>
            </a:r>
            <a:r>
              <a:rPr lang="en-US" sz="1600" dirty="0" err="1"/>
              <a:t>CoE</a:t>
            </a:r>
            <a:endParaRPr lang="en-US" sz="1600" dirty="0"/>
          </a:p>
        </p:txBody>
      </p:sp>
      <p:pic>
        <p:nvPicPr>
          <p:cNvPr id="6150" name="Picture 6">
            <a:extLst>
              <a:ext uri="{FF2B5EF4-FFF2-40B4-BE49-F238E27FC236}">
                <a16:creationId xmlns:a16="http://schemas.microsoft.com/office/drawing/2014/main" id="{C0B22EDC-3104-4B05-86B7-5FE50961FC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8587" y="1720329"/>
            <a:ext cx="6662439" cy="341734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09837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46</a:t>
            </a:fld>
            <a:endParaRPr lang="en-US" dirty="0"/>
          </a:p>
        </p:txBody>
      </p:sp>
      <p:sp>
        <p:nvSpPr>
          <p:cNvPr id="14" name="TextBox 13">
            <a:extLst>
              <a:ext uri="{FF2B5EF4-FFF2-40B4-BE49-F238E27FC236}">
                <a16:creationId xmlns:a16="http://schemas.microsoft.com/office/drawing/2014/main" id="{A3E45BCA-E42C-4A0D-93F0-7124A68BC6B2}"/>
              </a:ext>
            </a:extLst>
          </p:cNvPr>
          <p:cNvSpPr txBox="1"/>
          <p:nvPr/>
        </p:nvSpPr>
        <p:spPr>
          <a:xfrm>
            <a:off x="190390" y="793633"/>
            <a:ext cx="7350441"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defPPr>
              <a:defRPr lang="en-US"/>
            </a:defPPr>
            <a:lvl1pPr>
              <a:defRPr b="1" u="sng">
                <a:solidFill>
                  <a:srgbClr val="C00000"/>
                </a:solidFill>
                <a:latin typeface="DM Mono"/>
              </a:defRPr>
            </a:lvl1pPr>
          </a:lstStyle>
          <a:p>
            <a:r>
              <a:rPr lang="en-US" u="none" dirty="0">
                <a:solidFill>
                  <a:schemeClr val="accent6">
                    <a:lumMod val="75000"/>
                  </a:schemeClr>
                </a:solidFill>
              </a:rPr>
              <a:t>ACE keeps positive utility vs Red Gen 3 (47.5), while FOT collapses (-430.8).</a:t>
            </a:r>
          </a:p>
        </p:txBody>
      </p:sp>
      <p:graphicFrame>
        <p:nvGraphicFramePr>
          <p:cNvPr id="6" name="Table 5">
            <a:extLst>
              <a:ext uri="{FF2B5EF4-FFF2-40B4-BE49-F238E27FC236}">
                <a16:creationId xmlns:a16="http://schemas.microsoft.com/office/drawing/2014/main" id="{30F97FE6-5935-4A0B-BB7E-7D1B9A06709F}"/>
              </a:ext>
            </a:extLst>
          </p:cNvPr>
          <p:cNvGraphicFramePr>
            <a:graphicFrameLocks noGrp="1"/>
          </p:cNvGraphicFramePr>
          <p:nvPr>
            <p:extLst>
              <p:ext uri="{D42A27DB-BD31-4B8C-83A1-F6EECF244321}">
                <p14:modId xmlns:p14="http://schemas.microsoft.com/office/powerpoint/2010/main" val="1894999957"/>
              </p:ext>
            </p:extLst>
          </p:nvPr>
        </p:nvGraphicFramePr>
        <p:xfrm>
          <a:off x="5961519" y="1504498"/>
          <a:ext cx="5997684" cy="4375203"/>
        </p:xfrm>
        <a:graphic>
          <a:graphicData uri="http://schemas.openxmlformats.org/drawingml/2006/table">
            <a:tbl>
              <a:tblPr/>
              <a:tblGrid>
                <a:gridCol w="1999228">
                  <a:extLst>
                    <a:ext uri="{9D8B030D-6E8A-4147-A177-3AD203B41FA5}">
                      <a16:colId xmlns:a16="http://schemas.microsoft.com/office/drawing/2014/main" val="3374473663"/>
                    </a:ext>
                  </a:extLst>
                </a:gridCol>
                <a:gridCol w="1999228">
                  <a:extLst>
                    <a:ext uri="{9D8B030D-6E8A-4147-A177-3AD203B41FA5}">
                      <a16:colId xmlns:a16="http://schemas.microsoft.com/office/drawing/2014/main" val="3314096450"/>
                    </a:ext>
                  </a:extLst>
                </a:gridCol>
                <a:gridCol w="1999228">
                  <a:extLst>
                    <a:ext uri="{9D8B030D-6E8A-4147-A177-3AD203B41FA5}">
                      <a16:colId xmlns:a16="http://schemas.microsoft.com/office/drawing/2014/main" val="817597074"/>
                    </a:ext>
                  </a:extLst>
                </a:gridCol>
              </a:tblGrid>
              <a:tr h="469132">
                <a:tc>
                  <a:txBody>
                    <a:bodyPr/>
                    <a:lstStyle/>
                    <a:p>
                      <a:pPr algn="ctr"/>
                      <a:r>
                        <a:rPr lang="en-US" b="1"/>
                        <a:t>Observation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a:t>Why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Insight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3730023"/>
                  </a:ext>
                </a:extLst>
              </a:tr>
              <a:tr h="683534">
                <a:tc>
                  <a:txBody>
                    <a:bodyPr/>
                    <a:lstStyle/>
                    <a:p>
                      <a:r>
                        <a:rPr lang="en-US" sz="1600" b="1" dirty="0"/>
                        <a:t>FOT collapses vs strong Red:</a:t>
                      </a:r>
                      <a:r>
                        <a:rPr lang="en-US" sz="1600" dirty="0"/>
                        <a:t> </a:t>
                      </a:r>
                      <a:r>
                        <a:rPr lang="en-US" sz="1600" b="1" dirty="0"/>
                        <a:t>49.0 → -430.8</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Trained on fixed weak Red → cannot handle evolved Red Gen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t>Poor generalization</a:t>
                      </a:r>
                      <a:endParaRPr lang="en-US"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8484450"/>
                  </a:ext>
                </a:extLst>
              </a:tr>
              <a:tr h="1314594">
                <a:tc>
                  <a:txBody>
                    <a:bodyPr/>
                    <a:lstStyle/>
                    <a:p>
                      <a:r>
                        <a:rPr lang="en-US" sz="1600" b="1" dirty="0"/>
                        <a:t>ACE strongest vs Red Gen 1:</a:t>
                      </a:r>
                      <a:r>
                        <a:rPr lang="en-US" sz="1600" dirty="0"/>
                        <a:t> </a:t>
                      </a:r>
                      <a:r>
                        <a:rPr lang="en-US" sz="1600" b="1" dirty="0"/>
                        <a:t>113.8</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Alternating training exposes Blue to stronger Red over generations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t>Best adaptive defense</a:t>
                      </a:r>
                      <a:endParaRPr lang="en-US"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9568027"/>
                  </a:ext>
                </a:extLst>
              </a:tr>
              <a:tr h="1524677">
                <a:tc>
                  <a:txBody>
                    <a:bodyPr/>
                    <a:lstStyle/>
                    <a:p>
                      <a:r>
                        <a:rPr lang="en-US" sz="1600" b="1" dirty="0"/>
                        <a:t>SCE stable but lower than ACE:</a:t>
                      </a:r>
                      <a:r>
                        <a:rPr lang="en-US" sz="1600" dirty="0"/>
                        <a:t> </a:t>
                      </a:r>
                      <a:r>
                        <a:rPr lang="en-US" sz="1600" b="1" dirty="0"/>
                        <a:t>49.1 vs 47.5</a:t>
                      </a:r>
                      <a:r>
                        <a:rPr lang="en-US" sz="1600" dirty="0"/>
                        <a:t> on Red Gen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t>SCE stable but lower than ACE:</a:t>
                      </a:r>
                      <a:r>
                        <a:rPr lang="en-US" sz="1600" dirty="0"/>
                        <a:t> </a:t>
                      </a:r>
                      <a:r>
                        <a:rPr lang="en-US" sz="1600" b="1" dirty="0"/>
                        <a:t>49.1 vs 47.5</a:t>
                      </a:r>
                      <a:r>
                        <a:rPr lang="en-US" sz="1600" dirty="0"/>
                        <a:t> on Red Gen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t>SCE stable but lower than ACE:</a:t>
                      </a:r>
                      <a:r>
                        <a:rPr lang="en-US" sz="1600" dirty="0"/>
                        <a:t> </a:t>
                      </a:r>
                      <a:r>
                        <a:rPr lang="en-US" sz="1600" b="1" dirty="0"/>
                        <a:t>49.1 vs 47.5</a:t>
                      </a:r>
                      <a:r>
                        <a:rPr lang="en-US" sz="1600" dirty="0"/>
                        <a:t> on Red Gen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560833"/>
                  </a:ext>
                </a:extLst>
              </a:tr>
            </a:tbl>
          </a:graphicData>
        </a:graphic>
      </p:graphicFrame>
      <p:sp>
        <p:nvSpPr>
          <p:cNvPr id="12" name="Title 1">
            <a:extLst>
              <a:ext uri="{FF2B5EF4-FFF2-40B4-BE49-F238E27FC236}">
                <a16:creationId xmlns:a16="http://schemas.microsoft.com/office/drawing/2014/main" id="{6B499DA1-C9D5-46CD-934A-377A1DFCAD60}"/>
              </a:ext>
            </a:extLst>
          </p:cNvPr>
          <p:cNvSpPr txBox="1">
            <a:spLocks/>
          </p:cNvSpPr>
          <p:nvPr/>
        </p:nvSpPr>
        <p:spPr>
          <a:xfrm>
            <a:off x="0" y="-173702"/>
            <a:ext cx="11277600" cy="7667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mj-ea"/>
                <a:cs typeface="Times New Roman" panose="02020603050405020304" pitchFamily="18" charset="0"/>
              </a:defRPr>
            </a:lvl1pPr>
          </a:lstStyle>
          <a:p>
            <a:pPr marL="11206">
              <a:lnSpc>
                <a:spcPct val="100000"/>
              </a:lnSpc>
              <a:spcBef>
                <a:spcPts val="115"/>
              </a:spcBef>
              <a:tabLst>
                <a:tab pos="144003" algn="l"/>
              </a:tabLst>
            </a:pPr>
            <a:r>
              <a:rPr lang="en-US" sz="3600" dirty="0">
                <a:latin typeface="Times New Roman" panose="02020603050405020304" pitchFamily="18" charset="0"/>
                <a:cs typeface="Times New Roman" panose="02020603050405020304" pitchFamily="18" charset="0"/>
              </a:rPr>
              <a:t>Appendix: </a:t>
            </a:r>
            <a:r>
              <a:rPr lang="en-US" sz="3600" dirty="0"/>
              <a:t>ACE vs FOT vs SCE – Mean Blue-team Utility</a:t>
            </a:r>
          </a:p>
        </p:txBody>
      </p:sp>
      <p:pic>
        <p:nvPicPr>
          <p:cNvPr id="4" name="Picture 3">
            <a:extLst>
              <a:ext uri="{FF2B5EF4-FFF2-40B4-BE49-F238E27FC236}">
                <a16:creationId xmlns:a16="http://schemas.microsoft.com/office/drawing/2014/main" id="{900EAFD4-2ACE-40C6-900F-8862323A48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24630"/>
            <a:ext cx="5821607" cy="3823027"/>
          </a:xfrm>
          <a:prstGeom prst="rect">
            <a:avLst/>
          </a:prstGeom>
        </p:spPr>
      </p:pic>
    </p:spTree>
    <p:extLst>
      <p:ext uri="{BB962C8B-B14F-4D97-AF65-F5344CB8AC3E}">
        <p14:creationId xmlns:p14="http://schemas.microsoft.com/office/powerpoint/2010/main" val="23771620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41467B60-0402-480B-B1D1-19E3A741C3A0}"/>
              </a:ext>
            </a:extLst>
          </p:cNvPr>
          <p:cNvSpPr txBox="1"/>
          <p:nvPr/>
        </p:nvSpPr>
        <p:spPr>
          <a:xfrm>
            <a:off x="79862" y="982181"/>
            <a:ext cx="7294716"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defPPr>
              <a:defRPr lang="en-US"/>
            </a:defPPr>
            <a:lvl1pPr>
              <a:defRPr b="1" u="sng">
                <a:solidFill>
                  <a:srgbClr val="C00000"/>
                </a:solidFill>
                <a:latin typeface="DM Mono"/>
              </a:defRPr>
            </a:lvl1pPr>
          </a:lstStyle>
          <a:p>
            <a:r>
              <a:rPr lang="es-ES" u="none" dirty="0">
                <a:solidFill>
                  <a:schemeClr val="accent6">
                    <a:lumMod val="75000"/>
                  </a:schemeClr>
                </a:solidFill>
              </a:rPr>
              <a:t> </a:t>
            </a:r>
            <a:r>
              <a:rPr lang="en-US" u="none" dirty="0">
                <a:solidFill>
                  <a:schemeClr val="accent6">
                    <a:lumMod val="75000"/>
                  </a:schemeClr>
                </a:solidFill>
              </a:rPr>
              <a:t>FOT over-relies on </a:t>
            </a:r>
            <a:r>
              <a:rPr lang="en-US" u="none" dirty="0" err="1">
                <a:solidFill>
                  <a:schemeClr val="accent6">
                    <a:lumMod val="75000"/>
                  </a:schemeClr>
                </a:solidFill>
              </a:rPr>
              <a:t>kill_process</a:t>
            </a:r>
            <a:r>
              <a:rPr lang="en-US" u="none" dirty="0">
                <a:solidFill>
                  <a:schemeClr val="accent6">
                    <a:lumMod val="75000"/>
                  </a:schemeClr>
                </a:solidFill>
              </a:rPr>
              <a:t>; ACE develops diverse multi-action strategy</a:t>
            </a:r>
          </a:p>
        </p:txBody>
      </p:sp>
      <p:pic>
        <p:nvPicPr>
          <p:cNvPr id="6" name="Picture 5">
            <a:extLst>
              <a:ext uri="{FF2B5EF4-FFF2-40B4-BE49-F238E27FC236}">
                <a16:creationId xmlns:a16="http://schemas.microsoft.com/office/drawing/2014/main" id="{155C7794-31A8-411E-9CB6-4D9BCB5FE8D7}"/>
              </a:ext>
            </a:extLst>
          </p:cNvPr>
          <p:cNvPicPr>
            <a:picLocks noChangeAspect="1"/>
          </p:cNvPicPr>
          <p:nvPr/>
        </p:nvPicPr>
        <p:blipFill rotWithShape="1">
          <a:blip r:embed="rId3"/>
          <a:srcRect l="33333" r="33256"/>
          <a:stretch/>
        </p:blipFill>
        <p:spPr>
          <a:xfrm>
            <a:off x="7745755" y="439500"/>
            <a:ext cx="4107579" cy="3143898"/>
          </a:xfrm>
          <a:prstGeom prst="rect">
            <a:avLst/>
          </a:prstGeom>
        </p:spPr>
      </p:pic>
      <p:pic>
        <p:nvPicPr>
          <p:cNvPr id="10" name="Picture 9">
            <a:extLst>
              <a:ext uri="{FF2B5EF4-FFF2-40B4-BE49-F238E27FC236}">
                <a16:creationId xmlns:a16="http://schemas.microsoft.com/office/drawing/2014/main" id="{6FD799B4-6CA0-493F-B57B-6C6A47DC3716}"/>
              </a:ext>
            </a:extLst>
          </p:cNvPr>
          <p:cNvPicPr>
            <a:picLocks noChangeAspect="1"/>
          </p:cNvPicPr>
          <p:nvPr/>
        </p:nvPicPr>
        <p:blipFill>
          <a:blip r:embed="rId4"/>
          <a:stretch>
            <a:fillRect/>
          </a:stretch>
        </p:blipFill>
        <p:spPr>
          <a:xfrm>
            <a:off x="8128000" y="807977"/>
            <a:ext cx="1459504" cy="348408"/>
          </a:xfrm>
          <a:prstGeom prst="rect">
            <a:avLst/>
          </a:prstGeom>
        </p:spPr>
      </p:pic>
      <p:pic>
        <p:nvPicPr>
          <p:cNvPr id="13" name="Picture 12">
            <a:extLst>
              <a:ext uri="{FF2B5EF4-FFF2-40B4-BE49-F238E27FC236}">
                <a16:creationId xmlns:a16="http://schemas.microsoft.com/office/drawing/2014/main" id="{E3845F03-D89B-4A76-BB0B-8F9CA5BF8FC5}"/>
              </a:ext>
            </a:extLst>
          </p:cNvPr>
          <p:cNvPicPr>
            <a:picLocks noChangeAspect="1"/>
          </p:cNvPicPr>
          <p:nvPr/>
        </p:nvPicPr>
        <p:blipFill rotWithShape="1">
          <a:blip r:embed="rId3"/>
          <a:srcRect l="66743" t="5943"/>
          <a:stretch/>
        </p:blipFill>
        <p:spPr>
          <a:xfrm>
            <a:off x="7745755" y="3591865"/>
            <a:ext cx="4107579" cy="3143897"/>
          </a:xfrm>
          <a:prstGeom prst="rect">
            <a:avLst/>
          </a:prstGeom>
        </p:spPr>
      </p:pic>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47</a:t>
            </a:fld>
            <a:endParaRPr lang="en-US" dirty="0"/>
          </a:p>
        </p:txBody>
      </p:sp>
      <p:graphicFrame>
        <p:nvGraphicFramePr>
          <p:cNvPr id="14" name="Table 13">
            <a:extLst>
              <a:ext uri="{FF2B5EF4-FFF2-40B4-BE49-F238E27FC236}">
                <a16:creationId xmlns:a16="http://schemas.microsoft.com/office/drawing/2014/main" id="{2C3FB934-0D51-4AE5-B37A-9EB660220B72}"/>
              </a:ext>
            </a:extLst>
          </p:cNvPr>
          <p:cNvGraphicFramePr>
            <a:graphicFrameLocks noGrp="1"/>
          </p:cNvGraphicFramePr>
          <p:nvPr>
            <p:extLst>
              <p:ext uri="{D42A27DB-BD31-4B8C-83A1-F6EECF244321}">
                <p14:modId xmlns:p14="http://schemas.microsoft.com/office/powerpoint/2010/main" val="728045763"/>
              </p:ext>
            </p:extLst>
          </p:nvPr>
        </p:nvGraphicFramePr>
        <p:xfrm>
          <a:off x="338665" y="1822779"/>
          <a:ext cx="6714066" cy="4886411"/>
        </p:xfrm>
        <a:graphic>
          <a:graphicData uri="http://schemas.openxmlformats.org/drawingml/2006/table">
            <a:tbl>
              <a:tblPr/>
              <a:tblGrid>
                <a:gridCol w="2238022">
                  <a:extLst>
                    <a:ext uri="{9D8B030D-6E8A-4147-A177-3AD203B41FA5}">
                      <a16:colId xmlns:a16="http://schemas.microsoft.com/office/drawing/2014/main" val="365072371"/>
                    </a:ext>
                  </a:extLst>
                </a:gridCol>
                <a:gridCol w="2238022">
                  <a:extLst>
                    <a:ext uri="{9D8B030D-6E8A-4147-A177-3AD203B41FA5}">
                      <a16:colId xmlns:a16="http://schemas.microsoft.com/office/drawing/2014/main" val="1838459814"/>
                    </a:ext>
                  </a:extLst>
                </a:gridCol>
                <a:gridCol w="2238022">
                  <a:extLst>
                    <a:ext uri="{9D8B030D-6E8A-4147-A177-3AD203B41FA5}">
                      <a16:colId xmlns:a16="http://schemas.microsoft.com/office/drawing/2014/main" val="356042902"/>
                    </a:ext>
                  </a:extLst>
                </a:gridCol>
              </a:tblGrid>
              <a:tr h="407201">
                <a:tc>
                  <a:txBody>
                    <a:bodyPr/>
                    <a:lstStyle/>
                    <a:p>
                      <a:pPr algn="ctr"/>
                      <a:r>
                        <a:rPr lang="en-US" b="1" u="none"/>
                        <a:t>Pattern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u="none"/>
                        <a:t>Observation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u="none" dirty="0"/>
                        <a:t>Why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9775592"/>
                  </a:ext>
                </a:extLst>
              </a:tr>
              <a:tr h="1934204">
                <a:tc>
                  <a:txBody>
                    <a:bodyPr/>
                    <a:lstStyle/>
                    <a:p>
                      <a:r>
                        <a:rPr lang="en-US"/>
                        <a:t>FOT: kill_process dominant (~8000 vs Red1; ~7500 vs Red3); all other actions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FOT Red fixed &amp; weak → Blue learns one effective shortcut; no pressure to diversify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Single-action over-reliance = brittle; collapses vs Red Gen3 (2% suppression)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8730780"/>
                  </a:ext>
                </a:extLst>
              </a:tr>
              <a:tr h="2545006">
                <a:tc>
                  <a:txBody>
                    <a:bodyPr/>
                    <a:lstStyle/>
                    <a:p>
                      <a:r>
                        <a:rPr lang="en-US"/>
                        <a:t>ACE_RF G3: kill_process~7750 + force_sign_out~6000 + block_ip~1000 + isolate_host~1000 vs both Red gens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Alternating co-evolution → Red adapts → Blue forced to develop complementary action repertoire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ACE_RF Blue = richest action diversity → more robust, adaptable defense strategy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179691"/>
                  </a:ext>
                </a:extLst>
              </a:tr>
            </a:tbl>
          </a:graphicData>
        </a:graphic>
      </p:graphicFrame>
      <p:sp>
        <p:nvSpPr>
          <p:cNvPr id="11" name="Title 1">
            <a:extLst>
              <a:ext uri="{FF2B5EF4-FFF2-40B4-BE49-F238E27FC236}">
                <a16:creationId xmlns:a16="http://schemas.microsoft.com/office/drawing/2014/main" id="{4146721D-9A9F-45A0-96F9-293A288C6C03}"/>
              </a:ext>
            </a:extLst>
          </p:cNvPr>
          <p:cNvSpPr txBox="1">
            <a:spLocks/>
          </p:cNvSpPr>
          <p:nvPr/>
        </p:nvSpPr>
        <p:spPr>
          <a:xfrm>
            <a:off x="0" y="-127158"/>
            <a:ext cx="11277600" cy="7667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mj-ea"/>
                <a:cs typeface="Times New Roman" panose="02020603050405020304" pitchFamily="18" charset="0"/>
              </a:defRPr>
            </a:lvl1pPr>
          </a:lstStyle>
          <a:p>
            <a:pPr marL="11206">
              <a:lnSpc>
                <a:spcPct val="100000"/>
              </a:lnSpc>
              <a:spcBef>
                <a:spcPts val="115"/>
              </a:spcBef>
              <a:tabLst>
                <a:tab pos="144003" algn="l"/>
              </a:tabLst>
            </a:pPr>
            <a:r>
              <a:rPr lang="en-US" sz="3200" dirty="0">
                <a:latin typeface="Times New Roman" panose="02020603050405020304" pitchFamily="18" charset="0"/>
                <a:cs typeface="Times New Roman" panose="02020603050405020304" pitchFamily="18" charset="0"/>
              </a:rPr>
              <a:t>Appendix: </a:t>
            </a:r>
            <a:r>
              <a:rPr lang="en-US" sz="3200" dirty="0"/>
              <a:t>ACE vs FOT vs SCE: Blue action Analysis</a:t>
            </a:r>
            <a:endParaRPr lang="en-US" sz="3200" b="1" dirty="0"/>
          </a:p>
        </p:txBody>
      </p:sp>
    </p:spTree>
    <p:extLst>
      <p:ext uri="{BB962C8B-B14F-4D97-AF65-F5344CB8AC3E}">
        <p14:creationId xmlns:p14="http://schemas.microsoft.com/office/powerpoint/2010/main" val="17364272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FF8166-1DBF-A536-6892-CE32138A2BC2}"/>
              </a:ext>
            </a:extLst>
          </p:cNvPr>
          <p:cNvSpPr>
            <a:spLocks noGrp="1"/>
          </p:cNvSpPr>
          <p:nvPr>
            <p:ph type="title"/>
          </p:nvPr>
        </p:nvSpPr>
        <p:spPr>
          <a:xfrm>
            <a:off x="174812" y="148809"/>
            <a:ext cx="11277600" cy="1325563"/>
          </a:xfrm>
        </p:spPr>
        <p:txBody>
          <a:bodyPr>
            <a:normAutofit fontScale="90000"/>
          </a:bodyPr>
          <a:lstStyle/>
          <a:p>
            <a:r>
              <a:rPr lang="en-US" sz="4000" dirty="0">
                <a:latin typeface="Times New Roman" panose="02020603050405020304" pitchFamily="18" charset="0"/>
                <a:cs typeface="Times New Roman" panose="02020603050405020304" pitchFamily="18" charset="0"/>
              </a:rPr>
              <a:t>Appendix : </a:t>
            </a:r>
            <a:r>
              <a:rPr lang="en-US" sz="4000" dirty="0">
                <a:latin typeface="Times New Roman"/>
                <a:cs typeface="Times New Roman"/>
              </a:rPr>
              <a:t>ACE</a:t>
            </a:r>
            <a:r>
              <a:rPr lang="en-US" dirty="0"/>
              <a:t> - </a:t>
            </a:r>
            <a:r>
              <a:rPr lang="en-US" sz="3600" dirty="0">
                <a:latin typeface="Times New Roman"/>
                <a:cs typeface="Times New Roman"/>
              </a:rPr>
              <a:t>Training Order (ACE_BF vs ACE_RF)</a:t>
            </a:r>
            <a:br>
              <a:rPr lang="en-US" sz="3600" spc="-9" dirty="0">
                <a:latin typeface="Times New Roman"/>
                <a:cs typeface="Times New Roman"/>
              </a:rPr>
            </a:br>
            <a:br>
              <a:rPr lang="en-US" dirty="0">
                <a:latin typeface="Times New Roman"/>
                <a:cs typeface="Times New Roman"/>
              </a:rPr>
            </a:br>
            <a:r>
              <a:rPr lang="en-US" dirty="0"/>
              <a:t> </a:t>
            </a:r>
            <a:endParaRPr lang="en-US" dirty="0">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48</a:t>
            </a:fld>
            <a:endParaRPr lang="en-US" dirty="0"/>
          </a:p>
        </p:txBody>
      </p:sp>
      <p:pic>
        <p:nvPicPr>
          <p:cNvPr id="5" name="Picture 4">
            <a:extLst>
              <a:ext uri="{FF2B5EF4-FFF2-40B4-BE49-F238E27FC236}">
                <a16:creationId xmlns:a16="http://schemas.microsoft.com/office/drawing/2014/main" id="{9ACF06EB-6B6A-49E0-9C40-A2C0CB16D653}"/>
              </a:ext>
            </a:extLst>
          </p:cNvPr>
          <p:cNvPicPr>
            <a:picLocks noChangeAspect="1"/>
          </p:cNvPicPr>
          <p:nvPr/>
        </p:nvPicPr>
        <p:blipFill>
          <a:blip r:embed="rId3"/>
          <a:stretch>
            <a:fillRect/>
          </a:stretch>
        </p:blipFill>
        <p:spPr>
          <a:xfrm>
            <a:off x="739587" y="1280426"/>
            <a:ext cx="4635944" cy="2915833"/>
          </a:xfrm>
          <a:prstGeom prst="rect">
            <a:avLst/>
          </a:prstGeom>
        </p:spPr>
      </p:pic>
      <p:pic>
        <p:nvPicPr>
          <p:cNvPr id="13" name="Picture 12">
            <a:extLst>
              <a:ext uri="{FF2B5EF4-FFF2-40B4-BE49-F238E27FC236}">
                <a16:creationId xmlns:a16="http://schemas.microsoft.com/office/drawing/2014/main" id="{EAB3375A-433D-4E7A-AFA9-8B4280DE9F8E}"/>
              </a:ext>
            </a:extLst>
          </p:cNvPr>
          <p:cNvPicPr>
            <a:picLocks noChangeAspect="1"/>
          </p:cNvPicPr>
          <p:nvPr/>
        </p:nvPicPr>
        <p:blipFill>
          <a:blip r:embed="rId4"/>
          <a:stretch>
            <a:fillRect/>
          </a:stretch>
        </p:blipFill>
        <p:spPr>
          <a:xfrm>
            <a:off x="5800076" y="1387724"/>
            <a:ext cx="4635943" cy="2865994"/>
          </a:xfrm>
          <a:prstGeom prst="rect">
            <a:avLst/>
          </a:prstGeom>
        </p:spPr>
      </p:pic>
      <p:graphicFrame>
        <p:nvGraphicFramePr>
          <p:cNvPr id="14" name="Table 13">
            <a:extLst>
              <a:ext uri="{FF2B5EF4-FFF2-40B4-BE49-F238E27FC236}">
                <a16:creationId xmlns:a16="http://schemas.microsoft.com/office/drawing/2014/main" id="{6FF15CE9-F0EA-4E85-A874-B9AAF47113E6}"/>
              </a:ext>
            </a:extLst>
          </p:cNvPr>
          <p:cNvGraphicFramePr>
            <a:graphicFrameLocks noGrp="1"/>
          </p:cNvGraphicFramePr>
          <p:nvPr>
            <p:extLst>
              <p:ext uri="{D42A27DB-BD31-4B8C-83A1-F6EECF244321}">
                <p14:modId xmlns:p14="http://schemas.microsoft.com/office/powerpoint/2010/main" val="3444945566"/>
              </p:ext>
            </p:extLst>
          </p:nvPr>
        </p:nvGraphicFramePr>
        <p:xfrm>
          <a:off x="372638" y="4311177"/>
          <a:ext cx="11235161" cy="2412738"/>
        </p:xfrm>
        <a:graphic>
          <a:graphicData uri="http://schemas.openxmlformats.org/drawingml/2006/table">
            <a:tbl>
              <a:tblPr>
                <a:tableStyleId>{5940675A-B579-460E-94D1-54222C63F5DA}</a:tableStyleId>
              </a:tblPr>
              <a:tblGrid>
                <a:gridCol w="4469152">
                  <a:extLst>
                    <a:ext uri="{9D8B030D-6E8A-4147-A177-3AD203B41FA5}">
                      <a16:colId xmlns:a16="http://schemas.microsoft.com/office/drawing/2014/main" val="2417731484"/>
                    </a:ext>
                  </a:extLst>
                </a:gridCol>
                <a:gridCol w="3424923">
                  <a:extLst>
                    <a:ext uri="{9D8B030D-6E8A-4147-A177-3AD203B41FA5}">
                      <a16:colId xmlns:a16="http://schemas.microsoft.com/office/drawing/2014/main" val="457558537"/>
                    </a:ext>
                  </a:extLst>
                </a:gridCol>
                <a:gridCol w="3341086">
                  <a:extLst>
                    <a:ext uri="{9D8B030D-6E8A-4147-A177-3AD203B41FA5}">
                      <a16:colId xmlns:a16="http://schemas.microsoft.com/office/drawing/2014/main" val="1781997313"/>
                    </a:ext>
                  </a:extLst>
                </a:gridCol>
              </a:tblGrid>
              <a:tr h="288753">
                <a:tc>
                  <a:txBody>
                    <a:bodyPr/>
                    <a:lstStyle/>
                    <a:p>
                      <a:pPr algn="ctr"/>
                      <a:r>
                        <a:rPr lang="en-US" sz="1400" b="1" dirty="0">
                          <a:solidFill>
                            <a:srgbClr val="3D3D3A"/>
                          </a:solidFill>
                          <a:effectLst/>
                        </a:rPr>
                        <a:t>Observation</a:t>
                      </a:r>
                    </a:p>
                  </a:txBody>
                  <a:tcPr marL="80321" marR="80321" marT="48193" marB="481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solidFill>
                            <a:srgbClr val="3D3D3A"/>
                          </a:solidFill>
                          <a:effectLst/>
                        </a:rPr>
                        <a:t>Why</a:t>
                      </a:r>
                    </a:p>
                  </a:txBody>
                  <a:tcPr marL="80321" marR="80321" marT="48193" marB="481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solidFill>
                            <a:srgbClr val="3D3D3A"/>
                          </a:solidFill>
                          <a:effectLst/>
                        </a:rPr>
                        <a:t>Implication</a:t>
                      </a:r>
                    </a:p>
                  </a:txBody>
                  <a:tcPr marL="80321" marR="80321" marT="48193" marB="481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3425426"/>
                  </a:ext>
                </a:extLst>
              </a:tr>
              <a:tr h="1029058">
                <a:tc>
                  <a:txBody>
                    <a:bodyPr/>
                    <a:lstStyle/>
                    <a:p>
                      <a:pPr marL="285750" indent="-285750" fontAlgn="t">
                        <a:buFont typeface="Arial" panose="020B0604020202020204" pitchFamily="34" charset="0"/>
                        <a:buChar char="•"/>
                      </a:pPr>
                      <a:r>
                        <a:rPr lang="en-US" sz="1400" dirty="0">
                          <a:solidFill>
                            <a:srgbClr val="1A4F82"/>
                          </a:solidFill>
                          <a:effectLst/>
                        </a:rPr>
                        <a:t>ACE_RF</a:t>
                      </a:r>
                      <a:r>
                        <a:rPr lang="en-US" sz="1400" dirty="0">
                          <a:solidFill>
                            <a:srgbClr val="141413"/>
                          </a:solidFill>
                          <a:effectLst/>
                        </a:rPr>
                        <a:t> Blue: 88.8% </a:t>
                      </a:r>
                      <a:r>
                        <a:rPr lang="en-US" sz="1400" dirty="0">
                          <a:solidFill>
                            <a:srgbClr val="3D3D3A"/>
                          </a:solidFill>
                          <a:effectLst/>
                        </a:rPr>
                        <a:t>→</a:t>
                      </a:r>
                      <a:r>
                        <a:rPr lang="en-US" sz="1400" dirty="0">
                          <a:solidFill>
                            <a:srgbClr val="141413"/>
                          </a:solidFill>
                          <a:effectLst/>
                        </a:rPr>
                        <a:t> </a:t>
                      </a:r>
                      <a:r>
                        <a:rPr lang="en-US" sz="1400" b="0" dirty="0">
                          <a:solidFill>
                            <a:srgbClr val="1A7A4A"/>
                          </a:solidFill>
                          <a:effectLst/>
                        </a:rPr>
                        <a:t>95.1%</a:t>
                      </a:r>
                      <a:r>
                        <a:rPr lang="en-US" sz="1400" dirty="0">
                          <a:solidFill>
                            <a:srgbClr val="141413"/>
                          </a:solidFill>
                          <a:effectLst/>
                        </a:rPr>
                        <a:t> </a:t>
                      </a:r>
                      <a:r>
                        <a:rPr lang="en-US" sz="1400" b="0" dirty="0">
                          <a:solidFill>
                            <a:srgbClr val="1A7A4A"/>
                          </a:solidFill>
                          <a:effectLst/>
                        </a:rPr>
                        <a:t>(+6.3pp)</a:t>
                      </a:r>
                      <a:endParaRPr lang="en-US" sz="1400" b="0" dirty="0">
                        <a:solidFill>
                          <a:srgbClr val="141413"/>
                        </a:solidFill>
                        <a:effectLst/>
                      </a:endParaRPr>
                    </a:p>
                    <a:p>
                      <a:pPr marL="285750" indent="-285750" fontAlgn="t">
                        <a:buFont typeface="Arial" panose="020B0604020202020204" pitchFamily="34" charset="0"/>
                        <a:buChar char="•"/>
                      </a:pPr>
                      <a:r>
                        <a:rPr lang="en-US" sz="1400" dirty="0">
                          <a:solidFill>
                            <a:srgbClr val="8A5010"/>
                          </a:solidFill>
                          <a:effectLst/>
                        </a:rPr>
                        <a:t>ACE_BF</a:t>
                      </a:r>
                      <a:r>
                        <a:rPr lang="en-US" sz="1400" dirty="0">
                          <a:solidFill>
                            <a:srgbClr val="141413"/>
                          </a:solidFill>
                          <a:effectLst/>
                        </a:rPr>
                        <a:t> Blue: 94.7% </a:t>
                      </a:r>
                      <a:r>
                        <a:rPr lang="en-US" sz="1400" dirty="0">
                          <a:solidFill>
                            <a:srgbClr val="3D3D3A"/>
                          </a:solidFill>
                          <a:effectLst/>
                        </a:rPr>
                        <a:t>→</a:t>
                      </a:r>
                      <a:r>
                        <a:rPr lang="en-US" sz="1400" dirty="0">
                          <a:solidFill>
                            <a:srgbClr val="141413"/>
                          </a:solidFill>
                          <a:effectLst/>
                        </a:rPr>
                        <a:t> </a:t>
                      </a:r>
                      <a:r>
                        <a:rPr lang="en-US" sz="1400" b="0" dirty="0">
                          <a:solidFill>
                            <a:srgbClr val="C47A1A"/>
                          </a:solidFill>
                          <a:effectLst/>
                        </a:rPr>
                        <a:t>93.8%</a:t>
                      </a:r>
                      <a:r>
                        <a:rPr lang="en-US" sz="1400" dirty="0">
                          <a:solidFill>
                            <a:srgbClr val="141413"/>
                          </a:solidFill>
                          <a:effectLst/>
                        </a:rPr>
                        <a:t> </a:t>
                      </a:r>
                      <a:r>
                        <a:rPr lang="en-US" sz="1400" b="0" dirty="0">
                          <a:solidFill>
                            <a:srgbClr val="C47A1A"/>
                          </a:solidFill>
                          <a:effectLst/>
                        </a:rPr>
                        <a:t>(+0.9pp)</a:t>
                      </a:r>
                      <a:br>
                        <a:rPr lang="en-US" sz="1400" dirty="0">
                          <a:solidFill>
                            <a:srgbClr val="141413"/>
                          </a:solidFill>
                          <a:effectLst/>
                        </a:rPr>
                      </a:br>
                      <a:br>
                        <a:rPr lang="en-US" sz="1400" dirty="0">
                          <a:solidFill>
                            <a:srgbClr val="141413"/>
                          </a:solidFill>
                          <a:effectLst/>
                        </a:rPr>
                      </a:br>
                      <a:endParaRPr lang="en-US" sz="1400" dirty="0">
                        <a:solidFill>
                          <a:srgbClr val="141413"/>
                        </a:solidFill>
                        <a:effectLst/>
                      </a:endParaRPr>
                    </a:p>
                  </a:txBody>
                  <a:tcPr marL="80321" marR="80321" marT="64257" marB="64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fontAlgn="t">
                        <a:buFont typeface="Arial" panose="020B0604020202020204" pitchFamily="34" charset="0"/>
                        <a:buChar char="•"/>
                      </a:pPr>
                      <a:r>
                        <a:rPr lang="en-US" sz="1200" dirty="0">
                          <a:solidFill>
                            <a:srgbClr val="141413"/>
                          </a:solidFill>
                          <a:effectLst/>
                        </a:rPr>
                        <a:t>ACE_RF Blue trains after Red inherits a harder opponent each generation </a:t>
                      </a:r>
                      <a:r>
                        <a:rPr lang="en-US" sz="1200" dirty="0">
                          <a:solidFill>
                            <a:srgbClr val="3D3D3A"/>
                          </a:solidFill>
                          <a:effectLst/>
                        </a:rPr>
                        <a:t>→</a:t>
                      </a:r>
                      <a:r>
                        <a:rPr lang="en-US" sz="1200" dirty="0">
                          <a:solidFill>
                            <a:srgbClr val="141413"/>
                          </a:solidFill>
                          <a:effectLst/>
                        </a:rPr>
                        <a:t> forced adaptation</a:t>
                      </a:r>
                    </a:p>
                    <a:p>
                      <a:pPr marL="171450" indent="-171450" fontAlgn="t">
                        <a:buFont typeface="Arial" panose="020B0604020202020204" pitchFamily="34" charset="0"/>
                        <a:buChar char="•"/>
                      </a:pPr>
                      <a:r>
                        <a:rPr lang="en-US" sz="1200" dirty="0">
                          <a:solidFill>
                            <a:srgbClr val="141413"/>
                          </a:solidFill>
                          <a:effectLst/>
                        </a:rPr>
                        <a:t>ACE_BF Blue starts strong vs weak Red </a:t>
                      </a:r>
                      <a:r>
                        <a:rPr lang="en-US" sz="1200" dirty="0">
                          <a:solidFill>
                            <a:srgbClr val="3D3D3A"/>
                          </a:solidFill>
                          <a:effectLst/>
                        </a:rPr>
                        <a:t>→</a:t>
                      </a:r>
                      <a:r>
                        <a:rPr lang="en-US" sz="1200" dirty="0">
                          <a:solidFill>
                            <a:srgbClr val="141413"/>
                          </a:solidFill>
                          <a:effectLst/>
                        </a:rPr>
                        <a:t> pressure insufficient for further growth</a:t>
                      </a:r>
                      <a:br>
                        <a:rPr lang="en-US" sz="1600" dirty="0">
                          <a:solidFill>
                            <a:srgbClr val="141413"/>
                          </a:solidFill>
                          <a:effectLst/>
                        </a:rPr>
                      </a:br>
                      <a:endParaRPr lang="en-US" sz="1600" dirty="0">
                        <a:solidFill>
                          <a:srgbClr val="141413"/>
                        </a:solidFill>
                        <a:effectLst/>
                      </a:endParaRPr>
                    </a:p>
                  </a:txBody>
                  <a:tcPr marL="80321" marR="80321" marT="64257" marB="64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fontAlgn="t">
                        <a:buFont typeface="Arial" panose="020B0604020202020204" pitchFamily="34" charset="0"/>
                        <a:buChar char="•"/>
                      </a:pPr>
                      <a:r>
                        <a:rPr lang="en-US" sz="1400" dirty="0">
                          <a:solidFill>
                            <a:srgbClr val="141413"/>
                          </a:solidFill>
                          <a:effectLst/>
                        </a:rPr>
                        <a:t>Adversarial pressure, not early advantage, drives long-term improvement</a:t>
                      </a:r>
                    </a:p>
                    <a:p>
                      <a:pPr marL="171450" indent="-171450" fontAlgn="t">
                        <a:buFont typeface="Arial" panose="020B0604020202020204" pitchFamily="34" charset="0"/>
                        <a:buChar char="•"/>
                      </a:pPr>
                      <a:r>
                        <a:rPr lang="en-US" sz="1400" dirty="0">
                          <a:solidFill>
                            <a:srgbClr val="141413"/>
                          </a:solidFill>
                          <a:effectLst/>
                        </a:rPr>
                        <a:t>Slow start</a:t>
                      </a:r>
                    </a:p>
                    <a:p>
                      <a:pPr marL="0" indent="0" fontAlgn="t">
                        <a:buFont typeface="Arial" panose="020B0604020202020204" pitchFamily="34" charset="0"/>
                        <a:buNone/>
                      </a:pPr>
                      <a:r>
                        <a:rPr lang="en-US" sz="1200" dirty="0">
                          <a:solidFill>
                            <a:srgbClr val="141413"/>
                          </a:solidFill>
                          <a:effectLst/>
                        </a:rPr>
                        <a:t>(ACE_RF) </a:t>
                      </a:r>
                      <a:r>
                        <a:rPr lang="en-US" sz="1400" dirty="0">
                          <a:solidFill>
                            <a:srgbClr val="3D3D3A"/>
                          </a:solidFill>
                          <a:effectLst/>
                        </a:rPr>
                        <a:t>→</a:t>
                      </a:r>
                      <a:r>
                        <a:rPr lang="en-US" sz="1400" dirty="0">
                          <a:solidFill>
                            <a:srgbClr val="141413"/>
                          </a:solidFill>
                          <a:effectLst/>
                        </a:rPr>
                        <a:t> superior trajectory</a:t>
                      </a:r>
                      <a:endParaRPr lang="en-US" sz="1600" dirty="0">
                        <a:solidFill>
                          <a:srgbClr val="141413"/>
                        </a:solidFill>
                        <a:effectLst/>
                      </a:endParaRPr>
                    </a:p>
                  </a:txBody>
                  <a:tcPr marL="80321" marR="80321" marT="64257" marB="64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461607"/>
                  </a:ext>
                </a:extLst>
              </a:tr>
              <a:tr h="999118">
                <a:tc>
                  <a:txBody>
                    <a:bodyPr/>
                    <a:lstStyle/>
                    <a:p>
                      <a:pPr marL="285750" indent="-285750" fontAlgn="t">
                        <a:buFont typeface="Arial" panose="020B0604020202020204" pitchFamily="34" charset="0"/>
                        <a:buChar char="•"/>
                      </a:pPr>
                      <a:r>
                        <a:rPr lang="en-US" sz="1400" dirty="0">
                          <a:solidFill>
                            <a:srgbClr val="1A4F82"/>
                          </a:solidFill>
                          <a:effectLst/>
                          <a:latin typeface="DM Mono"/>
                        </a:rPr>
                        <a:t>ACE_RF</a:t>
                      </a:r>
                      <a:r>
                        <a:rPr lang="en-US" sz="1400" dirty="0">
                          <a:solidFill>
                            <a:srgbClr val="141413"/>
                          </a:solidFill>
                          <a:effectLst/>
                        </a:rPr>
                        <a:t> Red: </a:t>
                      </a:r>
                      <a:r>
                        <a:rPr lang="en-US" sz="1400" dirty="0">
                          <a:solidFill>
                            <a:srgbClr val="141413"/>
                          </a:solidFill>
                          <a:effectLst/>
                          <a:latin typeface="DM Mono"/>
                        </a:rPr>
                        <a:t>2.5%</a:t>
                      </a:r>
                      <a:r>
                        <a:rPr lang="en-US" sz="1400" dirty="0">
                          <a:solidFill>
                            <a:srgbClr val="141413"/>
                          </a:solidFill>
                          <a:effectLst/>
                        </a:rPr>
                        <a:t> </a:t>
                      </a:r>
                      <a:r>
                        <a:rPr lang="en-US" sz="1400" dirty="0">
                          <a:solidFill>
                            <a:srgbClr val="3D3D3A"/>
                          </a:solidFill>
                          <a:effectLst/>
                        </a:rPr>
                        <a:t>→</a:t>
                      </a:r>
                      <a:r>
                        <a:rPr lang="en-US" sz="1400" dirty="0">
                          <a:solidFill>
                            <a:srgbClr val="141413"/>
                          </a:solidFill>
                          <a:effectLst/>
                        </a:rPr>
                        <a:t> </a:t>
                      </a:r>
                      <a:r>
                        <a:rPr lang="en-US" sz="1400" b="0" dirty="0">
                          <a:solidFill>
                            <a:srgbClr val="C0392B"/>
                          </a:solidFill>
                          <a:effectLst/>
                          <a:latin typeface="DM Mono"/>
                        </a:rPr>
                        <a:t>1.6%</a:t>
                      </a:r>
                      <a:r>
                        <a:rPr lang="en-US" sz="1400" dirty="0">
                          <a:solidFill>
                            <a:srgbClr val="141413"/>
                          </a:solidFill>
                          <a:effectLst/>
                        </a:rPr>
                        <a:t> by Gen5 </a:t>
                      </a:r>
                      <a:r>
                        <a:rPr lang="en-US" sz="1400" b="0" dirty="0">
                          <a:solidFill>
                            <a:srgbClr val="C0392B"/>
                          </a:solidFill>
                          <a:effectLst/>
                        </a:rPr>
                        <a:t>(−0.9pp)</a:t>
                      </a:r>
                      <a:endParaRPr lang="en-US" sz="1400" b="0" dirty="0">
                        <a:solidFill>
                          <a:srgbClr val="141413"/>
                        </a:solidFill>
                        <a:effectLst/>
                      </a:endParaRPr>
                    </a:p>
                    <a:p>
                      <a:pPr marL="285750" indent="-285750" fontAlgn="t">
                        <a:buFont typeface="Arial" panose="020B0604020202020204" pitchFamily="34" charset="0"/>
                        <a:buChar char="•"/>
                      </a:pPr>
                      <a:r>
                        <a:rPr lang="en-US" sz="1400" dirty="0">
                          <a:solidFill>
                            <a:srgbClr val="8A5010"/>
                          </a:solidFill>
                          <a:effectLst/>
                          <a:latin typeface="DM Mono"/>
                        </a:rPr>
                        <a:t>ACE_BF</a:t>
                      </a:r>
                      <a:r>
                        <a:rPr lang="en-US" sz="1400" dirty="0">
                          <a:solidFill>
                            <a:srgbClr val="141413"/>
                          </a:solidFill>
                          <a:effectLst/>
                        </a:rPr>
                        <a:t> Red: </a:t>
                      </a:r>
                      <a:r>
                        <a:rPr lang="en-US" sz="1400" dirty="0">
                          <a:solidFill>
                            <a:srgbClr val="141413"/>
                          </a:solidFill>
                          <a:effectLst/>
                          <a:latin typeface="DM Mono"/>
                        </a:rPr>
                        <a:t>1.1%</a:t>
                      </a:r>
                      <a:r>
                        <a:rPr lang="en-US" sz="1400" dirty="0">
                          <a:solidFill>
                            <a:srgbClr val="141413"/>
                          </a:solidFill>
                          <a:effectLst/>
                        </a:rPr>
                        <a:t> </a:t>
                      </a:r>
                      <a:r>
                        <a:rPr lang="en-US" sz="1400" dirty="0">
                          <a:solidFill>
                            <a:srgbClr val="3D3D3A"/>
                          </a:solidFill>
                          <a:effectLst/>
                        </a:rPr>
                        <a:t>→</a:t>
                      </a:r>
                      <a:r>
                        <a:rPr lang="en-US" sz="1400" dirty="0">
                          <a:solidFill>
                            <a:srgbClr val="141413"/>
                          </a:solidFill>
                          <a:effectLst/>
                        </a:rPr>
                        <a:t> </a:t>
                      </a:r>
                      <a:r>
                        <a:rPr lang="en-US" sz="1400" b="0" dirty="0">
                          <a:solidFill>
                            <a:srgbClr val="C47A1A"/>
                          </a:solidFill>
                          <a:effectLst/>
                          <a:latin typeface="DM Mono"/>
                        </a:rPr>
                        <a:t>1.6%</a:t>
                      </a:r>
                      <a:r>
                        <a:rPr lang="en-US" sz="1400" dirty="0">
                          <a:solidFill>
                            <a:srgbClr val="141413"/>
                          </a:solidFill>
                          <a:effectLst/>
                        </a:rPr>
                        <a:t> </a:t>
                      </a:r>
                      <a:r>
                        <a:rPr lang="en-US" sz="1400" b="0" dirty="0">
                          <a:solidFill>
                            <a:srgbClr val="C47A1A"/>
                          </a:solidFill>
                          <a:effectLst/>
                        </a:rPr>
                        <a:t>(fluctuates)</a:t>
                      </a:r>
                      <a:endParaRPr lang="en-US" sz="1400" dirty="0">
                        <a:solidFill>
                          <a:srgbClr val="141413"/>
                        </a:solidFill>
                        <a:effectLst/>
                      </a:endParaRPr>
                    </a:p>
                  </a:txBody>
                  <a:tcPr marL="95250" marR="952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400" dirty="0">
                          <a:solidFill>
                            <a:srgbClr val="141413"/>
                          </a:solidFill>
                          <a:effectLst/>
                        </a:rPr>
                        <a:t>ACE_RF Red starts high (trains first vs weak Blue) but Blue catches up and </a:t>
                      </a:r>
                      <a:r>
                        <a:rPr lang="en-US" sz="1400" b="0" dirty="0">
                          <a:solidFill>
                            <a:srgbClr val="1A7A4A"/>
                          </a:solidFill>
                          <a:effectLst/>
                        </a:rPr>
                        <a:t>suppresses</a:t>
                      </a:r>
                      <a:r>
                        <a:rPr lang="en-US" sz="1400" dirty="0">
                          <a:solidFill>
                            <a:srgbClr val="141413"/>
                          </a:solidFill>
                          <a:effectLst/>
                        </a:rPr>
                        <a:t> it genuine arms race</a:t>
                      </a:r>
                    </a:p>
                  </a:txBody>
                  <a:tcPr marL="95250" marR="952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400" dirty="0">
                          <a:solidFill>
                            <a:srgbClr val="141413"/>
                          </a:solidFill>
                          <a:effectLst/>
                        </a:rPr>
                        <a:t>Declining Red success = Blue is </a:t>
                      </a:r>
                      <a:r>
                        <a:rPr lang="en-US" sz="1400" b="0" dirty="0">
                          <a:solidFill>
                            <a:srgbClr val="1A7A4A"/>
                          </a:solidFill>
                          <a:effectLst/>
                        </a:rPr>
                        <a:t>genuinely improving</a:t>
                      </a:r>
                      <a:r>
                        <a:rPr lang="en-US" sz="1400" dirty="0">
                          <a:solidFill>
                            <a:srgbClr val="141413"/>
                          </a:solidFill>
                          <a:effectLst/>
                        </a:rPr>
                        <a:t>, not just facing weaker attackers</a:t>
                      </a:r>
                    </a:p>
                  </a:txBody>
                  <a:tcPr marL="95250" marR="952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830430"/>
                  </a:ext>
                </a:extLst>
              </a:tr>
            </a:tbl>
          </a:graphicData>
        </a:graphic>
      </p:graphicFrame>
      <p:sp>
        <p:nvSpPr>
          <p:cNvPr id="16" name="TextBox 15">
            <a:extLst>
              <a:ext uri="{FF2B5EF4-FFF2-40B4-BE49-F238E27FC236}">
                <a16:creationId xmlns:a16="http://schemas.microsoft.com/office/drawing/2014/main" id="{6DF004B7-F65C-4E99-A750-3F94DEC02E42}"/>
              </a:ext>
            </a:extLst>
          </p:cNvPr>
          <p:cNvSpPr txBox="1"/>
          <p:nvPr/>
        </p:nvSpPr>
        <p:spPr>
          <a:xfrm>
            <a:off x="206009" y="776267"/>
            <a:ext cx="10797988"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1" dirty="0">
                <a:solidFill>
                  <a:schemeClr val="accent6">
                    <a:lumMod val="75000"/>
                  </a:schemeClr>
                </a:solidFill>
                <a:latin typeface="DM Mono"/>
              </a:rPr>
              <a:t>ACE_RF produces the strongest, most consistent generational growth. Meaningful pressure &gt; early performance.</a:t>
            </a:r>
          </a:p>
        </p:txBody>
      </p:sp>
    </p:spTree>
    <p:extLst>
      <p:ext uri="{BB962C8B-B14F-4D97-AF65-F5344CB8AC3E}">
        <p14:creationId xmlns:p14="http://schemas.microsoft.com/office/powerpoint/2010/main" val="97564004"/>
      </p:ext>
    </p:extLst>
  </p:cSld>
  <p:clrMapOvr>
    <a:masterClrMapping/>
  </p:clrMapOvr>
</p:sld>
</file>

<file path=ppt/theme/theme1.xml><?xml version="1.0" encoding="utf-8"?>
<a:theme xmlns:a="http://schemas.openxmlformats.org/drawingml/2006/main" name="Theme1">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Times New Roman"/>
        <a:ea typeface="DFKai-SB"/>
        <a:cs typeface=""/>
      </a:majorFont>
      <a:minorFont>
        <a:latin typeface="Times New Roman"/>
        <a:ea typeface="DFKai-SB"/>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D5FACA63-0074-4EF8-8ABD-3FF9014D8630}" vid="{D147B5B9-2314-4C52-BF60-5316A060BF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166772</TotalTime>
  <Words>9860</Words>
  <Application>Microsoft Office PowerPoint</Application>
  <PresentationFormat>Widescreen</PresentationFormat>
  <Paragraphs>1046</Paragraphs>
  <Slides>48</Slides>
  <Notes>48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48</vt:i4>
      </vt:variant>
    </vt:vector>
  </HeadingPairs>
  <TitlesOfParts>
    <vt:vector size="57" baseType="lpstr">
      <vt:lpstr>Arial</vt:lpstr>
      <vt:lpstr>Arial MT</vt:lpstr>
      <vt:lpstr>Calibri</vt:lpstr>
      <vt:lpstr>Cambria Math</vt:lpstr>
      <vt:lpstr>DM Mono</vt:lpstr>
      <vt:lpstr>MV Boli</vt:lpstr>
      <vt:lpstr>Times New Roman</vt:lpstr>
      <vt:lpstr>Wingdings</vt:lpstr>
      <vt:lpstr>Theme1</vt:lpstr>
      <vt:lpstr>RL-LLM Based Co-evolving Multi-generational Red-team and Blue-team AI Agents in a Cyber Range</vt:lpstr>
      <vt:lpstr>Outline</vt:lpstr>
      <vt:lpstr>Motivation</vt:lpstr>
      <vt:lpstr>Background: Cybersecurity Training</vt:lpstr>
      <vt:lpstr>Background – MITRE ATT&amp;CK</vt:lpstr>
      <vt:lpstr>Background: RL + Parameterized Cyber Actions</vt:lpstr>
      <vt:lpstr>Related work: AI-Based Red-team–Blue-team</vt:lpstr>
      <vt:lpstr>Issues</vt:lpstr>
      <vt:lpstr>Notations (1/2)</vt:lpstr>
      <vt:lpstr>Notations (2/2)</vt:lpstr>
      <vt:lpstr>Problem Overview </vt:lpstr>
      <vt:lpstr>Red Team Problem: Kill Chain Completion</vt:lpstr>
      <vt:lpstr>Blue Team Problem: Kill Chain Disruption</vt:lpstr>
      <vt:lpstr>Solution overview </vt:lpstr>
      <vt:lpstr>Solution overview</vt:lpstr>
      <vt:lpstr>Red Team Agent : Action Space</vt:lpstr>
      <vt:lpstr>Red Team Agent – Technique Schema</vt:lpstr>
      <vt:lpstr> Solution : Red Team Agent – Action Selection</vt:lpstr>
      <vt:lpstr>Red Team Agent – Reward Design</vt:lpstr>
      <vt:lpstr>PowerPoint Presentation</vt:lpstr>
      <vt:lpstr>Blue Team Agent - Detection and Response</vt:lpstr>
      <vt:lpstr>PowerPoint Presentation</vt:lpstr>
      <vt:lpstr>Solution : Running Example</vt:lpstr>
      <vt:lpstr>Implementation: Modules</vt:lpstr>
      <vt:lpstr>Implementation:  System Architecture</vt:lpstr>
      <vt:lpstr>Implementation: Open-Source Tools and Libraries</vt:lpstr>
      <vt:lpstr>Implementation:  Network Architecture</vt:lpstr>
      <vt:lpstr>Evaluation</vt:lpstr>
      <vt:lpstr>Experimentation Setup </vt:lpstr>
      <vt:lpstr>PowerPoint Presentation</vt:lpstr>
      <vt:lpstr>PowerPoint Presentation</vt:lpstr>
      <vt:lpstr>PowerPoint Presentation</vt:lpstr>
      <vt:lpstr>PowerPoint Presentation</vt:lpstr>
      <vt:lpstr>ACE (1/5) : Multi-Generation Evolution - Blue Suppression   </vt:lpstr>
      <vt:lpstr>ACE (2/5) : Multi-Generation Evolution - Kill-Chain Diversity   </vt:lpstr>
      <vt:lpstr>ACE (3/5) : Multi-Generation Evolution - Technique Rotation    </vt:lpstr>
      <vt:lpstr>ACE (4/5) : Multi-Generation Evolution – Success &amp; Depth Variation   </vt:lpstr>
      <vt:lpstr>ACE (5/5) : Cross-Generation  Generalization   </vt:lpstr>
      <vt:lpstr>Conclusion</vt:lpstr>
      <vt:lpstr>References</vt:lpstr>
      <vt:lpstr>References</vt:lpstr>
      <vt:lpstr>References</vt:lpstr>
      <vt:lpstr> Appendix: Red Team Agent – Algorithm</vt:lpstr>
      <vt:lpstr>Appendix: Blue Team Agent: Algorithm</vt:lpstr>
      <vt:lpstr> Appendix: MG-CoE Execution Loop : Algorithm </vt:lpstr>
      <vt:lpstr>PowerPoint Presentation</vt:lpstr>
      <vt:lpstr>PowerPoint Presentation</vt:lpstr>
      <vt:lpstr>Appendix : ACE - Training Order (ACE_BF vs ACE_RF)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Co-Evolutionary AI Red and Blue Team Agents for Cyber Defense in Enterprise Simulation Environments</dc:title>
  <dc:creator>Aniket Aggarwal</dc:creator>
  <cp:lastModifiedBy>Aniket Aggarwal</cp:lastModifiedBy>
  <cp:revision>378</cp:revision>
  <cp:lastPrinted>2026-06-04T04:02:25Z</cp:lastPrinted>
  <dcterms:created xsi:type="dcterms:W3CDTF">2025-07-24T10:36:06Z</dcterms:created>
  <dcterms:modified xsi:type="dcterms:W3CDTF">2026-06-04T04:27:29Z</dcterms:modified>
</cp:coreProperties>
</file>